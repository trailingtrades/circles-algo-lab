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CIRCLE S.M.A.R.T · Stage 1 · Week 3: Build your system, protect yourself</a:t>
            </a:r>
          </a:p>
          <a:p/>
          <a:p>
            <a:r>
              <a:t>Week deck for class. Each day runs: divider, story, one slide per topic, key terms, recap map, today's task, templates, class activity, AI Lab, a 5-question quiz and the journal close. The talk track for every slide is in these notes. Quiz answers are not in this file: learners answer in the app, where the explanation appears after they submit.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15: A fundamental health check with AI, and corporate actions — The 5-check health filter, market-cap tiers and corporate actions</a:t>
            </a:r>
          </a:p>
          <a:p>
            <a:r>
              <a:t>Day 16: Algo Level 1: rules, flowchart and alerts — Testable rules, flowcharts and alerts: the machine watches, you decide</a:t>
            </a:r>
          </a:p>
          <a:p>
            <a:r>
              <a:t>Day 17: Backtest Level 1, by hand — A 30-trade manual backtest, logged in R after costs</a:t>
            </a:r>
          </a:p>
          <a:p>
            <a:r>
              <a:t>Day 18: F&amp;O basics only: samjho, khelo mat — Futures and options: what they are, and why Stage 1 only studies them</a:t>
            </a:r>
          </a:p>
          <a:p>
            <a:r>
              <a:t>Day 19: The event calendar and your no-trade days — Events, their timing, and a no-trade rule for each strategy</a:t>
            </a:r>
          </a:p>
          <a:p>
            <a:r>
              <a:t>Day 20: Trading psychology and your Daily Routine Card — Seven biases that break rules, and a routine that catches them</a:t>
            </a:r>
          </a:p>
          <a:p>
            <a:r>
              <a:t>Day 21: Finale: Week 3 review, your certificate and the road to Stage 2 — Week 3 as one system, process-based results, certificate criteria and the road to Stage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15: A fundamental health check with AI, and corporate actions</a:t>
            </a:r>
          </a:p>
          <a:p/>
          <a:p>
            <a:r>
              <a:t>Concept: The 5-check health filter, market-cap tiers and corporate actions</a:t>
            </a:r>
          </a:p>
          <a:p>
            <a:r>
              <a:t>AI Lab: Fill my health card: AI does the maths, you verify and decide</a:t>
            </a:r>
          </a:p>
          <a:p>
            <a:r>
              <a:t>Mindset: Story bias: the magic of a good story</a:t>
            </a:r>
          </a:p>
          <a:p/>
          <a:p>
            <a:r>
              <a:t>By the end: By the end you can run a five-check health filter on a company from its own filings, score it with written rules, turn a passing card into a Portfolio row, explain market-cap tiers and sectors, and work out what a dividend, bonus, split, rights issue or buyback does to your shares, with its ex-date and record date.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big thing?</a:t>
            </a:r>
          </a:p>
          <a:p/>
          <a:p>
            <a:r>
              <a:t>(Sunday evening, the weekly video call. Aman has joined early, and he is excited.)</a:t>
            </a:r>
          </a:p>
          <a:p>
            <a:r>
              <a:t>Aman: Sir, Anand Snacks is the next big thing. The CEO said on TV they will open 500 stores, and the chart just made a new high. Also, Gupta Cement's chart shows a 50% crash in a single day. It is dirt cheap now.</a:t>
            </a:r>
          </a:p>
          <a:p>
            <a:r>
              <a:t>Mentor: A lovely story, Aman. Two questions first. What do Anand Snacks' own accounts say? And did Gupta Cement really lose half its value overnight, or did something else happen?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big thing?</a:t>
            </a:r>
          </a:p>
          <a:p/>
          <a:p>
            <a:r>
              <a:t>Priya: Sir, I looked up Anand Snacks on the NSE website. The promoters have pledged 45% of their shares. And profit has grown for three years, but the cash coming in from the business has been negative for two years.</a:t>
            </a:r>
          </a:p>
          <a:p>
            <a:r>
              <a:t>Aman: Pledged? Negative cash? The interview never mentioned any of that. So what happened to Gupta Cement?</a:t>
            </a:r>
          </a:p>
          <a:p>
            <a:r>
              <a:t>Mentor: A 1:1 bonus: the kind of fake crash you met on Days 5 and 6. 100 shares became 200, each at about half the price. Nothing was lost, and nothing got cheap. Today we learn a short health check for the business, and the company events that move a chart without changing the business.</a:t>
            </a:r>
          </a:p>
          <a:p/>
          <a:p>
            <a:r>
              <a:t>The lesson: A story tells you what might happen. The accounts tell you what did happen. Read the accounts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health check, not a price target</a:t>
            </a:r>
          </a:p>
          <a:p/>
          <a:p>
            <a:r>
              <a:t>A chart shows what the price is doing, not whether the business underneath is healthy. So in this course, fundamental analysis (reading a company's accounts to judge its business) is only a filter, never a way to find a price target. Before a stock joins your swing watchlist, it passes a short health check: about five minutes once you know where the numbers are, longer the first time. Market capitalisation, or market cap, is share price x total number of shares: the price tag of the whole company. Under SEBI's rule for mutual funds, the top 100 companies by market cap are large caps, 101 to 250 are mid caps, and the rest are small caps. AMFI, the mutual fund industry body, updates this list every six months, so a company's tier can change; check the latest list on amfiindia.com. A sector is a group of companies in the same business, such as banks, IT, pharma or cement.</a:t>
            </a:r>
          </a:p>
          <a:p/>
          <a:p>
            <a:r>
              <a:t>Example: Anand Snacks Ltd has 5 crore shares trading at Rs 200, so its market cap is Rs 1,000 crore. On the AMFI list it ranks far below 250, well outside the top 500: a small cap. It is not even in the NIFTY 500 that Day 11's screener starts from. Small caps usually swing harder and trade in thinner volume, so the spread and slippage from Day 2 bite more, and pump-and-dump tip groups love them. Sectors matter too: shares in one sector often move together, so three open trades in three cement companies are closer to one big bet than to three small ones (Day 9). So write each watchlist stock's sector, shown on its NSE quote page, next to its card.</a:t>
            </a:r>
          </a:p>
          <a:p/>
          <a:p>
            <a:r>
              <a:t>Remember: The chart tells you about the price. The health check tells you about the business. You need both.</a:t>
            </a:r>
          </a:p>
          <a:p/>
          <a:p>
            <a:r>
              <a:t>On the slide: Market cap and tier · Made-up companies. The tier comes from the rank on the AMFI list, not from a set rupee amount.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Checks 1 to 3: growth, margin, debt</a:t>
            </a:r>
          </a:p>
          <a:p/>
          <a:p>
            <a:r>
              <a:t>Every number you need is in the company's own filings: quarterly results and the annual report on nseindia.com or bseindia.com. Free data sites copy them and can lag, so match the latest year against the filing. Check 1, growth: is revenue (sales, the money earned from selling goods or services) in the latest year (year 3) higher than in the first of your three years (year 1)? Check 2, margin: operating margin is how many rupees out of every Rs 100 of sales stay after running costs like raw material, salaries and rent; the filing has no 'operating profit' line, so work it out as sales minus (total expenses minus finance costs minus depreciation). Check 3, debt: debt-to-equity (D/E) compares borrowed money with the owners' money in the business, and interest cover is operating profit minus depreciation, divided by finance costs (the interest bill): how many times the business's own profit can pay its interest. Read the direction over three years, not one quarter.</a:t>
            </a:r>
          </a:p>
          <a:p/>
          <a:p>
            <a:r>
              <a:t>Example: Bharat Pumps Ltd: sales rose from Rs 4,200 crore in year 1 to Rs 5,000 crore in year 3, so growth is up. Operating profit is Rs 600 crore, so Rs 12 of every Rs 100 of sales is left, about the same 12% as in year 1. After Rs 150 crore of depreciation (the yearly wear and tear of its machines), Rs 450 crore is left before interest and tax. But it has borrowed Rs 3,000 crore against Rs 2,500 crore of owners' money, and that Rs 450 crore covers the Rs 300 crore interest bill only 1.5 times. Think of a family whose EMIs eat most of the salary: one bad quarter, or a credit-rating downgrade (an agency lowering its view of the company's ability to repay), and the share can gap down.</a:t>
            </a:r>
          </a:p>
          <a:p/>
          <a:p>
            <a:r>
              <a:t>Remember: No need to memorise numbers: read the direction over three years, then apply the written cut-offs.</a:t>
            </a:r>
          </a:p>
          <a:p/>
          <a:p>
            <a:r>
              <a:t>On the slide: Bharat Pumps: checks 1 to 3 · Course rule: debt-to-equity above 1, or interest cover below 2, is a debt flag. This cover leaves out other income (such as interest on deposits), so a data site that includes it may show a higher number. These are teaching cut-offs, not laws.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Checks 4 and 5: promoter pledge and cash flow</a:t>
            </a:r>
          </a:p>
          <a:p/>
          <a:p>
            <a:r>
              <a:t>Promoters are the founders or controlling owners, and the shareholding pattern filed every quarter shows how much they own and how much of it is pledged. A pledge means the promoter has given shares as security for a loan, like a family taking a gold loan. If the price falls, the lender asks for more shares or cash, and may sell the pledged shares, which can push the price down further. A falling promoter holding is not always selling: if the company issues new shares to institutions or employees, the promoter's percentage drops without a single share sold (60 crore of 100 crore shares is 60%; after 20 crore new shares, 60 of 120 is 50%); this is called dilution. Operating cash flow is the cash the business actually collected in the year after paying its running costs and taxes. Profit can include sales made on credit, so compare the two over three years together; one weak year can be normal for a fast-growing company.</a:t>
            </a:r>
          </a:p>
          <a:p/>
          <a:p>
            <a:r>
              <a:t>Example: Anand Snacks' promoter has pledged shares worth Rs 100 crore for a Rs 50 crore loan; lenders usually want shares worth about twice the loan. If the price falls 40%, those shares are worth Rs 60 crore, far below twice the loan, and the lender asks for more; if the promoter cannot pay, the lender sells and the price falls again. Now the cash. Over three years Anand Snacks reported profit of Rs 8, 10 and 12 crore, Rs 30 crore in all, but its operating cash flow was Rs 2, minus 6 and minus 8 crore: minus Rs 12 crore in all. It is like a kirana store whose bahi-khata shows a profit while the galla stays empty, because most of its sales are still udhaar.</a:t>
            </a:r>
          </a:p>
          <a:p/>
          <a:p>
            <a:r>
              <a:t>Remember: Profit is what the books say. Cash is what came into the galla.</a:t>
            </a:r>
          </a:p>
          <a:p/>
          <a:p>
            <a:r>
              <a:t>On the slide: The pledge loop · Each turn of the loop can push the price lower. That is why, in the scoring rules below, a big or rising pledge takes a stock off your list on its 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Scoring the card: rules first, story last</a:t>
            </a:r>
          </a:p>
          <a:p/>
          <a:p>
            <a:r>
              <a:t>Now score the card with written rules: in this course, a pledge above 10% of promoter shares, or a pledge % that has gone up two quarters in a row, knocks a stock off your swing watchlist on its own. The other four checks are counted (sales in year 3 below year 1; margin down in both year 2 and year 3; D/E above 1 or interest cover below 2; 3-year cash below half of 3-year profit, or 3-year profit or cash at zero or below), and two or more counted flags also take it off; write the reason in your journal. The check does not fit banks, NBFCs (non-bank lenders) and insurers, because borrowing, lending or investing other people's money is their business, so in Stage 1 keep them off your swing watchlist. From now on, the card comes before the chart: a stock that fails it never reaches your swing flowchart (Day 16), and a stock that passes carries its card result into a Portfolio row as Full Why 1, the business reason. Let AI do the clerk's work of calculating, but paste only numbers you copied yourself, check every figure it uses, and make the decision yourself. Story bias is our habit of trusting a vivid story, such as a new product, a famous CEO or 'the next giant', over dull numbers; that is why the card comes first and the story comes last.</a:t>
            </a:r>
          </a:p>
          <a:p/>
          <a:p>
            <a:r>
              <a:t>Example: Priya's card for Bharat Pumps: growth up, margin steady, debt flagged, no pledge, and three-year cash of Rs 270 crore against Rs 300 crore of profit. One counted flag, so it stays on her list with 'debt: watch' in her journal. Anand Snacks: 45% of promoter shares pledged, a knock-out on its own, plus three-year cash of minus Rs 12 crore against Rs 30 crore of profit. It stays off her list, however exciting the 500-store story sounds. Aman still likes the story. Liking it is allowed; trading on it is not.</a:t>
            </a:r>
          </a:p>
          <a:p/>
          <a:p>
            <a:r>
              <a:t>Remember: Written rules score the card. The story does not, and neither does the AI.</a:t>
            </a:r>
          </a:p>
          <a:p/>
          <a:p>
            <a:r>
              <a:t>On the slide: How the card is scored · Rules of thumb for learning, not laws of nature. Write them down before you look at any company.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Corporate actions: when the company changes your shares</a:t>
            </a:r>
          </a:p>
          <a:p/>
          <a:p>
            <a:r>
              <a:t>A corporate action is a company decision that changes what each shareholder holds or receives. A dividend is cash paid on each share out of profits, and on the ex-date the price usually drops by about that amount. A bonus gives free extra shares (1:1 means one new share for each one you hold), and a split cuts each share into smaller ones (face value, a fixed book amount per share and not its price, going from Rs 10 to Rs 2 turns one share into five); in both, the price adjusts in the same ratio and your total value stays the same. A rights issue offers holders new shares at a set price, usually below the market: you can apply, sell your right (the rights entitlement) on the exchange, or ignore it, and ignoring costs you, because the price adjusts down and the unused right lapses worthless. In a buyback the company buys back some shares at a price it announces; if holders offer more than it wants, only part of yours is accepted (the acceptance ratio), and the chart is not adjusted. Dividends and buybacks have their own tax rules: ask a CA.</a:t>
            </a:r>
          </a:p>
          <a:p/>
          <a:p>
            <a:r>
              <a:t>Example: Aman's 'crash' (chart below): some weeks back, Gupta Cement Ltd closed at Rs 818 on a Thursday and opened near Rs 409 on Friday, the ex-date of a 1:1 bonus. 100 shares worth Rs 81,800 became 200 shares at Rs 409, still Rs 81,800; the extra 100 reach the demat a day or two after the record date, so do not panic if Friday still shows 100. Rights and buybacks are where your choice matters. Say you hold 100 shares at Rs 800 and the company offers 1 new share for every 4 held, at Rs 600: after the ex-date the price tends towards (4 x 800 + 600) ÷ 5 = Rs 760. Apply, and you pay Rs 15,000 and hold 125 shares worth Rs 95,000, your Rs 80,000 plus what you paid; sell your 25 rights at about Rs 160 each (760 - 600) and you still have about Rs 80,000; ignore them and you are left with Rs 76,000. In a buyback at Rs 900 that accepts only 10 of your 100 shares, you get Rs 9,000, Rs 1,000 more than those 10 fetch at Rs 800, and the other 90 stay with you. Before believing any sudden, very large gap, check the corporate actions page on nseindia.com.</a:t>
            </a:r>
          </a:p>
          <a:p/>
          <a:p>
            <a:r>
              <a:t>Remember: A bonus or split changes the number of shares, not the value of what you own. In a rights issue, ignoring the offer is the one choice that costs you.</a:t>
            </a:r>
          </a:p>
          <a:p/>
          <a:p>
            <a:r>
              <a:t>On the slide: Crash? No, a 1:1 bonus · Unadjusted daily chart of Gupta Cement. 100 shares x Rs 818 = 200 shares x Rs 409 = Rs 81,800. On unadjusted data, EMA, RSI and ATR read this gap as a real fall (Day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date and ex-date: who gets the benefit</a:t>
            </a:r>
          </a:p>
          <a:p/>
          <a:p>
            <a:r>
              <a:t>The record date is the day the company takes the list of shareholders from the depositories; whoever is on that list gets the dividend, bonus or rights. The ex-date is the first day the share trades without that benefit. Because India's equity settlement is T+1, the ex-date and the record date now fall on the same day, so to qualify you must buy by the trading day before the ex-date. A buyer on the ex-date does not get the dividend, because that purchase settles a day too late; a shareholder who sells on the ex-date still gets it, because that sale settles after the list is taken. On the ex-date the price usually opens lower by about the dividend, so a dividend is not free money, and it counts as your taxable income (ask a CA). Dates and rules can change, so always check the corporate actions page on nseindia.com.</a:t>
            </a:r>
          </a:p>
          <a:p/>
          <a:p>
            <a:r>
              <a:t>Example: Sharma Textiles Ltd declares a Rs 12 dividend, and Tuesday is both the ex-date and the record date. Priya buys 50 shares on Monday at Rs 612, paying Rs 30,600; they settle on Tuesday, so she is on the list. On Tuesday the share opens near Rs 600. Her 50 shares are now worth about Rs 30,000, plus Rs 600 of dividend (50 x Rs 12): Rs 30,600, about what she paid, before tax and costs; the Rs 600 itself arrives on the payment date. Aman buys on Tuesday at Rs 600 and gets no dividend, but he paid Rs 12 a share less. Neither of them got anything for free. Day 19 adds ex-dates to your no-trade calendar.</a:t>
            </a:r>
          </a:p>
          <a:p/>
          <a:p>
            <a:r>
              <a:t>Remember: To qualify, buy by the trading day before the ex-date. The price adjusts either way.</a:t>
            </a:r>
          </a:p>
          <a:p/>
          <a:p>
            <a:r>
              <a:t>On the slide: A dividend under T+1 · Illustrative days. The real ex-date and record date are on the NSE corporate actions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cap: Share price x total number of shares: the price tag of the whole company. Its rank decides large, mid or small cap.</a:t>
            </a:r>
          </a:p>
          <a:p>
            <a:r>
              <a:t>Debt-to-equity: Borrowed money ÷ the owners' money in the business. Above 1 means the company owes more than its owners' own stake.</a:t>
            </a:r>
          </a:p>
          <a:p>
            <a:r>
              <a:t>Promoter pledge: Promoter shares given as security for a loan. If the price falls, the lender may sell them.</a:t>
            </a:r>
          </a:p>
          <a:p>
            <a:r>
              <a:t>Operating cash flow: The cash the business actually collected in a year after paying its running costs and taxes. Compare it with profit over three years.</a:t>
            </a:r>
          </a:p>
          <a:p>
            <a:r>
              <a:t>Corporate action: A company decision that changes what shareholders hold or receive: dividend, bonus, split, rights issue or buyback.</a:t>
            </a:r>
          </a:p>
          <a:p>
            <a:r>
              <a:t>Ex-date and record date: Record date: the day the shareholder list is taken. Ex-date: the first day the share trades without the benefit. Under T+1 they fall on the same day.</a:t>
            </a:r>
          </a:p>
          <a:p>
            <a:r>
              <a:t>Interest cover: Operating profit minus depreciation, divided by finance costs: how many times the business's own profit can pay its interest bill. Below 2 is a course debt flag.</a:t>
            </a:r>
          </a:p>
          <a:p>
            <a:r>
              <a:t>Rights issue and buyback: Rights issue: new shares offered to holders at a set price; you can apply or sell the right, and ignoring it loses value. Buyback: the company buys shares back at a set price, often accepting only part of what you offer.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check + corporate actions</a:t>
            </a:r>
          </a:p>
          <a:p>
            <a:r>
              <a:t>Filter, not target: Chart = price, card = business; Large, mid, small by rank; One sector = one big bet</a:t>
            </a:r>
          </a:p>
          <a:p>
            <a:r>
              <a:t>Checks 1 to 3: Sales up over 3 years?; Margin per Rs 100 of sales; D/E and interest cover</a:t>
            </a:r>
          </a:p>
          <a:p>
            <a:r>
              <a:t>Checks 4 and 5: Pledge loop can deepen falls; Holding can fall by dilution; Cash vs profit over 3 years</a:t>
            </a:r>
          </a:p>
          <a:p>
            <a:r>
              <a:t>Scoring: Pledge &gt;10% or rising = out; 2+ counted flags = out; AI calculates, you decide; The story comes last</a:t>
            </a:r>
          </a:p>
          <a:p>
            <a:r>
              <a:t>Corporate actions: Dividend, bonus, split; Rights: apply, sell or lose; Buyback: part accepted; Fake gaps on unadjusted charts</a:t>
            </a:r>
          </a:p>
          <a:p>
            <a:r>
              <a:t>Dates: Ex-date = record date (T+1); Buy by the trading day before; Price drops by about the dividend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the mentor's practice filing on the Health Card and check it with AI, then card one real stock from your watchlist, turn a pass into a Portfolio row, and read one real corporate action (steps 1, 2 and 6 take about 55 minutes; the real-stock card and its Portfolio row, steps 3-5, take about 30 minutes more and can be finished tomorrow evening, before Day 16's flowchart).</a:t>
            </a:r>
          </a:p>
          <a:p/>
          <a:p>
            <a:r>
              <a:t>1. Under Your template, open the Kiran Foods Ltd practice filing (made-up numbers) and fill the Practice column of the Health Card with a phone calculator: operating profit and margin for each year, D/E, interest cover, 3-year cash against 3-year profit, and the pledge.</a:t>
            </a:r>
          </a:p>
          <a:p>
            <a:r>
              <a:t>2. Paste the practice filing's numbers into the AI Lab prompt 'Fill my health card', tick every number the AI used against the filing, and compare its flags with yours and with the answer key under the card.</a:t>
            </a:r>
          </a:p>
          <a:p>
            <a:r>
              <a:t>3. Now card one real stock from your Day 11 watchlist or an open paper trade (never one from a tip; not a bank, NBFC or insurer). On its nseindia.com page note the sector, and in its shareholding pattern for the last four quarters note the pledged part as a % of promoter shares ('encumbered' counts too; if there is no promoter, write 'no promoter').</a:t>
            </a:r>
          </a:p>
          <a:p>
            <a:r>
              <a:t>4. For the same stock, take three years of sales, total expenses, finance costs, depreciation, net profit and operating cash flow, plus the latest borrowings and equity, from its annual results or a free data site (tick the latest year against the filing), and fill the Your stock column. Write the result and the deciding check in your journal; never post the name in a group.</a:t>
            </a:r>
          </a:p>
          <a:p>
            <a:r>
              <a:t>5. If it passes, open the app's Portfolio page and add one complete row (virtual; a row can be a stock you have studied, not only a trade you took: leave entry date, qty and entry price blank until you enter a paper trade, and it does not count as an open trade): Full Why 1 = your card result and the check that decided it; Full Why 2 = your Day 11 chart reason; the top risk and your answer to it; price-stop = the stop from your Day 11 plan card (1.5 x ATR 14 below entry); Why-stop = the card check that would knock it out; review point = its next results date. If it fails, write why in your journal instead.</a:t>
            </a:r>
          </a:p>
          <a:p>
            <a:r>
              <a:t>6. On nseindia.com, open the corporate actions list, pick one recent dividend, bonus, split, rights issue or buyback, and fill a blank row of 'Corporate actions in numbers' for a made-up 100 shares, with its ex-date and record date. For a dividend, compare the ex-date open with the previous close on a free TradingView chart.</a:t>
            </a:r>
          </a:p>
          <a:p/>
          <a:p>
            <a:r>
              <a:t>By the end: By the end you can run a five-check health filter on a company from its own filings, score it with written rules, turn a passing card into a Portfolio row, explain market-cap tiers and sectors, and work out what a dividend, bonus, split, rights issue or buyback does to your shares, with its ex-date and record date.</a:t>
            </a:r>
          </a:p>
          <a:p/>
          <a:p>
            <a:r>
              <a:t>Tools: NSE website (nseindia.com); Google Sheets; TradingView free chart; Any AI chat; The app's Portfolio page</a:t>
            </a:r>
          </a:p>
          <a:p/>
          <a:p>
            <a:r>
              <a:t>Educational content only, not investment advice. Company names and example figures are made up for illustration, and no fair value, target price or buy/sell view is given. No affiliation with any website or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the mentor's practice filing on the Health Card and check it with AI, then card one real stock from your watchlist, turn a pass into a Portfolio row, and read one real corporate action (steps 1, 2 and 6 take about 55 minutes; the real-stock card and its Portfolio row, steps 3-5, take about 30 minutes more and can be finished tomorrow evening, before Day 16's flowchart).</a:t>
            </a:r>
          </a:p>
          <a:p/>
          <a:p>
            <a:r>
              <a:t>1. Under Your template, open the Kiran Foods Ltd practice filing (made-up numbers) and fill the Practice column of the Health Card with a phone calculator: operating profit and margin for each year, D/E, interest cover, 3-year cash against 3-year profit, and the pledge.</a:t>
            </a:r>
          </a:p>
          <a:p>
            <a:r>
              <a:t>2. Paste the practice filing's numbers into the AI Lab prompt 'Fill my health card', tick every number the AI used against the filing, and compare its flags with yours and with the answer key under the card.</a:t>
            </a:r>
          </a:p>
          <a:p>
            <a:r>
              <a:t>3. Now card one real stock from your Day 11 watchlist or an open paper trade (never one from a tip; not a bank, NBFC or insurer). On its nseindia.com page note the sector, and in its shareholding pattern for the last four quarters note the pledged part as a % of promoter shares ('encumbered' counts too; if there is no promoter, write 'no promoter').</a:t>
            </a:r>
          </a:p>
          <a:p>
            <a:r>
              <a:t>4. For the same stock, take three years of sales, total expenses, finance costs, depreciation, net profit and operating cash flow, plus the latest borrowings and equity, from its annual results or a free data site (tick the latest year against the filing), and fill the Your stock column. Write the result and the deciding check in your journal; never post the name in a group.</a:t>
            </a:r>
          </a:p>
          <a:p>
            <a:r>
              <a:t>5. If it passes, open the app's Portfolio page and add one complete row (virtual; a row can be a stock you have studied, not only a trade you took: leave entry date, qty and entry price blank until you enter a paper trade, and it does not count as an open trade): Full Why 1 = your card result and the check that decided it; Full Why 2 = your Day 11 chart reason; the top risk and your answer to it; price-stop = the stop from your Day 11 plan card (1.5 x ATR 14 below entry); Why-stop = the card check that would knock it out; review point = its next results date. If it fails, write why in your journal instead.</a:t>
            </a:r>
          </a:p>
          <a:p>
            <a:r>
              <a:t>6. On nseindia.com, open the corporate actions list, pick one recent dividend, bonus, split, rights issue or buyback, and fill a blank row of 'Corporate actions in numbers' for a made-up 100 shares, with its ex-date and record date. For a dividend, compare the ex-date open with the previous close on a free TradingView chart.</a:t>
            </a:r>
          </a:p>
          <a:p/>
          <a:p>
            <a:r>
              <a:t>By the end: By the end you can run a five-check health filter on a company from its own filings, score it with written rules, turn a passing card into a Portfolio row, explain market-cap tiers and sectors, and work out what a dividend, bonus, split, rights issue or buyback does to your shares, with its ex-date and record date.</a:t>
            </a:r>
          </a:p>
          <a:p/>
          <a:p>
            <a:r>
              <a:t>Tools: NSE website (nseindia.com); Google Sheets; TradingView free chart; Any AI chat; The app's Portfolio page</a:t>
            </a:r>
          </a:p>
          <a:p/>
          <a:p>
            <a:r>
              <a:t>Educational content only, not investment advice. Company names and example figures are made up for illustration, and no fair value, target price or buy/sell view is given. No affiliation with any website or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filing: Kiran Foods Ltd (made up)</a:t>
            </a:r>
          </a:p>
          <a:p/>
          <a:p>
            <a:r>
              <a:t>Shareholding pattern, last 4 quarters: promoters hold 52%, and 0% of promoter shares are pledged in every quarter.</a:t>
            </a:r>
          </a:p>
          <a:p/>
          <a:p>
            <a:r>
              <a:t>Line (Rs crore) | Year 1 | Year 2 | Year 3</a:t>
            </a:r>
          </a:p>
          <a:p>
            <a:r>
              <a:t>Sales (revenue from operations) | 8,000 | 8,500 | 9,000</a:t>
            </a:r>
          </a:p>
          <a:p>
            <a:r>
              <a:t>Total expenses | 7,140 | 7,660 | 8,010</a:t>
            </a:r>
          </a:p>
          <a:p>
            <a:r>
              <a:t>of which: finance costs | 60 | 55 | 50</a:t>
            </a:r>
          </a:p>
          <a:p>
            <a:r>
              <a:t>of which: depreciation | 200 | 210 | 220</a:t>
            </a:r>
          </a:p>
          <a:p>
            <a:r>
              <a:t>Net profit | 645 | 630 | 742</a:t>
            </a:r>
          </a:p>
          <a:p>
            <a:r>
              <a:t>Net cash from operating activities | 600 | 520 | 760</a:t>
            </a:r>
          </a:p>
          <a:p>
            <a:r>
              <a:t>Total borrowings (latest year only) | - | - | 900</a:t>
            </a:r>
          </a:p>
          <a:p>
            <a:r>
              <a:t>Total equity (latest year only) | - | - | 4,500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Card: model, practice and yours</a:t>
            </a:r>
          </a:p>
          <a:p/>
          <a:p>
            <a:r>
              <a:t>Answer key for the Practice column: operating profit 1,120, 1,105 and 1,260, so margins 14.0%, 13.0% and 14.0% (down once, not twice: no flag); D/E 900 ÷ 4,500 = 0.2; interest cover (1,260 - 220) ÷ 50 = 20.8x; 3-year cash 1,880 against 3-year profit 2,017. Kiran Foods Ltd has 0 counted flags and no knock-out, so it stays on the list. A different count? Find the rule you misread before you card your own stock.</a:t>
            </a:r>
          </a:p>
          <a:p/>
          <a:p>
            <a:r>
              <a:t>Check (flag if...) | Priya: Bharat Pumps | Practice: Kiran Foods | Your stock</a:t>
            </a:r>
          </a:p>
          <a:p>
            <a:r>
              <a:t>Sector | Capital goods (pumps) |  | </a:t>
            </a:r>
          </a:p>
          <a:p>
            <a:r>
              <a:t>1 Growth: sales in year 3 below year 1? | Rs 4,200 to 5,000 cr: up, no flag |  | </a:t>
            </a:r>
          </a:p>
          <a:p>
            <a:r>
              <a:t>2 Margin: down in year 2 and again in year 3? | 11.9%, 12.0%, 12.0%: no flag |  | </a:t>
            </a:r>
          </a:p>
          <a:p>
            <a:r>
              <a:t>3 Debt: D/E above 1, or interest cover below 2? | D/E 1.2; cover 1.5x: FLAG |  | </a:t>
            </a:r>
          </a:p>
          <a:p>
            <a:r>
              <a:t>4 Pledge: above 10%, or up 2 quarters in a row? (knock-out) | 0% in all 4 quarters: no |  | </a:t>
            </a:r>
          </a:p>
          <a:p>
            <a:r>
              <a:t>5 Cash: 3-year cash under half of 3-year profit, or either at zero or below? | Rs 270 cr vs Rs 300 cr: no flag |  | </a:t>
            </a:r>
          </a:p>
          <a:p>
            <a:r>
              <a:t>Knock-out? | No |  | </a:t>
            </a:r>
          </a:p>
          <a:p>
            <a:r>
              <a:t>Counted flags (2 or more = out) | 1 (debt) |  | </a:t>
            </a:r>
          </a:p>
          <a:p>
            <a:r>
              <a:t>Decision and one reason | Stays; journal: 'debt: watch' |  | </a:t>
            </a:r>
          </a:p>
          <a:p>
            <a:r>
              <a:t>Portfolio row: Full Why 1 | Card: 1 flag (debt), no pledge, sales up 3 years | -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Corporate actions in numbers</a:t>
            </a:r>
          </a:p>
          <a:p/>
          <a:p>
            <a:r>
              <a:t>Use a blank row for the action you read on nseindia.com: write its ex-date and record date in the first cell.</a:t>
            </a:r>
          </a:p>
          <a:p/>
          <a:p>
            <a:r>
              <a:t>Action | Shares after | Price after | Your value</a:t>
            </a:r>
          </a:p>
          <a:p>
            <a:r>
              <a:t>Rs 10 dividend | 100 | ~Rs 790 | Rs 79,000 + Rs 1,000 cash</a:t>
            </a:r>
          </a:p>
          <a:p>
            <a:r>
              <a:t>1:1 bonus | 200 | ~Rs 400 | Rs 80,000</a:t>
            </a:r>
          </a:p>
          <a:p>
            <a:r>
              <a:t>Split: face value Rs 10 to Rs 2 | 500 | ~Rs 160 | Rs 80,000</a:t>
            </a:r>
          </a:p>
          <a:p>
            <a:r>
              <a:t>Rights, 1 for every 4 at Rs 600: apply, pay Rs 15,000 | 125 | ~Rs 760 | Rs 95,000 (80,000 + 15,000 paid)</a:t>
            </a:r>
          </a:p>
          <a:p>
            <a:r>
              <a:t>Rights: sell your 25 rights | 100 | ~Rs 760 | Rs 76,000 + ~Rs 4,000 cash</a:t>
            </a:r>
          </a:p>
          <a:p>
            <a:r>
              <a:t>Rights: ignore them | 100 | ~Rs 760 | Rs 76,000 (Rs 4,000 lost)</a:t>
            </a:r>
          </a:p>
          <a:p>
            <a:r>
              <a:t>Buyback at Rs 900: 10 of your 100 accepted | 90 | ~Rs 800 | Rs 72,000 + Rs 9,000 cash = Rs 81,000</a:t>
            </a:r>
          </a:p>
          <a:p>
            <a:r>
              <a:t>+ 2 ___</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Flag-count reveal: everyone scores the Kiran Foods practice filing alone in 10 minutes, writes the flag count on a chit, and all chits are opened together. Anyone whose count differs reads aloud the rule that tripped them. Round two, Story vs Numbers: one person reads Aman's '500 stores' line in a TV-anchor voice, and the others call out which of the five checks would test it. Learning alone? Play both rounds with the answer key under the Health Card. No real company names are shared.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Fill my health card</a:t>
            </a:r>
          </a:p>
          <a:p>
            <a:r>
              <a:t>You are a careful assistant helping a beginner run a 5-check health filter on one listed Indian company, or on a made-up practice company from my course. I will paste the company's sector and numbers I copied myself from its annual results (consolidated if available) for 3 years (year 1 is the oldest, year 3 the latest): sales (revenue from operations), total expenses, finance costs, depreciation, net profit and net cash from operating activities for each year; for the latest year, total borrowings (non-current plus current) and total equity (share capital plus other equity); and, for the last 4 quarters, promoter holding % and pledged shares as a % of promoter shares (or 'no promoter'). If the sector I give is a bank, NBFC or insurer, say the check does not fit and stop. Use ONLY the numbers I paste. If a number is missing, write 'missing' and never fill it from memory. For each year work out operating profit = sales - (total expenses - finance costs - depreciation) and operating margin = operating profit / sales. For the latest year work out interest cover = (operating profit - depreciation) / finance costs; this leaves out other income, so say that a data site's figure may differ. For each check (growth, margin, debt, promoter pledge, cash flow) show the calculation, the direction (better / flat / worse) and whether it triggers any of these course flags: sales in year 3 lower than year 1; operating margin lower in year 2 than year 1 AND lower in year 3 than year 2; latest debt-to-equity (total borrowings / total equity) above 1 or interest cover below 2; pledge above 10% of promoter shares or pledge % up two quarters in a row (a knock-out; if there is no promoter, write no promoter); 3-year operating cash flow below half of 3-year net profit, or 3-year net profit or 3-year operating cash flow at zero or below. If finance costs are zero, write 'no interest' and do not flag interest cover. If total equity is zero or negative, count a debt flag. Do not make the final decision for me: end with the number of knock-outs, the number of counted flags, and the list of numbers I should re-check in the filings. Do not give a valuation, fair value, target price, rating or any buy or sell view, and do not mention expected returns. Do not ask me for any personal details.</a:t>
            </a:r>
          </a:p>
          <a:p/>
          <a:p>
            <a:r>
              <a:t>Numbers:</a:t>
            </a:r>
          </a:p>
          <a:p>
            <a:r>
              <a:t>&lt;paste here&gt;</a:t>
            </a:r>
          </a:p>
          <a:p/>
          <a:p>
            <a:r>
              <a:t>Prompt 2: Story or numbers?</a:t>
            </a:r>
          </a:p>
          <a:p>
            <a:r>
              <a:t>I will paste a company press release, a TV interview transcript or a news article, with the company name removed. Sort every claim in it into three labels: Fact (a past, reported number I can check in the company's filings), Guess (a plan, forecast or opinion about the future) and Kachra (hype with nothing checkable in it, such as 'game-changer' or 'the next giant'). Then tell me which of these five checks each Fact relates to: growth, margin, debt, promoter pledge or cash flow. For each Guess, name one number in future filings that would test it. Finish with two questions I should ask myself to catch story bias. Do not recommend any stock, do not give buy or sell advice, and do not mention targets or expected returns.</a:t>
            </a:r>
          </a:p>
          <a:p/>
          <a:p>
            <a:r>
              <a:t>Text:</a:t>
            </a:r>
          </a:p>
          <a:p>
            <a:r>
              <a:t>&lt;paste here&gt;</a:t>
            </a:r>
          </a:p>
          <a:p/>
          <a:p>
            <a:r>
              <a:t>Prompt 3: Check my corporate action</a:t>
            </a:r>
          </a:p>
          <a:p>
            <a:r>
              <a:t>I read a corporate action on the NSE website and I will paste its type (dividend, bonus, split, rights issue or buyback), the ratio or amount, the issue or buyback price if any, the ex-date and the record date. Using a made-up holding of 100 shares at the previous close I give you, show in a simple table my number of shares, the price per share and my total value before and after. For a rights issue, show three rows (I apply, I sell my rights, I ignore them) and work out the theoretical ex-rights price step by step. For a buyback, show the result if only part of my shares is accepted, and explain what an acceptance ratio is. Then check the row I filled in myself, pasted below, and point out any line I got wrong. Explain record date versus ex-date under India's T+1 settlement in 3 short lines. Label each statement Fact, Guess or Kachra, list the facts I should confirm on the NSE website because rules can change, and say that tax questions go to a CA. Do not recommend any stock, do not give buy or sell advice, and do not mention targets or expected returns.</a:t>
            </a:r>
          </a:p>
          <a:p/>
          <a:p>
            <a:r>
              <a:t>Corporate action and previous close:</a:t>
            </a:r>
          </a:p>
          <a:p>
            <a:r>
              <a:t>&lt;paste here&gt;</a:t>
            </a:r>
          </a:p>
          <a:p/>
          <a:p>
            <a:r>
              <a:t>My row:</a:t>
            </a:r>
          </a:p>
          <a:p>
            <a:r>
              <a:t>&lt;paste here&gt;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 declares a Rs 8 dividend. Thursday is both the ex-date and the record date. Aman buys 40 shares on Wednesday to catch the dividend; Priya buys 40 shares on Thursday morning. In the normal T+1 cycle, who receives the dividend?</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watches a CEO interview about 500 new stores and feels sure the company will do well. He has not opened its accounts. Which habit best protects him from story bias?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card for a made-up company: sales up over 3 years, margin steady, debt-to-equity 0.4 and 3-year cash flow close to profit. But 35% of promoter shares are pledged. Under the course rules, what happens?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three years, a made-up company's net profit is Rs 20, 24 and 28 crore. Its operating cash flow is Rs 18, 6 and 4 crore. What does the course's cash-flow check say?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Aman's colleague has held 50 shares of Anand Snacks Ltd for two years; the share is at Rs 200. The company offers 1 new share for every 5 held, at Rs 140, and after the ex-date the price moves towards Rs 190. If the colleague simply ignores the offer, what happens?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Which company story have you believed without checking its numbers, from TV, YouTube or a friend? After today's card, would that company stay on your list? Write which check decided it.</a:t>
            </a:r>
          </a:p>
          <a:p/>
          <a:p>
            <a:r>
              <a:t>Today you read the report before the chart. It is slow, unglamorous work, and it is exactly the work a good story tempts you to skip.</a:t>
            </a:r>
          </a:p>
          <a:p/>
          <a:p>
            <a:r>
              <a:t>Next: Day 16 · Algo Level 1: rules, flowchart and alerts</a:t>
            </a:r>
          </a:p>
          <a:p/>
          <a:p>
            <a:r>
              <a:t>Educational content only, not investment advice. Company names and example figures are made up for illustration, and no fair value, target price or buy/sell view is given. No affiliation with any website or tool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16: Algo Level 1: rules, flowchart and alerts</a:t>
            </a:r>
          </a:p>
          <a:p/>
          <a:p>
            <a:r>
              <a:t>Concept: Testable rules, flowcharts and alerts: the machine watches, you decide</a:t>
            </a:r>
          </a:p>
          <a:p>
            <a:r>
              <a:t>AI Lab: Flowchart drafter: AI drafts, you find the missing box</a:t>
            </a:r>
          </a:p>
          <a:p>
            <a:r>
              <a:t>Mindset: Wanting a magic bot</a:t>
            </a:r>
          </a:p>
          <a:p/>
          <a:p>
            <a:r>
              <a:t>By the end: By the end you can turn vague trading ideas into testable yes/no rules, draw them as a flowchart with a YES and a NO exit at every question, say which checks a free screener or a price alert can do and which you do yourself, time daily checks after the official close, and explain SEBI's retail algo rules and why a magic bot is a red flag.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 that does everything</a:t>
            </a:r>
          </a:p>
          <a:p/>
          <a:p>
            <a:r>
              <a:t>(Tuesday, 10 pm. Aman forwards a Telegram ad to Priya and the mentor.)</a:t>
            </a:r>
          </a:p>
          <a:p>
            <a:r>
              <a:t>Tip-wala: AI Algo Bot. It trades for you while you sleep. Sure-shot entries, 9 out of 10 trades in profit. Just share your broker login and password. Rs 4,999 a month. Only 20 seats left.</a:t>
            </a:r>
          </a:p>
          <a:p>
            <a:r>
              <a:t>Aman: Sir, why should I spend three weeks writing rules? This bot does it all. No more staring at charts during office hours.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 that does everything</a:t>
            </a:r>
          </a:p>
          <a:p/>
          <a:p>
            <a:r>
              <a:t>Mentor: Ask the seller three questions first, Aman. What are the bot's rules, written as yes or no? Which broker sends its orders, and does each one carry the exchange's Algo-ID, its number plate? And who answers to you when it goes wrong? One more thing: no genuine service ever asks for your password.</a:t>
            </a:r>
          </a:p>
          <a:p>
            <a:r>
              <a:t>Priya: Sir, last night I tried to write my Day 11 rules as steps a machine could follow. The numbers were all there, but I got stuck on time: 'close within 2% of EMA 20'. Which close? If I check at 3:00, is that the close?</a:t>
            </a:r>
          </a:p>
          <a:p>
            <a:r>
              <a:t>Mentor: That is the real work, Priya. A machine can only follow what you can write as yes or no. Today we build Algo Level 1: rules, a flowchart and alerts. The machine watches; you decide.</a:t>
            </a:r>
          </a:p>
          <a:p/>
          <a:p>
            <a:r>
              <a:t>The lesson: No bot can follow rules you have not written. Write them first; then you will not need magic.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algo is written rules, not magic</a:t>
            </a:r>
          </a:p>
          <a:p/>
          <a:p>
            <a:r>
              <a:t>An algorithm, or algo, is a fixed list of steps followed the same way every time, like a chai recipe that says 'boil for 2 minutes', not 'boil for a while'. A discretionary trader decides afresh each time ('the chart looks good today'); a systematic trader decides once, writes the rule down and then follows it. A testable rule is objective (two people reach the same answer), measurable (it has a number) and time-bound (it says which candle, and when it is checked). Words such as near, strong, safe or 'lagbhag' fail this test; call them shayad ('maybe') words. Algo Level 1 began with your Day 11 screener. Today adds the flowchart and alerts, and Day 17 adds a backtest by hand.</a:t>
            </a:r>
          </a:p>
          <a:p/>
          <a:p>
            <a:r>
              <a:t>Example: Aman never copied the Day 11 card; his own note said: 'Enter when an uptrending stock comes near EMA 20 and RSI is not too high; keep a safe stop.' Priya helps him hunt the shayad words and finds four. 'Uptrending' becomes 'EMA 20 above EMA 50 on the daily chart, and EMA 50 higher than 10 trading days ago'. 'Near' becomes 'daily close within 2% of EMA 20, above or below it, and still above EMA 50'; with EMA 20 at Rs 440 on Gupta Cement Ltd, that means a close from Rs 431.20 to Rs 448.80. 'Not too high' becomes 'RSI 14 between 40 and 50', and 'safe stop' becomes '1.5 x ATR 14 below the planned entry'. That is exactly the Day 11 card, and now anyone reading it gets the same answer.</a:t>
            </a:r>
          </a:p>
          <a:p/>
          <a:p>
            <a:r>
              <a:t>Remember: If two people can read your rule and reach different answers, it is not a rule yet.</a:t>
            </a:r>
          </a:p>
          <a:p/>
          <a:p>
            <a:r>
              <a:t>On the slide: Shayad words vs testable rules · Anyone reading the 'testable' column gets the same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flowchart: your rule card as yes/no boxes</a:t>
            </a:r>
          </a:p>
          <a:p/>
          <a:p>
            <a:r>
              <a:t>A flowchart is a drawing of your rules in three shapes: an oval for start and end, a diamond for a yes/no question, and a rectangle for an action. Every diamond has exactly two exits; for your setup, 'yes' goes to the next box and 'no' goes straight to NO TRADE. Put the chart checks first and the risk checks after them: stop, size, the 25% exposure cap, the limit of 3 open trades, and whether your -2R daily stop or -5R weekly pause is already hit. Before the chart boxes, add one gate from Days 11 and 15: the stock has passed the health card, has no results date in the next 15 trading days and has no bonus or split on NSE's corporate actions page. If you cannot draw a box without writing 'maybe', the rule behind it is not ready. An AI can draft your flowchart in seconds, but it often gets a detail wrong, such as using an intraday ATR for a daily rule or dropping the next-morning gap check, so checking the draft is your job. In a notebook or a sheet, the same flowchart can be written as a table with a YES and a NO exit for every question, like Priya's below.</a:t>
            </a:r>
          </a:p>
          <a:p/>
          <a:p>
            <a:r>
              <a:t>Example: After Thursday's close, Priya runs Gupta Cement Ltd through her flowchart on Rs 10 lakh of virtual capital. Cleared? Yes: it passed her health card, no results date falls in the next 15 trading days, and NSE's corporate actions page shows no bonus or split. Trend up? Yes: EMA 20 is above EMA 50, and EMA 50 is higher than 10 trading days ago. On Tuesday it closed within 2% of EMA 20 with RSI 14 at 45, and its 3-month RS is above 0 (it beat NIFTY 50), so it is already on her watchlist. Signal day? Yes: today's candle closed at Rs 445, above Wednesday's high of Rs 442. Risk fits? Yes: she has fewer than 3 open trades and no -2R or -5R pause. Paper plan: ATR 14 is Rs 10, so the stop will be 1.5 x 10 = Rs 15 below the entry, and her maximum entry is 445 + 0.5 x 10 = Rs 450. Size = Rs 10,000 / 15 = 666 shares (rounded down), worth up to Rs 2,99,700 at Rs 450, which breaks the 25% cap of Rs 2,50,000, so the plan box cuts it to 555 shares (Rs 2,49,750 even at Rs 450). The flowchart caught what her eyes might have missed.</a:t>
            </a:r>
          </a:p>
          <a:p/>
          <a:p>
            <a:r>
              <a:t>Remember: Every diamond is a yes/no question; one 'no' anywhere means no trade. Action boxes, like sizing, only calculate.</a:t>
            </a:r>
          </a:p>
          <a:p/>
          <a:p>
            <a:r>
              <a:t>On the slide: Priya's EMA Pullback flowchart, box by box · Run it in the evening, after the official close. Follow YES down the list; any NO leaves at once. On paper, draw ovals for start and end, diamonds for questions and rectangles for actions.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flowchart: your rule card as yes/no boxes</a:t>
            </a:r>
          </a:p>
          <a:p/>
          <a:p>
            <a:r>
              <a:t>A flowchart is a drawing of your rules in three shapes: an oval for start and end, a diamond for a yes/no question, and a rectangle for an action. Every diamond has exactly two exits; for your setup, 'yes' goes to the next box and 'no' goes straight to NO TRADE. Put the chart checks first and the risk checks after them: stop, size, the 25% exposure cap, the limit of 3 open trades, and whether your -2R daily stop or -5R weekly pause is already hit. Before the chart boxes, add one gate from Days 11 and 15: the stock has passed the health card, has no results date in the next 15 trading days and has no bonus or split on NSE's corporate actions page. If you cannot draw a box without writing 'maybe', the rule behind it is not ready. An AI can draft your flowchart in seconds, but it often gets a detail wrong, such as using an intraday ATR for a daily rule or dropping the next-morning gap check, so checking the draft is your job. In a notebook or a sheet, the same flowchart can be written as a table with a YES and a NO exit for every question, like Priya's below.</a:t>
            </a:r>
          </a:p>
          <a:p/>
          <a:p>
            <a:r>
              <a:t>Example: After Thursday's close, Priya runs Gupta Cement Ltd through her flowchart on Rs 10 lakh of virtual capital. Cleared? Yes: it passed her health card, no results date falls in the next 15 trading days, and NSE's corporate actions page shows no bonus or split. Trend up? Yes: EMA 20 is above EMA 50, and EMA 50 is higher than 10 trading days ago. On Tuesday it closed within 2% of EMA 20 with RSI 14 at 45, and its 3-month RS is above 0 (it beat NIFTY 50), so it is already on her watchlist. Signal day? Yes: today's candle closed at Rs 445, above Wednesday's high of Rs 442. Risk fits? Yes: she has fewer than 3 open trades and no -2R or -5R pause. Paper plan: ATR 14 is Rs 10, so the stop will be 1.5 x 10 = Rs 15 below the entry, and her maximum entry is 445 + 0.5 x 10 = Rs 450. Size = Rs 10,000 / 15 = 666 shares (rounded down), worth up to Rs 2,99,700 at Rs 450, which breaks the 25% cap of Rs 2,50,000, so the plan box cuts it to 555 shares (Rs 2,49,750 even at Rs 450). The flowchart caught what her eyes might have missed.</a:t>
            </a:r>
          </a:p>
          <a:p/>
          <a:p>
            <a:r>
              <a:t>Remember: Every diamond is a yes/no question; one 'no' anywhere means no trade. Action boxes, like sizing, only calculate.</a:t>
            </a:r>
          </a:p>
          <a:p/>
          <a:p>
            <a:r>
              <a:t>On the slide: Priya's EMA Pullback flowchart, box by box · Run it in the evening, after the official close. Follow YES down the list; any NO leaves at once. On paper, draw ovals for start and end, diamonds for questions and rectangles for actions.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Alerts ring; you decide</a:t>
            </a:r>
          </a:p>
          <a:p/>
          <a:p>
            <a:r>
              <a:t>A screener scans many stocks and lists the ones that meet your conditions; an alert is a message a platform sends the moment a condition becomes true, such as price crossing a level. An alert is not an order, because it cannot see your rule card, your position size or your open trades; when the machine only watches while you decide and place the order, that is called semi-automation, and Stage 1 goes no further. A plain price alert rings when price merely touches a level, often with just a wick, while your rule usually needs a candle to close beyond it. Some alert types can wait for the candle to close (TradingView calls this 'Once per bar close'), but the free plan allows only a few active alerts, its limits change, and this course never needs an indicator or drawing alert. The free path is simple: a price alert at a level you worked out the evening before, or a fixed after-close check, and every alert treated like a pressure-cooker whistle: it tells you to check the dal, not to serve it. Then run your 60-second after-alert checklist (Your template), and let any NO end it.</a:t>
            </a:r>
          </a:p>
          <a:p/>
          <a:p>
            <a:r>
              <a:t>Example: On a day's leave from office, Aman tries the optional ORB on paper, since today he can watch from 9:15 to 11:00. Today the 9:15-9:30 range of Bharat Pumps Ltd (a heavily traded stock, as on Day 13) is Rs 994 to Rs 1,000, so he can set his alert at Rs 1,000 only after 9:30, once the range exists. At 9:40 a wick pokes above Rs 1,000, up to Rs 1,001.50, and the alert rings, but the 5-minute candle closes at Rs 999, back inside the range: rule not met. The 9:55 candle closes at Rs 1,002.50, above the range. Only now does he run his after-alert checklist, including Day 13's VWAP and volume checks (his answers at 9:40 and 9:55 are under Your template); his paper entry is the next candle's open, Rs 1,002.50, and the stop sits at the other side of the range, Rs 994, so the risk is Rs 8.50 a share.</a:t>
            </a:r>
          </a:p>
          <a:p/>
          <a:p>
            <a:r>
              <a:t>Remember: An alert means 'look now', never 'buy now'. The rule, the checklist and the order stay with you.</a:t>
            </a:r>
          </a:p>
          <a:p/>
          <a:p>
            <a:r>
              <a:t>On the slide: A touch is not a close · 5-minute candles from 9:15. The 9:40 wick rang the alert, but the first close above the range came only with the 9:55 candle.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rules need a finished daily candle</a:t>
            </a:r>
          </a:p>
          <a:p/>
          <a:p>
            <a:r>
              <a:t>A daily candle is final only after the market closes and the exchange sets the official closing price. Since 3 August 2026, stocks that have F&amp;O contracts stop continuous trading at 3:15 pm, and a closing auction (about 3:15 to 3:35 pm) sets one closing price; other stocks trade on to 3:30 pm, and their close is the volume-weighted average price of roughly the last 30 minutes (check nseindia.com for the latest). Until then the close, and every EMA and RSI value built on it, can still change, so an alert or scan at 3:00 pm is reading an unfinished candle, and its 'yes' can turn into a 'no' by the close. For a swing rule like EMA Pullback, run your screener after the close, in the evening, and write the plan that evening: entry at the next day's open, with a maximum entry of the signal close plus 0.5 x ATR 14. Next morning, skip the trade if the stock opens above that maximum, because the gap has gone past your plan, or below the signal day's low, because the signal has already failed, as Day 11 taught. Keep alerts few and tidy: name each one after its rule and delete old ones every week, because a phone that rings all day teaches you to ignore it.</a:t>
            </a:r>
          </a:p>
          <a:p/>
          <a:p>
            <a:r>
              <a:t>Example: On Kiran Foods Ltd, yesterday's high was Rs 472, and Day 11's signal day needs a daily close above it. At 3:00 pm the price is Rs 474, so the signal looks true, and a pre-close alert fires. A late sell-off pulls the day's official close down to Rs 471, below Rs 472: the finished candle says NO. Aman, who acted on the 3:00 alert, now holds a paper trade his own rules reject; Priya, who scanned at 7 pm, simply moves on. You need no broker app and no paid plan for this: a free price alert at Rs 472, set the evening before, only tells you to look, and a 7 pm phone reminder to run your screener does the rest.</a:t>
            </a:r>
          </a:p>
          <a:p/>
          <a:p>
            <a:r>
              <a:t>Remember: Swing rules read a finished candle: scan in the evening, act the next morning.</a:t>
            </a:r>
          </a:p>
          <a:p/>
          <a:p>
            <a:r>
              <a:t>On the slide: One swing day, in order · A 3:00 pm alert reads an unfinished candle. Your rule reads the official close. Closing timings as of Aug 2026; check nseindia.com for the latest.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SEBI's retail algo rules: the road rules</a:t>
            </a:r>
          </a:p>
          <a:p/>
          <a:p>
            <a:r>
              <a:t>Since 1 April 2026, SEBI's framework for retail algo trading has been in force. It covers every order a program sends through a broker's API, a software link that lets a program place orders, including an alert wired to place orders by itself; orders you tap in yourself, and alerts that only notify you, are outside it. The broker is the principal: it answers to the exchange for every algo order and handles your complaints, but trading losses stay yours. Each algo order carries an exchange-given Algo-ID, like a number plate, and an algo above the exchange-set order-rate limit must be registered through the broker. A self-built algo is for you and your family only (spouse, dependent children, dependent parents); anyone offering algos to others must be empanelled by an exchange, and black-box sellers, who hide their logic, must also be SEBI-registered Research Analysts. These rules can change, so check the SEBI and NSE websites for the latest.</a:t>
            </a:r>
          </a:p>
          <a:p/>
          <a:p>
            <a:r>
              <a:t>Example: A colleague in Aman's office has written a small program that places orders through his broker's API. It runs only through that broker, from a registered static IP (a fixed internet address), with a two-factor login (password plus OTP) whose session ends every day, and an Algo-ID on each order. When Aman asks for a copy, the colleague says no: sharing it with anyone beyond his spouse, dependent children or dependent parents would make him an algo provider, which needs exchange empanelment. Stage 1 itself places no automated orders at all; your Level 1 kit is rules, a flowchart and alerts.</a:t>
            </a:r>
          </a:p>
          <a:p/>
          <a:p>
            <a:r>
              <a:t>Remember: A legal algo runs through a broker with an Algo-ID on every order, and anyone selling one must be exchange-empanelled. Trading losses stay yours.</a:t>
            </a:r>
          </a:p>
          <a:p/>
          <a:p>
            <a:r>
              <a:t>On the slide: Who answers for what · Orders you place by hand, and alerts that only notify you, are outside the framework; an alert wired to place orders is inside it. Check sebi.gov.in and nseindia.com for the latest.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magic-bot wish</a:t>
            </a:r>
          </a:p>
          <a:p/>
          <a:p>
            <a:r>
              <a:t>After two weeks of rules and checklists, a bot that 'does everything' feels like relief. The wish usually has three roots: tiredness from deciding, fear of missing moves while at work, and hope of money without effort. But a bot is only rules plus speed: it cannot follow rules you have not written, and it repeats a bad rule faster than any human. Sellers hide this behind screenshots of winning days and a monthly fee. Before believing any bot, ask for its rules in yes/no form, its broker and Algo-ID, and who handles complaints; if the answer is 'just trust us', walk away.</a:t>
            </a:r>
          </a:p>
          <a:p/>
          <a:p>
            <a:r>
              <a:t>Example: You did this sum on Day 4 for a Telegram tip bot; this bot's fee works the same way. The bot in Aman's forward costs Rs 4,999 a month. On a Rs 1,00,000 account that is Rs 59,988 a year, about 60% of the capital, paid before a single trade wins or loses. Even on the Rs 10 lakh challenge capital it is about 6% a year, gone before any trade. It also asked for his password, showed no rules, named no broker or registration, claimed 9 winning trades in 10 and rushed him with 'only 20 seats': five red flags before any money moves. Priya puts it simply: 'My flowchart is free, and I can see every box in it.'</a:t>
            </a:r>
          </a:p>
          <a:p/>
          <a:p>
            <a:r>
              <a:t>Remember: A bot repeats your rules faster, good or bad. Write and test the rules first.</a:t>
            </a:r>
          </a:p>
          <a:p/>
          <a:p>
            <a:r>
              <a:t>On the slide: What the bot really costs · Before any trading loss, the fee alone takes about 60% of a Rs 1 lakh account in a year.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 (algorithm): A fixed list of steps followed the same way every time. In trading: written rules a machine can check without feelings.</a:t>
            </a:r>
          </a:p>
          <a:p>
            <a:r>
              <a:t>Testable rule: A rule that is objective, has a number and says which candle and when, so everyone reading it gets the same answer.</a:t>
            </a:r>
          </a:p>
          <a:p>
            <a:r>
              <a:t>Flowchart: A drawing of your rules: ovals for start and end, diamonds for yes/no questions, rectangles for actions.</a:t>
            </a:r>
          </a:p>
          <a:p>
            <a:r>
              <a:t>Alert: A message a platform sends when a condition becomes true. It asks you to look; it never places an order.</a:t>
            </a:r>
          </a:p>
          <a:p>
            <a:r>
              <a:t>API: A software link that lets a program place orders with a broker. To place orders through an API you need a static IP registered with your broker and a two-factor login.</a:t>
            </a:r>
          </a:p>
          <a:p>
            <a:r>
              <a:t>Algo-ID: The identity the exchange gives an algo, carried on each of its orders like a number plate, so every order can be traced.</a:t>
            </a:r>
          </a:p>
          <a:p>
            <a:r>
              <a:t>Screener: A tool that filters many stocks by your written conditions, usually after the close. It holds some rules; any rule it cannot hold, you check by eye on the chart.</a:t>
            </a:r>
          </a:p>
          <a:p>
            <a:r>
              <a:t>Official close: The day's closing price set by the exchange: by a closing auction for stocks with F&amp;O contracts, or by the volume-weighted average price of roughly the last 30 minutes for others. Daily rules read this price.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 Level 1</a:t>
            </a:r>
          </a:p>
          <a:p>
            <a:r>
              <a:t>Rules: Objective, number, timing; Hunt the shayad words; Two readers, one answer</a:t>
            </a:r>
          </a:p>
          <a:p>
            <a:r>
              <a:t>Flowchart: Oval, diamond, rectangle; Any NO = no trade; Check the AI's draft</a:t>
            </a:r>
          </a:p>
          <a:p>
            <a:r>
              <a:t>Alerts: Alert = look now; A touch is not a close; Swing: scan after the close; Free: price alert or 7 pm check</a:t>
            </a:r>
          </a:p>
          <a:p>
            <a:r>
              <a:t>SEBI road rules: Broker is principal; Algo-ID on every order; Family-only sharing; Losses stay yours</a:t>
            </a:r>
          </a:p>
          <a:p>
            <a:r>
              <a:t>Your mind: No magic bot; Fees add up; Never share your password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Algo Level 1 kit: a shayad-free rule card, a paper flowchart, one free price alert or a 7 pm check, and an after-alert checklist, then add a Portfolio row. About 45 minutes; the ORB flowchart is an optional stretch, with its answer key under Your template.</a:t>
            </a:r>
          </a:p>
          <a:p/>
          <a:p>
            <a:r>
              <a:t>1. Copy the 'Rule card, shayad-free' template under Your template and rewrite your Day 11 EMA Pullback card line by line: every line needs a number, a candle and a time, and the 'Checked by' column says whether your free screener, a price alert or your own eyes check it.</a:t>
            </a:r>
          </a:p>
          <a:p>
            <a:r>
              <a:t>2. On paper, draw the flowchart: an oval to start, a diamond for each yes/no question, a rectangle for each action, and every 'no' arrow going to NO TRADE. Check it against Priya's table in the lesson, then take a photo.</a:t>
            </a:r>
          </a:p>
          <a:p>
            <a:r>
              <a:t>3. Run the AI Lab prompt 'Flowchart drafter' with your rule card, compare its draft with yours, and write down one box it missed, merged or got wrong; if it got every box right, write the one box you had to fix in your own drawing.</a:t>
            </a:r>
          </a:p>
          <a:p>
            <a:r>
              <a:t>4. Free alert path: after today's close, note today's high of NIFTY 50 (or of one watchlist stock) and set one plain price alert at that level on a free TradingView chart (a free sign-up, no broker account), named 'LOOK only: close above today's high'. If it rings tomorrow, it only means look; your rule still reads tomorrow's official close. Would rather not sign up, or no free alert left? Set a daily 7 pm phone reminder for your after-close check instead.</a:t>
            </a:r>
          </a:p>
          <a:p>
            <a:r>
              <a:t>5. Copy the after-alert checklist (Your template) into Google Sheets or your notes, rewrite check 3 for your own rule card, and add an alert log with four columns: time, alert name, valid Y/N, reason. The AI Lab prompt 'After-the-alert checklist' can draft one for you to check.</a:t>
            </a:r>
          </a:p>
          <a:p>
            <a:r>
              <a:t>6. Add one more Portfolio row (virtual) for a watchlist stock that passed its health card and your flowchart's boxes 2 to 4: Full Why 1 = its card result; Full Why 2 = the chart boxes it passed (3 and 4), not the card again; top risk = 'a results gap' and your answer = 'box 2: no results date in the next 15 trading days'; price-stop = 1.5 x ATR 14 below your planned entry; Why-stop = the box that would turn NO (for example 'EMA 20 closes below EMA 50'); review point = its next results date. No stock passed? Write 'none passed' in your journal: that is the flowchart doing its job.</a:t>
            </a:r>
          </a:p>
          <a:p/>
          <a:p>
            <a:r>
              <a:t>By the end: By the end you can turn vague trading ideas into testable yes/no rules, draw them as a flowchart with a YES and a NO exit at every question, say which checks a free screener or a price alert can do and which you do yourself, time daily checks after the official close, and explain SEBI's retail algo rules and why a magic bot is a red flag.</a:t>
            </a:r>
          </a:p>
          <a:p/>
          <a:p>
            <a:r>
              <a:t>Tools: Your Day 11 rule card; Paper and pen (draw.io, a free diagram site, optional); TradingView free chart and one price alert; Google Sheets or notes; Any AI chat; The app's Portfolio page</a:t>
            </a:r>
          </a:p>
          <a:p/>
          <a:p>
            <a:r>
              <a:t>Educational content only, not investment advice. Investment in securities market is subject to market risks. Company names, prices and the bot advert are made up for illustration; no algo, bot or algo provider is endorsed. Stage 1 uses virtual money only and places no automated orders. No affiliation with any charting or diagram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Algo Level 1 kit: a shayad-free rule card, a paper flowchart, one free price alert or a 7 pm check, and an after-alert checklist, then add a Portfolio row. About 45 minutes; the ORB flowchart is an optional stretch, with its answer key under Your template.</a:t>
            </a:r>
          </a:p>
          <a:p/>
          <a:p>
            <a:r>
              <a:t>1. Copy the 'Rule card, shayad-free' template under Your template and rewrite your Day 11 EMA Pullback card line by line: every line needs a number, a candle and a time, and the 'Checked by' column says whether your free screener, a price alert or your own eyes check it.</a:t>
            </a:r>
          </a:p>
          <a:p>
            <a:r>
              <a:t>2. On paper, draw the flowchart: an oval to start, a diamond for each yes/no question, a rectangle for each action, and every 'no' arrow going to NO TRADE. Check it against Priya's table in the lesson, then take a photo.</a:t>
            </a:r>
          </a:p>
          <a:p>
            <a:r>
              <a:t>3. Run the AI Lab prompt 'Flowchart drafter' with your rule card, compare its draft with yours, and write down one box it missed, merged or got wrong; if it got every box right, write the one box you had to fix in your own drawing.</a:t>
            </a:r>
          </a:p>
          <a:p>
            <a:r>
              <a:t>4. Free alert path: after today's close, note today's high of NIFTY 50 (or of one watchlist stock) and set one plain price alert at that level on a free TradingView chart (a free sign-up, no broker account), named 'LOOK only: close above today's high'. If it rings tomorrow, it only means look; your rule still reads tomorrow's official close. Would rather not sign up, or no free alert left? Set a daily 7 pm phone reminder for your after-close check instead.</a:t>
            </a:r>
          </a:p>
          <a:p>
            <a:r>
              <a:t>5. Copy the after-alert checklist (Your template) into Google Sheets or your notes, rewrite check 3 for your own rule card, and add an alert log with four columns: time, alert name, valid Y/N, reason. The AI Lab prompt 'After-the-alert checklist' can draft one for you to check.</a:t>
            </a:r>
          </a:p>
          <a:p>
            <a:r>
              <a:t>6. Add one more Portfolio row (virtual) for a watchlist stock that passed its health card and your flowchart's boxes 2 to 4: Full Why 1 = its card result; Full Why 2 = the chart boxes it passed (3 and 4), not the card again; top risk = 'a results gap' and your answer = 'box 2: no results date in the next 15 trading days'; price-stop = 1.5 x ATR 14 below your planned entry; Why-stop = the box that would turn NO (for example 'EMA 20 closes below EMA 50'); review point = its next results date. No stock passed? Write 'none passed' in your journal: that is the flowchart doing its job.</a:t>
            </a:r>
          </a:p>
          <a:p/>
          <a:p>
            <a:r>
              <a:t>By the end: By the end you can turn vague trading ideas into testable yes/no rules, draw them as a flowchart with a YES and a NO exit at every question, say which checks a free screener or a price alert can do and which you do yourself, time daily checks after the official close, and explain SEBI's retail algo rules and why a magic bot is a red flag.</a:t>
            </a:r>
          </a:p>
          <a:p/>
          <a:p>
            <a:r>
              <a:t>Tools: Your Day 11 rule card; Paper and pen (draw.io, a free diagram site, optional); TradingView free chart and one price alert; Google Sheets or notes; Any AI chat; The app's Portfolio page</a:t>
            </a:r>
          </a:p>
          <a:p/>
          <a:p>
            <a:r>
              <a:t>Educational content only, not investment advice. Investment in securities market is subject to market risks. Company names, prices and the bot advert are made up for illustration; no algo, bot or algo provider is endorsed. Stage 1 uses virtual money only and places no automated orders. No affiliation with any charting or diagram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card, shayad-free: who checks what</a:t>
            </a:r>
          </a:p>
          <a:p/>
          <a:p>
            <a:r>
              <a:t>Copy it and change only what your own Day 11 card says differently. Any rule a free screener cannot hold, you check by eye on the chart.</a:t>
            </a:r>
          </a:p>
          <a:p/>
          <a:p>
            <a:r>
              <a:t>Rule | Testable version | Checked by | When</a:t>
            </a:r>
          </a:p>
          <a:p>
            <a:r>
              <a:t>Watchlist gate | Health card passed; no results date in the next 15 trading days; no bonus or split on NSE's corporate actions page | You: card, NSE announcements and corporate actions | Before adding a stock</a:t>
            </a:r>
          </a:p>
          <a:p>
            <a:r>
              <a:t>Trend | EMA 20 above EMA 50 on the daily chart | Free screener | Evening, after the close</a:t>
            </a:r>
          </a:p>
          <a:p>
            <a:r>
              <a:t>Trend rising | EMA 50 higher than 10 trading days ago | You, by eye: free screeners may not hold it | Evening, after the close</a:t>
            </a:r>
          </a:p>
          <a:p>
            <a:r>
              <a:t>Pullback | Daily close within 2% of EMA 20, above or below, and above EMA 50 | Free screener | Evening, after the close</a:t>
            </a:r>
          </a:p>
          <a:p>
            <a:r>
              <a:t>Cool-down | RSI 14 between 40 and 50 | Free screener | Evening, after the close</a:t>
            </a:r>
          </a:p>
          <a:p>
            <a:r>
              <a:t>Strength | 3-month % change minus NIFTY 50's is above 0 | You: the stock/NIFTY line on the chart | Evening, after the close</a:t>
            </a:r>
          </a:p>
          <a:p>
            <a:r>
              <a:t>Signal day | Daily close above the previous day's high, within 5 trading days | Price alert says look; you read the close | Evening, after the close</a:t>
            </a:r>
          </a:p>
          <a:p>
            <a:r>
              <a:t>Stop and size | Stop 1.5 x ATR 14 below entry; qty = Rs 10,000 ÷ stop, cut to the 25% cap at the max entry | You, with a calculator | Evening plan</a:t>
            </a:r>
          </a:p>
          <a:p>
            <a:r>
              <a:t>Entry | Next day's open, only if it is between the signal-day low and close + 0.5 x ATR 14 | You | Next evening, from the day's open</a:t>
            </a:r>
          </a:p>
          <a:p>
            <a:r>
              <a:t>Risk limits | Fewer than 3 open trades; no -2R day and no -5R week already hit | You | Before every entry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card, shayad-free: who checks what</a:t>
            </a:r>
          </a:p>
          <a:p/>
          <a:p>
            <a:r>
              <a:t>Copy it and change only what your own Day 11 card says differently. Any rule a free screener cannot hold, you check by eye on the chart.</a:t>
            </a:r>
          </a:p>
          <a:p/>
          <a:p>
            <a:r>
              <a:t>Rule | Testable version | Checked by | When</a:t>
            </a:r>
          </a:p>
          <a:p>
            <a:r>
              <a:t>Watchlist gate | Health card passed; no results date in the next 15 trading days; no bonus or split on NSE's corporate actions page | You: card, NSE announcements and corporate actions | Before adding a stock</a:t>
            </a:r>
          </a:p>
          <a:p>
            <a:r>
              <a:t>Trend | EMA 20 above EMA 50 on the daily chart | Free screener | Evening, after the close</a:t>
            </a:r>
          </a:p>
          <a:p>
            <a:r>
              <a:t>Trend rising | EMA 50 higher than 10 trading days ago | You, by eye: free screeners may not hold it | Evening, after the close</a:t>
            </a:r>
          </a:p>
          <a:p>
            <a:r>
              <a:t>Pullback | Daily close within 2% of EMA 20, above or below, and above EMA 50 | Free screener | Evening, after the close</a:t>
            </a:r>
          </a:p>
          <a:p>
            <a:r>
              <a:t>Cool-down | RSI 14 between 40 and 50 | Free screener | Evening, after the close</a:t>
            </a:r>
          </a:p>
          <a:p>
            <a:r>
              <a:t>Strength | 3-month % change minus NIFTY 50's is above 0 | You: the stock/NIFTY line on the chart | Evening, after the close</a:t>
            </a:r>
          </a:p>
          <a:p>
            <a:r>
              <a:t>Signal day | Daily close above the previous day's high, within 5 trading days | Price alert says look; you read the close | Evening, after the close</a:t>
            </a:r>
          </a:p>
          <a:p>
            <a:r>
              <a:t>Stop and size | Stop 1.5 x ATR 14 below entry; qty = Rs 10,000 ÷ stop, cut to the 25% cap at the max entry | You, with a calculator | Evening plan</a:t>
            </a:r>
          </a:p>
          <a:p>
            <a:r>
              <a:t>Entry | Next day's open, only if it is between the signal-day low and close + 0.5 x ATR 14 | You | Next evening, from the day's open</a:t>
            </a:r>
          </a:p>
          <a:p>
            <a:r>
              <a:t>Risk limits | Fewer than 3 open trades; no -2R day and no -5R week already hit | You | Before every entry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After-alert checklist: 60 seconds, six yes/no checks</a:t>
            </a:r>
          </a:p>
          <a:p/>
          <a:p>
            <a:r>
              <a:t>Any NO = no trade. For your evening swing scan, put your trend, pullback, RSI and RS boxes in check 3.</a:t>
            </a:r>
          </a:p>
          <a:p/>
          <a:p>
            <a:r>
              <a:t># | Check | Aman, 9:40 | Aman, 9:55</a:t>
            </a:r>
          </a:p>
          <a:p>
            <a:r>
              <a:t>1 | I looked at the chart myself, not just the alert text | Yes | Yes</a:t>
            </a:r>
          </a:p>
          <a:p>
            <a:r>
              <a:t>2 | The candle my rule needs has closed beyond the level (a touch or a wick does not count) | NO: wick only, closed at 999 | Yes: closed at 1,002.50</a:t>
            </a:r>
          </a:p>
          <a:p>
            <a:r>
              <a:t>3 | The rule-card checks the alert cannot see all pass (ORB: VWAP side, volume, before 11:00) | - | Yes</a:t>
            </a:r>
          </a:p>
          <a:p>
            <a:r>
              <a:t>4 | Stop and size worked out: 1% rule, cut to the 25% cap | - | Yes: stop Rs 994; 249 shares (25% cap)</a:t>
            </a:r>
          </a:p>
          <a:p>
            <a:r>
              <a:t>5 | Fewer than 3 open trades; no -2R day or -5R week already hit | - | Yes</a:t>
            </a:r>
          </a:p>
          <a:p>
            <a:r>
              <a:t>6 | Alert-log row written: time, alert name, valid Y/N, reason | Yes: 'N, touch only' | Yes: 'Y, close above'</a:t>
            </a:r>
          </a:p>
          <a:p>
            <a:r>
              <a:t> | Decision | NO TRADE | Paper entry at the next open, Rs 1,002.50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flowchart: answer key (optional stretch)</a:t>
            </a:r>
          </a:p>
          <a:p/>
          <a:p>
            <a:r>
              <a:t>If you follow ORB, draw your own flowchart first, then compare it box by box. The rules are Day 13's.</a:t>
            </a:r>
          </a:p>
          <a:p/>
          <a:p>
            <a:r>
              <a:t># | Question or action | YES | NO</a:t>
            </a:r>
          </a:p>
          <a:p>
            <a:r>
              <a:t>1 | Start: free to watch 9:15-11:00, and again at 14:30? | → 2 | No ORB today</a:t>
            </a:r>
          </a:p>
          <a:p>
            <a:r>
              <a:t>2 | A NIFTY 50 stock that opened inside yesterday's range (no gap)? | → 3 | NO TRADE</a:t>
            </a:r>
          </a:p>
          <a:p>
            <a:r>
              <a:t>3 | No results or big company news today, and away from its price band? | → 4 | NO TRADE</a:t>
            </a:r>
          </a:p>
          <a:p>
            <a:r>
              <a:t>4 | Room left: above -2R, under 2 stop-outs, under 3 open, no ORB trade in this stock yet? | → 5 | NO TRADE</a:t>
            </a:r>
          </a:p>
          <a:p>
            <a:r>
              <a:t>5 | Past 9:30, with the 9:15-9:30 high and low marked? | → 6 | Wait: no trade before 9:30</a:t>
            </a:r>
          </a:p>
          <a:p>
            <a:r>
              <a:t>6 | A 5-minute candle closed outside the range? | → 7 | Keep watching till 11:00</a:t>
            </a:r>
          </a:p>
          <a:p>
            <a:r>
              <a:t>7 | Long: price above VWAP (short: below), and that candle's volume above its 20-candle average? | → 8 | Not this candle: back to 6</a:t>
            </a:r>
          </a:p>
          <a:p>
            <a:r>
              <a:t>8 | Does the next candle open by 11:00? | → 9 | NO TRADE</a:t>
            </a:r>
          </a:p>
          <a:p>
            <a:r>
              <a:t>9 | Plan: stop at the other side of the range; size = the smaller of the 1% rule and the 25% cap; 2R profit exit | → 10 | -</a:t>
            </a:r>
          </a:p>
          <a:p>
            <a:r>
              <a:t>10 | Paper entry at that open; exit at the stop, 2R or 14:30, always the same day | → End | -</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Flowchart Duel: swap flowcharts with a classmate or family member and score each out of 4: every box is a yes/no question or an action; every 'no' goes to NO TRADE; the risk checks are there (stop, size, 25% cap, 3 open trades, -2R daily stop, -5R weekly pause, results date); the daily-close timing is there. Bonus round: read one line of your partner's rule card aloud and give them 10 seconds to spot the shayad word. Learning alone? Score yours against Priya's table in the lesson and count the missing boxes.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Flowchart drafter</a:t>
            </a:r>
          </a:p>
          <a:p>
            <a:r>
              <a:t>You are a patient teacher helping a beginner turn a written swing-trading rule card into a flowchart. I will paste my rule card below (the EMA Pullback Swing on daily charts: EMA 20 above EMA 50, with EMA 50 higher than 10 trading days ago, a close within 2% of EMA 20 and above EMA 50, RSI 14 between 40 and 50, 3-month relative strength vs NIFTY 50 above zero, a signal day that closes above the previous day's high, and a stop at 1.5 x ATR 14 below entry). First, list every vague word in my card (such as near, strong, safe or about) and suggest a testable yes/no version with a number and a time (which candle, and when it is checked). Then write the flowchart as a table with the columns #, shape (oval, diamond or rectangle), question or action, YES (go to N) and NO (NO TRADE or wait). For each node, also say whether a free stock screener can check it after the close or I must check it by eye on the chart. Include nodes for: the daily candle being closed (checked in the evening, after the exchange's official close), the health-card pass, no results date in the next 15 trading days and no bonus or split on the NSE corporate actions page, the trend filter, the pullback condition, RSI, relative strength, the signal day, the stop from 1.5 x ATR 14 on the daily chart, position size from the 1% rule, the 25% exposure cap, the limit of 3 open trades, the -2R daily stop and -5R weekly pause, entry at the next day's open (skipped if it opens above the signal close plus 0.5 x ATR 14, or below the signal day's low), and a journal entry. Mark any node you added on your own as Guess so I can check it. Do not name any real stock, do not give buy or sell advice, and do not mention targets or expected returns.</a:t>
            </a:r>
          </a:p>
          <a:p/>
          <a:p>
            <a:r>
              <a:t>My rule card:</a:t>
            </a:r>
          </a:p>
          <a:p>
            <a:r>
              <a:t>&lt;paste here&gt;</a:t>
            </a:r>
          </a:p>
          <a:p/>
          <a:p>
            <a:r>
              <a:t>Prompt 2: After-the-alert checklist</a:t>
            </a:r>
          </a:p>
          <a:p>
            <a:r>
              <a:t>Write a 60-second checklist I will run every time a screener or price alert fires, for a daily EMA pullback swing rule card that I will paste below. On a free charting plan I use only plain price alerts at levels I work out the evening before, so an alert can ring on a touch or a wick before any candle has closed. Give exactly 6 yes/no items. Cover: I have looked at the chart myself; the candle my rule needs has closed (a touch or a wick does not count); the rule-card conditions the alert cannot check; stop and position size computed from the 1% rule; the 25% exposure cap, the limit of 3 open trades, and no -2R daily stop or -5R weekly pause already hit; and an alert-log row with time, alert name, valid Y/N and reason. End with the line 'Any NO = no trade.' Then explain in 3 short lines why an alert is not an order. Do not name any real stock, do not give buy or sell advice, and do not mention targets or expected returns.</a:t>
            </a:r>
          </a:p>
          <a:p/>
          <a:p>
            <a:r>
              <a:t>My rule card:</a:t>
            </a:r>
          </a:p>
          <a:p>
            <a:r>
              <a:t>&lt;paste here&gt;</a:t>
            </a:r>
          </a:p>
          <a:p/>
          <a:p>
            <a:r>
              <a:t>Prompt 3: Bot pitch X-ray</a:t>
            </a:r>
          </a:p>
          <a:p>
            <a:r>
              <a:t>My teacher wrote this made-up advert for practice: 'AI Algo Bot. Trades for you while you sleep. 9 out of 10 trades in profit. Just share your broker login and password. Rs 4,999 a month. Only 20 seats left.' Check it against SEBI's framework for retail algo trading in India (in force since 1 April 2026): the broker as principal, an exchange Algo-ID on every algo order, empanelment of algo providers with the exchange, SEBI Research Analyst registration for black-box providers, and the family sharing limit (spouse, dependent children, dependent parents). Label each claim in the advert as Fact, Guess or Kachra with a one-line reason. Then list the red flags, the three questions I should ask any bot seller, and the points I should re-check on the SEBI or NSE website because they can change. Do not recommend any bot, stock or strategy, do not give buy or sell advice, and do not mention targets or expected returns.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wants to add 'enter only when volume is strong' to his card. Which rewrite turns this into a testable rule?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Priya's flowchart, a stock passes the 'Trend up?' box, but the 'Pullback &amp; RS?' box gets NO: RSI 14 is 53, and her rule needs 40 to 50. Everything else on the chart looks fine. What does the flowchart tell her?</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range high of Sharma Textiles Ltd is Rs 612. A price alert set at Rs 612 rings when a 5-minute wick pokes up to Rs 613.20, but the candle closes at Rs 611.40. Aman's rule needs a 5-minute close above the range. What does the alert mean?</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Aman's swing trigger needs a daily candle that closes above the previous day's high. At 3:00 pm a screener alert shows the condition as true. What should he do?</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SEBI's retail algo framework the broker is the 'principal'. A trader's own algo, run through a broker, loses money. What does 'principal' mean for that loss?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Which line of your rule card was hardest to make testable, a shayad word or a missing time, and what did you write instead? And be honest: which part of you still wants a bot to do it all — tiredness, fear of missing out, or hope of easy money?</a:t>
            </a:r>
          </a:p>
          <a:p/>
          <a:p>
            <a:r>
              <a:t>A rule you can draw is a rule you can keep. Today you drew yours, one box at a time.</a:t>
            </a:r>
          </a:p>
          <a:p/>
          <a:p>
            <a:r>
              <a:t>Next: Day 17 · Backtest Level 1, by hand</a:t>
            </a:r>
          </a:p>
          <a:p/>
          <a:p>
            <a:r>
              <a:t>Educational content only, not investment advice. Investment in securities market is subject to market risks. Company names, prices and the bot advert are made up for illustration; no algo, bot or algo provider is endorsed. Stage 1 uses virtual money only and places no automated orders. No affiliation with any charting or diagram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17: Backtest Level 1, by hand</a:t>
            </a:r>
          </a:p>
          <a:p/>
          <a:p>
            <a:r>
              <a:t>Concept: A 30-trade manual backtest, logged in R after costs</a:t>
            </a:r>
          </a:p>
          <a:p>
            <a:r>
              <a:t>AI Lab: Backtest stats sheet and a bias audit</a:t>
            </a:r>
          </a:p>
          <a:p>
            <a:r>
              <a:t>Mindset: Curve-fitting hope</a:t>
            </a:r>
          </a:p>
          <a:p/>
          <a:p>
            <a:r>
              <a:t>By the end: By the end you can run a backtest without peeking, log each trade in R after costs and gaps, read win-rate, expectancy, maximum drawdown and the longest losing streak, and spot look-ahead, survivorship and curve-fitting in any backtest, including your own.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out of ten</a:t>
            </a:r>
          </a:p>
          <a:p/>
          <a:p>
            <a:r>
              <a:t>(Sunday night. Aman posts a chart in the study group, covered in green arrows.)</a:t>
            </a:r>
          </a:p>
          <a:p>
            <a:r>
              <a:t>Aman: Sir, I backtested the EMA Pullback on Bharat Pumps Ltd. Ten trades, nine winners. Then I changed EMA 20 to EMA 18 and the RSI band to 42-48, and all ten won. This is the one.</a:t>
            </a:r>
          </a:p>
          <a:p>
            <a:r>
              <a:t>Priya: Aman, how did you pick those ten trades? And did you take out costs?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out of ten</a:t>
            </a:r>
          </a:p>
          <a:p/>
          <a:p>
            <a:r>
              <a:t>Mentor: Good questions. Aman, when you marked each entry, could you already see what the chart did next? And why EMA 18?</a:t>
            </a:r>
          </a:p>
          <a:p>
            <a:r>
              <a:t>Aman: Umm... yes, the full chart was open. EMA 18 just fitted those ten trades better.</a:t>
            </a:r>
          </a:p>
          <a:p>
            <a:r>
              <a:t>Mentor: Then you tested your memory, not your rule, and bent the rule to fit the past. Today we test honestly: stocks and dates chosen first, the future hidden, thirty trades, costs taken out. The number will be smaller. It will also be honest.</a:t>
            </a:r>
          </a:p>
          <a:p/>
          <a:p>
            <a:r>
              <a:t>The lesson: A backtest is a question you ask the past. Ask it honestly, and even then it promises nothing about tomorrow.</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backtest is net practice, not a match</a:t>
            </a:r>
          </a:p>
          <a:p/>
          <a:p>
            <a:r>
              <a:t>A backtest means running your written rules on past charts to see what would have happened. Think of it as net practice against a bowling machine: useful, but not a century in a real match. Paper trading from Day 12 tests your rules going forward, one day at a time; a backtest runs the same rules over past years, so you see 30 trades in hours instead of months. Do your first one by hand, so you know where every number comes from. Start with the EMA Pullback Swing on daily charts; an ORB test needs months of 5-minute data, because ORB gives at most one trade a day on each stock. And before you open any chart, write down the stocks, the dates and the rules, so you cannot pick them after seeing how prices moved.</a:t>
            </a:r>
          </a:p>
          <a:p/>
          <a:p>
            <a:r>
              <a:t>Example: Before she opens TradingView, Priya types her test plan at the top of a Google Sheet: 'EMA Pullback Swing, Day 11 Rule Card in its Day 16 yes/no form, saved as v1. Daily charts of Sharma Textiles Ltd, Gupta Cement Ltd and Kiran Foods Ltd (drawn at random from a list written before opening any chart, and every name drawn kept), 1 Jan 2023 to 31 Dec 2025. Entry at the next day's open after the signal candle. Stop 1.5 x ATR(14) below entry. Exit at 2.5R or on the 15-day time exit. Costs 0.1R per trade (the Day 12 allowance). No rule changes until trade 30.' Aman's ten trades came from one stock he already knew had risen. Priya's plan leaves no room for that. Her full plan is the model card under 'Your template' in Today's task.</a:t>
            </a:r>
          </a:p>
          <a:p/>
          <a:p>
            <a:r>
              <a:t>Remember: Stocks, dates and rules go on paper before the chart opens. Every result is hypothetical.</a:t>
            </a:r>
          </a:p>
          <a:p/>
          <a:p>
            <a:r>
              <a:t>On the slide: An honest backtest · Each step shuts one way of fooling yourself. Skip one and the result flatters you.</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Hide the future: look-ahead bias</a:t>
            </a:r>
          </a:p>
          <a:p/>
          <a:p>
            <a:r>
              <a:t>Look-ahead bias means using information in a test that you could not have had at the moment of the decision. It is like watching match highlights after you know the result: every shot looks obvious. It creeps in three ways: you can see the whole chart; you buy at a price known only later, such as the exact bottom of a pullback; or you quietly skip a trade because you can see it lost. The cure is mechanical: use TradingView's Bar Replay if your TradingView account offers it on daily charts, or scroll back and cover the right side of the screen with paper, and reveal one candle at a time. A daily signal is confirmed only at the close (Day 16), so when a candle completes a signal, write your plan before the next reveal: plan or skip by your Day 11 card, the maximum entry (signal close + 0.5 x ATR), the skip-below price (the signal-day low) and the stop distance. Then reveal the next candle and let its open decide: inside both limits it is your entry; outside them, write skipped: gap.</a:t>
            </a:r>
          </a:p>
          <a:p/>
          <a:p>
            <a:r>
              <a:t>Example: On Kiran Foods Ltd, a pullback bottoms at Rs 482, and the next candle closes at Rs 497, above the previous day's high of Rs 494: that is the signal. ATR(14) is Rs 14. The next day opens at Rs 500, inside the Day 11 limits (no higher than 497 + 0.5 x 14 = Rs 504, not below the signal-day low of Rs 485), so Priya's honest entry is Rs 500. The stop sits 1.5 x 14 = Rs 21 below, at Rs 479. The 2.5R profit exit, 500 + 2.5 x 21 = Rs 552.50, is never reached, so the 15-day time exit sells at the next open, Rs 542: the honest trade makes (542 - 500) / 21 = +2.0R. Aman, looking at the finished chart, would log a buy at the Rs 482 bottom with the same Rs 21 risk: (542 - 482) / 21 = +2.86R. The same trade looks 43% better, only because he peeked.</a:t>
            </a:r>
          </a:p>
          <a:p/>
          <a:p>
            <a:r>
              <a:t>Remember: If you could not have known it at that moment, it cannot be in your backtest.</a:t>
            </a:r>
          </a:p>
          <a:p/>
          <a:p>
            <a:r>
              <a:t>On the slide: Where could you really buy? · The Rs 482 bottom is visible only after later candles rise. The signal is confirmed at the close, so the real entry is the next open, Rs 500.</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every trade in R, after costs and gaps</a:t>
            </a:r>
          </a:p>
          <a:p/>
          <a:p>
            <a:r>
              <a:t>1R is the risk you planned on one trade (Day 3); per share, it is the distance from entry to stop. EMA Pullback Swing only buys, so every trade uses the long formula: R-multiple = (exit - entry) / (entry - stop). Log R per share like this even when the 25% cap cut your quantity, because the backtest measures the rule; your paper journal still logs a capped trade at its real rupee size, as on Day 14. Real trades also pay costs and lose a little to slippage (Day 2), so the course takes the Day 12 allowance of 0.1R off every trade. Day 12's fill rules apply unchanged: an intraday touch of your stop exits at the stop, an open beyond your stop exits at that open, a profit exit counts only if price trades beyond it, and if one daily candle touches both, count the stop. Decide before you start that a win means net R above zero; a trade closed at your entry price is a small loss once costs are taken out.</a:t>
            </a:r>
          </a:p>
          <a:p/>
          <a:p>
            <a:r>
              <a:t>Example: Priya's Kiran Foods trade: entry Rs 500, stop Rs 479, so her risk is Rs 21 a share. With 1R = Rs 10,000 on her Rs 10 lakh practice capital, she would hold 476 shares (10,000 / 21, rounded down), worth Rs 2,38,000, inside the 25% cap. Suppose a broker's public brokerage calculator (no account needed) shows about Rs 600 of charges for the round trip and she allows Rs 400 for slippage (an illustration; use your own figures): Rs 1,000 in all, or 1,000 / 10,000 = 0.1R, the same as the Day 12 allowance. Had it come to more, she would use her own, bigger number. Her time exit at Rs 542 goes into the log as +1.90R. On a later trade with the same entry and stop, bad news about the company broke after the close and the stock opened at Rs 470, below her stop. She logged (470 - 500) / 21 = -1.43R, minus 0.1R, so -1.53R, not a neat -1R: a stop-loss does not promise your exit price. If a stock is stuck at its lower band, her exit waits for the first day a sell could fill.</a:t>
            </a:r>
          </a:p>
          <a:p/>
          <a:p>
            <a:r>
              <a:t>Remember: Log net R, not gross R. Costs and gaps are part of the result, not bad luck.</a:t>
            </a:r>
          </a:p>
          <a:p/>
          <a:p>
            <a:r>
              <a:t>On the slide: One trade, logged honestly · The charges and slippage are an illustration. Read your own charges on a brokerage calculator or contract note.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log: four numbers and one line</a:t>
            </a:r>
          </a:p>
          <a:p/>
          <a:p>
            <a:r>
              <a:t>Once 30 trades are logged, read four numbers. Win-rate is winning trades divided by all trades. Expectancy is your average net R per trade, the Day 3 idea now measured on your own rules. Maximum drawdown is the biggest fall of your running total of R from a peak to a later low. The longest losing streak is the most losses in a row. Then draw the equity curve: a line of your cumulative net R after each trade.</a:t>
            </a:r>
          </a:p>
          <a:p/>
          <a:p>
            <a:r>
              <a:t>Example: These are made-up practice numbers, not a real test of the strategy. Priya's 30 trades: 12 wins, so a 40% win-rate. Seven winners hit the 2.5R profit exit and five left on the time exit with smaller gains. Her net R adds up to +3.57R, so expectancy is +3.57 / 30, about +0.12R per trade; before costs it was +6.57R, so 0.1R a trade took almost half. Her running total peaked at +7.40R after trade 19 and fell to +1.17R after trade 27: a maximum drawdown of 6.23R, or up to Rs 62,300 on Rs 10 lakh if every trade was full size. By trade 30 the curve still had not climbed back to that peak. Inside that fall sat five losses in a row. That is normal. In a simple model where each trade has a 40% chance of winning, a run of five or more losses somewhere in 30 trades turns up roughly two times in three. Her trades 18 to 30, from the peak through the fall, are the sample Backtest Log under 'Your template'.</a:t>
            </a:r>
          </a:p>
          <a:p/>
          <a:p>
            <a:r>
              <a:t>Remember: Expectancy says whether the rule had an edge in this sample; drawdown says whether you could have stayed with it.</a:t>
            </a:r>
          </a:p>
          <a:p/>
          <a:p>
            <a:r>
              <a:t>On the slide: Priya's 30-trade equity curve · Max drawdown = peak - low = 7.40R - 1.17R = 6.23R. Made-up practice numbers.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data lies: survivorship and unadjusted prices</a:t>
            </a:r>
          </a:p>
          <a:p/>
          <a:p>
            <a:r>
              <a:t>Survivorship bias means testing only on companies that survived to today. Test today's NIFTY 50 list back to 2019, and the companies that dropped out, often after long falls, are simply missing, so your test sees only the winners of the race. The fix is a point-in-time list, the index members as they stood on your start date: NSE Indices Ltd, the NSE group company that runs the NIFTY indices, announces every change in a press release on niftyindices.com, so start from today's list, take out the names that joined after your start date and add back the ones that left. Then keep every name your random draw gives you; swapping out one you remember rising is hindsight too, only pointing the other way. If rebuilding the list is too much for now, use today's list and write 'survivorship risk' in your report. The second trap is unadjusted data: a split or bonus issue (Day 15) cuts the share price overnight without anyone losing money, but an unadjusted chart shows it as a crash that fires fake stops and bends EMA, RSI and ATR for weeks, so use adjusted charts and check any sudden, neat drop, such as exactly half or a fifth, against the company's corporate actions.</a:t>
            </a:r>
          </a:p>
          <a:p/>
          <a:p>
            <a:r>
              <a:t>Example: Sharma Textiles Ltd trades at Rs 1,000 and splits each share into five (face value Rs 10 to Rs 2). On the ex-date the price opens near Rs 200, and a holder of 100 shares now holds 500 (the new shares reach the demat account soon after the record date; check the company's announcement), still worth about Rs 1,00,000. An unadjusted chart shows an 80% gap down. A backtest trade entered at Rs 1,000 with a Rs 21 stop would log (200 - 1,000) / 21, about -38R, a loss that never happened. An adjusted chart divides every earlier price by 5, so the line stays smooth and the test stays honest.</a:t>
            </a:r>
          </a:p>
          <a:p/>
          <a:p>
            <a:r>
              <a:t>Remember: A test is only as honest as its data: remember the losers you cannot see, and use adjusted prices.</a:t>
            </a:r>
          </a:p>
          <a:p/>
          <a:p>
            <a:r>
              <a:t>On the slide: Biased data vs fairer data · At Level 1 you cannot remove every bias. You can reduce it and write it down.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Curve-fitting hope, and why 30 is only a first look</a:t>
            </a:r>
          </a:p>
          <a:p/>
          <a:p>
            <a:r>
              <a:t>Curve-fitting means tuning a rule until it fits the past perfectly, like tailoring a shirt to one photo instead of to the person. Each small tweak feels like progress, but it mostly fits the random noise of those particular candles, and that noise will not repeat. So freeze your rules for all 30 trades; a tweak is a new rule and needs its own 30 fresh trades from dates you have not used. Thirty trades give a first look; about 100, spread across up, down and sideways markets, start to give confidence. Tag each trade with the NIFTY 50 phase on its signal day: up when EMA 20 is above EMA 50 and both are higher than they were 10 trading days earlier; down when EMA 20 is below EMA 50 and both are lower than they were 10 trading days earlier; sideways otherwise. Your own report must pass Day 14's five checks (costs, drawdown, trade count, a falling market, fresh data for any tweak) and carry one line: hypothetical, and past performance is not indicative of future results.</a:t>
            </a:r>
          </a:p>
          <a:p/>
          <a:p>
            <a:r>
              <a:t>Example: Aman tested his EMA 18 and RSI 42-48 version honestly on 30 fresh trades from dates he had not looked at. It won 10, or 33%, nowhere near the ten out of ten of his tuned sample. Priya's frozen rule tells a quieter story, in the same made-up practice numbers: 3 wins in her first ten trades, 6 in the next ten, 3 in the last ten, 40% overall. Any ten trades can look brilliant or hopeless. That is why you judge a rule only after 30 trades, and build confidence only after about 100.</a:t>
            </a:r>
          </a:p>
          <a:p/>
          <a:p>
            <a:r>
              <a:t>Remember: If you changed the rule to fit the past, the past can no longer test it.</a:t>
            </a:r>
          </a:p>
          <a:p/>
          <a:p>
            <a:r>
              <a:t>On the slide: Same rule, different ten trades · Made-up practice numbers for Priya's frozen rule. Small samples swing; 30 trades is a first look, 100 builds confidence.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Running your written rules on past charts to see what would have happened. The results are hypothetical: worked out on paper, never earned with real money.</a:t>
            </a:r>
          </a:p>
          <a:p>
            <a:r>
              <a:t>Look-ahead bias: Using information in a test that you could not have had at the moment of decision, such as a later candle.</a:t>
            </a:r>
          </a:p>
          <a:p>
            <a:r>
              <a:t>Survivorship bias: Testing only on companies that survived to today, which leaves out the ones that failed or dropped out of an index.</a:t>
            </a:r>
          </a:p>
          <a:p>
            <a:r>
              <a:t>Adjusted prices: Past prices corrected for splits and bonus issues, so that a corporate action does not look like a crash.</a:t>
            </a:r>
          </a:p>
          <a:p>
            <a:r>
              <a:t>Maximum drawdown: The biggest fall of your cumulative R from a peak to a later low. It is the worst stretch you would have had to sit through.</a:t>
            </a:r>
          </a:p>
          <a:p>
            <a:r>
              <a:t>Curve-fitting: Tuning rules until they fit past data perfectly. It usually fits random noise that will not repeat.</a:t>
            </a:r>
          </a:p>
          <a:p>
            <a:r>
              <a:t>Point-in-time list: An index or stock list exactly as it stood on a past date, before later additions and removals. A backtest uses it to reduce survivorship bias.</a:t>
            </a:r>
          </a:p>
          <a:p>
            <a:r>
              <a:t>Equity curve: A line of your running total of net R, trade after trade. Its falls from a peak are your drawdowns.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Level 1</a:t>
            </a:r>
          </a:p>
          <a:p>
            <a:r>
              <a:t>Plan first: Stocks and dates on paper; Rule Card frozen for 30; EMA Pullback, daily charts</a:t>
            </a:r>
          </a:p>
          <a:p>
            <a:r>
              <a:t>Hide the future: Bar Replay or cover the chart; Decide before the next candle; Enter at the next open</a:t>
            </a:r>
          </a:p>
          <a:p>
            <a:r>
              <a:t>Log in R: (exit - entry) ÷ (entry - stop); Subtract costs in R; Gaps logged at the open</a:t>
            </a:r>
          </a:p>
          <a:p>
            <a:r>
              <a:t>Read the log: Win-rate and expectancy; Max drawdown, losing streak; Equity curve in R</a:t>
            </a:r>
          </a:p>
          <a:p>
            <a:r>
              <a:t>Data traps: Survivorship bias; Point-in-time index list; Unadjusted splits and bonuses</a:t>
            </a:r>
          </a:p>
          <a:p>
            <a:r>
              <a:t>Your mind: Curve-fitting hope; 30 = first look, 100 = confidence; Hypothetical, not a promise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an honest backtest today and log your first 3 trades; finish all 30 within the next 7 days and add your four numbers to your Week 3 review (on Day 21, or in the catch-up week after it if trade 30 is not done yet).</a:t>
            </a:r>
          </a:p>
          <a:p/>
          <a:p>
            <a:r>
              <a:t>1. Copy the test plan and the Backtest Log under 'Your template' into a Google Sheet or a notebook, fill every plan line except the stocks, and write 'v1, frozen until trade 30'. Optional: the AI Lab prompt 'Backtest stats sheet' adds formulas; test them on Priya's 14 sample rows first (they must show a 6.23R maximum drawdown and a 5-loss streak).</a:t>
            </a:r>
          </a:p>
          <a:p>
            <a:r>
              <a:t>2. Check your cost number: on a broker's public brokerage calculator (no account needed), note the total charges for a delivery buy and sell of about Rs 2.5 lakh, your largest position under the 25% cap, add your slippage allowance and divide by Rs 10,000. If the total is above 0.1R (Rs 1,000), use your number; otherwise use the Day 12 allowance of 0.1R per trade.</a:t>
            </a:r>
          </a:p>
          <a:p>
            <a:r>
              <a:t>3. Choose your stocks before any chart: on niftyindices.com, open the press releases on NIFTY 50 changes since your start date, rebuild the list as it stood that day, draw 3-5 names with RAND() in Google Sheets and keep every name drawn, even one you remember rising. Too much today? Use today's list and write 'survivorship risk' in your plan. These names are a testing drill, not a buy list; never share them as tips.</a:t>
            </a:r>
          </a:p>
          <a:p>
            <a:r>
              <a:t>4. On a free TradingView daily chart with EMA 20, EMA 50, RSI 14 and ATR 14, turn on Bar Replay and pick your start date as the first candle (it may need a free sign-in, never a broker account), or scroll back and cover the right side of the screen. If the free plan caps your indicators, use one moving-average ribbon for both EMAs and check RSI and ATR in turn, as on Day 8.</a:t>
            </a:r>
          </a:p>
          <a:p>
            <a:r>
              <a:t>5. Log your first 3 trades that fit the card in your Backtest Log. Move one candle at a time; when a candle completes a signal, write the plan (max entry, skip-below price, stop) before revealing the next one, let that open decide entry or skipped: gap, and log any gap past the stop at the open.</a:t>
            </a:r>
          </a:p>
          <a:p>
            <a:r>
              <a:t>6. Stretch, about 3-5 hours over the next 7 days, in 30-minute sittings: finish 30 trades, fill the 'Your four numbers' card, run Day 14's five checks on your own report, and label your equity curve 'Hypothetical. Past performance is not indicative of future results.' Keep the card: your Day 21 Week 3 review uses it.</a:t>
            </a:r>
          </a:p>
          <a:p/>
          <a:p>
            <a:r>
              <a:t>By the end: By the end you can run a backtest without peeking, log each trade in R after costs and gaps, read win-rate, expectancy, maximum drawdown and the longest losing streak, and spot look-ahead, survivorship and curve-fitting in any backtest, including your own.</a:t>
            </a:r>
          </a:p>
          <a:p/>
          <a:p>
            <a:r>
              <a:t>Tools: TradingView free chart (Bar Replay); Google Sheets; niftyindices.com press releases (index changes); A broker's public brokerage calculator (no account needed); Any AI chat</a:t>
            </a:r>
          </a:p>
          <a:p/>
          <a:p>
            <a:r>
              <a:t>Educational content only, not investment advice. Company names, chart prices and trade logs in this lesson are made up for illustration; all backtest results are hypothetical and simulated. Past performance is not indicative of future results. Stage 1 uses virtual money only. No affiliation with any charting site, broker or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an honest backtest today and log your first 3 trades; finish all 30 within the next 7 days and add your four numbers to your Week 3 review (on Day 21, or in the catch-up week after it if trade 30 is not done yet).</a:t>
            </a:r>
          </a:p>
          <a:p/>
          <a:p>
            <a:r>
              <a:t>1. Copy the test plan and the Backtest Log under 'Your template' into a Google Sheet or a notebook, fill every plan line except the stocks, and write 'v1, frozen until trade 30'. Optional: the AI Lab prompt 'Backtest stats sheet' adds formulas; test them on Priya's 14 sample rows first (they must show a 6.23R maximum drawdown and a 5-loss streak).</a:t>
            </a:r>
          </a:p>
          <a:p>
            <a:r>
              <a:t>2. Check your cost number: on a broker's public brokerage calculator (no account needed), note the total charges for a delivery buy and sell of about Rs 2.5 lakh, your largest position under the 25% cap, add your slippage allowance and divide by Rs 10,000. If the total is above 0.1R (Rs 1,000), use your number; otherwise use the Day 12 allowance of 0.1R per trade.</a:t>
            </a:r>
          </a:p>
          <a:p>
            <a:r>
              <a:t>3. Choose your stocks before any chart: on niftyindices.com, open the press releases on NIFTY 50 changes since your start date, rebuild the list as it stood that day, draw 3-5 names with RAND() in Google Sheets and keep every name drawn, even one you remember rising. Too much today? Use today's list and write 'survivorship risk' in your plan. These names are a testing drill, not a buy list; never share them as tips.</a:t>
            </a:r>
          </a:p>
          <a:p>
            <a:r>
              <a:t>4. On a free TradingView daily chart with EMA 20, EMA 50, RSI 14 and ATR 14, turn on Bar Replay and pick your start date as the first candle (it may need a free sign-in, never a broker account), or scroll back and cover the right side of the screen. If the free plan caps your indicators, use one moving-average ribbon for both EMAs and check RSI and ATR in turn, as on Day 8.</a:t>
            </a:r>
          </a:p>
          <a:p>
            <a:r>
              <a:t>5. Log your first 3 trades that fit the card in your Backtest Log. Move one candle at a time; when a candle completes a signal, write the plan (max entry, skip-below price, stop) before revealing the next one, let that open decide entry or skipped: gap, and log any gap past the stop at the open.</a:t>
            </a:r>
          </a:p>
          <a:p>
            <a:r>
              <a:t>6. Stretch, about 3-5 hours over the next 7 days, in 30-minute sittings: finish 30 trades, fill the 'Your four numbers' card, run Day 14's five checks on your own report, and label your equity curve 'Hypothetical. Past performance is not indicative of future results.' Keep the card: your Day 21 Week 3 review uses it.</a:t>
            </a:r>
          </a:p>
          <a:p/>
          <a:p>
            <a:r>
              <a:t>By the end: By the end you can run a backtest without peeking, log each trade in R after costs and gaps, read win-rate, expectancy, maximum drawdown and the longest losing streak, and spot look-ahead, survivorship and curve-fitting in any backtest, including your own.</a:t>
            </a:r>
          </a:p>
          <a:p/>
          <a:p>
            <a:r>
              <a:t>Tools: TradingView free chart (Bar Replay); Google Sheets; niftyindices.com press releases (index changes); A broker's public brokerage calculator (no account needed); Any AI chat</a:t>
            </a:r>
          </a:p>
          <a:p/>
          <a:p>
            <a:r>
              <a:t>Educational content only, not investment advice. Company names, chart prices and trade logs in this lesson are made up for illustration; all backtest results are hypothetical and simulated. Past performance is not indicative of future results. Stage 1 uses virtual money only. No affiliation with any charting site, broker or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plan: Priya's model card</a:t>
            </a:r>
          </a:p>
          <a:p/>
          <a:p>
            <a:r>
              <a:t>Fill the 'Yours' column before you open any chart. Once it is filled, it stays frozen until trade 30.</a:t>
            </a:r>
          </a:p>
          <a:p/>
          <a:p>
            <a:r>
              <a:t>Plan line | Priya (made-up) | Yours</a:t>
            </a:r>
          </a:p>
          <a:p>
            <a:r>
              <a:t>Rule Card | EMA Pullback Swing v1: Day 11 card, Day 16 yes/no form | </a:t>
            </a:r>
          </a:p>
          <a:p>
            <a:r>
              <a:t>Stocks, and how chosen | Sharma Textiles, Gupta Cement, Kiran Foods: drawn by RAND(), all kept | </a:t>
            </a:r>
          </a:p>
          <a:p>
            <a:r>
              <a:t>Date range | 1 Jan 2023 to 31 Dec 2025 | </a:t>
            </a:r>
          </a:p>
          <a:p>
            <a:r>
              <a:t>Entry | Next day's open; skip above signal close + 0.5 x ATR or below the signal-day low | </a:t>
            </a:r>
          </a:p>
          <a:p>
            <a:r>
              <a:t>Stop | 1.5 x ATR(14) below entry | </a:t>
            </a:r>
          </a:p>
          <a:p>
            <a:r>
              <a:t>Exits | 2.5R profit exit, or the next open after day 15 | </a:t>
            </a:r>
          </a:p>
          <a:p>
            <a:r>
              <a:t>Fill rules | Day 12 rules; stop and profit exit in one candle = stop | </a:t>
            </a:r>
          </a:p>
          <a:p>
            <a:r>
              <a:t>Cost per trade | 0.1R | </a:t>
            </a:r>
          </a:p>
          <a:p>
            <a:r>
              <a:t>Open-trade limit | Max 3; a 4th signal = skipped: 3 open | </a:t>
            </a:r>
          </a:p>
          <a:p>
            <a:r>
              <a:t>Extra checks | RS rule and results-date skip: both applied | </a:t>
            </a:r>
          </a:p>
          <a:p>
            <a:r>
              <a:t>Market phase tag | NIFTY 50 on each signal day: up, down or sideways | </a:t>
            </a:r>
          </a:p>
          <a:p>
            <a:r>
              <a:t>Frozen? | Yes: no rule change until trade 30 |</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Log v1: Priya's trades 18-30</a:t>
            </a:r>
          </a:p>
          <a:p/>
          <a:p>
            <a:r>
              <a:t>One row per trade, written the moment the trade closes. Priya's rows show the peak (trade 19), five losses in a row (23 to 27) and a gap past the stop (25). The empty rows are for your first 3 trades.</a:t>
            </a:r>
          </a:p>
          <a:p/>
          <a:p>
            <a:r>
              <a:t># | Stock | Entry / stop / exit | Exit reason | Net R | Running total R</a:t>
            </a:r>
          </a:p>
          <a:p>
            <a:r>
              <a:t>1-17 | Trades 1-17 together |  |  | +6.10 | +6.10</a:t>
            </a:r>
          </a:p>
          <a:p>
            <a:r>
              <a:t>18 | Gupta Cement Ltd | 386 / 368 / 368 | Stop hit | -1.10 | +5.00</a:t>
            </a:r>
          </a:p>
          <a:p>
            <a:r>
              <a:t>19 | Sharma Textiles Ltd | 236 / 224 / 266 | 2.5R profit exit | +2.40 | +7.40</a:t>
            </a:r>
          </a:p>
          <a:p>
            <a:r>
              <a:t>20 | Kiran Foods Ltd | 468 / 447 / 447 | Stop hit | -1.10 | +6.30</a:t>
            </a:r>
          </a:p>
          <a:p>
            <a:r>
              <a:t>21 | Gupta Cement Ltd | 398 / 380 / 380 | Stop hit | -1.10 | +5.20</a:t>
            </a:r>
          </a:p>
          <a:p>
            <a:r>
              <a:t>22 | Kiran Foods Ltd | 500 / 479 / 542 | Time exit (day 15) | +1.90 | +7.10</a:t>
            </a:r>
          </a:p>
          <a:p>
            <a:r>
              <a:t>23 | Sharma Textiles Ltd | 248 / 236 / 236 | Stop hit | -1.10 | +6.00</a:t>
            </a:r>
          </a:p>
          <a:p>
            <a:r>
              <a:t>24 | Gupta Cement Ltd | 412 / 394 / 394 | Stop hit | -1.10 | +4.90</a:t>
            </a:r>
          </a:p>
          <a:p>
            <a:r>
              <a:t>25 | Kiran Foods Ltd | 500 / 479 / 470 | Gap past the stop | -1.53 | +3.37</a:t>
            </a:r>
          </a:p>
          <a:p>
            <a:r>
              <a:t>26 | Sharma Textiles Ltd | 242 / 230 / 230 | Stop hit | -1.10 | +2.27</a:t>
            </a:r>
          </a:p>
          <a:p>
            <a:r>
              <a:t>27 | Gupta Cement Ltd | 404 / 386 / 386 | Stop hit | -1.10 | +1.17</a:t>
            </a:r>
          </a:p>
          <a:p>
            <a:r>
              <a:t>28 | Kiran Foods Ltd | 490 / 469 / 542.50 | 2.5R profit exit | +2.40 | +3.57</a:t>
            </a:r>
          </a:p>
          <a:p>
            <a:r>
              <a:t>29 | Sharma Textiles Ltd | 230 / 218 / 218 | Stop hit | -1.10 | +2.47</a:t>
            </a:r>
          </a:p>
          <a:p>
            <a:r>
              <a:t>30 | Gupta Cement Ltd | 396 / 378 / 417.60 | Time exit (day 15) | +1.10 | +3.57</a:t>
            </a:r>
          </a:p>
          <a:p>
            <a:r>
              <a:t>+ 3 ___</a:t>
            </a:r>
          </a:p>
          <a:p/>
          <a:p>
            <a:r>
              <a:t>Net R = (exit - entry) ÷ (entry - stop) - 0.1R. Your sheet also gets columns for signal date, gross R, running peak, drawdown and NIFTY phase.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Backtest Log v1: Priya's trades 18-30</a:t>
            </a:r>
          </a:p>
          <a:p/>
          <a:p>
            <a:r>
              <a:t>One row per trade, written the moment the trade closes. Priya's rows show the peak (trade 19), five losses in a row (23 to 27) and a gap past the stop (25). The empty rows are for your first 3 trades.</a:t>
            </a:r>
          </a:p>
          <a:p/>
          <a:p>
            <a:r>
              <a:t># | Stock | Entry / stop / exit | Exit reason | Net R | Running total R</a:t>
            </a:r>
          </a:p>
          <a:p>
            <a:r>
              <a:t>1-17 | Trades 1-17 together |  |  | +6.10 | +6.10</a:t>
            </a:r>
          </a:p>
          <a:p>
            <a:r>
              <a:t>18 | Gupta Cement Ltd | 386 / 368 / 368 | Stop hit | -1.10 | +5.00</a:t>
            </a:r>
          </a:p>
          <a:p>
            <a:r>
              <a:t>19 | Sharma Textiles Ltd | 236 / 224 / 266 | 2.5R profit exit | +2.40 | +7.40</a:t>
            </a:r>
          </a:p>
          <a:p>
            <a:r>
              <a:t>20 | Kiran Foods Ltd | 468 / 447 / 447 | Stop hit | -1.10 | +6.30</a:t>
            </a:r>
          </a:p>
          <a:p>
            <a:r>
              <a:t>21 | Gupta Cement Ltd | 398 / 380 / 380 | Stop hit | -1.10 | +5.20</a:t>
            </a:r>
          </a:p>
          <a:p>
            <a:r>
              <a:t>22 | Kiran Foods Ltd | 500 / 479 / 542 | Time exit (day 15) | +1.90 | +7.10</a:t>
            </a:r>
          </a:p>
          <a:p>
            <a:r>
              <a:t>23 | Sharma Textiles Ltd | 248 / 236 / 236 | Stop hit | -1.10 | +6.00</a:t>
            </a:r>
          </a:p>
          <a:p>
            <a:r>
              <a:t>24 | Gupta Cement Ltd | 412 / 394 / 394 | Stop hit | -1.10 | +4.90</a:t>
            </a:r>
          </a:p>
          <a:p>
            <a:r>
              <a:t>25 | Kiran Foods Ltd | 500 / 479 / 470 | Gap past the stop | -1.53 | +3.37</a:t>
            </a:r>
          </a:p>
          <a:p>
            <a:r>
              <a:t>26 | Sharma Textiles Ltd | 242 / 230 / 230 | Stop hit | -1.10 | +2.27</a:t>
            </a:r>
          </a:p>
          <a:p>
            <a:r>
              <a:t>27 | Gupta Cement Ltd | 404 / 386 / 386 | Stop hit | -1.10 | +1.17</a:t>
            </a:r>
          </a:p>
          <a:p>
            <a:r>
              <a:t>28 | Kiran Foods Ltd | 490 / 469 / 542.50 | 2.5R profit exit | +2.40 | +3.57</a:t>
            </a:r>
          </a:p>
          <a:p>
            <a:r>
              <a:t>29 | Sharma Textiles Ltd | 230 / 218 / 218 | Stop hit | -1.10 | +2.47</a:t>
            </a:r>
          </a:p>
          <a:p>
            <a:r>
              <a:t>30 | Gupta Cement Ltd | 396 / 378 / 417.60 | Time exit (day 15) | +1.10 | +3.57</a:t>
            </a:r>
          </a:p>
          <a:p>
            <a:r>
              <a:t>+ 3 ___</a:t>
            </a:r>
          </a:p>
          <a:p/>
          <a:p>
            <a:r>
              <a:t>Net R = (exit - entry) ÷ (entry - stop) - 0.1R. Your sheet also gets columns for signal date, gross R, running peak, drawdown and NIFTY phase.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four numbers (keep for Day 21)</a:t>
            </a:r>
          </a:p>
          <a:p/>
          <a:p>
            <a:r>
              <a:t>Fill it after trade 30. Your Week 3 review on Day 21 uses these numbers (not done by then? write how many trades are logged, and add the numbers in the catch-up week), and these 30 trades count towards the 100 on the same frozen rules that real confidence needs.</a:t>
            </a:r>
          </a:p>
          <a:p/>
          <a:p>
            <a:r>
              <a:t>Number | How to work it out | Priya (made-up) | Yours</a:t>
            </a:r>
          </a:p>
          <a:p>
            <a:r>
              <a:t>Trades | Count the rows | 30 | </a:t>
            </a:r>
          </a:p>
          <a:p>
            <a:r>
              <a:t>Win-rate | Wins ÷ trades (a win = net R above 0) | 12 ÷ 30 = 40% | </a:t>
            </a:r>
          </a:p>
          <a:p>
            <a:r>
              <a:t>Expectancy | Total net R ÷ trades | +3.57 ÷ 30 = +0.12R | </a:t>
            </a:r>
          </a:p>
          <a:p>
            <a:r>
              <a:t>Maximum drawdown | Biggest fall from a peak to a later low | 7.40 - 1.17 = 6.23R | </a:t>
            </a:r>
          </a:p>
          <a:p>
            <a:r>
              <a:t>Longest losing streak | Most losses in a row | 5 | </a:t>
            </a:r>
          </a:p>
          <a:p>
            <a:r>
              <a:t>Before costs (check) | Total net R + 0.1R x trades | +3.57 + 3.00 = +6.57R | </a:t>
            </a:r>
          </a:p>
          <a:p/>
          <a:p>
            <a:r>
              <a:t>Label the report: 'Hypothetical. Past performance is not indicative of future results.'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Candle curtain, in pairs: one person covers a daily chart with a sheet of paper and reveals one candle at a time; the other says 'plan' or 'skip' before each reveal, using only the Rule Card. Swap after 10 decisions. Alone? Do the same with Bar Replay and say each decision aloud. The cohort award goes to the most rule-strict log, never the prettiest curve, and equity curves stay private.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Backtest stats sheet</a:t>
            </a:r>
          </a:p>
          <a:p>
            <a:r>
              <a:t>I am a beginner doing a manual backtest of a written, rule-based swing strategy on daily charts, for learning only. Give me a Google Sheets layout for a 30-trade log with these columns: trade number, signal date, instrument (a name I type), entry (the next day's open), stop, exit, exit reason (2.5R profit exit, 15-day time exit, stop, or gap through the stop), gross R computed per share as (exit - entry) / (entry - stop), even when a 25% exposure cap cut my quantity, cost in R (taken from one input cell that I fill once), net R, win (yes if net R is above zero), cumulative net R, running peak of cumulative R, drawdown from that peak, and market phase (up, down or sideways, which I type). Give the exact formula for every computed column, assuming row 2 holds the first trade. Then give summary cells with formulas for: number of trades, win-rate, expectancy (average net R), total net R, maximum drawdown in R, and longest losing streak (use a helper column if needed). Explain how to insert a line chart of cumulative net R. Add a cell with the text 'Hypothetical results. Past performance is not indicative of future results.' Then tell me to test the summary formulas on a copy of the sheet by typing these 14 practice values straight into the net R column, in order: +6.10, -1.10, +2.40, -1.10, -1.10, +1.90, -1.10, -1.10, -1.53, -1.10, -1.10, +2.40, -1.10, +1.10. A correct sheet shows a total of +3.57R, a maximum drawdown of 6.23R and a longest losing streak of 5; if mine does not, help me find the wrong formula. Keep it simple enough to build on a phone. Do not suggest any stock, entry, exit or change to my rules, and do not give buy or sell advice, targets or return expectations.</a:t>
            </a:r>
          </a:p>
          <a:p/>
          <a:p>
            <a:r>
              <a:t>Prompt 2: Audit my backtest for bias</a:t>
            </a:r>
          </a:p>
          <a:p>
            <a:r>
              <a:t>Act as a strict but kind backtest reviewer for a beginner. I will paste only my test plan (rules, instruments, date range, entry convention, stop, cost per trade in R) and my trade log in R; do not ask for any personal or account details. Check my work for: look-ahead bias (prices or candles I could not have known at decision time), survivorship bias (a stock list chosen with today's knowledge), unadjusted data (splits or bonus issues showing as fake gaps), cherry-picking of stocks or dates, rule changes during the test (curve-fitting), missing costs or gap losses, too few trades, and trades taken from only one kind of market. For each point, say what you found and label it Fact (visible in my data), Guess (possible, but you cannot tell from my data) or Kachra (a claim in my notes that does not hold up). End with the three most important fixes, in plain words. Do not judge whether the strategy is worth trading, do not suggest any stock, and do not give buy or sell advice, targets or return expectations.</a:t>
            </a:r>
          </a:p>
          <a:p/>
          <a:p>
            <a:r>
              <a:t>Prompt 3: Luck simulator</a:t>
            </a:r>
          </a:p>
          <a:p>
            <a:r>
              <a:t>Help me build a simple luck simulator in Google Sheets so I understand losing streaks and drawdowns. Each row is one trade: use RAND() so that each trade has a 40% chance to win +2.4R and a 60% chance to lose -1.1R (a 2.5R profit exit and a 1R stop, each less 0.1R of costs). Make 30 rows, a cumulative R column, the longest losing streak and the maximum drawdown in R. Tell me how to force a recalculation to get a new random run, and ask me to write down the longest losing streak and the maximum drawdown for 10 runs. Then change the win chance to 30% and do 10 more runs. For both cases, show the average result per trade (40%: +0.30R, 30%: -0.05R) and say plainly that 40% and 30% are assumptions for this exercise, not the win-rate of any real strategy. Then explain in plain words, for a beginner, why the same rule can look very different over 30 trades just from luck, and why about 100 trades give more confidence. Say clearly that this is a coin-flip style model, not a forecast of any real strategy. Label each general claim you make as Fact or Guess. Do not suggest any stock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backtest, Aman's entry is Rs 400 and his stop is Rs 385. One morning, after bad news overnight, the stock opens at Rs 376, below his stop, so he logs the exit at that open. Costs are 0.1R per trade. What net R should he log?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only these month-end values of Priya's cumulative net R: 0, +3, +7, +4, +2, +5, +9, +6. What is her maximum drawdown so far?</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Aman's daily signal is confirmed only once the exchange sets the day's official closing price, after trading ends. In his backtest he logs every entry at that same candle's low. What is wrong?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plans to backtest on the 50 companies in NIFTY 50 today, using data from 2019 to 2025. Which problem should she note in her report?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30 trades, Aman changes EMA 20 to EMA 18 and adjusts the RSI band until those same 30 trades show a 75% win-rate. What is the most honest next step?</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While logging your first trades, how many times did you want to peek at the next candle, or count a trade that did not quite match your card? What did that urge feel like, and what did you do with it?</a:t>
            </a:r>
          </a:p>
          <a:p/>
          <a:p>
            <a:r>
              <a:t>An honest log with a modest number is worth more than a perfect curve built by peeking. Today you started the honest log; on Day 21 it becomes part of your review.</a:t>
            </a:r>
          </a:p>
          <a:p/>
          <a:p>
            <a:r>
              <a:t>Next: Day 18 · F&amp;O basics only: samjho, khelo mat</a:t>
            </a:r>
          </a:p>
          <a:p/>
          <a:p>
            <a:r>
              <a:t>Educational content only, not investment advice. Company names, chart prices and trade logs in this lesson are made up for illustration; all backtest results are hypothetical and simulated. Past performance is not indicative of future results. Stage 1 uses virtual money only. No affiliation with any charting site, broker or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18: F&amp;O basics only: samjho, khelo mat</a:t>
            </a:r>
          </a:p>
          <a:p/>
          <a:p>
            <a:r>
              <a:t>Concept: Futures and options: what they are, and why Stage 1 only studies them</a:t>
            </a:r>
          </a:p>
          <a:p>
            <a:r>
              <a:t>AI Lab: Option chain explainer: read it, do not trade it</a:t>
            </a:r>
          </a:p>
          <a:p>
            <a:r>
              <a:t>Mindset: The lottery-ticket mind</a:t>
            </a:r>
          </a:p>
          <a:p/>
          <a:p>
            <a:r>
              <a:t>By the end: By the end you can explain a futures contract, margin and MTM; tell a call from a put and ITM from OTM; split a premium into intrinsic and time value; read a buyer's and a seller's payoff; say which F&amp;O contracts end in delivery; and explain why Stage 1 only studies F&amp;O.</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ticket everyone talks about</a:t>
            </a:r>
          </a:p>
          <a:p/>
          <a:p>
            <a:r>
              <a:t>(Thursday evening, just after the class video call. Aman holds his phone up to the camera. Priya has her notebook open.)</a:t>
            </a:r>
          </a:p>
          <a:p>
            <a:r>
              <a:t>Aman: Sir, look. My colleague bought NIFTY calls at Rs 4 and sold them at Rs 60 the same day. He put in about Rs 3,000 and took out about Rs 45,000. And the most he could ever lose was that Rs 3,000. That is low risk, right?</a:t>
            </a:r>
          </a:p>
          <a:p>
            <a:r>
              <a:t>Mentor: Two questions, Aman. How many times did he buy Rs 4 calls before this? And how many of them ended at zero?</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ticket everyone talks about</a:t>
            </a:r>
          </a:p>
          <a:p/>
          <a:p>
            <a:r>
              <a:t>Aman: Umm... he never talks about those. He just says he tries every week.</a:t>
            </a:r>
          </a:p>
          <a:p>
            <a:r>
              <a:t>Priya: Sir, so a small loss that repeats every week is not really small? And why was that call so cheap in the first place?</a:t>
            </a:r>
          </a:p>
          <a:p>
            <a:r>
              <a:t>Mentor: That is the right question, Priya. Cheap options are cheap for a reason. Today we learn what futures and options are, and why Stage 1 only studies them. F&amp;O: samjho, khelo mat.</a:t>
            </a:r>
          </a:p>
          <a:p/>
          <a:p>
            <a:r>
              <a:t>The lesson: A small price is not the same as a small risk. Count the tickets that lost, not only the one that won.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Futures: a deal today, settled every evening</a:t>
            </a:r>
          </a:p>
          <a:p/>
          <a:p>
            <a:r>
              <a:t>A futures contract is a deal made today to buy or sell something on a fixed later date, called the expiry, at a price agreed now. On NSE there are futures on indices such as NIFTY 50 and on many stocks. You cannot pick any quantity: each contract comes in a fixed size called a lot, set by the exchange and revised from time to time, and one lot is usually worth many lakh rupees. You do not pay the full value; the broker blocks a margin, a safety deposit that is only a part of it, with a minimum set by the exchange's clearing corporation. Every evening the day's profit or loss is settled in cash; this is mark-to-market (MTM). Controlling a big value with a small deposit is leverage, and it works in both directions.</a:t>
            </a:r>
          </a:p>
          <a:p/>
          <a:p>
            <a:r>
              <a:t>Example: Think of booking Diwali mithai in September at today's rate with a small advance: the price is locked, but here the difference is settled every single day. In a made-up case, one lot of Bharat Pumps Ltd futures is 2,000 shares at Rs 800, a contract value of Rs 16,00,000, and the broker blocks Rs 3,20,000 as margin. Rs 16,00,000 ÷ Rs 3,20,000 = 5, so this is 5 times leverage: every 1% move in the share is a 5% move on your margin. If the price slips Rs 10 a day, Rs 20,000 leaves the account each evening. A 5% fall, Rs 40 a share, costs Rs 80,000, a quarter of the margin. A 20% fall would wipe out the whole margin, and a bigger fall costs more than you deposited. On the Rs 10 lakh challenge capital, 1R is Rs 10,000, so one Rs 10 slip is already 2R, the daily stop, and this one contract is 1.6 times the whole capital.</a:t>
            </a:r>
          </a:p>
          <a:p/>
          <a:p>
            <a:r>
              <a:t>Remember: Margin is a deposit, not a limit. In futures, the loss can be bigger than the money you put down.</a:t>
            </a:r>
          </a:p>
          <a:p/>
          <a:p>
            <a:r>
              <a:t>On the slide: MTM, one evening at a time · Made-up numbers: 1 lot = 2,000 shares (Rs 16 lakh) on a margin of Rs 3,20,000, which is 5 times leverage, and nothing spare in the account. Losses leave your account every evening, not only at expiry, so even the first loss leaves you short of margin.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Options: a right for the buyer, a duty for the seller</a:t>
            </a:r>
          </a:p>
          <a:p/>
          <a:p>
            <a:r>
              <a:t>An option gives its buyer a right, but not a duty, to buy or sell at a fixed price on the expiry day. NSE options are European style: the right can be used only at expiry, but the option itself can be sold on the exchange on any trading day before that. A call option (CE) is the right to buy; a put option (PE) is the right to sell. The fixed price is the strike price, and the price of the right itself is the premium, which the buyer pays in full upfront. The seller, also called the writer, receives the premium and takes on the duty: if the buyer uses the right, the seller must honour it. Stock options expire monthly; weekly expiry exists only for a small set of benchmark index contracts, and expiry days have changed in recent years, so check the NSE website for the current calendar.</a:t>
            </a:r>
          </a:p>
          <a:p/>
          <a:p>
            <a:r>
              <a:t>Example: It works like the token money on a flat booking. A young couple pays a non-refundable token of Rs 50,000 for the right to buy a flat at Rs 40 lakh when three months are up. The token is extra; it is not knocked off the Rs 40 lakh. If flats nearby jump to Rs 46 lakh, their right is valuable. If prices fall, they walk away and lose only the token. The builder keeps the token either way, but if prices jump, he must still sell at Rs 40 lakh. The couple is the call buyer, the token is the premium, Rs 40 lakh is the strike and the builder is the seller.</a:t>
            </a:r>
          </a:p>
          <a:p/>
          <a:p>
            <a:r>
              <a:t>Remember: Buyer: pays the premium and holds a right. Seller: collects the premium and carries the duty, and the bigger risk.</a:t>
            </a:r>
          </a:p>
          <a:p/>
          <a:p>
            <a:r>
              <a:t>On the slide: Who sits where at the options table · Every option has a buyer and a seller. In Stage 1 you sit in none of these seats, not even on paper.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ITM, ATM, OTM, and what a premium is made of</a:t>
            </a:r>
          </a:p>
          <a:p/>
          <a:p>
            <a:r>
              <a:t>Moneyness tells you where the strike sits against today's price. For a call, a strike below the current price is in the money (ITM), a strike close to it is at the money (ATM), and a strike above it is out of the money (OTM); for a put it is the mirror image. Every premium has two parts. Intrinsic value is what the option would be worth if it expired right now: for a call, the current price minus the strike, never below zero; for a put, the strike minus the current price, also never below zero. Time value is the rest, the price of hope that a move will come before expiry; it melts a little every day, like kulfi in the sun, and this is time decay. For an at-the-money option the melting speeds up near expiry: with the index flat, the last 7 days of a 30-day run take about four times as much time value as the first 7 days (see the chart). NIFTY premiums are quoted in points; one point is Rs 1 for every unit in the lot.</a:t>
            </a:r>
          </a:p>
          <a:p/>
          <a:p>
            <a:r>
              <a:t>Example: NIFTY 50 is at 24,150 (illustrative; the practice option chain in Today's task uses the same numbers, 4 days before expiry). The 24,000 call is ITM by 150 points, and its premium is 210, so intrinsic value is 150 and time value is 60. The 24,300 call is OTM, and its premium of 61 is all time value. If NIFTY sits at 24,150 until expiry, the 24,000 call ends at 150 and the 24,300 call ends at zero. The 24,000 put is OTM too: a right to sell at 24,000 is worth nothing to use when the market is at 24,150, so its premium of 60 is all time value. Mirror image for puts: the 24,250 put is ITM by 100; its premium is 178, so intrinsic value is 100 and time value is 78.</a:t>
            </a:r>
          </a:p>
          <a:p/>
          <a:p>
            <a:r>
              <a:t>Remember: Intrinsic value stays if the price stays. Time value melts every day, whether you watch it or not.</a:t>
            </a:r>
          </a:p>
          <a:p/>
          <a:p>
            <a:r>
              <a:t>On the slide: Time value melts fastest at the end · Illustrative: an at-the-money NIFTY call with the index held flat at 24,150. Time value is about 331 points with 30 days left, 290 with 23, 160 with 7 and zero at expiry: the first week takes about 41 points, the last week about 160. The practice chain sits at 4 days left, where it is 121.</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Payoff at expiry: who can lose how much</a:t>
            </a:r>
          </a:p>
          <a:p/>
          <a:p>
            <a:r>
              <a:t>A payoff chart shows the profit or loss at expiry for every possible price. A futures buyer gains or loses one rupee for every rupee the price moves, in both directions. A call buyer loses the full premium if the price ends at or below the strike, and makes money only above the breakeven, which is the strike plus the premium. The call seller's line is the exact mirror: the premium is the most he can make, and his loss keeps growing as the price rises. Costs and taxes, which you read in your contract note, push every breakeven a little further away.</a:t>
            </a:r>
          </a:p>
          <a:p/>
          <a:p>
            <a:r>
              <a:t>Example: Now a fresh example, not the 210 call above: a 24,000 NIFTY call bought at 100 points. At expiry, if NIFTY ends at 23,800 or at 24,000, the buyer loses 100 points. At 24,100 he is at breakeven, and at 24,400 he gains 300 points. The seller has the opposite result at every level: plus 100 at 24,000, zero at 24,100 and minus 300 at 24,400. A futures buyer at 24,000 would be minus 200 at 23,800 and plus 400 at 24,400. These are per-unit, illustrative figures; one lot multiplies them many times over.</a:t>
            </a:r>
          </a:p>
          <a:p/>
          <a:p>
            <a:r>
              <a:t>Remember: The buyer's worst case is the premium. The seller's best case is the premium.</a:t>
            </a:r>
          </a:p>
          <a:p/>
          <a:p>
            <a:r>
              <a:t>On the slide: Payoff at expiry, per unit · Illustrative, per unit: a 24,000 call bought at 100, and a future bought at 24,000. X-axis: 23,500 to 24,500 in steps of 100. Each line crosses 0 where it breaks even: the future at 24,000, the call buyer and seller at 24,100.</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Expiry, delivery and the option-chain words</a:t>
            </a:r>
          </a:p>
          <a:p/>
          <a:p>
            <a:r>
              <a:t>Index F&amp;O, such as NIFTY 50 contracts, is settled in cash: only the profit or loss moves. Stock F&amp;O held to expiry is physically settled: real shares change hands for the full value, and an option that ends ITM is normally exercised (used) automatically, whether you remember it or not. A stock-future buyer or ITM call buyer may have to pay in full and take the shares; a future seller or ITM put buyer may have to hand over shares, and option sellers carry the mirror duty. An option chain is the table of all strikes for one expiry. Open interest (OI) is the number of contracts still open; each has one buyer and one seller, so OI shows how much is open, not which way the market will go. PCR, the put-call ratio (total put OI divided by total call OI), is only a word to recognise for now.</a:t>
            </a:r>
          </a:p>
          <a:p/>
          <a:p>
            <a:r>
              <a:t>Example: Suppose Aman's colleague forgets to close a Bharat Pumps Ltd 780 call before expiry. The share closes at Rs 800 on expiry day, so the call is ITM. With a made-up lot of 2,000 shares, he may now have to pay 2,000 x Rs 780 = Rs 15,60,000 and take delivery of the shares. A small bet has turned into a demand for lakhs of rupees. Near expiry the exchange asks for extra margin on such positions and many brokers close them early; each broker's rules differ. One more thing, on an option chain: in the practice chain in Today's task, the 24,300 call shows 1,41,280 contracts open. Each of those contracts has a buyer on one side and a seller on the other, so the big number alone says nothing about which way NIFTY will go.</a:t>
            </a:r>
          </a:p>
          <a:p/>
          <a:p>
            <a:r>
              <a:t>Remember: Stock F&amp;O held to expiry can turn into delivery. OI counts open contracts; it does not tell direction.</a:t>
            </a:r>
          </a:p>
          <a:p/>
          <a:p>
            <a:r>
              <a:t>On the slide: A stock call left open at expiry · Made-up case from the example: a lot of 2,000 Bharat Pumps Ltd shares. Index options such as NIFTY settle in cash instead. Each broker's near-expiry rules differ.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Lottery ticket or insurance?</a:t>
            </a:r>
          </a:p>
          <a:p/>
          <a:p>
            <a:r>
              <a:t>The only F&amp;O-loss figure this course quotes: SEBI FY26 study (Aug 2026): 87.7% of individual F&amp;O traders were in net loss, aggregate Rs 91,685 crore, average Rs 1.17 lakh per loss-making trader. The study reports outcomes, not the reason behind each loss. Separately, as this course's own teaching view: a cheap, far OTM option feels safe because the most you can lose is small, but its low price usually means the market sees a low chance of a payoff: it needs a big move, in the right direction, before time runs out. Losing a small premium again and again is still losing, like the No. 11 batter being backed for a century every match. So these tools make most sense as insurance, called a hedge. A protective put means holding a stock and buying a put on it, so that a big fall is partly covered, at the cost of the premium.</a:t>
            </a:r>
          </a:p>
          <a:p/>
          <a:p>
            <a:r>
              <a:t>Example: In a made-up case, Mr Verma, a long-time investor, holds Bharat Pumps Ltd shares bought at Rs 800 and pays Rs 15 a share for a 760 put. If the share crashes to Rs 680, the put is worth Rs 80 at expiry, so his loss is Rs 55 a share (Rs 40 down to the strike plus the Rs 15 premium) instead of Rs 120. Held to expiry, this stock put settles by delivery: he hands over the shares at Rs 760, which gives the same Rs 55 loss. If the share rises, the put expires worthless and the Rs 15 was the insurance cost. Two catches remain. Covering a basket of different stocks with a NIFTY put leaves basis risk, the gap between how your holdings move and how the hedge moves: if your stocks fall 15% while NIFTY falls 8%, the put covers only part of the damage. And one lot is usually far bigger than a beginner's portfolio, so for small amounts the cheapest hedge is a smaller position or more cash.</a:t>
            </a:r>
          </a:p>
          <a:p/>
          <a:p>
            <a:r>
              <a:t>Remember: Cheap is not the same as low risk. In Stage 1, F&amp;O is for understanding only: samjho, khelo mat.</a:t>
            </a:r>
          </a:p>
          <a:p/>
          <a:p>
            <a:r>
              <a:t>On the slide: What the put changes, per share · Made-up case: shares bought at Rs 800 fall to Rs 680; a 760 put cost Rs 15. The Rs 15 premium is paid in every case, even if the share rises.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Futures contract: A deal to buy or sell a fixed quantity (one lot) at a price agreed today, on a set expiry date. Both sides are bound to it.</a:t>
            </a:r>
          </a:p>
          <a:p>
            <a:r>
              <a:t>Margin and MTM: Margin is the deposit the broker blocks. MTM (mark-to-market) settles the day's profit or loss in cash every evening; a loss can exceed the margin.</a:t>
            </a:r>
          </a:p>
          <a:p>
            <a:r>
              <a:t>Leverage: Controlling a big contract value with a small deposit. Contract value ÷ margin gives the multiple: Rs 16 lakh ÷ Rs 3.2 lakh = 5 times, so a 1% move in the share is 5% of your margin, in either direction.</a:t>
            </a:r>
          </a:p>
          <a:p>
            <a:r>
              <a:t>Call (CE) and put (PE): A call is the right to buy, a put the right to sell, at the strike price on expiry. The buyer pays a premium for the right; the seller carries the duty.</a:t>
            </a:r>
          </a:p>
          <a:p>
            <a:r>
              <a:t>ITM, ATM, OTM: Where the strike sits against the current price. For a call: strike below the current price = in the money, near it = at the money, above it = out of the money. Mirror image for a put.</a:t>
            </a:r>
          </a:p>
          <a:p>
            <a:r>
              <a:t>Intrinsic value and time value: Intrinsic value is what the option is worth if it expired now. Time value is the rest of the premium; it shrinks towards zero by expiry (time decay).</a:t>
            </a:r>
          </a:p>
          <a:p>
            <a:r>
              <a:t>Open interest (OI): The number of F&amp;O contracts still open. Each one has a buyer and a seller, so OI shows how much is open, not the market's direction.</a:t>
            </a:r>
          </a:p>
          <a:p>
            <a:r>
              <a:t>Physical settlement: Stock F&amp;O held to expiry settles by delivery: real shares and their full value change hands. Index F&amp;O such as NIFTY settles in cash.</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F&amp;O: samjho, khelo mat</a:t>
            </a:r>
          </a:p>
          <a:p>
            <a:r>
              <a:t>Futures: One lot = lakhs of exposure; MTM every evening; Margin is not the max loss</a:t>
            </a:r>
          </a:p>
          <a:p>
            <a:r>
              <a:t>Options: Call = right to buy; Put = right to sell; Seller carries the duty</a:t>
            </a:r>
          </a:p>
          <a:p>
            <a:r>
              <a:t>Premium: Intrinsic + time value; Melts fastest in the last week; OTM = only time value</a:t>
            </a:r>
          </a:p>
          <a:p>
            <a:r>
              <a:t>Payoff: Call breakeven = strike + premium; Buyer's worst = premium; Seller's best = premium</a:t>
            </a:r>
          </a:p>
          <a:p>
            <a:r>
              <a:t>Expiry and chain: Index F&amp;O: cash-settled; Stock F&amp;O: delivery if held; OI is not direction</a:t>
            </a:r>
          </a:p>
          <a:p>
            <a:r>
              <a:t>Your mind: Cheap is not low risk; Hedge = insurance, not a bet; Stage 1: no F&amp;O, not even paper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an option chain without trading, live from NSE or the practice chain: find the ATM strike, split two premiums, feel the size of one lot, and have AI check your reading.</a:t>
            </a:r>
          </a:p>
          <a:p/>
          <a:p>
            <a:r>
              <a:t>1. On nseindia.com, open the public NIFTY option chain (no login or broker account needed). Pick the nearest expiry at least two trading days away and write down the index level and the ATM strike, the strike nearest the index. If the page will not load on your phone, use the practice chain under 'Your template'.</a:t>
            </a:r>
          </a:p>
          <a:p>
            <a:r>
              <a:t>2. In Google Sheets or your notebook, copy five rows around the ATM strike: strike, call LTP, call OI, put LTP, put OI. (LTP, the last traded price, is the premium.)</a:t>
            </a:r>
          </a:p>
          <a:p>
            <a:r>
              <a:t>3. Fill two rows of the premium split sheet: the call two strikes below ATM (ITM) and the call two strikes above (OTM). Intrinsic value = index level minus strike, never below zero; time value is the rest. If a time value comes out negative, that LTP is old; use a strike nearer ATM.</a:t>
            </a:r>
          </a:p>
          <a:p>
            <a:r>
              <a:t>4. Search the NSE website for the current F&amp;O market lot of NIFTY and fill the 'What one lot controls' card: lot x index level in rupees, then compare it with the 25% exposure cap (Rs 2,50,000) on the Rs 10 lakh challenge capital.</a:t>
            </a:r>
          </a:p>
          <a:p>
            <a:r>
              <a:t>5. Run the AI Lab prompt 'Option chain explainer' with the rows you copied (live or practice), and mark every line the AI labels Guess or Kachra. Never paste your PAN, client ID or any account details.</a:t>
            </a:r>
          </a:p>
          <a:p>
            <a:r>
              <a:t>6. Stretch (any day this week, 5 minutes): pick an expiry at least two weeks away (the monthly one, or next month's if this month's is close) and note one far OTM call's premium and today's NIFTY level. Check both again 3 trading days later. If NIFTY is near the same level, most of the drop is usually time decay; if NIFTY moved a lot, write that the move changed the premium too.</a:t>
            </a:r>
          </a:p>
          <a:p/>
          <a:p>
            <a:r>
              <a:t>By the end: By the end you can explain a futures contract, margin and MTM; tell a call from a put and ITM from OTM; split a premium into intrinsic and time value; read a buyer's and a seller's payoff; say which F&amp;O contracts end in delivery; and explain why Stage 1 only studies F&amp;O.</a:t>
            </a:r>
          </a:p>
          <a:p/>
          <a:p>
            <a:r>
              <a:t>Tools: NSE website option chain (nseindia.com); The practice option chain in Today's task (no live data needed); Google Sheets; Any AI chat; Notebook and pen</a:t>
            </a:r>
          </a:p>
          <a:p/>
          <a:p>
            <a:r>
              <a:t>Educational content only, not investment advice. Stage 1 uses virtual money only and places no F&amp;O trades, not even on paper. Company names, prices, lots, premiums and the practice option chain in this lesson are made up for illustration; the SEBI FY26 figure is quoted from SEBI's study. Check NSE for current lot sizes and expiry days.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an option chain without trading, live from NSE or the practice chain: find the ATM strike, split two premiums, feel the size of one lot, and have AI check your reading.</a:t>
            </a:r>
          </a:p>
          <a:p/>
          <a:p>
            <a:r>
              <a:t>1. On nseindia.com, open the public NIFTY option chain (no login or broker account needed). Pick the nearest expiry at least two trading days away and write down the index level and the ATM strike, the strike nearest the index. If the page will not load on your phone, use the practice chain under 'Your template'.</a:t>
            </a:r>
          </a:p>
          <a:p>
            <a:r>
              <a:t>2. In Google Sheets or your notebook, copy five rows around the ATM strike: strike, call LTP, call OI, put LTP, put OI. (LTP, the last traded price, is the premium.)</a:t>
            </a:r>
          </a:p>
          <a:p>
            <a:r>
              <a:t>3. Fill two rows of the premium split sheet: the call two strikes below ATM (ITM) and the call two strikes above (OTM). Intrinsic value = index level minus strike, never below zero; time value is the rest. If a time value comes out negative, that LTP is old; use a strike nearer ATM.</a:t>
            </a:r>
          </a:p>
          <a:p>
            <a:r>
              <a:t>4. Search the NSE website for the current F&amp;O market lot of NIFTY and fill the 'What one lot controls' card: lot x index level in rupees, then compare it with the 25% exposure cap (Rs 2,50,000) on the Rs 10 lakh challenge capital.</a:t>
            </a:r>
          </a:p>
          <a:p>
            <a:r>
              <a:t>5. Run the AI Lab prompt 'Option chain explainer' with the rows you copied (live or practice), and mark every line the AI labels Guess or Kachra. Never paste your PAN, client ID or any account details.</a:t>
            </a:r>
          </a:p>
          <a:p>
            <a:r>
              <a:t>6. Stretch (any day this week, 5 minutes): pick an expiry at least two weeks away (the monthly one, or next month's if this month's is close) and note one far OTM call's premium and today's NIFTY level. Check both again 3 trading days later. If NIFTY is near the same level, most of the drop is usually time decay; if NIFTY moved a lot, write that the move changed the premium too.</a:t>
            </a:r>
          </a:p>
          <a:p/>
          <a:p>
            <a:r>
              <a:t>By the end: By the end you can explain a futures contract, margin and MTM; tell a call from a put and ITM from OTM; split a premium into intrinsic and time value; read a buyer's and a seller's payoff; say which F&amp;O contracts end in delivery; and explain why Stage 1 only studies F&amp;O.</a:t>
            </a:r>
          </a:p>
          <a:p/>
          <a:p>
            <a:r>
              <a:t>Tools: NSE website option chain (nseindia.com); The practice option chain in Today's task (no live data needed); Google Sheets; Any AI chat; Notebook and pen</a:t>
            </a:r>
          </a:p>
          <a:p/>
          <a:p>
            <a:r>
              <a:t>Educational content only, not investment advice. Stage 1 uses virtual money only and places no F&amp;O trades, not even on paper. Company names, prices, lots, premiums and the practice option chain in this lesson are made up for illustration; the SEBI FY26 figure is quoted from SEBI's study. Check NSE for current lot sizes and expiry days.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option chain (made-up)</a:t>
            </a:r>
          </a:p>
          <a:p/>
          <a:p>
            <a:r>
              <a:t>Use it when NSE's chain will not load, or to practise first. Calls sit on the left and puts on the right, as on NSE. Reading practice only: Stage 1 places no F&amp;O trades, not even on paper.</a:t>
            </a:r>
          </a:p>
          <a:p/>
          <a:p>
            <a:r>
              <a:t>Call OI | Call LTP | Strike | Put LTP | Put OI</a:t>
            </a:r>
          </a:p>
          <a:p>
            <a:r>
              <a:t>18,240 | 285 | 23,900 | 35 | 96,410</a:t>
            </a:r>
          </a:p>
          <a:p>
            <a:r>
              <a:t>9,870 | 246 | 23,950 | 46 | 58,300</a:t>
            </a:r>
          </a:p>
          <a:p>
            <a:r>
              <a:t>41,560 | 210 | 24,000 | 60 | 1,32,750</a:t>
            </a:r>
          </a:p>
          <a:p>
            <a:r>
              <a:t>22,130 | 177 | 24,050 | 77 | 71,920</a:t>
            </a:r>
          </a:p>
          <a:p>
            <a:r>
              <a:t>58,940 | 148 | 24,100 | 98 | 88,460</a:t>
            </a:r>
          </a:p>
          <a:p>
            <a:r>
              <a:t>64,300 | 121 | 24,150 | 121 | 62,180</a:t>
            </a:r>
          </a:p>
          <a:p>
            <a:r>
              <a:t>1,18,720 | 98 | 24,200 | 148 | 49,650</a:t>
            </a:r>
          </a:p>
          <a:p>
            <a:r>
              <a:t>76,410 | 78 | 24,250 | 178 | 21,340</a:t>
            </a:r>
          </a:p>
          <a:p>
            <a:r>
              <a:t>1,41,280 | 61 | 24,300 | 211 | 30,870</a:t>
            </a:r>
          </a:p>
          <a:p>
            <a:r>
              <a:t>52,600 | 47 | 24,350 | 247 | 8,920</a:t>
            </a:r>
          </a:p>
          <a:p>
            <a:r>
              <a:t>97,150 | 35 | 24,400 | 285 | 12,460</a:t>
            </a:r>
          </a:p>
          <a:p/>
          <a:p>
            <a:r>
              <a:t>Find the ATM strike first: the strike nearest the index level.</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Premium split sheet</a:t>
            </a:r>
          </a:p>
          <a:p/>
          <a:p>
            <a:r>
              <a:t>Four worked rows from the practice chain, with NIFTY 50 at 24,150. Add your two calls from step 3 in the empty rows. On the practice chain the answers are: 24,050 call = 100 + 77, and 24,250 call = 0 + 78.</a:t>
            </a:r>
          </a:p>
          <a:p/>
          <a:p>
            <a:r>
              <a:t>Option | ITM / OTM | Premium | Intrinsic | Time value</a:t>
            </a:r>
          </a:p>
          <a:p>
            <a:r>
              <a:t>24,000 CE | ITM | 210 | 150 | 60</a:t>
            </a:r>
          </a:p>
          <a:p>
            <a:r>
              <a:t>24,300 CE | OTM | 61 | 0 | 61</a:t>
            </a:r>
          </a:p>
          <a:p>
            <a:r>
              <a:t>24,000 PE | OTM | 60 | 0 | 60</a:t>
            </a:r>
          </a:p>
          <a:p>
            <a:r>
              <a:t>24,250 PE | ITM | 178 | 100 | 78</a:t>
            </a:r>
          </a:p>
          <a:p>
            <a:r>
              <a:t>+ 3 ___</a:t>
            </a:r>
          </a:p>
          <a:p/>
          <a:p>
            <a:r>
              <a:t>Call: intrinsic = index - strike. Put: intrinsic = strike - index. Never below zero. Time value = premium - intrinsic.</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one lot controls</a:t>
            </a:r>
          </a:p>
          <a:p/>
          <a:p>
            <a:r>
              <a:t>The example uses a made-up lot of 75 units; write today's real lot from NSE in the 'Yours' column. It is a calculation, not a trade.</a:t>
            </a:r>
          </a:p>
          <a:p/>
          <a:p>
            <a:r>
              <a:t>Line | Example | Yours</a:t>
            </a:r>
          </a:p>
          <a:p>
            <a:r>
              <a:t>NIFTY 50 level | 24,150 | </a:t>
            </a:r>
          </a:p>
          <a:p>
            <a:r>
              <a:t>Lot size (units) | 75 (made-up) | </a:t>
            </a:r>
          </a:p>
          <a:p>
            <a:r>
              <a:t>One lot controls (lot x level) | Rs 18,11,250 | </a:t>
            </a:r>
          </a:p>
          <a:p>
            <a:r>
              <a:t>25% cap on Rs 10 lakh | Rs 2,50,000 | Rs 2,50,000</a:t>
            </a:r>
          </a:p>
          <a:p>
            <a:r>
              <a:t>One lot ÷ the cap | 7.2x | </a:t>
            </a:r>
          </a:p>
          <a:p>
            <a:r>
              <a:t>A 100-point NIFTY move on one lot | Rs 7,500 = 0.75R | </a:t>
            </a:r>
          </a:p>
          <a:p/>
          <a:p>
            <a:r>
              <a:t>One lot is several times the most Stage 1 lets you put in any one position, and an ordinary 100-point day moves it by three-quarters of 1R. Samjho, khelo mat.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Lottery or insurance? On six chits, write six uses of options, for example 'buying a Rs 3 call two days before expiry', 'buying a put on shares you already hold', 'selling calls for weekly income', 'selling far OTM puts because they rarely pay out', 'buying a NIFTY put to cover a basket of mid-cap stocks', 'buying cheap calls on a company's results day'. With classmates or family, sort each chit into Lottery, Insurance or Big hidden risk, and defend your choice in one line. Alone? Sort them yourself, then ask an AI chat to challenge your sorting.</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Option chain explainer</a:t>
            </a:r>
          </a:p>
          <a:p>
            <a:r>
              <a:t>You are a patient teacher of Indian derivatives, explaining to a complete beginner who is only studying F&amp;O and will not trade it, not even on paper. I will paste a few rows from the public NIFTY option chain on the NSE website or from my course's made-up practice chain (strike, call premium, call OI, put premium, put OI) and the current index level. Using only my pasted numbers: (1) say which strike is ATM and why; (2) mark each strike as ITM, ATM or OTM, separately for calls and for puts; (3) split two premiums of my choice into intrinsic value and time value, showing the working; (4) explain what OI measures, why every open contract has both a buyer and a seller, and what OI cannot tell me; (5) explain in two plain lines what PCR (put-call ratio) means and why, on its own, it cannot tell me where the market will go; do not compute a PCR or read anything into one. Label every statement Fact (follows from my numbers or a definition), Guess (an opinion or estimate) or Kachra (a popular claim with no basis, such as 'max OI is a wall the market cannot cross'). Do not suggest any option to buy or sell, give no view on market direction, no strategy, no targets and no return expectations.</a:t>
            </a:r>
          </a:p>
          <a:p/>
          <a:p>
            <a:r>
              <a:t>Index level: &lt;paste here&gt;</a:t>
            </a:r>
          </a:p>
          <a:p>
            <a:r>
              <a:t>Chain rows: &lt;paste here&gt;</a:t>
            </a:r>
          </a:p>
          <a:p/>
          <a:p>
            <a:r>
              <a:t>Prompt 2: F&amp;O myth-buster</a:t>
            </a:r>
          </a:p>
          <a:p>
            <a:r>
              <a:t>List 8 beliefs that Indian beginners commonly hold about futures and options, for example 'a cheap option is low risk', 'my margin is the most I can lose', 'high OI at a strike means the market will stop there', 'stock options always settle in cash' and 'buying a NIFTY put fully protects any portfolio'. For each belief, label it Fact, Guess or Kachra, give a one-line correction in simple words, and name the official source (NSE, BSE or SEBI website, or the NISM Series VIII study material) where I can check it. Where a rule can change, such as lot sizes, expiry days or settlement rules, say so and tell me to check the latest on the NSE website. Do not recommend any stock, index or option, do not give buy or sell advice, and do not mention targets or expected returns.</a:t>
            </a:r>
          </a:p>
          <a:p/>
          <a:p>
            <a:r>
              <a:t>Prompt 3: Lottery-ticket mind check</a:t>
            </a:r>
          </a:p>
          <a:p>
            <a:r>
              <a:t>Act as a calm trading-psychology coach. Ask me 6 short questions, one at a time, to find out whether I think about options like lottery tickets: how I react to screenshots of big option wins, whether I count the losing bets behind them, how I judge a 'small' premium that I might lose every week, and what I believe a low price tells me about the chance of a payoff. After my answers, give me a plain summary of any lottery-ticket thinking you noticed and one question I can ask myself whenever I see an F&amp;O success story. Do not ask for any personal or financial details, do not suggest any stock, option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NIFTY 50 is at 23,880 (illustrative). The 23,700 call trades at a premium of 230. How does that premium split?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made-up case, someone buys a Kiran Foods Ltd 400 call at a premium of Rs 18. Ignoring costs, above what share price at expiry does the buyer start to make money?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made-up case, one lot of Gupta Cement Ltd futures is 3,750 shares, bought at Rs 400 with a margin of Rs 3,00,000. The price closes the day at Rs 392. What happens that evening?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someone holds a Sharma Textiles Ltd stock call that is in the money at expiry, and forgets to close it. What can happen?</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far OTM NIFTY call costs just Rs 3, with two days left to expiry. What does the low price most likely tell you?</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Which idea today changed how you see a cheap option? And in your own words: what does OI measure, and what does it not tell you?</a:t>
            </a:r>
          </a:p>
          <a:p/>
          <a:p>
            <a:r>
              <a:t>Today you learnt a powerful tool well enough to know why you are leaving it alone for now. Many traders never learn that part.</a:t>
            </a:r>
          </a:p>
          <a:p/>
          <a:p>
            <a:r>
              <a:t>Next: Day 19 · The event calendar and your no-trade days</a:t>
            </a:r>
          </a:p>
          <a:p/>
          <a:p>
            <a:r>
              <a:t>Educational content only, not investment advice. Stage 1 uses virtual money only and places no F&amp;O trades, not even on paper. Company names, prices, lots, premiums and the practice option chain in this lesson are made up for illustration; the SEBI FY26 figure is quoted from SEBI's study. Check NSE for current lot sizes and expiry days.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19: The event calendar and your no-trade days</a:t>
            </a:r>
          </a:p>
          <a:p/>
          <a:p>
            <a:r>
              <a:t>Concept: Events, their timing, and a no-trade rule for each strategy</a:t>
            </a:r>
          </a:p>
          <a:p>
            <a:r>
              <a:t>AI Lab: Event calendar builder: AI drafts, official sites decide</a:t>
            </a:r>
          </a:p>
          <a:p>
            <a:r>
              <a:t>Mindset: Fear of missing the big day</a:t>
            </a:r>
          </a:p>
          <a:p/>
          <a:p>
            <a:r>
              <a:t>By the end: By the end you can explain why scheduled events cause gaps and sharp swings, sort any event by where it comes from and when it lands, write no-trade rules that fit each strategy, build a 30-day event calendar from official sources, and turn one date into a complete Portfolio row.</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day of the year</a:t>
            </a:r>
          </a:p>
          <a:p/>
          <a:p>
            <a:r>
              <a:t>(The night before the Union Budget. Aman video-calls the mentor, and Priya joins from Lucknow.)</a:t>
            </a:r>
          </a:p>
          <a:p>
            <a:r>
              <a:t>Aman: Sir, tomorrow is Budget day. Everyone says there will be a huge move. On paper, I'll take an ORB trade as soon as the range breaks, and two swing trades before the speech. It's the biggest day of the year; I can't sit it out.</a:t>
            </a:r>
          </a:p>
          <a:p>
            <a:r>
              <a:t>Priya: But the speech starts around 11. Your 9:15 to 9:30 range will be drawn before anyone knows what the Budget says. What will that range tell you?</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day of the year</a:t>
            </a:r>
          </a:p>
          <a:p/>
          <a:p>
            <a:r>
              <a:t>Mentor: Good question, Priya. Aman, one question from me too: which way will the market go tomorrow?</a:t>
            </a:r>
          </a:p>
          <a:p>
            <a:r>
              <a:t>Aman: Honestly, no idea. Up or down, but big. Like Gupta Cement last week: I bought at 400 on paper, stop 382, and after the results it opened at 364. I didn't even know the results were that evening.</a:t>
            </a:r>
          </a:p>
          <a:p>
            <a:r>
              <a:t>Mentor: That results date was on the NSE website six trading days before you bought. Most big days are not surprises; they are written down in advance. Tonight we write them down too, with your rule for each one, before the day arrives.</a:t>
            </a:r>
          </a:p>
          <a:p/>
          <a:p>
            <a:r>
              <a:t>The lesson: Most big days are on the calendar long before they arrive. The skill is deciding, in advance, what you will do on them.</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Events: the gaps you can see coming</a:t>
            </a:r>
          </a:p>
          <a:p/>
          <a:p>
            <a:r>
              <a:t>An event is a scheduled moment when big new information reaches the market all at once: a company's results, an RBI policy decision, the Union Budget. Price does not walk to its new level; it often jumps, and that jump is a gap (Day 6). Day 9 showed what a gap does to a stop: a planned 1R loss can become 2R or more. Today's twist is that most of these jumps are not surprises. Their dates are published days or weeks ahead. An event calendar is simply a list of those dates, kept where you will see it before you trade.</a:t>
            </a:r>
          </a:p>
          <a:p/>
          <a:p>
            <a:r>
              <a:t>Example: Aman's paper trade in Gupta Cement Ltd last week: 555 shares at Rs 400, stop Rs 382 (1.5 x an ATR of Rs 12), so 1R was about Rs 10,000. Results came out that evening. Next morning the stock opened at Rs 364, and his stop, an SL-M order (Day 9), sold near there: 555 x Rs 36 = Rs 19,980, about 2R. The board-meeting notice for those results had been on the NSE website six trading days before he bought. The Day 11 card he had never copied (Day 16) already said 'skip any stock whose results date falls in the next 15 trading days'; he simply never looked the date up. It was Day 9's gap again, with one difference: this time the date was public.</a:t>
            </a:r>
          </a:p>
          <a:p/>
          <a:p>
            <a:r>
              <a:t>Remember: Getting caught in a results-day gap is rarely bad luck. Usually it is a date nobody looked up.</a:t>
            </a:r>
          </a:p>
          <a:p/>
          <a:p>
            <a:r>
              <a:t>On the slide: The date was public · The results date was announced six trading days before the entry. Stop Rs 382; the first price after the results was Rs 364. Loss: about 2R, not 1R.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events come from: your stock, India, the world</a:t>
            </a:r>
          </a:p>
          <a:p/>
          <a:p>
            <a:r>
              <a:t>Events come from three places. Stock events hit one company: its quarterly results, the board meeting that approves them, and ex-dates for a dividend, bonus or split (Day 15), when the price drops for a mechanical reason and an unadjusted chart shows a fake gap. Indian market events touch almost everything: RBI policy decisions, the Union Budget, exchange holidays and special sessions, and F&amp;O expiry days, when the index can be jumpier even if you trade no F&amp;O. Index events sit in between. NSE Indices reviews NIFTY 50 twice a year and announces any change weeks before it takes effect. Index funds and ETFs that copy the index must then buy the stock coming in and sell the one going out, usually near the close of the last day before the change, so both can show heavy volume that says nothing about the business. World events arrive from abroad, and their dates are published too: decisions of the US Federal Reserve (America's central bank) and of other big central banks such as the European Central Bank, and US inflation and jobs reports. Most of them land in the Indian evening or night, after our close. Some big global news comes with no date at all; it cannot go on any calendar, which is one reason every trade still risks only 1%. Write down the date; never guess what will be announced.</a:t>
            </a:r>
          </a:p>
          <a:p/>
          <a:p>
            <a:r>
              <a:t>Example: Priya jots down the next 30 days for her paper watchlist (all dates made up). The 6th: an RBI policy decision. Friday the 7th, in the Indian evening: US inflation data, which will show up at the open on Monday the 10th. The 12th: Kiran Foods Ltd results. The 18th: Sharma Textiles Ltd goes ex-dividend with a Rs 5 dividend, so, all else equal, its price drops by about Rs 5 that morning; that is an adjustment, not a signal. The 19th, at night: a US Fed decision, which will show up at the open on the 20th. Friday the 21st: an exchange holiday, so the market shuts for three days, a longer 'overnight' for any swing trade she holds. The 25th: the monthly NIFTY F&amp;O expiry; she trades no F&amp;O, so it is a note, not a block. The 27th: the last day before Desai Power Ltd joins NIFTY 50, a change NSE Indices announced weeks earlier; heavy volume near that close is index funds buying, not a breakout. Eight dates, three places, one sheet.</a:t>
            </a:r>
          </a:p>
          <a:p/>
          <a:p>
            <a:r>
              <a:t>Remember: For every date, ask first: does it come from my stock, from India, or from the world?</a:t>
            </a:r>
          </a:p>
          <a:p/>
          <a:p>
            <a:r>
              <a:t>On the slide: Three places events come from · Write down the date and the time, never a guess about what will be announced.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events come from: your stock, India, the world</a:t>
            </a:r>
          </a:p>
          <a:p/>
          <a:p>
            <a:r>
              <a:t>Events come from three places. Stock events hit one company: its quarterly results, the board meeting that approves them, and ex-dates for a dividend, bonus or split (Day 15), when the price drops for a mechanical reason and an unadjusted chart shows a fake gap. Indian market events touch almost everything: RBI policy decisions, the Union Budget, exchange holidays and special sessions, and F&amp;O expiry days, when the index can be jumpier even if you trade no F&amp;O. Index events sit in between. NSE Indices reviews NIFTY 50 twice a year and announces any change weeks before it takes effect. Index funds and ETFs that copy the index must then buy the stock coming in and sell the one going out, usually near the close of the last day before the change, so both can show heavy volume that says nothing about the business. World events arrive from abroad, and their dates are published too: decisions of the US Federal Reserve (America's central bank) and of other big central banks such as the European Central Bank, and US inflation and jobs reports. Most of them land in the Indian evening or night, after our close. Some big global news comes with no date at all; it cannot go on any calendar, which is one reason every trade still risks only 1%. Write down the date; never guess what will be announced.</a:t>
            </a:r>
          </a:p>
          <a:p/>
          <a:p>
            <a:r>
              <a:t>Example: Priya jots down the next 30 days for her paper watchlist (all dates made up). The 6th: an RBI policy decision. Friday the 7th, in the Indian evening: US inflation data, which will show up at the open on Monday the 10th. The 12th: Kiran Foods Ltd results. The 18th: Sharma Textiles Ltd goes ex-dividend with a Rs 5 dividend, so, all else equal, its price drops by about Rs 5 that morning; that is an adjustment, not a signal. The 19th, at night: a US Fed decision, which will show up at the open on the 20th. Friday the 21st: an exchange holiday, so the market shuts for three days, a longer 'overnight' for any swing trade she holds. The 25th: the monthly NIFTY F&amp;O expiry; she trades no F&amp;O, so it is a note, not a block. The 27th: the last day before Desai Power Ltd joins NIFTY 50, a change NSE Indices announced weeks earlier; heavy volume near that close is index funds buying, not a breakout. Eight dates, three places, one sheet.</a:t>
            </a:r>
          </a:p>
          <a:p/>
          <a:p>
            <a:r>
              <a:t>Remember: For every date, ask first: does it come from my stock, from India, or from the world?</a:t>
            </a:r>
          </a:p>
          <a:p/>
          <a:p>
            <a:r>
              <a:t>On the slide: Three places events come from · Write down the date and the time, never a guess about what will be announced.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during market hours or overnight</a:t>
            </a:r>
          </a:p>
          <a:p/>
          <a:p>
            <a:r>
              <a:t>The time of an event matters as much as its date. Some land during market hours: the RBI usually announces its policy decision in the morning, and on Budget day the speech normally begins around 11 am. These whip prices up and down within the day, which hurts intraday trades such as ORB. Others land overnight: many companies release results after 3:30 pm, and US Fed decisions come during the Indian night. You cannot trade on these until the pre-open at 9:00 the next morning, and by then the price has already jumped, so they arrive as a gap, which hurts swing trades held overnight. A board-meeting notice gives the date, often not the hour; if no time is given, assume the results could land during market hours or overnight. Times can change, so check the official announcement every time.</a:t>
            </a:r>
          </a:p>
          <a:p/>
          <a:p>
            <a:r>
              <a:t>Example: On Budget day, the opening range of a liquid stock such as Sharma Textiles Ltd is set by 9:30, but the speech starts about 90 minutes later. ORB takes no new entry after 11:00 (Day 13), so any trade you take can still be open when the speech begins, and from then on the speech, not your rule, decides where it goes. Now picture a swing position in Kiran Foods Ltd: its results arrive at 6 pm, and the US Fed decides late at night, Indian time. Your first chance to exit is the next morning's open, at whatever price the market chooses.</a:t>
            </a:r>
          </a:p>
          <a:p/>
          <a:p>
            <a:r>
              <a:t>Remember: During-hours events hurt intraday trades; overnight events hurt swing trades. Know which one you are holding.</a:t>
            </a:r>
          </a:p>
          <a:p/>
          <a:p>
            <a:r>
              <a:t>On the slide: When events usually land (IST) · Typical times only; they can change. Surprise news can land at any hour. Always confirm on the official page.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no-trade rules: match the event to the trade</a:t>
            </a:r>
          </a:p>
          <a:p/>
          <a:p>
            <a:r>
              <a:t>A no-trade rule is a line on your Rule Card that names the days you stay out, decided before those days arrive. Your default strategy, EMA Pullback Swing (Day 11), holds overnight, so overnight events matter most to it. The optional ORB (Day 13) opens and closes within one trading day (its time exit is 14:30), so during-hours events matter most to it. And Aman's two swing entries on Budget morning? The starter table does not block them, because the speech lands during market hours, when a stop usually fills close to 1R, plus some slippage in a fast market. But a Budget-day swing can move more than one ATR in minutes and stop you out on noise, so many beginners simply add 'no new swing entry on Budget day' to their card; if the day tempts you to move stops, that line is a must. Keep the list short: if your rules block half the month, you will stop obeying them, and three or four clear lines are enough. Day 18 introduced hedging; at Stage 1 the cheapest protection before an event is a smaller position, or none. And a setup you skip because of a written rule still scores as adherence (Day 12).</a:t>
            </a:r>
          </a:p>
          <a:p/>
          <a:p>
            <a:r>
              <a:t>Example: Priya writes four lines on Sunday. One: no new swing entry in a stock whose results fall inside my 15-trading-day window (Day 11). Two: if a results date is announced after I enter, I exit before the close on the trading day before the results, and log it as a planned exit. (If I would rather hold through results, I write that on Sunday instead and accept that the loss could be 2R or more.) Three: no ORB on an RBI policy day or Budget day, or in a stock on its own results day. Four: on an ex-date, I do not read the adjusted drop as a signal. Expiry days and index-change days get a note on her calendar but no rule of their own: she trades no F&amp;O, and index-fund buying is mechanical, so she simply does not read that day's volume as a signal. Her count for next month: one RBI day with no ORB, and 1 of her 8 watchlist stocks (Kiran Foods Ltd) blocked for new swing entries. Every other day is normal.</a:t>
            </a:r>
          </a:p>
          <a:p/>
          <a:p>
            <a:r>
              <a:t>Remember: Decide the event rule on Sunday, not at 9:14 on the day.</a:t>
            </a:r>
          </a:p>
          <a:p/>
          <a:p>
            <a:r>
              <a:t>On the slide: A starter no-trade table · A starting point to adapt, not a law. Write your own version on your Rule Card.</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no-trade rules: match the event to the trade</a:t>
            </a:r>
          </a:p>
          <a:p/>
          <a:p>
            <a:r>
              <a:t>A no-trade rule is a line on your Rule Card that names the days you stay out, decided before those days arrive. Your default strategy, EMA Pullback Swing (Day 11), holds overnight, so overnight events matter most to it. The optional ORB (Day 13) opens and closes within one trading day (its time exit is 14:30), so during-hours events matter most to it. And Aman's two swing entries on Budget morning? The starter table does not block them, because the speech lands during market hours, when a stop usually fills close to 1R, plus some slippage in a fast market. But a Budget-day swing can move more than one ATR in minutes and stop you out on noise, so many beginners simply add 'no new swing entry on Budget day' to their card; if the day tempts you to move stops, that line is a must. Keep the list short: if your rules block half the month, you will stop obeying them, and three or four clear lines are enough. Day 18 introduced hedging; at Stage 1 the cheapest protection before an event is a smaller position, or none. And a setup you skip because of a written rule still scores as adherence (Day 12).</a:t>
            </a:r>
          </a:p>
          <a:p/>
          <a:p>
            <a:r>
              <a:t>Example: Priya writes four lines on Sunday. One: no new swing entry in a stock whose results fall inside my 15-trading-day window (Day 11). Two: if a results date is announced after I enter, I exit before the close on the trading day before the results, and log it as a planned exit. (If I would rather hold through results, I write that on Sunday instead and accept that the loss could be 2R or more.) Three: no ORB on an RBI policy day or Budget day, or in a stock on its own results day. Four: on an ex-date, I do not read the adjusted drop as a signal. Expiry days and index-change days get a note on her calendar but no rule of their own: she trades no F&amp;O, and index-fund buying is mechanical, so she simply does not read that day's volume as a signal. Her count for next month: one RBI day with no ORB, and 1 of her 8 watchlist stocks (Kiran Foods Ltd) blocked for new swing entries. Every other day is normal.</a:t>
            </a:r>
          </a:p>
          <a:p/>
          <a:p>
            <a:r>
              <a:t>Remember: Decide the event rule on Sunday, not at 9:14 on the day.</a:t>
            </a:r>
          </a:p>
          <a:p/>
          <a:p>
            <a:r>
              <a:t>On the slide: A starter no-trade table · A starting point to adapt, not a law. Write your own version on your Rule Card.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30-day calendar from official sources</a:t>
            </a:r>
          </a:p>
          <a:p/>
          <a:p>
            <a:r>
              <a:t>Your calendar is one simple sheet with six columns: date, event, place and time (such as 'stock, overnight'), strategy hit, your rule, and 'source checked'. Every date comes from an official page: the NSE holiday list and circulars; expiry dates in the expiry list of the NIFTY option chain on nseindia.com (Day 18); board-meeting and corporate-action notices under NSE or BSE corporate announcements; index changes in NSE Indices press releases (niftyindices.com); the RBI press release with its policy meeting schedule; the government's Budget announcement; and the US Federal Reserve's own meeting calendar. AI can draft the empty table in a minute, but it can invent or mix up dates, and a wrong date is a costly hallucination (Day 4). Refresh the sheet every Sunday, because new board-meeting notices keep arriving. A board-meeting notice can appear only a few working days before the meeting, so before any new swing entry, also open that one stock's NSE announcements page. And know the results season. Under current SEBI rules, companies must publish quarterly results within 45 days of a quarter's end, and within 60 days for the year's last quarter. So for about six to nine weeks after March, June, September and December end, a new notice can appear any day. These deadlines can change; check the SEBI site for the latest. Tomorrow, on Day 20, this calendar check becomes the first line of your Daily Routine Card.</a:t>
            </a:r>
          </a:p>
          <a:p/>
          <a:p>
            <a:r>
              <a:t>Example: One row of Priya's sheet reads: '12th | Kiran Foods Ltd results | stock, time not given: could be either | both | no new swing entry until results are out; if holding, exit before the close on the 11th; no ORB in it on the 12th | NSE announcement, checked'. She also sets a phone reminder for 8 pm on the evening before each action day: the 10th for this row, because the exit must happen before the close on the 11th. That way the rule reaches her before the market does. Her first full build took about 40 minutes; each Sunday refresh takes about 10. Her whole month is the model calendar in today's task.</a:t>
            </a:r>
          </a:p>
          <a:p/>
          <a:p>
            <a:r>
              <a:t>Remember: AI drafts the table; official sites fill in the dates.</a:t>
            </a:r>
          </a:p>
          <a:p/>
          <a:p>
            <a:r>
              <a:t>On the slide: From official page to Rule Card · Tick 'source checked' only after you have seen the date on the official page yourself.</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Fear of missing the big day</a:t>
            </a:r>
          </a:p>
          <a:p/>
          <a:p>
            <a:r>
              <a:t>Big event days feel like a Diwali sale: news channels count down, groups buzz, and staying out feels like missing the one day that matters. Day 13 met FOMO, the fear of missing out, in a running breakout; here it comes dressed as a date. On such days prices often swing both ways within minutes, spreads widen (Day 2), and the move is a reaction to news nobody could know in advance. A fisherman who stays ashore on a cyclone-warning day is not a coward; he wants to fish for many more years. Skipping a trade your rules block costs you no money, only a chance, while a 2R or 3R loss on a big day can wipe out weeks of careful trades.</a:t>
            </a:r>
          </a:p>
          <a:p/>
          <a:p>
            <a:r>
              <a:t>Example: In this illustrative Budget day, NIFTY 50 was 1.6% above its open by 11:30, soon after the speech began. Two hours later it was 1.1% below the open, and it closed 0.4% lower. Anyone who chased the first surge and anyone who sold the later dip could both have been stopped out on the same day. Aman, who had taken the day off to trade it, spent that morning watching with a notebook instead, writing down how prices reacted. His journal entry: no-trade day, rule followed.</a:t>
            </a:r>
          </a:p>
          <a:p/>
          <a:p>
            <a:r>
              <a:t>Remember: Skipping a blocked trade costs no money. A bad big day can cost weeks.</a:t>
            </a:r>
          </a:p>
          <a:p/>
          <a:p>
            <a:r>
              <a:t>On the slide: One Budget day, both ways · Open = 100. Up 1.6% by 11:30, down 1.1% by 13:30, closed 0.4% lower. At 9:15 nobody knew the direction.</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A scheduled moment when big new information reaches the market at once, such as results, an RBI policy decision or the Budget.</a:t>
            </a:r>
          </a:p>
          <a:p>
            <a:r>
              <a:t>Event calendar: Your list of coming event dates, each checked on an official site, with your rule written next to it.</a:t>
            </a:r>
          </a:p>
          <a:p>
            <a:r>
              <a:t>No-trade day: A day your written rules keep you out of a strategy. Staying out on it counts as adherence.</a:t>
            </a:r>
          </a:p>
          <a:p>
            <a:r>
              <a:t>Board meeting notice: A company's advance notice, under NSE or BSE corporate announcements, of the meeting that approves its results.</a:t>
            </a:r>
          </a:p>
          <a:p>
            <a:r>
              <a:t>Overnight event: News that arrives while the market is shut and often shows up as a gap at the next open.</a:t>
            </a:r>
          </a:p>
          <a:p>
            <a:r>
              <a:t>Results season: The weeks after each quarter ends when companies publish results; board-meeting notices can appear any day.</a:t>
            </a:r>
          </a:p>
          <a:p>
            <a:r>
              <a:t>Index rebalance: A change in the list of stocks in an index such as NIFTY 50, announced weeks ahead. Index funds buy the stock coming in and sell the one going out, usually near the close of the last day before the change, so that volume is mechanical, not a signal.</a:t>
            </a:r>
          </a:p>
          <a:p>
            <a:r>
              <a:t>Expiry day: The day an F&amp;O contract ends, set by the exchange (Day 18). The index can be jumpier that day. Stage 1 trades no F&amp;O, so it is a note on your calendar, not a no-trade day.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calendar and no-trade days</a:t>
            </a:r>
          </a:p>
          <a:p>
            <a:r>
              <a:t>Why events matter: Big news lands at once; A gap can turn 1R into 2R; Most dates are public early</a:t>
            </a:r>
          </a:p>
          <a:p>
            <a:r>
              <a:t>Three places: Stock: results, ex-dates; India: RBI, Budget, holidays, expiry; Index change: volume is mechanical; World: Fed, US data, surprise news</a:t>
            </a:r>
          </a:p>
          <a:p>
            <a:r>
              <a:t>Timing: During hours: hurts ORB; Overnight: hurts swing; Confirm official times</a:t>
            </a:r>
          </a:p>
          <a:p>
            <a:r>
              <a:t>Your rules: Results in window: no new swing; RBI or Budget day: no ORB; Keep the list short; Skipped by rule = adherence</a:t>
            </a:r>
          </a:p>
          <a:p>
            <a:r>
              <a:t>Your calendar: Official pages only; AI drafts, you verify; Refresh every Sunday</a:t>
            </a:r>
          </a:p>
          <a:p>
            <a:r>
              <a:t>Your mind: Big-day FOMO; Skipping costs no money</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first 30-day event calendar from official dates only, each with the rule you will follow, and turn one date into a Portfolio row.</a:t>
            </a:r>
          </a:p>
          <a:p/>
          <a:p>
            <a:r>
              <a:t>1. Open a new Google Sheet (or a notebook page) and copy the six column heads from the blank template below: Date, Event, Place and time, Strategy hit, My rule, Source checked. As you add each date in the next steps, write its rule from today's starter table straight away.</a:t>
            </a:r>
          </a:p>
          <a:p>
            <a:r>
              <a:t>2. On nseindia.com, add every trading holiday in your next 30 days from the holiday list, any special session (such as Muhurat trading) from NSE circulars, and the monthly NIFTY expiry date from the option chain's expiry list (Day 18), marked 'note only'.</a:t>
            </a:r>
          </a:p>
          <a:p>
            <a:r>
              <a:t>3. On rbi.org.in find this year's monetary policy meeting schedule, and on federalreserve.gov the Fed's meeting calendar; add each decision day in your 30 days (RBI: the meeting's last day; Fed: write the next Indian trading morning, when it shows up).</a:t>
            </a:r>
          </a:p>
          <a:p>
            <a:r>
              <a:t>4. For three stocks on your paper watchlist, search NSE or BSE corporate announcements and add any results board meeting or ex-date in the next 30 days (if nothing is announced yet, write 'none yet' and recheck on Sunday). Then open the latest NIFTY 50 change announcement on niftyindices.com and note whether any of them is joining or leaving.</a:t>
            </a:r>
          </a:p>
          <a:p>
            <a:r>
              <a:t>5. On the app's Portfolio page, fill one complete row for one of those three stocks, in virtual money only, with all seven parts from Day 12. Use its next results date as the review point (or 'next board-meeting notice' if none is out yet), and 'a results-day gap' as the top risk, with your written rule as the answer.</a:t>
            </a:r>
          </a:p>
          <a:p>
            <a:r>
              <a:t>6. Stretch, about 15 more minutes: run the AI Lab prompt 'Event calendar template' and compare any date or time the AI mentions with your sheet; mark every mismatch Kachra.</a:t>
            </a:r>
          </a:p>
          <a:p/>
          <a:p>
            <a:r>
              <a:t>By the end: By the end you can explain why scheduled events cause gaps and sharp swings, sort any event by where it comes from and when it lands, write no-trade rules that fit each strategy, build a 30-day event calendar from official sources, and turn one date into a complete Portfolio row.</a:t>
            </a:r>
          </a:p>
          <a:p/>
          <a:p>
            <a:r>
              <a:t>Tools: NSE and BSE websites (nseindia.com, bseindia.com); NIFTY Indices website (niftyindices.com); RBI and US Fed websites (rbi.org.in, federalreserve.gov); Google Sheets or Google Calendar; The app's Portfolio page; Any AI chat</a:t>
            </a:r>
          </a:p>
          <a:p/>
          <a:p>
            <a:r>
              <a:t>Educational content only, not investment advice. Stage 1 uses virtual money only. Company names, dates and chart prices are made up for illustration; confirm real event dates and times on the official NSE, BSE, NSE Indices, RBI, government, US Federal Reserve or US Bureau of Labor Statistics page.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first 30-day event calendar from official dates only, each with the rule you will follow, and turn one date into a Portfolio row.</a:t>
            </a:r>
          </a:p>
          <a:p/>
          <a:p>
            <a:r>
              <a:t>1. Open a new Google Sheet (or a notebook page) and copy the six column heads from the blank template below: Date, Event, Place and time, Strategy hit, My rule, Source checked. As you add each date in the next steps, write its rule from today's starter table straight away.</a:t>
            </a:r>
          </a:p>
          <a:p>
            <a:r>
              <a:t>2. On nseindia.com, add every trading holiday in your next 30 days from the holiday list, any special session (such as Muhurat trading) from NSE circulars, and the monthly NIFTY expiry date from the option chain's expiry list (Day 18), marked 'note only'.</a:t>
            </a:r>
          </a:p>
          <a:p>
            <a:r>
              <a:t>3. On rbi.org.in find this year's monetary policy meeting schedule, and on federalreserve.gov the Fed's meeting calendar; add each decision day in your 30 days (RBI: the meeting's last day; Fed: write the next Indian trading morning, when it shows up).</a:t>
            </a:r>
          </a:p>
          <a:p>
            <a:r>
              <a:t>4. For three stocks on your paper watchlist, search NSE or BSE corporate announcements and add any results board meeting or ex-date in the next 30 days (if nothing is announced yet, write 'none yet' and recheck on Sunday). Then open the latest NIFTY 50 change announcement on niftyindices.com and note whether any of them is joining or leaving.</a:t>
            </a:r>
          </a:p>
          <a:p>
            <a:r>
              <a:t>5. On the app's Portfolio page, fill one complete row for one of those three stocks, in virtual money only, with all seven parts from Day 12. Use its next results date as the review point (or 'next board-meeting notice' if none is out yet), and 'a results-day gap' as the top risk, with your written rule as the answer.</a:t>
            </a:r>
          </a:p>
          <a:p>
            <a:r>
              <a:t>6. Stretch, about 15 more minutes: run the AI Lab prompt 'Event calendar template' and compare any date or time the AI mentions with your sheet; mark every mismatch Kachra.</a:t>
            </a:r>
          </a:p>
          <a:p/>
          <a:p>
            <a:r>
              <a:t>By the end: By the end you can explain why scheduled events cause gaps and sharp swings, sort any event by where it comes from and when it lands, write no-trade rules that fit each strategy, build a 30-day event calendar from official sources, and turn one date into a complete Portfolio row.</a:t>
            </a:r>
          </a:p>
          <a:p/>
          <a:p>
            <a:r>
              <a:t>Tools: NSE and BSE websites (nseindia.com, bseindia.com); NIFTY Indices website (niftyindices.com); RBI and US Fed websites (rbi.org.in, federalreserve.gov); Google Sheets or Google Calendar; The app's Portfolio page; Any AI chat</a:t>
            </a:r>
          </a:p>
          <a:p/>
          <a:p>
            <a:r>
              <a:t>Educational content only, not investment advice. Stage 1 uses virtual money only. Company names, dates and chart prices are made up for illustration; confirm real event dates and times on the official NSE, BSE, NSE Indices, RBI, government, US Federal Reserve or US Bureau of Labor Statistics page.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30-day event calendar (model)</a:t>
            </a:r>
          </a:p>
          <a:p/>
          <a:p>
            <a:r>
              <a:t>All dates and names are made up. Confirm every real date on the official page before you write it down.</a:t>
            </a:r>
          </a:p>
          <a:p/>
          <a:p>
            <a:r>
              <a:t>Date | Event | Place, time | Strategy hit | My rule | Source checked</a:t>
            </a:r>
          </a:p>
          <a:p>
            <a:r>
              <a:t>6th | RBI policy decision | India, ~10 am | ORB | No ORB today | RBI site, yes</a:t>
            </a:r>
          </a:p>
          <a:p>
            <a:r>
              <a:t>7th (Fri) | US inflation data | World, evening: Mon 10th open | Swing | Note only; stops stay | bls.gov, yes</a:t>
            </a:r>
          </a:p>
          <a:p>
            <a:r>
              <a:t>12th | Kiran Foods Ltd results | Stock, time not given | Both | No new swing entry; if holding, exit before the close on the 11th; no ORB in it on the 12th | NSE notice, yes</a:t>
            </a:r>
          </a:p>
          <a:p>
            <a:r>
              <a:t>18th | Sharma Textiles Ltd ex-dividend, Rs 5 | Stock, at the open | Swing | About Rs 5 drop = adjustment, not a signal | NSE actions, yes</a:t>
            </a:r>
          </a:p>
          <a:p>
            <a:r>
              <a:t>19th | US Fed decision | World, night: 20th open | Swing | Note only; stops stay | Fed site, yes</a:t>
            </a:r>
          </a:p>
          <a:p>
            <a:r>
              <a:t>21st (Fri) | Exchange holiday | India, 3 days shut | Swing | Note: a longer overnight | NSE list, yes</a:t>
            </a:r>
          </a:p>
          <a:p>
            <a:r>
              <a:t>25th | NIFTY monthly F&amp;O expiry | India, market hours | None: no F&amp;O | Note only, no block | Option chain, yes</a:t>
            </a:r>
          </a:p>
          <a:p>
            <a:r>
              <a:t>27th | Last day before Desai Power Ltd joins NIFTY 50 | Index, near the close | Swing | Note only: close volume is index funds, not a breakout | niftyindices.com, yes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30-day event calendar (template)</a:t>
            </a:r>
          </a:p>
          <a:p/>
          <a:p>
            <a:r>
              <a:t>Copy it into a Google Sheet or your notebook. Tick 'Source checked' only after you have seen the date on the official page yourself. Refresh it every Sunday.</a:t>
            </a:r>
          </a:p>
          <a:p/>
          <a:p>
            <a:r>
              <a:t>Date | Event | Place, time | Strategy hit | My rule | Source checked</a:t>
            </a:r>
          </a:p>
          <a:p>
            <a:r>
              <a:t>+ 10 ___</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Calendar treasure hunt: set a 10-minute timer and find three dates on official pages: the next NSE market holiday, the next RBI policy decision, and one board meeting for a stock on your watchlist (or confirm that none is announced yet). Screenshot each source page. With classmates, compare answers; if two people found different dates, work out which page was right and why. Alone? Try to beat your own time next Sunday.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Event calendar template</a:t>
            </a:r>
          </a:p>
          <a:p>
            <a:r>
              <a:t>Build a blank 30-day event calendar template for an Indian beginner who paper-trades NSE cash stocks with two strategies: an EMA pullback swing strategy that holds positions overnight, and an optional opening range breakout that is intraday only. Use six columns: Date, Event, Place and time (my stock / Indian market / index / world; during market hours / overnight), Strategy affected (swing / ORB / both / none), My rule, Source checked (Y/N). Include example rows, with the date left blank, for these event types: company results and board meetings, dividend/bonus/split ex-dates, RBI monetary policy decisions, the Union Budget, exchange holidays and special sessions, F&amp;O expiry days, NIFTY 50 index changes, US Federal Reserve decisions and US inflation and jobs reports. For each event type, name the official page where I can confirm the date, such as the NSE holiday list, the expiry list in the NSE option chain, NSE or BSE corporate announcements, NSE Indices press releases on niftyindices.com, the RBI press release, the official Union Budget announcement, the Federal Reserve's meeting calendar or the US Bureau of Labor Statistics release calendar. Mark expiry days and index-change days 'note only' unless I tell you otherwise. Do not fill in any dates yourself. If you mention a typical time of day, label it Guess and tell me where to confirm it. Do not recommend any stock, do not predict what any event will announce or how the market will move, and do not give buy or sell advice, targets or return expectations.</a:t>
            </a:r>
          </a:p>
          <a:p/>
          <a:p>
            <a:r>
              <a:t>Prompt 2: Event or noise?</a:t>
            </a:r>
          </a:p>
          <a:p>
            <a:r>
              <a:t>I will paste up to 10 items I collected about the coming month: headlines, forwarded messages and my own notes. Before pasting, I will remove names, phone numbers, group names, links and any personal details. If an item tells me to buy or sell a stock, or gives a price target or a return, label it Kachra and do not discuss it as a trade. A dated company event, such as a results board meeting or an ex-date, is fine to sort. For each item, tell me: (1) is it a scheduled event with a date I can verify, or just noise; (2) place: one stock, the Indian market, or the world; (3) timing: during Indian market hours or overnight; (4) which kind of trade it matters for: an overnight swing trade, an intraday opening-range trade, or neither. Label every claim in your answer Fact (I can confirm it on an official site you name), Guess (plausible but unconfirmed) or Kachra (rumour, hype, or something nobody can know in advance, such as what a policy will announce). Do not predict outcomes or market direction, do not recommend any stock, and do not give buy or sell advice, targets or return expectations.</a:t>
            </a:r>
          </a:p>
          <a:p/>
          <a:p>
            <a:r>
              <a:t>Prompt 3: Big-day FOMO check</a:t>
            </a:r>
          </a:p>
          <a:p>
            <a:r>
              <a:t>Act as a calm trading-psychology coach. Ask me 5 short questions, one at a time, about how I feel and behave on big market days such as Budget day, an RBI policy day or a results day for a stock I follow: what I watch, whom I listen to, and what I did the last time I felt I might miss out. After my answers, summarise in plain words where FOMO is pulling me, and help me write one short line for my Rule Card that says what I will do instead of trading on such days. Do not ask for any personal or financial details, do not predict any event or market move,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holds 250 shares of Bharat Pumps Ltd, bought at Rs 800 with a stop at Rs 760, so 1R = Rs 10,000. Results come out after the close, and the next morning the stock opens at Rs 680. His stop fills at the open. What did the trade lose?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day's leave from office, Aman paper-trades the optional ORB in a liquid cash stock. Today the RBI's policy decision is due at about 10 am, and his opening range forms from 9:15 to 9:30. What does a sensible no-trade list tell him?</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hold a swing position overnight. Which event is most likely to hit it as a gap at the next open, rather than as sharp moves during market hours?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 chat tells you that Kiran Foods Ltd will announce its results on the 14th. Before you mark a no-trade rule on that date, what should you do?</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year later, Aman again takes Budget day off to paper-trade ORB, but his calendar marks it as a no-trade day for ORB, so he stays out. By the close NIFTY 50 is up 1%. How should he log the day in his journal?</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Which date on your new calendar pulls at you the most, and why? Write the exact rule you will follow that day, and count how many trading days your rules block in the next 30. Is that a list you will actually obey?</a:t>
            </a:r>
          </a:p>
          <a:p/>
          <a:p>
            <a:r>
              <a:t>Today you put the market's big days on paper before they arrived. Deciding calmly on a Sunday is what lets you stay calm on a Budget morning.</a:t>
            </a:r>
          </a:p>
          <a:p/>
          <a:p>
            <a:r>
              <a:t>Next: Day 20 · Trading psychology and your Daily Routine Card</a:t>
            </a:r>
          </a:p>
          <a:p/>
          <a:p>
            <a:r>
              <a:t>Educational content only, not investment advice. Stage 1 uses virtual money only. Company names, dates and chart prices are made up for illustration; confirm real event dates and times on the official NSE, BSE, NSE Indices, RBI, government, US Federal Reserve or US Bureau of Labor Statistics page.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20: Trading psychology and your Daily Routine Card</a:t>
            </a:r>
          </a:p>
          <a:p/>
          <a:p>
            <a:r>
              <a:t>Concept: Seven biases that break rules, and a routine that catches them</a:t>
            </a:r>
          </a:p>
          <a:p>
            <a:r>
              <a:t>AI Lab: End-of-day process review: AI checks the process, never picks trades</a:t>
            </a:r>
          </a:p>
          <a:p>
            <a:r>
              <a:t>Mindset: The ego after a loss</a:t>
            </a:r>
          </a:p>
          <a:p/>
          <a:p>
            <a:r>
              <a:t>By the end: By the end you can name seven biases that break trading rules and write an answer to each, find your costliest emotion in your journal, set a kill-switch that is hard to break, run a four-block Daily Routine Card, and spot the warning signs that trading is turning into gambling.</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win it all back today</a:t>
            </a:r>
          </a:p>
          <a:p/>
          <a:p>
            <a:r>
              <a:t>(Thursday, 8 pm. Aman joins the class call with his paper-trading sheet open. The last two rows are deep red.)</a:t>
            </a:r>
          </a:p>
          <a:p>
            <a:r>
              <a:t>Aman: Sir, yesterday my Bharat Pumps trade hit its stop: minus Rs 10,000, exactly 1R, as planned. But it felt like the market had made a fool of me. So this morning, during a meeting, I bought two other stocks at double size to win it back. No setup. Both hit their stops by lunch.</a:t>
            </a:r>
          </a:p>
          <a:p>
            <a:r>
              <a:t>Mentor: Today alone is -4R, twice your -2R daily stop. With yesterday, that is -5R, Rs 50,000 of virtual money: you have hit the weekly pause, and it is only Thursday. One question, Aman. After the first loss, were you following your card, or trying to prove the market wrong?</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win it all back today</a:t>
            </a:r>
          </a:p>
          <a:p/>
          <a:p>
            <a:r>
              <a:t>Aman: ...Proving it wrong. It felt personal.</a:t>
            </a:r>
          </a:p>
          <a:p>
            <a:r>
              <a:t>Priya: Sir, I did something similar, only smaller. My stop was about to be hit, so I moved it lower, just so I would not have to write a loss in my journal. Is that the same thing?</a:t>
            </a:r>
          </a:p>
          <a:p>
            <a:r>
              <a:t>Mentor: Same root, different branch. A loss hurts our pride more than our pocket, so we try to erase it. Today we build a routine that catches you in that moment, because that is exactly when willpower leaves the room.</a:t>
            </a:r>
          </a:p>
          <a:p/>
          <a:p>
            <a:r>
              <a:t>The lesson: A loss is the price of one trade, not a verdict on you. Build the routine on a calm day so it protects you on an angry one.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ego after a loss: revenge trading</a:t>
            </a:r>
          </a:p>
          <a:p/>
          <a:p>
            <a:r>
              <a:t>A loss costs money once and pride a second time, and the pride often hurts more. Ego here means the part of us that needs to be right. When a stop is hit (traders call this a stop-out), the ego wants a quick win to cancel the loss, so we take a revenge trade: a trade taken to win money back, not because a rule gave a setup. Revenge trades are usually bigger, faster and taken without a proper look at the chart, so they tend to lose more than a normal trade. The fix starts with language: say 'the trade lost 1R', not 'I lost'. And remember Day 14: a loss that followed every rule is a correct trade.</a:t>
            </a:r>
          </a:p>
          <a:p/>
          <a:p>
            <a:r>
              <a:t>Example: Replay Aman's two days with his card. His week began at 0R; the Gupta Cement gap from Day 19 came the week before. Yesterday's stop: -1R, Rs 10,000. Today there was no setup, so the card says no trade, and his week would stand at -1R. His ego's version: two trades at double size, -2R each, so -1R - 2R - 2R = -5R, Rs 50,000, the whole weekly pause reached by Thursday. The gap between the two versions, Rs 40,000, was not the market's doing; it was the ego's bill. A simple cooling-off rule after any stop-out: close the chart, fill the journal row with an emotion tag, and wait 10 minutes; after that, only a trade already on last night's plan card. (To keep the sums simple, R here is before Day 12's 0.1R cost allowance per trade.)</a:t>
            </a:r>
          </a:p>
          <a:p/>
          <a:p>
            <a:r>
              <a:t>Remember: The market does not know you exist. A stop-out is a cost, not an insult.</a:t>
            </a:r>
          </a:p>
          <a:p/>
          <a:p>
            <a:r>
              <a:t>On the slide: The revenge loop · Without a kill-switch, the fourth box leads straight back to the second. The -2R daily stop cuts the loop.</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FOMO and overtrading: your journal names the enemy</a:t>
            </a:r>
          </a:p>
          <a:p/>
          <a:p>
            <a:r>
              <a:t>FOMO, the fear of missing out, is the pull to jump into a move that has already run, without your setup. It is like running after a Mumbai local that has left the platform: you might catch it, you might fall, and the next one comes in a few minutes. Overtrading means taking more trades than your rules produce, often out of boredom or the itch for action, like snacking when you are not hungry. Each extra trade pays costs and slippage (Day 2), and without an edge it drags your expectancy down (Day 3). You do not have to guess which enemy is yours. Since Day 12 your journal has tagged every trade with an emotion; add up the R for each tag and the enemy names itself.</a:t>
            </a:r>
          </a:p>
          <a:p/>
          <a:p>
            <a:r>
              <a:t>Example: Aman adds up his 20 paper trades since Day 12. Only 8 came from his rule card, tagged 'calm': +2.4R. The other 12 were 6 FOMO trades (-2.1R), 4 'bored' trades (-1.6R) and 2 'angry' trades, this morning's revenge pair (-4.0R), together -7.7R. His total is -5.3R, or -Rs 53,000 of virtual money, while the 8 rule trades alone show +2.4R. Twenty trades in under two weeks, on a swing plan that allows three open trades at a time, is itself a clue: his rule card produced only 8. FOMO is his most frequent enemy; anger is his most expensive, at -2.0R a trade.</a:t>
            </a:r>
          </a:p>
          <a:p/>
          <a:p>
            <a:r>
              <a:t>Remember: Your rules decide how many trades you take. Boredom and fear do not get a vote.</a:t>
            </a:r>
          </a:p>
          <a:p/>
          <a:p>
            <a:r>
              <a:t>On the slide: Aman's R by emotion tag · 20 hypothetical paper trades, count in brackets; R before the 0.1R cost allowance. Only the calm, on-rule trades added R.</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quiet biases that bend your rules</a:t>
            </a:r>
          </a:p>
          <a:p/>
          <a:p>
            <a:r>
              <a:t>A bias is a built-in shortcut in thinking that pulls every human the same wrong way. Revenge, FOMO and overtrading are the loud traps; these four are quiet. Strictly, the loud three are habits driven by emotion and the quiet four are biases; for short, this lesson calls all seven biases. Loss aversion: studies of behaviour suggest a loss hurts roughly twice as much as an equal gain pleases, so we move stops to avoid booking one. Sunk cost: money already lost makes us hold on 'until it comes back', though the market does not know our buying price. Confirmation bias: after entering, we hunt for posts and videos that agree and skip the ones that do not. Recency: the last three trades feel like the whole truth, so we drop a rule after a short losing streak. Each bias needs a written answer on your card, decided while you are calm.</a:t>
            </a:r>
          </a:p>
          <a:p/>
          <a:p>
            <a:r>
              <a:t>Example: Loss aversion: Priya's paper trade in Desai Power Ltd, 500 shares at Rs 500 (her maximum planned entry was also Rs 500, so the 25% cap allowed exactly 500), stop Rs 480, so 1R = Rs 10,000. At Rs 483 she moved the stop to Rs 460 'to give it room'; the price fell through Rs 480 and then Rs 460, so she lost 500 x Rs 40 = Rs 20,000, which is 2R. Sunk cost: her paper trade in Sharma Textiles Ltd, 400 shares at Rs 600, stop Rs 575, reaches its 15-day time exit at Rs 580, down 400 x Rs 20 = Rs 8,000 (0.8R). Everything in her wants to hold 'until it gets back to 600'. Her card asks: 'If I did not own it, would I buy it today?' There is no setup, so she exits: -0.8R, rule followed. Confirmation: after chasing Kiran Foods Ltd, Aman saves three videos that praise it and scrolls past a company filing saying its biggest customer has cut orders. The card line that answers it: 'Each week, one view against every open trade, checked against its Why-stop.' Recency: at a 40% win-rate, any three trades all lose about 22% of the time (0.6 x 0.6 x 0.6 = 0.216), so a three-loss streak says very little about a rule on its own.</a:t>
            </a:r>
          </a:p>
          <a:p/>
          <a:p>
            <a:r>
              <a:t>Remember: Once a trade is on, the stop stays where your plan card put it. Never move it down to dodge a loss.</a:t>
            </a:r>
          </a:p>
          <a:p/>
          <a:p>
            <a:r>
              <a:t>On the slide: The stop that moved · Exiting at the planned stop near Rs 480 would have cost -1R. After the stop moved, the exit near Rs 460 cost -2R.</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kill-switch for humans: design, not willpower</a:t>
            </a:r>
          </a:p>
          <a:p/>
          <a:p>
            <a:r>
              <a:t>Day 9 gave you the kill-switch: stop for the day at -2R, and pause and review after -5R in a week. Think of the MCB, the small circuit breaker in your home's switchboard: it trips before the wiring burns, and nobody argues with it. The trouble is that you must flip your own switch, at the very moment your judgement is weakest. So do not rely on willpower; design your day so that breaking the rule takes effort. Add one rule about your body too: no new trades when you are angry, unwell or short of sleep. A tired brain is a poor risk manager.</a:t>
            </a:r>
          </a:p>
          <a:p/>
          <a:p>
            <a:r>
              <a:t>Example: On Rs 10 lakh of virtual capital, 1R = Rs 10,000, so Aman writes at the top of his card: 'Daily stop: -Rs 20,000. Weekly pause: -Rs 50,000.' Then he designs his day. The chart and paper-trading apps leave his phone's home screen during office hours, and he exits every tip group. Alerts are set only at the entry and stop levels from last night's plan card. He opens a journal row before every order, not after. And he and Priya text each other 'stopped for today' when the switch trips. None of this needs courage in the moment; it was all decided on a calm Sunday.</a:t>
            </a:r>
          </a:p>
          <a:p/>
          <a:p>
            <a:r>
              <a:t>Remember: Discipline is not a feeling in the moment. It is a decision made earlier and written down.</a:t>
            </a:r>
          </a:p>
          <a:p/>
          <a:p>
            <a:r>
              <a:t>On the slide: Willpower vs design · Design, not willpower: build the day so that the right action is also the easy one.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Daily Routine Card: four blocks, every day</a:t>
            </a:r>
          </a:p>
          <a:p/>
          <a:p>
            <a:r>
              <a:t>The Daily Routine Card is one page, beside your screen or as a photo on your phone, that says what to do and when. It has four blocks. Before the bell, 10 minutes (say 8:45 to 8:55, before the 9:00 pre-open): check your Day 19 calendar for a no-trade day, read yesterday's journal line, write your daily stop, check your sleep and mood, and write 'Today's job: follow the card.' During market hours: alerts and your checklist only, no tip groups, no news debates. After the close, 20 minutes: fill the journal (no-trade days too), scan the finished daily candles (Day 16), write tomorrow's plan card for any setup, and run the end-of-day AI review. At the weekend, 30 minutes: review the week; a rule changes only then, in writing, and only after 30 logged trades (Day 12).</a:t>
            </a:r>
          </a:p>
          <a:p/>
          <a:p>
            <a:r>
              <a:t>Example: Priya's weekend block asks the same five questions every Saturday. Out of all my decisions, no-trade days included, how many kept every rule? Which emotion tag cost the most R? Did the daily stop or the weekly pause fire, and did I obey it? Which one habit do I fix next week? What did I do well? Her first card took 25 minutes to write. Now each block fits the time printed on it, and on a day with no setup the card still gets its tick: a no-trade day counts as following the rules. Her whole card, filled in, is in today's task, with a blank one for you.</a:t>
            </a:r>
          </a:p>
          <a:p/>
          <a:p>
            <a:r>
              <a:t>Remember: Plan before the bell, follow the card during the session, review after the close.</a:t>
            </a:r>
          </a:p>
          <a:p/>
          <a:p>
            <a:r>
              <a:t>On the slide: A day on the card · Swing traders with a day job do the first block before work and the after-close block in the evening. The times are a template: fit them to your day.</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protection checklist: guard the money and the mind</a:t>
            </a:r>
          </a:p>
          <a:p/>
          <a:p>
            <a:r>
              <a:t>Your money needs five checks, all from Week 1. Verify any adviser or analyst on sebi.gov.in before you pay; pay only into an account in that registered name, checked on SEBI Check (Day 7); never share an OTP, TPIN or password; complain first at the broker's or adviser's own grievance desk, then on SCORES or SMART ODR; and report fraud at cybercrime.gov.in or on 1930. Your mind needs checks too, because trading can slide into gambling without anyone noticing. The warning signs are borrowing to trade, hiding losses from family, chasing losses, losing sleep over positions and trading in secret at work. If you see even one, stop trading for a week, tell someone you trust, and if it still feels heavy, talk to a counsellor or call Tele-MANAS, the government's free mental-health helpline, on 14416. Asking for help is a strong move, not a weak one.</a:t>
            </a:r>
          </a:p>
          <a:p/>
          <a:p>
            <a:r>
              <a:t>Example: Aman looks honestly at his week: two trades placed in secret during office meetings, and a thought of taking a Rs 50,000 card loan 'to do it with real money and win it all back'. That makes three warning signs: chasing losses, trading in secret at work and planning to borrow. He stops paper trading for a full week, which also covers the -5R weekly pause he has already hit, tells Priya and his elder brother, and adds a line to his card: 'No trading money from loans or cards, ever.' Stage 1 runs on virtual money, which makes it the cheapest place to catch a habit like this.</a:t>
            </a:r>
          </a:p>
          <a:p/>
          <a:p>
            <a:r>
              <a:t>Remember: Protect the money with checks and the mind with people. Neither has to be done alone.</a:t>
            </a:r>
          </a:p>
          <a:p/>
          <a:p>
            <a:r>
              <a:t>On the slide: If a warning sign shows up · Tele-MANAS: 14416, free, 24x7, in many Indian languages. Check the latest details at telemanas.mohfw.gov.in.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Revenge trade: A trade taken to win back a loss, not because a rule gave a setup. Usually bigger and hastier than normal.</a:t>
            </a:r>
          </a:p>
          <a:p>
            <a:r>
              <a:t>FOMO: Fear of missing out: jumping into a move that has already run, without your setup.</a:t>
            </a:r>
          </a:p>
          <a:p>
            <a:r>
              <a:t>Loss aversion: A loss hurts more than an equal gain pleases, so we avoid booking losses, for example by moving a stop.</a:t>
            </a:r>
          </a:p>
          <a:p>
            <a:r>
              <a:t>Sunk cost: Money already lost. It should not decide today's choice, because the market does not know your buying price.</a:t>
            </a:r>
          </a:p>
          <a:p>
            <a:r>
              <a:t>Confirmation bias: Looking only for views that agree with a trade you have already taken.</a:t>
            </a:r>
          </a:p>
          <a:p>
            <a:r>
              <a:t>Recency bias: Giving the last few trades too much weight, such as dropping a rule after three losses.</a:t>
            </a:r>
          </a:p>
          <a:p>
            <a:r>
              <a:t>Daily Routine Card: One page that says what to do and when: your kill-switch at the top, four timed blocks, a written answer to each of the seven biases, and your protection checklist.</a:t>
            </a:r>
          </a:p>
          <a:p>
            <a:r>
              <a:t>Kill-switch for humans: Your written stop for the day (-2R) and pause for the week (-5R), in rupees, decided on a calm day so that you never have to decide it in the heat of a loss.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Mind and routine</a:t>
            </a:r>
          </a:p>
          <a:p>
            <a:r>
              <a:t>The loud three: Revenge: win-it-back trades; FOMO: chasing a move that left; Overtrading: trades from boredom; Journal tags name the enemy</a:t>
            </a:r>
          </a:p>
          <a:p>
            <a:r>
              <a:t>The quiet four: Loss aversion: the moved stop; Sunk cost: 'till it comes back'; Confirmation: only views that agree; Recency: judging by three trades</a:t>
            </a:r>
          </a:p>
          <a:p>
            <a:r>
              <a:t>Kill-switch: -2R: done for the day; -5R: pause and review; No trades when angry, ill or tired; Design, not willpower</a:t>
            </a:r>
          </a:p>
          <a:p>
            <a:r>
              <a:t>Routine Card: Before the bell: 10 minutes; Market hours: alerts only; After the close: journal, plan, AI review; Weekend: five questions</a:t>
            </a:r>
          </a:p>
          <a:p>
            <a:r>
              <a:t>Protection: SEBI check before paying; OTP and TPIN stay with you; Warning sign: stop, tell, get help</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Daily Routine Card: find your costliest emotion, set the kill-switch in rupees, answer all seven biases and add your protection checklist.</a:t>
            </a:r>
          </a:p>
          <a:p/>
          <a:p>
            <a:r>
              <a:t>1. Open your Day 12 journal sheet in Google Sheets. For each emotion tag since Day 12, add up the R and count the trades, then divide to get R per trade. Highlight the tag that cost the most R per trade.</a:t>
            </a:r>
          </a:p>
          <a:p>
            <a:r>
              <a:t>2. Copy the blank Daily Routine Card from today's task onto one page or a Google Sheet, and fill the four blocks with your own times: before the bell, market hours, after the close and the weekend.</a:t>
            </a:r>
          </a:p>
          <a:p>
            <a:r>
              <a:t>3. At the top, write your kill-switch in rupees and R: on Rs 10 lakh, daily stop -Rs 20,000 (-2R) and weekly pause -Rs 50,000 (-5R), plus the body rule: no new trades when angry, unwell or short of sleep.</a:t>
            </a:r>
          </a:p>
          <a:p>
            <a:r>
              <a:t>4. Under it, write a one-line answer to each of the seven in your own words, for example 'After any stop-out, chart closed for 10 minutes' (revenge), 'No setup, no trade' (FOMO, overtrading), 'My buying price is not a level' (sunk cost) and 'I judge a rule only after 30 trades' (recency). Priya's card shows all seven.</a:t>
            </a:r>
          </a:p>
          <a:p>
            <a:r>
              <a:t>5. At the bottom, copy the five money checks and the warning signs from Priya's card, with Tele-MANAS 14416 beside them.</a:t>
            </a:r>
          </a:p>
          <a:p>
            <a:r>
              <a:t>6. Run the AI Lab prompt 'End-of-day process review' on this week's journal rows: now if the market has closed, otherwise this evening after 3:30 pm. Paste only the ten journal columns, never names, account numbers or personal details.</a:t>
            </a:r>
          </a:p>
          <a:p/>
          <a:p>
            <a:r>
              <a:t>By the end: By the end you can name seven biases that break trading rules and write an answer to each, find your costliest emotion in your journal, set a kill-switch that is hard to break, run a four-block Daily Routine Card, and spot the warning signs that trading is turning into gambling.</a:t>
            </a:r>
          </a:p>
          <a:p/>
          <a:p>
            <a:r>
              <a:t>Tools: Your Day 12 journal sheet (Google Sheets); Paper or Google Sheets for the card; Any AI chat; SEBI website (sebi.gov.in) and Tele-MANAS (14416)</a:t>
            </a:r>
          </a:p>
          <a:p/>
          <a:p>
            <a:r>
              <a:t>Educational content only, not investment advice and not counselling. Company names, prices and paper results in this lesson are made up for illustration; paper results are hypothetical, and past performance is not indicative of future results. For mental-health support, call Tele-MANAS on 14416.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Daily Routine Card: find your costliest emotion, set the kill-switch in rupees, answer all seven biases and add your protection checklist.</a:t>
            </a:r>
          </a:p>
          <a:p/>
          <a:p>
            <a:r>
              <a:t>1. Open your Day 12 journal sheet in Google Sheets. For each emotion tag since Day 12, add up the R and count the trades, then divide to get R per trade. Highlight the tag that cost the most R per trade.</a:t>
            </a:r>
          </a:p>
          <a:p>
            <a:r>
              <a:t>2. Copy the blank Daily Routine Card from today's task onto one page or a Google Sheet, and fill the four blocks with your own times: before the bell, market hours, after the close and the weekend.</a:t>
            </a:r>
          </a:p>
          <a:p>
            <a:r>
              <a:t>3. At the top, write your kill-switch in rupees and R: on Rs 10 lakh, daily stop -Rs 20,000 (-2R) and weekly pause -Rs 50,000 (-5R), plus the body rule: no new trades when angry, unwell or short of sleep.</a:t>
            </a:r>
          </a:p>
          <a:p>
            <a:r>
              <a:t>4. Under it, write a one-line answer to each of the seven in your own words, for example 'After any stop-out, chart closed for 10 minutes' (revenge), 'No setup, no trade' (FOMO, overtrading), 'My buying price is not a level' (sunk cost) and 'I judge a rule only after 30 trades' (recency). Priya's card shows all seven.</a:t>
            </a:r>
          </a:p>
          <a:p>
            <a:r>
              <a:t>5. At the bottom, copy the five money checks and the warning signs from Priya's card, with Tele-MANAS 14416 beside them.</a:t>
            </a:r>
          </a:p>
          <a:p>
            <a:r>
              <a:t>6. Run the AI Lab prompt 'End-of-day process review' on this week's journal rows: now if the market has closed, otherwise this evening after 3:30 pm. Paste only the ten journal columns, never names, account numbers or personal details.</a:t>
            </a:r>
          </a:p>
          <a:p/>
          <a:p>
            <a:r>
              <a:t>By the end: By the end you can name seven biases that break trading rules and write an answer to each, find your costliest emotion in your journal, set a kill-switch that is hard to break, run a four-block Daily Routine Card, and spot the warning signs that trading is turning into gambling.</a:t>
            </a:r>
          </a:p>
          <a:p/>
          <a:p>
            <a:r>
              <a:t>Tools: Your Day 12 journal sheet (Google Sheets); Paper or Google Sheets for the card; Any AI chat; SEBI website (sebi.gov.in) and Tele-MANAS (14416)</a:t>
            </a:r>
          </a:p>
          <a:p/>
          <a:p>
            <a:r>
              <a:t>Educational content only, not investment advice and not counselling. Company names, prices and paper results in this lesson are made up for illustration; paper results are hypothetical, and past performance is not indicative of future results. For mental-health support, call Tele-MANAS on 14416.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Daily Routine Card: her day (model)</a:t>
            </a:r>
          </a:p>
          <a:p/>
          <a:p>
            <a:r>
              <a:t>On Rs 10 lakh of virtual capital, 1R = Rs 10,000. Priya's office hours rule out live ORB, so her card is built for swing trading, with the after-close block at 7 pm.</a:t>
            </a:r>
          </a:p>
          <a:p/>
          <a:p>
            <a:r>
              <a:t>Part | When | What she does</a:t>
            </a:r>
          </a:p>
          <a:p>
            <a:r>
              <a:t>Daily stop | -2R | At -Rs 20,000: screen off till tomorrow</a:t>
            </a:r>
          </a:p>
          <a:p>
            <a:r>
              <a:t>Weekly pause | -5R | At -Rs 50,000: no new trades; review at the weekend</a:t>
            </a:r>
          </a:p>
          <a:p>
            <a:r>
              <a:t>Body rule | Every morning | Angry, unwell or short of sleep: no new trades today</a:t>
            </a:r>
          </a:p>
          <a:p>
            <a:r>
              <a:t>Before the bell | 8:45-8:55 | Day 19 calendar: no-trade day? Yesterday's journal line. Daily stop in rupees. Sleep and mood. 'Today's job: follow the card.'</a:t>
            </a:r>
          </a:p>
          <a:p>
            <a:r>
              <a:t>Market hours | 9:15-15:30 | Alerts at plan-card levels and the checklist only. No tip groups, no news debates.</a:t>
            </a:r>
          </a:p>
          <a:p>
            <a:r>
              <a:t>After the close | 19:00-19:20 | Journal row (no-trade days too), daily-close scan, tomorrow's plan card, end-of-day AI review</a:t>
            </a:r>
          </a:p>
          <a:p>
            <a:r>
              <a:t>Weekend | Saturday, 30 min | Five questions. A rule changes only here, in writing, after 30 trades.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card: seven answers and her protection checklist (model)</a:t>
            </a:r>
          </a:p>
          <a:p/>
          <a:p>
            <a:r>
              <a:t>Write the seven answers in your own words. The five money checks and the warning signs are the same for everyone: copy them as they are.</a:t>
            </a:r>
          </a:p>
          <a:p/>
          <a:p>
            <a:r>
              <a:t>Guard against | Her card line</a:t>
            </a:r>
          </a:p>
          <a:p>
            <a:r>
              <a:t>Revenge | After any stop-out: chart closed, journal row filled, 10-minute wait; then only a trade already on last night's plan card</a:t>
            </a:r>
          </a:p>
          <a:p>
            <a:r>
              <a:t>FOMO | No setup, no trade. A missed move goes in the journal, not into an order.</a:t>
            </a:r>
          </a:p>
          <a:p>
            <a:r>
              <a:t>Overtrading | Trades come only from the evening scan and the plan card; never more than 3 open</a:t>
            </a:r>
          </a:p>
          <a:p>
            <a:r>
              <a:t>Loss aversion | My stop stays where my plan card put it</a:t>
            </a:r>
          </a:p>
          <a:p>
            <a:r>
              <a:t>Sunk cost | My buying price is not a level. At the time exit I ask: would I buy it today?</a:t>
            </a:r>
          </a:p>
          <a:p>
            <a:r>
              <a:t>Confirmation | Each week, one view against every open trade, checked against its Why-stop</a:t>
            </a:r>
          </a:p>
          <a:p>
            <a:r>
              <a:t>Recency | I judge a rule only after 30 trades</a:t>
            </a:r>
          </a:p>
          <a:p>
            <a:r>
              <a:t>Money: fake adviser | Verify any adviser or analyst on sebi.gov.in before paying</a:t>
            </a:r>
          </a:p>
          <a:p>
            <a:r>
              <a:t>Money: wrong payee | Pay only into an account in the registered name, checked on SEBI Check</a:t>
            </a:r>
          </a:p>
          <a:p>
            <a:r>
              <a:t>Money: account takeover | OTP, TPIN and passwords never leave me</a:t>
            </a:r>
          </a:p>
          <a:p>
            <a:r>
              <a:t>Money: a dispute | Grievance desk first, then SCORES, then SMART ODR</a:t>
            </a:r>
          </a:p>
          <a:p>
            <a:r>
              <a:t>Money: fraud | Report at cybercrime.gov.in or call 1930 at once</a:t>
            </a:r>
          </a:p>
          <a:p>
            <a:r>
              <a:t>Mind: warning signs | Borrowing, hiding losses, chasing, lost sleep, secret trading: stop a week, tell someone, Tele-MANAS 14416</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Daily Routine Card (template)</a:t>
            </a:r>
          </a:p>
          <a:p/>
          <a:p>
            <a:r>
              <a:t>Fill every row in your own words, with your own times for the four blocks. Print it or keep a photo beside your chart, and add the money checks and warning signs from Priya's card at the bottom.</a:t>
            </a:r>
          </a:p>
          <a:p/>
          <a:p>
            <a:r>
              <a:t>Part | My line, with the time</a:t>
            </a:r>
          </a:p>
          <a:p>
            <a:r>
              <a:t>Daily stop | </a:t>
            </a:r>
          </a:p>
          <a:p>
            <a:r>
              <a:t>Weekly pause | </a:t>
            </a:r>
          </a:p>
          <a:p>
            <a:r>
              <a:t>Body rule | </a:t>
            </a:r>
          </a:p>
          <a:p>
            <a:r>
              <a:t>Before the bell | </a:t>
            </a:r>
          </a:p>
          <a:p>
            <a:r>
              <a:t>Market hours | </a:t>
            </a:r>
          </a:p>
          <a:p>
            <a:r>
              <a:t>After the close | </a:t>
            </a:r>
          </a:p>
          <a:p>
            <a:r>
              <a:t>Weekend | </a:t>
            </a:r>
          </a:p>
          <a:p>
            <a:r>
              <a:t>Revenge | </a:t>
            </a:r>
          </a:p>
          <a:p>
            <a:r>
              <a:t>FOMO | </a:t>
            </a:r>
          </a:p>
          <a:p>
            <a:r>
              <a:t>Overtrading | </a:t>
            </a:r>
          </a:p>
          <a:p>
            <a:r>
              <a:t>Loss aversion | </a:t>
            </a:r>
          </a:p>
          <a:p>
            <a:r>
              <a:t>Sunk cost | </a:t>
            </a:r>
          </a:p>
          <a:p>
            <a:r>
              <a:t>Confirmation | </a:t>
            </a:r>
          </a:p>
          <a:p>
            <a:r>
              <a:t>Recency |</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bias is this?' Write these eight trader confessions on chits. 1: 'I moved my stop just this once, to give it room.' 2: 'I lost 1R this morning, so I doubled my size to win it back before lunch.' 3: 'Everyone in the group was buying, so I jumped in at 11 without a setup.' 4: 'The market was slow, so I took three small trades just to feel involved.' 5: 'I am not selling until it gets back to my buying price.' 6: 'I only watch channels that like my stock; the negative ones are just jealous.' 7: 'Three losses in a row, so this strategy is useless; I am switching tomorrow.' 8: 'I will take a small card loan and win it all back with real money.' With classmates or family, take turns reading one aloud; the others name the bias and the card line that answers it. Chit 8 is not a bias but a warning sign: its answer is to stop for a week, tell someone and, if it feels heavy, call Tele-MANAS on 14416. Alone? Sort the chits, write the answer on the back of each, then check yourself against Priya's card.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End-of-day process review</a:t>
            </a:r>
          </a:p>
          <a:p>
            <a:r>
              <a:t>You are my end-of-day process reviewer, not a market analyst. I paper-trade with virtual money. I will paste this week's journal rows with these ten columns: Date, Stock, Setup, Entry, Stop, Qty, Exit, R result, Rule broken?, Emotion (one of calm, FOMO, fear, bored, angry, overconfident). My kill-switch: daily stop at -2R, weekly pause at -5R. Reply in exactly five short lines: (1) rules followed vs broken, as a count; (2) the emotion tag most linked to a broken rule; (3) whether the daily stop or the weekly pause should have fired, and after which row; (4) one specific behaviour to change tomorrow; (5) one thing I did well. Label each line Fact (read directly from my rows) or Guess (your inference). If a field is missing, ask me instead of assuming. Do not comment on rupee profit or loss, do not suggest any stock, trade, entry, target or expected return for tomorrow, and do not give buy or sell advice. I will not paste names, account numbers or other personal details, so do not ask for them.</a:t>
            </a:r>
          </a:p>
          <a:p/>
          <a:p>
            <a:r>
              <a:t>Prompt 2: Which bias is this?</a:t>
            </a:r>
          </a:p>
          <a:p>
            <a:r>
              <a:t>Act as a calm trading-psychology coach for an Indian beginner who paper-trades with virtual money. Give me 8 short, made-up trader confessions, one at a time, for example 'I moved my stop lower just this once'. After each one, wait for my answer on which bias it shows: revenge trading, FOMO, overtrading, loss aversion, sunk cost, confirmation bias or recency bias. Then tell me whether I was right, explain in two simple sentences, and suggest one written rule that would prevent it. At the end, list the biases I missed most often. Use only made-up company names. Do not ask for personal or financial details, and do not give buy or sell advice, targets or return expectations.</a:t>
            </a:r>
          </a:p>
          <a:p/>
          <a:p>
            <a:r>
              <a:t>Prompt 3: Stress-test my Routine Card</a:t>
            </a:r>
          </a:p>
          <a:p>
            <a:r>
              <a:t>Here is my Daily Routine Card for paper trading with virtual money: &lt;paste your card&gt;. Act as a strict but kind reviewer. For each block (before the bell, market hours, after the close, weekend), point out any step that is vague, depends on willpower instead of design, or would be easy to skip on a bad day, and suggest a more concrete version. Check that my kill-switch is written in both rupees and R, that I have a rule against trading when angry, unwell or short of sleep, and that my protection checklist and warning signs are included. Label each point Fact (it is in my card, or clearly missing from it) or Guess (your assumption about my habits). If my card contains a belief that sounds like a myth, such as 'I will stop when I feel it is enough', label it Kachra and explain why. Do not suggest any stock, trade idea, target or expected return, and do not give buy or sell advice.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classmate's journal since Day 12: 10 calm trades made +3.0R, 6 FOMO trades lost 2.4R, and 2 'angry' trades, both revenge trades, lost 3.0R. Which statement is correct?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classmate buys 400 shares at Rs 300 with a stop at Rs 275, so 1R = Rs 10,000. Near Rs 276 he moves the stop down to Rs 250, and the trade later exits there. What did moving the stop cost him?</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each trade of a rule has about a 40% chance of winning. The rule has just lost three trades in a row, and Aman wants to drop it. What does the maths say?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keeps breaking his -2R daily stop. Which change is the best example of 'design, not willpower'?</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friend tells Priya about his month. Which one is a warning sign that trading is turning into gambling, and calls for stopping and telling someone?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Recall your worst trading moment so far, on paper or real. What did your ego say just before it, in its exact words? Which line on your new card would have stopped you? And did you notice any warning sign in yourself this week?</a:t>
            </a:r>
          </a:p>
          <a:p/>
          <a:p>
            <a:r>
              <a:t>You wrote this card on a calm day. On an angry day, it will remember your rules for you.</a:t>
            </a:r>
          </a:p>
          <a:p/>
          <a:p>
            <a:r>
              <a:t>Next: Day 21 · Finale: Week 3 review, your certificate and the road to Stage 2</a:t>
            </a:r>
          </a:p>
          <a:p/>
          <a:p>
            <a:r>
              <a:t>Educational content only, not investment advice and not counselling. Company names, prices and paper results in this lesson are made up for illustration; paper results are hypothetical, and past performance is not indicative of future results. For mental-health support, call Tele-MANAS on 14416.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21: Finale: Week 3 review, your certificate and the road to Stage 2</a:t>
            </a:r>
          </a:p>
          <a:p/>
          <a:p>
            <a:r>
              <a:t>Concept: Week 3 as one system, process-based results, certificate criteria and the road to Stage 2</a:t>
            </a:r>
          </a:p>
          <a:p>
            <a:r>
              <a:t>AI Lab: Final journal review: AI counts, you choose the habits</a:t>
            </a:r>
          </a:p>
          <a:p>
            <a:r>
              <a:t>Mindset: Finish-line overconfidence</a:t>
            </a:r>
          </a:p>
          <a:p/>
          <a:p>
            <a:r>
              <a:t>By the end: By the end you can run one stock through all of Week 3's rules, spot a 'we trade for you' offer, score your own paper trading since Day 12 on process, list the six certificate checks, grade a Portfolio row against the A/C/D guide, name the Stage 2 chapter that takes each Stage 1 skill further, and explain why finishing a course is not the same as being ready for real money.</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over, so I'm ready?</a:t>
            </a:r>
          </a:p>
          <a:p/>
          <a:p>
            <a:r>
              <a:t>(Sunday evening, the last weekend call of Stage 1. Aman joins late, reading something on his phone.)</a:t>
            </a:r>
          </a:p>
          <a:p>
            <a:r>
              <a:t>Tip-wala: Congratulations on finishing your course! Now let our AI algo trade options for you. Just share your login ID and one OTP. 5% every month, assured. Zero effort. Only 10 seats left.</a:t>
            </a:r>
          </a:p>
          <a:p>
            <a:r>
              <a:t>Aman: Sir, the course ends today and the certificate comes on its own. Ten days of paper trading is enough, right? This algo could run while I sit in office.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over, so I'm ready?</a:t>
            </a:r>
          </a:p>
          <a:p/>
          <a:p>
            <a:r>
              <a:t>Priya: Sir, my backtest has 30 trades and my paper log has only 7. What does the certificate actually allow us to do?</a:t>
            </a:r>
          </a:p>
          <a:p>
            <a:r>
              <a:t>Mentor: Good questions, both of you. Aman, on Day 16, what did a legal algo need: which broker, which Algo-ID? This message names neither, and it wants your OTP. Would you hand a stranger your house keys because he congratulated you?</a:t>
            </a:r>
          </a:p>
          <a:p>
            <a:r>
              <a:t>Mentor: Today we look back at Week 3, read what your certificate really means, write down the conditions that must be met before anyone thinks of real money, and see where Stage 2 takes each skill next. Finishing is one thing. Being ready is another.</a:t>
            </a:r>
          </a:p>
          <a:p/>
          <a:p>
            <a:r>
              <a:t>The lesson: A certificate says you finished learning the basics. Readiness shows slowly, in a routine you keep.</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3 in one evening</a:t>
            </a:r>
          </a:p>
          <a:p/>
          <a:p>
            <a:r>
              <a:t>Week 3 turned your rules into a system. Day 15 gave you a five-check health filter and showed how corporate actions, such as a dividend, bonus or split, change the price on the ex-date. Day 16 turned your rule card into a yes/no flowchart, with alerts that only say 'look now'. Day 17 tested the rule by hand over 30 trades, in R, after costs. Day 18 explained F&amp;O, but the gate stays shut: samjho, khelo mat. Day 19 marked the days you stay out, and Day 20 put everything on one Daily Routine Card, with a kill-switch after -2R in a day. Quiz Game 3 and the final exam check what you learned.</a:t>
            </a:r>
          </a:p>
          <a:p/>
          <a:p>
            <a:r>
              <a:t>Example: 7 pm, after the close. Priya's screener lists Kiran Foods Ltd. It passes all five health checks, and its corporate actions page shows no bonus or split that could fake a move on her chart. Flowchart: EMA 20 is above a rising EMA 50; the close of Rs 470 is above EMA 20 at Rs 464 and within 2% of it; RSI 14 reads 46; it has beaten NIFTY 50 over 3 months; and today it closed above yesterday's high. Every chart box says yes, and the rule has her hand-made 30-trade backtest behind it. Then the calendar: quarterly results are due in 3 trading days, so box 2, the results gate from her Day 11 card, says no: no new swing entry when results fall inside the next 15 trading days. She writes 'Valid setup, skipped: results rule' in her journal and closes the laptop at 7:20.</a:t>
            </a:r>
          </a:p>
          <a:p/>
          <a:p>
            <a:r>
              <a:t>Remember: A system is every rule together. One NO from any rule, from any week, means no trade.</a:t>
            </a:r>
          </a:p>
          <a:p/>
          <a:p>
            <a:r>
              <a:t>On the slide: Week 3 in one evening · One NO anywhere ends the chain. A valid setup, correctly skipped, counts as a rule followed.</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Trap #3: 'we trade for you'</a:t>
            </a:r>
          </a:p>
          <a:p/>
          <a:p>
            <a:r>
              <a:t>When a course ends, a new kind of offer arrives. Copy-trading means your account automatically copies someone else's trades; 'account handling' means a stranger trades in your account; a 'fully automatic' algo runs there for a fee or a profit share. The ask is nearly always the same: your login ID and password, an OTP 'just once', or the TPIN that approves selling shares from your demat. Whoever holds these can place any order in your name, and every loss stays yours. Test the offer with Day 16's road rules: a legal algo runs through your broker with an exchange Algo-ID, algo sellers must be empanelled (approved and listed) by an exchange, and black-box sellers must also be SEBI-registered Research Analysts. Registered advisers and analysts may not promise returns, so a fixed monthly figure is itself a red flag. These rules can change, so check sebi.gov.in and nseindia.com.</a:t>
            </a:r>
          </a:p>
          <a:p/>
          <a:p>
            <a:r>
              <a:t>Example: Take the message in Aman's story. '5% a month' sounds modest, but compounded over a year it is twelve 1.05s multiplied together, about 1.80: roughly 80% a year, with no losing month. Priya's honest 30-trade backtest on Day 17 had a drawdown of 6.23R inside it; a record with no bad month is the Day 14 brochure again. And the login and OTP would let a stranger trade options in Aman's account, while Stage 1 places no F&amp;O trades, not even on paper. Aman shares nothing, keeps a screenshot, blocks the number and reports the message at cybercrime.gov.in; had any money gone, he would also call 1930 at once.</a:t>
            </a:r>
          </a:p>
          <a:p/>
          <a:p>
            <a:r>
              <a:t>Remember: Your login, OTP and TPIN never leave you. Anyone who needs them to 'help' you is the trap.</a:t>
            </a:r>
          </a:p>
          <a:p/>
          <a:p>
            <a:r>
              <a:t>On the slide: The offer vs your checks · One failed check is enough to say no. Stage 1 places no automated orders at all.</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challenge result is a process score</a:t>
            </a:r>
          </a:p>
          <a:p/>
          <a:p>
            <a:r>
              <a:t>Since Day 12 your paper account has gone up or down. The challenge ignores that number on purpose. In about ten days you have logged perhaps 5 to 20 paper trades, below the 30 needed even to judge a rule, so profit or loss over so few trades is mostly luck. Your challenge score, out of 1,000 points, comes only from what you control: attendance, quizzes, exams, practice work graded by your mentor, and discipline, such as on-time weekly reviews and honest mistake logs. The split is attendance 200, quizzes 200, exams 250, practice work 250 and discipline 100. Paper profit earns zero points. For your own review, use the adherence score from Day 12: decisions that followed your written rules, divided by all decisions, where a setup skipped by a written rule, or a no-setup day spent out, counts as one decision followed.</a:t>
            </a:r>
          </a:p>
          <a:p/>
          <a:p>
            <a:r>
              <a:t>Example: Aman's sheet since Day 12, the same one he added up on Day 20: 20 paper trades, 12 of which broke a rule, and 3 times he correctly stayed out (two no-setup days, and one setup he skipped because it gapped past his maximum entry). 11 of his 23 decisions followed his rules (8 on-rule trades + 3 stay-outs), an adherence of about 48%, and his virtual account is down Rs 53,000. Priya took 7 trades and is down Rs 6,000. Three of them broke a rule (once an entry a day before the signal, once a size above the formula from a rounding slip, and once a stop moved lower), and 8 times she correctly stayed out: 12 of 15, 80%. Aman's 8 on-rule trades made +2.4R; his 12 broken ones lost 7.7R. Had those broken trades happened to win, he would have learned the wrong lesson: a rule-breaking win is the most dangerous habit to reward.</a:t>
            </a:r>
          </a:p>
          <a:p/>
          <a:p>
            <a:r>
              <a:t>Remember: Profit over a few paper trades is mostly noise. Adherence is the number you can improve every single day.</a:t>
            </a:r>
          </a:p>
          <a:p/>
          <a:p>
            <a:r>
              <a:t>On the slide: Priya's adherence score · Aman's adherence was 48%, and his 12 rule-breaking trades lost 7.7R. Adherence is the one number in your hands every day.</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journal to five habits</a:t>
            </a:r>
          </a:p>
          <a:p/>
          <a:p>
            <a:r>
              <a:t>Your journal now holds every paper decision since Day 12, with its emotion tag and any broken rule. Read it like a coach, not a judge: count how often each rule broke, not how much money moved. Pick out your top 3 mistakes with their counts, your top 3 strengths, and the one emotion that sits most often next to a broken rule. Then write 5 habits for the next 4 weeks, each an action you control ('the stop goes in with the order'), never a money goal. This is your improvement plan. Put a check-in date in your calendar and, if you can, share the plan with one study partner. An AI can do the counting once names and personal details are removed; checking its counts and choosing the habits stay with you.</a:t>
            </a:r>
          </a:p>
          <a:p/>
          <a:p>
            <a:r>
              <a:t>Example: Aman's counts: 12 of his 20 trades broke a rule. Five had no setup, and four of those were also above the formula size: his two early Kiran Foods chases and Thursday's revenge pair. Four entries came before the daily close confirmed the signal. He moved the stop lower twice, and ignored his results rule once. His strengths: never more than 3 open trades, a journal row every day, and an honest emotion tag on every row. The tag 'FOMO' sits next to 6 of his 12 breaks. His five habits: the stop goes in with the order and never moves lower; he decides only after 3:30 pm; no setup on the screener means no trade; when he feels FOMO, he writes the idea down and waits for the evening scan; and a 20-minute review every Sunday. His check-in is 4 weeks from today, with Priya as his study partner.</a:t>
            </a:r>
          </a:p>
          <a:p/>
          <a:p>
            <a:r>
              <a:t>Remember: Write habits, not money goals. A habit you can tick every day beats a target you cannot control.</a:t>
            </a:r>
          </a:p>
          <a:p/>
          <a:p>
            <a:r>
              <a:t>On the slide: Aman's 12 rule breaks, by type · 12 of his 20 paper trades broke a rule, and FOMO sat next to 6 of the 12. Count breaks, not rupees: the tallest bar is next month's first habit.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six checks, no profit test</a:t>
            </a:r>
          </a:p>
          <a:p/>
          <a:p>
            <a:r>
              <a:t>Your certificate is issued automatically once six checks are met, and the certificate page shows a tick against each. One: at least 90% of sessions complete, which is 19 of 21; a session counts once its quiz is submitted and its journal entry is written. Two: the final exam passed with 60% or more (18 of 30); it has 30 questions and 60 minutes. If the first attempt falls short you get one more. Only 26 or more out of 30 on the first attempt earns a Distinction. Three: all three weekly Quiz Games attempted (the certificate page calls them weekly exams). Four: the practice artefact ladder, five complete rows on the Portfolio page, the seven-part row you met on Day 12, each graded C or better on process by your mentor (on the page: Practice tasks graded C or better). Five: a weekly review written for at least 2 of the 3 weeks, by choosing 'Weekly review' in the journal on Day 7, 14 or 21. Six: an account in good standing. Missed a Portfolio row or a weekly review? You can still add them now. Open Day 7 or 14 from your Path and write the review there, or add rows on the Portfolio page. Take the next 7 days as your catch-up window; the certificate issues on its own as soon as the last check turns green.</a:t>
            </a:r>
          </a:p>
          <a:p/>
          <a:p>
            <a:r>
              <a:t>Example: A complete Portfolio row, in virtual money only, has seven parts. Here is Priya's row on Kiran Foods Ltd, the stock she skipped this evening. Full Why 1, the business: it passed all five Day 15 health checks. Full Why 2, a second reason that does not lean on the first: every chart box (3 to 5) of her Day 16 flowchart said yes, including beating NIFTY 50 over 3 months. Top risk: results are due in 3 trading days, and a results gap can turn 1R into 2R. Her answer: no entry until the results are out (her Day 11 card). Price-stop: Rs 452, which is 1.5 x an ATR of Rs 12 below the Rs 470 close. Why-stop: 'sales fall two quarters in a row'. Review point: the evening after the results, when she re-runs the health card and the flowchart. Two independent Whys, a stop for the price and one for the idea: that is what earns an A, and today's task shows the grading guide. The certificate itself carries a number and a QR code that opens a public verify page. It certifies that you completed a course. It is not a SEBI or NISM certification, not a licence to advise, and not a signal that you are ready for real money.</a:t>
            </a:r>
          </a:p>
          <a:p/>
          <a:p>
            <a:r>
              <a:t>Remember: The certificate shows you finished the course. Only your journal can show how you trade.</a:t>
            </a:r>
          </a:p>
          <a:p/>
          <a:p>
            <a:r>
              <a:t>On the slide: Six checks for the certificate · Your certificate page shows the same six checks. None of them asks for profit.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real money: the 'not yet' list, and Stage 2</a:t>
            </a:r>
          </a:p>
          <a:p/>
          <a:p>
            <a:r>
              <a:t>Finishing Stage 1 means you have learned the basics. It does not mean you are ready to risk real money, and no certificate, course or AI can tell you that you are. Before anyone should even consider it, a few conditions must be met. The Daily Routine Card has run for at least four more weeks of paper trading. About 100 trades are logged, backtest and paper together, on the same frozen rules, across up, down and sideways markets. Adherence stays high on losing days too. An emergency fund of 3 to 6 months of essential expenses is in place (Day 10), and only risk capital would ever be used, money you could lose without hurting your household; never borrowed money. F&amp;O stays shut: samjho, khelo mat. Stage 2 explains it, but no mentor, course or AI will tell you when to start trading it. Stage 2, CIRCLE W.I.N.N.E.R.S, is the next stage of the 5 Circles Academy, and it does not repeat these 21 days. Where a chapter touches a Stage 1 topic, it opens with a short recap that names the day, then goes deeper: candles measured in numbers, full financial statements, options and futures explained step by step, risk and psychology in depth. Every chapter ends with an AI Lab of about six prompts, one of them at algo level, and AI stays the analyst while you stay the trigger. Bring your journal, event calendar and Routine Card with you; Stage 2 does not teach them again. Your mentor opens it once Stage 1 is complete, and today's skill map shows which chapter picks up each Stage 1 skill.</a:t>
            </a:r>
          </a:p>
          <a:p/>
          <a:p>
            <a:r>
              <a:t>Example: Say Aman ignores the list, puts Rs 2,00,000 of real money behind rules he is still changing, and a bad month takes 25%, leaving Rs 1,50,000. To get back to Rs 2,00,000 he now needs Rs 50,000, which is 33% of what is left, not 25%. Four more weeks on paper would have cost him nothing but patience. This is Day 3's loss-recovery maths, and it is why 'not yet' is often the wisest answer.</a:t>
            </a:r>
          </a:p>
          <a:p/>
          <a:p>
            <a:r>
              <a:t>Remember: 'Not yet' is a complete answer. Routine, sample size and savings come before any real rupee.</a:t>
            </a:r>
          </a:p>
          <a:p/>
          <a:p>
            <a:r>
              <a:t>On the slide: Gain needed to repair a loss · The deeper the fall, the steeper the climb back. Waiting on paper costs far less.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Adherence score: Decisions that followed your written rules divided by all decisions. A setup skipped by a written rule, or a no-setup day spent out, counts as a decision followed.</a:t>
            </a:r>
          </a:p>
          <a:p>
            <a:r>
              <a:t>Copy-trading and account handling: Offers to copy someone's trades into your account, or to trade it for you. Many ask for your login or OTP, and whoever trades, every loss stays yours.</a:t>
            </a:r>
          </a:p>
          <a:p>
            <a:r>
              <a:t>Practice artefact ladder: Five complete seven-part rows on the Portfolio page (Day 12), each graded on process by your mentor. C or better on all five is one certificate check.</a:t>
            </a:r>
          </a:p>
          <a:p>
            <a:r>
              <a:t>Improvement plan: Five habits for the next four weeks, built from your journal's counts, with a check-in date.</a:t>
            </a:r>
          </a:p>
          <a:p>
            <a:r>
              <a:t>Certificate of Completion: Proof that you completed the course, with a number and a QR code to verify it. Not a SEBI or NISM certification, not a licence, not a readiness signal.</a:t>
            </a:r>
          </a:p>
          <a:p>
            <a:r>
              <a:t>Challenge score: Your Stage 1 score out of 1,000: attendance 200, quizzes 200, exams 250, practice work 250, discipline 100. Paper profit earns zero points.</a:t>
            </a:r>
          </a:p>
          <a:p>
            <a:r>
              <a:t>Full Why: One complete, checkable reason in a Portfolio row. Every row needs two that do not lean on each other, such as a health-card result and a trend signal. A tip is never a Full Why.</a:t>
            </a:r>
          </a:p>
          <a:p>
            <a:r>
              <a:t>Why-stop: The line that says 'the idea is wrong if...', such as 'sales fall two quarters in a row'. It ends the idea even when the price-stop has not been hit.</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finish line is a start line</a:t>
            </a:r>
          </a:p>
          <a:p>
            <a:r>
              <a:t>Week 3 system: Health-check and ex-dates; Flowchart; alerts only say 'look'; 30-trade backtest in net R; Calendar, routine card, -2R stop</a:t>
            </a:r>
          </a:p>
          <a:p>
            <a:r>
              <a:t>Shortcut Trap #3: Never share login, OTP, TPIN; Legal algo: broker plus Algo-ID; Monthly-return promise = red flag</a:t>
            </a:r>
          </a:p>
          <a:p>
            <a:r>
              <a:t>Process score: Paper profit earns 0 points; No-trade days count; 5 habits, one check-in date</a:t>
            </a:r>
          </a:p>
          <a:p>
            <a:r>
              <a:t>Certificate: Six checks, none about profit; 5 Portfolio rows, C or better; Not SEBI/NISM, not a licence; Missed one? 7-day catch-up</a:t>
            </a:r>
          </a:p>
          <a:p>
            <a:r>
              <a:t>Not yet: 4 more weeks of routine; About 100 trades, same rules; Emergency fund; never borrowed money; F&amp;O: samjho, khelo mat</a:t>
            </a:r>
          </a:p>
          <a:p>
            <a:r>
              <a:t>Next step: Stage 2: CIRCLE W.I.N.N.E.R.S; A short recap, then deeper; An AI Lab in every chapter; Your mentor opens it after Stage 1</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Stage 1 properly: review your journal since Day 12 with AI, write five habits with a check-in date, check the six certificate checks and add a Portfolio row if you need one, then take Quiz Game 3 and the final exam.</a:t>
            </a:r>
          </a:p>
          <a:p/>
          <a:p>
            <a:r>
              <a:t>1. Copy your journal entries since Day 12 into one note, and delete every personal name, PAN, client ID and account detail.</a:t>
            </a:r>
          </a:p>
          <a:p>
            <a:r>
              <a:t>2. Run the AI Lab prompt 'Final journal review' on that note, and tick each count only after checking it against your journal.</a:t>
            </a:r>
          </a:p>
          <a:p>
            <a:r>
              <a:t>3. In today's journal, choose 'Weekly review' and write your Week 3 review: start with the 'Your four numbers' card from your Day 17 backtest (win-rate, expectancy, maximum drawdown, longest losing streak; if the test is not finished, write how many of the 30 trades are done), end with your five habits, and set a phone reminder four weeks from today called 'Check my five habits'.</a:t>
            </a:r>
          </a:p>
          <a:p>
            <a:r>
              <a:t>4. Open the certificate page and write down each check that is still open, with the one action it needs. If your Day 7 or Day 14 weekly review is missing, open that day from your Path, choose 'Weekly review' and write it now; you have a 7-day catch-up window for anything still open.</a:t>
            </a:r>
          </a:p>
          <a:p>
            <a:r>
              <a:t>5. Open the Portfolio page and count the rows marked Complete; the certificate needs five, each with all seven parts. Check one of your rows against Priya's model row and the grading guide in today's task and fix its weakest part. If you have fewer than five, fill one more now, in virtual money only, and add the rest within the catch-up window; your mentor grades each one.</a:t>
            </a:r>
          </a:p>
          <a:p>
            <a:r>
              <a:t>6. Submit today's quiz first, so all 21 days are complete. Then take Quiz Game 3 (15 questions, 30 minutes), take a break, and sit the final exam (30 questions, 60 minutes) when you are fresh, today or tomorrow. None of these is part of the minutes above.</a:t>
            </a:r>
          </a:p>
          <a:p/>
          <a:p>
            <a:r>
              <a:t>By the end: By the end you can run one stock through all of Week 3's rules, spot a 'we trade for you' offer, score your own paper trading since Day 12 on process, list the six certificate checks, grade a Portfolio row against the A/C/D guide, name the Stage 2 chapter that takes each Stage 1 skill further, and explain why finishing a course is not the same as being ready for real money.</a:t>
            </a:r>
          </a:p>
          <a:p/>
          <a:p>
            <a:r>
              <a:t>Tools: Any AI chat; Your journal (app or Google Sheets); The app's certificate and Portfolio pages; SEBI and NSE websites (sebi.gov.in, nseindia.com); Cyber-crime portal (cybercrime.gov.in) and helpline 1930; Phone calendar</a:t>
            </a:r>
          </a:p>
          <a:p/>
          <a:p>
            <a:r>
              <a:t>Educational content only, not investment advice. Company names, prices and paper results in this lesson are made up for illustration; paper and backtest results are hypothetical. Stage 1 uses virtual money only and places no automated or F&amp;O orders. The course certificate certifies completion only; it is not a SEBI or NISM certification, confers no licence to advise, and is not a signal to trade with real money. Past performance is not indicative of future results.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Stage 1 properly: review your journal since Day 12 with AI, write five habits with a check-in date, check the six certificate checks and add a Portfolio row if you need one, then take Quiz Game 3 and the final exam.</a:t>
            </a:r>
          </a:p>
          <a:p/>
          <a:p>
            <a:r>
              <a:t>1. Copy your journal entries since Day 12 into one note, and delete every personal name, PAN, client ID and account detail.</a:t>
            </a:r>
          </a:p>
          <a:p>
            <a:r>
              <a:t>2. Run the AI Lab prompt 'Final journal review' on that note, and tick each count only after checking it against your journal.</a:t>
            </a:r>
          </a:p>
          <a:p>
            <a:r>
              <a:t>3. In today's journal, choose 'Weekly review' and write your Week 3 review: start with the 'Your four numbers' card from your Day 17 backtest (win-rate, expectancy, maximum drawdown, longest losing streak; if the test is not finished, write how many of the 30 trades are done), end with your five habits, and set a phone reminder four weeks from today called 'Check my five habits'.</a:t>
            </a:r>
          </a:p>
          <a:p>
            <a:r>
              <a:t>4. Open the certificate page and write down each check that is still open, with the one action it needs. If your Day 7 or Day 14 weekly review is missing, open that day from your Path, choose 'Weekly review' and write it now; you have a 7-day catch-up window for anything still open.</a:t>
            </a:r>
          </a:p>
          <a:p>
            <a:r>
              <a:t>5. Open the Portfolio page and count the rows marked Complete; the certificate needs five, each with all seven parts. Check one of your rows against Priya's model row and the grading guide in today's task and fix its weakest part. If you have fewer than five, fill one more now, in virtual money only, and add the rest within the catch-up window; your mentor grades each one.</a:t>
            </a:r>
          </a:p>
          <a:p>
            <a:r>
              <a:t>6. Submit today's quiz first, so all 21 days are complete. Then take Quiz Game 3 (15 questions, 30 minutes), take a break, and sit the final exam (30 questions, 60 minutes) when you are fresh, today or tomorrow. None of these is part of the minutes above.</a:t>
            </a:r>
          </a:p>
          <a:p/>
          <a:p>
            <a:r>
              <a:t>By the end: By the end you can run one stock through all of Week 3's rules, spot a 'we trade for you' offer, score your own paper trading since Day 12 on process, list the six certificate checks, grade a Portfolio row against the A/C/D guide, name the Stage 2 chapter that takes each Stage 1 skill further, and explain why finishing a course is not the same as being ready for real money.</a:t>
            </a:r>
          </a:p>
          <a:p/>
          <a:p>
            <a:r>
              <a:t>Tools: Any AI chat; Your journal (app or Google Sheets); The app's certificate and Portfolio pages; SEBI and NSE websites (sebi.gov.in, nseindia.com); Cyber-crime portal (cybercrime.gov.in) and helpline 1930; Phone calendar</a:t>
            </a:r>
          </a:p>
          <a:p/>
          <a:p>
            <a:r>
              <a:t>Educational content only, not investment advice. Company names, prices and paper results in this lesson are made up for illustration; paper and backtest results are hypothetical. Stage 1 uses virtual money only and places no automated or F&amp;O orders. The course certificate certifies completion only; it is not a SEBI or NISM certification, confers no licence to advise, and is not a signal to trade with real money. Past performance is not indicative of future results.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Portfolio row: Kiran Foods Ltd (model)</a:t>
            </a:r>
          </a:p>
          <a:p/>
          <a:p>
            <a:r>
              <a:t>Virtual money only; the company and prices are made up. A row is a plan and a reason, never a tip: do not share it as one.</a:t>
            </a:r>
          </a:p>
          <a:p/>
          <a:p>
            <a:r>
              <a:t>Part | Priya's entry</a:t>
            </a:r>
          </a:p>
          <a:p>
            <a:r>
              <a:t>Full Why 1 (business) | Passed all five Day 15 health checks: sales up over three years, margin steady, D/E below 1, no pledge, cash close to profit</a:t>
            </a:r>
          </a:p>
          <a:p>
            <a:r>
              <a:t>Full Why 2 (independent) | Every Day 16 chart box (3 to 5) says yes: EMA 20 above a rising EMA 50, close above yesterday's high, beat NIFTY 50 over 3 months</a:t>
            </a:r>
          </a:p>
          <a:p>
            <a:r>
              <a:t>Top risk | Results in 3 trading days: a gap can turn 1R into 2R</a:t>
            </a:r>
          </a:p>
          <a:p>
            <a:r>
              <a:t>Her answer | No entry until results are out (Day 11 card); logged 'Skipped: results rule'</a:t>
            </a:r>
          </a:p>
          <a:p>
            <a:r>
              <a:t>Price-stop | Rs 452: 1.5 x an ATR of Rs 12 below the Rs 470 close</a:t>
            </a:r>
          </a:p>
          <a:p>
            <a:r>
              <a:t>Why-stop | Sales fall two quarters in a row</a:t>
            </a:r>
          </a:p>
          <a:p>
            <a:r>
              <a:t>Review point | The evening after results: re-run the health card and the flowchart</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row is graded: A, C and D</a:t>
            </a:r>
          </a:p>
          <a:p/>
          <a:p>
            <a:r>
              <a:t>B sits between A and C. A row graded D or below does not count yet: fix the weak part and ask your mentor to grade it again. Profit never changes a grade.</a:t>
            </a:r>
          </a:p>
          <a:p/>
          <a:p>
            <a:r>
              <a:t>Grade | What the row shows | The two Whys, for example</a:t>
            </a:r>
          </a:p>
          <a:p>
            <a:r>
              <a:t>A | All seven parts. Two specific Whys that do not lean on each other, a price-stop in rupees, a testable Why-stop, and a review date or trigger. | 'Health card 5/5' and 'chart boxes all yes, beat NIFTY 50'</a:t>
            </a:r>
          </a:p>
          <a:p>
            <a:r>
              <a:t>C | All seven parts filled, but one is vague: Why 2 repeats Why 1, the Why-stop cannot be tested, or the review point just says 'later'. | 'Health card 5/5' and 'good company'</a:t>
            </a:r>
          </a:p>
          <a:p>
            <a:r>
              <a:t>D | A part is missing or copied, a tip or 'everyone is buying' is used as a Why, or there is no Why-stop. | 'A friend's tip' and 'it will rise after results'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Stage 1 to Stage 2: your skill map</a:t>
            </a:r>
          </a:p>
          <a:p/>
          <a:p>
            <a:r>
              <a:t>Stage 2 opens each chapter with a short recap of the Stage 1 day and then goes deeper, so nothing here is taught twice. Your mentor opens Stage 2 once Stage 1 is complete.</a:t>
            </a:r>
          </a:p>
          <a:p/>
          <a:p>
            <a:r>
              <a:t>Stage 1 gave you | Stage 2 chapter | What is new there</a:t>
            </a:r>
          </a:p>
          <a:p>
            <a:r>
              <a:t>Market basics, orders, costs, tax heads (Days 1-2) | Ch1 Paisa &amp; Economy; Ch2 Markets &amp; Taxation | How money and the economy move markets; tax in depth, with dated figures to check</a:t>
            </a:r>
          </a:p>
          <a:p>
            <a:r>
              <a:t>Candles and volume (Days 5-6) | Ch3 Candles by Numbers; Ch4 Candlestick Patterns | Candles measured: body and wick %, size in ATR, relative volume; patterns tested by rule</a:t>
            </a:r>
          </a:p>
          <a:p>
            <a:r>
              <a:t>Trend, support, resistance, gaps (Day 6) | Ch5 Chart Patterns; Ch6 Elliott Wave &amp; Harmonics | Bigger chart shapes and wave counts, with written rules for when they fail</a:t>
            </a:r>
          </a:p>
          <a:p>
            <a:r>
              <a:t>Health check, corporate actions (Day 15) | Ch7 Stock Investing; Ch8 Reading the Numbers | Full financial statements, well beyond five checks</a:t>
            </a:r>
          </a:p>
          <a:p>
            <a:r>
              <a:t>F&amp;O basics: samjho, khelo mat (Day 18) | Ch9 Basic Options to Ch12 Futures in Practice | Expiry mechanics, Greeks, strategies, futures: explained in depth, never as a call to trade</a:t>
            </a:r>
          </a:p>
          <a:p>
            <a:r>
              <a:t>Risk, sizing, psychology (Days 3, 9, 20) | Ch13 Risk Management &amp; Trading Psychology | Deeper risk and mind work, building on your 1% starter rule</a:t>
            </a:r>
          </a:p>
          <a:p>
            <a:r>
              <a:t>AI co-pilot, flowchart, hand backtest (Days 4, 16, 17) | The AI Lab at the end of every chapter | About six prompts a chapter, one at algo level; AI stays the analyst, you stay the trigger</a:t>
            </a:r>
          </a:p>
          <a:p>
            <a:r>
              <a:t>Journal, event calendar, Routine Card (Days 12, 19, 20) | Every chapter | Not taught again: keep them running</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Convocation, opt-in and with no numbers: each learner reads one line from their Day 1 journal next to one line from today's. Then play 'Which day busted it?': one person reads an old belief, such as 'a stop-loss fixes my exit price', 'an AI answer is a fact' or 'a certificate means I am ready', and whoever first names the day that corrected it reads the next one. If your cohort gives awards, they go by process only: Discipline, Best Journal, and Best Screener, judged on how cleanly rules became screener conditions, never on whether its picks rose. Alone? Write a five-line letter to your Day 1 self and reopen it on your check-in date.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Final journal review</a:t>
            </a:r>
          </a:p>
          <a:p>
            <a:r>
              <a:t>You are a calm trading coach reviewing a beginner's paper-trade journal from a 21-day course that scores process, never profit. I will paste my paper-trade journal rows since I started paper trading (about ten days), with all personal details removed: date, stock (I may replace names with Stock A, Stock B), setup, whether each rule was followed, emotion tag and notes, plus the days I took no trade. Do five things. (1) Count how often each rule was broken and list my top 3 process mistakes with their counts. (2) List my top 3 strengths: rules I kept every time, and days I correctly stayed out. (3) Name the emotion tag that appears most often next to a broken rule. (4) Work out my adherence score: decisions that followed my rules divided by all decisions. A trade that kept every rule, a setup I skipped because a written rule said so, and a no-setup day on which I stayed out each count as one decision followed; a trade with any broken rule counts as one decision not followed. (5) Draft 5 habits for the next 4 weeks, each written as an action I control, never as a money goal. Label every finding Fact (counted directly from my rows, with the row dates) or Guess (your interpretation). Do not comment on profit or loss, do not suggest new strategies or stocks, do not give buy or sell advice, and do not mention targets or expected returns.</a:t>
            </a:r>
          </a:p>
          <a:p/>
          <a:p>
            <a:r>
              <a:t>Journal:</a:t>
            </a:r>
          </a:p>
          <a:p>
            <a:r>
              <a:t>&lt;paste here&gt;</a:t>
            </a:r>
          </a:p>
          <a:p/>
          <a:p>
            <a:r>
              <a:t>Prompt 2: 'We trade for you' offer check</a:t>
            </a:r>
          </a:p>
          <a:p>
            <a:r>
              <a:t>I received a message offering copy-trading, 'account handling' or an automatic algo that would trade in my account for a monthly fee or a profit share. I will paste the message with all names, numbers and links removed. Do not ask me for any personal or account details. Check the message against these points, as you understand India's rules: who may give buy or sell advice for a fee, whether algo orders must go through a broker and carry an exchange Algo-ID, whether algo sellers must be empanelled with an exchange, whether black-box algo sellers must be SEBI-registered Research Analysts, whether registered advisers may promise returns, and what can happen if I share my login, password, OTP or TPIN. Label every claim in the message Fact, Guess or Kachra. List the red flags from most to least serious, and tell me which rules I should confirm myself on sebi.gov.in or nseindia.com, because rules change and your knowledge has a cutoff date. End with safe next steps: share nothing, keep screenshots, block and report at cybercrime.gov.in, and call 1930 if money has already gone. Do not recommend any product, algo, broker or stock, do not give buy or sell advice, and do not mention targets or returns.</a:t>
            </a:r>
          </a:p>
          <a:p/>
          <a:p>
            <a:r>
              <a:t>Message:</a:t>
            </a:r>
          </a:p>
          <a:p>
            <a:r>
              <a:t>&lt;paste here&gt;</a:t>
            </a:r>
          </a:p>
          <a:p/>
          <a:p>
            <a:r>
              <a:t>Prompt 3: Ready or not yet</a:t>
            </a:r>
          </a:p>
          <a:p>
            <a:r>
              <a:t>Act as a careful, honest mentor for an Indian beginner who has just finished a 21-day course using only virtual money. Ask me 8 short questions, one at a time, about: how many weeks I have followed a written daily routine, how many trades I have logged on the same frozen rules (backtest and paper together), my adherence on losing days, whether I have an emergency fund, whether any money I might use is borrowed, whether I understand contract notes and the basic tax heads, how I behaved during my worst losing streak, and who I would talk to before deciding anything. After my answers, give me a 'Not yet' list of what is still missing, with one small next step for each. Never tell me I am ready to trade with real money, never suggest an amount, and never suggest F&amp;O. Do not recommend any stock, strategy or product, do not give buy or sell advice, and do not mention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7 pm, Priya's EMA Pullback rule gives a valid setup on Bharat Pumps Ltd, every chart box in her flowchart says yes, and her backtest showed a positive edge. Her written no-trade rule, from her Day 11 card, says: no new swing entry if the company's results fall within the next 15 trading days. Results are due in 2 trading days. What does her system say?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paper trading began, a learner took 10 paper trades: 8 followed every rule and 2 broke one, though both of those made money. On 6 other days there was no setup, and she correctly stayed out. What is her adherence score?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message offers Aman a 'fully automatic algo' that trades options in his account for a 30% profit share. It needs his login ID and a one-time OTP, and it names no broker, Algo-ID or registration. What should he do?</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learner passes the final exam with a Distinction. Her paper account shows +Rs 38,000 from 12 trades since Day 12, and 5 of those trades broke a rule. What is the most accurate reading?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Someone skips the 'not yet' list, and a bad month takes 20% of Rs 5,00,000, leaving Rs 4,00,000. What gain on Rs 4,00,000 is needed just to get back to Rs 5,00,000?</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Read your Day 1 journal entry again. What did you believe about the market then that you no longer believe? And which of your five habits will be hardest to keep in the next four weeks, and why?</a:t>
            </a:r>
          </a:p>
          <a:p/>
          <a:p>
            <a:r>
              <a:t>Twenty-one days ago you wanted to know what happens after you tap Buy. Today you also know when not to tap it, and why. Keep the journal going; it will teach you more than any certificate.</a:t>
            </a:r>
          </a:p>
          <a:p/>
          <a:p>
            <a:r>
              <a:t>Next: Stage 2: CIRCLE W.I.N.N.E.R.S</a:t>
            </a:r>
          </a:p>
          <a:p/>
          <a:p>
            <a:r>
              <a:t>Educational content only, not investment advice. Company names, prices and paper results in this lesson are made up for illustration; paper and backtest results are hypothetical. Stage 1 uses virtual money only and places no automated or F&amp;O orders. The course certificate certifies completion only; it is not a SEBI or NISM certification, confers no licence to advise, and is not a signal to trade with real money. Past performance is not indicative of future results.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502920"/>
            <a:ext cx="960120" cy="960120"/>
          </a:xfrm>
          <a:prstGeom prst="rect">
            <a:avLst/>
          </a:prstGeom>
        </p:spPr>
      </p:pic>
      <p:sp>
        <p:nvSpPr>
          <p:cNvPr id="3" name="TextBox 2"/>
          <p:cNvSpPr txBox="1"/>
          <p:nvPr/>
        </p:nvSpPr>
        <p:spPr>
          <a:xfrm>
            <a:off x="1645920" y="640080"/>
            <a:ext cx="7315200" cy="310896"/>
          </a:xfrm>
          <a:prstGeom prst="rect">
            <a:avLst/>
          </a:prstGeom>
          <a:noFill/>
        </p:spPr>
        <p:txBody>
          <a:bodyPr wrap="square" lIns="0" rIns="0" tIns="0" bIns="0" anchor="t">
            <a:noAutofit/>
          </a:bodyPr>
          <a:lstStyle/>
          <a:p>
            <a:pPr algn="l">
              <a:lnSpc>
                <a:spcPct val="100000"/>
              </a:lnSpc>
            </a:pPr>
            <a:r>
              <a:rPr sz="1500" b="1" i="0">
                <a:solidFill>
                  <a:srgbClr val="00AEEF"/>
                </a:solidFill>
                <a:latin typeface="Segoe UI"/>
              </a:rPr>
              <a:t>CIRCLE S.M.A.R.T</a:t>
            </a:r>
          </a:p>
        </p:txBody>
      </p:sp>
      <p:sp>
        <p:nvSpPr>
          <p:cNvPr id="4" name="TextBox 3"/>
          <p:cNvSpPr txBox="1"/>
          <p:nvPr/>
        </p:nvSpPr>
        <p:spPr>
          <a:xfrm>
            <a:off x="1645920" y="987552"/>
            <a:ext cx="7315200" cy="310896"/>
          </a:xfrm>
          <a:prstGeom prst="rect">
            <a:avLst/>
          </a:prstGeom>
          <a:noFill/>
        </p:spPr>
        <p:txBody>
          <a:bodyPr wrap="square" lIns="0" rIns="0" tIns="0" bIns="0" anchor="t">
            <a:noAutofit/>
          </a:bodyPr>
          <a:lstStyle/>
          <a:p>
            <a:pPr algn="l">
              <a:lnSpc>
                <a:spcPct val="100000"/>
              </a:lnSpc>
            </a:pPr>
            <a:r>
              <a:rPr sz="1500" b="1" i="0">
                <a:solidFill>
                  <a:srgbClr val="A8B8CE"/>
                </a:solidFill>
                <a:latin typeface="Segoe UI"/>
              </a:rPr>
              <a:t>Stage 1 · Week 3</a:t>
            </a:r>
          </a:p>
        </p:txBody>
      </p:sp>
      <p:sp>
        <p:nvSpPr>
          <p:cNvPr id="5" name="TextBox 4"/>
          <p:cNvSpPr txBox="1"/>
          <p:nvPr/>
        </p:nvSpPr>
        <p:spPr>
          <a:xfrm>
            <a:off x="457200" y="2331720"/>
            <a:ext cx="10241280" cy="746760"/>
          </a:xfrm>
          <a:prstGeom prst="rect">
            <a:avLst/>
          </a:prstGeom>
          <a:noFill/>
        </p:spPr>
        <p:txBody>
          <a:bodyPr wrap="square" lIns="0" rIns="0" tIns="0" bIns="0" anchor="t">
            <a:noAutofit/>
          </a:bodyPr>
          <a:lstStyle/>
          <a:p>
            <a:pPr algn="l">
              <a:lnSpc>
                <a:spcPct val="100000"/>
              </a:lnSpc>
            </a:pPr>
            <a:r>
              <a:rPr sz="4600" b="1" i="0">
                <a:solidFill>
                  <a:srgbClr val="FFFFFF"/>
                </a:solidFill>
                <a:latin typeface="Segoe UI"/>
              </a:rPr>
              <a:t>Build your system, protect yourself</a:t>
            </a:r>
          </a:p>
        </p:txBody>
      </p:sp>
      <p:sp>
        <p:nvSpPr>
          <p:cNvPr id="6" name="TextBox 5"/>
          <p:cNvSpPr txBox="1"/>
          <p:nvPr/>
        </p:nvSpPr>
        <p:spPr>
          <a:xfrm>
            <a:off x="457200" y="3307080"/>
            <a:ext cx="10058400" cy="365760"/>
          </a:xfrm>
          <a:prstGeom prst="rect">
            <a:avLst/>
          </a:prstGeom>
          <a:noFill/>
        </p:spPr>
        <p:txBody>
          <a:bodyPr wrap="square" lIns="0" rIns="0" tIns="0" bIns="0" anchor="t">
            <a:noAutofit/>
          </a:bodyPr>
          <a:lstStyle/>
          <a:p>
            <a:pPr algn="l">
              <a:lnSpc>
                <a:spcPct val="100000"/>
              </a:lnSpc>
            </a:pPr>
            <a:r>
              <a:rPr sz="1800" b="1" i="0">
                <a:solidFill>
                  <a:srgbClr val="00AEEF"/>
                </a:solidFill>
                <a:latin typeface="Segoe UI"/>
              </a:rPr>
              <a:t>Day 15-21</a:t>
            </a:r>
          </a:p>
        </p:txBody>
      </p:sp>
      <p:sp>
        <p:nvSpPr>
          <p:cNvPr id="7" name="TextBox 6"/>
          <p:cNvSpPr txBox="1"/>
          <p:nvPr/>
        </p:nvSpPr>
        <p:spPr>
          <a:xfrm>
            <a:off x="457200" y="3745992"/>
            <a:ext cx="10058400" cy="365760"/>
          </a:xfrm>
          <a:prstGeom prst="rect">
            <a:avLst/>
          </a:prstGeom>
          <a:noFill/>
        </p:spPr>
        <p:txBody>
          <a:bodyPr wrap="square" lIns="0" rIns="0" tIns="0" bIns="0" anchor="t">
            <a:noAutofit/>
          </a:bodyPr>
          <a:lstStyle/>
          <a:p>
            <a:pPr algn="l">
              <a:lnSpc>
                <a:spcPct val="100000"/>
              </a:lnSpc>
            </a:pPr>
            <a:r>
              <a:rPr sz="1700" b="0" i="0">
                <a:solidFill>
                  <a:srgbClr val="A8B8CE"/>
                </a:solidFill>
                <a:latin typeface="Segoe UI"/>
              </a:rPr>
              <a:t>Virtual money only. We score the process, never the profit.</a:t>
            </a:r>
          </a:p>
        </p:txBody>
      </p:sp>
      <p:sp>
        <p:nvSpPr>
          <p:cNvPr id="8" name="Rounded Rectangle 7"/>
          <p:cNvSpPr/>
          <p:nvPr/>
        </p:nvSpPr>
        <p:spPr>
          <a:xfrm>
            <a:off x="457200" y="5074920"/>
            <a:ext cx="1785528"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Class deck · English</a:t>
            </a:r>
          </a:p>
        </p:txBody>
      </p:sp>
      <p:pic>
        <p:nvPicPr>
          <p:cNvPr id="9" name="Picture 8" descr="logo.png"/>
          <p:cNvPicPr>
            <a:picLocks noChangeAspect="1"/>
          </p:cNvPicPr>
          <p:nvPr/>
        </p:nvPicPr>
        <p:blipFill>
          <a:blip r:embed="rId2"/>
          <a:stretch>
            <a:fillRect/>
          </a:stretch>
        </p:blipFill>
        <p:spPr>
          <a:xfrm>
            <a:off x="457200" y="6437376"/>
            <a:ext cx="237744" cy="237744"/>
          </a:xfrm>
          <a:prstGeom prst="rect">
            <a:avLst/>
          </a:prstGeom>
        </p:spPr>
      </p:pic>
      <p:sp>
        <p:nvSpPr>
          <p:cNvPr id="1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11" name="TextBox 1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3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WEEK 3 · BUILD YOUR SYSTEM, PROTECT YOURSELF</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This week, day by day</a:t>
            </a:r>
          </a:p>
        </p:txBody>
      </p:sp>
      <p:sp>
        <p:nvSpPr>
          <p:cNvPr id="4" name="Rounded Rectangle 3"/>
          <p:cNvSpPr/>
          <p:nvPr/>
        </p:nvSpPr>
        <p:spPr>
          <a:xfrm>
            <a:off x="457200" y="1335024"/>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ounded Rectangle 4"/>
          <p:cNvSpPr/>
          <p:nvPr/>
        </p:nvSpPr>
        <p:spPr>
          <a:xfrm>
            <a:off x="585216" y="1447365"/>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15</a:t>
            </a:r>
          </a:p>
        </p:txBody>
      </p:sp>
      <p:sp>
        <p:nvSpPr>
          <p:cNvPr id="6" name="TextBox 5"/>
          <p:cNvSpPr txBox="1"/>
          <p:nvPr/>
        </p:nvSpPr>
        <p:spPr>
          <a:xfrm>
            <a:off x="1737360" y="1410789"/>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A fundamental health check with AI, and corporate actions</a:t>
            </a:r>
          </a:p>
        </p:txBody>
      </p:sp>
      <p:sp>
        <p:nvSpPr>
          <p:cNvPr id="7" name="TextBox 6"/>
          <p:cNvSpPr txBox="1"/>
          <p:nvPr/>
        </p:nvSpPr>
        <p:spPr>
          <a:xfrm>
            <a:off x="1737360" y="1666821"/>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The 5-check health filter, market-cap tiers and corporate actions</a:t>
            </a:r>
          </a:p>
        </p:txBody>
      </p:sp>
      <p:sp>
        <p:nvSpPr>
          <p:cNvPr id="8" name="TextBox 7"/>
          <p:cNvSpPr txBox="1"/>
          <p:nvPr/>
        </p:nvSpPr>
        <p:spPr>
          <a:xfrm>
            <a:off x="10271455" y="1335024"/>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9" name="Rounded Rectangle 8"/>
          <p:cNvSpPr/>
          <p:nvPr/>
        </p:nvSpPr>
        <p:spPr>
          <a:xfrm>
            <a:off x="457200" y="2053481"/>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585216" y="2165822"/>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16</a:t>
            </a:r>
          </a:p>
        </p:txBody>
      </p:sp>
      <p:sp>
        <p:nvSpPr>
          <p:cNvPr id="11" name="TextBox 10"/>
          <p:cNvSpPr txBox="1"/>
          <p:nvPr/>
        </p:nvSpPr>
        <p:spPr>
          <a:xfrm>
            <a:off x="1737360" y="2129246"/>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Algo Level 1: rules, flowchart and alerts</a:t>
            </a:r>
          </a:p>
        </p:txBody>
      </p:sp>
      <p:sp>
        <p:nvSpPr>
          <p:cNvPr id="12" name="TextBox 11"/>
          <p:cNvSpPr txBox="1"/>
          <p:nvPr/>
        </p:nvSpPr>
        <p:spPr>
          <a:xfrm>
            <a:off x="1737360" y="2385278"/>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Testable rules, flowcharts and alerts: the machine watches, you decide</a:t>
            </a:r>
          </a:p>
        </p:txBody>
      </p:sp>
      <p:sp>
        <p:nvSpPr>
          <p:cNvPr id="13" name="TextBox 12"/>
          <p:cNvSpPr txBox="1"/>
          <p:nvPr/>
        </p:nvSpPr>
        <p:spPr>
          <a:xfrm>
            <a:off x="10271455" y="2053481"/>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14" name="Rounded Rectangle 13"/>
          <p:cNvSpPr/>
          <p:nvPr/>
        </p:nvSpPr>
        <p:spPr>
          <a:xfrm>
            <a:off x="457200" y="2771938"/>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585216" y="2884279"/>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17</a:t>
            </a:r>
          </a:p>
        </p:txBody>
      </p:sp>
      <p:sp>
        <p:nvSpPr>
          <p:cNvPr id="16" name="TextBox 15"/>
          <p:cNvSpPr txBox="1"/>
          <p:nvPr/>
        </p:nvSpPr>
        <p:spPr>
          <a:xfrm>
            <a:off x="1737360" y="2847703"/>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Backtest Level 1, by hand</a:t>
            </a:r>
          </a:p>
        </p:txBody>
      </p:sp>
      <p:sp>
        <p:nvSpPr>
          <p:cNvPr id="17" name="TextBox 16"/>
          <p:cNvSpPr txBox="1"/>
          <p:nvPr/>
        </p:nvSpPr>
        <p:spPr>
          <a:xfrm>
            <a:off x="1737360" y="3103735"/>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A 30-trade manual backtest, logged in R after costs</a:t>
            </a:r>
          </a:p>
        </p:txBody>
      </p:sp>
      <p:sp>
        <p:nvSpPr>
          <p:cNvPr id="18" name="TextBox 17"/>
          <p:cNvSpPr txBox="1"/>
          <p:nvPr/>
        </p:nvSpPr>
        <p:spPr>
          <a:xfrm>
            <a:off x="10271455" y="2771938"/>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90 min</a:t>
            </a:r>
          </a:p>
        </p:txBody>
      </p:sp>
      <p:sp>
        <p:nvSpPr>
          <p:cNvPr id="19" name="Rounded Rectangle 18"/>
          <p:cNvSpPr/>
          <p:nvPr/>
        </p:nvSpPr>
        <p:spPr>
          <a:xfrm>
            <a:off x="457200" y="3490395"/>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585216" y="3602736"/>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18</a:t>
            </a:r>
          </a:p>
        </p:txBody>
      </p:sp>
      <p:sp>
        <p:nvSpPr>
          <p:cNvPr id="21" name="TextBox 20"/>
          <p:cNvSpPr txBox="1"/>
          <p:nvPr/>
        </p:nvSpPr>
        <p:spPr>
          <a:xfrm>
            <a:off x="1737360" y="3566160"/>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F&amp;O basics only: samjho, khelo mat</a:t>
            </a:r>
          </a:p>
        </p:txBody>
      </p:sp>
      <p:sp>
        <p:nvSpPr>
          <p:cNvPr id="22" name="TextBox 21"/>
          <p:cNvSpPr txBox="1"/>
          <p:nvPr/>
        </p:nvSpPr>
        <p:spPr>
          <a:xfrm>
            <a:off x="1737360" y="3822192"/>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Futures and options: what they are, and why Stage 1 only studies them</a:t>
            </a:r>
          </a:p>
        </p:txBody>
      </p:sp>
      <p:sp>
        <p:nvSpPr>
          <p:cNvPr id="23" name="TextBox 22"/>
          <p:cNvSpPr txBox="1"/>
          <p:nvPr/>
        </p:nvSpPr>
        <p:spPr>
          <a:xfrm>
            <a:off x="10271455" y="3490395"/>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24" name="Rounded Rectangle 23"/>
          <p:cNvSpPr/>
          <p:nvPr/>
        </p:nvSpPr>
        <p:spPr>
          <a:xfrm>
            <a:off x="457200" y="4208853"/>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4321193"/>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19</a:t>
            </a:r>
          </a:p>
        </p:txBody>
      </p:sp>
      <p:sp>
        <p:nvSpPr>
          <p:cNvPr id="26" name="TextBox 25"/>
          <p:cNvSpPr txBox="1"/>
          <p:nvPr/>
        </p:nvSpPr>
        <p:spPr>
          <a:xfrm>
            <a:off x="1737360" y="4284617"/>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The event calendar and your no-trade days</a:t>
            </a:r>
          </a:p>
        </p:txBody>
      </p:sp>
      <p:sp>
        <p:nvSpPr>
          <p:cNvPr id="27" name="TextBox 26"/>
          <p:cNvSpPr txBox="1"/>
          <p:nvPr/>
        </p:nvSpPr>
        <p:spPr>
          <a:xfrm>
            <a:off x="1737360" y="4540649"/>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Events, their timing, and a no-trade rule for each strategy</a:t>
            </a:r>
          </a:p>
        </p:txBody>
      </p:sp>
      <p:sp>
        <p:nvSpPr>
          <p:cNvPr id="28" name="TextBox 27"/>
          <p:cNvSpPr txBox="1"/>
          <p:nvPr/>
        </p:nvSpPr>
        <p:spPr>
          <a:xfrm>
            <a:off x="10271455" y="4208853"/>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29" name="Rounded Rectangle 28"/>
          <p:cNvSpPr/>
          <p:nvPr/>
        </p:nvSpPr>
        <p:spPr>
          <a:xfrm>
            <a:off x="457200" y="4927310"/>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039650"/>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20</a:t>
            </a:r>
          </a:p>
        </p:txBody>
      </p:sp>
      <p:sp>
        <p:nvSpPr>
          <p:cNvPr id="31" name="TextBox 30"/>
          <p:cNvSpPr txBox="1"/>
          <p:nvPr/>
        </p:nvSpPr>
        <p:spPr>
          <a:xfrm>
            <a:off x="1737360" y="5003074"/>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Trading psychology and your Daily Routine Card</a:t>
            </a:r>
          </a:p>
        </p:txBody>
      </p:sp>
      <p:sp>
        <p:nvSpPr>
          <p:cNvPr id="32" name="TextBox 31"/>
          <p:cNvSpPr txBox="1"/>
          <p:nvPr/>
        </p:nvSpPr>
        <p:spPr>
          <a:xfrm>
            <a:off x="1737360" y="5259106"/>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Seven biases that break rules, and a routine that catches them</a:t>
            </a:r>
          </a:p>
        </p:txBody>
      </p:sp>
      <p:sp>
        <p:nvSpPr>
          <p:cNvPr id="33" name="TextBox 32"/>
          <p:cNvSpPr txBox="1"/>
          <p:nvPr/>
        </p:nvSpPr>
        <p:spPr>
          <a:xfrm>
            <a:off x="10271455" y="4927310"/>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34" name="Rounded Rectangle 33"/>
          <p:cNvSpPr/>
          <p:nvPr/>
        </p:nvSpPr>
        <p:spPr>
          <a:xfrm>
            <a:off x="457200" y="5645767"/>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758107"/>
            <a:ext cx="960120" cy="402336"/>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Day 21</a:t>
            </a:r>
          </a:p>
        </p:txBody>
      </p:sp>
      <p:sp>
        <p:nvSpPr>
          <p:cNvPr id="36" name="TextBox 35"/>
          <p:cNvSpPr txBox="1"/>
          <p:nvPr/>
        </p:nvSpPr>
        <p:spPr>
          <a:xfrm>
            <a:off x="1737360" y="5721531"/>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Finale: Week 3 review, your certificate and the road to Stage 2</a:t>
            </a:r>
          </a:p>
        </p:txBody>
      </p:sp>
      <p:sp>
        <p:nvSpPr>
          <p:cNvPr id="37" name="TextBox 36"/>
          <p:cNvSpPr txBox="1"/>
          <p:nvPr/>
        </p:nvSpPr>
        <p:spPr>
          <a:xfrm>
            <a:off x="1737360" y="5977563"/>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Week 3 as one system, process-based results, certificate criteria and the road to Stage 2</a:t>
            </a:r>
          </a:p>
        </p:txBody>
      </p:sp>
      <p:sp>
        <p:nvSpPr>
          <p:cNvPr id="38" name="Rounded Rectangle 37"/>
          <p:cNvSpPr/>
          <p:nvPr/>
        </p:nvSpPr>
        <p:spPr>
          <a:xfrm>
            <a:off x="10444616" y="5831259"/>
            <a:ext cx="1120239" cy="256032"/>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92400E"/>
                </a:solidFill>
                <a:latin typeface="Segoe UI"/>
              </a:rPr>
              <a:t>Weekly review</a:t>
            </a:r>
          </a:p>
        </p:txBody>
      </p:sp>
      <p:sp>
        <p:nvSpPr>
          <p:cNvPr id="39" name="TextBox 38"/>
          <p:cNvSpPr txBox="1"/>
          <p:nvPr/>
        </p:nvSpPr>
        <p:spPr>
          <a:xfrm>
            <a:off x="9530216" y="5645767"/>
            <a:ext cx="822960"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15</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Build your system, protect yourself</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A fundamental health check with AI, and corporate actions</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The 5-check health filter, market-cap tiers and corporate actions</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45536"/>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Fill my health card: AI does the maths, you verify and decide</a:t>
            </a:r>
          </a:p>
        </p:txBody>
      </p:sp>
      <p:sp>
        <p:nvSpPr>
          <p:cNvPr id="14" name="Rounded Rectangle 13"/>
          <p:cNvSpPr/>
          <p:nvPr/>
        </p:nvSpPr>
        <p:spPr>
          <a:xfrm>
            <a:off x="4572000" y="3922776"/>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922776"/>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Story bias: the magic of a good story</a:t>
            </a:r>
          </a:p>
        </p:txBody>
      </p:sp>
      <p:sp>
        <p:nvSpPr>
          <p:cNvPr id="16" name="TextBox 15"/>
          <p:cNvSpPr txBox="1"/>
          <p:nvPr/>
        </p:nvSpPr>
        <p:spPr>
          <a:xfrm>
            <a:off x="4572000" y="4608576"/>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BY THE END</a:t>
            </a:r>
          </a:p>
        </p:txBody>
      </p:sp>
      <p:sp>
        <p:nvSpPr>
          <p:cNvPr id="17" name="TextBox 16"/>
          <p:cNvSpPr txBox="1"/>
          <p:nvPr/>
        </p:nvSpPr>
        <p:spPr>
          <a:xfrm>
            <a:off x="4572000" y="4882896"/>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run a five-check health filter on a company from its own filings, score it with written rules, turn a passing card into a Portfolio row, explain market-cap tiers and sectors, and work out what a dividend, bonus, split, rights issue or buyback does to your shares, with its ex-date and record date.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next big thing?</a:t>
            </a:r>
          </a:p>
        </p:txBody>
      </p:sp>
      <p:sp>
        <p:nvSpPr>
          <p:cNvPr id="4" name="Rounded Rectangle 3"/>
          <p:cNvSpPr/>
          <p:nvPr/>
        </p:nvSpPr>
        <p:spPr>
          <a:xfrm>
            <a:off x="457200" y="1426464"/>
            <a:ext cx="3649370" cy="3377184"/>
          </a:xfrm>
          <a:prstGeom prst="roundRect">
            <a:avLst>
              <a:gd name="adj" fmla="val 379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91998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evening, the weekly video call. Aman has joined early, and he is excited.</a:t>
            </a:r>
          </a:p>
        </p:txBody>
      </p:sp>
      <p:sp>
        <p:nvSpPr>
          <p:cNvPr id="7" name="Rounded Rectangle 6"/>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Anand Snacks is the next big thing. The CEO said on TV they will open 500 stores, and the chart just made a new high. Also, Gupta Cement's chart shows a 50% crash in a single day. It is dirt cheap now.</a:t>
            </a:r>
          </a:p>
        </p:txBody>
      </p:sp>
      <p:sp>
        <p:nvSpPr>
          <p:cNvPr id="13" name="Rounded Rectangle 12"/>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 lovely story, Aman. Two questions first. What do Anand Snacks' own accounts say? And did Gupta Cement really lose half its value overnight, or did something else happen?</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next big thing?</a:t>
            </a:r>
          </a:p>
        </p:txBody>
      </p:sp>
      <p:sp>
        <p:nvSpPr>
          <p:cNvPr id="4" name="Rounded Rectangle 3"/>
          <p:cNvSpPr/>
          <p:nvPr/>
        </p:nvSpPr>
        <p:spPr>
          <a:xfrm>
            <a:off x="457200"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I looked up Anand Snacks on the NSE website. The promoters have pledged 45% of their shares. And profit has grown for three years, but the cash coming in from the business has been negative for two years.</a:t>
            </a:r>
          </a:p>
        </p:txBody>
      </p:sp>
      <p:sp>
        <p:nvSpPr>
          <p:cNvPr id="10" name="Rounded Rectangle 9"/>
          <p:cNvSpPr/>
          <p:nvPr/>
        </p:nvSpPr>
        <p:spPr>
          <a:xfrm>
            <a:off x="4271162"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Pledged? Negative cash? The interview never mentioned any of that. So what happened to Gupta Cement?</a:t>
            </a:r>
          </a:p>
        </p:txBody>
      </p:sp>
      <p:sp>
        <p:nvSpPr>
          <p:cNvPr id="16" name="Rounded Rectangle 15"/>
          <p:cNvSpPr/>
          <p:nvPr/>
        </p:nvSpPr>
        <p:spPr>
          <a:xfrm>
            <a:off x="8085125"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919984"/>
          </a:xfrm>
          <a:prstGeom prst="wedgeRoundRectCallout">
            <a:avLst>
              <a:gd name="adj1" fmla="val -41915"/>
              <a:gd name="adj2" fmla="val -56263"/>
              <a:gd name="adj3" fmla="val 375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6273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 1:1 bonus: the kind of fake crash you met on Days 5 and 6. 100 shares became 200, each at about half the price. Nothing was lost, and nothing got cheap. Today we learn a short health check for the business, and the company events that move a chart without changing the business.</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story tells you what might happen. The accounts tell you what did happen. Read the accounts first.</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 health check, not a price target</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 chart shows what the price is doing, not whether the business underneath is healthy.</a:t>
            </a:r>
          </a:p>
          <a:p>
            <a:pPr algn="l" marL="274320" indent="-274320">
              <a:lnSpc>
                <a:spcPct val="100000"/>
              </a:lnSpc>
              <a:spcAft>
                <a:spcPts val="800"/>
              </a:spcAft>
              <a:buClr>
                <a:srgbClr val="F5A623"/>
              </a:buClr>
              <a:buFont typeface="Arial"/>
              <a:buChar char="•"/>
            </a:pPr>
            <a:r>
              <a:rPr sz="1600" b="0" i="0">
                <a:solidFill>
                  <a:srgbClr val="18232F"/>
                </a:solidFill>
                <a:latin typeface="Segoe UI"/>
              </a:rPr>
              <a:t>So in this course, fundamental analysis (reading a company's accounts to judge its business) is only a filter, never a way to find a price target.</a:t>
            </a:r>
          </a:p>
          <a:p>
            <a:pPr algn="l" marL="274320" indent="-274320">
              <a:lnSpc>
                <a:spcPct val="100000"/>
              </a:lnSpc>
              <a:buClr>
                <a:srgbClr val="F5A623"/>
              </a:buClr>
              <a:buFont typeface="Arial"/>
              <a:buChar char="•"/>
            </a:pPr>
            <a:r>
              <a:rPr sz="1600" b="0" i="0">
                <a:solidFill>
                  <a:srgbClr val="18232F"/>
                </a:solidFill>
                <a:latin typeface="Segoe UI"/>
              </a:rPr>
              <a:t>Before a stock joins your swing watchlist, it passes a short health check: about five minutes once you know where the numbers are, longer the first time.</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Anand Snacks Ltd has 5 crore shares trading at Rs 200, so its market cap is Rs 1,000 crore. On the AMFI list it ranks far below 250, well outside the top 500: a small cap. It is not even in the NIFTY 500 that Day 11's screener starts from. Small caps usually swing harder and trade in thinner volume, so the spread and slippage from Day 2 bite more, and pump-and-dump tip groups love them. … So write each watchlist stock's sector, shown on its NSE quote page, next to its card.</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Market cap and tier</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companies. The tier comes from the rank on the AMFI list, not from a set rupee amount.</a:t>
            </a:r>
          </a:p>
        </p:txBody>
      </p:sp>
      <p:sp>
        <p:nvSpPr>
          <p:cNvPr id="11" name="TextBox 10"/>
          <p:cNvSpPr txBox="1"/>
          <p:nvPr/>
        </p:nvSpPr>
        <p:spPr>
          <a:xfrm>
            <a:off x="6397600" y="2448306"/>
            <a:ext cx="182162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Gupta Cement (large)</a:t>
            </a:r>
          </a:p>
        </p:txBody>
      </p:sp>
      <p:sp>
        <p:nvSpPr>
          <p:cNvPr id="12" name="Rounded Rectangle 11"/>
          <p:cNvSpPr/>
          <p:nvPr/>
        </p:nvSpPr>
        <p:spPr>
          <a:xfrm>
            <a:off x="8328957" y="2622042"/>
            <a:ext cx="182111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8328957" y="2622042"/>
            <a:ext cx="1821110" cy="310896"/>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241507" y="2448306"/>
            <a:ext cx="1337540" cy="658368"/>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Rs 1,50,000 cr</a:t>
            </a:r>
          </a:p>
        </p:txBody>
      </p:sp>
      <p:sp>
        <p:nvSpPr>
          <p:cNvPr id="15" name="TextBox 14"/>
          <p:cNvSpPr txBox="1"/>
          <p:nvPr/>
        </p:nvSpPr>
        <p:spPr>
          <a:xfrm>
            <a:off x="6397600" y="3106674"/>
            <a:ext cx="182162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Sharma Textiles (mid)</a:t>
            </a:r>
          </a:p>
        </p:txBody>
      </p:sp>
      <p:sp>
        <p:nvSpPr>
          <p:cNvPr id="16" name="Rounded Rectangle 15"/>
          <p:cNvSpPr/>
          <p:nvPr/>
        </p:nvSpPr>
        <p:spPr>
          <a:xfrm>
            <a:off x="8328957" y="3280410"/>
            <a:ext cx="182111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8328957" y="3280410"/>
            <a:ext cx="728444"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241507" y="3106674"/>
            <a:ext cx="1337540"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Rs 60,000 cr</a:t>
            </a:r>
          </a:p>
        </p:txBody>
      </p:sp>
      <p:sp>
        <p:nvSpPr>
          <p:cNvPr id="19" name="TextBox 18"/>
          <p:cNvSpPr txBox="1"/>
          <p:nvPr/>
        </p:nvSpPr>
        <p:spPr>
          <a:xfrm>
            <a:off x="6397600" y="3765042"/>
            <a:ext cx="182162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Anand Snacks (small)</a:t>
            </a:r>
          </a:p>
        </p:txBody>
      </p:sp>
      <p:sp>
        <p:nvSpPr>
          <p:cNvPr id="20" name="Rounded Rectangle 19"/>
          <p:cNvSpPr/>
          <p:nvPr/>
        </p:nvSpPr>
        <p:spPr>
          <a:xfrm>
            <a:off x="8328957" y="3938778"/>
            <a:ext cx="182111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8328957" y="3938778"/>
            <a:ext cx="45720"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241507" y="3765042"/>
            <a:ext cx="1337540"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Rs 1,000 cr</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5" name="TextBox 2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The chart tells you about the price. The health check tells you about the business. You need both.</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Checks 1 to 3: growth, margin, debt</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Every number you need is in the company's own filings: quarterly results and the annual report on nseindia.com or bseindia.com.</a:t>
            </a:r>
          </a:p>
          <a:p>
            <a:pPr algn="l" marL="274320" indent="-274320">
              <a:lnSpc>
                <a:spcPct val="100000"/>
              </a:lnSpc>
              <a:spcAft>
                <a:spcPts val="800"/>
              </a:spcAft>
              <a:buClr>
                <a:srgbClr val="F5A623"/>
              </a:buClr>
              <a:buFont typeface="Arial"/>
              <a:buChar char="•"/>
            </a:pPr>
            <a:r>
              <a:rPr sz="1600" b="0" i="0">
                <a:solidFill>
                  <a:srgbClr val="18232F"/>
                </a:solidFill>
                <a:latin typeface="Segoe UI"/>
              </a:rPr>
              <a:t>Free data sites copy them and can lag, so match the latest year against the filing.</a:t>
            </a:r>
          </a:p>
          <a:p>
            <a:pPr algn="l" marL="274320" indent="-274320">
              <a:lnSpc>
                <a:spcPct val="100000"/>
              </a:lnSpc>
              <a:buClr>
                <a:srgbClr val="F5A623"/>
              </a:buClr>
              <a:buFont typeface="Arial"/>
              <a:buChar char="•"/>
            </a:pPr>
            <a:r>
              <a:rPr sz="1600" b="0" i="0">
                <a:solidFill>
                  <a:srgbClr val="18232F"/>
                </a:solidFill>
                <a:latin typeface="Segoe UI"/>
              </a:rPr>
              <a:t>Check 1, growth: is revenue (sales, the money earned from selling goods or services) in the latest year (year 3) higher than in the first of your three years (year 1)?</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Ltd: sales rose from Rs 4,200 crore in year 1 to Rs 5,000 crore in year 3, so growth is up. Operating profit is Rs 600 crore, so Rs 12 of every Rs 100 of sales is left, about the same 12% as in year 1. After Rs 150 crore of depreciation (the yearly wear and tear of its machines), Rs 450 crore is left before interest and tax. … Think of a family whose EMIs eat most of the salary: one bad quarter, or a credit-rating downgrade (an agency lowering its view of the company's ability to repay), and the share can gap down.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Bharat Pumps: checks 1 to 3</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Course rule: debt-to-equity above 1, or interest cover below 2, is a debt flag. This cover leaves out other income (such as interest on deposits), so a data site that includes it may show a higher number. These are teaching cut-offs, not laws.</a:t>
            </a:r>
          </a:p>
        </p:txBody>
      </p:sp>
      <p:sp>
        <p:nvSpPr>
          <p:cNvPr id="11" name="TextBox 10"/>
          <p:cNvSpPr txBox="1"/>
          <p:nvPr/>
        </p:nvSpPr>
        <p:spPr>
          <a:xfrm>
            <a:off x="6397600" y="1805940"/>
            <a:ext cx="329184" cy="50749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532522" cy="50749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Sales in year 1</a:t>
            </a:r>
          </a:p>
        </p:txBody>
      </p:sp>
      <p:sp>
        <p:nvSpPr>
          <p:cNvPr id="13" name="TextBox 12"/>
          <p:cNvSpPr txBox="1"/>
          <p:nvPr/>
        </p:nvSpPr>
        <p:spPr>
          <a:xfrm>
            <a:off x="10295881" y="1805940"/>
            <a:ext cx="1182582" cy="50749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4,200 cr</a:t>
            </a:r>
          </a:p>
        </p:txBody>
      </p:sp>
      <p:cxnSp>
        <p:nvCxnSpPr>
          <p:cNvPr id="14" name="Connector 13"/>
          <p:cNvCxnSpPr/>
          <p:nvPr/>
        </p:nvCxnSpPr>
        <p:spPr>
          <a:xfrm>
            <a:off x="6397600" y="231343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13432"/>
            <a:ext cx="329184" cy="50749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6" name="TextBox 15"/>
          <p:cNvSpPr txBox="1"/>
          <p:nvPr/>
        </p:nvSpPr>
        <p:spPr>
          <a:xfrm>
            <a:off x="6726784" y="2313432"/>
            <a:ext cx="3532522" cy="50749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Sales in year 3: growth up</a:t>
            </a:r>
          </a:p>
        </p:txBody>
      </p:sp>
      <p:sp>
        <p:nvSpPr>
          <p:cNvPr id="17" name="TextBox 16"/>
          <p:cNvSpPr txBox="1"/>
          <p:nvPr/>
        </p:nvSpPr>
        <p:spPr>
          <a:xfrm>
            <a:off x="10295881" y="2313432"/>
            <a:ext cx="1182582" cy="50749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5,000 cr</a:t>
            </a:r>
          </a:p>
        </p:txBody>
      </p:sp>
      <p:cxnSp>
        <p:nvCxnSpPr>
          <p:cNvPr id="18" name="Connector 17"/>
          <p:cNvCxnSpPr/>
          <p:nvPr/>
        </p:nvCxnSpPr>
        <p:spPr>
          <a:xfrm>
            <a:off x="6397600" y="282092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820924"/>
            <a:ext cx="329184" cy="50749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0" name="TextBox 19"/>
          <p:cNvSpPr txBox="1"/>
          <p:nvPr/>
        </p:nvSpPr>
        <p:spPr>
          <a:xfrm>
            <a:off x="6726784" y="2820924"/>
            <a:ext cx="3532522" cy="50749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Operating margin: 600 ÷ 5,000</a:t>
            </a:r>
          </a:p>
        </p:txBody>
      </p:sp>
      <p:sp>
        <p:nvSpPr>
          <p:cNvPr id="21" name="TextBox 20"/>
          <p:cNvSpPr txBox="1"/>
          <p:nvPr/>
        </p:nvSpPr>
        <p:spPr>
          <a:xfrm>
            <a:off x="10295881" y="2820924"/>
            <a:ext cx="1182582" cy="50749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a:t>
            </a:r>
          </a:p>
        </p:txBody>
      </p:sp>
      <p:cxnSp>
        <p:nvCxnSpPr>
          <p:cNvPr id="22" name="Connector 21"/>
          <p:cNvCxnSpPr/>
          <p:nvPr/>
        </p:nvCxnSpPr>
        <p:spPr>
          <a:xfrm>
            <a:off x="6397600" y="332841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328416"/>
            <a:ext cx="329184" cy="50749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4" name="TextBox 23"/>
          <p:cNvSpPr txBox="1"/>
          <p:nvPr/>
        </p:nvSpPr>
        <p:spPr>
          <a:xfrm>
            <a:off x="6726784" y="3328416"/>
            <a:ext cx="3532522" cy="50749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Debt-to-equity: 3,000 ÷ 2,500</a:t>
            </a:r>
          </a:p>
        </p:txBody>
      </p:sp>
      <p:sp>
        <p:nvSpPr>
          <p:cNvPr id="25" name="TextBox 24"/>
          <p:cNvSpPr txBox="1"/>
          <p:nvPr/>
        </p:nvSpPr>
        <p:spPr>
          <a:xfrm>
            <a:off x="10295881" y="3328416"/>
            <a:ext cx="1182582" cy="50749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a:t>
            </a:r>
          </a:p>
        </p:txBody>
      </p:sp>
      <p:cxnSp>
        <p:nvCxnSpPr>
          <p:cNvPr id="26" name="Connector 25"/>
          <p:cNvCxnSpPr/>
          <p:nvPr/>
        </p:nvCxnSpPr>
        <p:spPr>
          <a:xfrm>
            <a:off x="6397600" y="383590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835908"/>
            <a:ext cx="329184" cy="50749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8" name="TextBox 27"/>
          <p:cNvSpPr txBox="1"/>
          <p:nvPr/>
        </p:nvSpPr>
        <p:spPr>
          <a:xfrm>
            <a:off x="6726784" y="3835908"/>
            <a:ext cx="3532522" cy="50749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Interest cover: (600 - 150) ÷ 300</a:t>
            </a:r>
          </a:p>
        </p:txBody>
      </p:sp>
      <p:sp>
        <p:nvSpPr>
          <p:cNvPr id="29" name="TextBox 28"/>
          <p:cNvSpPr txBox="1"/>
          <p:nvPr/>
        </p:nvSpPr>
        <p:spPr>
          <a:xfrm>
            <a:off x="10295881" y="3835908"/>
            <a:ext cx="1182582" cy="50749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1.5x</a:t>
            </a:r>
          </a:p>
        </p:txBody>
      </p:sp>
      <p:sp>
        <p:nvSpPr>
          <p:cNvPr id="30" name="Rounded Rectangle 29"/>
          <p:cNvSpPr/>
          <p:nvPr/>
        </p:nvSpPr>
        <p:spPr>
          <a:xfrm>
            <a:off x="6397600" y="4398264"/>
            <a:ext cx="5154016" cy="507492"/>
          </a:xfrm>
          <a:prstGeom prst="roundRect">
            <a:avLst>
              <a:gd name="adj" fmla="val 14414"/>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398264"/>
            <a:ext cx="329184" cy="50749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398264"/>
            <a:ext cx="3532522" cy="50749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Flags so far (debt only)</a:t>
            </a:r>
          </a:p>
        </p:txBody>
      </p:sp>
      <p:sp>
        <p:nvSpPr>
          <p:cNvPr id="33" name="TextBox 32"/>
          <p:cNvSpPr txBox="1"/>
          <p:nvPr/>
        </p:nvSpPr>
        <p:spPr>
          <a:xfrm>
            <a:off x="10295881" y="4398264"/>
            <a:ext cx="1182582" cy="50749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1</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No need to memorise numbers: read the direction over three years, then apply the written cut-offs.</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Checks 4 and 5: promoter pledge and cash flow</a:t>
            </a:r>
          </a:p>
        </p:txBody>
      </p:sp>
      <p:sp>
        <p:nvSpPr>
          <p:cNvPr id="4" name="TextBox 3"/>
          <p:cNvSpPr txBox="1"/>
          <p:nvPr/>
        </p:nvSpPr>
        <p:spPr>
          <a:xfrm>
            <a:off x="457200" y="1335024"/>
            <a:ext cx="5519776" cy="23888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Promoters are the founders or controlling owners, and the shareholding pattern filed every quarter shows how much they own and how much of it is pledged.</a:t>
            </a:r>
          </a:p>
          <a:p>
            <a:pPr algn="l" marL="274320" indent="-274320">
              <a:lnSpc>
                <a:spcPct val="100000"/>
              </a:lnSpc>
              <a:spcAft>
                <a:spcPts val="750"/>
              </a:spcAft>
              <a:buClr>
                <a:srgbClr val="F5A623"/>
              </a:buClr>
              <a:buFont typeface="Arial"/>
              <a:buChar char="•"/>
            </a:pPr>
            <a:r>
              <a:rPr sz="1500" b="0" i="0">
                <a:solidFill>
                  <a:srgbClr val="18232F"/>
                </a:solidFill>
                <a:latin typeface="Segoe UI"/>
              </a:rPr>
              <a:t>A pledge means the promoter has given shares as security for a loan, like a family taking a gold loan.</a:t>
            </a:r>
          </a:p>
          <a:p>
            <a:pPr algn="l" marL="274320" indent="-274320">
              <a:lnSpc>
                <a:spcPct val="100000"/>
              </a:lnSpc>
              <a:spcAft>
                <a:spcPts val="750"/>
              </a:spcAft>
              <a:buClr>
                <a:srgbClr val="F5A623"/>
              </a:buClr>
              <a:buFont typeface="Arial"/>
              <a:buChar char="•"/>
            </a:pPr>
            <a:r>
              <a:rPr sz="1500" b="0" i="0">
                <a:solidFill>
                  <a:srgbClr val="18232F"/>
                </a:solidFill>
                <a:latin typeface="Segoe UI"/>
              </a:rPr>
              <a:t>If the price falls, the lender asks for more shares or cash, and may sell the pledged shares, which can push the price down further.</a:t>
            </a:r>
          </a:p>
          <a:p>
            <a:pPr algn="l" marL="274320" indent="-274320">
              <a:lnSpc>
                <a:spcPct val="100000"/>
              </a:lnSpc>
              <a:buClr>
                <a:srgbClr val="F5A623"/>
              </a:buClr>
              <a:buFont typeface="Arial"/>
              <a:buChar char="•"/>
            </a:pPr>
            <a:r>
              <a:rPr sz="1500" b="0" i="0">
                <a:solidFill>
                  <a:srgbClr val="18232F"/>
                </a:solidFill>
                <a:latin typeface="Segoe UI"/>
              </a:rPr>
              <a:t>A falling promoter holding is not always selling.</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Anand Snacks' promoter has pledged shares worth Rs 100 crore for a Rs 50 crore loan; lenders usually want shares worth about twice the loan. If the price falls 40%, those shares are worth Rs 60 crore, far below twice the loan, and the lender asks for more; if the promoter cannot pay, the lender sells and the price falls again. Now the cash. Over three years Anand Snacks reported profit of Rs 8, 10 and 12 crore, Rs 30 crore in all, but its operating cash flow was Rs 2, minus 6 and minus 8 crore: minus Rs 12 crore in all. It is like a kirana store whose bahi-khata shows a profit while the galla stays empty, because most of its sales are still udhaar.</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pledge loop</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Each turn of the loop can push the price lower. That is why, in the scoring rules below, a big or rising pledge takes a stock off your list on its own.</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Price falls</a:t>
            </a:r>
          </a:p>
          <a:p>
            <a:pPr algn="ctr">
              <a:lnSpc>
                <a:spcPct val="100000"/>
              </a:lnSpc>
            </a:pPr>
            <a:r>
              <a:rPr sz="1100" b="0" i="0">
                <a:solidFill>
                  <a:srgbClr val="47596B"/>
                </a:solidFill>
                <a:latin typeface="Segoe UI"/>
              </a:rPr>
              <a:t>Bad news or a weak market</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value drops</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Cover shrinks</a:t>
            </a:r>
          </a:p>
          <a:p>
            <a:pPr algn="ctr">
              <a:lnSpc>
                <a:spcPct val="100000"/>
              </a:lnSpc>
            </a:pPr>
            <a:r>
              <a:rPr sz="1100" b="0" i="0">
                <a:solidFill>
                  <a:srgbClr val="47596B"/>
                </a:solidFill>
                <a:latin typeface="Segoe UI"/>
              </a:rPr>
              <a:t>Pledged shares now cover less of the loan</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384548"/>
            <a:ext cx="658368" cy="29260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lender worries</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Top-up call</a:t>
            </a:r>
          </a:p>
          <a:p>
            <a:pPr algn="ctr">
              <a:lnSpc>
                <a:spcPct val="100000"/>
              </a:lnSpc>
            </a:pPr>
            <a:r>
              <a:rPr sz="1100" b="0" i="0">
                <a:solidFill>
                  <a:srgbClr val="47596B"/>
                </a:solidFill>
                <a:latin typeface="Segoe UI"/>
              </a:rPr>
              <a:t>Lender asks for more shares or cash</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if unpaid</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Lender sells</a:t>
            </a:r>
          </a:p>
          <a:p>
            <a:pPr algn="ctr">
              <a:lnSpc>
                <a:spcPct val="100000"/>
              </a:lnSpc>
            </a:pPr>
            <a:r>
              <a:rPr sz="1100" b="0" i="0">
                <a:solidFill>
                  <a:srgbClr val="47596B"/>
                </a:solidFill>
                <a:latin typeface="Segoe UI"/>
              </a:rPr>
              <a:t>Pledged shares hit the market</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more sellers</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Price falls more</a:t>
            </a:r>
          </a:p>
          <a:p>
            <a:pPr algn="ctr">
              <a:lnSpc>
                <a:spcPct val="100000"/>
              </a:lnSpc>
            </a:pPr>
            <a:r>
              <a:rPr sz="1100" b="0" i="0">
                <a:solidFill>
                  <a:srgbClr val="47596B"/>
                </a:solidFill>
                <a:latin typeface="Segoe UI"/>
              </a:rPr>
              <a:t>And the loop can start again</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Profit is what the books say. Cash is what came into the galla.</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Scoring the card: rules first, story last</a:t>
            </a:r>
          </a:p>
        </p:txBody>
      </p:sp>
      <p:sp>
        <p:nvSpPr>
          <p:cNvPr id="4" name="TextBox 3"/>
          <p:cNvSpPr txBox="1"/>
          <p:nvPr/>
        </p:nvSpPr>
        <p:spPr>
          <a:xfrm>
            <a:off x="457200" y="1335024"/>
            <a:ext cx="5519776" cy="115062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Now score the card with written rules.</a:t>
            </a:r>
          </a:p>
          <a:p>
            <a:pPr algn="l" marL="274320" indent="-274320">
              <a:lnSpc>
                <a:spcPct val="100000"/>
              </a:lnSpc>
              <a:spcAft>
                <a:spcPts val="750"/>
              </a:spcAft>
              <a:buClr>
                <a:srgbClr val="F5A623"/>
              </a:buClr>
              <a:buFont typeface="Arial"/>
              <a:buChar char="•"/>
            </a:pPr>
            <a:r>
              <a:rPr sz="1500" b="0" i="0">
                <a:solidFill>
                  <a:srgbClr val="18232F"/>
                </a:solidFill>
                <a:latin typeface="Segoe UI"/>
              </a:rPr>
              <a:t>The other four checks are counted (sales in year 3 below year 1.</a:t>
            </a:r>
          </a:p>
          <a:p>
            <a:pPr algn="l" marL="274320" indent="-274320">
              <a:lnSpc>
                <a:spcPct val="100000"/>
              </a:lnSpc>
              <a:buClr>
                <a:srgbClr val="F5A623"/>
              </a:buClr>
              <a:buFont typeface="Arial"/>
              <a:buChar char="•"/>
            </a:pPr>
            <a:r>
              <a:rPr sz="1500" b="0" i="0">
                <a:solidFill>
                  <a:srgbClr val="18232F"/>
                </a:solidFill>
                <a:latin typeface="Segoe UI"/>
              </a:rPr>
              <a:t>Margin down in both year 2 and year 3.</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Priya's card for Bharat Pumps: growth up, margin steady, debt flagged, no pledge, and three-year cash of Rs 270 crore against Rs 300 crore of profit. One counted flag, so it stays on her list with 'debt: watch' in her journal. … Liking it is allowed; trading on it is not.</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How the card is scored</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Rules of thumb for learning, not laws of nature. Write them down before you look at any company.</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0436"/>
          </a:xfrm>
          <a:prstGeom prst="roundRect">
            <a:avLst>
              <a:gd name="adj" fmla="val 20761"/>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3211"/>
            <a:ext cx="3527450" cy="22021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0436"/>
          </a:xfrm>
          <a:prstGeom prst="rect">
            <a:avLst/>
          </a:prstGeom>
          <a:noFill/>
        </p:spPr>
        <p:txBody>
          <a:bodyPr wrap="square" lIns="0" rIns="0" tIns="0" bIns="0" anchor="ctr">
            <a:noAutofit/>
          </a:bodyPr>
          <a:lstStyle/>
          <a:p>
            <a:pPr algn="l">
              <a:lnSpc>
                <a:spcPct val="100000"/>
              </a:lnSpc>
            </a:pPr>
            <a:r>
              <a:rPr sz="1450" b="1" i="0">
                <a:solidFill>
                  <a:srgbClr val="991B1B"/>
                </a:solidFill>
                <a:latin typeface="Segoe UI"/>
              </a:rPr>
              <a:t>Knock-out: one is enough</a:t>
            </a:r>
          </a:p>
        </p:txBody>
      </p:sp>
      <p:cxnSp>
        <p:nvCxnSpPr>
          <p:cNvPr id="16" name="Connector 15"/>
          <p:cNvCxnSpPr/>
          <p:nvPr/>
        </p:nvCxnSpPr>
        <p:spPr>
          <a:xfrm>
            <a:off x="640080" y="3813429"/>
            <a:ext cx="3527450"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59733"/>
            <a:ext cx="3234842" cy="1238631"/>
          </a:xfrm>
          <a:prstGeom prst="rect">
            <a:avLst/>
          </a:prstGeom>
          <a:noFill/>
        </p:spPr>
        <p:txBody>
          <a:bodyPr wrap="square" lIns="0" rIns="0" tIns="0" bIns="0" anchor="t">
            <a:noAutofit/>
          </a:bodyPr>
          <a:lstStyle/>
          <a:p>
            <a:pPr algn="l" marL="201168" indent="-201168">
              <a:lnSpc>
                <a:spcPct val="100000"/>
              </a:lnSpc>
              <a:spcAft>
                <a:spcPts val="675"/>
              </a:spcAft>
              <a:buClr>
                <a:srgbClr val="F0554E"/>
              </a:buClr>
              <a:buFont typeface="Arial"/>
              <a:buChar char="•"/>
            </a:pPr>
            <a:r>
              <a:rPr sz="1350" b="0" i="0">
                <a:solidFill>
                  <a:srgbClr val="18232F"/>
                </a:solidFill>
                <a:latin typeface="Segoe UI"/>
              </a:rPr>
              <a:t>Pledge above 10% of promoter shares</a:t>
            </a:r>
          </a:p>
          <a:p>
            <a:pPr algn="l" marL="201168" indent="-201168">
              <a:lnSpc>
                <a:spcPct val="100000"/>
              </a:lnSpc>
              <a:buClr>
                <a:srgbClr val="F0554E"/>
              </a:buClr>
              <a:buFont typeface="Arial"/>
              <a:buChar char="•"/>
            </a:pPr>
            <a:r>
              <a:rPr sz="1350" b="0" i="0">
                <a:solidFill>
                  <a:srgbClr val="18232F"/>
                </a:solidFill>
                <a:latin typeface="Segoe UI"/>
              </a:rPr>
              <a:t>Pledge % up two quarters in a row</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0436"/>
          </a:xfrm>
          <a:prstGeom prst="roundRect">
            <a:avLst>
              <a:gd name="adj" fmla="val 2076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3211"/>
            <a:ext cx="3527450" cy="22021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0436"/>
          </a:xfrm>
          <a:prstGeom prst="rect">
            <a:avLst/>
          </a:prstGeom>
          <a:noFill/>
        </p:spPr>
        <p:txBody>
          <a:bodyPr wrap="square" lIns="0" rIns="0" tIns="0" bIns="0" anchor="ctr">
            <a:noAutofit/>
          </a:bodyPr>
          <a:lstStyle/>
          <a:p>
            <a:pPr algn="l">
              <a:lnSpc>
                <a:spcPct val="100000"/>
              </a:lnSpc>
            </a:pPr>
            <a:r>
              <a:rPr sz="1450" b="1" i="0">
                <a:solidFill>
                  <a:srgbClr val="92400E"/>
                </a:solidFill>
                <a:latin typeface="Segoe UI"/>
              </a:rPr>
              <a:t>Counted: two or more = out</a:t>
            </a:r>
          </a:p>
        </p:txBody>
      </p:sp>
      <p:cxnSp>
        <p:nvCxnSpPr>
          <p:cNvPr id="23" name="Connector 22"/>
          <p:cNvCxnSpPr/>
          <p:nvPr/>
        </p:nvCxnSpPr>
        <p:spPr>
          <a:xfrm>
            <a:off x="4332122" y="381342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59733"/>
            <a:ext cx="3234842" cy="1238631"/>
          </a:xfrm>
          <a:prstGeom prst="rect">
            <a:avLst/>
          </a:prstGeom>
          <a:noFill/>
        </p:spPr>
        <p:txBody>
          <a:bodyPr wrap="square" lIns="0" rIns="0" tIns="0" bIns="0" anchor="t">
            <a:noAutofit/>
          </a:bodyPr>
          <a:lstStyle/>
          <a:p>
            <a:pPr algn="l" marL="201168" indent="-201168">
              <a:lnSpc>
                <a:spcPct val="100000"/>
              </a:lnSpc>
              <a:spcAft>
                <a:spcPts val="675"/>
              </a:spcAft>
              <a:buClr>
                <a:srgbClr val="F5A524"/>
              </a:buClr>
              <a:buFont typeface="Arial"/>
              <a:buChar char="•"/>
            </a:pPr>
            <a:r>
              <a:rPr sz="1350" b="0" i="0">
                <a:solidFill>
                  <a:srgbClr val="18232F"/>
                </a:solidFill>
                <a:latin typeface="Segoe UI"/>
              </a:rPr>
              <a:t>Sales: year 3 below year 1</a:t>
            </a:r>
          </a:p>
          <a:p>
            <a:pPr algn="l" marL="201168" indent="-201168">
              <a:lnSpc>
                <a:spcPct val="100000"/>
              </a:lnSpc>
              <a:spcAft>
                <a:spcPts val="675"/>
              </a:spcAft>
              <a:buClr>
                <a:srgbClr val="F5A524"/>
              </a:buClr>
              <a:buFont typeface="Arial"/>
              <a:buChar char="•"/>
            </a:pPr>
            <a:r>
              <a:rPr sz="1350" b="0" i="0">
                <a:solidFill>
                  <a:srgbClr val="18232F"/>
                </a:solidFill>
                <a:latin typeface="Segoe UI"/>
              </a:rPr>
              <a:t>Margin fell in year 2 and year 3</a:t>
            </a:r>
          </a:p>
          <a:p>
            <a:pPr algn="l" marL="201168" indent="-201168">
              <a:lnSpc>
                <a:spcPct val="100000"/>
              </a:lnSpc>
              <a:spcAft>
                <a:spcPts val="675"/>
              </a:spcAft>
              <a:buClr>
                <a:srgbClr val="F5A524"/>
              </a:buClr>
              <a:buFont typeface="Arial"/>
              <a:buChar char="•"/>
            </a:pPr>
            <a:r>
              <a:rPr sz="1350" b="0" i="0">
                <a:solidFill>
                  <a:srgbClr val="18232F"/>
                </a:solidFill>
                <a:latin typeface="Segoe UI"/>
              </a:rPr>
              <a:t>D/E above 1 or cover below 2</a:t>
            </a:r>
          </a:p>
          <a:p>
            <a:pPr algn="l" marL="201168" indent="-201168">
              <a:lnSpc>
                <a:spcPct val="100000"/>
              </a:lnSpc>
              <a:buClr>
                <a:srgbClr val="F5A524"/>
              </a:buClr>
              <a:buFont typeface="Arial"/>
              <a:buChar char="•"/>
            </a:pPr>
            <a:r>
              <a:rPr sz="1350" b="0" i="0">
                <a:solidFill>
                  <a:srgbClr val="18232F"/>
                </a:solidFill>
                <a:latin typeface="Segoe UI"/>
              </a:rPr>
              <a:t>3-yr cash under half of profit, or a loss</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0436"/>
          </a:xfrm>
          <a:prstGeom prst="roundRect">
            <a:avLst>
              <a:gd name="adj" fmla="val 20761"/>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3211"/>
            <a:ext cx="3527450" cy="220218"/>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0436"/>
          </a:xfrm>
          <a:prstGeom prst="rect">
            <a:avLst/>
          </a:prstGeom>
          <a:noFill/>
        </p:spPr>
        <p:txBody>
          <a:bodyPr wrap="square" lIns="0" rIns="0" tIns="0" bIns="0" anchor="ctr">
            <a:noAutofit/>
          </a:bodyPr>
          <a:lstStyle/>
          <a:p>
            <a:pPr algn="l">
              <a:lnSpc>
                <a:spcPct val="100000"/>
              </a:lnSpc>
            </a:pPr>
            <a:r>
              <a:rPr sz="1450" b="1" i="0">
                <a:solidFill>
                  <a:srgbClr val="47596B"/>
                </a:solidFill>
                <a:latin typeface="Segoe UI"/>
              </a:rPr>
              <a:t>Check does not fit</a:t>
            </a:r>
          </a:p>
        </p:txBody>
      </p:sp>
      <p:cxnSp>
        <p:nvCxnSpPr>
          <p:cNvPr id="30" name="Connector 29"/>
          <p:cNvCxnSpPr/>
          <p:nvPr/>
        </p:nvCxnSpPr>
        <p:spPr>
          <a:xfrm>
            <a:off x="8024165" y="3813429"/>
            <a:ext cx="3527450" cy="0"/>
          </a:xfrm>
          <a:prstGeom prst="line">
            <a:avLst/>
          </a:prstGeom>
          <a:ln w="1587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59733"/>
            <a:ext cx="3234842" cy="1238631"/>
          </a:xfrm>
          <a:prstGeom prst="rect">
            <a:avLst/>
          </a:prstGeom>
          <a:noFill/>
        </p:spPr>
        <p:txBody>
          <a:bodyPr wrap="square" lIns="0" rIns="0" tIns="0" bIns="0" anchor="t">
            <a:noAutofit/>
          </a:bodyPr>
          <a:lstStyle/>
          <a:p>
            <a:pPr algn="l" marL="201168" indent="-201168">
              <a:lnSpc>
                <a:spcPct val="100000"/>
              </a:lnSpc>
              <a:spcAft>
                <a:spcPts val="675"/>
              </a:spcAft>
              <a:buClr>
                <a:srgbClr val="57687A"/>
              </a:buClr>
              <a:buFont typeface="Arial"/>
              <a:buChar char="•"/>
            </a:pPr>
            <a:r>
              <a:rPr sz="1350" b="0" i="0">
                <a:solidFill>
                  <a:srgbClr val="18232F"/>
                </a:solidFill>
                <a:latin typeface="Segoe UI"/>
              </a:rPr>
              <a:t>Banks, NBFCs and insurers</a:t>
            </a:r>
          </a:p>
          <a:p>
            <a:pPr algn="l" marL="201168" indent="-201168">
              <a:lnSpc>
                <a:spcPct val="100000"/>
              </a:lnSpc>
              <a:spcAft>
                <a:spcPts val="675"/>
              </a:spcAft>
              <a:buClr>
                <a:srgbClr val="57687A"/>
              </a:buClr>
              <a:buFont typeface="Arial"/>
              <a:buChar char="•"/>
            </a:pPr>
            <a:r>
              <a:rPr sz="1350" b="0" i="0">
                <a:solidFill>
                  <a:srgbClr val="18232F"/>
                </a:solidFill>
                <a:latin typeface="Segoe UI"/>
              </a:rPr>
              <a:t>Lending or insuring is their business</a:t>
            </a:r>
          </a:p>
          <a:p>
            <a:pPr algn="l" marL="201168" indent="-201168">
              <a:lnSpc>
                <a:spcPct val="100000"/>
              </a:lnSpc>
              <a:buClr>
                <a:srgbClr val="57687A"/>
              </a:buClr>
              <a:buFont typeface="Arial"/>
              <a:buChar char="•"/>
            </a:pPr>
            <a:r>
              <a:rPr sz="1350" b="0" i="0">
                <a:solidFill>
                  <a:srgbClr val="18232F"/>
                </a:solidFill>
                <a:latin typeface="Segoe UI"/>
              </a:rPr>
              <a:t>Stage 1: keep them off the list</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Written rules score the card. The story does not, and neither does the AI.</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Corporate actions: when the company changes your shares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 corporate action is a company decision that changes what each shareholder holds or receives.</a:t>
            </a:r>
          </a:p>
          <a:p>
            <a:pPr algn="l" marL="274320" indent="-274320">
              <a:lnSpc>
                <a:spcPct val="100000"/>
              </a:lnSpc>
              <a:spcAft>
                <a:spcPts val="800"/>
              </a:spcAft>
              <a:buClr>
                <a:srgbClr val="F5A623"/>
              </a:buClr>
              <a:buFont typeface="Arial"/>
              <a:buChar char="•"/>
            </a:pPr>
            <a:r>
              <a:rPr sz="1600" b="0" i="0">
                <a:solidFill>
                  <a:srgbClr val="18232F"/>
                </a:solidFill>
                <a:latin typeface="Segoe UI"/>
              </a:rPr>
              <a:t>A dividend is cash paid on each share out of profits, and on the ex-date the price usually drops by about that amount.</a:t>
            </a:r>
          </a:p>
          <a:p>
            <a:pPr algn="l" marL="274320" indent="-274320">
              <a:lnSpc>
                <a:spcPct val="100000"/>
              </a:lnSpc>
              <a:spcAft>
                <a:spcPts val="800"/>
              </a:spcAft>
              <a:buClr>
                <a:srgbClr val="F5A623"/>
              </a:buClr>
              <a:buFont typeface="Arial"/>
              <a:buChar char="•"/>
            </a:pPr>
            <a:r>
              <a:rPr sz="1600" b="0" i="0">
                <a:solidFill>
                  <a:srgbClr val="18232F"/>
                </a:solidFill>
                <a:latin typeface="Segoe UI"/>
              </a:rPr>
              <a:t>In both, the price adjusts in the same ratio and your total value stays the same.</a:t>
            </a:r>
          </a:p>
          <a:p>
            <a:pPr algn="l" marL="274320" indent="-274320">
              <a:lnSpc>
                <a:spcPct val="100000"/>
              </a:lnSpc>
              <a:buClr>
                <a:srgbClr val="F5A623"/>
              </a:buClr>
              <a:buFont typeface="Arial"/>
              <a:buChar char="•"/>
            </a:pPr>
            <a:r>
              <a:rPr sz="1600" b="0" i="0">
                <a:solidFill>
                  <a:srgbClr val="18232F"/>
                </a:solidFill>
                <a:latin typeface="Segoe UI"/>
              </a:rPr>
              <a:t>A rights issue offers holders new shares at a set price, usually below the market.</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Aman's 'crash' (chart below): some weeks back, Gupta Cement Ltd closed at Rs 818 on a Thursday and opened near Rs 409 on Friday, the ex-date of a 1:1 bonus. … Before believing any sudden, very large gap, check the corporate actions page on nseindia.com.</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Crash? No, a 1:1 bonus</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Unadjusted daily chart of Gupta Cement. 100 shares x Rs 818 = 200 shares x Rs 409 = Rs 81,800. On unadjusted data, EMA, RSI and ATR read this gap as a real fall (Day 11).</a:t>
            </a:r>
          </a:p>
        </p:txBody>
      </p:sp>
      <p:cxnSp>
        <p:nvCxnSpPr>
          <p:cNvPr id="12" name="Connector 11"/>
          <p:cNvCxnSpPr/>
          <p:nvPr/>
        </p:nvCxnSpPr>
        <p:spPr>
          <a:xfrm>
            <a:off x="6812159" y="452170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43941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370.4</a:t>
            </a:r>
          </a:p>
        </p:txBody>
      </p:sp>
      <p:cxnSp>
        <p:nvCxnSpPr>
          <p:cNvPr id="14" name="Connector 13"/>
          <p:cNvCxnSpPr/>
          <p:nvPr/>
        </p:nvCxnSpPr>
        <p:spPr>
          <a:xfrm>
            <a:off x="6812159" y="374446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6621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532.8</a:t>
            </a:r>
          </a:p>
        </p:txBody>
      </p:sp>
      <p:cxnSp>
        <p:nvCxnSpPr>
          <p:cNvPr id="16" name="Connector 15"/>
          <p:cNvCxnSpPr/>
          <p:nvPr/>
        </p:nvCxnSpPr>
        <p:spPr>
          <a:xfrm>
            <a:off x="6812159" y="296722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8849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695.2</a:t>
            </a:r>
          </a:p>
        </p:txBody>
      </p:sp>
      <p:cxnSp>
        <p:nvCxnSpPr>
          <p:cNvPr id="18" name="Connector 17"/>
          <p:cNvCxnSpPr/>
          <p:nvPr/>
        </p:nvCxnSpPr>
        <p:spPr>
          <a:xfrm>
            <a:off x="6812159" y="2189988"/>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857.6</a:t>
            </a:r>
          </a:p>
        </p:txBody>
      </p:sp>
      <p:cxnSp>
        <p:nvCxnSpPr>
          <p:cNvPr id="20" name="Connector 19"/>
          <p:cNvCxnSpPr/>
          <p:nvPr/>
        </p:nvCxnSpPr>
        <p:spPr>
          <a:xfrm>
            <a:off x="7024264" y="2456087"/>
            <a:ext cx="0" cy="8614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97001" y="2475231"/>
            <a:ext cx="254526" cy="3828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2" name="Connector 21"/>
          <p:cNvCxnSpPr/>
          <p:nvPr/>
        </p:nvCxnSpPr>
        <p:spPr>
          <a:xfrm>
            <a:off x="7448474" y="2408228"/>
            <a:ext cx="0" cy="8614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321211" y="2427372"/>
            <a:ext cx="254526" cy="478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4" name="Connector 23"/>
          <p:cNvCxnSpPr/>
          <p:nvPr/>
        </p:nvCxnSpPr>
        <p:spPr>
          <a:xfrm>
            <a:off x="7872683" y="2393870"/>
            <a:ext cx="0" cy="7178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745420" y="2427372"/>
            <a:ext cx="254526" cy="1914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8296892" y="2379512"/>
            <a:ext cx="0" cy="8136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169630" y="2393870"/>
            <a:ext cx="254526" cy="5264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8721102" y="2360368"/>
            <a:ext cx="0" cy="6221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593839" y="2393870"/>
            <a:ext cx="254526" cy="1828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9145311" y="2350796"/>
            <a:ext cx="0" cy="7657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018048" y="2379512"/>
            <a:ext cx="254526" cy="2871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9569521" y="4303468"/>
            <a:ext cx="0" cy="5743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9442258" y="4317826"/>
            <a:ext cx="254526" cy="1828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993730" y="4289110"/>
            <a:ext cx="0" cy="4786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866467" y="4298682"/>
            <a:ext cx="254526" cy="1914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10417940" y="4279538"/>
            <a:ext cx="0" cy="4786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90677" y="4298682"/>
            <a:ext cx="254526" cy="1828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10842149" y="4274752"/>
            <a:ext cx="0" cy="4786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0714886" y="4284324"/>
            <a:ext cx="254526" cy="2871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11266358" y="4255609"/>
            <a:ext cx="0" cy="4785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1139096" y="4269966"/>
            <a:ext cx="254526" cy="1828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Isosceles Triangle 41"/>
          <p:cNvSpPr/>
          <p:nvPr/>
        </p:nvSpPr>
        <p:spPr>
          <a:xfrm rot="10800000">
            <a:off x="9090447" y="2213636"/>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8830909" y="2003324"/>
            <a:ext cx="628804"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Close 818</a:t>
            </a:r>
          </a:p>
        </p:txBody>
      </p:sp>
      <p:sp>
        <p:nvSpPr>
          <p:cNvPr id="44" name="Isosceles Triangle 43"/>
          <p:cNvSpPr/>
          <p:nvPr/>
        </p:nvSpPr>
        <p:spPr>
          <a:xfrm>
            <a:off x="9514657" y="4406620"/>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9106409" y="4516348"/>
            <a:ext cx="926224"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Bonus ex-date</a:t>
            </a:r>
          </a:p>
        </p:txBody>
      </p:sp>
      <p:sp>
        <p:nvSpPr>
          <p:cNvPr id="46" name="Rounded Rectangle 45"/>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ounded Rectangle 46"/>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48" name="TextBox 47"/>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A bonus or split changes the number of shares, not the value of what you own. In a rights issue, ignoring the offer is the one choice that costs you.</a:t>
            </a:r>
          </a:p>
        </p:txBody>
      </p:sp>
      <p:pic>
        <p:nvPicPr>
          <p:cNvPr id="49" name="Picture 48" descr="logo.png"/>
          <p:cNvPicPr>
            <a:picLocks noChangeAspect="1"/>
          </p:cNvPicPr>
          <p:nvPr/>
        </p:nvPicPr>
        <p:blipFill>
          <a:blip r:embed="rId2"/>
          <a:stretch>
            <a:fillRect/>
          </a:stretch>
        </p:blipFill>
        <p:spPr>
          <a:xfrm>
            <a:off x="457200" y="6437376"/>
            <a:ext cx="237744" cy="237744"/>
          </a:xfrm>
          <a:prstGeom prst="rect">
            <a:avLst/>
          </a:prstGeom>
        </p:spPr>
      </p:pic>
      <p:sp>
        <p:nvSpPr>
          <p:cNvPr id="5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1" name="TextBox 5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Record date and ex-date: who gets the benefit</a:t>
            </a:r>
          </a:p>
        </p:txBody>
      </p:sp>
      <p:sp>
        <p:nvSpPr>
          <p:cNvPr id="4" name="TextBox 3"/>
          <p:cNvSpPr txBox="1"/>
          <p:nvPr/>
        </p:nvSpPr>
        <p:spPr>
          <a:xfrm>
            <a:off x="457200" y="1335024"/>
            <a:ext cx="5519776" cy="171196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The record date is the day the company takes the list of shareholders from the depositories.</a:t>
            </a:r>
          </a:p>
          <a:p>
            <a:pPr algn="l" marL="274320" indent="-274320">
              <a:lnSpc>
                <a:spcPct val="100000"/>
              </a:lnSpc>
              <a:spcAft>
                <a:spcPts val="800"/>
              </a:spcAft>
              <a:buClr>
                <a:srgbClr val="F5A623"/>
              </a:buClr>
              <a:buFont typeface="Arial"/>
              <a:buChar char="•"/>
            </a:pPr>
            <a:r>
              <a:rPr sz="1600" b="0" i="0">
                <a:solidFill>
                  <a:srgbClr val="18232F"/>
                </a:solidFill>
                <a:latin typeface="Segoe UI"/>
              </a:rPr>
              <a:t>Whoever is on that list gets the dividend, bonus or rights.</a:t>
            </a:r>
          </a:p>
          <a:p>
            <a:pPr algn="l" marL="274320" indent="-274320">
              <a:lnSpc>
                <a:spcPct val="100000"/>
              </a:lnSpc>
              <a:buClr>
                <a:srgbClr val="F5A623"/>
              </a:buClr>
              <a:buFont typeface="Arial"/>
              <a:buChar char="•"/>
            </a:pPr>
            <a:r>
              <a:rPr sz="1600" b="0" i="0">
                <a:solidFill>
                  <a:srgbClr val="18232F"/>
                </a:solidFill>
                <a:latin typeface="Segoe UI"/>
              </a:rPr>
              <a:t>The ex-date is the first day the share trades without that benefit.</a:t>
            </a:r>
          </a:p>
        </p:txBody>
      </p:sp>
      <p:sp>
        <p:nvSpPr>
          <p:cNvPr id="5" name="Rounded Rectangle 4"/>
          <p:cNvSpPr/>
          <p:nvPr/>
        </p:nvSpPr>
        <p:spPr>
          <a:xfrm>
            <a:off x="457200" y="3202432"/>
            <a:ext cx="5519776" cy="2411984"/>
          </a:xfrm>
          <a:prstGeom prst="roundRect">
            <a:avLst>
              <a:gd name="adj" fmla="val 45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33044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586480"/>
            <a:ext cx="5154016" cy="195478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Sharma Textiles Ltd declares a Rs 12 dividend, and Tuesday is both the ex-date and the record date. Priya buys 50 shares on Monday at Rs 612, paying Rs 30,600; they settle on Tuesday, so she is on the list. On Tuesday the share opens near Rs 600. Her 50 shares are now worth about Rs 30,000, plus Rs 600 of dividend (50 x Rs 12): Rs 30,600, about what she paid, before tax and costs; the Rs 600 itself arrives on the payment date. Aman buys on Tuesday at Rs 600 and gets no dividend, but he paid Rs 12 a share less. Neither of them got anything for free. Day 19 adds ex-dates to your no-trade calendar.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dividend under T+1</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days. The real ex-date and record date are on the NSE corporate actions page.</a:t>
            </a:r>
          </a:p>
        </p:txBody>
      </p:sp>
      <p:cxnSp>
        <p:nvCxnSpPr>
          <p:cNvPr id="11" name="Connector 10"/>
          <p:cNvCxnSpPr/>
          <p:nvPr/>
        </p:nvCxnSpPr>
        <p:spPr>
          <a:xfrm>
            <a:off x="6637598" y="2257806"/>
            <a:ext cx="0" cy="2281428"/>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97600" y="2093214"/>
            <a:ext cx="47999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a:t>
            </a:r>
          </a:p>
        </p:txBody>
      </p:sp>
      <p:sp>
        <p:nvSpPr>
          <p:cNvPr id="13" name="TextBox 12"/>
          <p:cNvSpPr txBox="1"/>
          <p:nvPr/>
        </p:nvSpPr>
        <p:spPr>
          <a:xfrm>
            <a:off x="7060476" y="2111502"/>
            <a:ext cx="449113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Dividend announced</a:t>
            </a:r>
          </a:p>
          <a:p>
            <a:pPr algn="l">
              <a:lnSpc>
                <a:spcPct val="100000"/>
              </a:lnSpc>
            </a:pPr>
            <a:r>
              <a:rPr sz="1250" b="0" i="0">
                <a:solidFill>
                  <a:srgbClr val="47596B"/>
                </a:solidFill>
                <a:latin typeface="Segoe UI"/>
              </a:rPr>
              <a:t>Rs 12 a share; record date set for Tuesday</a:t>
            </a:r>
          </a:p>
        </p:txBody>
      </p:sp>
      <p:sp>
        <p:nvSpPr>
          <p:cNvPr id="14" name="Rounded Rectangle 13"/>
          <p:cNvSpPr/>
          <p:nvPr/>
        </p:nvSpPr>
        <p:spPr>
          <a:xfrm>
            <a:off x="6397600" y="2853690"/>
            <a:ext cx="47999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a:t>
            </a:r>
          </a:p>
        </p:txBody>
      </p:sp>
      <p:sp>
        <p:nvSpPr>
          <p:cNvPr id="15" name="TextBox 14"/>
          <p:cNvSpPr txBox="1"/>
          <p:nvPr/>
        </p:nvSpPr>
        <p:spPr>
          <a:xfrm>
            <a:off x="7060476" y="2871978"/>
            <a:ext cx="449113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Monday: last day to buy</a:t>
            </a:r>
          </a:p>
          <a:p>
            <a:pPr algn="l">
              <a:lnSpc>
                <a:spcPct val="100000"/>
              </a:lnSpc>
            </a:pPr>
            <a:r>
              <a:rPr sz="1250" b="0" i="0">
                <a:solidFill>
                  <a:srgbClr val="47596B"/>
                </a:solidFill>
                <a:latin typeface="Segoe UI"/>
              </a:rPr>
              <a:t>Shares settle on Tuesday (T+1), so you qualify</a:t>
            </a:r>
          </a:p>
        </p:txBody>
      </p:sp>
      <p:sp>
        <p:nvSpPr>
          <p:cNvPr id="16" name="Rounded Rectangle 15"/>
          <p:cNvSpPr/>
          <p:nvPr/>
        </p:nvSpPr>
        <p:spPr>
          <a:xfrm>
            <a:off x="6397600" y="3614166"/>
            <a:ext cx="47999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T+1</a:t>
            </a:r>
          </a:p>
        </p:txBody>
      </p:sp>
      <p:sp>
        <p:nvSpPr>
          <p:cNvPr id="17" name="TextBox 16"/>
          <p:cNvSpPr txBox="1"/>
          <p:nvPr/>
        </p:nvSpPr>
        <p:spPr>
          <a:xfrm>
            <a:off x="7060476" y="3632454"/>
            <a:ext cx="449113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Tuesday: ex-date = record date</a:t>
            </a:r>
          </a:p>
          <a:p>
            <a:pPr algn="l">
              <a:lnSpc>
                <a:spcPct val="100000"/>
              </a:lnSpc>
            </a:pPr>
            <a:r>
              <a:rPr sz="1250" b="0" i="0">
                <a:solidFill>
                  <a:srgbClr val="47596B"/>
                </a:solidFill>
                <a:latin typeface="Segoe UI"/>
              </a:rPr>
              <a:t>Price opens about Rs 12 lower; the list is taken</a:t>
            </a:r>
          </a:p>
        </p:txBody>
      </p:sp>
      <p:sp>
        <p:nvSpPr>
          <p:cNvPr id="18" name="Rounded Rectangle 17"/>
          <p:cNvSpPr/>
          <p:nvPr/>
        </p:nvSpPr>
        <p:spPr>
          <a:xfrm>
            <a:off x="6397600" y="4374642"/>
            <a:ext cx="479996"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4</a:t>
            </a:r>
          </a:p>
        </p:txBody>
      </p:sp>
      <p:sp>
        <p:nvSpPr>
          <p:cNvPr id="19" name="TextBox 18"/>
          <p:cNvSpPr txBox="1"/>
          <p:nvPr/>
        </p:nvSpPr>
        <p:spPr>
          <a:xfrm>
            <a:off x="7060476" y="4392930"/>
            <a:ext cx="4491139"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Payment date</a:t>
            </a:r>
          </a:p>
          <a:p>
            <a:pPr algn="l">
              <a:lnSpc>
                <a:spcPct val="100000"/>
              </a:lnSpc>
            </a:pPr>
            <a:r>
              <a:rPr sz="1250" b="0" i="0">
                <a:solidFill>
                  <a:srgbClr val="47596B"/>
                </a:solidFill>
                <a:latin typeface="Segoe UI"/>
              </a:rPr>
              <a:t>Rs 12 a share reaches holders' bank accounts</a:t>
            </a:r>
          </a:p>
        </p:txBody>
      </p:sp>
      <p:sp>
        <p:nvSpPr>
          <p:cNvPr id="20" name="Rounded Rectangle 1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2" name="TextBox 2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To qualify, buy by the trading day before the ex-date. The price adjusts either way.</a:t>
            </a:r>
          </a:p>
        </p:txBody>
      </p:sp>
      <p:pic>
        <p:nvPicPr>
          <p:cNvPr id="23" name="Picture 22" descr="logo.png"/>
          <p:cNvPicPr>
            <a:picLocks noChangeAspect="1"/>
          </p:cNvPicPr>
          <p:nvPr/>
        </p:nvPicPr>
        <p:blipFill>
          <a:blip r:embed="rId2"/>
          <a:stretch>
            <a:fillRect/>
          </a:stretch>
        </p:blipFill>
        <p:spPr>
          <a:xfrm>
            <a:off x="457200" y="6437376"/>
            <a:ext cx="237744" cy="237744"/>
          </a:xfrm>
          <a:prstGeom prst="rect">
            <a:avLst/>
          </a:prstGeom>
        </p:spPr>
      </p:pic>
      <p:sp>
        <p:nvSpPr>
          <p:cNvPr id="2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5" name="TextBox 2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18666"/>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Market cap</a:t>
            </a:r>
          </a:p>
        </p:txBody>
      </p:sp>
      <p:sp>
        <p:nvSpPr>
          <p:cNvPr id="6" name="TextBox 5"/>
          <p:cNvSpPr txBox="1"/>
          <p:nvPr/>
        </p:nvSpPr>
        <p:spPr>
          <a:xfrm>
            <a:off x="658368" y="1817370"/>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Share price x total number of shares: the price tag of the whole company. Its rank decides large, mid or small cap.</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18666"/>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Debt-to-equity</a:t>
            </a:r>
          </a:p>
        </p:txBody>
      </p:sp>
      <p:sp>
        <p:nvSpPr>
          <p:cNvPr id="9" name="TextBox 8"/>
          <p:cNvSpPr txBox="1"/>
          <p:nvPr/>
        </p:nvSpPr>
        <p:spPr>
          <a:xfrm>
            <a:off x="6379312" y="1817370"/>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Borrowed money ÷ the owners' money in the business. Above 1 means the company owes more than its owners' own stake.</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94254"/>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Promoter pledge</a:t>
            </a:r>
          </a:p>
        </p:txBody>
      </p:sp>
      <p:sp>
        <p:nvSpPr>
          <p:cNvPr id="12" name="TextBox 11"/>
          <p:cNvSpPr txBox="1"/>
          <p:nvPr/>
        </p:nvSpPr>
        <p:spPr>
          <a:xfrm>
            <a:off x="658368" y="3092958"/>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Promoter shares given as security for a loan. If the price falls, the lender may sell them.</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05684"/>
            <a:ext cx="5154016" cy="254508"/>
          </a:xfrm>
          <a:prstGeom prst="rect">
            <a:avLst/>
          </a:prstGeom>
          <a:noFill/>
        </p:spPr>
        <p:txBody>
          <a:bodyPr wrap="square" lIns="0" rIns="0" tIns="0" bIns="0" anchor="t">
            <a:noAutofit/>
          </a:bodyPr>
          <a:lstStyle/>
          <a:p>
            <a:pPr algn="l">
              <a:lnSpc>
                <a:spcPct val="100000"/>
              </a:lnSpc>
            </a:pPr>
            <a:r>
              <a:rPr sz="1550" b="1" i="0">
                <a:solidFill>
                  <a:srgbClr val="92400E"/>
                </a:solidFill>
                <a:latin typeface="Segoe UI"/>
              </a:rPr>
              <a:t>Operating cash flow</a:t>
            </a:r>
          </a:p>
        </p:txBody>
      </p:sp>
      <p:sp>
        <p:nvSpPr>
          <p:cNvPr id="15" name="TextBox 14"/>
          <p:cNvSpPr txBox="1"/>
          <p:nvPr/>
        </p:nvSpPr>
        <p:spPr>
          <a:xfrm>
            <a:off x="6379312" y="3096768"/>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The cash the business actually collected in a year after paying its running costs and taxes. Compare it with profit over three years.</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69842"/>
            <a:ext cx="5154016"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Corporate action</a:t>
            </a:r>
          </a:p>
        </p:txBody>
      </p:sp>
      <p:sp>
        <p:nvSpPr>
          <p:cNvPr id="18" name="TextBox 17"/>
          <p:cNvSpPr txBox="1"/>
          <p:nvPr/>
        </p:nvSpPr>
        <p:spPr>
          <a:xfrm>
            <a:off x="658368" y="4368546"/>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 company decision that changes what shareholders hold or receive: dividend, bonus, split, rights issue or buyback.</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Ex-date and record date</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Record date: the day the shareholder list is taken. Ex-date: the first day the share trades without the benefit. Under T+1 they fall on the same day.</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Interest cover</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Operating profit minus depreciation, divided by finance costs: how many times the business's own profit can pay its interest bill. Below 2 is a course debt flag.</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99710"/>
            <a:ext cx="5154016" cy="231648"/>
          </a:xfrm>
          <a:prstGeom prst="rect">
            <a:avLst/>
          </a:prstGeom>
          <a:noFill/>
        </p:spPr>
        <p:txBody>
          <a:bodyPr wrap="square" lIns="0" rIns="0" tIns="0" bIns="0" anchor="t">
            <a:noAutofit/>
          </a:bodyPr>
          <a:lstStyle/>
          <a:p>
            <a:pPr algn="l">
              <a:lnSpc>
                <a:spcPct val="100000"/>
              </a:lnSpc>
            </a:pPr>
            <a:r>
              <a:rPr sz="1400" b="1" i="0">
                <a:solidFill>
                  <a:srgbClr val="92400E"/>
                </a:solidFill>
                <a:latin typeface="Segoe UI"/>
              </a:rPr>
              <a:t>Rights issue and buyback</a:t>
            </a:r>
          </a:p>
        </p:txBody>
      </p:sp>
      <p:sp>
        <p:nvSpPr>
          <p:cNvPr id="27" name="TextBox 26"/>
          <p:cNvSpPr txBox="1"/>
          <p:nvPr/>
        </p:nvSpPr>
        <p:spPr>
          <a:xfrm>
            <a:off x="6379312" y="5567934"/>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Rights issue: new shares offered to holders at a set price; you can apply or sell the right, and ignoring it loses value. Buyback: the company buys shares back at a set price, often accepting only part of what you offer.</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292858"/>
            <a:ext cx="502920" cy="151104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1104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54746"/>
            <a:ext cx="502920" cy="1649158"/>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138112"/>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8727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Health check + corporate actions</a:t>
            </a:r>
          </a:p>
        </p:txBody>
      </p:sp>
      <p:sp>
        <p:nvSpPr>
          <p:cNvPr id="11" name="Rounded Rectangle 10"/>
          <p:cNvSpPr/>
          <p:nvPr/>
        </p:nvSpPr>
        <p:spPr>
          <a:xfrm>
            <a:off x="640080" y="1619631"/>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729359"/>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Filter, not target</a:t>
            </a:r>
          </a:p>
        </p:txBody>
      </p:sp>
      <p:sp>
        <p:nvSpPr>
          <p:cNvPr id="13" name="TextBox 12"/>
          <p:cNvSpPr txBox="1"/>
          <p:nvPr/>
        </p:nvSpPr>
        <p:spPr>
          <a:xfrm>
            <a:off x="786384" y="2046351"/>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Chart = price, card = business</a:t>
            </a:r>
          </a:p>
          <a:p>
            <a:pPr algn="l" marL="182880" indent="-182880">
              <a:lnSpc>
                <a:spcPct val="100000"/>
              </a:lnSpc>
              <a:spcAft>
                <a:spcPts val="434"/>
              </a:spcAft>
              <a:buClr>
                <a:srgbClr val="0093D6"/>
              </a:buClr>
              <a:buFont typeface="Arial"/>
              <a:buChar char="•"/>
            </a:pPr>
            <a:r>
              <a:rPr sz="1450" b="0" i="0">
                <a:solidFill>
                  <a:srgbClr val="18232F"/>
                </a:solidFill>
                <a:latin typeface="Segoe UI"/>
              </a:rPr>
              <a:t>Large, mid, small by rank</a:t>
            </a:r>
          </a:p>
          <a:p>
            <a:pPr algn="l" marL="182880" indent="-182880">
              <a:lnSpc>
                <a:spcPct val="100000"/>
              </a:lnSpc>
              <a:buClr>
                <a:srgbClr val="0093D6"/>
              </a:buClr>
              <a:buFont typeface="Arial"/>
              <a:buChar char="•"/>
            </a:pPr>
            <a:r>
              <a:rPr sz="1450" b="0" i="0">
                <a:solidFill>
                  <a:srgbClr val="18232F"/>
                </a:solidFill>
                <a:latin typeface="Segoe UI"/>
              </a:rPr>
              <a:t>One sector = one big bet</a:t>
            </a:r>
          </a:p>
        </p:txBody>
      </p:sp>
      <p:sp>
        <p:nvSpPr>
          <p:cNvPr id="14" name="Rounded Rectangle 13"/>
          <p:cNvSpPr/>
          <p:nvPr/>
        </p:nvSpPr>
        <p:spPr>
          <a:xfrm>
            <a:off x="640080" y="3130677"/>
            <a:ext cx="3718408" cy="1346454"/>
          </a:xfrm>
          <a:prstGeom prst="roundRect">
            <a:avLst>
              <a:gd name="adj" fmla="val 8149"/>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40405"/>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Checks 1 to 3</a:t>
            </a:r>
          </a:p>
        </p:txBody>
      </p:sp>
      <p:sp>
        <p:nvSpPr>
          <p:cNvPr id="16" name="TextBox 15"/>
          <p:cNvSpPr txBox="1"/>
          <p:nvPr/>
        </p:nvSpPr>
        <p:spPr>
          <a:xfrm>
            <a:off x="786384" y="3557397"/>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Sales up over 3 years?</a:t>
            </a:r>
          </a:p>
          <a:p>
            <a:pPr algn="l" marL="182880" indent="-182880">
              <a:lnSpc>
                <a:spcPct val="100000"/>
              </a:lnSpc>
              <a:spcAft>
                <a:spcPts val="434"/>
              </a:spcAft>
              <a:buClr>
                <a:srgbClr val="F5A524"/>
              </a:buClr>
              <a:buFont typeface="Arial"/>
              <a:buChar char="•"/>
            </a:pPr>
            <a:r>
              <a:rPr sz="1450" b="0" i="0">
                <a:solidFill>
                  <a:srgbClr val="18232F"/>
                </a:solidFill>
                <a:latin typeface="Segoe UI"/>
              </a:rPr>
              <a:t>Margin per Rs 100 of sales</a:t>
            </a:r>
          </a:p>
          <a:p>
            <a:pPr algn="l" marL="182880" indent="-182880">
              <a:lnSpc>
                <a:spcPct val="100000"/>
              </a:lnSpc>
              <a:buClr>
                <a:srgbClr val="F5A524"/>
              </a:buClr>
              <a:buFont typeface="Arial"/>
              <a:buChar char="•"/>
            </a:pPr>
            <a:r>
              <a:rPr sz="1450" b="0" i="0">
                <a:solidFill>
                  <a:srgbClr val="18232F"/>
                </a:solidFill>
                <a:latin typeface="Segoe UI"/>
              </a:rPr>
              <a:t>D/E and interest cover</a:t>
            </a:r>
          </a:p>
        </p:txBody>
      </p:sp>
      <p:sp>
        <p:nvSpPr>
          <p:cNvPr id="17" name="Rounded Rectangle 16"/>
          <p:cNvSpPr/>
          <p:nvPr/>
        </p:nvSpPr>
        <p:spPr>
          <a:xfrm>
            <a:off x="640080" y="4641723"/>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751451"/>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Checks 4 and 5</a:t>
            </a:r>
          </a:p>
        </p:txBody>
      </p:sp>
      <p:sp>
        <p:nvSpPr>
          <p:cNvPr id="19" name="TextBox 18"/>
          <p:cNvSpPr txBox="1"/>
          <p:nvPr/>
        </p:nvSpPr>
        <p:spPr>
          <a:xfrm>
            <a:off x="786384" y="5068443"/>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Pledge loop can deepen falls</a:t>
            </a:r>
          </a:p>
          <a:p>
            <a:pPr algn="l" marL="182880" indent="-182880">
              <a:lnSpc>
                <a:spcPct val="100000"/>
              </a:lnSpc>
              <a:spcAft>
                <a:spcPts val="434"/>
              </a:spcAft>
              <a:buClr>
                <a:srgbClr val="F0554E"/>
              </a:buClr>
              <a:buFont typeface="Arial"/>
              <a:buChar char="•"/>
            </a:pPr>
            <a:r>
              <a:rPr sz="1450" b="0" i="0">
                <a:solidFill>
                  <a:srgbClr val="18232F"/>
                </a:solidFill>
                <a:latin typeface="Segoe UI"/>
              </a:rPr>
              <a:t>Holding can fall by dilution</a:t>
            </a:r>
          </a:p>
          <a:p>
            <a:pPr algn="l" marL="182880" indent="-182880">
              <a:lnSpc>
                <a:spcPct val="100000"/>
              </a:lnSpc>
              <a:buClr>
                <a:srgbClr val="F0554E"/>
              </a:buClr>
              <a:buFont typeface="Arial"/>
              <a:buChar char="•"/>
            </a:pPr>
            <a:r>
              <a:rPr sz="1450" b="0" i="0">
                <a:solidFill>
                  <a:srgbClr val="18232F"/>
                </a:solidFill>
                <a:latin typeface="Segoe UI"/>
              </a:rPr>
              <a:t>Cash vs profit over 3 years</a:t>
            </a:r>
          </a:p>
        </p:txBody>
      </p:sp>
      <p:sp>
        <p:nvSpPr>
          <p:cNvPr id="20" name="Rounded Rectangle 19"/>
          <p:cNvSpPr/>
          <p:nvPr/>
        </p:nvSpPr>
        <p:spPr>
          <a:xfrm>
            <a:off x="7833208" y="1343406"/>
            <a:ext cx="3718408" cy="1622679"/>
          </a:xfrm>
          <a:prstGeom prst="roundRect">
            <a:avLst>
              <a:gd name="adj" fmla="val 676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53134"/>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Scoring</a:t>
            </a:r>
          </a:p>
        </p:txBody>
      </p:sp>
      <p:sp>
        <p:nvSpPr>
          <p:cNvPr id="22" name="TextBox 21"/>
          <p:cNvSpPr txBox="1"/>
          <p:nvPr/>
        </p:nvSpPr>
        <p:spPr>
          <a:xfrm>
            <a:off x="7979512" y="1770126"/>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Pledge &gt;10% or rising = out</a:t>
            </a:r>
          </a:p>
          <a:p>
            <a:pPr algn="l" marL="182880" indent="-182880">
              <a:lnSpc>
                <a:spcPct val="100000"/>
              </a:lnSpc>
              <a:spcAft>
                <a:spcPts val="434"/>
              </a:spcAft>
              <a:buClr>
                <a:srgbClr val="16A34A"/>
              </a:buClr>
              <a:buFont typeface="Arial"/>
              <a:buChar char="•"/>
            </a:pPr>
            <a:r>
              <a:rPr sz="1450" b="0" i="0">
                <a:solidFill>
                  <a:srgbClr val="18232F"/>
                </a:solidFill>
                <a:latin typeface="Segoe UI"/>
              </a:rPr>
              <a:t>2+ counted flags = out</a:t>
            </a:r>
          </a:p>
          <a:p>
            <a:pPr algn="l" marL="182880" indent="-182880">
              <a:lnSpc>
                <a:spcPct val="100000"/>
              </a:lnSpc>
              <a:spcAft>
                <a:spcPts val="434"/>
              </a:spcAft>
              <a:buClr>
                <a:srgbClr val="16A34A"/>
              </a:buClr>
              <a:buFont typeface="Arial"/>
              <a:buChar char="•"/>
            </a:pPr>
            <a:r>
              <a:rPr sz="1450" b="0" i="0">
                <a:solidFill>
                  <a:srgbClr val="18232F"/>
                </a:solidFill>
                <a:latin typeface="Segoe UI"/>
              </a:rPr>
              <a:t>AI calculates, you decide</a:t>
            </a:r>
          </a:p>
          <a:p>
            <a:pPr algn="l" marL="182880" indent="-182880">
              <a:lnSpc>
                <a:spcPct val="100000"/>
              </a:lnSpc>
              <a:buClr>
                <a:srgbClr val="16A34A"/>
              </a:buClr>
              <a:buFont typeface="Arial"/>
              <a:buChar char="•"/>
            </a:pPr>
            <a:r>
              <a:rPr sz="1450" b="0" i="0">
                <a:solidFill>
                  <a:srgbClr val="18232F"/>
                </a:solidFill>
                <a:latin typeface="Segoe UI"/>
              </a:rPr>
              <a:t>The story comes last</a:t>
            </a:r>
          </a:p>
        </p:txBody>
      </p:sp>
      <p:sp>
        <p:nvSpPr>
          <p:cNvPr id="23" name="Rounded Rectangle 22"/>
          <p:cNvSpPr/>
          <p:nvPr/>
        </p:nvSpPr>
        <p:spPr>
          <a:xfrm>
            <a:off x="7833208" y="3130677"/>
            <a:ext cx="3718408" cy="1622679"/>
          </a:xfrm>
          <a:prstGeom prst="roundRect">
            <a:avLst>
              <a:gd name="adj" fmla="val 676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240405"/>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Corporate actions</a:t>
            </a:r>
          </a:p>
        </p:txBody>
      </p:sp>
      <p:sp>
        <p:nvSpPr>
          <p:cNvPr id="25" name="TextBox 24"/>
          <p:cNvSpPr txBox="1"/>
          <p:nvPr/>
        </p:nvSpPr>
        <p:spPr>
          <a:xfrm>
            <a:off x="7979512" y="3557397"/>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Dividend, bonus, split</a:t>
            </a:r>
          </a:p>
          <a:p>
            <a:pPr algn="l" marL="182880" indent="-182880">
              <a:lnSpc>
                <a:spcPct val="100000"/>
              </a:lnSpc>
              <a:spcAft>
                <a:spcPts val="434"/>
              </a:spcAft>
              <a:buClr>
                <a:srgbClr val="0093D6"/>
              </a:buClr>
              <a:buFont typeface="Arial"/>
              <a:buChar char="•"/>
            </a:pPr>
            <a:r>
              <a:rPr sz="1450" b="0" i="0">
                <a:solidFill>
                  <a:srgbClr val="18232F"/>
                </a:solidFill>
                <a:latin typeface="Segoe UI"/>
              </a:rPr>
              <a:t>Rights: apply, sell or lose</a:t>
            </a:r>
          </a:p>
          <a:p>
            <a:pPr algn="l" marL="182880" indent="-182880">
              <a:lnSpc>
                <a:spcPct val="100000"/>
              </a:lnSpc>
              <a:spcAft>
                <a:spcPts val="434"/>
              </a:spcAft>
              <a:buClr>
                <a:srgbClr val="0093D6"/>
              </a:buClr>
              <a:buFont typeface="Arial"/>
              <a:buChar char="•"/>
            </a:pPr>
            <a:r>
              <a:rPr sz="1450" b="0" i="0">
                <a:solidFill>
                  <a:srgbClr val="18232F"/>
                </a:solidFill>
                <a:latin typeface="Segoe UI"/>
              </a:rPr>
              <a:t>Buyback: part accepted</a:t>
            </a:r>
          </a:p>
          <a:p>
            <a:pPr algn="l" marL="182880" indent="-182880">
              <a:lnSpc>
                <a:spcPct val="100000"/>
              </a:lnSpc>
              <a:buClr>
                <a:srgbClr val="0093D6"/>
              </a:buClr>
              <a:buFont typeface="Arial"/>
              <a:buChar char="•"/>
            </a:pPr>
            <a:r>
              <a:rPr sz="1450" b="0" i="0">
                <a:solidFill>
                  <a:srgbClr val="18232F"/>
                </a:solidFill>
                <a:latin typeface="Segoe UI"/>
              </a:rPr>
              <a:t>Fake gaps on unadjusted charts</a:t>
            </a:r>
          </a:p>
        </p:txBody>
      </p:sp>
      <p:sp>
        <p:nvSpPr>
          <p:cNvPr id="26" name="Rounded Rectangle 25"/>
          <p:cNvSpPr/>
          <p:nvPr/>
        </p:nvSpPr>
        <p:spPr>
          <a:xfrm>
            <a:off x="7833208" y="4917948"/>
            <a:ext cx="3718408" cy="1346454"/>
          </a:xfrm>
          <a:prstGeom prst="roundRect">
            <a:avLst>
              <a:gd name="adj" fmla="val 8149"/>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27676"/>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Dates</a:t>
            </a:r>
          </a:p>
        </p:txBody>
      </p:sp>
      <p:sp>
        <p:nvSpPr>
          <p:cNvPr id="28" name="TextBox 27"/>
          <p:cNvSpPr txBox="1"/>
          <p:nvPr/>
        </p:nvSpPr>
        <p:spPr>
          <a:xfrm>
            <a:off x="7979512" y="5344668"/>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Ex-date = record date (T+1)</a:t>
            </a:r>
          </a:p>
          <a:p>
            <a:pPr algn="l" marL="182880" indent="-182880">
              <a:lnSpc>
                <a:spcPct val="100000"/>
              </a:lnSpc>
              <a:spcAft>
                <a:spcPts val="434"/>
              </a:spcAft>
              <a:buClr>
                <a:srgbClr val="F5A524"/>
              </a:buClr>
              <a:buFont typeface="Arial"/>
              <a:buChar char="•"/>
            </a:pPr>
            <a:r>
              <a:rPr sz="1450" b="0" i="0">
                <a:solidFill>
                  <a:srgbClr val="18232F"/>
                </a:solidFill>
                <a:latin typeface="Segoe UI"/>
              </a:rPr>
              <a:t>Buy by the trading day before</a:t>
            </a:r>
          </a:p>
          <a:p>
            <a:pPr algn="l" marL="182880" indent="-182880">
              <a:lnSpc>
                <a:spcPct val="100000"/>
              </a:lnSpc>
              <a:buClr>
                <a:srgbClr val="F5A524"/>
              </a:buClr>
              <a:buFont typeface="Arial"/>
              <a:buChar char="•"/>
            </a:pPr>
            <a:r>
              <a:rPr sz="1450" b="0" i="0">
                <a:solidFill>
                  <a:srgbClr val="18232F"/>
                </a:solidFill>
                <a:latin typeface="Segoe UI"/>
              </a:rPr>
              <a:t>Price drops by about the dividend</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55 min</a:t>
            </a:r>
          </a:p>
        </p:txBody>
      </p:sp>
      <p:sp>
        <p:nvSpPr>
          <p:cNvPr id="5" name="TextBox 4"/>
          <p:cNvSpPr txBox="1"/>
          <p:nvPr/>
        </p:nvSpPr>
        <p:spPr>
          <a:xfrm>
            <a:off x="457200" y="1335024"/>
            <a:ext cx="11277295" cy="699516"/>
          </a:xfrm>
          <a:prstGeom prst="rect">
            <a:avLst/>
          </a:prstGeom>
          <a:noFill/>
        </p:spPr>
        <p:txBody>
          <a:bodyPr wrap="square" lIns="0" rIns="0" tIns="0" bIns="0" anchor="t">
            <a:noAutofit/>
          </a:bodyPr>
          <a:lstStyle/>
          <a:p>
            <a:pPr algn="l">
              <a:lnSpc>
                <a:spcPct val="100000"/>
              </a:lnSpc>
            </a:pPr>
            <a:r>
              <a:rPr sz="1450" b="1" i="0">
                <a:solidFill>
                  <a:srgbClr val="18232F"/>
                </a:solidFill>
                <a:latin typeface="Segoe UI"/>
              </a:rPr>
              <a:t>Score the mentor's practice filing on the Health Card and check it with AI, then card one real stock from your watchlist, turn a pass into a Portfolio row, and read one real corporate action (steps 1, 2 and 6 take about 55 minutes; the real-stock card and its Portfolio row, steps 3-5, take about 30 minutes more and can be finished tomorrow evening, before Day 16's flowchart).</a:t>
            </a:r>
          </a:p>
        </p:txBody>
      </p:sp>
      <p:sp>
        <p:nvSpPr>
          <p:cNvPr id="6" name="Rounded Rectangle 5"/>
          <p:cNvSpPr/>
          <p:nvPr/>
        </p:nvSpPr>
        <p:spPr>
          <a:xfrm>
            <a:off x="457200" y="218084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29057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30886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28142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Under Your template, open the Kiran Foods Ltd practice filing (made-up numbers) and fill the Practice column of the Health Card with a phone calculator: operating profit and margin for each year, D/E, interest cover, 3-year cash against 3-year profit, and the pledge.</a:t>
            </a:r>
          </a:p>
        </p:txBody>
      </p:sp>
      <p:sp>
        <p:nvSpPr>
          <p:cNvPr id="10" name="Rounded Rectangle 9"/>
          <p:cNvSpPr/>
          <p:nvPr/>
        </p:nvSpPr>
        <p:spPr>
          <a:xfrm>
            <a:off x="457200" y="320497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31470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33298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30555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Paste the practice filing's numbers into the AI Lab prompt 'Fill my health card', tick every number the AI used against the filing, and compare its flags with yours and with the answer key under the card.</a:t>
            </a:r>
          </a:p>
        </p:txBody>
      </p:sp>
      <p:sp>
        <p:nvSpPr>
          <p:cNvPr id="14" name="Rounded Rectangle 13"/>
          <p:cNvSpPr/>
          <p:nvPr/>
        </p:nvSpPr>
        <p:spPr>
          <a:xfrm>
            <a:off x="457200" y="398526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09498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1132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08584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Now card one real stock from your Day 11 watchlist or an open paper trade (never one from a tip; not a bank, NBFC or insurer). On its nseindia.com page note the sector, and in its shareholding pattern for the last four quarters note the pledged part as a % of promoter shares ('encumbered' counts too; if there is no promoter, write 'no promoter').</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55 min</a:t>
            </a:r>
          </a:p>
        </p:txBody>
      </p:sp>
      <p:sp>
        <p:nvSpPr>
          <p:cNvPr id="5" name="Rounded Rectangle 4"/>
          <p:cNvSpPr/>
          <p:nvPr/>
        </p:nvSpPr>
        <p:spPr>
          <a:xfrm>
            <a:off x="457200" y="1335024"/>
            <a:ext cx="11277295" cy="1085088"/>
          </a:xfrm>
          <a:prstGeom prst="roundRect">
            <a:avLst>
              <a:gd name="adj" fmla="val 842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92049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For the same stock, take three years of sales, total expenses, finance costs, depreciation, net profit and operating cash flow, plus the latest borrowings and equity, from its annual results or a free data site (tick the latest year against the filing), and fill the Your stock column. Write the result and the deciding check in your journal; never post the name in a group.</a:t>
            </a:r>
          </a:p>
        </p:txBody>
      </p:sp>
      <p:sp>
        <p:nvSpPr>
          <p:cNvPr id="9" name="Rounded Rectangle 8"/>
          <p:cNvSpPr/>
          <p:nvPr/>
        </p:nvSpPr>
        <p:spPr>
          <a:xfrm>
            <a:off x="457200" y="2511552"/>
            <a:ext cx="11277295" cy="1527048"/>
          </a:xfrm>
          <a:prstGeom prst="roundRect">
            <a:avLst>
              <a:gd name="adj" fmla="val 5988"/>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6212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6395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612136"/>
            <a:ext cx="10042855" cy="136245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If it passes, open the app's Portfolio page and add one complete row (virtual; a row can be a stock you have studied, not only a trade you took: leave entry date, qty and entry price blank until you enter a paper trade, and it does not count as an open trade): Full Why 1 = your card result and the check that decided it; Full Why 2 = your Day 11 chart reason; the top risk and your answer to it; price-stop = the stop from your Day 11 plan card (1.5 x ATR 14 below entry); Why-stop = the card check that would knock it out; review point = its next results date. If it fails, write why in your journal instead.</a:t>
            </a:r>
          </a:p>
        </p:txBody>
      </p:sp>
      <p:sp>
        <p:nvSpPr>
          <p:cNvPr id="13" name="Rounded Rectangle 12"/>
          <p:cNvSpPr/>
          <p:nvPr/>
        </p:nvSpPr>
        <p:spPr>
          <a:xfrm>
            <a:off x="457200" y="4130040"/>
            <a:ext cx="11277295" cy="864108"/>
          </a:xfrm>
          <a:prstGeom prst="roundRect">
            <a:avLst>
              <a:gd name="adj" fmla="val 1058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42397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42580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4230624"/>
            <a:ext cx="10042855" cy="69951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On nseindia.com, open the corporate actions list, pick one recent dividend, bonus, split, rights issue or buyback, and fill a blank row of 'Corporate actions in numbers' for a made-up 100 shares, with its ex-date and record date. For a dividend, compare the ex-date open with the previous close on a free TradingView chart.</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run a five-check health filter on a company from its own filings, score it with written rules, turn a passing card into a Portfolio row, explain market-cap tiers and sectors, and work out what a dividend, bonus, split, rights issue or buyback does to your shares, with its ex-date and record date.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filing: Kiran Foods Ltd (made up)</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Shareholding pattern, last 4 quarters: promoters hold 52%, and 0% of promoter shares are pledged in every quarter.</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Mentor-made numbers in Rs crore, laid out like a real annual-results filing. Sector: FMCG (packaged foods).</a:t>
            </a:r>
          </a:p>
        </p:txBody>
      </p:sp>
      <p:graphicFrame>
        <p:nvGraphicFramePr>
          <p:cNvPr id="7" name="Table 6"/>
          <p:cNvGraphicFramePr>
            <a:graphicFrameLocks noGrp="1"/>
          </p:cNvGraphicFramePr>
          <p:nvPr/>
        </p:nvGraphicFramePr>
        <p:xfrm>
          <a:off x="640080" y="1892808"/>
          <a:ext cx="10911535" cy="4000500"/>
        </p:xfrm>
        <a:graphic>
          <a:graphicData uri="http://schemas.openxmlformats.org/drawingml/2006/table">
            <a:tbl>
              <a:tblPr firstRow="1">
                <a:tableStyleId>{5C22544A-7EE6-4342-B048-85BDC9FD1C3A}</a:tableStyleId>
              </a:tblPr>
              <a:tblGrid>
                <a:gridCol w="6322513"/>
                <a:gridCol w="1529674"/>
                <a:gridCol w="1529674"/>
                <a:gridCol w="1529674"/>
              </a:tblGrid>
              <a:tr h="452628">
                <a:tc>
                  <a:txBody>
                    <a:bodyPr wrap="square"/>
                    <a:lstStyle/>
                    <a:p>
                      <a:pPr algn="l"/>
                      <a:r>
                        <a:rPr sz="1500" b="1" i="0">
                          <a:solidFill>
                            <a:srgbClr val="FFFFFF"/>
                          </a:solidFill>
                          <a:latin typeface="Segoe UI"/>
                        </a:rPr>
                        <a:t>Line (Rs crore)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Year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Year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Year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43484">
                <a:tc>
                  <a:txBody>
                    <a:bodyPr wrap="square"/>
                    <a:lstStyle/>
                    <a:p>
                      <a:pPr algn="l"/>
                      <a:r>
                        <a:rPr sz="1500" b="0" i="0">
                          <a:solidFill>
                            <a:srgbClr val="18232F"/>
                          </a:solidFill>
                          <a:latin typeface="Segoe UI"/>
                        </a:rPr>
                        <a:t>Sales (revenue from operations)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Total expenses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7,140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8,010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of which: finance costs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of which: depreciation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Net profit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645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742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Net cash from operating activities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Total borrowings (latest year only)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3484">
                <a:tc>
                  <a:txBody>
                    <a:bodyPr wrap="square"/>
                    <a:lstStyle/>
                    <a:p>
                      <a:pPr algn="l"/>
                      <a:r>
                        <a:rPr sz="1500" b="0" i="0">
                          <a:solidFill>
                            <a:srgbClr val="18232F"/>
                          </a:solidFill>
                          <a:latin typeface="Segoe UI"/>
                        </a:rPr>
                        <a:t>Total equity (latest year only)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Health Card: model, practice and yours</a:t>
            </a:r>
          </a:p>
        </p:txBody>
      </p:sp>
      <p:sp>
        <p:nvSpPr>
          <p:cNvPr id="4" name="TextBox 3"/>
          <p:cNvSpPr txBox="1"/>
          <p:nvPr/>
        </p:nvSpPr>
        <p:spPr>
          <a:xfrm>
            <a:off x="457200" y="1335024"/>
            <a:ext cx="11277295" cy="585216"/>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Answer key for the Practice column: operating profit 1,120, 1,105 and 1,260, so margins 14.0%, 13.0% and 14.0% (down once, not twice: no flag); D/E 900 ÷ 4,500 = 0.2; interest cover (1,260 - 220) ÷ 50 = 20.8x; 3-year cash 1,880 against 3-year profit 2,017. Kiran Foods Ltd has 0 counted flags and no knock-out, so it stays on the list. A different count? Find the rule you misread before you card your own stock.</a:t>
            </a:r>
          </a:p>
        </p:txBody>
      </p:sp>
      <p:sp>
        <p:nvSpPr>
          <p:cNvPr id="5" name="Rounded Rectangle 4"/>
          <p:cNvSpPr/>
          <p:nvPr/>
        </p:nvSpPr>
        <p:spPr>
          <a:xfrm>
            <a:off x="457200" y="2066544"/>
            <a:ext cx="11277295" cy="4206240"/>
          </a:xfrm>
          <a:prstGeom prst="roundRect">
            <a:avLst>
              <a:gd name="adj" fmla="val 2608"/>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212848"/>
          <a:ext cx="10911535" cy="3931915"/>
        </p:xfrm>
        <a:graphic>
          <a:graphicData uri="http://schemas.openxmlformats.org/drawingml/2006/table">
            <a:tbl>
              <a:tblPr firstRow="1">
                <a:tableStyleId>{5C22544A-7EE6-4342-B048-85BDC9FD1C3A}</a:tableStyleId>
              </a:tblPr>
              <a:tblGrid>
                <a:gridCol w="5273764"/>
                <a:gridCol w="3299837"/>
                <a:gridCol w="1568432"/>
                <a:gridCol w="769502"/>
              </a:tblGrid>
              <a:tr h="504305">
                <a:tc>
                  <a:txBody>
                    <a:bodyPr wrap="square"/>
                    <a:lstStyle/>
                    <a:p>
                      <a:pPr algn="l"/>
                      <a:r>
                        <a:rPr sz="1250" b="1" i="0">
                          <a:solidFill>
                            <a:srgbClr val="FFFFFF"/>
                          </a:solidFill>
                          <a:latin typeface="Segoe UI"/>
                        </a:rPr>
                        <a:t>Check (flag if...)</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50" b="1" i="0">
                          <a:solidFill>
                            <a:srgbClr val="FFFFFF"/>
                          </a:solidFill>
                          <a:latin typeface="Segoe UI"/>
                        </a:rPr>
                        <a:t>Priya: Bharat Pumps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50" b="1" i="0">
                          <a:solidFill>
                            <a:srgbClr val="FFFFFF"/>
                          </a:solidFill>
                          <a:latin typeface="Segoe UI"/>
                        </a:rPr>
                        <a:t>Practice: Kiran Foods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50" b="1" i="0">
                          <a:solidFill>
                            <a:srgbClr val="FFFFFF"/>
                          </a:solidFill>
                          <a:latin typeface="Segoe UI"/>
                        </a:rPr>
                        <a:t>Your 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04661">
                <a:tc>
                  <a:txBody>
                    <a:bodyPr wrap="square"/>
                    <a:lstStyle/>
                    <a:p>
                      <a:pPr algn="l"/>
                      <a:r>
                        <a:rPr sz="1250" b="0" i="0">
                          <a:solidFill>
                            <a:srgbClr val="18232F"/>
                          </a:solidFill>
                          <a:latin typeface="Segoe UI"/>
                        </a:rPr>
                        <a:t>Sector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Capital goods (pumps)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4661">
                <a:tc>
                  <a:txBody>
                    <a:bodyPr wrap="square"/>
                    <a:lstStyle/>
                    <a:p>
                      <a:pPr algn="l"/>
                      <a:r>
                        <a:rPr sz="1250" b="0" i="0">
                          <a:solidFill>
                            <a:srgbClr val="18232F"/>
                          </a:solidFill>
                          <a:latin typeface="Segoe UI"/>
                        </a:rPr>
                        <a:t>1 Growth: sales in year 3 below year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Rs 4,200 to 5,000 cr: up, no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4661">
                <a:tc>
                  <a:txBody>
                    <a:bodyPr wrap="square"/>
                    <a:lstStyle/>
                    <a:p>
                      <a:pPr algn="l"/>
                      <a:r>
                        <a:rPr sz="1250" b="0" i="0">
                          <a:solidFill>
                            <a:srgbClr val="18232F"/>
                          </a:solidFill>
                          <a:latin typeface="Segoe UI"/>
                        </a:rPr>
                        <a:t>2 Margin: down in year 2 and again in year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11.9%, 12.0%, 12.0%: no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4661">
                <a:tc>
                  <a:txBody>
                    <a:bodyPr wrap="square"/>
                    <a:lstStyle/>
                    <a:p>
                      <a:pPr algn="l"/>
                      <a:r>
                        <a:rPr sz="1250" b="0" i="0">
                          <a:solidFill>
                            <a:srgbClr val="18232F"/>
                          </a:solidFill>
                          <a:latin typeface="Segoe UI"/>
                        </a:rPr>
                        <a:t>3 Debt: D/E above 1, or interest cover below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D/E 1.2; cover 1.5x: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4661">
                <a:tc>
                  <a:txBody>
                    <a:bodyPr wrap="square"/>
                    <a:lstStyle/>
                    <a:p>
                      <a:pPr algn="l"/>
                      <a:r>
                        <a:rPr sz="1250" b="0" i="0">
                          <a:solidFill>
                            <a:srgbClr val="18232F"/>
                          </a:solidFill>
                          <a:latin typeface="Segoe UI"/>
                        </a:rPr>
                        <a:t>4 Pledge: above 10%, or up 2 quarters in a row? (knock-out)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0% in all 4 quarters: 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95161">
                <a:tc>
                  <a:txBody>
                    <a:bodyPr wrap="square"/>
                    <a:lstStyle/>
                    <a:p>
                      <a:pPr algn="l"/>
                      <a:r>
                        <a:rPr sz="1250" b="0" i="0">
                          <a:solidFill>
                            <a:srgbClr val="18232F"/>
                          </a:solidFill>
                          <a:latin typeface="Segoe UI"/>
                        </a:rPr>
                        <a:t>5 Cash: 3-year cash under half of 3-year profit, or either at zero or below?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Rs 270 cr vs Rs 300 cr: no flag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4661">
                <a:tc>
                  <a:txBody>
                    <a:bodyPr wrap="square"/>
                    <a:lstStyle/>
                    <a:p>
                      <a:pPr algn="l"/>
                      <a:r>
                        <a:rPr sz="1250" b="0" i="0">
                          <a:solidFill>
                            <a:srgbClr val="18232F"/>
                          </a:solidFill>
                          <a:latin typeface="Segoe UI"/>
                        </a:rPr>
                        <a:t>Knock-out?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4661">
                <a:tc>
                  <a:txBody>
                    <a:bodyPr wrap="square"/>
                    <a:lstStyle/>
                    <a:p>
                      <a:pPr algn="l"/>
                      <a:r>
                        <a:rPr sz="1250" b="0" i="0">
                          <a:solidFill>
                            <a:srgbClr val="18232F"/>
                          </a:solidFill>
                          <a:latin typeface="Segoe UI"/>
                        </a:rPr>
                        <a:t>Counted flags (2 or more = out)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1 (debt)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4661">
                <a:tc>
                  <a:txBody>
                    <a:bodyPr wrap="square"/>
                    <a:lstStyle/>
                    <a:p>
                      <a:pPr algn="l"/>
                      <a:r>
                        <a:rPr sz="1250" b="0" i="0">
                          <a:solidFill>
                            <a:srgbClr val="18232F"/>
                          </a:solidFill>
                          <a:latin typeface="Segoe UI"/>
                        </a:rPr>
                        <a:t>Decision and one reason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Stays; journal: 'debt: watch'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95161">
                <a:tc>
                  <a:txBody>
                    <a:bodyPr wrap="square"/>
                    <a:lstStyle/>
                    <a:p>
                      <a:pPr algn="l"/>
                      <a:r>
                        <a:rPr sz="1250" b="0" i="0">
                          <a:solidFill>
                            <a:srgbClr val="18232F"/>
                          </a:solidFill>
                          <a:latin typeface="Segoe UI"/>
                        </a:rPr>
                        <a:t>Portfolio row: Full Why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Card: 1 flag (debt), no pledge, sales up 3 years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Corporate actions in numbers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Use a blank row for the action you read on nseindia.com: write its ex-date and record date in the first cell.</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made-up holding of 100 shares at Rs 800 (Rs 80,000), before tax and costs. Prices after are what the arithmetic says; real prices also move with the market.</a:t>
            </a:r>
          </a:p>
        </p:txBody>
      </p:sp>
      <p:graphicFrame>
        <p:nvGraphicFramePr>
          <p:cNvPr id="7" name="Table 6"/>
          <p:cNvGraphicFramePr>
            <a:graphicFrameLocks noGrp="1"/>
          </p:cNvGraphicFramePr>
          <p:nvPr/>
        </p:nvGraphicFramePr>
        <p:xfrm>
          <a:off x="640080" y="1892808"/>
          <a:ext cx="10911536" cy="4000504"/>
        </p:xfrm>
        <a:graphic>
          <a:graphicData uri="http://schemas.openxmlformats.org/drawingml/2006/table">
            <a:tbl>
              <a:tblPr firstRow="1">
                <a:tableStyleId>{5C22544A-7EE6-4342-B048-85BDC9FD1C3A}</a:tableStyleId>
              </a:tblPr>
              <a:tblGrid>
                <a:gridCol w="4786863"/>
                <a:gridCol w="1332270"/>
                <a:gridCol w="1177400"/>
                <a:gridCol w="3615003"/>
              </a:tblGrid>
              <a:tr h="366332">
                <a:tc>
                  <a:txBody>
                    <a:bodyPr wrap="square"/>
                    <a:lstStyle/>
                    <a:p>
                      <a:pPr algn="l"/>
                      <a:r>
                        <a:rPr sz="1500" b="1" i="0">
                          <a:solidFill>
                            <a:srgbClr val="FFFFFF"/>
                          </a:solidFill>
                          <a:latin typeface="Segoe UI"/>
                        </a:rPr>
                        <a:t>Action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Shares after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Price after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 value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57188">
                <a:tc>
                  <a:txBody>
                    <a:bodyPr wrap="square"/>
                    <a:lstStyle/>
                    <a:p>
                      <a:pPr algn="l"/>
                      <a:r>
                        <a:rPr sz="1500" b="0" i="0">
                          <a:solidFill>
                            <a:srgbClr val="18232F"/>
                          </a:solidFill>
                          <a:latin typeface="Segoe UI"/>
                        </a:rPr>
                        <a:t>Rs 10 dividend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790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79,000 + Rs 1,000 cash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500" b="0" i="0">
                          <a:solidFill>
                            <a:srgbClr val="18232F"/>
                          </a:solidFill>
                          <a:latin typeface="Segoe UI"/>
                        </a:rPr>
                        <a:t>1:1 bonus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80,000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500" b="0" i="0">
                          <a:solidFill>
                            <a:srgbClr val="18232F"/>
                          </a:solidFill>
                          <a:latin typeface="Segoe UI"/>
                        </a:rPr>
                        <a:t>Split: face value Rs 10 to Rs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80,000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500" b="0" i="0">
                          <a:solidFill>
                            <a:srgbClr val="18232F"/>
                          </a:solidFill>
                          <a:latin typeface="Segoe UI"/>
                        </a:rPr>
                        <a:t>Rights, 1 for every 4 at Rs 600: apply, pay Rs 15,000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95,000 (80,000 + 15,000 paid)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500" b="0" i="0">
                          <a:solidFill>
                            <a:srgbClr val="18232F"/>
                          </a:solidFill>
                          <a:latin typeface="Segoe UI"/>
                        </a:rPr>
                        <a:t>Rights: sell your 25 rights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76,000 + ~Rs 4,000 cash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500" b="0" i="0">
                          <a:solidFill>
                            <a:srgbClr val="18232F"/>
                          </a:solidFill>
                          <a:latin typeface="Segoe UI"/>
                        </a:rPr>
                        <a:t>Rights: ignore them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76,000 (Rs 4,000 lost)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7188">
                <a:tc>
                  <a:txBody>
                    <a:bodyPr wrap="square"/>
                    <a:lstStyle/>
                    <a:p>
                      <a:pPr algn="l"/>
                      <a:r>
                        <a:rPr sz="1500" b="0" i="0">
                          <a:solidFill>
                            <a:srgbClr val="18232F"/>
                          </a:solidFill>
                          <a:latin typeface="Segoe UI"/>
                        </a:rPr>
                        <a:t>Buyback at Rs 900: 10 of your 100 accepted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800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72,000 + Rs 9,000 cash = Rs 81,000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Flag-count reveal</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Everyone scores the Kiran Foods practice filing alone in 10 minutes, writes the flag count on a chit, and all chits are opened together.</a:t>
            </a:r>
          </a:p>
          <a:p>
            <a:pPr algn="l">
              <a:lnSpc>
                <a:spcPct val="100000"/>
              </a:lnSpc>
              <a:spcAft>
                <a:spcPts val="700"/>
              </a:spcAft>
            </a:pPr>
            <a:r>
              <a:rPr sz="2000" b="0" i="0">
                <a:solidFill>
                  <a:srgbClr val="18232F"/>
                </a:solidFill>
                <a:latin typeface="Segoe UI"/>
              </a:rPr>
              <a:t>Anyone whose count differs reads aloud the rule that tripped them.</a:t>
            </a:r>
          </a:p>
          <a:p>
            <a:pPr algn="l">
              <a:lnSpc>
                <a:spcPct val="100000"/>
              </a:lnSpc>
              <a:spcAft>
                <a:spcPts val="700"/>
              </a:spcAft>
            </a:pPr>
            <a:r>
              <a:rPr sz="2000" b="0" i="0">
                <a:solidFill>
                  <a:srgbClr val="18232F"/>
                </a:solidFill>
                <a:latin typeface="Segoe UI"/>
              </a:rPr>
              <a:t>Round two, Story vs Numbers: one person reads Aman's '500 stores' line in a TV-anchor voice, and the others call out which of the five checks would test it.</a:t>
            </a:r>
          </a:p>
          <a:p>
            <a:pPr algn="l">
              <a:lnSpc>
                <a:spcPct val="100000"/>
              </a:lnSpc>
              <a:spcAft>
                <a:spcPts val="700"/>
              </a:spcAft>
            </a:pPr>
            <a:r>
              <a:rPr sz="2000" b="0" i="0">
                <a:solidFill>
                  <a:srgbClr val="18232F"/>
                </a:solidFill>
                <a:latin typeface="Segoe UI"/>
              </a:rPr>
              <a:t>Learning alone? Play both rounds with the answer key under the Health Card.</a:t>
            </a:r>
          </a:p>
          <a:p>
            <a:pPr algn="l">
              <a:lnSpc>
                <a:spcPct val="100000"/>
              </a:lnSpc>
            </a:pPr>
            <a:r>
              <a:rPr sz="2000" b="0" i="0">
                <a:solidFill>
                  <a:srgbClr val="18232F"/>
                </a:solidFill>
                <a:latin typeface="Segoe UI"/>
              </a:rPr>
              <a:t>No real company names are shared.</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Fill my health card: AI does the maths, you verify and decide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Fill my health card</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“I will paste the company's sector and numbers I copied myself from its annual results (consolidated if available) for 3 years (year 1 is the oldest, year 3 the latest): sales (revenue from operations), total expenses, finance costs, depreciation, net profit and net cash from operating activities for each year; for the latest year, total borrowings (non-current plus current) and total equity (share capital plus other equity); and, for the last 4 quarters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Story or numbers?</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a company press release, a TV interview transcript or a news article, with the company name removed.”</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Check my corporate action</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read a corporate action on the NSE website and I will paste its type (dividend, bonus, split, rights issue or buyback), the ratio or amount, the issue or buyback price if any, the ex-date and the record date.”</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QUESTION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 declares a Rs 8 dividend. Thursday is both the ex-date and the record date. Aman buys 40 shares on Wednesday to catch the dividend; Priya buys 40 shares on Thursday morning. In the normal T+1 cycle, who receives the dividend?</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Neither: the list is taken after Friday's settlement</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Only Aman: his Wednesday buy settles on Thursday</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Both of them, since both bought before Friday</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Only Priya: she owns the shares on the ex-date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watches a CEO interview about 500 new stores and feels sure the company will do well. He has not opened its accounts. Which habit best protects him from story bias?</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Score the card from the filings first; hear the story last</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Watch two more interviews to be sure the plan is real</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Ask an AI chat whether the company will do well</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 a small amount now and check the numbers later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card for a made-up company: sales up over 3 years, margin steady, debt-to-equity 0.4 and 3-year cash flow close to profit. But 35% of promoter shares are pledged. Under the course rules, what happens?</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stays, since only one of the five checks failed</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leaves the list: a pledge above 10% is a knock-out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stays if the chart also shows a clean uptrend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stays, but only with half of the usual position size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Over three years, a made-up company's net profit is Rs 20, 24 and 28 crore. Its operating cash flow is Rs 18, 6 and 4 crore. What does the course's cash-flow check say?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 flag, since profit rose every single year</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Flag: 3-year cash is below half of 3-year profit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 flag: year one's cash was close to its profit</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Flag only if the share price has also fallen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QUICK QUIZ · QUESTION 5/5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Aman's colleague has held 50 shares of Anand Snacks Ltd for two years; the share is at Rs 200. The company offers 1 new share for every 5 held, at Rs 140, and after the ex-date the price moves towards Rs 190. If the colleague simply ignores the offer, what happens?</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gains, because the share is now Rs 10 cheaper</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Nothing changes: an offer he ignores costs him nothing</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is about Rs 500 worse off: his 10 unused rights lapse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must still pay Rs 1,400 for his 10 new shares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15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A fundamental health check with AI, and corporate actions</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example figures are made up for illustration, and no fair value, target price or buy/sell view is given. No affiliation with any website or tool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Which company story have you believed without checking its numbers, from TV, YouTube or a friend? After today's card, would that company stay on your list? Write which check decided it.</a:t>
            </a:r>
          </a:p>
        </p:txBody>
      </p:sp>
      <p:sp>
        <p:nvSpPr>
          <p:cNvPr id="8" name="Rounded Rectangle 7"/>
          <p:cNvSpPr/>
          <p:nvPr/>
        </p:nvSpPr>
        <p:spPr>
          <a:xfrm>
            <a:off x="6233008" y="1335024"/>
            <a:ext cx="5501488" cy="4008120"/>
          </a:xfrm>
          <a:prstGeom prst="roundRect">
            <a:avLst>
              <a:gd name="adj" fmla="val 319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Today you read the report before the chart. It is slow, unglamorous work, and it is exactly the work a good story tempts you to skip.</a:t>
            </a:r>
          </a:p>
        </p:txBody>
      </p:sp>
      <p:sp>
        <p:nvSpPr>
          <p:cNvPr id="11" name="Rounded Rectangle 10"/>
          <p:cNvSpPr/>
          <p:nvPr/>
        </p:nvSpPr>
        <p:spPr>
          <a:xfrm>
            <a:off x="457200" y="5489448"/>
            <a:ext cx="4709833"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16 · Algo Level 1: rules, flowchart and alerts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15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16</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Build your system, protect yourself</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Algo Level 1: rules, flowchart and alerts</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Testable rules, flowcharts and alerts: the machine watches, you decide</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Flowchart drafter: AI drafts, you find the missing box</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Wanting a magic bot</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BY THE END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turn vague trading ideas into testable yes/no rules, draw them as a flowchart with a YES and a NO exit at every question, say which checks a free screener or a price alert can do and which you do yourself, time daily checks after the official close, and explain SEBI's retail algo rules and why a magic bot is a red flag.</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bot that does everything</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Tuesday, 10 pm. Aman forwards a Telegram ad to Priya and the mentor.</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AI Algo Bot. It trades for you while you sleep. Sure-shot entries, 9 out of 10 trades in profit. Just share your broker login and password. Rs 4,999 a month. Only 20 seats left.</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why should I spend three weeks writing rules? This bot does it all. No more staring at charts during office hours.</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bot that does everything</a:t>
            </a:r>
          </a:p>
        </p:txBody>
      </p:sp>
      <p:sp>
        <p:nvSpPr>
          <p:cNvPr id="4" name="Rounded Rectangle 3"/>
          <p:cNvSpPr/>
          <p:nvPr/>
        </p:nvSpPr>
        <p:spPr>
          <a:xfrm>
            <a:off x="457200"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2919984"/>
          </a:xfrm>
          <a:prstGeom prst="wedgeRoundRectCallout">
            <a:avLst>
              <a:gd name="adj1" fmla="val -41915"/>
              <a:gd name="adj2" fmla="val -56263"/>
              <a:gd name="adj3" fmla="val 375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26273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Ask the seller three questions first, Aman. What are the bot's rules, written as yes or no? Which broker sends its orders, and does each one carry the exchange's Algo-ID, its number plate? And who answers to you when it goes wrong? One more thing: no genuine service ever asks for your password.</a:t>
            </a:r>
          </a:p>
        </p:txBody>
      </p:sp>
      <p:sp>
        <p:nvSpPr>
          <p:cNvPr id="10" name="Rounded Rectangle 9"/>
          <p:cNvSpPr/>
          <p:nvPr/>
        </p:nvSpPr>
        <p:spPr>
          <a:xfrm>
            <a:off x="4271162"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last night I tried to write my Day 11 rules as steps a machine could follow. The numbers were all there, but I got stuck on time: 'close within 2% of EMA 20'. Which close? If I check at 3:00, is that the close?</a:t>
            </a:r>
          </a:p>
        </p:txBody>
      </p:sp>
      <p:sp>
        <p:nvSpPr>
          <p:cNvPr id="16" name="Rounded Rectangle 15"/>
          <p:cNvSpPr/>
          <p:nvPr/>
        </p:nvSpPr>
        <p:spPr>
          <a:xfrm>
            <a:off x="8085125"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That is the real work, Priya. A machine can only follow what you can write as yes or no. Today we build Algo Level 1: rules, a flowchart and alerts. The machine watches; you decide.</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No bot can follow rules you have not written. Write them first; then you will not need magic.</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An algo is written rules, not magic</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An algorithm, or algo, is a fixed list of steps followed the same way every time, like a chai recipe that says 'boil for 2 minutes', not 'boil for a while'.</a:t>
            </a:r>
          </a:p>
          <a:p>
            <a:pPr algn="l" marL="274320" indent="-274320">
              <a:lnSpc>
                <a:spcPct val="100000"/>
              </a:lnSpc>
              <a:spcAft>
                <a:spcPts val="800"/>
              </a:spcAft>
              <a:buClr>
                <a:srgbClr val="F5A623"/>
              </a:buClr>
              <a:buFont typeface="Arial"/>
              <a:buChar char="•"/>
            </a:pPr>
            <a:r>
              <a:rPr sz="1600" b="0" i="0">
                <a:solidFill>
                  <a:srgbClr val="18232F"/>
                </a:solidFill>
                <a:latin typeface="Segoe UI"/>
              </a:rPr>
              <a:t>A discretionary trader decides afresh each time ('the chart looks good today')</a:t>
            </a:r>
          </a:p>
          <a:p>
            <a:pPr algn="l" marL="274320" indent="-274320">
              <a:lnSpc>
                <a:spcPct val="100000"/>
              </a:lnSpc>
              <a:buClr>
                <a:srgbClr val="F5A623"/>
              </a:buClr>
              <a:buFont typeface="Arial"/>
              <a:buChar char="•"/>
            </a:pPr>
            <a:r>
              <a:rPr sz="1600" b="0" i="0">
                <a:solidFill>
                  <a:srgbClr val="18232F"/>
                </a:solidFill>
                <a:latin typeface="Segoe UI"/>
              </a:rPr>
              <a:t>A systematic trader decides once, writes the rule down and then follows it.</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never copied the Day 11 card; his own note said: 'Enter when an uptrending stock comes near EMA 20 and RSI is not too high; keep a safe stop. Priya helps him hunt the shayad words and finds four. 'Uptrending' becomes 'EMA 20 above EMA 50 on the daily chart, and EMA 50 higher than 10 trading days ago'. 'Near' becomes 'daily close within 2% of EMA 20, above or below it, and still above EMA 50'; with EMA 20 at Rs 440 on Gupta Cement Ltd, that means a close from Rs 431.20 to Rs 448.80. … That is exactly the Day 11 card, and now anyone reading it gets the same answer.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Shayad words vs testable rules</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Anyone reading the 'testable' column gets the same answer.</a:t>
            </a:r>
          </a:p>
        </p:txBody>
      </p:sp>
      <p:sp>
        <p:nvSpPr>
          <p:cNvPr id="11" name="Rounded Rectangle 10"/>
          <p:cNvSpPr/>
          <p:nvPr/>
        </p:nvSpPr>
        <p:spPr>
          <a:xfrm>
            <a:off x="6397600" y="1861185"/>
            <a:ext cx="2494712" cy="33093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86118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9283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861185"/>
            <a:ext cx="2494712" cy="33093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86118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Shayad (vague)</a:t>
            </a:r>
          </a:p>
        </p:txBody>
      </p:sp>
      <p:cxnSp>
        <p:nvCxnSpPr>
          <p:cNvPr id="16" name="Connector 15"/>
          <p:cNvCxnSpPr/>
          <p:nvPr/>
        </p:nvCxnSpPr>
        <p:spPr>
          <a:xfrm>
            <a:off x="6397600" y="2324481"/>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470785"/>
            <a:ext cx="2202104" cy="26631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Uptrending stock</a:t>
            </a:r>
          </a:p>
          <a:p>
            <a:pPr algn="l" marL="201168" indent="-201168">
              <a:lnSpc>
                <a:spcPct val="100000"/>
              </a:lnSpc>
              <a:spcAft>
                <a:spcPts val="750"/>
              </a:spcAft>
              <a:buClr>
                <a:srgbClr val="F0554E"/>
              </a:buClr>
              <a:buFont typeface="Arial"/>
              <a:buChar char="•"/>
            </a:pPr>
            <a:r>
              <a:rPr sz="1500" b="0" i="0">
                <a:solidFill>
                  <a:srgbClr val="18232F"/>
                </a:solidFill>
                <a:latin typeface="Segoe UI"/>
              </a:rPr>
              <a:t>Price near EMA 20</a:t>
            </a:r>
          </a:p>
          <a:p>
            <a:pPr algn="l" marL="201168" indent="-201168">
              <a:lnSpc>
                <a:spcPct val="100000"/>
              </a:lnSpc>
              <a:spcAft>
                <a:spcPts val="750"/>
              </a:spcAft>
              <a:buClr>
                <a:srgbClr val="F0554E"/>
              </a:buClr>
              <a:buFont typeface="Arial"/>
              <a:buChar char="•"/>
            </a:pPr>
            <a:r>
              <a:rPr sz="1500" b="0" i="0">
                <a:solidFill>
                  <a:srgbClr val="18232F"/>
                </a:solidFill>
                <a:latin typeface="Segoe UI"/>
              </a:rPr>
              <a:t>RSI not too high</a:t>
            </a:r>
          </a:p>
          <a:p>
            <a:pPr algn="l" marL="201168" indent="-201168">
              <a:lnSpc>
                <a:spcPct val="100000"/>
              </a:lnSpc>
              <a:buClr>
                <a:srgbClr val="F0554E"/>
              </a:buClr>
              <a:buFont typeface="Arial"/>
              <a:buChar char="•"/>
            </a:pPr>
            <a:r>
              <a:rPr sz="1500" b="0" i="0">
                <a:solidFill>
                  <a:srgbClr val="18232F"/>
                </a:solidFill>
                <a:latin typeface="Segoe UI"/>
              </a:rPr>
              <a:t>A safe stop</a:t>
            </a:r>
          </a:p>
        </p:txBody>
      </p:sp>
      <p:sp>
        <p:nvSpPr>
          <p:cNvPr id="18" name="Rounded Rectangle 17"/>
          <p:cNvSpPr/>
          <p:nvPr/>
        </p:nvSpPr>
        <p:spPr>
          <a:xfrm>
            <a:off x="9056903" y="1861185"/>
            <a:ext cx="2494712" cy="33093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86118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9283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861185"/>
            <a:ext cx="2494712" cy="33093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86118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Testable (yes/no)</a:t>
            </a:r>
          </a:p>
        </p:txBody>
      </p:sp>
      <p:cxnSp>
        <p:nvCxnSpPr>
          <p:cNvPr id="23" name="Connector 22"/>
          <p:cNvCxnSpPr/>
          <p:nvPr/>
        </p:nvCxnSpPr>
        <p:spPr>
          <a:xfrm>
            <a:off x="9056903" y="2324481"/>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470785"/>
            <a:ext cx="2202104" cy="26631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EMA 20 &gt; EMA 50; EMA 50 up vs 10 days ago</a:t>
            </a:r>
          </a:p>
          <a:p>
            <a:pPr algn="l" marL="201168" indent="-201168">
              <a:lnSpc>
                <a:spcPct val="100000"/>
              </a:lnSpc>
              <a:spcAft>
                <a:spcPts val="750"/>
              </a:spcAft>
              <a:buClr>
                <a:srgbClr val="16A34A"/>
              </a:buClr>
              <a:buFont typeface="Arial"/>
              <a:buChar char="•"/>
            </a:pPr>
            <a:r>
              <a:rPr sz="1500" b="0" i="0">
                <a:solidFill>
                  <a:srgbClr val="18232F"/>
                </a:solidFill>
                <a:latin typeface="Segoe UI"/>
              </a:rPr>
              <a:t>Daily close within 2% of EMA 20</a:t>
            </a:r>
          </a:p>
          <a:p>
            <a:pPr algn="l" marL="201168" indent="-201168">
              <a:lnSpc>
                <a:spcPct val="100000"/>
              </a:lnSpc>
              <a:spcAft>
                <a:spcPts val="750"/>
              </a:spcAft>
              <a:buClr>
                <a:srgbClr val="16A34A"/>
              </a:buClr>
              <a:buFont typeface="Arial"/>
              <a:buChar char="•"/>
            </a:pPr>
            <a:r>
              <a:rPr sz="1500" b="0" i="0">
                <a:solidFill>
                  <a:srgbClr val="18232F"/>
                </a:solidFill>
                <a:latin typeface="Segoe UI"/>
              </a:rPr>
              <a:t>RSI 14 between 40 and 50</a:t>
            </a:r>
          </a:p>
          <a:p>
            <a:pPr algn="l" marL="201168" indent="-201168">
              <a:lnSpc>
                <a:spcPct val="100000"/>
              </a:lnSpc>
              <a:buClr>
                <a:srgbClr val="16A34A"/>
              </a:buClr>
              <a:buFont typeface="Arial"/>
              <a:buChar char="•"/>
            </a:pPr>
            <a:r>
              <a:rPr sz="1500" b="0" i="0">
                <a:solidFill>
                  <a:srgbClr val="18232F"/>
                </a:solidFill>
                <a:latin typeface="Segoe UI"/>
              </a:rPr>
              <a:t>Stop 1.5 x ATR 14 below entry</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If two people can read your rule and reach different answers, it is not a rule yet.</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flowchart: your rule card as yes/no boxes</a:t>
            </a:r>
          </a:p>
        </p:txBody>
      </p:sp>
      <p:sp>
        <p:nvSpPr>
          <p:cNvPr id="4" name="TextBox 3"/>
          <p:cNvSpPr txBox="1"/>
          <p:nvPr/>
        </p:nvSpPr>
        <p:spPr>
          <a:xfrm>
            <a:off x="457200" y="1335024"/>
            <a:ext cx="5519776" cy="4279392"/>
          </a:xfrm>
          <a:prstGeom prst="rect">
            <a:avLst/>
          </a:prstGeom>
          <a:noFill/>
        </p:spPr>
        <p:txBody>
          <a:bodyPr wrap="square" lIns="0" rIns="0" tIns="0" bIns="0" anchor="t">
            <a:noAutofit/>
          </a:bodyPr>
          <a:lstStyle/>
          <a:p>
            <a:pPr algn="l" marL="274320" indent="-274320">
              <a:lnSpc>
                <a:spcPct val="100000"/>
              </a:lnSpc>
              <a:spcAft>
                <a:spcPts val="850"/>
              </a:spcAft>
              <a:buClr>
                <a:srgbClr val="F5A623"/>
              </a:buClr>
              <a:buFont typeface="Arial"/>
              <a:buChar char="•"/>
            </a:pPr>
            <a:r>
              <a:rPr sz="1700" b="0" i="0">
                <a:solidFill>
                  <a:srgbClr val="18232F"/>
                </a:solidFill>
                <a:latin typeface="Segoe UI"/>
              </a:rPr>
              <a:t>A flowchart is a drawing of your rules in three shapes: an oval for start and end, a diamond for a yes/no question, and a rectangle for an action.</a:t>
            </a:r>
          </a:p>
          <a:p>
            <a:pPr algn="l" marL="274320" indent="-274320">
              <a:lnSpc>
                <a:spcPct val="100000"/>
              </a:lnSpc>
              <a:spcAft>
                <a:spcPts val="850"/>
              </a:spcAft>
              <a:buClr>
                <a:srgbClr val="F5A623"/>
              </a:buClr>
              <a:buFont typeface="Arial"/>
              <a:buChar char="•"/>
            </a:pPr>
            <a:r>
              <a:rPr sz="1700" b="0" i="0">
                <a:solidFill>
                  <a:srgbClr val="18232F"/>
                </a:solidFill>
                <a:latin typeface="Segoe UI"/>
              </a:rPr>
              <a:t>Every diamond has exactly two exits.</a:t>
            </a:r>
          </a:p>
          <a:p>
            <a:pPr algn="l" marL="274320" indent="-274320">
              <a:lnSpc>
                <a:spcPct val="100000"/>
              </a:lnSpc>
              <a:spcAft>
                <a:spcPts val="850"/>
              </a:spcAft>
              <a:buClr>
                <a:srgbClr val="F5A623"/>
              </a:buClr>
              <a:buFont typeface="Arial"/>
              <a:buChar char="•"/>
            </a:pPr>
            <a:r>
              <a:rPr sz="1700" b="0" i="0">
                <a:solidFill>
                  <a:srgbClr val="18232F"/>
                </a:solidFill>
                <a:latin typeface="Segoe UI"/>
              </a:rPr>
              <a:t>For your setup, 'yes' goes to the next box and 'no' goes straight to NO TRADE.</a:t>
            </a:r>
          </a:p>
          <a:p>
            <a:pPr algn="l" marL="274320" indent="-274320">
              <a:lnSpc>
                <a:spcPct val="100000"/>
              </a:lnSpc>
              <a:spcAft>
                <a:spcPts val="850"/>
              </a:spcAft>
              <a:buClr>
                <a:srgbClr val="F5A623"/>
              </a:buClr>
              <a:buFont typeface="Arial"/>
              <a:buChar char="•"/>
            </a:pPr>
            <a:r>
              <a:rPr sz="1700" b="0" i="0">
                <a:solidFill>
                  <a:srgbClr val="18232F"/>
                </a:solidFill>
                <a:latin typeface="Segoe UI"/>
              </a:rPr>
              <a:t>Put the chart checks first and the risk checks after them.</a:t>
            </a:r>
          </a:p>
          <a:p>
            <a:pPr algn="l" marL="274320" indent="-274320">
              <a:lnSpc>
                <a:spcPct val="100000"/>
              </a:lnSpc>
              <a:buClr>
                <a:srgbClr val="F5A623"/>
              </a:buClr>
              <a:buFont typeface="Arial"/>
              <a:buChar char="•"/>
            </a:pPr>
            <a:r>
              <a:rPr sz="1700" b="0" i="0">
                <a:solidFill>
                  <a:srgbClr val="18232F"/>
                </a:solidFill>
                <a:latin typeface="Segoe UI"/>
              </a:rPr>
              <a:t>Before the chart boxes, add one gate from Days 11 and 15.</a:t>
            </a:r>
          </a:p>
        </p:txBody>
      </p:sp>
      <p:sp>
        <p:nvSpPr>
          <p:cNvPr id="5" name="Rounded Rectangle 4"/>
          <p:cNvSpPr/>
          <p:nvPr/>
        </p:nvSpPr>
        <p:spPr>
          <a:xfrm>
            <a:off x="6214720" y="1335024"/>
            <a:ext cx="5519776" cy="4279392"/>
          </a:xfrm>
          <a:prstGeom prst="roundRect">
            <a:avLst>
              <a:gd name="adj" fmla="val 256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3822192"/>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After Thursday's close, Priya runs Gupta Cement Ltd through her flowchart on Rs 10 lakh of virtual capital. Cleared? Yes: it passed her health card, no results date falls in the next 15 trading days, and NSE's corporate actions page shows no bonus or split. Trend up? Yes: EMA 20 is above EMA 50, and EMA 50 is higher than 10 trading days ago. On Tuesday it closed within 2% of EMA 20 with RSI 14 at 45, and its 3-month RS is above 0 (it beat NIFTY 50), so it is already on her watchlist. Signal day? Yes: today's candle closed at Rs 445, above Wednesday's high of Rs 442. Risk fits? Yes: she has fewer than 3 open trades and no -2R or -5R pause. Paper plan: ATR 14 is Rs 10, so the stop will be 1.5 x 10 = Rs 15 below the entry, and her maximum entry is 445 + 0.5 x 10 = Rs 450. Size = Rs 10,000 / 15 = 666 shares (rounded down), worth up to Rs 2,99,700 at Rs 450, which breaks the 25% cap of Rs 2,50,000, so the plan box cuts it to 555 shares (Rs 2,49,750 even at Rs 450). The flowchart caught what her eyes might have missed.</a:t>
            </a:r>
          </a:p>
        </p:txBody>
      </p:sp>
      <p:sp>
        <p:nvSpPr>
          <p:cNvPr id="8" name="Rounded Rectangle 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10" name="TextBox 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Every diamond is a yes/no question; one 'no' anywhere means no trade. Action boxes, like sizing, only calculate.</a:t>
            </a:r>
          </a:p>
        </p:txBody>
      </p:sp>
      <p:pic>
        <p:nvPicPr>
          <p:cNvPr id="11" name="Picture 10" descr="logo.png"/>
          <p:cNvPicPr>
            <a:picLocks noChangeAspect="1"/>
          </p:cNvPicPr>
          <p:nvPr/>
        </p:nvPicPr>
        <p:blipFill>
          <a:blip r:embed="rId2"/>
          <a:stretch>
            <a:fillRect/>
          </a:stretch>
        </p:blipFill>
        <p:spPr>
          <a:xfrm>
            <a:off x="457200" y="6437376"/>
            <a:ext cx="237744" cy="237744"/>
          </a:xfrm>
          <a:prstGeom prst="rect">
            <a:avLst/>
          </a:prstGeom>
        </p:spPr>
      </p:pic>
      <p:sp>
        <p:nvSpPr>
          <p:cNvPr id="1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3" name="TextBox 1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2/6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flowchart: your rule card as yes/no boxes</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1481328"/>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Priya's EMA Pullback flowchart, box by box</a:t>
            </a:r>
          </a:p>
        </p:txBody>
      </p:sp>
      <p:sp>
        <p:nvSpPr>
          <p:cNvPr id="6" name="TextBox 5"/>
          <p:cNvSpPr txBox="1"/>
          <p:nvPr/>
        </p:nvSpPr>
        <p:spPr>
          <a:xfrm>
            <a:off x="640080" y="5824728"/>
            <a:ext cx="10911535"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Run it in the evening, after the official close. Follow YES down the list; any NO leaves at once. On paper, draw ovals for start and end, diamonds for questions and rectangles for actions.</a:t>
            </a:r>
          </a:p>
        </p:txBody>
      </p:sp>
      <p:graphicFrame>
        <p:nvGraphicFramePr>
          <p:cNvPr id="7" name="Table 6"/>
          <p:cNvGraphicFramePr>
            <a:graphicFrameLocks noGrp="1"/>
          </p:cNvGraphicFramePr>
          <p:nvPr/>
        </p:nvGraphicFramePr>
        <p:xfrm>
          <a:off x="640080" y="1796796"/>
          <a:ext cx="10911535" cy="3936496"/>
        </p:xfrm>
        <a:graphic>
          <a:graphicData uri="http://schemas.openxmlformats.org/drawingml/2006/table">
            <a:tbl>
              <a:tblPr firstRow="1">
                <a:tableStyleId>{5C22544A-7EE6-4342-B048-85BDC9FD1C3A}</a:tableStyleId>
              </a:tblPr>
              <a:tblGrid>
                <a:gridCol w="731520"/>
                <a:gridCol w="813272"/>
                <a:gridCol w="7071682"/>
                <a:gridCol w="731520"/>
                <a:gridCol w="1563541"/>
              </a:tblGrid>
              <a:tr h="305216">
                <a:tc>
                  <a:txBody>
                    <a:bodyPr wrap="square"/>
                    <a:lstStyle/>
                    <a:p>
                      <a:pPr algn="l"/>
                      <a:r>
                        <a:rPr sz="11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Shape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Question or action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96072">
                <a:tc>
                  <a:txBody>
                    <a:bodyPr wrap="square"/>
                    <a:lstStyle/>
                    <a:p>
                      <a:pPr algn="ctr"/>
                      <a:r>
                        <a:rPr sz="11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Oval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Start: after the close, open the daily chart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712">
                <a:tc>
                  <a:txBody>
                    <a:bodyPr wrap="square"/>
                    <a:lstStyle/>
                    <a:p>
                      <a:pPr algn="ctr"/>
                      <a:r>
                        <a:rPr sz="11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Cleared? Health card passed; no results in the next 15 trading days; no bonus or split on NSE's corporate actions page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6072">
                <a:tc>
                  <a:txBody>
                    <a:bodyPr wrap="square"/>
                    <a:lstStyle/>
                    <a:p>
                      <a:pPr algn="ctr"/>
                      <a:r>
                        <a:rPr sz="11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Trend up? EMA 20 above EMA 50; EMA 50 higher than 10 trading days ago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6072">
                <a:tc>
                  <a:txBody>
                    <a:bodyPr wrap="square"/>
                    <a:lstStyle/>
                    <a:p>
                      <a:pPr algn="ctr"/>
                      <a:r>
                        <a:rPr sz="11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Pullback and RS? Close within 2% of EMA 20 and above EMA 50; RSI 14 at 40-50; RS vs NIFTY 50 above 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712">
                <a:tc>
                  <a:txBody>
                    <a:bodyPr wrap="square"/>
                    <a:lstStyle/>
                    <a:p>
                      <a:pPr algn="ctr"/>
                      <a:r>
                        <a:rPr sz="11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Signal day? Today's close above the previous day's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Not today; drop it after 5 trading days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6072">
                <a:tc>
                  <a:txBody>
                    <a:bodyPr wrap="square"/>
                    <a:lstStyle/>
                    <a:p>
                      <a:pPr algn="ctr"/>
                      <a:r>
                        <a:rPr sz="11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Risk fits? Fewer than 3 open trades; no -2R day or -5R week already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712">
                <a:tc>
                  <a:txBody>
                    <a:bodyPr wrap="square"/>
                    <a:lstStyle/>
                    <a:p>
                      <a:pPr algn="ctr"/>
                      <a:r>
                        <a:rPr sz="1100" b="0" i="0">
                          <a:solidFill>
                            <a:srgbClr val="18232F"/>
                          </a:solidFill>
                          <a:latin typeface="Segoe UI"/>
                        </a:rPr>
                        <a:t>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Rectangle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Paper plan: stop 1.5 x ATR 14; max entry = close + 0.5 x ATR 14; size = Rs 10,000 ÷ stop, cut to the 25% cap at the max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3712">
                <a:tc>
                  <a:txBody>
                    <a:bodyPr wrap="square"/>
                    <a:lstStyle/>
                    <a:p>
                      <a:pPr algn="ctr"/>
                      <a:r>
                        <a:rPr sz="1100" b="0" i="0">
                          <a:solidFill>
                            <a:srgbClr val="18232F"/>
                          </a:solidFill>
                          <a:latin typeface="Segoe UI"/>
                        </a:rPr>
                        <a:t>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Diamond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Next day: did it open between the signal-day low and the max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TRADE: write 'Skipped'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6072">
                <a:tc>
                  <a:txBody>
                    <a:bodyPr wrap="square"/>
                    <a:lstStyle/>
                    <a:p>
                      <a:pPr algn="ctr"/>
                      <a:r>
                        <a:rPr sz="11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Rectangle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Paper entry at that open; write the journal row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 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6072">
                <a:tc>
                  <a:txBody>
                    <a:bodyPr wrap="square"/>
                    <a:lstStyle/>
                    <a:p>
                      <a:pPr algn="ctr"/>
                      <a:r>
                        <a:rPr sz="1100" b="0" i="0">
                          <a:solidFill>
                            <a:srgbClr val="18232F"/>
                          </a:solidFill>
                          <a:latin typeface="Segoe UI"/>
                        </a:rPr>
                        <a:t>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Oval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Alerts ring; you decide</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 screener scans many stocks and lists the ones that meet your conditions.</a:t>
            </a:r>
          </a:p>
          <a:p>
            <a:pPr algn="l" marL="274320" indent="-274320">
              <a:lnSpc>
                <a:spcPct val="100000"/>
              </a:lnSpc>
              <a:spcAft>
                <a:spcPts val="800"/>
              </a:spcAft>
              <a:buClr>
                <a:srgbClr val="F5A623"/>
              </a:buClr>
              <a:buFont typeface="Arial"/>
              <a:buChar char="•"/>
            </a:pPr>
            <a:r>
              <a:rPr sz="1600" b="0" i="0">
                <a:solidFill>
                  <a:srgbClr val="18232F"/>
                </a:solidFill>
                <a:latin typeface="Segoe UI"/>
              </a:rPr>
              <a:t>An alert is a message a platform sends the moment a condition becomes true, such as price crossing a level.</a:t>
            </a:r>
          </a:p>
          <a:p>
            <a:pPr algn="l" marL="274320" indent="-274320">
              <a:lnSpc>
                <a:spcPct val="100000"/>
              </a:lnSpc>
              <a:spcAft>
                <a:spcPts val="800"/>
              </a:spcAft>
              <a:buClr>
                <a:srgbClr val="F5A623"/>
              </a:buClr>
              <a:buFont typeface="Arial"/>
              <a:buChar char="•"/>
            </a:pPr>
            <a:r>
              <a:rPr sz="1600" b="0" i="0">
                <a:solidFill>
                  <a:srgbClr val="18232F"/>
                </a:solidFill>
                <a:latin typeface="Segoe UI"/>
              </a:rPr>
              <a:t>An alert is not an order, because it cannot see your rule card, your position size or your open trades.</a:t>
            </a:r>
          </a:p>
          <a:p>
            <a:pPr algn="l" marL="274320" indent="-274320">
              <a:lnSpc>
                <a:spcPct val="100000"/>
              </a:lnSpc>
              <a:buClr>
                <a:srgbClr val="F5A623"/>
              </a:buClr>
              <a:buFont typeface="Arial"/>
              <a:buChar char="•"/>
            </a:pPr>
            <a:r>
              <a:rPr sz="1600" b="0" i="0">
                <a:solidFill>
                  <a:srgbClr val="18232F"/>
                </a:solidFill>
                <a:latin typeface="Segoe UI"/>
              </a:rPr>
              <a:t>When the machine only watches while you decide and place the order, that is called semi-automation, and Stage 1 goes no further.</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On a day's leave from office, Aman tries the optional ORB on paper, since today he can watch from 9:15 to 11:00. … Only now does he run his after-alert checklist, including Day 13's VWAP and volume checks (his answers at 9:40 and 9:55 are under Your template); his paper entry is the next candle's open, Rs 1,002.50, and the stop sits at the other side of the range, Rs 994, so the risk is Rs 8.50 a share.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touch is not a close</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5-minute candles from 9:15. The 9:40 wick rang the alert, but the first close above the range came only with the 9:55 candle.</a:t>
            </a:r>
          </a:p>
        </p:txBody>
      </p:sp>
      <p:cxnSp>
        <p:nvCxnSpPr>
          <p:cNvPr id="12" name="Connector 11"/>
          <p:cNvCxnSpPr/>
          <p:nvPr/>
        </p:nvCxnSpPr>
        <p:spPr>
          <a:xfrm>
            <a:off x="6812159" y="4983480"/>
            <a:ext cx="361998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90118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993.2</a:t>
            </a:r>
          </a:p>
        </p:txBody>
      </p:sp>
      <p:cxnSp>
        <p:nvCxnSpPr>
          <p:cNvPr id="14" name="Connector 13"/>
          <p:cNvCxnSpPr/>
          <p:nvPr/>
        </p:nvCxnSpPr>
        <p:spPr>
          <a:xfrm>
            <a:off x="6812159" y="4052316"/>
            <a:ext cx="361998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970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997.0</a:t>
            </a:r>
          </a:p>
        </p:txBody>
      </p:sp>
      <p:cxnSp>
        <p:nvCxnSpPr>
          <p:cNvPr id="16" name="Connector 15"/>
          <p:cNvCxnSpPr/>
          <p:nvPr/>
        </p:nvCxnSpPr>
        <p:spPr>
          <a:xfrm>
            <a:off x="6812159" y="3121152"/>
            <a:ext cx="361998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303885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1,001</a:t>
            </a:r>
          </a:p>
        </p:txBody>
      </p:sp>
      <p:cxnSp>
        <p:nvCxnSpPr>
          <p:cNvPr id="18" name="Connector 17"/>
          <p:cNvCxnSpPr/>
          <p:nvPr/>
        </p:nvCxnSpPr>
        <p:spPr>
          <a:xfrm>
            <a:off x="6812159" y="2189988"/>
            <a:ext cx="361998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1,005</a:t>
            </a:r>
          </a:p>
        </p:txBody>
      </p:sp>
      <p:cxnSp>
        <p:nvCxnSpPr>
          <p:cNvPr id="20" name="Connector 19"/>
          <p:cNvCxnSpPr/>
          <p:nvPr/>
        </p:nvCxnSpPr>
        <p:spPr>
          <a:xfrm>
            <a:off x="6812159" y="3316428"/>
            <a:ext cx="3656562"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05297" y="3224988"/>
            <a:ext cx="1046318"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Range high</a:t>
            </a:r>
          </a:p>
        </p:txBody>
      </p:sp>
      <p:cxnSp>
        <p:nvCxnSpPr>
          <p:cNvPr id="22" name="Connector 21"/>
          <p:cNvCxnSpPr/>
          <p:nvPr/>
        </p:nvCxnSpPr>
        <p:spPr>
          <a:xfrm>
            <a:off x="6812159" y="4790825"/>
            <a:ext cx="3656562"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05297" y="4699385"/>
            <a:ext cx="1046318"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range low</a:t>
            </a:r>
          </a:p>
        </p:txBody>
      </p:sp>
      <p:cxnSp>
        <p:nvCxnSpPr>
          <p:cNvPr id="24" name="Connector 23"/>
          <p:cNvCxnSpPr/>
          <p:nvPr/>
        </p:nvCxnSpPr>
        <p:spPr>
          <a:xfrm>
            <a:off x="6993159" y="3562161"/>
            <a:ext cx="0" cy="122866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884559" y="3807894"/>
            <a:ext cx="217199" cy="49146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355157" y="3316428"/>
            <a:ext cx="0" cy="86006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246558" y="3807894"/>
            <a:ext cx="217199" cy="24573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717156" y="3439294"/>
            <a:ext cx="0" cy="98293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608556" y="3562161"/>
            <a:ext cx="217199" cy="49146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079154" y="3365574"/>
            <a:ext cx="0" cy="56518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970555" y="3562161"/>
            <a:ext cx="217199" cy="12286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441153" y="3414721"/>
            <a:ext cx="0" cy="44231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332553" y="3513014"/>
            <a:ext cx="217199" cy="17201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803151" y="2947828"/>
            <a:ext cx="0" cy="71262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694552" y="3513014"/>
            <a:ext cx="217199" cy="4914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165150" y="3365574"/>
            <a:ext cx="0" cy="46689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056550" y="3414721"/>
            <a:ext cx="217199" cy="1474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9527149" y="3341001"/>
            <a:ext cx="0" cy="22116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418549" y="3365574"/>
            <a:ext cx="217199" cy="4914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889147" y="2579229"/>
            <a:ext cx="0" cy="83549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780548" y="2702095"/>
            <a:ext cx="217199" cy="66347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10251146" y="2382643"/>
            <a:ext cx="0" cy="54061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0142546" y="2530082"/>
            <a:ext cx="217199" cy="17201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Isosceles Triangle 43"/>
          <p:cNvSpPr/>
          <p:nvPr/>
        </p:nvSpPr>
        <p:spPr>
          <a:xfrm rot="10800000">
            <a:off x="8748287" y="2810668"/>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8267296" y="2600356"/>
            <a:ext cx="1071710"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Alert: touch only</a:t>
            </a:r>
          </a:p>
        </p:txBody>
      </p:sp>
      <p:sp>
        <p:nvSpPr>
          <p:cNvPr id="46" name="Isosceles Triangle 45"/>
          <p:cNvSpPr/>
          <p:nvPr/>
        </p:nvSpPr>
        <p:spPr>
          <a:xfrm rot="10800000">
            <a:off x="9834283" y="2442069"/>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9540276" y="2231757"/>
            <a:ext cx="697743"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Valid close</a:t>
            </a:r>
          </a:p>
        </p:txBody>
      </p:sp>
      <p:sp>
        <p:nvSpPr>
          <p:cNvPr id="48" name="Rounded Rectangle 4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ounded Rectangle 4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50" name="TextBox 4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An alert means 'look now', never 'buy now'. The rule, the checklist and the order stay with you.</a:t>
            </a:r>
          </a:p>
        </p:txBody>
      </p:sp>
      <p:pic>
        <p:nvPicPr>
          <p:cNvPr id="51" name="Picture 50" descr="logo.png"/>
          <p:cNvPicPr>
            <a:picLocks noChangeAspect="1"/>
          </p:cNvPicPr>
          <p:nvPr/>
        </p:nvPicPr>
        <p:blipFill>
          <a:blip r:embed="rId2"/>
          <a:stretch>
            <a:fillRect/>
          </a:stretch>
        </p:blipFill>
        <p:spPr>
          <a:xfrm>
            <a:off x="457200" y="6437376"/>
            <a:ext cx="237744" cy="237744"/>
          </a:xfrm>
          <a:prstGeom prst="rect">
            <a:avLst/>
          </a:prstGeom>
        </p:spPr>
      </p:pic>
      <p:sp>
        <p:nvSpPr>
          <p:cNvPr id="5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3" name="TextBox 5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Daily rules need a finished daily candle</a:t>
            </a:r>
          </a:p>
        </p:txBody>
      </p:sp>
      <p:sp>
        <p:nvSpPr>
          <p:cNvPr id="4" name="TextBox 3"/>
          <p:cNvSpPr txBox="1"/>
          <p:nvPr/>
        </p:nvSpPr>
        <p:spPr>
          <a:xfrm>
            <a:off x="457200" y="1335024"/>
            <a:ext cx="5519776" cy="206502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A daily candle is final only after the market closes and the exchange sets the official closing price.</a:t>
            </a:r>
          </a:p>
          <a:p>
            <a:pPr algn="l" marL="274320" indent="-274320">
              <a:lnSpc>
                <a:spcPct val="100000"/>
              </a:lnSpc>
              <a:spcAft>
                <a:spcPts val="750"/>
              </a:spcAft>
              <a:buClr>
                <a:srgbClr val="F5A623"/>
              </a:buClr>
              <a:buFont typeface="Arial"/>
              <a:buChar char="•"/>
            </a:pPr>
            <a:r>
              <a:rPr sz="1500" b="0" i="0">
                <a:solidFill>
                  <a:srgbClr val="18232F"/>
                </a:solidFill>
                <a:latin typeface="Segoe UI"/>
              </a:rPr>
              <a:t>Since 3 August 2026, stocks that have F&amp;O contracts stop continuous trading at 3:15 pm, and a closing auction (about 3:15 to 3:35 pm) sets one closing price.</a:t>
            </a:r>
          </a:p>
          <a:p>
            <a:pPr algn="l" marL="274320" indent="-274320">
              <a:lnSpc>
                <a:spcPct val="100000"/>
              </a:lnSpc>
              <a:buClr>
                <a:srgbClr val="F5A623"/>
              </a:buClr>
              <a:buFont typeface="Arial"/>
              <a:buChar char="•"/>
            </a:pPr>
            <a:r>
              <a:rPr sz="1500" b="0" i="0">
                <a:solidFill>
                  <a:srgbClr val="18232F"/>
                </a:solidFill>
                <a:latin typeface="Segoe UI"/>
              </a:rPr>
              <a:t>Other stocks trade on to 3:30 pm, and their close is the volume-weighted average price of roughly the last 30 minutes (check nseindia.com for the latest).</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On Kiran Foods Ltd, yesterday's high was Rs 472, and Day 11's signal day needs a daily close above it. At 3:00 pm the price is Rs 474, so the signal looks true, and a pre-close alert fires. A late sell-off pulls the day's official close down to Rs 471, below Rs 472: the finished candle says NO. Aman, who acted on the 3:00 alert, now holds a paper trade his own rules reject; Priya, who scanned at 7 pm, simply moves on. You need no broker app and no paid plan for this: a free price alert at Rs 472, set the evening before, only tells you to look, and a 7 pm phone reminder to run your screener does the rest.</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One swing day, in order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3:00 pm alert reads an unfinished candle. Your rule reads the official close. Closing timings as of Aug 2026; check nseindia.com for the latest.</a:t>
            </a:r>
          </a:p>
        </p:txBody>
      </p:sp>
      <p:cxnSp>
        <p:nvCxnSpPr>
          <p:cNvPr id="11" name="Connector 10"/>
          <p:cNvCxnSpPr/>
          <p:nvPr/>
        </p:nvCxnSpPr>
        <p:spPr>
          <a:xfrm>
            <a:off x="1731234" y="436549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55726" y="420090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3:00 pm</a:t>
            </a:r>
          </a:p>
        </p:txBody>
      </p:sp>
      <p:sp>
        <p:nvSpPr>
          <p:cNvPr id="13" name="TextBox 12"/>
          <p:cNvSpPr txBox="1"/>
          <p:nvPr/>
        </p:nvSpPr>
        <p:spPr>
          <a:xfrm>
            <a:off x="713232"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Pre-close alert</a:t>
            </a:r>
          </a:p>
          <a:p>
            <a:pPr algn="ctr">
              <a:lnSpc>
                <a:spcPct val="100000"/>
              </a:lnSpc>
            </a:pPr>
            <a:r>
              <a:rPr sz="1100" b="0" i="0">
                <a:solidFill>
                  <a:srgbClr val="47596B"/>
                </a:solidFill>
                <a:latin typeface="Segoe UI"/>
              </a:rPr>
              <a:t>Candle unfinished; can flip</a:t>
            </a:r>
          </a:p>
        </p:txBody>
      </p:sp>
      <p:sp>
        <p:nvSpPr>
          <p:cNvPr id="14" name="Rounded Rectangle 13"/>
          <p:cNvSpPr/>
          <p:nvPr/>
        </p:nvSpPr>
        <p:spPr>
          <a:xfrm>
            <a:off x="3538033" y="420090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3:30+</a:t>
            </a:r>
          </a:p>
        </p:txBody>
      </p:sp>
      <p:sp>
        <p:nvSpPr>
          <p:cNvPr id="15" name="TextBox 14"/>
          <p:cNvSpPr txBox="1"/>
          <p:nvPr/>
        </p:nvSpPr>
        <p:spPr>
          <a:xfrm>
            <a:off x="2895539"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Official close</a:t>
            </a:r>
          </a:p>
          <a:p>
            <a:pPr algn="ctr">
              <a:lnSpc>
                <a:spcPct val="100000"/>
              </a:lnSpc>
            </a:pPr>
            <a:r>
              <a:rPr sz="1100" b="0" i="0">
                <a:solidFill>
                  <a:srgbClr val="47596B"/>
                </a:solidFill>
                <a:latin typeface="Segoe UI"/>
              </a:rPr>
              <a:t>F&amp;O stocks: closing auction; others: last-30-minute average</a:t>
            </a:r>
          </a:p>
        </p:txBody>
      </p:sp>
      <p:sp>
        <p:nvSpPr>
          <p:cNvPr id="16" name="Rounded Rectangle 15"/>
          <p:cNvSpPr/>
          <p:nvPr/>
        </p:nvSpPr>
        <p:spPr>
          <a:xfrm>
            <a:off x="5720340" y="420090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7 pm</a:t>
            </a:r>
          </a:p>
        </p:txBody>
      </p:sp>
      <p:sp>
        <p:nvSpPr>
          <p:cNvPr id="17" name="TextBox 16"/>
          <p:cNvSpPr txBox="1"/>
          <p:nvPr/>
        </p:nvSpPr>
        <p:spPr>
          <a:xfrm>
            <a:off x="5077846"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Evening scan</a:t>
            </a:r>
          </a:p>
          <a:p>
            <a:pPr algn="ctr">
              <a:lnSpc>
                <a:spcPct val="100000"/>
              </a:lnSpc>
            </a:pPr>
            <a:r>
              <a:rPr sz="1100" b="0" i="0">
                <a:solidFill>
                  <a:srgbClr val="47596B"/>
                </a:solidFill>
                <a:latin typeface="Segoe UI"/>
              </a:rPr>
              <a:t>Screener, charts, checklist</a:t>
            </a:r>
          </a:p>
        </p:txBody>
      </p:sp>
      <p:sp>
        <p:nvSpPr>
          <p:cNvPr id="18" name="Rounded Rectangle 17"/>
          <p:cNvSpPr/>
          <p:nvPr/>
        </p:nvSpPr>
        <p:spPr>
          <a:xfrm>
            <a:off x="7902647" y="420090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9:15 am</a:t>
            </a:r>
          </a:p>
        </p:txBody>
      </p:sp>
      <p:sp>
        <p:nvSpPr>
          <p:cNvPr id="19" name="TextBox 18"/>
          <p:cNvSpPr txBox="1"/>
          <p:nvPr/>
        </p:nvSpPr>
        <p:spPr>
          <a:xfrm>
            <a:off x="7260153"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Next open</a:t>
            </a:r>
          </a:p>
          <a:p>
            <a:pPr algn="ctr">
              <a:lnSpc>
                <a:spcPct val="100000"/>
              </a:lnSpc>
            </a:pPr>
            <a:r>
              <a:rPr sz="1100" b="0" i="0">
                <a:solidFill>
                  <a:srgbClr val="47596B"/>
                </a:solidFill>
                <a:latin typeface="Segoe UI"/>
              </a:rPr>
              <a:t>Open inside plan limits, else skip</a:t>
            </a:r>
          </a:p>
        </p:txBody>
      </p:sp>
      <p:sp>
        <p:nvSpPr>
          <p:cNvPr id="20" name="Rounded Rectangle 19"/>
          <p:cNvSpPr/>
          <p:nvPr/>
        </p:nvSpPr>
        <p:spPr>
          <a:xfrm>
            <a:off x="10084954" y="4200906"/>
            <a:ext cx="75101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Log</a:t>
            </a:r>
          </a:p>
        </p:txBody>
      </p:sp>
      <p:sp>
        <p:nvSpPr>
          <p:cNvPr id="21" name="TextBox 20"/>
          <p:cNvSpPr txBox="1"/>
          <p:nvPr/>
        </p:nvSpPr>
        <p:spPr>
          <a:xfrm>
            <a:off x="9442460"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Alert log</a:t>
            </a:r>
          </a:p>
          <a:p>
            <a:pPr algn="ctr">
              <a:lnSpc>
                <a:spcPct val="100000"/>
              </a:lnSpc>
            </a:pPr>
            <a:r>
              <a:rPr sz="1100" b="0" i="0">
                <a:solidFill>
                  <a:srgbClr val="47596B"/>
                </a:solidFill>
                <a:latin typeface="Segoe UI"/>
              </a:rPr>
              <a:t>Time, name, valid Y/N, reason</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Swing rules read a finished candle: scan in the evening, act the next morning.</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SEBI's retail algo rules: the road rules</a:t>
            </a:r>
          </a:p>
        </p:txBody>
      </p:sp>
      <p:sp>
        <p:nvSpPr>
          <p:cNvPr id="4" name="TextBox 3"/>
          <p:cNvSpPr txBox="1"/>
          <p:nvPr/>
        </p:nvSpPr>
        <p:spPr>
          <a:xfrm>
            <a:off x="457200" y="1335024"/>
            <a:ext cx="5519776" cy="12839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Since 1 April 2026, SEBI's framework for retail algo trading has been in force.</a:t>
            </a:r>
          </a:p>
          <a:p>
            <a:pPr algn="l" marL="274320" indent="-274320">
              <a:lnSpc>
                <a:spcPct val="100000"/>
              </a:lnSpc>
              <a:buClr>
                <a:srgbClr val="F5A623"/>
              </a:buClr>
              <a:buFont typeface="Arial"/>
              <a:buChar char="•"/>
            </a:pPr>
            <a:r>
              <a:rPr sz="1500" b="0" i="0">
                <a:solidFill>
                  <a:srgbClr val="18232F"/>
                </a:solidFill>
                <a:latin typeface="Segoe UI"/>
              </a:rPr>
              <a:t>It covers every order a program sends through a broker's API, a software link that lets a program place orders, including an alert wired to place orders by itself.</a:t>
            </a:r>
          </a:p>
        </p:txBody>
      </p:sp>
      <p:sp>
        <p:nvSpPr>
          <p:cNvPr id="5" name="Rounded Rectangle 4"/>
          <p:cNvSpPr/>
          <p:nvPr/>
        </p:nvSpPr>
        <p:spPr>
          <a:xfrm>
            <a:off x="6214720" y="1335024"/>
            <a:ext cx="5519776" cy="1484630"/>
          </a:xfrm>
          <a:prstGeom prst="roundRect">
            <a:avLst>
              <a:gd name="adj" fmla="val 739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02743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 colleague in Aman's office has written a small program that places orders through his broker's API. … Stage 1 itself places no automated orders at all; your Level 1 kit is rules, a flowchart and alerts.</a:t>
            </a:r>
          </a:p>
        </p:txBody>
      </p:sp>
      <p:sp>
        <p:nvSpPr>
          <p:cNvPr id="8" name="Rounded Rectangle 7"/>
          <p:cNvSpPr/>
          <p:nvPr/>
        </p:nvSpPr>
        <p:spPr>
          <a:xfrm>
            <a:off x="457200" y="2984246"/>
            <a:ext cx="11277295" cy="2630170"/>
          </a:xfrm>
          <a:prstGeom prst="roundRect">
            <a:avLst>
              <a:gd name="adj" fmla="val 4171"/>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13055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Who answers for what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Orders you place by hand, and alerts that only notify you, are outside the framework; an alert wired to place orders is inside it. Check sebi.gov.in and nseindia.com for the latest.</a:t>
            </a:r>
          </a:p>
        </p:txBody>
      </p:sp>
      <p:sp>
        <p:nvSpPr>
          <p:cNvPr id="11" name="Rounded Rectangle 10"/>
          <p:cNvSpPr/>
          <p:nvPr/>
        </p:nvSpPr>
        <p:spPr>
          <a:xfrm>
            <a:off x="640080" y="3446018"/>
            <a:ext cx="3527450" cy="1788922"/>
          </a:xfrm>
          <a:prstGeom prst="roundRect">
            <a:avLst>
              <a:gd name="adj" fmla="val 51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446018"/>
            <a:ext cx="3527450" cy="448056"/>
          </a:xfrm>
          <a:prstGeom prst="roundRect">
            <a:avLst>
              <a:gd name="adj" fmla="val 20408"/>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670046"/>
            <a:ext cx="3527450" cy="22402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446018"/>
            <a:ext cx="3527450" cy="1788922"/>
          </a:xfrm>
          <a:prstGeom prst="roundRect">
            <a:avLst>
              <a:gd name="adj" fmla="val 5111"/>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446018"/>
            <a:ext cx="3234842" cy="448056"/>
          </a:xfrm>
          <a:prstGeom prst="rect">
            <a:avLst/>
          </a:prstGeom>
          <a:noFill/>
        </p:spPr>
        <p:txBody>
          <a:bodyPr wrap="square" lIns="0" rIns="0" tIns="0" bIns="0" anchor="ctr">
            <a:noAutofit/>
          </a:bodyPr>
          <a:lstStyle/>
          <a:p>
            <a:pPr algn="l">
              <a:lnSpc>
                <a:spcPct val="100000"/>
              </a:lnSpc>
            </a:pPr>
            <a:r>
              <a:rPr sz="1500" b="1" i="0">
                <a:solidFill>
                  <a:srgbClr val="095A90"/>
                </a:solidFill>
                <a:latin typeface="Segoe UI"/>
              </a:rPr>
              <a:t>Broker (principal)</a:t>
            </a:r>
          </a:p>
        </p:txBody>
      </p:sp>
      <p:cxnSp>
        <p:nvCxnSpPr>
          <p:cNvPr id="16" name="Connector 15"/>
          <p:cNvCxnSpPr/>
          <p:nvPr/>
        </p:nvCxnSpPr>
        <p:spPr>
          <a:xfrm>
            <a:off x="640080" y="3894074"/>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4040378"/>
            <a:ext cx="3234842" cy="1157986"/>
          </a:xfrm>
          <a:prstGeom prst="rect">
            <a:avLst/>
          </a:prstGeom>
          <a:noFill/>
        </p:spPr>
        <p:txBody>
          <a:bodyPr wrap="square" lIns="0" rIns="0" tIns="0" bIns="0" anchor="t">
            <a:noAutofit/>
          </a:bodyPr>
          <a:lstStyle/>
          <a:p>
            <a:pPr algn="l" marL="201168" indent="-201168">
              <a:lnSpc>
                <a:spcPct val="100000"/>
              </a:lnSpc>
              <a:spcAft>
                <a:spcPts val="700"/>
              </a:spcAft>
              <a:buClr>
                <a:srgbClr val="0093D6"/>
              </a:buClr>
              <a:buFont typeface="Arial"/>
              <a:buChar char="•"/>
            </a:pPr>
            <a:r>
              <a:rPr sz="1400" b="0" i="0">
                <a:solidFill>
                  <a:srgbClr val="18232F"/>
                </a:solidFill>
                <a:latin typeface="Segoe UI"/>
              </a:rPr>
              <a:t>Routes every algo order</a:t>
            </a:r>
          </a:p>
          <a:p>
            <a:pPr algn="l" marL="201168" indent="-201168">
              <a:lnSpc>
                <a:spcPct val="100000"/>
              </a:lnSpc>
              <a:spcAft>
                <a:spcPts val="700"/>
              </a:spcAft>
              <a:buClr>
                <a:srgbClr val="0093D6"/>
              </a:buClr>
              <a:buFont typeface="Arial"/>
              <a:buChar char="•"/>
            </a:pPr>
            <a:r>
              <a:rPr sz="1400" b="0" i="0">
                <a:solidFill>
                  <a:srgbClr val="18232F"/>
                </a:solidFill>
                <a:latin typeface="Segoe UI"/>
              </a:rPr>
              <a:t>Static IP and two-factor login for API</a:t>
            </a:r>
          </a:p>
          <a:p>
            <a:pPr algn="l" marL="201168" indent="-201168">
              <a:lnSpc>
                <a:spcPct val="100000"/>
              </a:lnSpc>
              <a:buClr>
                <a:srgbClr val="0093D6"/>
              </a:buClr>
              <a:buFont typeface="Arial"/>
              <a:buChar char="•"/>
            </a:pPr>
            <a:r>
              <a:rPr sz="1400" b="0" i="0">
                <a:solidFill>
                  <a:srgbClr val="18232F"/>
                </a:solidFill>
                <a:latin typeface="Segoe UI"/>
              </a:rPr>
              <a:t>Handles your complaints</a:t>
            </a:r>
          </a:p>
        </p:txBody>
      </p:sp>
      <p:sp>
        <p:nvSpPr>
          <p:cNvPr id="18" name="Rounded Rectangle 17"/>
          <p:cNvSpPr/>
          <p:nvPr/>
        </p:nvSpPr>
        <p:spPr>
          <a:xfrm>
            <a:off x="4332122" y="3446018"/>
            <a:ext cx="3527450" cy="1788922"/>
          </a:xfrm>
          <a:prstGeom prst="roundRect">
            <a:avLst>
              <a:gd name="adj" fmla="val 51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446018"/>
            <a:ext cx="3527450" cy="448056"/>
          </a:xfrm>
          <a:prstGeom prst="roundRect">
            <a:avLst>
              <a:gd name="adj" fmla="val 2040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670046"/>
            <a:ext cx="3527450" cy="22402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446018"/>
            <a:ext cx="3527450" cy="1788922"/>
          </a:xfrm>
          <a:prstGeom prst="roundRect">
            <a:avLst>
              <a:gd name="adj" fmla="val 5111"/>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446018"/>
            <a:ext cx="3234842" cy="448056"/>
          </a:xfrm>
          <a:prstGeom prst="rect">
            <a:avLst/>
          </a:prstGeom>
          <a:noFill/>
        </p:spPr>
        <p:txBody>
          <a:bodyPr wrap="square" lIns="0" rIns="0" tIns="0" bIns="0" anchor="ctr">
            <a:noAutofit/>
          </a:bodyPr>
          <a:lstStyle/>
          <a:p>
            <a:pPr algn="l">
              <a:lnSpc>
                <a:spcPct val="100000"/>
              </a:lnSpc>
            </a:pPr>
            <a:r>
              <a:rPr sz="1500" b="1" i="0">
                <a:solidFill>
                  <a:srgbClr val="92400E"/>
                </a:solidFill>
                <a:latin typeface="Segoe UI"/>
              </a:rPr>
              <a:t>Exchange</a:t>
            </a:r>
          </a:p>
        </p:txBody>
      </p:sp>
      <p:cxnSp>
        <p:nvCxnSpPr>
          <p:cNvPr id="23" name="Connector 22"/>
          <p:cNvCxnSpPr/>
          <p:nvPr/>
        </p:nvCxnSpPr>
        <p:spPr>
          <a:xfrm>
            <a:off x="4332122" y="3894074"/>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4040378"/>
            <a:ext cx="3234842" cy="1157986"/>
          </a:xfrm>
          <a:prstGeom prst="rect">
            <a:avLst/>
          </a:prstGeom>
          <a:noFill/>
        </p:spPr>
        <p:txBody>
          <a:bodyPr wrap="square" lIns="0" rIns="0" tIns="0" bIns="0" anchor="t">
            <a:noAutofit/>
          </a:bodyPr>
          <a:lstStyle/>
          <a:p>
            <a:pPr algn="l" marL="201168" indent="-201168">
              <a:lnSpc>
                <a:spcPct val="100000"/>
              </a:lnSpc>
              <a:spcAft>
                <a:spcPts val="700"/>
              </a:spcAft>
              <a:buClr>
                <a:srgbClr val="F5A524"/>
              </a:buClr>
              <a:buFont typeface="Arial"/>
              <a:buChar char="•"/>
            </a:pPr>
            <a:r>
              <a:rPr sz="1400" b="0" i="0">
                <a:solidFill>
                  <a:srgbClr val="18232F"/>
                </a:solidFill>
                <a:latin typeface="Segoe UI"/>
              </a:rPr>
              <a:t>Algo-ID on every algo order</a:t>
            </a:r>
          </a:p>
          <a:p>
            <a:pPr algn="l" marL="201168" indent="-201168">
              <a:lnSpc>
                <a:spcPct val="100000"/>
              </a:lnSpc>
              <a:spcAft>
                <a:spcPts val="700"/>
              </a:spcAft>
              <a:buClr>
                <a:srgbClr val="F5A524"/>
              </a:buClr>
              <a:buFont typeface="Arial"/>
              <a:buChar char="•"/>
            </a:pPr>
            <a:r>
              <a:rPr sz="1400" b="0" i="0">
                <a:solidFill>
                  <a:srgbClr val="18232F"/>
                </a:solidFill>
                <a:latin typeface="Segoe UI"/>
              </a:rPr>
              <a:t>Registers algos above its order-rate limit</a:t>
            </a:r>
          </a:p>
          <a:p>
            <a:pPr algn="l" marL="201168" indent="-201168">
              <a:lnSpc>
                <a:spcPct val="100000"/>
              </a:lnSpc>
              <a:buClr>
                <a:srgbClr val="F5A524"/>
              </a:buClr>
              <a:buFont typeface="Arial"/>
              <a:buChar char="•"/>
            </a:pPr>
            <a:r>
              <a:rPr sz="1400" b="0" i="0">
                <a:solidFill>
                  <a:srgbClr val="18232F"/>
                </a:solidFill>
                <a:latin typeface="Segoe UI"/>
              </a:rPr>
              <a:t>Empanels algo sellers</a:t>
            </a:r>
          </a:p>
        </p:txBody>
      </p:sp>
      <p:sp>
        <p:nvSpPr>
          <p:cNvPr id="25" name="Rounded Rectangle 24"/>
          <p:cNvSpPr/>
          <p:nvPr/>
        </p:nvSpPr>
        <p:spPr>
          <a:xfrm>
            <a:off x="8024165" y="3446018"/>
            <a:ext cx="3527450" cy="1788922"/>
          </a:xfrm>
          <a:prstGeom prst="roundRect">
            <a:avLst>
              <a:gd name="adj" fmla="val 511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446018"/>
            <a:ext cx="3527450"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670046"/>
            <a:ext cx="3527450"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446018"/>
            <a:ext cx="3527450" cy="1788922"/>
          </a:xfrm>
          <a:prstGeom prst="roundRect">
            <a:avLst>
              <a:gd name="adj" fmla="val 5111"/>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446018"/>
            <a:ext cx="3234842"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You</a:t>
            </a:r>
          </a:p>
        </p:txBody>
      </p:sp>
      <p:cxnSp>
        <p:nvCxnSpPr>
          <p:cNvPr id="30" name="Connector 29"/>
          <p:cNvCxnSpPr/>
          <p:nvPr/>
        </p:nvCxnSpPr>
        <p:spPr>
          <a:xfrm>
            <a:off x="8024165" y="3894074"/>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4040378"/>
            <a:ext cx="3234842" cy="1157986"/>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Losses stay yours</a:t>
            </a:r>
          </a:p>
          <a:p>
            <a:pPr algn="l" marL="201168" indent="-201168">
              <a:lnSpc>
                <a:spcPct val="100000"/>
              </a:lnSpc>
              <a:spcAft>
                <a:spcPts val="700"/>
              </a:spcAft>
              <a:buClr>
                <a:srgbClr val="16A34A"/>
              </a:buClr>
              <a:buFont typeface="Arial"/>
              <a:buChar char="•"/>
            </a:pPr>
            <a:r>
              <a:rPr sz="1400" b="0" i="0">
                <a:solidFill>
                  <a:srgbClr val="18232F"/>
                </a:solidFill>
                <a:latin typeface="Segoe UI"/>
              </a:rPr>
              <a:t>Self-built algo: only you, spouse, dependent kids/parents</a:t>
            </a:r>
          </a:p>
          <a:p>
            <a:pPr algn="l" marL="201168" indent="-201168">
              <a:lnSpc>
                <a:spcPct val="100000"/>
              </a:lnSpc>
              <a:buClr>
                <a:srgbClr val="16A34A"/>
              </a:buClr>
              <a:buFont typeface="Arial"/>
              <a:buChar char="•"/>
            </a:pPr>
            <a:r>
              <a:rPr sz="1400" b="0" i="0">
                <a:solidFill>
                  <a:srgbClr val="18232F"/>
                </a:solidFill>
                <a:latin typeface="Segoe UI"/>
              </a:rPr>
              <a:t>Never hand over login or password</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A legal algo runs through a broker with an Algo-ID on every order, and anyone selling one must be exchange-empanelled. Trading losses stay yours.</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magic-bot wish</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After two weeks of rules and checklists, a bot that 'does everything' feels like relief.</a:t>
            </a:r>
          </a:p>
          <a:p>
            <a:pPr algn="l" marL="274320" indent="-274320">
              <a:lnSpc>
                <a:spcPct val="100000"/>
              </a:lnSpc>
              <a:spcAft>
                <a:spcPts val="800"/>
              </a:spcAft>
              <a:buClr>
                <a:srgbClr val="F5A623"/>
              </a:buClr>
              <a:buFont typeface="Arial"/>
              <a:buChar char="•"/>
            </a:pPr>
            <a:r>
              <a:rPr sz="1600" b="0" i="0">
                <a:solidFill>
                  <a:srgbClr val="18232F"/>
                </a:solidFill>
                <a:latin typeface="Segoe UI"/>
              </a:rPr>
              <a:t>The wish usually has three roots: tiredness from deciding, fear of missing moves while at work, and hope of money without effort.</a:t>
            </a:r>
          </a:p>
          <a:p>
            <a:pPr algn="l" marL="274320" indent="-274320">
              <a:lnSpc>
                <a:spcPct val="100000"/>
              </a:lnSpc>
              <a:buClr>
                <a:srgbClr val="F5A623"/>
              </a:buClr>
              <a:buFont typeface="Arial"/>
              <a:buChar char="•"/>
            </a:pPr>
            <a:r>
              <a:rPr sz="1600" b="0" i="0">
                <a:solidFill>
                  <a:srgbClr val="18232F"/>
                </a:solidFill>
                <a:latin typeface="Segoe UI"/>
              </a:rPr>
              <a:t>But a bot is only rules plus speed: it cannot follow rules you have not written, and it repeats a bad rule faster than any human.</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You did this sum on Day 4 for a Telegram tip bot; this bot's fee works the same way. The bot in Aman's forward costs Rs 4,999 a month. On a Rs 1,00,000 account that is Rs 59,988 a year, about 60% of the capital, paid before a single trade wins or loses. Even on the Rs 10 lakh challenge capital it is about 6% a year, gone before any trade. … Priya puts it simply: 'My flowchart is free, and I can see every box in it.'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What the bot really costs</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Before any trading loss, the fee alone takes about 60% of a Rs 1 lakh account in a year.</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347672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Monthly fee</a:t>
            </a:r>
          </a:p>
        </p:txBody>
      </p:sp>
      <p:sp>
        <p:nvSpPr>
          <p:cNvPr id="13" name="TextBox 12"/>
          <p:cNvSpPr txBox="1"/>
          <p:nvPr/>
        </p:nvSpPr>
        <p:spPr>
          <a:xfrm>
            <a:off x="10240080" y="1899666"/>
            <a:ext cx="1238383"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4,999</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x</a:t>
            </a:r>
          </a:p>
        </p:txBody>
      </p:sp>
      <p:sp>
        <p:nvSpPr>
          <p:cNvPr id="16" name="TextBox 15"/>
          <p:cNvSpPr txBox="1"/>
          <p:nvPr/>
        </p:nvSpPr>
        <p:spPr>
          <a:xfrm>
            <a:off x="6726784" y="2503170"/>
            <a:ext cx="347672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Months in a year</a:t>
            </a:r>
          </a:p>
        </p:txBody>
      </p:sp>
      <p:sp>
        <p:nvSpPr>
          <p:cNvPr id="17" name="TextBox 16"/>
          <p:cNvSpPr txBox="1"/>
          <p:nvPr/>
        </p:nvSpPr>
        <p:spPr>
          <a:xfrm>
            <a:off x="10240080" y="2503170"/>
            <a:ext cx="1238383"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347672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Fee for a year</a:t>
            </a:r>
          </a:p>
        </p:txBody>
      </p:sp>
      <p:sp>
        <p:nvSpPr>
          <p:cNvPr id="21" name="TextBox 20"/>
          <p:cNvSpPr txBox="1"/>
          <p:nvPr/>
        </p:nvSpPr>
        <p:spPr>
          <a:xfrm>
            <a:off x="10240080" y="3106674"/>
            <a:ext cx="1238383"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59,988</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3476721"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Account size</a:t>
            </a:r>
          </a:p>
        </p:txBody>
      </p:sp>
      <p:sp>
        <p:nvSpPr>
          <p:cNvPr id="25" name="TextBox 24"/>
          <p:cNvSpPr txBox="1"/>
          <p:nvPr/>
        </p:nvSpPr>
        <p:spPr>
          <a:xfrm>
            <a:off x="10240080" y="3710178"/>
            <a:ext cx="1238383"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1,00,000</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3476721"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Fee as share of account</a:t>
            </a:r>
          </a:p>
        </p:txBody>
      </p:sp>
      <p:sp>
        <p:nvSpPr>
          <p:cNvPr id="29" name="TextBox 28"/>
          <p:cNvSpPr txBox="1"/>
          <p:nvPr/>
        </p:nvSpPr>
        <p:spPr>
          <a:xfrm>
            <a:off x="10240080" y="4368546"/>
            <a:ext cx="1238383"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~60%</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2" name="TextBox 3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bot repeats your rules faster, good or bad. Write and test the rules first.</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07236"/>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Algo (algorithm)</a:t>
            </a:r>
          </a:p>
        </p:txBody>
      </p:sp>
      <p:sp>
        <p:nvSpPr>
          <p:cNvPr id="6" name="TextBox 5"/>
          <p:cNvSpPr txBox="1"/>
          <p:nvPr/>
        </p:nvSpPr>
        <p:spPr>
          <a:xfrm>
            <a:off x="658368" y="1813560"/>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A fixed list of steps followed the same way every time. In trading: written rules a machine can check without feelings.</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07236"/>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Testable rule</a:t>
            </a:r>
          </a:p>
        </p:txBody>
      </p:sp>
      <p:sp>
        <p:nvSpPr>
          <p:cNvPr id="9" name="TextBox 8"/>
          <p:cNvSpPr txBox="1"/>
          <p:nvPr/>
        </p:nvSpPr>
        <p:spPr>
          <a:xfrm>
            <a:off x="6379312" y="1813560"/>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A rule that is objective, has a number and says which candle and when, so everyone reading it gets the same answer.</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82824"/>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Flowchart</a:t>
            </a:r>
          </a:p>
        </p:txBody>
      </p:sp>
      <p:sp>
        <p:nvSpPr>
          <p:cNvPr id="12" name="TextBox 11"/>
          <p:cNvSpPr txBox="1"/>
          <p:nvPr/>
        </p:nvSpPr>
        <p:spPr>
          <a:xfrm>
            <a:off x="658368" y="3089148"/>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A drawing of your rules: ovals for start and end, diamonds for yes/no questions, rectangles for actions.</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82824"/>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Alert</a:t>
            </a:r>
          </a:p>
        </p:txBody>
      </p:sp>
      <p:sp>
        <p:nvSpPr>
          <p:cNvPr id="15" name="TextBox 14"/>
          <p:cNvSpPr txBox="1"/>
          <p:nvPr/>
        </p:nvSpPr>
        <p:spPr>
          <a:xfrm>
            <a:off x="6379312" y="3089148"/>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A message a platform sends when a condition becomes true. It asks you to look; it never places an order.</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API</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software link that lets a program place orders with a broker. To place orders through an API you need a static IP registered with your broker and a two-factor login.</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58412"/>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Algo-ID</a:t>
            </a:r>
          </a:p>
        </p:txBody>
      </p:sp>
      <p:sp>
        <p:nvSpPr>
          <p:cNvPr id="21" name="TextBox 20"/>
          <p:cNvSpPr txBox="1"/>
          <p:nvPr/>
        </p:nvSpPr>
        <p:spPr>
          <a:xfrm>
            <a:off x="6379312" y="4364736"/>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The identity the exchange gives an algo, carried on each of its orders like a number plate, so every order can be traced.</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Screener</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tool that filters many stocks by your written conditions, usually after the close. It holds some rules; any rule it cannot hold, you check by eye on the chart.</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39268"/>
          </a:xfrm>
          <a:prstGeom prst="rect">
            <a:avLst/>
          </a:prstGeom>
          <a:noFill/>
        </p:spPr>
        <p:txBody>
          <a:bodyPr wrap="square" lIns="0" rIns="0" tIns="0" bIns="0" anchor="t">
            <a:noAutofit/>
          </a:bodyPr>
          <a:lstStyle/>
          <a:p>
            <a:pPr algn="l">
              <a:lnSpc>
                <a:spcPct val="100000"/>
              </a:lnSpc>
            </a:pPr>
            <a:r>
              <a:rPr sz="1450" b="1" i="0">
                <a:solidFill>
                  <a:srgbClr val="92400E"/>
                </a:solidFill>
                <a:latin typeface="Segoe UI"/>
              </a:rPr>
              <a:t>Official close</a:t>
            </a:r>
          </a:p>
        </p:txBody>
      </p:sp>
      <p:sp>
        <p:nvSpPr>
          <p:cNvPr id="27" name="TextBox 26"/>
          <p:cNvSpPr txBox="1"/>
          <p:nvPr/>
        </p:nvSpPr>
        <p:spPr>
          <a:xfrm>
            <a:off x="6379312" y="5565648"/>
            <a:ext cx="5154016" cy="608076"/>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The day's closing price set by the exchange: by a closing auction for stocks with F&amp;O contracts, or by the volume-weighted average price of roughly the last 30 minutes for others. Daily rules read this price.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076641"/>
            <a:ext cx="502920" cy="1727263"/>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656266"/>
            <a:ext cx="502920" cy="14763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962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3014091"/>
            <a:ext cx="502920" cy="789813"/>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93745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Algo Level 1</a:t>
            </a:r>
          </a:p>
        </p:txBody>
      </p:sp>
      <p:sp>
        <p:nvSpPr>
          <p:cNvPr id="10" name="Rounded Rectangle 9"/>
          <p:cNvSpPr/>
          <p:nvPr/>
        </p:nvSpPr>
        <p:spPr>
          <a:xfrm>
            <a:off x="640080" y="1369124"/>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1478852"/>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Rules</a:t>
            </a:r>
          </a:p>
        </p:txBody>
      </p:sp>
      <p:sp>
        <p:nvSpPr>
          <p:cNvPr id="12" name="TextBox 11"/>
          <p:cNvSpPr txBox="1"/>
          <p:nvPr/>
        </p:nvSpPr>
        <p:spPr>
          <a:xfrm>
            <a:off x="786384" y="18110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Objective, number, timing</a:t>
            </a:r>
          </a:p>
          <a:p>
            <a:pPr algn="l" marL="182880" indent="-182880">
              <a:lnSpc>
                <a:spcPct val="100000"/>
              </a:lnSpc>
              <a:spcAft>
                <a:spcPts val="464"/>
              </a:spcAft>
              <a:buClr>
                <a:srgbClr val="0093D6"/>
              </a:buClr>
              <a:buFont typeface="Arial"/>
              <a:buChar char="•"/>
            </a:pPr>
            <a:r>
              <a:rPr sz="1550" b="0" i="0">
                <a:solidFill>
                  <a:srgbClr val="18232F"/>
                </a:solidFill>
                <a:latin typeface="Segoe UI"/>
              </a:rPr>
              <a:t>Hunt the shayad words</a:t>
            </a:r>
          </a:p>
          <a:p>
            <a:pPr algn="l" marL="182880" indent="-182880">
              <a:lnSpc>
                <a:spcPct val="100000"/>
              </a:lnSpc>
              <a:buClr>
                <a:srgbClr val="0093D6"/>
              </a:buClr>
              <a:buFont typeface="Arial"/>
              <a:buChar char="•"/>
            </a:pPr>
            <a:r>
              <a:rPr sz="1550" b="0" i="0">
                <a:solidFill>
                  <a:srgbClr val="18232F"/>
                </a:solidFill>
                <a:latin typeface="Segoe UI"/>
              </a:rPr>
              <a:t>Two readers, one answer</a:t>
            </a:r>
          </a:p>
        </p:txBody>
      </p:sp>
      <p:sp>
        <p:nvSpPr>
          <p:cNvPr id="13" name="Rounded Rectangle 12"/>
          <p:cNvSpPr/>
          <p:nvPr/>
        </p:nvSpPr>
        <p:spPr>
          <a:xfrm>
            <a:off x="640080" y="2948750"/>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86384" y="3058478"/>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Flowchart</a:t>
            </a:r>
          </a:p>
        </p:txBody>
      </p:sp>
      <p:sp>
        <p:nvSpPr>
          <p:cNvPr id="15" name="TextBox 14"/>
          <p:cNvSpPr txBox="1"/>
          <p:nvPr/>
        </p:nvSpPr>
        <p:spPr>
          <a:xfrm>
            <a:off x="786384" y="33907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Oval, diamond, rectangle</a:t>
            </a:r>
          </a:p>
          <a:p>
            <a:pPr algn="l" marL="182880" indent="-182880">
              <a:lnSpc>
                <a:spcPct val="100000"/>
              </a:lnSpc>
              <a:spcAft>
                <a:spcPts val="464"/>
              </a:spcAft>
              <a:buClr>
                <a:srgbClr val="F5A524"/>
              </a:buClr>
              <a:buFont typeface="Arial"/>
              <a:buChar char="•"/>
            </a:pPr>
            <a:r>
              <a:rPr sz="1550" b="0" i="0">
                <a:solidFill>
                  <a:srgbClr val="18232F"/>
                </a:solidFill>
                <a:latin typeface="Segoe UI"/>
              </a:rPr>
              <a:t>Any NO = no trade</a:t>
            </a:r>
          </a:p>
          <a:p>
            <a:pPr algn="l" marL="182880" indent="-182880">
              <a:lnSpc>
                <a:spcPct val="100000"/>
              </a:lnSpc>
              <a:buClr>
                <a:srgbClr val="F5A524"/>
              </a:buClr>
              <a:buFont typeface="Arial"/>
              <a:buChar char="•"/>
            </a:pPr>
            <a:r>
              <a:rPr sz="1550" b="0" i="0">
                <a:solidFill>
                  <a:srgbClr val="18232F"/>
                </a:solidFill>
                <a:latin typeface="Segoe UI"/>
              </a:rPr>
              <a:t>Check the AI's draft</a:t>
            </a:r>
          </a:p>
        </p:txBody>
      </p:sp>
      <p:sp>
        <p:nvSpPr>
          <p:cNvPr id="16" name="Rounded Rectangle 15"/>
          <p:cNvSpPr/>
          <p:nvPr/>
        </p:nvSpPr>
        <p:spPr>
          <a:xfrm>
            <a:off x="640080" y="4528376"/>
            <a:ext cx="3718408" cy="1710309"/>
          </a:xfrm>
          <a:prstGeom prst="roundRect">
            <a:avLst>
              <a:gd name="adj" fmla="val 641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786384" y="4638104"/>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Alerts</a:t>
            </a:r>
          </a:p>
        </p:txBody>
      </p:sp>
      <p:sp>
        <p:nvSpPr>
          <p:cNvPr id="18" name="TextBox 17"/>
          <p:cNvSpPr txBox="1"/>
          <p:nvPr/>
        </p:nvSpPr>
        <p:spPr>
          <a:xfrm>
            <a:off x="786384" y="4970336"/>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Alert = look now</a:t>
            </a:r>
          </a:p>
          <a:p>
            <a:pPr algn="l" marL="182880" indent="-182880">
              <a:lnSpc>
                <a:spcPct val="100000"/>
              </a:lnSpc>
              <a:spcAft>
                <a:spcPts val="464"/>
              </a:spcAft>
              <a:buClr>
                <a:srgbClr val="16A34A"/>
              </a:buClr>
              <a:buFont typeface="Arial"/>
              <a:buChar char="•"/>
            </a:pPr>
            <a:r>
              <a:rPr sz="1550" b="0" i="0">
                <a:solidFill>
                  <a:srgbClr val="18232F"/>
                </a:solidFill>
                <a:latin typeface="Segoe UI"/>
              </a:rPr>
              <a:t>A touch is not a close</a:t>
            </a:r>
          </a:p>
          <a:p>
            <a:pPr algn="l" marL="182880" indent="-182880">
              <a:lnSpc>
                <a:spcPct val="100000"/>
              </a:lnSpc>
              <a:spcAft>
                <a:spcPts val="464"/>
              </a:spcAft>
              <a:buClr>
                <a:srgbClr val="16A34A"/>
              </a:buClr>
              <a:buFont typeface="Arial"/>
              <a:buChar char="•"/>
            </a:pPr>
            <a:r>
              <a:rPr sz="1550" b="0" i="0">
                <a:solidFill>
                  <a:srgbClr val="18232F"/>
                </a:solidFill>
                <a:latin typeface="Segoe UI"/>
              </a:rPr>
              <a:t>Swing: scan after the close</a:t>
            </a:r>
          </a:p>
          <a:p>
            <a:pPr algn="l" marL="182880" indent="-182880">
              <a:lnSpc>
                <a:spcPct val="100000"/>
              </a:lnSpc>
              <a:buClr>
                <a:srgbClr val="16A34A"/>
              </a:buClr>
              <a:buFont typeface="Arial"/>
              <a:buChar char="•"/>
            </a:pPr>
            <a:r>
              <a:rPr sz="1550" b="0" i="0">
                <a:solidFill>
                  <a:srgbClr val="18232F"/>
                </a:solidFill>
                <a:latin typeface="Segoe UI"/>
              </a:rPr>
              <a:t>Free: price alert or 7 pm check</a:t>
            </a:r>
          </a:p>
        </p:txBody>
      </p:sp>
      <p:sp>
        <p:nvSpPr>
          <p:cNvPr id="19" name="Rounded Rectangle 18"/>
          <p:cNvSpPr/>
          <p:nvPr/>
        </p:nvSpPr>
        <p:spPr>
          <a:xfrm>
            <a:off x="7833208" y="2158937"/>
            <a:ext cx="3718408" cy="1710309"/>
          </a:xfrm>
          <a:prstGeom prst="roundRect">
            <a:avLst>
              <a:gd name="adj" fmla="val 641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979512" y="2268665"/>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SEBI road rules</a:t>
            </a:r>
          </a:p>
        </p:txBody>
      </p:sp>
      <p:sp>
        <p:nvSpPr>
          <p:cNvPr id="21" name="TextBox 20"/>
          <p:cNvSpPr txBox="1"/>
          <p:nvPr/>
        </p:nvSpPr>
        <p:spPr>
          <a:xfrm>
            <a:off x="7979512" y="2600897"/>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Broker is principal</a:t>
            </a:r>
          </a:p>
          <a:p>
            <a:pPr algn="l" marL="182880" indent="-182880">
              <a:lnSpc>
                <a:spcPct val="100000"/>
              </a:lnSpc>
              <a:spcAft>
                <a:spcPts val="464"/>
              </a:spcAft>
              <a:buClr>
                <a:srgbClr val="0093D6"/>
              </a:buClr>
              <a:buFont typeface="Arial"/>
              <a:buChar char="•"/>
            </a:pPr>
            <a:r>
              <a:rPr sz="1550" b="0" i="0">
                <a:solidFill>
                  <a:srgbClr val="18232F"/>
                </a:solidFill>
                <a:latin typeface="Segoe UI"/>
              </a:rPr>
              <a:t>Algo-ID on every order</a:t>
            </a:r>
          </a:p>
          <a:p>
            <a:pPr algn="l" marL="182880" indent="-182880">
              <a:lnSpc>
                <a:spcPct val="100000"/>
              </a:lnSpc>
              <a:spcAft>
                <a:spcPts val="464"/>
              </a:spcAft>
              <a:buClr>
                <a:srgbClr val="0093D6"/>
              </a:buClr>
              <a:buFont typeface="Arial"/>
              <a:buChar char="•"/>
            </a:pPr>
            <a:r>
              <a:rPr sz="1550" b="0" i="0">
                <a:solidFill>
                  <a:srgbClr val="18232F"/>
                </a:solidFill>
                <a:latin typeface="Segoe UI"/>
              </a:rPr>
              <a:t>Family-only sharing</a:t>
            </a:r>
          </a:p>
          <a:p>
            <a:pPr algn="l" marL="182880" indent="-182880">
              <a:lnSpc>
                <a:spcPct val="100000"/>
              </a:lnSpc>
              <a:buClr>
                <a:srgbClr val="0093D6"/>
              </a:buClr>
              <a:buFont typeface="Arial"/>
              <a:buChar char="•"/>
            </a:pPr>
            <a:r>
              <a:rPr sz="1550" b="0" i="0">
                <a:solidFill>
                  <a:srgbClr val="18232F"/>
                </a:solidFill>
                <a:latin typeface="Segoe UI"/>
              </a:rPr>
              <a:t>Losses stay yours</a:t>
            </a:r>
          </a:p>
        </p:txBody>
      </p:sp>
      <p:sp>
        <p:nvSpPr>
          <p:cNvPr id="22" name="Rounded Rectangle 21"/>
          <p:cNvSpPr/>
          <p:nvPr/>
        </p:nvSpPr>
        <p:spPr>
          <a:xfrm>
            <a:off x="7833208" y="4033838"/>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7979512" y="4143566"/>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Your mind</a:t>
            </a:r>
          </a:p>
        </p:txBody>
      </p:sp>
      <p:sp>
        <p:nvSpPr>
          <p:cNvPr id="24" name="TextBox 23"/>
          <p:cNvSpPr txBox="1"/>
          <p:nvPr/>
        </p:nvSpPr>
        <p:spPr>
          <a:xfrm>
            <a:off x="7979512" y="4475798"/>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No magic bot</a:t>
            </a:r>
          </a:p>
          <a:p>
            <a:pPr algn="l" marL="182880" indent="-182880">
              <a:lnSpc>
                <a:spcPct val="100000"/>
              </a:lnSpc>
              <a:spcAft>
                <a:spcPts val="464"/>
              </a:spcAft>
              <a:buClr>
                <a:srgbClr val="F0554E"/>
              </a:buClr>
              <a:buFont typeface="Arial"/>
              <a:buChar char="•"/>
            </a:pPr>
            <a:r>
              <a:rPr sz="1550" b="0" i="0">
                <a:solidFill>
                  <a:srgbClr val="18232F"/>
                </a:solidFill>
                <a:latin typeface="Segoe UI"/>
              </a:rPr>
              <a:t>Fees add up</a:t>
            </a:r>
          </a:p>
          <a:p>
            <a:pPr algn="l" marL="182880" indent="-182880">
              <a:lnSpc>
                <a:spcPct val="100000"/>
              </a:lnSpc>
              <a:buClr>
                <a:srgbClr val="F0554E"/>
              </a:buClr>
              <a:buFont typeface="Arial"/>
              <a:buChar char="•"/>
            </a:pPr>
            <a:r>
              <a:rPr sz="1550" b="0" i="0">
                <a:solidFill>
                  <a:srgbClr val="18232F"/>
                </a:solidFill>
                <a:latin typeface="Segoe UI"/>
              </a:rPr>
              <a:t>Never share your password</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45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Build your Algo Level 1 kit: a shayad-free rule card, a paper flowchart, one free price alert or a 7 pm check, and an after-alert checklist, then add a Portfolio row. About 45 minutes; the ORB flowchart is an optional stretch, with its answer key under Your template.</a:t>
            </a:r>
          </a:p>
        </p:txBody>
      </p:sp>
      <p:sp>
        <p:nvSpPr>
          <p:cNvPr id="6" name="Rounded Rectangle 5"/>
          <p:cNvSpPr/>
          <p:nvPr/>
        </p:nvSpPr>
        <p:spPr>
          <a:xfrm>
            <a:off x="457200" y="22494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the 'Rule card, shayad-free' template under Your template and rewrite your Day 11 EMA Pullback card line by line: every line needs a number, a candle and a time, and the 'Checked by' column says whether your free screener, a price alert or your own eyes check it.</a:t>
            </a:r>
          </a:p>
        </p:txBody>
      </p:sp>
      <p:sp>
        <p:nvSpPr>
          <p:cNvPr id="10" name="Rounded Rectangle 9"/>
          <p:cNvSpPr/>
          <p:nvPr/>
        </p:nvSpPr>
        <p:spPr>
          <a:xfrm>
            <a:off x="457200" y="32735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3832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4015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3741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paper, draw the flowchart: an oval to start, a diamond for each yes/no question, a rectangle for each action, and every 'no' arrow going to NO TRADE. Check it against Priya's table in the lesson, then take a photo.</a:t>
            </a:r>
          </a:p>
        </p:txBody>
      </p:sp>
      <p:sp>
        <p:nvSpPr>
          <p:cNvPr id="14" name="Rounded Rectangle 13"/>
          <p:cNvSpPr/>
          <p:nvPr/>
        </p:nvSpPr>
        <p:spPr>
          <a:xfrm>
            <a:off x="457200" y="42976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40740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4256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3982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'Flowchart drafter' with your rule card, compare its draft with yours, and write down one box it missed, merged or got wrong; if it got every box right, write the one box you had to fix in your own drawing.</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45 min</a:t>
            </a:r>
          </a:p>
        </p:txBody>
      </p:sp>
      <p:sp>
        <p:nvSpPr>
          <p:cNvPr id="5" name="Rounded Rectangle 4"/>
          <p:cNvSpPr/>
          <p:nvPr/>
        </p:nvSpPr>
        <p:spPr>
          <a:xfrm>
            <a:off x="457200" y="1335024"/>
            <a:ext cx="11277295" cy="1085088"/>
          </a:xfrm>
          <a:prstGeom prst="roundRect">
            <a:avLst>
              <a:gd name="adj" fmla="val 842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92049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Free alert path: after today's close, note today's high of NIFTY 50 (or of one watchlist stock) and set one plain price alert at that level on a free TradingView chart (a free sign-up, no broker account), named 'LOOK only: close above today's high'. If it rings tomorrow, it only means look; your rule still reads tomorrow's official close. Would rather not sign up, or no free alert left? Set a daily 7 pm phone reminder for your after-close check instead.</a:t>
            </a:r>
          </a:p>
        </p:txBody>
      </p:sp>
      <p:sp>
        <p:nvSpPr>
          <p:cNvPr id="9" name="Rounded Rectangle 8"/>
          <p:cNvSpPr/>
          <p:nvPr/>
        </p:nvSpPr>
        <p:spPr>
          <a:xfrm>
            <a:off x="457200" y="2511552"/>
            <a:ext cx="11277295" cy="864108"/>
          </a:xfrm>
          <a:prstGeom prst="roundRect">
            <a:avLst>
              <a:gd name="adj" fmla="val 1058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6212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6395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612136"/>
            <a:ext cx="10042855" cy="69951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Copy the after-alert checklist (Your template) into Google Sheets or your notes, rewrite check 3 for your own rule card, and add an alert log with four columns: time, alert name, valid Y/N, reason. The AI Lab prompt 'After-the-alert checklist' can draft one for you to check.</a:t>
            </a:r>
          </a:p>
        </p:txBody>
      </p:sp>
      <p:sp>
        <p:nvSpPr>
          <p:cNvPr id="13" name="Rounded Rectangle 12"/>
          <p:cNvSpPr/>
          <p:nvPr/>
        </p:nvSpPr>
        <p:spPr>
          <a:xfrm>
            <a:off x="457200" y="3467100"/>
            <a:ext cx="11277295" cy="1306068"/>
          </a:xfrm>
          <a:prstGeom prst="roundRect">
            <a:avLst>
              <a:gd name="adj" fmla="val 7001"/>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57682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5951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567684"/>
            <a:ext cx="10042855" cy="114147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Add one more Portfolio row (virtual) for a watchlist stock that passed its health card and your flowchart's boxes 2 to 4: Full Why 1 = its card result; Full Why 2 = the chart boxes it passed (3 and 4), not the card again; top risk = 'a results gap' and your answer = 'box 2: no results date in the next 15 trading days'; price-stop = 1.5 x ATR 14 below your planned entry; Why-stop = the box that would turn NO (for example 'EMA 20 closes below EMA 50'); review point = its next results date. No stock passed? Write 'none passed' in your journal: that is the flowchart doing its job.</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turn vague trading ideas into testable yes/no rules, draw them as a flowchart with a YES and a NO exit at every question, say which checks a free screener or a price alert can do and which you do yourself, time daily checks after the official close, and explain SEBI's retail algo rules and why a magic bot is a red flag.</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Rule card, shayad-free: who checks what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Copy it and change only what your own Day 11 card says differently. Any rule a free screener cannot hold, you check by eye on the chart.</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4" cy="4023360"/>
        </p:xfrm>
        <a:graphic>
          <a:graphicData uri="http://schemas.openxmlformats.org/drawingml/2006/table">
            <a:tbl>
              <a:tblPr firstRow="1">
                <a:tableStyleId>{5C22544A-7EE6-4342-B048-85BDC9FD1C3A}</a:tableStyleId>
              </a:tblPr>
              <a:tblGrid>
                <a:gridCol w="1091393"/>
                <a:gridCol w="6816663"/>
                <a:gridCol w="2119985"/>
                <a:gridCol w="883493"/>
              </a:tblGrid>
              <a:tr h="335280">
                <a:tc>
                  <a:txBody>
                    <a:bodyPr wrap="square"/>
                    <a:lstStyle/>
                    <a:p>
                      <a:pPr algn="l"/>
                      <a:r>
                        <a:rPr sz="1350" b="1" i="0">
                          <a:solidFill>
                            <a:srgbClr val="FFFFFF"/>
                          </a:solidFill>
                          <a:latin typeface="Segoe UI"/>
                        </a:rPr>
                        <a:t>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Testable 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Checked by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50" b="1" i="0">
                          <a:solidFill>
                            <a:srgbClr val="FFFFFF"/>
                          </a:solidFill>
                          <a:latin typeface="Segoe UI"/>
                        </a:rPr>
                        <a:t>When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37616">
                <a:tc>
                  <a:txBody>
                    <a:bodyPr wrap="square"/>
                    <a:lstStyle/>
                    <a:p>
                      <a:pPr algn="l"/>
                      <a:r>
                        <a:rPr sz="1350" b="0" i="0">
                          <a:solidFill>
                            <a:srgbClr val="18232F"/>
                          </a:solidFill>
                          <a:latin typeface="Segoe UI"/>
                        </a:rPr>
                        <a:t>Watchlist gate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Health card passed; no results date in the next 15 trading days; no bonus or split on NSE's corporate actions page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You: card, NSE announcements and corporate actions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Before adding a 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37616">
                <a:tc>
                  <a:txBody>
                    <a:bodyPr wrap="square"/>
                    <a:lstStyle/>
                    <a:p>
                      <a:pPr algn="l"/>
                      <a:r>
                        <a:rPr sz="1350" b="0" i="0">
                          <a:solidFill>
                            <a:srgbClr val="18232F"/>
                          </a:solidFill>
                          <a:latin typeface="Segoe UI"/>
                        </a:rPr>
                        <a:t>Trend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EMA 20 above EMA 50 on the daily chart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Free screener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Evening, 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37616">
                <a:tc>
                  <a:txBody>
                    <a:bodyPr wrap="square"/>
                    <a:lstStyle/>
                    <a:p>
                      <a:pPr algn="l"/>
                      <a:r>
                        <a:rPr sz="1350" b="0" i="0">
                          <a:solidFill>
                            <a:srgbClr val="18232F"/>
                          </a:solidFill>
                          <a:latin typeface="Segoe UI"/>
                        </a:rPr>
                        <a:t>Trend rising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EMA 50 higher than 10 trading days ago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You, by eye: free screeners may not hold 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Evening, 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37616">
                <a:tc>
                  <a:txBody>
                    <a:bodyPr wrap="square"/>
                    <a:lstStyle/>
                    <a:p>
                      <a:pPr algn="l"/>
                      <a:r>
                        <a:rPr sz="1350" b="0" i="0">
                          <a:solidFill>
                            <a:srgbClr val="18232F"/>
                          </a:solidFill>
                          <a:latin typeface="Segoe UI"/>
                        </a:rPr>
                        <a:t>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Daily close within 2% of EMA 20, above or below, and above EMA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Free screener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Evening, 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37616">
                <a:tc>
                  <a:txBody>
                    <a:bodyPr wrap="square"/>
                    <a:lstStyle/>
                    <a:p>
                      <a:pPr algn="l"/>
                      <a:r>
                        <a:rPr sz="1350" b="0" i="0">
                          <a:solidFill>
                            <a:srgbClr val="18232F"/>
                          </a:solidFill>
                          <a:latin typeface="Segoe UI"/>
                        </a:rPr>
                        <a:t>Cool-down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RSI 14 between 40 and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Free screener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50" b="0" i="0">
                          <a:solidFill>
                            <a:srgbClr val="18232F"/>
                          </a:solidFill>
                          <a:latin typeface="Segoe UI"/>
                        </a:rPr>
                        <a:t>Evening, 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YOUR TEMPLATE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Rule card, shayad-free: who checks what</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5" name="Table 4"/>
          <p:cNvGraphicFramePr>
            <a:graphicFrameLocks noGrp="1"/>
          </p:cNvGraphicFramePr>
          <p:nvPr/>
        </p:nvGraphicFramePr>
        <p:xfrm>
          <a:off x="640080" y="1481328"/>
          <a:ext cx="10911535" cy="4288536"/>
        </p:xfrm>
        <a:graphic>
          <a:graphicData uri="http://schemas.openxmlformats.org/drawingml/2006/table">
            <a:tbl>
              <a:tblPr firstRow="1">
                <a:tableStyleId>{5C22544A-7EE6-4342-B048-85BDC9FD1C3A}</a:tableStyleId>
              </a:tblPr>
              <a:tblGrid>
                <a:gridCol w="984009"/>
                <a:gridCol w="6437666"/>
                <a:gridCol w="1948886"/>
                <a:gridCol w="1540974"/>
              </a:tblGrid>
              <a:tr h="493776">
                <a:tc>
                  <a:txBody>
                    <a:bodyPr wrap="square"/>
                    <a:lstStyle/>
                    <a:p>
                      <a:pPr algn="l"/>
                      <a:r>
                        <a:rPr sz="1500" b="1" i="0">
                          <a:solidFill>
                            <a:srgbClr val="FFFFFF"/>
                          </a:solidFill>
                          <a:latin typeface="Segoe UI"/>
                        </a:rPr>
                        <a:t>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Testable 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Checked by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13232">
                <a:tc>
                  <a:txBody>
                    <a:bodyPr wrap="square"/>
                    <a:lstStyle/>
                    <a:p>
                      <a:pPr algn="l"/>
                      <a:r>
                        <a:rPr sz="1500" b="0" i="0">
                          <a:solidFill>
                            <a:srgbClr val="18232F"/>
                          </a:solidFill>
                          <a:latin typeface="Segoe UI"/>
                        </a:rPr>
                        <a:t>Strength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3-month % change minus NIFTY 50's is above 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You: the stock/NIFTY line on the chart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Evening, 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Signal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Daily close above the previous day's high, within 5 trading days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Price alert says look; you read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Evening, 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Stop and size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1.5 x ATR 14 below entry; qty = Rs 10,000 ÷ stop, cut to the 25% cap at the max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You, with a calculator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Evening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41832">
                <a:tc>
                  <a:txBody>
                    <a:bodyPr wrap="square"/>
                    <a:lstStyle/>
                    <a:p>
                      <a:pPr algn="l"/>
                      <a:r>
                        <a:rPr sz="150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Next day's open, only if it is between the signal-day low and close + 0.5 x ATR 14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You</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Next evening, from the day's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Risk limits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Fewer than 3 open trades; no -2R day and no -5R week already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You</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Before every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6" name="Picture 5" descr="logo.png"/>
          <p:cNvPicPr>
            <a:picLocks noChangeAspect="1"/>
          </p:cNvPicPr>
          <p:nvPr/>
        </p:nvPicPr>
        <p:blipFill>
          <a:blip r:embed="rId2"/>
          <a:stretch>
            <a:fillRect/>
          </a:stretch>
        </p:blipFill>
        <p:spPr>
          <a:xfrm>
            <a:off x="457200" y="6437376"/>
            <a:ext cx="237744" cy="237744"/>
          </a:xfrm>
          <a:prstGeom prst="rect">
            <a:avLst/>
          </a:prstGeom>
        </p:spPr>
      </p:pic>
      <p:sp>
        <p:nvSpPr>
          <p:cNvPr id="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8" name="TextBox 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After-alert checklist: 60 seconds, six yes/no checks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Any NO = no trade. For your evening swing scan, put your trend, pullback, RSI and RS boxes in check 3.</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Model answers from Aman's paper ORB morning in Bharat Pumps Ltd (range Rs 994-1,000).</a:t>
            </a:r>
          </a:p>
        </p:txBody>
      </p:sp>
      <p:graphicFrame>
        <p:nvGraphicFramePr>
          <p:cNvPr id="7" name="Table 6"/>
          <p:cNvGraphicFramePr>
            <a:graphicFrameLocks noGrp="1"/>
          </p:cNvGraphicFramePr>
          <p:nvPr/>
        </p:nvGraphicFramePr>
        <p:xfrm>
          <a:off x="640080" y="1892808"/>
          <a:ext cx="10911535" cy="4000496"/>
        </p:xfrm>
        <a:graphic>
          <a:graphicData uri="http://schemas.openxmlformats.org/drawingml/2006/table">
            <a:tbl>
              <a:tblPr firstRow="1">
                <a:tableStyleId>{5C22544A-7EE6-4342-B048-85BDC9FD1C3A}</a:tableStyleId>
              </a:tblPr>
              <a:tblGrid>
                <a:gridCol w="731520"/>
                <a:gridCol w="6474521"/>
                <a:gridCol w="1311657"/>
                <a:gridCol w="2393837"/>
              </a:tblGrid>
              <a:tr h="342328">
                <a:tc>
                  <a:txBody>
                    <a:bodyPr wrap="square"/>
                    <a:lstStyle/>
                    <a:p>
                      <a:pPr algn="l"/>
                      <a:r>
                        <a:rPr sz="145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Aman, 9:40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Aman, 9:55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3184">
                <a:tc>
                  <a:txBody>
                    <a:bodyPr wrap="square"/>
                    <a:lstStyle/>
                    <a:p>
                      <a:pPr algn="ctr"/>
                      <a:r>
                        <a:rPr sz="145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I looked at the chart myself, not just the alert text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75144">
                <a:tc>
                  <a:txBody>
                    <a:bodyPr wrap="square"/>
                    <a:lstStyle/>
                    <a:p>
                      <a:pPr algn="ctr"/>
                      <a:r>
                        <a:rPr sz="145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The candle my rule needs has closed beyond the level (a touch or a wick does not count)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 wick only, closed at 999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 closed at 1,002.50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4164">
                <a:tc>
                  <a:txBody>
                    <a:bodyPr wrap="square"/>
                    <a:lstStyle/>
                    <a:p>
                      <a:pPr algn="ctr"/>
                      <a:r>
                        <a:rPr sz="145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The rule-card checks the alert cannot see all pass (ORB: VWAP side, volume, before 11:00)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4164">
                <a:tc>
                  <a:txBody>
                    <a:bodyPr wrap="square"/>
                    <a:lstStyle/>
                    <a:p>
                      <a:pPr algn="ctr"/>
                      <a:r>
                        <a:rPr sz="145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Stop and size worked out: 1% rule, cut to the 25% cap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 stop Rs 994; 249 shares (25% cap)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3184">
                <a:tc>
                  <a:txBody>
                    <a:bodyPr wrap="square"/>
                    <a:lstStyle/>
                    <a:p>
                      <a:pPr algn="ctr"/>
                      <a:r>
                        <a:rPr sz="145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Fewer than 3 open trades; no -2R day or -5R week already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4164">
                <a:tc>
                  <a:txBody>
                    <a:bodyPr wrap="square"/>
                    <a:lstStyle/>
                    <a:p>
                      <a:pPr algn="ctr"/>
                      <a:r>
                        <a:rPr sz="145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Alert-log row written: time, alert name, valid Y/N, reason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 'N, touch only'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Yes: 'Y, close above'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4164">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Decision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Paper entry at the next open, Rs 1,002.50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flowchart: answer key (optional stretch)</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If you follow ORB, draw your own flowchart first, then compare it box by box. The rules are Day 13's.</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4251961"/>
        </p:xfrm>
        <a:graphic>
          <a:graphicData uri="http://schemas.openxmlformats.org/drawingml/2006/table">
            <a:tbl>
              <a:tblPr firstRow="1">
                <a:tableStyleId>{5C22544A-7EE6-4342-B048-85BDC9FD1C3A}</a:tableStyleId>
              </a:tblPr>
              <a:tblGrid>
                <a:gridCol w="731520"/>
                <a:gridCol w="7675898"/>
                <a:gridCol w="731520"/>
                <a:gridCol w="1772597"/>
              </a:tblGrid>
              <a:tr h="322811">
                <a:tc>
                  <a:txBody>
                    <a:bodyPr wrap="square"/>
                    <a:lstStyle/>
                    <a:p>
                      <a:pPr algn="l"/>
                      <a:r>
                        <a:rPr sz="13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Question or action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300" b="1" i="0">
                          <a:solidFill>
                            <a:srgbClr val="FFFFFF"/>
                          </a:solidFill>
                          <a:latin typeface="Segoe UI"/>
                        </a:rPr>
                        <a:t>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13667">
                <a:tc>
                  <a:txBody>
                    <a:bodyPr wrap="square"/>
                    <a:lstStyle/>
                    <a:p>
                      <a:pPr algn="ctr"/>
                      <a:r>
                        <a:rPr sz="13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Start: free to watch 9:15-11:00, and again at 14:30?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ORB today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3667">
                <a:tc>
                  <a:txBody>
                    <a:bodyPr wrap="square"/>
                    <a:lstStyle/>
                    <a:p>
                      <a:pPr algn="ctr"/>
                      <a:r>
                        <a:rPr sz="13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A NIFTY 50 stock that opened inside yesterday's range (no gap)?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3667">
                <a:tc>
                  <a:txBody>
                    <a:bodyPr wrap="square"/>
                    <a:lstStyle/>
                    <a:p>
                      <a:pPr algn="ctr"/>
                      <a:r>
                        <a:rPr sz="13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results or big company news today, and away from its price band?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3667">
                <a:tc>
                  <a:txBody>
                    <a:bodyPr wrap="square"/>
                    <a:lstStyle/>
                    <a:p>
                      <a:pPr algn="ctr"/>
                      <a:r>
                        <a:rPr sz="13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Room left: above -2R, under 2 stop-outs, under 3 open, no ORB trade in this stock yet?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1787">
                <a:tc>
                  <a:txBody>
                    <a:bodyPr wrap="square"/>
                    <a:lstStyle/>
                    <a:p>
                      <a:pPr algn="ctr"/>
                      <a:r>
                        <a:rPr sz="13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Past 9:30, with the 9:15-9:30 high and low marked?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Wait: no trade before 9:30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1787">
                <a:tc>
                  <a:txBody>
                    <a:bodyPr wrap="square"/>
                    <a:lstStyle/>
                    <a:p>
                      <a:pPr algn="ctr"/>
                      <a:r>
                        <a:rPr sz="13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A 5-minute candle closed outside the range?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Keep watching till 11:00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1787">
                <a:tc>
                  <a:txBody>
                    <a:bodyPr wrap="square"/>
                    <a:lstStyle/>
                    <a:p>
                      <a:pPr algn="ctr"/>
                      <a:r>
                        <a:rPr sz="1300" b="0" i="0">
                          <a:solidFill>
                            <a:srgbClr val="18232F"/>
                          </a:solidFill>
                          <a:latin typeface="Segoe UI"/>
                        </a:rPr>
                        <a:t>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Long: price above VWAP (short: below), and that candle's volume above its 20-candle average?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Not this candle: back to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3667">
                <a:tc>
                  <a:txBody>
                    <a:bodyPr wrap="square"/>
                    <a:lstStyle/>
                    <a:p>
                      <a:pPr algn="ctr"/>
                      <a:r>
                        <a:rPr sz="1300" b="0" i="0">
                          <a:solidFill>
                            <a:srgbClr val="18232F"/>
                          </a:solidFill>
                          <a:latin typeface="Segoe UI"/>
                        </a:rPr>
                        <a:t>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Does the next candle open by 11:00?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NO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1787">
                <a:tc>
                  <a:txBody>
                    <a:bodyPr wrap="square"/>
                    <a:lstStyle/>
                    <a:p>
                      <a:pPr algn="ctr"/>
                      <a:r>
                        <a:rPr sz="13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Plan: stop at the other side of the range; size = the smaller of the 1% rule and the 25% cap; 2R profit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 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13667">
                <a:tc>
                  <a:txBody>
                    <a:bodyPr wrap="square"/>
                    <a:lstStyle/>
                    <a:p>
                      <a:pPr algn="ctr"/>
                      <a:r>
                        <a:rPr sz="1300" b="0" i="0">
                          <a:solidFill>
                            <a:srgbClr val="18232F"/>
                          </a:solidFill>
                          <a:latin typeface="Segoe UI"/>
                        </a:rPr>
                        <a:t>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Paper entry at that open; exit at the stop, 2R or 14:30, always the same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300" b="0" i="0">
                          <a:solidFill>
                            <a:srgbClr val="18232F"/>
                          </a:solidFill>
                          <a:latin typeface="Segoe UI"/>
                        </a:rPr>
                        <a:t>→ 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3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Flowchart Duel</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Swap flowcharts with a classmate or family member and score each out of 4: every box is a yes/no question or an action; every 'no' goes to NO TRADE; the risk checks are there (stop, size, 25% cap, 3 open trades, -2R daily stop, -5R weekly pause, results date); the daily-close timing is there.</a:t>
            </a:r>
          </a:p>
          <a:p>
            <a:pPr algn="l">
              <a:lnSpc>
                <a:spcPct val="100000"/>
              </a:lnSpc>
              <a:spcAft>
                <a:spcPts val="700"/>
              </a:spcAft>
            </a:pPr>
            <a:r>
              <a:rPr sz="2000" b="0" i="0">
                <a:solidFill>
                  <a:srgbClr val="18232F"/>
                </a:solidFill>
                <a:latin typeface="Segoe UI"/>
              </a:rPr>
              <a:t>Bonus round: read one line of your partner's rule card aloud and give them 10 seconds to spot the shayad word.</a:t>
            </a:r>
          </a:p>
          <a:p>
            <a:pPr algn="l">
              <a:lnSpc>
                <a:spcPct val="100000"/>
              </a:lnSpc>
            </a:pPr>
            <a:r>
              <a:rPr sz="2000" b="0" i="0">
                <a:solidFill>
                  <a:srgbClr val="18232F"/>
                </a:solidFill>
                <a:latin typeface="Segoe UI"/>
              </a:rPr>
              <a:t>Learning alone? Score yours against Priya's table in the lesson and count the missing boxes.</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Flowchart drafter: AI drafts, you find the missing box</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Flowchart drafter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00" b="0" i="1">
                <a:solidFill>
                  <a:srgbClr val="47596B"/>
                </a:solidFill>
                <a:latin typeface="Segoe UI"/>
              </a:rPr>
              <a:t>“I will paste my rule card below (the EMA Pullback Swing on daily charts: EMA 20 above EMA 50, with EMA 50 higher than 10 trading days ago, a close within 2% of EMA 20 and above EMA 50, RSI 14 between 40 and 50, 3-month relative strength vs NIFTY 50 above zero, a signal day that closes above the previous day's high, and a stop at 1.5 x ATR 14 below entry).”</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After-the-alert checklist</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“Write a 60-second checklist I will run every time a screener or price alert fires, for a daily EMA pullback swing rule card that I will paste below.”</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Bot pitch X-ray</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“My teacher wrote this made-up advert for practice: 'AI Algo Bot. Trades for you while you sleep. 9 out of 10 trades in profit.”</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QUESTION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wants to add 'enter only when volume is strong' to his card. Which rewrite turns this into a testable rule?</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clearly bigger than usual, as judged by eye</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rising, as long as the chart looks bullish</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above its 20-day average on the signal day</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Volume that most experienced traders would call strong</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In Priya's flowchart, a stock passes the 'Trend up?' box, but the 'Pullback &amp; RS?' box gets NO: RSI 14 is 53, and her rule needs 40 to 50. Everything else on the chart looks fine. What does the flowchart tell her?</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 trade today; one NO ends the flowchart</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it, since everything else looks fine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half size, since 53 is close to 50</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Widen the box to 40-55 today, then trade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QUESTION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The opening range high of Sharma Textiles Ltd is Rs 612. A price alert set at Rs 612 rings when a 5-minute wick pokes up to Rs 613.20, but the candle closes at Rs 611.40. Aman's rule needs a 5-minute close above the range. What does the alert mean?</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Look now; the rule is not met yet</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range is broken; move the stop</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Breakout confirmed; enter at once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alert failed; delete it at once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Aman's swing trigger needs a daily candle that closes above the previous day's high. At 3:00 pm a screener alert shows the condition as true. What should he do?</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Paper-buy half now and the other half after the close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Wait for the official close, then check the rule in the evening</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Place the paper order now, since the alert has already fired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Switch to a 5-minute chart so the alerts come sooner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Under SEBI's retail algo framework the broker is the 'principal'. A trader's own algo, run through a broker, loses money. What does 'principal' mean for that loss?</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broker must refund whatever the trader's algo loses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SEBI repays the trader's losses if the algo was registered</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exchange repays algo losses via the Algo-ID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broker is accountable, but the loss is the trader's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16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Algo Level 1: rules, flowchart and alerts</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Investment in securities market is subject to market risks. Company names, prices and the bot advert are made up for illustration; no algo, bot or algo provider is endorsed. Stage 1 uses virtual money only and places no automated orders. No affiliation with any charting or diagram site named.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JOURNAL, TONIGHT</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Which line of your rule card was hardest to make testable, a shayad word or a missing time, and what did you write instead? And be honest: which part of you still wants a bot to do it all — tiredness, fear of missing out, or hope of easy money?</a:t>
            </a:r>
          </a:p>
        </p:txBody>
      </p:sp>
      <p:sp>
        <p:nvSpPr>
          <p:cNvPr id="8" name="Rounded Rectangle 7"/>
          <p:cNvSpPr/>
          <p:nvPr/>
        </p:nvSpPr>
        <p:spPr>
          <a:xfrm>
            <a:off x="6233008" y="1335024"/>
            <a:ext cx="5501488" cy="3863340"/>
          </a:xfrm>
          <a:prstGeom prst="roundRect">
            <a:avLst>
              <a:gd name="adj" fmla="val 331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946654"/>
            <a:ext cx="4952848" cy="105156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 rule you can draw is a rule you can keep. Today you drew yours, one box at a time.</a:t>
            </a:r>
          </a:p>
        </p:txBody>
      </p:sp>
      <p:sp>
        <p:nvSpPr>
          <p:cNvPr id="11" name="Rounded Rectangle 10"/>
          <p:cNvSpPr/>
          <p:nvPr/>
        </p:nvSpPr>
        <p:spPr>
          <a:xfrm>
            <a:off x="457200" y="5344668"/>
            <a:ext cx="3571897"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17 · Backtest Level 1, by hand</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16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17</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Build your system, protect yourself</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90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59436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Backtest Level 1, by hand</a:t>
            </a:r>
          </a:p>
        </p:txBody>
      </p:sp>
      <p:sp>
        <p:nvSpPr>
          <p:cNvPr id="10" name="Rounded Rectangle 9"/>
          <p:cNvSpPr/>
          <p:nvPr/>
        </p:nvSpPr>
        <p:spPr>
          <a:xfrm>
            <a:off x="4572000" y="18379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18379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A 30-trade manual backtest, logged in R after costs</a:t>
            </a:r>
          </a:p>
        </p:txBody>
      </p:sp>
      <p:sp>
        <p:nvSpPr>
          <p:cNvPr id="12" name="Rounded Rectangle 11"/>
          <p:cNvSpPr/>
          <p:nvPr/>
        </p:nvSpPr>
        <p:spPr>
          <a:xfrm>
            <a:off x="4572000" y="2350008"/>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2350008"/>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Backtest stats sheet and a bias audit</a:t>
            </a:r>
          </a:p>
        </p:txBody>
      </p:sp>
      <p:sp>
        <p:nvSpPr>
          <p:cNvPr id="14" name="Rounded Rectangle 13"/>
          <p:cNvSpPr/>
          <p:nvPr/>
        </p:nvSpPr>
        <p:spPr>
          <a:xfrm>
            <a:off x="4572000" y="2862072"/>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2862072"/>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Curve-fitting hope</a:t>
            </a:r>
          </a:p>
        </p:txBody>
      </p:sp>
      <p:sp>
        <p:nvSpPr>
          <p:cNvPr id="16" name="TextBox 15"/>
          <p:cNvSpPr txBox="1"/>
          <p:nvPr/>
        </p:nvSpPr>
        <p:spPr>
          <a:xfrm>
            <a:off x="4572000" y="3547872"/>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BY THE END</a:t>
            </a:r>
          </a:p>
        </p:txBody>
      </p:sp>
      <p:sp>
        <p:nvSpPr>
          <p:cNvPr id="17" name="TextBox 16"/>
          <p:cNvSpPr txBox="1"/>
          <p:nvPr/>
        </p:nvSpPr>
        <p:spPr>
          <a:xfrm>
            <a:off x="4572000" y="3822192"/>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run a backtest without peeking, log each trade in R after costs and gaps, read win-rate, expectancy, maximum drawdown and the longest losing streak, and spot look-ahead, survivorship and curve-fitting in any backtest, including your own.</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Ten out of ten</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night. Aman posts a chart in the study group, covered in green arrows.</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I backtested the EMA Pullback on Bharat Pumps Ltd. Ten trades, nine winners. Then I changed EMA 20 to EMA 18 and the RSI band to 42-48, and all ten won. This is the one.</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how did you pick those ten trades? And did you take out costs?</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Ten out of ten</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Good questions. Aman, when you marked each entry, could you already see what the chart did next? And why EMA 18?</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Umm... yes, the full chart was open. EMA 18 just fitted those ten trades better.</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Then you tested your memory, not your rule, and bent the rule to fit the past. Today we test honestly: stocks and dates chosen first, the future hidden, thirty trades, costs taken out. The number will be smaller. It will also be honest.</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A backtest is a question you ask the past. Ask it honestly, and even then it promises nothing about tomorrow.</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 backtest is net practice, not a match</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A backtest means running your written rules on past charts to see what would have happened.</a:t>
            </a:r>
          </a:p>
          <a:p>
            <a:pPr algn="l" marL="274320" indent="-274320">
              <a:lnSpc>
                <a:spcPct val="100000"/>
              </a:lnSpc>
              <a:spcAft>
                <a:spcPts val="750"/>
              </a:spcAft>
              <a:buClr>
                <a:srgbClr val="F5A623"/>
              </a:buClr>
              <a:buFont typeface="Arial"/>
              <a:buChar char="•"/>
            </a:pPr>
            <a:r>
              <a:rPr sz="1500" b="0" i="0">
                <a:solidFill>
                  <a:srgbClr val="18232F"/>
                </a:solidFill>
                <a:latin typeface="Segoe UI"/>
              </a:rPr>
              <a:t>Think of it as net practice against a bowling machine: useful, but not a century in a real match.</a:t>
            </a:r>
          </a:p>
          <a:p>
            <a:pPr algn="l" marL="274320" indent="-274320">
              <a:lnSpc>
                <a:spcPct val="100000"/>
              </a:lnSpc>
              <a:spcAft>
                <a:spcPts val="750"/>
              </a:spcAft>
              <a:buClr>
                <a:srgbClr val="F5A623"/>
              </a:buClr>
              <a:buFont typeface="Arial"/>
              <a:buChar char="•"/>
            </a:pPr>
            <a:r>
              <a:rPr sz="1500" b="0" i="0">
                <a:solidFill>
                  <a:srgbClr val="18232F"/>
                </a:solidFill>
                <a:latin typeface="Segoe UI"/>
              </a:rPr>
              <a:t>Paper trading from Day 12 tests your rules going forward, one day at a time.</a:t>
            </a:r>
          </a:p>
          <a:p>
            <a:pPr algn="l" marL="274320" indent="-274320">
              <a:lnSpc>
                <a:spcPct val="100000"/>
              </a:lnSpc>
              <a:buClr>
                <a:srgbClr val="F5A623"/>
              </a:buClr>
              <a:buFont typeface="Arial"/>
              <a:buChar char="•"/>
            </a:pPr>
            <a:r>
              <a:rPr sz="1500" b="0" i="0">
                <a:solidFill>
                  <a:srgbClr val="18232F"/>
                </a:solidFill>
                <a:latin typeface="Segoe UI"/>
              </a:rPr>
              <a:t>A backtest runs the same rules over past years, so you see 30 trades in hours instead of months.</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Before she opens TradingView, Priya types her test plan at the top of a Google Sheet: 'EMA Pullback Swing, Day 11 Rule Card in its Day 16 yes/no form, saved as v1. Daily charts of Sharma Textiles Ltd, Gupta Cement Ltd and Kiran Foods Ltd (drawn at random from a list written before opening any chart, and every name drawn kept), 1 Jan 2023 to 31 Dec 2025. Entry at the next day's open after the signal candle. Stop 1.5 x ATR(14) below entry. Exit at 2.5R or on the 15-day time exit. Costs 0.1R per trade (the Day 12 allowance). No rule changes until trade 30. Aman's ten trades came from one stock he already knew had risen. … Her full plan is the model card under 'Your template' in Today's task.</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An honest backtest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Each step shuts one way of fooling yourself. Skip one and the result flatters you.</a:t>
            </a:r>
          </a:p>
        </p:txBody>
      </p:sp>
      <p:sp>
        <p:nvSpPr>
          <p:cNvPr id="11" name="Rounded Rectangle 10"/>
          <p:cNvSpPr/>
          <p:nvPr/>
        </p:nvSpPr>
        <p:spPr>
          <a:xfrm>
            <a:off x="640080"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Rule Card</a:t>
            </a:r>
          </a:p>
          <a:p>
            <a:pPr algn="ctr">
              <a:lnSpc>
                <a:spcPct val="100000"/>
              </a:lnSpc>
            </a:pPr>
            <a:r>
              <a:rPr sz="1150" b="0" i="0">
                <a:solidFill>
                  <a:srgbClr val="47596B"/>
                </a:solidFill>
                <a:latin typeface="Segoe UI"/>
              </a:rPr>
              <a:t>Frozen for 30 trades</a:t>
            </a:r>
          </a:p>
        </p:txBody>
      </p:sp>
      <p:sp>
        <p:nvSpPr>
          <p:cNvPr id="13" name="Right Arrow 12"/>
          <p:cNvSpPr/>
          <p:nvPr/>
        </p:nvSpPr>
        <p:spPr>
          <a:xfrm>
            <a:off x="219349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2522677"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2632405"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Test plan</a:t>
            </a:r>
          </a:p>
          <a:p>
            <a:pPr algn="ctr">
              <a:lnSpc>
                <a:spcPct val="100000"/>
              </a:lnSpc>
            </a:pPr>
            <a:r>
              <a:rPr sz="1150" b="0" i="0">
                <a:solidFill>
                  <a:srgbClr val="47596B"/>
                </a:solidFill>
                <a:latin typeface="Segoe UI"/>
              </a:rPr>
              <a:t>Stocks and dates first</a:t>
            </a:r>
          </a:p>
        </p:txBody>
      </p:sp>
      <p:sp>
        <p:nvSpPr>
          <p:cNvPr id="16" name="Right Arrow 15"/>
          <p:cNvSpPr/>
          <p:nvPr/>
        </p:nvSpPr>
        <p:spPr>
          <a:xfrm>
            <a:off x="4076090"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405274"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515002"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Hide the future</a:t>
            </a:r>
          </a:p>
          <a:p>
            <a:pPr algn="ctr">
              <a:lnSpc>
                <a:spcPct val="100000"/>
              </a:lnSpc>
            </a:pPr>
            <a:r>
              <a:rPr sz="1150" b="0" i="0">
                <a:solidFill>
                  <a:srgbClr val="47596B"/>
                </a:solidFill>
                <a:latin typeface="Segoe UI"/>
              </a:rPr>
              <a:t>One candle at a time</a:t>
            </a:r>
          </a:p>
        </p:txBody>
      </p:sp>
      <p:sp>
        <p:nvSpPr>
          <p:cNvPr id="19" name="Right Arrow 18"/>
          <p:cNvSpPr/>
          <p:nvPr/>
        </p:nvSpPr>
        <p:spPr>
          <a:xfrm>
            <a:off x="595868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6287872"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6397600"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Log in R</a:t>
            </a:r>
          </a:p>
          <a:p>
            <a:pPr algn="ctr">
              <a:lnSpc>
                <a:spcPct val="100000"/>
              </a:lnSpc>
            </a:pPr>
            <a:r>
              <a:rPr sz="1150" b="0" i="0">
                <a:solidFill>
                  <a:srgbClr val="47596B"/>
                </a:solidFill>
                <a:latin typeface="Segoe UI"/>
              </a:rPr>
              <a:t>After costs and gaps</a:t>
            </a:r>
          </a:p>
        </p:txBody>
      </p:sp>
      <p:sp>
        <p:nvSpPr>
          <p:cNvPr id="22" name="Right Arrow 21"/>
          <p:cNvSpPr/>
          <p:nvPr/>
        </p:nvSpPr>
        <p:spPr>
          <a:xfrm>
            <a:off x="7841285"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8170469"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8280197"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30 trades</a:t>
            </a:r>
          </a:p>
          <a:p>
            <a:pPr algn="ctr">
              <a:lnSpc>
                <a:spcPct val="100000"/>
              </a:lnSpc>
            </a:pPr>
            <a:r>
              <a:rPr sz="1150" b="0" i="0">
                <a:solidFill>
                  <a:srgbClr val="47596B"/>
                </a:solidFill>
                <a:latin typeface="Segoe UI"/>
              </a:rPr>
              <a:t>Then read the numbers</a:t>
            </a:r>
          </a:p>
        </p:txBody>
      </p:sp>
      <p:sp>
        <p:nvSpPr>
          <p:cNvPr id="25" name="Right Arrow 24"/>
          <p:cNvSpPr/>
          <p:nvPr/>
        </p:nvSpPr>
        <p:spPr>
          <a:xfrm>
            <a:off x="9723882"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10053066" y="4375404"/>
            <a:ext cx="1498549"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10162794"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Report</a:t>
            </a:r>
          </a:p>
          <a:p>
            <a:pPr algn="ctr">
              <a:lnSpc>
                <a:spcPct val="100000"/>
              </a:lnSpc>
            </a:pPr>
            <a:r>
              <a:rPr sz="1150" b="0" i="0">
                <a:solidFill>
                  <a:srgbClr val="47596B"/>
                </a:solidFill>
                <a:latin typeface="Segoe UI"/>
              </a:rPr>
              <a:t>Labelled hypothetical</a:t>
            </a:r>
          </a:p>
        </p:txBody>
      </p:sp>
      <p:sp>
        <p:nvSpPr>
          <p:cNvPr id="28" name="Rounded Rectangle 2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0" name="TextBox 2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Stocks, dates and rules go on paper before the chart opens. Every result is hypothetical.</a:t>
            </a:r>
          </a:p>
        </p:txBody>
      </p:sp>
      <p:pic>
        <p:nvPicPr>
          <p:cNvPr id="31" name="Picture 30" descr="logo.png"/>
          <p:cNvPicPr>
            <a:picLocks noChangeAspect="1"/>
          </p:cNvPicPr>
          <p:nvPr/>
        </p:nvPicPr>
        <p:blipFill>
          <a:blip r:embed="rId2"/>
          <a:stretch>
            <a:fillRect/>
          </a:stretch>
        </p:blipFill>
        <p:spPr>
          <a:xfrm>
            <a:off x="457200" y="6437376"/>
            <a:ext cx="237744" cy="237744"/>
          </a:xfrm>
          <a:prstGeom prst="rect">
            <a:avLst/>
          </a:prstGeom>
        </p:spPr>
      </p:pic>
      <p:sp>
        <p:nvSpPr>
          <p:cNvPr id="3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3" name="TextBox 3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Hide the future: look-ahead bias</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Look-ahead bias means using information in a test that you could not have had at the moment of the decision.</a:t>
            </a:r>
          </a:p>
          <a:p>
            <a:pPr algn="l" marL="274320" indent="-274320">
              <a:lnSpc>
                <a:spcPct val="100000"/>
              </a:lnSpc>
              <a:spcAft>
                <a:spcPts val="800"/>
              </a:spcAft>
              <a:buClr>
                <a:srgbClr val="F5A623"/>
              </a:buClr>
              <a:buFont typeface="Arial"/>
              <a:buChar char="•"/>
            </a:pPr>
            <a:r>
              <a:rPr sz="1600" b="0" i="0">
                <a:solidFill>
                  <a:srgbClr val="18232F"/>
                </a:solidFill>
                <a:latin typeface="Segoe UI"/>
              </a:rPr>
              <a:t>It is like watching match highlights after you know the result: every shot looks obvious.</a:t>
            </a:r>
          </a:p>
          <a:p>
            <a:pPr algn="l" marL="274320" indent="-274320">
              <a:lnSpc>
                <a:spcPct val="100000"/>
              </a:lnSpc>
              <a:spcAft>
                <a:spcPts val="800"/>
              </a:spcAft>
              <a:buClr>
                <a:srgbClr val="F5A623"/>
              </a:buClr>
              <a:buFont typeface="Arial"/>
              <a:buChar char="•"/>
            </a:pPr>
            <a:r>
              <a:rPr sz="1600" b="0" i="0">
                <a:solidFill>
                  <a:srgbClr val="18232F"/>
                </a:solidFill>
                <a:latin typeface="Segoe UI"/>
              </a:rPr>
              <a:t>It creeps in three ways: you can see the whole chart.</a:t>
            </a:r>
          </a:p>
          <a:p>
            <a:pPr algn="l" marL="274320" indent="-274320">
              <a:lnSpc>
                <a:spcPct val="100000"/>
              </a:lnSpc>
              <a:spcAft>
                <a:spcPts val="800"/>
              </a:spcAft>
              <a:buClr>
                <a:srgbClr val="F5A623"/>
              </a:buClr>
              <a:buFont typeface="Arial"/>
              <a:buChar char="•"/>
            </a:pPr>
            <a:r>
              <a:rPr sz="1600" b="0" i="0">
                <a:solidFill>
                  <a:srgbClr val="18232F"/>
                </a:solidFill>
                <a:latin typeface="Segoe UI"/>
              </a:rPr>
              <a:t>You buy at a price known only later, such as the exact bottom of a pullback.</a:t>
            </a:r>
          </a:p>
          <a:p>
            <a:pPr algn="l" marL="274320" indent="-274320">
              <a:lnSpc>
                <a:spcPct val="100000"/>
              </a:lnSpc>
              <a:buClr>
                <a:srgbClr val="F5A623"/>
              </a:buClr>
              <a:buFont typeface="Arial"/>
              <a:buChar char="•"/>
            </a:pPr>
            <a:r>
              <a:rPr sz="1600" b="0" i="0">
                <a:solidFill>
                  <a:srgbClr val="18232F"/>
                </a:solidFill>
                <a:latin typeface="Segoe UI"/>
              </a:rPr>
              <a:t>Or you quietly skip a trade because you can see it lost.</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On Kiran Foods Ltd, a pullback bottoms at Rs 482, and the next candle closes at Rs 497, above the previous day's high of Rs 494: that is the signal. ATR(14) is Rs 14. The next day opens at Rs 500, inside the Day 11 limits (no higher than 497 + 0.5 x 14 = Rs 504, not below the signal-day low of Rs 485), so Priya's honest entry is Rs 500. … The same trade looks 43% better, only because he peeked.</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Where could you really buy?</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Rs 482 bottom is visible only after later candles rise. The signal is confirmed at the close, so the real entry is the next open, Rs 500.</a:t>
            </a:r>
          </a:p>
        </p:txBody>
      </p:sp>
      <p:cxnSp>
        <p:nvCxnSpPr>
          <p:cNvPr id="12" name="Connector 11"/>
          <p:cNvCxnSpPr/>
          <p:nvPr/>
        </p:nvCxnSpPr>
        <p:spPr>
          <a:xfrm>
            <a:off x="6812159" y="4681728"/>
            <a:ext cx="386209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462.1</a:t>
            </a:r>
          </a:p>
        </p:txBody>
      </p:sp>
      <p:cxnSp>
        <p:nvCxnSpPr>
          <p:cNvPr id="14" name="Connector 13"/>
          <p:cNvCxnSpPr/>
          <p:nvPr/>
        </p:nvCxnSpPr>
        <p:spPr>
          <a:xfrm>
            <a:off x="6812159" y="3915156"/>
            <a:ext cx="386209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832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481.0</a:t>
            </a:r>
          </a:p>
        </p:txBody>
      </p:sp>
      <p:cxnSp>
        <p:nvCxnSpPr>
          <p:cNvPr id="16" name="Connector 15"/>
          <p:cNvCxnSpPr/>
          <p:nvPr/>
        </p:nvCxnSpPr>
        <p:spPr>
          <a:xfrm>
            <a:off x="6812159" y="3148584"/>
            <a:ext cx="386209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306628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500.0</a:t>
            </a:r>
          </a:p>
        </p:txBody>
      </p:sp>
      <p:cxnSp>
        <p:nvCxnSpPr>
          <p:cNvPr id="18" name="Connector 17"/>
          <p:cNvCxnSpPr/>
          <p:nvPr/>
        </p:nvCxnSpPr>
        <p:spPr>
          <a:xfrm>
            <a:off x="6812159" y="2382012"/>
            <a:ext cx="386209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518.9</a:t>
            </a:r>
          </a:p>
        </p:txBody>
      </p:sp>
      <p:cxnSp>
        <p:nvCxnSpPr>
          <p:cNvPr id="20" name="Connector 19"/>
          <p:cNvCxnSpPr/>
          <p:nvPr/>
        </p:nvCxnSpPr>
        <p:spPr>
          <a:xfrm>
            <a:off x="6812159" y="3875775"/>
            <a:ext cx="3898666"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747401" y="3784335"/>
            <a:ext cx="804214"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Bottom 482</a:t>
            </a:r>
          </a:p>
        </p:txBody>
      </p:sp>
      <p:cxnSp>
        <p:nvCxnSpPr>
          <p:cNvPr id="22" name="Connector 21"/>
          <p:cNvCxnSpPr/>
          <p:nvPr/>
        </p:nvCxnSpPr>
        <p:spPr>
          <a:xfrm>
            <a:off x="7005264" y="4118532"/>
            <a:ext cx="0" cy="40459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889401" y="4199451"/>
            <a:ext cx="231725" cy="24275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4" name="Connector 23"/>
          <p:cNvCxnSpPr/>
          <p:nvPr/>
        </p:nvCxnSpPr>
        <p:spPr>
          <a:xfrm>
            <a:off x="7391473" y="3713938"/>
            <a:ext cx="0" cy="56643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275610" y="3794857"/>
            <a:ext cx="231725" cy="4045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777682" y="3228424"/>
            <a:ext cx="0" cy="60689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661819" y="3309343"/>
            <a:ext cx="231725" cy="48551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8163891" y="2742910"/>
            <a:ext cx="0" cy="64735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8048028" y="2823829"/>
            <a:ext cx="231725" cy="48551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550100" y="2540613"/>
            <a:ext cx="0" cy="44505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434237" y="2823829"/>
            <a:ext cx="231725" cy="8091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936309" y="2823829"/>
            <a:ext cx="0" cy="44505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820446" y="2904748"/>
            <a:ext cx="231725" cy="28321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322518" y="3107046"/>
            <a:ext cx="0" cy="44505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206655" y="3187965"/>
            <a:ext cx="231725" cy="28321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708727" y="3390262"/>
            <a:ext cx="0" cy="48551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592864" y="3471181"/>
            <a:ext cx="231725" cy="24275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10094936" y="3228424"/>
            <a:ext cx="0" cy="525973"/>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979073" y="3268883"/>
            <a:ext cx="231725" cy="44505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10481144" y="2783370"/>
            <a:ext cx="0" cy="44505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0365282" y="2904748"/>
            <a:ext cx="231725" cy="24275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Isosceles Triangle 41"/>
          <p:cNvSpPr/>
          <p:nvPr/>
        </p:nvSpPr>
        <p:spPr>
          <a:xfrm>
            <a:off x="9653863" y="3921495"/>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9382814" y="4031223"/>
            <a:ext cx="651825"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Seen later</a:t>
            </a:r>
          </a:p>
        </p:txBody>
      </p:sp>
      <p:sp>
        <p:nvSpPr>
          <p:cNvPr id="44" name="Isosceles Triangle 43"/>
          <p:cNvSpPr/>
          <p:nvPr/>
        </p:nvSpPr>
        <p:spPr>
          <a:xfrm rot="10800000">
            <a:off x="10040072" y="3091264"/>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9886148" y="2880952"/>
            <a:ext cx="417576"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Signal</a:t>
            </a:r>
          </a:p>
        </p:txBody>
      </p:sp>
      <p:sp>
        <p:nvSpPr>
          <p:cNvPr id="46" name="Isosceles Triangle 45"/>
          <p:cNvSpPr/>
          <p:nvPr/>
        </p:nvSpPr>
        <p:spPr>
          <a:xfrm rot="10800000">
            <a:off x="10426280" y="2646210"/>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10169004" y="2243874"/>
            <a:ext cx="624280"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Entry 500</a:t>
            </a:r>
          </a:p>
        </p:txBody>
      </p:sp>
      <p:sp>
        <p:nvSpPr>
          <p:cNvPr id="48" name="Rounded Rectangle 4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ounded Rectangle 4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50" name="TextBox 4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If you could not have known it at that moment, it cannot be in your backtest.</a:t>
            </a:r>
          </a:p>
        </p:txBody>
      </p:sp>
      <p:pic>
        <p:nvPicPr>
          <p:cNvPr id="51" name="Picture 50" descr="logo.png"/>
          <p:cNvPicPr>
            <a:picLocks noChangeAspect="1"/>
          </p:cNvPicPr>
          <p:nvPr/>
        </p:nvPicPr>
        <p:blipFill>
          <a:blip r:embed="rId2"/>
          <a:stretch>
            <a:fillRect/>
          </a:stretch>
        </p:blipFill>
        <p:spPr>
          <a:xfrm>
            <a:off x="457200" y="6437376"/>
            <a:ext cx="237744" cy="237744"/>
          </a:xfrm>
          <a:prstGeom prst="rect">
            <a:avLst/>
          </a:prstGeom>
        </p:spPr>
      </p:pic>
      <p:sp>
        <p:nvSpPr>
          <p:cNvPr id="5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3" name="TextBox 5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Log every trade in R, after costs and gaps</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1R is the risk you planned on one trade (Day 3)</a:t>
            </a:r>
          </a:p>
          <a:p>
            <a:pPr algn="l" marL="274320" indent="-274320">
              <a:lnSpc>
                <a:spcPct val="100000"/>
              </a:lnSpc>
              <a:spcAft>
                <a:spcPts val="800"/>
              </a:spcAft>
              <a:buClr>
                <a:srgbClr val="F5A623"/>
              </a:buClr>
              <a:buFont typeface="Arial"/>
              <a:buChar char="•"/>
            </a:pPr>
            <a:r>
              <a:rPr sz="1600" b="0" i="0">
                <a:solidFill>
                  <a:srgbClr val="18232F"/>
                </a:solidFill>
                <a:latin typeface="Segoe UI"/>
              </a:rPr>
              <a:t>Per share, it is the distance from entry to stop.</a:t>
            </a:r>
          </a:p>
          <a:p>
            <a:pPr algn="l" marL="274320" indent="-274320">
              <a:lnSpc>
                <a:spcPct val="100000"/>
              </a:lnSpc>
              <a:spcAft>
                <a:spcPts val="800"/>
              </a:spcAft>
              <a:buClr>
                <a:srgbClr val="F5A623"/>
              </a:buClr>
              <a:buFont typeface="Arial"/>
              <a:buChar char="•"/>
            </a:pPr>
            <a:r>
              <a:rPr sz="1600" b="0" i="0">
                <a:solidFill>
                  <a:srgbClr val="18232F"/>
                </a:solidFill>
                <a:latin typeface="Segoe UI"/>
              </a:rPr>
              <a:t>EMA Pullback Swing only buys, so every trade uses the long formula: R-multiple = (exit - entry) / (entry - stop).</a:t>
            </a:r>
          </a:p>
          <a:p>
            <a:pPr algn="l" marL="274320" indent="-274320">
              <a:lnSpc>
                <a:spcPct val="100000"/>
              </a:lnSpc>
              <a:spcAft>
                <a:spcPts val="800"/>
              </a:spcAft>
              <a:buClr>
                <a:srgbClr val="F5A623"/>
              </a:buClr>
              <a:buFont typeface="Arial"/>
              <a:buChar char="•"/>
            </a:pPr>
            <a:r>
              <a:rPr sz="1600" b="0" i="0">
                <a:solidFill>
                  <a:srgbClr val="18232F"/>
                </a:solidFill>
                <a:latin typeface="Segoe UI"/>
              </a:rPr>
              <a:t>Log R per share like this even when the 25% cap cut your quantity, because the backtest measures the rule.</a:t>
            </a:r>
          </a:p>
          <a:p>
            <a:pPr algn="l" marL="274320" indent="-274320">
              <a:lnSpc>
                <a:spcPct val="100000"/>
              </a:lnSpc>
              <a:buClr>
                <a:srgbClr val="F5A623"/>
              </a:buClr>
              <a:buFont typeface="Arial"/>
              <a:buChar char="•"/>
            </a:pPr>
            <a:r>
              <a:rPr sz="1600" b="0" i="0">
                <a:solidFill>
                  <a:srgbClr val="18232F"/>
                </a:solidFill>
                <a:latin typeface="Segoe UI"/>
              </a:rPr>
              <a:t>Your paper journal still logs a capped trade at its real rupee size, as on Day 14.</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Priya's Kiran Foods trade: entry Rs 500, stop Rs 479, so her risk is Rs 21 a share. With 1R = Rs 10,000 on her Rs 10 lakh practice capital, she would hold 476 shares (10,000 / 21, rounded down), worth Rs 2,38,000, inside the 25% cap. … If a stock is stuck at its lower band, her exit waits for the first day a sell could fill.</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One trade, logged honestly</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charges and slippage are an illustration. Read your own charges on a brokerage calculator or contract note.</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389891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Time exit - entry (542 - 500)</a:t>
            </a:r>
          </a:p>
        </p:txBody>
      </p:sp>
      <p:sp>
        <p:nvSpPr>
          <p:cNvPr id="13" name="TextBox 12"/>
          <p:cNvSpPr txBox="1"/>
          <p:nvPr/>
        </p:nvSpPr>
        <p:spPr>
          <a:xfrm>
            <a:off x="10662273" y="1899666"/>
            <a:ext cx="816190"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42</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503170"/>
            <a:ext cx="389891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per share (500 - 479)</a:t>
            </a:r>
          </a:p>
        </p:txBody>
      </p:sp>
      <p:sp>
        <p:nvSpPr>
          <p:cNvPr id="17" name="TextBox 16"/>
          <p:cNvSpPr txBox="1"/>
          <p:nvPr/>
        </p:nvSpPr>
        <p:spPr>
          <a:xfrm>
            <a:off x="10662273" y="2503170"/>
            <a:ext cx="816190"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21</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389891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Gross result</a:t>
            </a:r>
          </a:p>
        </p:txBody>
      </p:sp>
      <p:sp>
        <p:nvSpPr>
          <p:cNvPr id="21" name="TextBox 20"/>
          <p:cNvSpPr txBox="1"/>
          <p:nvPr/>
        </p:nvSpPr>
        <p:spPr>
          <a:xfrm>
            <a:off x="10662273" y="3106674"/>
            <a:ext cx="816190"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+2.00R</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389891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Costs + slippage (Rs 1,000 ÷ Rs 10,000)</a:t>
            </a:r>
          </a:p>
        </p:txBody>
      </p:sp>
      <p:sp>
        <p:nvSpPr>
          <p:cNvPr id="25" name="TextBox 24"/>
          <p:cNvSpPr txBox="1"/>
          <p:nvPr/>
        </p:nvSpPr>
        <p:spPr>
          <a:xfrm>
            <a:off x="10662273" y="3710178"/>
            <a:ext cx="816190"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0.10R</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3898913"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Net R in your log</a:t>
            </a:r>
          </a:p>
        </p:txBody>
      </p:sp>
      <p:sp>
        <p:nvSpPr>
          <p:cNvPr id="29" name="TextBox 28"/>
          <p:cNvSpPr txBox="1"/>
          <p:nvPr/>
        </p:nvSpPr>
        <p:spPr>
          <a:xfrm>
            <a:off x="10662273" y="4368546"/>
            <a:ext cx="816190"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+1.90R</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2" name="TextBox 3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Log net R, not gross R. Costs and gaps are part of the result, not bad luck.</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Read the log: four numbers and one line</a:t>
            </a:r>
          </a:p>
        </p:txBody>
      </p:sp>
      <p:sp>
        <p:nvSpPr>
          <p:cNvPr id="4" name="TextBox 3"/>
          <p:cNvSpPr txBox="1"/>
          <p:nvPr/>
        </p:nvSpPr>
        <p:spPr>
          <a:xfrm>
            <a:off x="457200" y="1335024"/>
            <a:ext cx="5519776" cy="21590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Once 30 trades are logged, read four numbers.</a:t>
            </a:r>
          </a:p>
          <a:p>
            <a:pPr algn="l" marL="274320" indent="-274320">
              <a:lnSpc>
                <a:spcPct val="100000"/>
              </a:lnSpc>
              <a:spcAft>
                <a:spcPts val="800"/>
              </a:spcAft>
              <a:buClr>
                <a:srgbClr val="F5A623"/>
              </a:buClr>
              <a:buFont typeface="Arial"/>
              <a:buChar char="•"/>
            </a:pPr>
            <a:r>
              <a:rPr sz="1600" b="0" i="0">
                <a:solidFill>
                  <a:srgbClr val="18232F"/>
                </a:solidFill>
                <a:latin typeface="Segoe UI"/>
              </a:rPr>
              <a:t>Win-rate is winning trades divided by all trades.</a:t>
            </a:r>
          </a:p>
          <a:p>
            <a:pPr algn="l" marL="274320" indent="-274320">
              <a:lnSpc>
                <a:spcPct val="100000"/>
              </a:lnSpc>
              <a:spcAft>
                <a:spcPts val="800"/>
              </a:spcAft>
              <a:buClr>
                <a:srgbClr val="F5A623"/>
              </a:buClr>
              <a:buFont typeface="Arial"/>
              <a:buChar char="•"/>
            </a:pPr>
            <a:r>
              <a:rPr sz="1600" b="0" i="0">
                <a:solidFill>
                  <a:srgbClr val="18232F"/>
                </a:solidFill>
                <a:latin typeface="Segoe UI"/>
              </a:rPr>
              <a:t>Expectancy is your average net R per trade, the Day 3 idea now measured on your own rules.</a:t>
            </a:r>
          </a:p>
          <a:p>
            <a:pPr algn="l" marL="274320" indent="-274320">
              <a:lnSpc>
                <a:spcPct val="100000"/>
              </a:lnSpc>
              <a:spcAft>
                <a:spcPts val="800"/>
              </a:spcAft>
              <a:buClr>
                <a:srgbClr val="F5A623"/>
              </a:buClr>
              <a:buFont typeface="Arial"/>
              <a:buChar char="•"/>
            </a:pPr>
            <a:r>
              <a:rPr sz="1600" b="0" i="0">
                <a:solidFill>
                  <a:srgbClr val="18232F"/>
                </a:solidFill>
                <a:latin typeface="Segoe UI"/>
              </a:rPr>
              <a:t>Maximum drawdown is the biggest fall of your running total of R from a peak to a later low.</a:t>
            </a:r>
          </a:p>
          <a:p>
            <a:pPr algn="l" marL="274320" indent="-274320">
              <a:lnSpc>
                <a:spcPct val="100000"/>
              </a:lnSpc>
              <a:buClr>
                <a:srgbClr val="F5A623"/>
              </a:buClr>
              <a:buFont typeface="Arial"/>
              <a:buChar char="•"/>
            </a:pPr>
            <a:r>
              <a:rPr sz="1600" b="0" i="0">
                <a:solidFill>
                  <a:srgbClr val="18232F"/>
                </a:solidFill>
                <a:latin typeface="Segoe UI"/>
              </a:rPr>
              <a:t>The longest losing streak is the most losses in a row.</a:t>
            </a:r>
          </a:p>
        </p:txBody>
      </p:sp>
      <p:sp>
        <p:nvSpPr>
          <p:cNvPr id="5" name="Rounded Rectangle 4"/>
          <p:cNvSpPr/>
          <p:nvPr/>
        </p:nvSpPr>
        <p:spPr>
          <a:xfrm>
            <a:off x="457200" y="3649472"/>
            <a:ext cx="5519776" cy="1964944"/>
          </a:xfrm>
          <a:prstGeom prst="roundRect">
            <a:avLst>
              <a:gd name="adj" fmla="val 558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7774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33520"/>
            <a:ext cx="5154016" cy="15077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These are made-up practice numbers, not a real test of the strategy. Priya's 30 trades: 12 wins, so a 40% win-rate. Seven winners hit the 2.5R profit exit and five left on the time exit with smaller gains. Her net R adds up to +3.57R, so expectancy is +3.57 / 30, about +0.12R per trade; before costs it was +6.57R, so 0.1R a trade took almost half. … Her trades 18 to 30, from the peak through the fall, are the sample Backtest Log under 'Your template'.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Priya's 30-trade equity curve</a:t>
            </a:r>
          </a:p>
        </p:txBody>
      </p:sp>
      <p:sp>
        <p:nvSpPr>
          <p:cNvPr id="11" name="TextBox 10"/>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Max drawdown = peak - low = 7.40R - 1.17R = 6.23R. Made-up practice numbers.</a:t>
            </a:r>
          </a:p>
        </p:txBody>
      </p:sp>
      <p:sp>
        <p:nvSpPr>
          <p:cNvPr id="12" name="Rectangle 11"/>
          <p:cNvSpPr/>
          <p:nvPr/>
        </p:nvSpPr>
        <p:spPr>
          <a:xfrm>
            <a:off x="6795268"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24452" y="1796796"/>
            <a:ext cx="811658"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Cumulative R</a:t>
            </a:r>
          </a:p>
        </p:txBody>
      </p:sp>
      <p:sp>
        <p:nvSpPr>
          <p:cNvPr id="14" name="Rectangle 13"/>
          <p:cNvSpPr/>
          <p:nvPr/>
        </p:nvSpPr>
        <p:spPr>
          <a:xfrm>
            <a:off x="8210430"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539614" y="1796796"/>
            <a:ext cx="846544"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Running peak</a:t>
            </a:r>
          </a:p>
        </p:txBody>
      </p:sp>
      <p:sp>
        <p:nvSpPr>
          <p:cNvPr id="16" name="TextBox 15"/>
          <p:cNvSpPr txBox="1"/>
          <p:nvPr/>
        </p:nvSpPr>
        <p:spPr>
          <a:xfrm>
            <a:off x="6397600" y="2071116"/>
            <a:ext cx="2683669"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Cumulative R</a:t>
            </a:r>
          </a:p>
        </p:txBody>
      </p:sp>
      <p:cxnSp>
        <p:nvCxnSpPr>
          <p:cNvPr id="17" name="Connector 16"/>
          <p:cNvCxnSpPr/>
          <p:nvPr/>
        </p:nvCxnSpPr>
        <p:spPr>
          <a:xfrm>
            <a:off x="6795268" y="499719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491490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-1.89</a:t>
            </a:r>
          </a:p>
        </p:txBody>
      </p:sp>
      <p:cxnSp>
        <p:nvCxnSpPr>
          <p:cNvPr id="19" name="Connector 18"/>
          <p:cNvCxnSpPr/>
          <p:nvPr/>
        </p:nvCxnSpPr>
        <p:spPr>
          <a:xfrm>
            <a:off x="6795268" y="437997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29768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0.61</a:t>
            </a:r>
          </a:p>
        </p:txBody>
      </p:sp>
      <p:cxnSp>
        <p:nvCxnSpPr>
          <p:cNvPr id="21" name="Connector 20"/>
          <p:cNvCxnSpPr/>
          <p:nvPr/>
        </p:nvCxnSpPr>
        <p:spPr>
          <a:xfrm>
            <a:off x="6795268" y="376275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68046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3.10</a:t>
            </a:r>
          </a:p>
        </p:txBody>
      </p:sp>
      <p:cxnSp>
        <p:nvCxnSpPr>
          <p:cNvPr id="23" name="Connector 22"/>
          <p:cNvCxnSpPr/>
          <p:nvPr/>
        </p:nvCxnSpPr>
        <p:spPr>
          <a:xfrm>
            <a:off x="6795268" y="314553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06324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5.59</a:t>
            </a:r>
          </a:p>
        </p:txBody>
      </p:sp>
      <p:cxnSp>
        <p:nvCxnSpPr>
          <p:cNvPr id="25" name="Connector 24"/>
          <p:cNvCxnSpPr/>
          <p:nvPr/>
        </p:nvCxnSpPr>
        <p:spPr>
          <a:xfrm>
            <a:off x="6795268" y="252831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44602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8.09</a:t>
            </a:r>
          </a:p>
        </p:txBody>
      </p:sp>
      <p:cxnSp>
        <p:nvCxnSpPr>
          <p:cNvPr id="27" name="Connector 26"/>
          <p:cNvCxnSpPr/>
          <p:nvPr/>
        </p:nvCxnSpPr>
        <p:spPr>
          <a:xfrm>
            <a:off x="9761292" y="2382012"/>
            <a:ext cx="0" cy="261518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807012" y="2290572"/>
            <a:ext cx="333286"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Peak</a:t>
            </a:r>
          </a:p>
        </p:txBody>
      </p:sp>
      <p:cxnSp>
        <p:nvCxnSpPr>
          <p:cNvPr id="29" name="Connector 28"/>
          <p:cNvCxnSpPr/>
          <p:nvPr/>
        </p:nvCxnSpPr>
        <p:spPr>
          <a:xfrm>
            <a:off x="11010144" y="2382012"/>
            <a:ext cx="0" cy="261518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055864" y="2290572"/>
            <a:ext cx="288602"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Low</a:t>
            </a:r>
          </a:p>
        </p:txBody>
      </p:sp>
      <p:sp>
        <p:nvSpPr>
          <p:cNvPr id="31" name="Freeform 30"/>
          <p:cNvSpPr/>
          <p:nvPr/>
        </p:nvSpPr>
        <p:spPr>
          <a:xfrm>
            <a:off x="6795268" y="2698584"/>
            <a:ext cx="4683195" cy="2128344"/>
          </a:xfrm>
          <a:custGeom>
            <a:avLst/>
            <a:gdLst/>
            <a:ahLst/>
            <a:cxnLst/>
            <a:rect l="l" t="t" r="r" b="b"/>
            <a:pathLst>
              <a:path w="4683195" h="2128344">
                <a:moveTo>
                  <a:pt x="0" y="1831366"/>
                </a:moveTo>
                <a:lnTo>
                  <a:pt x="156107" y="2103596"/>
                </a:lnTo>
                <a:lnTo>
                  <a:pt x="312213" y="1509640"/>
                </a:lnTo>
                <a:lnTo>
                  <a:pt x="468320" y="1781870"/>
                </a:lnTo>
                <a:lnTo>
                  <a:pt x="624426" y="2054100"/>
                </a:lnTo>
                <a:lnTo>
                  <a:pt x="780533" y="1831366"/>
                </a:lnTo>
                <a:lnTo>
                  <a:pt x="936639" y="2103596"/>
                </a:lnTo>
                <a:lnTo>
                  <a:pt x="1092746" y="2128344"/>
                </a:lnTo>
                <a:lnTo>
                  <a:pt x="1248852" y="1534388"/>
                </a:lnTo>
                <a:lnTo>
                  <a:pt x="1404959" y="1806618"/>
                </a:lnTo>
                <a:lnTo>
                  <a:pt x="1561065" y="2078848"/>
                </a:lnTo>
                <a:lnTo>
                  <a:pt x="1717172" y="1484891"/>
                </a:lnTo>
                <a:lnTo>
                  <a:pt x="1873278" y="1163165"/>
                </a:lnTo>
                <a:lnTo>
                  <a:pt x="2029385" y="1435395"/>
                </a:lnTo>
                <a:lnTo>
                  <a:pt x="2185491" y="841438"/>
                </a:lnTo>
                <a:lnTo>
                  <a:pt x="2341598" y="1113668"/>
                </a:lnTo>
                <a:lnTo>
                  <a:pt x="2497704" y="519712"/>
                </a:lnTo>
                <a:lnTo>
                  <a:pt x="2653811" y="321726"/>
                </a:lnTo>
                <a:lnTo>
                  <a:pt x="2809917" y="593956"/>
                </a:lnTo>
                <a:lnTo>
                  <a:pt x="2966024" y="0"/>
                </a:lnTo>
                <a:lnTo>
                  <a:pt x="3122130" y="272230"/>
                </a:lnTo>
                <a:lnTo>
                  <a:pt x="3278237" y="544460"/>
                </a:lnTo>
                <a:lnTo>
                  <a:pt x="3434343" y="74244"/>
                </a:lnTo>
                <a:lnTo>
                  <a:pt x="3590450" y="346474"/>
                </a:lnTo>
                <a:lnTo>
                  <a:pt x="3746556" y="618704"/>
                </a:lnTo>
                <a:lnTo>
                  <a:pt x="3902663" y="997352"/>
                </a:lnTo>
                <a:lnTo>
                  <a:pt x="4058769" y="1269582"/>
                </a:lnTo>
                <a:lnTo>
                  <a:pt x="4214876" y="1541812"/>
                </a:lnTo>
                <a:lnTo>
                  <a:pt x="4370982" y="947855"/>
                </a:lnTo>
                <a:lnTo>
                  <a:pt x="4527089" y="1220086"/>
                </a:lnTo>
                <a:lnTo>
                  <a:pt x="4683195" y="947855"/>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795268" y="2698584"/>
            <a:ext cx="4683195" cy="1831366"/>
          </a:xfrm>
          <a:custGeom>
            <a:avLst/>
            <a:gdLst/>
            <a:ahLst/>
            <a:cxnLst/>
            <a:rect l="l" t="t" r="r" b="b"/>
            <a:pathLst>
              <a:path w="4683195" h="1831366">
                <a:moveTo>
                  <a:pt x="0" y="1831366"/>
                </a:moveTo>
                <a:lnTo>
                  <a:pt x="156107" y="1831366"/>
                </a:lnTo>
                <a:lnTo>
                  <a:pt x="312213" y="1509640"/>
                </a:lnTo>
                <a:lnTo>
                  <a:pt x="468320" y="1509640"/>
                </a:lnTo>
                <a:lnTo>
                  <a:pt x="624426" y="1509640"/>
                </a:lnTo>
                <a:lnTo>
                  <a:pt x="780533" y="1509640"/>
                </a:lnTo>
                <a:lnTo>
                  <a:pt x="936639" y="1509640"/>
                </a:lnTo>
                <a:lnTo>
                  <a:pt x="1092746" y="1509640"/>
                </a:lnTo>
                <a:lnTo>
                  <a:pt x="1248852" y="1509640"/>
                </a:lnTo>
                <a:lnTo>
                  <a:pt x="1404959" y="1509640"/>
                </a:lnTo>
                <a:lnTo>
                  <a:pt x="1561065" y="1509640"/>
                </a:lnTo>
                <a:lnTo>
                  <a:pt x="1717172" y="1484891"/>
                </a:lnTo>
                <a:lnTo>
                  <a:pt x="1873278" y="1163165"/>
                </a:lnTo>
                <a:lnTo>
                  <a:pt x="2029385" y="1163165"/>
                </a:lnTo>
                <a:lnTo>
                  <a:pt x="2185491" y="841438"/>
                </a:lnTo>
                <a:lnTo>
                  <a:pt x="2341598" y="841438"/>
                </a:lnTo>
                <a:lnTo>
                  <a:pt x="2497704" y="519712"/>
                </a:lnTo>
                <a:lnTo>
                  <a:pt x="2653811" y="321726"/>
                </a:lnTo>
                <a:lnTo>
                  <a:pt x="2809917" y="321726"/>
                </a:lnTo>
                <a:lnTo>
                  <a:pt x="2966024" y="0"/>
                </a:lnTo>
                <a:lnTo>
                  <a:pt x="3122130" y="0"/>
                </a:lnTo>
                <a:lnTo>
                  <a:pt x="3278237" y="0"/>
                </a:lnTo>
                <a:lnTo>
                  <a:pt x="3434343" y="0"/>
                </a:lnTo>
                <a:lnTo>
                  <a:pt x="3590450" y="0"/>
                </a:lnTo>
                <a:lnTo>
                  <a:pt x="3746556" y="0"/>
                </a:lnTo>
                <a:lnTo>
                  <a:pt x="3902663" y="0"/>
                </a:lnTo>
                <a:lnTo>
                  <a:pt x="4058769" y="0"/>
                </a:lnTo>
                <a:lnTo>
                  <a:pt x="4214876" y="0"/>
                </a:lnTo>
                <a:lnTo>
                  <a:pt x="4370982" y="0"/>
                </a:lnTo>
                <a:lnTo>
                  <a:pt x="4527089" y="0"/>
                </a:lnTo>
                <a:lnTo>
                  <a:pt x="4683195" y="0"/>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95268" y="5033772"/>
            <a:ext cx="4683195"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Trade number</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Expectancy says whether the rule had an edge in this sample; drawdown says whether you could have stayed with it.</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When the data lies: survivorship and unadjusted prices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Survivorship bias means testing only on companies that survived to today.</a:t>
            </a:r>
          </a:p>
          <a:p>
            <a:pPr algn="l" marL="274320" indent="-274320">
              <a:lnSpc>
                <a:spcPct val="100000"/>
              </a:lnSpc>
              <a:spcAft>
                <a:spcPts val="800"/>
              </a:spcAft>
              <a:buClr>
                <a:srgbClr val="F5A623"/>
              </a:buClr>
              <a:buFont typeface="Arial"/>
              <a:buChar char="•"/>
            </a:pPr>
            <a:r>
              <a:rPr sz="1600" b="0" i="0">
                <a:solidFill>
                  <a:srgbClr val="18232F"/>
                </a:solidFill>
                <a:latin typeface="Segoe UI"/>
              </a:rPr>
              <a:t>Test today's NIFTY 50 list back to 2019, and the companies that dropped out, often after long falls, are simply missing, so your test sees only the winners of the race.</a:t>
            </a:r>
          </a:p>
          <a:p>
            <a:pPr algn="l" marL="274320" indent="-274320">
              <a:lnSpc>
                <a:spcPct val="100000"/>
              </a:lnSpc>
              <a:spcAft>
                <a:spcPts val="800"/>
              </a:spcAft>
              <a:buClr>
                <a:srgbClr val="F5A623"/>
              </a:buClr>
              <a:buFont typeface="Arial"/>
              <a:buChar char="•"/>
            </a:pPr>
            <a:r>
              <a:rPr sz="1600" b="0" i="0">
                <a:solidFill>
                  <a:srgbClr val="18232F"/>
                </a:solidFill>
                <a:latin typeface="Segoe UI"/>
              </a:rPr>
              <a:t>The fix is a point-in-time list, the index members as they stood on your start date.</a:t>
            </a:r>
          </a:p>
          <a:p>
            <a:pPr algn="l" marL="274320" indent="-274320">
              <a:lnSpc>
                <a:spcPct val="100000"/>
              </a:lnSpc>
              <a:buClr>
                <a:srgbClr val="F5A623"/>
              </a:buClr>
              <a:buFont typeface="Arial"/>
              <a:buChar char="•"/>
            </a:pPr>
            <a:r>
              <a:rPr sz="1600" b="0" i="0">
                <a:solidFill>
                  <a:srgbClr val="18232F"/>
                </a:solidFill>
                <a:latin typeface="Segoe UI"/>
              </a:rPr>
              <a:t>Then keep every name your random draw gives you.</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Sharma Textiles Ltd trades at Rs 1,000 and splits each share into five (face value Rs 10 to Rs 2). On the ex-date the price opens near Rs 200, and a holder of 100 shares now holds 500 (the new shares reach the demat account soon after the record date; check the company's announcement), still worth about Rs 1,00,000. … An adjusted chart divides every earlier price by 5, so the line stays smooth and the test stays honest.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Biased data vs fairer data</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At Level 1 you cannot remove every bias. You can reduce it and write it down.</a:t>
            </a:r>
          </a:p>
        </p:txBody>
      </p:sp>
      <p:sp>
        <p:nvSpPr>
          <p:cNvPr id="11" name="Rounded Rectangle 10"/>
          <p:cNvSpPr/>
          <p:nvPr/>
        </p:nvSpPr>
        <p:spPr>
          <a:xfrm>
            <a:off x="6397600" y="1861185"/>
            <a:ext cx="2494712" cy="33093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86118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9283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861185"/>
            <a:ext cx="2494712" cy="33093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86118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Biased test</a:t>
            </a:r>
          </a:p>
        </p:txBody>
      </p:sp>
      <p:cxnSp>
        <p:nvCxnSpPr>
          <p:cNvPr id="16" name="Connector 15"/>
          <p:cNvCxnSpPr/>
          <p:nvPr/>
        </p:nvCxnSpPr>
        <p:spPr>
          <a:xfrm>
            <a:off x="6397600" y="2324481"/>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470785"/>
            <a:ext cx="2202104" cy="26631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Today's index list tested on old years</a:t>
            </a:r>
          </a:p>
          <a:p>
            <a:pPr algn="l" marL="201168" indent="-201168">
              <a:lnSpc>
                <a:spcPct val="100000"/>
              </a:lnSpc>
              <a:spcAft>
                <a:spcPts val="750"/>
              </a:spcAft>
              <a:buClr>
                <a:srgbClr val="F0554E"/>
              </a:buClr>
              <a:buFont typeface="Arial"/>
              <a:buChar char="•"/>
            </a:pPr>
            <a:r>
              <a:rPr sz="1500" b="0" i="0">
                <a:solidFill>
                  <a:srgbClr val="18232F"/>
                </a:solidFill>
                <a:latin typeface="Segoe UI"/>
              </a:rPr>
              <a:t>Companies that dropped out are missing</a:t>
            </a:r>
          </a:p>
          <a:p>
            <a:pPr algn="l" marL="201168" indent="-201168">
              <a:lnSpc>
                <a:spcPct val="100000"/>
              </a:lnSpc>
              <a:spcAft>
                <a:spcPts val="750"/>
              </a:spcAft>
              <a:buClr>
                <a:srgbClr val="F0554E"/>
              </a:buClr>
              <a:buFont typeface="Arial"/>
              <a:buChar char="•"/>
            </a:pPr>
            <a:r>
              <a:rPr sz="1500" b="0" i="0">
                <a:solidFill>
                  <a:srgbClr val="18232F"/>
                </a:solidFill>
                <a:latin typeface="Segoe UI"/>
              </a:rPr>
              <a:t>Names swapped after peeking at charts</a:t>
            </a:r>
          </a:p>
          <a:p>
            <a:pPr algn="l" marL="201168" indent="-201168">
              <a:lnSpc>
                <a:spcPct val="100000"/>
              </a:lnSpc>
              <a:buClr>
                <a:srgbClr val="F0554E"/>
              </a:buClr>
              <a:buFont typeface="Arial"/>
              <a:buChar char="•"/>
            </a:pPr>
            <a:r>
              <a:rPr sz="1500" b="0" i="0">
                <a:solidFill>
                  <a:srgbClr val="18232F"/>
                </a:solidFill>
                <a:latin typeface="Segoe UI"/>
              </a:rPr>
              <a:t>A bonus or split looks like a crash</a:t>
            </a:r>
          </a:p>
        </p:txBody>
      </p:sp>
      <p:sp>
        <p:nvSpPr>
          <p:cNvPr id="18" name="Rounded Rectangle 17"/>
          <p:cNvSpPr/>
          <p:nvPr/>
        </p:nvSpPr>
        <p:spPr>
          <a:xfrm>
            <a:off x="9056903" y="1861185"/>
            <a:ext cx="2494712" cy="33093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86118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9283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861185"/>
            <a:ext cx="2494712" cy="33093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86118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Fairer test</a:t>
            </a:r>
          </a:p>
        </p:txBody>
      </p:sp>
      <p:cxnSp>
        <p:nvCxnSpPr>
          <p:cNvPr id="23" name="Connector 22"/>
          <p:cNvCxnSpPr/>
          <p:nvPr/>
        </p:nvCxnSpPr>
        <p:spPr>
          <a:xfrm>
            <a:off x="9056903" y="2324481"/>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470785"/>
            <a:ext cx="2202104" cy="26631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List as it stood on the start date</a:t>
            </a:r>
          </a:p>
          <a:p>
            <a:pPr algn="l" marL="201168" indent="-201168">
              <a:lnSpc>
                <a:spcPct val="100000"/>
              </a:lnSpc>
              <a:spcAft>
                <a:spcPts val="750"/>
              </a:spcAft>
              <a:buClr>
                <a:srgbClr val="16A34A"/>
              </a:buClr>
              <a:buFont typeface="Arial"/>
              <a:buChar char="•"/>
            </a:pPr>
            <a:r>
              <a:rPr sz="1500" b="0" i="0">
                <a:solidFill>
                  <a:srgbClr val="18232F"/>
                </a:solidFill>
                <a:latin typeface="Segoe UI"/>
              </a:rPr>
              <a:t>Every random draw kept</a:t>
            </a:r>
          </a:p>
          <a:p>
            <a:pPr algn="l" marL="201168" indent="-201168">
              <a:lnSpc>
                <a:spcPct val="100000"/>
              </a:lnSpc>
              <a:spcAft>
                <a:spcPts val="750"/>
              </a:spcAft>
              <a:buClr>
                <a:srgbClr val="16A34A"/>
              </a:buClr>
              <a:buFont typeface="Arial"/>
              <a:buChar char="•"/>
            </a:pPr>
            <a:r>
              <a:rPr sz="1500" b="0" i="0">
                <a:solidFill>
                  <a:srgbClr val="18232F"/>
                </a:solidFill>
                <a:latin typeface="Segoe UI"/>
              </a:rPr>
              <a:t>'Survivorship risk' noted in the report</a:t>
            </a:r>
          </a:p>
          <a:p>
            <a:pPr algn="l" marL="201168" indent="-201168">
              <a:lnSpc>
                <a:spcPct val="100000"/>
              </a:lnSpc>
              <a:buClr>
                <a:srgbClr val="16A34A"/>
              </a:buClr>
              <a:buFont typeface="Arial"/>
              <a:buChar char="•"/>
            </a:pPr>
            <a:r>
              <a:rPr sz="1500" b="0" i="0">
                <a:solidFill>
                  <a:srgbClr val="18232F"/>
                </a:solidFill>
                <a:latin typeface="Segoe UI"/>
              </a:rPr>
              <a:t>Chart adjusted for splits and bonuses</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test is only as honest as its data: remember the losers you cannot see, and use adjusted prices.</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Curve-fitting hope, and why 30 is only a first look</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Curve-fitting means tuning a rule until it fits the past perfectly, like tailoring a shirt to one photo instead of to the person.</a:t>
            </a:r>
          </a:p>
          <a:p>
            <a:pPr algn="l" marL="274320" indent="-274320">
              <a:lnSpc>
                <a:spcPct val="100000"/>
              </a:lnSpc>
              <a:spcAft>
                <a:spcPts val="800"/>
              </a:spcAft>
              <a:buClr>
                <a:srgbClr val="F5A623"/>
              </a:buClr>
              <a:buFont typeface="Arial"/>
              <a:buChar char="•"/>
            </a:pPr>
            <a:r>
              <a:rPr sz="1600" b="0" i="0">
                <a:solidFill>
                  <a:srgbClr val="18232F"/>
                </a:solidFill>
                <a:latin typeface="Segoe UI"/>
              </a:rPr>
              <a:t>Each small tweak feels like progress, but it mostly fits the random noise of those particular candles, and that noise will not repeat.</a:t>
            </a:r>
          </a:p>
          <a:p>
            <a:pPr algn="l" marL="274320" indent="-274320">
              <a:lnSpc>
                <a:spcPct val="100000"/>
              </a:lnSpc>
              <a:spcAft>
                <a:spcPts val="800"/>
              </a:spcAft>
              <a:buClr>
                <a:srgbClr val="F5A623"/>
              </a:buClr>
              <a:buFont typeface="Arial"/>
              <a:buChar char="•"/>
            </a:pPr>
            <a:r>
              <a:rPr sz="1600" b="0" i="0">
                <a:solidFill>
                  <a:srgbClr val="18232F"/>
                </a:solidFill>
                <a:latin typeface="Segoe UI"/>
              </a:rPr>
              <a:t>So freeze your rules for all 30 trades.</a:t>
            </a:r>
          </a:p>
          <a:p>
            <a:pPr algn="l" marL="274320" indent="-274320">
              <a:lnSpc>
                <a:spcPct val="100000"/>
              </a:lnSpc>
              <a:buClr>
                <a:srgbClr val="F5A623"/>
              </a:buClr>
              <a:buFont typeface="Arial"/>
              <a:buChar char="•"/>
            </a:pPr>
            <a:r>
              <a:rPr sz="1600" b="0" i="0">
                <a:solidFill>
                  <a:srgbClr val="18232F"/>
                </a:solidFill>
                <a:latin typeface="Segoe UI"/>
              </a:rPr>
              <a:t>A tweak is a new rule and needs its own 30 fresh trades from dates you have not used.</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tested his EMA 18 and RSI 42-48 version honestly on 30 fresh trades from dates he had not looked at. It won 10, or 33%, nowhere near the ten out of ten of his tuned sample. … That is why you judge a rule only after 30 trades, and build confidence only after about 100.</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Same rule, different ten trades</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practice numbers for Priya's frozen rule. Small samples swing; 30 trades is a first look, 100 builds confidence.</a:t>
            </a:r>
          </a:p>
        </p:txBody>
      </p:sp>
      <p:sp>
        <p:nvSpPr>
          <p:cNvPr id="11" name="TextBox 10"/>
          <p:cNvSpPr txBox="1"/>
          <p:nvPr/>
        </p:nvSpPr>
        <p:spPr>
          <a:xfrm>
            <a:off x="6397600" y="2119122"/>
            <a:ext cx="11341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Trades 1-10</a:t>
            </a:r>
          </a:p>
        </p:txBody>
      </p:sp>
      <p:sp>
        <p:nvSpPr>
          <p:cNvPr id="12" name="Rounded Rectangle 11"/>
          <p:cNvSpPr/>
          <p:nvPr/>
        </p:nvSpPr>
        <p:spPr>
          <a:xfrm>
            <a:off x="7641507" y="2292858"/>
            <a:ext cx="33376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41507" y="2292858"/>
            <a:ext cx="1668839"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070626" y="2119122"/>
            <a:ext cx="508421"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30%</a:t>
            </a:r>
          </a:p>
        </p:txBody>
      </p:sp>
      <p:sp>
        <p:nvSpPr>
          <p:cNvPr id="15" name="TextBox 14"/>
          <p:cNvSpPr txBox="1"/>
          <p:nvPr/>
        </p:nvSpPr>
        <p:spPr>
          <a:xfrm>
            <a:off x="6397600" y="2777490"/>
            <a:ext cx="11341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Trades 11-20</a:t>
            </a:r>
          </a:p>
        </p:txBody>
      </p:sp>
      <p:sp>
        <p:nvSpPr>
          <p:cNvPr id="16" name="Rounded Rectangle 15"/>
          <p:cNvSpPr/>
          <p:nvPr/>
        </p:nvSpPr>
        <p:spPr>
          <a:xfrm>
            <a:off x="7641507" y="2951226"/>
            <a:ext cx="33376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41507" y="2951226"/>
            <a:ext cx="3337679"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070626" y="2777490"/>
            <a:ext cx="508421" cy="658368"/>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60%</a:t>
            </a:r>
          </a:p>
        </p:txBody>
      </p:sp>
      <p:sp>
        <p:nvSpPr>
          <p:cNvPr id="19" name="TextBox 18"/>
          <p:cNvSpPr txBox="1"/>
          <p:nvPr/>
        </p:nvSpPr>
        <p:spPr>
          <a:xfrm>
            <a:off x="6397600" y="3435858"/>
            <a:ext cx="11341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Trades 21-30</a:t>
            </a:r>
          </a:p>
        </p:txBody>
      </p:sp>
      <p:sp>
        <p:nvSpPr>
          <p:cNvPr id="20" name="Rounded Rectangle 19"/>
          <p:cNvSpPr/>
          <p:nvPr/>
        </p:nvSpPr>
        <p:spPr>
          <a:xfrm>
            <a:off x="7641507" y="3609594"/>
            <a:ext cx="33376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41507" y="3609594"/>
            <a:ext cx="1668839"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070626" y="3435858"/>
            <a:ext cx="508421"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30%</a:t>
            </a:r>
          </a:p>
        </p:txBody>
      </p:sp>
      <p:sp>
        <p:nvSpPr>
          <p:cNvPr id="23" name="TextBox 22"/>
          <p:cNvSpPr txBox="1"/>
          <p:nvPr/>
        </p:nvSpPr>
        <p:spPr>
          <a:xfrm>
            <a:off x="6397600" y="4094226"/>
            <a:ext cx="11341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All 30</a:t>
            </a:r>
          </a:p>
        </p:txBody>
      </p:sp>
      <p:sp>
        <p:nvSpPr>
          <p:cNvPr id="24" name="Rounded Rectangle 23"/>
          <p:cNvSpPr/>
          <p:nvPr/>
        </p:nvSpPr>
        <p:spPr>
          <a:xfrm>
            <a:off x="7641507" y="4267962"/>
            <a:ext cx="333767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41507" y="4267962"/>
            <a:ext cx="2225119" cy="310896"/>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070626" y="4094226"/>
            <a:ext cx="508421" cy="658368"/>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40%</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9" name="TextBox 28"/>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If you changed the rule to fit the past, the past can no longer test it.</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Backtest</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Running your written rules on past charts to see what would have happened. The results are hypothetical: worked out on paper, never earned with real money.</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72946"/>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Look-ahead bias</a:t>
            </a:r>
          </a:p>
        </p:txBody>
      </p:sp>
      <p:sp>
        <p:nvSpPr>
          <p:cNvPr id="9" name="TextBox 8"/>
          <p:cNvSpPr txBox="1"/>
          <p:nvPr/>
        </p:nvSpPr>
        <p:spPr>
          <a:xfrm>
            <a:off x="6379312" y="1802130"/>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Using information in a test that you could not have had at the moment of decision, such as a later candle.</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71394"/>
            <a:ext cx="5154016"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Survivorship bias</a:t>
            </a:r>
          </a:p>
        </p:txBody>
      </p:sp>
      <p:sp>
        <p:nvSpPr>
          <p:cNvPr id="12" name="TextBox 11"/>
          <p:cNvSpPr txBox="1"/>
          <p:nvPr/>
        </p:nvSpPr>
        <p:spPr>
          <a:xfrm>
            <a:off x="658368"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Testing only on companies that survived to today, which leaves out the ones that failed or dropped out of an index.</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48534"/>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Adjusted prices</a:t>
            </a:r>
          </a:p>
        </p:txBody>
      </p:sp>
      <p:sp>
        <p:nvSpPr>
          <p:cNvPr id="15" name="TextBox 14"/>
          <p:cNvSpPr txBox="1"/>
          <p:nvPr/>
        </p:nvSpPr>
        <p:spPr>
          <a:xfrm>
            <a:off x="6379312" y="3077718"/>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Past prices corrected for splits and bonus issues, so that a corporate action does not look like a crash.</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58412"/>
            <a:ext cx="5154016"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Maximum drawdown</a:t>
            </a:r>
          </a:p>
        </p:txBody>
      </p:sp>
      <p:sp>
        <p:nvSpPr>
          <p:cNvPr id="18" name="TextBox 17"/>
          <p:cNvSpPr txBox="1"/>
          <p:nvPr/>
        </p:nvSpPr>
        <p:spPr>
          <a:xfrm>
            <a:off x="658368" y="4364736"/>
            <a:ext cx="5154016" cy="47853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The biggest fall of your cumulative R from a peak to a later low. It is the worst stretch you would have had to sit through.</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24122"/>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Curve-fitting</a:t>
            </a:r>
          </a:p>
        </p:txBody>
      </p:sp>
      <p:sp>
        <p:nvSpPr>
          <p:cNvPr id="21" name="TextBox 20"/>
          <p:cNvSpPr txBox="1"/>
          <p:nvPr/>
        </p:nvSpPr>
        <p:spPr>
          <a:xfrm>
            <a:off x="6379312"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Tuning rules until they fit past data perfectly. It usually fits random noise that will not repeat.</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Point-in-time list</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An index or stock list exactly as it stood on a past date, before later additions and removals. A backtest uses it to reduce survivorship bias.</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99710"/>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Equity curve</a:t>
            </a:r>
          </a:p>
        </p:txBody>
      </p:sp>
      <p:sp>
        <p:nvSpPr>
          <p:cNvPr id="27" name="TextBox 26"/>
          <p:cNvSpPr txBox="1"/>
          <p:nvPr/>
        </p:nvSpPr>
        <p:spPr>
          <a:xfrm>
            <a:off x="6379312" y="5628894"/>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 line of your running total of net R, trade after trade. Its falls from a peak are your drawdowns.</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89988"/>
            <a:ext cx="502920" cy="161391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1391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89988"/>
            <a:ext cx="502920" cy="161391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13916"/>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Backtest Level 1</a:t>
            </a:r>
          </a:p>
        </p:txBody>
      </p:sp>
      <p:sp>
        <p:nvSpPr>
          <p:cNvPr id="11" name="Rounded Rectangle 10"/>
          <p:cNvSpPr/>
          <p:nvPr/>
        </p:nvSpPr>
        <p:spPr>
          <a:xfrm>
            <a:off x="640080" y="1465326"/>
            <a:ext cx="3718408" cy="1449324"/>
          </a:xfrm>
          <a:prstGeom prst="roundRect">
            <a:avLst>
              <a:gd name="adj" fmla="val 757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75054"/>
            <a:ext cx="3425800"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Plan first</a:t>
            </a:r>
          </a:p>
        </p:txBody>
      </p:sp>
      <p:sp>
        <p:nvSpPr>
          <p:cNvPr id="13" name="TextBox 12"/>
          <p:cNvSpPr txBox="1"/>
          <p:nvPr/>
        </p:nvSpPr>
        <p:spPr>
          <a:xfrm>
            <a:off x="786384" y="1914906"/>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0093D6"/>
              </a:buClr>
              <a:buFont typeface="Arial"/>
              <a:buChar char="•"/>
            </a:pPr>
            <a:r>
              <a:rPr sz="1600" b="0" i="0">
                <a:solidFill>
                  <a:srgbClr val="18232F"/>
                </a:solidFill>
                <a:latin typeface="Segoe UI"/>
              </a:rPr>
              <a:t>Stocks and dates on paper</a:t>
            </a:r>
          </a:p>
          <a:p>
            <a:pPr algn="l" marL="182880" indent="-182880">
              <a:lnSpc>
                <a:spcPct val="100000"/>
              </a:lnSpc>
              <a:spcAft>
                <a:spcPts val="480"/>
              </a:spcAft>
              <a:buClr>
                <a:srgbClr val="0093D6"/>
              </a:buClr>
              <a:buFont typeface="Arial"/>
              <a:buChar char="•"/>
            </a:pPr>
            <a:r>
              <a:rPr sz="1600" b="0" i="0">
                <a:solidFill>
                  <a:srgbClr val="18232F"/>
                </a:solidFill>
                <a:latin typeface="Segoe UI"/>
              </a:rPr>
              <a:t>Rule Card frozen for 30</a:t>
            </a:r>
          </a:p>
          <a:p>
            <a:pPr algn="l" marL="182880" indent="-182880">
              <a:lnSpc>
                <a:spcPct val="100000"/>
              </a:lnSpc>
              <a:buClr>
                <a:srgbClr val="0093D6"/>
              </a:buClr>
              <a:buFont typeface="Arial"/>
              <a:buChar char="•"/>
            </a:pPr>
            <a:r>
              <a:rPr sz="1600" b="0" i="0">
                <a:solidFill>
                  <a:srgbClr val="18232F"/>
                </a:solidFill>
                <a:latin typeface="Segoe UI"/>
              </a:rPr>
              <a:t>EMA Pullback, daily charts</a:t>
            </a:r>
          </a:p>
        </p:txBody>
      </p:sp>
      <p:sp>
        <p:nvSpPr>
          <p:cNvPr id="14" name="Rounded Rectangle 13"/>
          <p:cNvSpPr/>
          <p:nvPr/>
        </p:nvSpPr>
        <p:spPr>
          <a:xfrm>
            <a:off x="640080" y="3079242"/>
            <a:ext cx="3718408" cy="1449324"/>
          </a:xfrm>
          <a:prstGeom prst="roundRect">
            <a:avLst>
              <a:gd name="adj" fmla="val 757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88970"/>
            <a:ext cx="3425800"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Hide the future</a:t>
            </a:r>
          </a:p>
        </p:txBody>
      </p:sp>
      <p:sp>
        <p:nvSpPr>
          <p:cNvPr id="16" name="TextBox 15"/>
          <p:cNvSpPr txBox="1"/>
          <p:nvPr/>
        </p:nvSpPr>
        <p:spPr>
          <a:xfrm>
            <a:off x="786384" y="3528822"/>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5A524"/>
              </a:buClr>
              <a:buFont typeface="Arial"/>
              <a:buChar char="•"/>
            </a:pPr>
            <a:r>
              <a:rPr sz="1600" b="0" i="0">
                <a:solidFill>
                  <a:srgbClr val="18232F"/>
                </a:solidFill>
                <a:latin typeface="Segoe UI"/>
              </a:rPr>
              <a:t>Bar Replay or cover the chart</a:t>
            </a:r>
          </a:p>
          <a:p>
            <a:pPr algn="l" marL="182880" indent="-182880">
              <a:lnSpc>
                <a:spcPct val="100000"/>
              </a:lnSpc>
              <a:spcAft>
                <a:spcPts val="480"/>
              </a:spcAft>
              <a:buClr>
                <a:srgbClr val="F5A524"/>
              </a:buClr>
              <a:buFont typeface="Arial"/>
              <a:buChar char="•"/>
            </a:pPr>
            <a:r>
              <a:rPr sz="1600" b="0" i="0">
                <a:solidFill>
                  <a:srgbClr val="18232F"/>
                </a:solidFill>
                <a:latin typeface="Segoe UI"/>
              </a:rPr>
              <a:t>Decide before the next candle</a:t>
            </a:r>
          </a:p>
          <a:p>
            <a:pPr algn="l" marL="182880" indent="-182880">
              <a:lnSpc>
                <a:spcPct val="100000"/>
              </a:lnSpc>
              <a:buClr>
                <a:srgbClr val="F5A524"/>
              </a:buClr>
              <a:buFont typeface="Arial"/>
              <a:buChar char="•"/>
            </a:pPr>
            <a:r>
              <a:rPr sz="1600" b="0" i="0">
                <a:solidFill>
                  <a:srgbClr val="18232F"/>
                </a:solidFill>
                <a:latin typeface="Segoe UI"/>
              </a:rPr>
              <a:t>Enter at the next open</a:t>
            </a:r>
          </a:p>
        </p:txBody>
      </p:sp>
      <p:sp>
        <p:nvSpPr>
          <p:cNvPr id="17" name="Rounded Rectangle 16"/>
          <p:cNvSpPr/>
          <p:nvPr/>
        </p:nvSpPr>
        <p:spPr>
          <a:xfrm>
            <a:off x="640080" y="4693158"/>
            <a:ext cx="3718408" cy="1449324"/>
          </a:xfrm>
          <a:prstGeom prst="roundRect">
            <a:avLst>
              <a:gd name="adj" fmla="val 7570"/>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02886"/>
            <a:ext cx="3425800" cy="284988"/>
          </a:xfrm>
          <a:prstGeom prst="rect">
            <a:avLst/>
          </a:prstGeom>
          <a:noFill/>
        </p:spPr>
        <p:txBody>
          <a:bodyPr wrap="square" lIns="0" rIns="0" tIns="0" bIns="0" anchor="t">
            <a:noAutofit/>
          </a:bodyPr>
          <a:lstStyle/>
          <a:p>
            <a:pPr algn="l">
              <a:lnSpc>
                <a:spcPct val="100000"/>
              </a:lnSpc>
            </a:pPr>
            <a:r>
              <a:rPr sz="1750" b="1" i="0">
                <a:solidFill>
                  <a:srgbClr val="166534"/>
                </a:solidFill>
                <a:latin typeface="Segoe UI"/>
              </a:rPr>
              <a:t>Log in R</a:t>
            </a:r>
          </a:p>
        </p:txBody>
      </p:sp>
      <p:sp>
        <p:nvSpPr>
          <p:cNvPr id="19" name="TextBox 18"/>
          <p:cNvSpPr txBox="1"/>
          <p:nvPr/>
        </p:nvSpPr>
        <p:spPr>
          <a:xfrm>
            <a:off x="786384" y="5142738"/>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16A34A"/>
              </a:buClr>
              <a:buFont typeface="Arial"/>
              <a:buChar char="•"/>
            </a:pPr>
            <a:r>
              <a:rPr sz="1600" b="0" i="0">
                <a:solidFill>
                  <a:srgbClr val="18232F"/>
                </a:solidFill>
                <a:latin typeface="Segoe UI"/>
              </a:rPr>
              <a:t>(exit - entry) ÷ (entry - stop)</a:t>
            </a:r>
          </a:p>
          <a:p>
            <a:pPr algn="l" marL="182880" indent="-182880">
              <a:lnSpc>
                <a:spcPct val="100000"/>
              </a:lnSpc>
              <a:spcAft>
                <a:spcPts val="480"/>
              </a:spcAft>
              <a:buClr>
                <a:srgbClr val="16A34A"/>
              </a:buClr>
              <a:buFont typeface="Arial"/>
              <a:buChar char="•"/>
            </a:pPr>
            <a:r>
              <a:rPr sz="1600" b="0" i="0">
                <a:solidFill>
                  <a:srgbClr val="18232F"/>
                </a:solidFill>
                <a:latin typeface="Segoe UI"/>
              </a:rPr>
              <a:t>Subtract costs in R</a:t>
            </a:r>
          </a:p>
          <a:p>
            <a:pPr algn="l" marL="182880" indent="-182880">
              <a:lnSpc>
                <a:spcPct val="100000"/>
              </a:lnSpc>
              <a:buClr>
                <a:srgbClr val="16A34A"/>
              </a:buClr>
              <a:buFont typeface="Arial"/>
              <a:buChar char="•"/>
            </a:pPr>
            <a:r>
              <a:rPr sz="1600" b="0" i="0">
                <a:solidFill>
                  <a:srgbClr val="18232F"/>
                </a:solidFill>
                <a:latin typeface="Segoe UI"/>
              </a:rPr>
              <a:t>Gaps logged at the open</a:t>
            </a:r>
          </a:p>
        </p:txBody>
      </p:sp>
      <p:sp>
        <p:nvSpPr>
          <p:cNvPr id="20" name="Rounded Rectangle 19"/>
          <p:cNvSpPr/>
          <p:nvPr/>
        </p:nvSpPr>
        <p:spPr>
          <a:xfrm>
            <a:off x="7833208" y="1465326"/>
            <a:ext cx="3718408" cy="1449324"/>
          </a:xfrm>
          <a:prstGeom prst="roundRect">
            <a:avLst>
              <a:gd name="adj" fmla="val 757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575054"/>
            <a:ext cx="3425800"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Read the log</a:t>
            </a:r>
          </a:p>
        </p:txBody>
      </p:sp>
      <p:sp>
        <p:nvSpPr>
          <p:cNvPr id="22" name="TextBox 21"/>
          <p:cNvSpPr txBox="1"/>
          <p:nvPr/>
        </p:nvSpPr>
        <p:spPr>
          <a:xfrm>
            <a:off x="7979512" y="1914906"/>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0093D6"/>
              </a:buClr>
              <a:buFont typeface="Arial"/>
              <a:buChar char="•"/>
            </a:pPr>
            <a:r>
              <a:rPr sz="1600" b="0" i="0">
                <a:solidFill>
                  <a:srgbClr val="18232F"/>
                </a:solidFill>
                <a:latin typeface="Segoe UI"/>
              </a:rPr>
              <a:t>Win-rate and expectancy</a:t>
            </a:r>
          </a:p>
          <a:p>
            <a:pPr algn="l" marL="182880" indent="-182880">
              <a:lnSpc>
                <a:spcPct val="100000"/>
              </a:lnSpc>
              <a:spcAft>
                <a:spcPts val="480"/>
              </a:spcAft>
              <a:buClr>
                <a:srgbClr val="0093D6"/>
              </a:buClr>
              <a:buFont typeface="Arial"/>
              <a:buChar char="•"/>
            </a:pPr>
            <a:r>
              <a:rPr sz="1600" b="0" i="0">
                <a:solidFill>
                  <a:srgbClr val="18232F"/>
                </a:solidFill>
                <a:latin typeface="Segoe UI"/>
              </a:rPr>
              <a:t>Max drawdown, losing streak</a:t>
            </a:r>
          </a:p>
          <a:p>
            <a:pPr algn="l" marL="182880" indent="-182880">
              <a:lnSpc>
                <a:spcPct val="100000"/>
              </a:lnSpc>
              <a:buClr>
                <a:srgbClr val="0093D6"/>
              </a:buClr>
              <a:buFont typeface="Arial"/>
              <a:buChar char="•"/>
            </a:pPr>
            <a:r>
              <a:rPr sz="1600" b="0" i="0">
                <a:solidFill>
                  <a:srgbClr val="18232F"/>
                </a:solidFill>
                <a:latin typeface="Segoe UI"/>
              </a:rPr>
              <a:t>Equity curve in R</a:t>
            </a:r>
          </a:p>
        </p:txBody>
      </p:sp>
      <p:sp>
        <p:nvSpPr>
          <p:cNvPr id="23" name="Rounded Rectangle 22"/>
          <p:cNvSpPr/>
          <p:nvPr/>
        </p:nvSpPr>
        <p:spPr>
          <a:xfrm>
            <a:off x="7833208" y="3079242"/>
            <a:ext cx="3718408" cy="1449324"/>
          </a:xfrm>
          <a:prstGeom prst="roundRect">
            <a:avLst>
              <a:gd name="adj" fmla="val 7570"/>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88970"/>
            <a:ext cx="3425800" cy="284988"/>
          </a:xfrm>
          <a:prstGeom prst="rect">
            <a:avLst/>
          </a:prstGeom>
          <a:noFill/>
        </p:spPr>
        <p:txBody>
          <a:bodyPr wrap="square" lIns="0" rIns="0" tIns="0" bIns="0" anchor="t">
            <a:noAutofit/>
          </a:bodyPr>
          <a:lstStyle/>
          <a:p>
            <a:pPr algn="l">
              <a:lnSpc>
                <a:spcPct val="100000"/>
              </a:lnSpc>
            </a:pPr>
            <a:r>
              <a:rPr sz="1750" b="1" i="0">
                <a:solidFill>
                  <a:srgbClr val="991B1B"/>
                </a:solidFill>
                <a:latin typeface="Segoe UI"/>
              </a:rPr>
              <a:t>Data traps</a:t>
            </a:r>
          </a:p>
        </p:txBody>
      </p:sp>
      <p:sp>
        <p:nvSpPr>
          <p:cNvPr id="25" name="TextBox 24"/>
          <p:cNvSpPr txBox="1"/>
          <p:nvPr/>
        </p:nvSpPr>
        <p:spPr>
          <a:xfrm>
            <a:off x="7979512" y="3528822"/>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0554E"/>
              </a:buClr>
              <a:buFont typeface="Arial"/>
              <a:buChar char="•"/>
            </a:pPr>
            <a:r>
              <a:rPr sz="1600" b="0" i="0">
                <a:solidFill>
                  <a:srgbClr val="18232F"/>
                </a:solidFill>
                <a:latin typeface="Segoe UI"/>
              </a:rPr>
              <a:t>Survivorship bias</a:t>
            </a:r>
          </a:p>
          <a:p>
            <a:pPr algn="l" marL="182880" indent="-182880">
              <a:lnSpc>
                <a:spcPct val="100000"/>
              </a:lnSpc>
              <a:spcAft>
                <a:spcPts val="480"/>
              </a:spcAft>
              <a:buClr>
                <a:srgbClr val="F0554E"/>
              </a:buClr>
              <a:buFont typeface="Arial"/>
              <a:buChar char="•"/>
            </a:pPr>
            <a:r>
              <a:rPr sz="1600" b="0" i="0">
                <a:solidFill>
                  <a:srgbClr val="18232F"/>
                </a:solidFill>
                <a:latin typeface="Segoe UI"/>
              </a:rPr>
              <a:t>Point-in-time index list</a:t>
            </a:r>
          </a:p>
          <a:p>
            <a:pPr algn="l" marL="182880" indent="-182880">
              <a:lnSpc>
                <a:spcPct val="100000"/>
              </a:lnSpc>
              <a:buClr>
                <a:srgbClr val="F0554E"/>
              </a:buClr>
              <a:buFont typeface="Arial"/>
              <a:buChar char="•"/>
            </a:pPr>
            <a:r>
              <a:rPr sz="1600" b="0" i="0">
                <a:solidFill>
                  <a:srgbClr val="18232F"/>
                </a:solidFill>
                <a:latin typeface="Segoe UI"/>
              </a:rPr>
              <a:t>Unadjusted splits and bonuses</a:t>
            </a:r>
          </a:p>
        </p:txBody>
      </p:sp>
      <p:sp>
        <p:nvSpPr>
          <p:cNvPr id="26" name="Rounded Rectangle 25"/>
          <p:cNvSpPr/>
          <p:nvPr/>
        </p:nvSpPr>
        <p:spPr>
          <a:xfrm>
            <a:off x="7833208" y="4693158"/>
            <a:ext cx="3718408" cy="1449324"/>
          </a:xfrm>
          <a:prstGeom prst="roundRect">
            <a:avLst>
              <a:gd name="adj" fmla="val 757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02886"/>
            <a:ext cx="3425800"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Your mind</a:t>
            </a:r>
          </a:p>
        </p:txBody>
      </p:sp>
      <p:sp>
        <p:nvSpPr>
          <p:cNvPr id="28" name="TextBox 27"/>
          <p:cNvSpPr txBox="1"/>
          <p:nvPr/>
        </p:nvSpPr>
        <p:spPr>
          <a:xfrm>
            <a:off x="7979512" y="5142738"/>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5A524"/>
              </a:buClr>
              <a:buFont typeface="Arial"/>
              <a:buChar char="•"/>
            </a:pPr>
            <a:r>
              <a:rPr sz="1600" b="0" i="0">
                <a:solidFill>
                  <a:srgbClr val="18232F"/>
                </a:solidFill>
                <a:latin typeface="Segoe UI"/>
              </a:rPr>
              <a:t>Curve-fitting hope</a:t>
            </a:r>
          </a:p>
          <a:p>
            <a:pPr algn="l" marL="182880" indent="-182880">
              <a:lnSpc>
                <a:spcPct val="100000"/>
              </a:lnSpc>
              <a:spcAft>
                <a:spcPts val="480"/>
              </a:spcAft>
              <a:buClr>
                <a:srgbClr val="F5A524"/>
              </a:buClr>
              <a:buFont typeface="Arial"/>
              <a:buChar char="•"/>
            </a:pPr>
            <a:r>
              <a:rPr sz="1600" b="0" i="0">
                <a:solidFill>
                  <a:srgbClr val="18232F"/>
                </a:solidFill>
                <a:latin typeface="Segoe UI"/>
              </a:rPr>
              <a:t>30 = first look, 100 = confidence</a:t>
            </a:r>
          </a:p>
          <a:p>
            <a:pPr algn="l" marL="182880" indent="-182880">
              <a:lnSpc>
                <a:spcPct val="100000"/>
              </a:lnSpc>
              <a:buClr>
                <a:srgbClr val="F5A524"/>
              </a:buClr>
              <a:buFont typeface="Arial"/>
              <a:buChar char="•"/>
            </a:pPr>
            <a:r>
              <a:rPr sz="1600" b="0" i="0">
                <a:solidFill>
                  <a:srgbClr val="18232F"/>
                </a:solidFill>
                <a:latin typeface="Segoe UI"/>
              </a:rPr>
              <a:t>Hypothetical, not a promise</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60 min</a:t>
            </a:r>
          </a:p>
        </p:txBody>
      </p:sp>
      <p:sp>
        <p:nvSpPr>
          <p:cNvPr id="5" name="TextBox 4"/>
          <p:cNvSpPr txBox="1"/>
          <p:nvPr/>
        </p:nvSpPr>
        <p:spPr>
          <a:xfrm>
            <a:off x="457200" y="1335024"/>
            <a:ext cx="11277295" cy="539496"/>
          </a:xfrm>
          <a:prstGeom prst="rect">
            <a:avLst/>
          </a:prstGeom>
          <a:noFill/>
        </p:spPr>
        <p:txBody>
          <a:bodyPr wrap="square" lIns="0" rIns="0" tIns="0" bIns="0" anchor="t">
            <a:noAutofit/>
          </a:bodyPr>
          <a:lstStyle/>
          <a:p>
            <a:pPr algn="l">
              <a:lnSpc>
                <a:spcPct val="100000"/>
              </a:lnSpc>
            </a:pPr>
            <a:r>
              <a:rPr sz="1650" b="1" i="0">
                <a:solidFill>
                  <a:srgbClr val="18232F"/>
                </a:solidFill>
                <a:latin typeface="Segoe UI"/>
              </a:rPr>
              <a:t>Set up an honest backtest today and log your first 3 trades; finish all 30 within the next 7 days and add your four numbers to your Week 3 review (on Day 21, or in the catch-up week after it if trade 30 is not done yet).</a:t>
            </a:r>
          </a:p>
        </p:txBody>
      </p:sp>
      <p:sp>
        <p:nvSpPr>
          <p:cNvPr id="6" name="Rounded Rectangle 5"/>
          <p:cNvSpPr/>
          <p:nvPr/>
        </p:nvSpPr>
        <p:spPr>
          <a:xfrm>
            <a:off x="457200" y="20208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305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488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214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the test plan and the Backtest Log under 'Your template' into a Google Sheet or a notebook, fill every plan line except the stocks, and write 'v1, frozen until trade 30'. Optional: the AI Lab prompt 'Backtest stats sheet' adds formulas; test them on Priya's 14 sample rows first (they must show a 6.23R maximum drawdown and a 5-loss streak).</a:t>
            </a:r>
          </a:p>
        </p:txBody>
      </p:sp>
      <p:sp>
        <p:nvSpPr>
          <p:cNvPr id="10" name="Rounded Rectangle 9"/>
          <p:cNvSpPr/>
          <p:nvPr/>
        </p:nvSpPr>
        <p:spPr>
          <a:xfrm>
            <a:off x="457200" y="328879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3985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4168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38937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Check your cost number: on a broker's public brokerage calculator (no account needed), note the total charges for a delivery buy and sell of about Rs 2.5 lakh, your largest position under the 25% cap, add your slippage allowance and divide by Rs 10,000. If the total is above 0.1R (Rs 1,000), use your number; otherwise use the Day 12 allowance of 0.1R per trade.</a:t>
            </a:r>
          </a:p>
        </p:txBody>
      </p:sp>
      <p:sp>
        <p:nvSpPr>
          <p:cNvPr id="14" name="Rounded Rectangle 13"/>
          <p:cNvSpPr/>
          <p:nvPr/>
        </p:nvSpPr>
        <p:spPr>
          <a:xfrm>
            <a:off x="457200" y="455676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66648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6847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65734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Choose your stocks before any chart: on niftyindices.com, open the press releases on NIFTY 50 changes since your start date, rebuild the list as it stood that day, draw 3-5 names with RAND() in Google Sheets and keep every name drawn, even one you remember rising. Too much today? Use today's list and write 'survivorship risk' in your plan. These names are a testing drill, not a buy list; never share them as tips.</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60 min</a:t>
            </a:r>
          </a:p>
        </p:txBody>
      </p:sp>
      <p:sp>
        <p:nvSpPr>
          <p:cNvPr id="5" name="Rounded Rectangle 4"/>
          <p:cNvSpPr/>
          <p:nvPr/>
        </p:nvSpPr>
        <p:spPr>
          <a:xfrm>
            <a:off x="457200" y="13350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a free TradingView daily chart with EMA 20, EMA 50, RSI 14 and ATR 14, turn on Bar Replay and pick your start date as the first candle (it may need a free sign-in, never a broker account), or scroll back and cover the right side of the screen. If the free plan caps your indicators, use one moving-average ribbon for both EMAs and check RSI and ATR in turn, as on Day 8.</a:t>
            </a:r>
          </a:p>
        </p:txBody>
      </p:sp>
      <p:sp>
        <p:nvSpPr>
          <p:cNvPr id="9" name="Rounded Rectangle 8"/>
          <p:cNvSpPr/>
          <p:nvPr/>
        </p:nvSpPr>
        <p:spPr>
          <a:xfrm>
            <a:off x="457200" y="26029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7127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7035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Log your first 3 trades that fit the card in your Backtest Log. Move one candle at a time; when a candle completes a signal, write the plan (max entry, skip-below price, stop) before revealing the next one, let that open decide entry or skipped: gap, and log any gap past the stop at the open.</a:t>
            </a:r>
          </a:p>
        </p:txBody>
      </p:sp>
      <p:sp>
        <p:nvSpPr>
          <p:cNvPr id="13" name="Rounded Rectangle 12"/>
          <p:cNvSpPr/>
          <p:nvPr/>
        </p:nvSpPr>
        <p:spPr>
          <a:xfrm>
            <a:off x="457200" y="36271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about 3-5 hours over the next 7 days, in 30-minute sittings: finish 30 trades, fill the 'Your four numbers' card, run Day 14's five checks on your own report, and label your equity curve 'Hypothetical. Past performance is not indicative of future results.' Keep the card: your Day 21 Week 3 review uses it.</a:t>
            </a:r>
          </a:p>
        </p:txBody>
      </p:sp>
      <p:sp>
        <p:nvSpPr>
          <p:cNvPr id="17" name="Rounded Rectangle 16"/>
          <p:cNvSpPr/>
          <p:nvPr/>
        </p:nvSpPr>
        <p:spPr>
          <a:xfrm>
            <a:off x="457200" y="5401056"/>
            <a:ext cx="11277295" cy="871728"/>
          </a:xfrm>
          <a:prstGeom prst="roundRect">
            <a:avLst>
              <a:gd name="adj" fmla="val 1258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51078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766816"/>
            <a:ext cx="10911535" cy="46024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run a backtest without peeking, log each trade in R after costs and gaps, read win-rate, expectancy, maximum drawdown and the longest losing streak, and spot look-ahead, survivorship and curve-fitting in any backtest, including your own.</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Test plan: Priya's model card</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Fill the 'Yours' column before you open any chart. Once it is filled, it stays frozen until trade 30.</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4" cy="4251954"/>
        </p:xfrm>
        <a:graphic>
          <a:graphicData uri="http://schemas.openxmlformats.org/drawingml/2006/table">
            <a:tbl>
              <a:tblPr firstRow="1">
                <a:tableStyleId>{5C22544A-7EE6-4342-B048-85BDC9FD1C3A}</a:tableStyleId>
              </a:tblPr>
              <a:tblGrid>
                <a:gridCol w="2419673"/>
                <a:gridCol w="7658802"/>
                <a:gridCol w="833059"/>
              </a:tblGrid>
              <a:tr h="335514">
                <a:tc>
                  <a:txBody>
                    <a:bodyPr wrap="square"/>
                    <a:lstStyle/>
                    <a:p>
                      <a:pPr algn="l"/>
                      <a:r>
                        <a:rPr sz="1400" b="1" i="0">
                          <a:solidFill>
                            <a:srgbClr val="FFFFFF"/>
                          </a:solidFill>
                          <a:latin typeface="Segoe UI"/>
                        </a:rPr>
                        <a:t>Plan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Priya (made-up)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Yours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26370">
                <a:tc>
                  <a:txBody>
                    <a:bodyPr wrap="square"/>
                    <a:lstStyle/>
                    <a:p>
                      <a:pPr algn="l"/>
                      <a:r>
                        <a:rPr sz="1400" b="0" i="0">
                          <a:solidFill>
                            <a:srgbClr val="18232F"/>
                          </a:solidFill>
                          <a:latin typeface="Segoe UI"/>
                        </a:rPr>
                        <a:t>Rule Card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EMA Pullback Swing v1: Day 11 card, Day 16 yes/no form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Stocks, and how chosen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Sharma Textiles, Gupta Cement, Kiran Foods: drawn by RAND(), all kept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Date range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1 Jan 2023 to 31 Dec 2025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Next day's open; skip above signal close + 0.5 x ATR or below the signal-day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1.5 x ATR(14) below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Exits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2.5R profit exit, or the next open after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Fill rules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Day 12 rules; stop and profit exit in one candle =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Cost per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0.1R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Open-trade limit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Max 3; a 4th signal = skipped: 3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Extra checks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RS rule and results-date skip: both applied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Market phase tag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NIFTY 50 on each signal day: up, down or sideways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26370">
                <a:tc>
                  <a:txBody>
                    <a:bodyPr wrap="square"/>
                    <a:lstStyle/>
                    <a:p>
                      <a:pPr algn="l"/>
                      <a:r>
                        <a:rPr sz="1400" b="0" i="0">
                          <a:solidFill>
                            <a:srgbClr val="18232F"/>
                          </a:solidFill>
                          <a:latin typeface="Segoe UI"/>
                        </a:rPr>
                        <a:t>Frozen?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Yes: no rule change until trade 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Log v1: Priya's trades 18-30</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One row per trade, written the moment the trade closes. Priya's rows show the peak (trade 19), five losses in a row (23 to 27) and a gap past the stop (25). The empty rows are for your first 3 trades.</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practice numbers. Net R per share, after the 0.1R cost allowance. Hypothetical: past performance is not indicative of future results.</a:t>
            </a:r>
          </a:p>
        </p:txBody>
      </p:sp>
      <p:graphicFrame>
        <p:nvGraphicFramePr>
          <p:cNvPr id="7" name="Table 6"/>
          <p:cNvGraphicFramePr>
            <a:graphicFrameLocks noGrp="1"/>
          </p:cNvGraphicFramePr>
          <p:nvPr/>
        </p:nvGraphicFramePr>
        <p:xfrm>
          <a:off x="640080" y="2121408"/>
          <a:ext cx="10911536" cy="3771897"/>
        </p:xfrm>
        <a:graphic>
          <a:graphicData uri="http://schemas.openxmlformats.org/drawingml/2006/table">
            <a:tbl>
              <a:tblPr firstRow="1">
                <a:tableStyleId>{5C22544A-7EE6-4342-B048-85BDC9FD1C3A}</a:tableStyleId>
              </a:tblPr>
              <a:tblGrid>
                <a:gridCol w="920712"/>
                <a:gridCol w="2544261"/>
                <a:gridCol w="2287604"/>
                <a:gridCol w="2169447"/>
                <a:gridCol w="920712"/>
                <a:gridCol w="2068800"/>
              </a:tblGrid>
              <a:tr h="479489">
                <a:tc>
                  <a:txBody>
                    <a:bodyPr wrap="square"/>
                    <a:lstStyle/>
                    <a:p>
                      <a:pPr algn="l"/>
                      <a:r>
                        <a:rPr sz="15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 stop /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Exit reason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Net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Running total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70344">
                <a:tc>
                  <a:txBody>
                    <a:bodyPr wrap="square"/>
                    <a:lstStyle/>
                    <a:p>
                      <a:pPr algn="ctr"/>
                      <a:r>
                        <a:rPr sz="1500" b="0" i="0">
                          <a:solidFill>
                            <a:srgbClr val="18232F"/>
                          </a:solidFill>
                          <a:latin typeface="Segoe UI"/>
                        </a:rPr>
                        <a:t>1-17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Trades 1-17 together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386 / 368 / 368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19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236 / 224 / 266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2.5R profit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468 / 447 / 447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398 / 380 / 380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22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 / 479 / 542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Time exit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0344">
                <a:tc>
                  <a:txBody>
                    <a:bodyPr wrap="square"/>
                    <a:lstStyle/>
                    <a:p>
                      <a:pPr algn="ctr"/>
                      <a:r>
                        <a:rPr sz="1500" b="0" i="0">
                          <a:solidFill>
                            <a:srgbClr val="18232F"/>
                          </a:solidFill>
                          <a:latin typeface="Segoe UI"/>
                        </a:rPr>
                        <a:t>23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248 / 236 / 236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YOUR TEMPLATE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Log v1: Priya's trades 18-30</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practice numbers. Net R per share, after the 0.1R cost allowance. Hypothetical: past performance is not indicative of future results.</a:t>
            </a:r>
          </a:p>
        </p:txBody>
      </p:sp>
      <p:graphicFrame>
        <p:nvGraphicFramePr>
          <p:cNvPr id="6" name="Table 5"/>
          <p:cNvGraphicFramePr>
            <a:graphicFrameLocks noGrp="1"/>
          </p:cNvGraphicFramePr>
          <p:nvPr/>
        </p:nvGraphicFramePr>
        <p:xfrm>
          <a:off x="640080" y="1481328"/>
          <a:ext cx="10911536" cy="4160520"/>
        </p:xfrm>
        <a:graphic>
          <a:graphicData uri="http://schemas.openxmlformats.org/drawingml/2006/table">
            <a:tbl>
              <a:tblPr firstRow="1">
                <a:tableStyleId>{5C22544A-7EE6-4342-B048-85BDC9FD1C3A}</a:tableStyleId>
              </a:tblPr>
              <a:tblGrid>
                <a:gridCol w="936081"/>
                <a:gridCol w="2394587"/>
                <a:gridCol w="2325789"/>
                <a:gridCol w="2215666"/>
                <a:gridCol w="936081"/>
                <a:gridCol w="2103332"/>
              </a:tblGrid>
              <a:tr h="347472">
                <a:tc>
                  <a:txBody>
                    <a:bodyPr wrap="square"/>
                    <a:lstStyle/>
                    <a:p>
                      <a:pPr algn="l"/>
                      <a:r>
                        <a:rPr sz="15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 stop /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Exit reason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Net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Running total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8328">
                <a:tc>
                  <a:txBody>
                    <a:bodyPr wrap="square"/>
                    <a:lstStyle/>
                    <a:p>
                      <a:pPr algn="ctr"/>
                      <a:r>
                        <a:rPr sz="1500" b="0" i="0">
                          <a:solidFill>
                            <a:srgbClr val="18232F"/>
                          </a:solidFill>
                          <a:latin typeface="Segoe UI"/>
                        </a:rPr>
                        <a:t>24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412 / 394 / 394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 / 479 / 470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Gap past the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+3.37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242 / 230 / 230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+2.27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404 / 386 / 386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490 / 469 / 542.50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2.5R profit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29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230 / 218 / 218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396 / 378 / 417.60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Time exit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584">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584">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584">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73328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Net R = (exit - entry) ÷ (entry - stop) - 0.1R. Your sheet also gets columns for signal date, gross R, running peak, drawdown and NIFTY phase.</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four numbers (keep for Day 21)</a:t>
            </a:r>
          </a:p>
        </p:txBody>
      </p:sp>
      <p:sp>
        <p:nvSpPr>
          <p:cNvPr id="4" name="TextBox 3"/>
          <p:cNvSpPr txBox="1"/>
          <p:nvPr/>
        </p:nvSpPr>
        <p:spPr>
          <a:xfrm>
            <a:off x="457200" y="1335024"/>
            <a:ext cx="11277295" cy="463296"/>
          </a:xfrm>
          <a:prstGeom prst="rect">
            <a:avLst/>
          </a:prstGeom>
          <a:noFill/>
        </p:spPr>
        <p:txBody>
          <a:bodyPr wrap="square" lIns="0" rIns="0" tIns="0" bIns="0" anchor="t">
            <a:noAutofit/>
          </a:bodyPr>
          <a:lstStyle/>
          <a:p>
            <a:pPr algn="l">
              <a:lnSpc>
                <a:spcPct val="100000"/>
              </a:lnSpc>
            </a:pPr>
            <a:r>
              <a:rPr sz="1400" b="0" i="1">
                <a:solidFill>
                  <a:srgbClr val="47596B"/>
                </a:solidFill>
                <a:latin typeface="Segoe UI"/>
              </a:rPr>
              <a:t>Fill it after trade 30. Your Week 3 review on Day 21 uses these numbers (not done by then? write how many trades are logged, and add the numbers in the catch-up week), and these 30 trades count towards the 100 on the same frozen rules that real confidence needs.</a:t>
            </a:r>
          </a:p>
        </p:txBody>
      </p:sp>
      <p:sp>
        <p:nvSpPr>
          <p:cNvPr id="5" name="Rounded Rectangle 4"/>
          <p:cNvSpPr/>
          <p:nvPr/>
        </p:nvSpPr>
        <p:spPr>
          <a:xfrm>
            <a:off x="457200" y="1944624"/>
            <a:ext cx="11277295" cy="4328160"/>
          </a:xfrm>
          <a:prstGeom prst="roundRect">
            <a:avLst>
              <a:gd name="adj" fmla="val 253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090928"/>
          <a:ext cx="10911536" cy="3401568"/>
        </p:xfrm>
        <a:graphic>
          <a:graphicData uri="http://schemas.openxmlformats.org/drawingml/2006/table">
            <a:tbl>
              <a:tblPr firstRow="1">
                <a:tableStyleId>{5C22544A-7EE6-4342-B048-85BDC9FD1C3A}</a:tableStyleId>
              </a:tblPr>
              <a:tblGrid>
                <a:gridCol w="2640759"/>
                <a:gridCol w="4521145"/>
                <a:gridCol w="2796443"/>
                <a:gridCol w="953189"/>
              </a:tblGrid>
              <a:tr h="493776">
                <a:tc>
                  <a:txBody>
                    <a:bodyPr wrap="square"/>
                    <a:lstStyle/>
                    <a:p>
                      <a:pPr algn="l"/>
                      <a:r>
                        <a:rPr sz="1500" b="1" i="0">
                          <a:solidFill>
                            <a:srgbClr val="FFFFFF"/>
                          </a:solidFill>
                          <a:latin typeface="Segoe UI"/>
                        </a:rPr>
                        <a:t>Number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How to work it out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 (made-up)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Count the rows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Win-rate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Wins ÷ trades (a win = net R above 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12 ÷ 30 = 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Expectancy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Total net R ÷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 ÷ 30 = +0.12R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Maximum drawdown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Biggest fall from a peak to a later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7.40 - 1.17 = 6.23R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Longest losing streak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Most losses in a row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Before costs (check)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Total net R + 0.1R x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+3.57 + 3.00 = +6.57R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583936"/>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Label the report: 'Hypothetical. Past performance is not indicative of future results.'</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Candle curtain, in pairs</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One person covers a daily chart with a sheet of paper and reveals one candle at a time; the other says 'plan' or 'skip' before each reveal, using only the Rule Card.</a:t>
            </a:r>
          </a:p>
          <a:p>
            <a:pPr algn="l">
              <a:lnSpc>
                <a:spcPct val="100000"/>
              </a:lnSpc>
              <a:spcAft>
                <a:spcPts val="700"/>
              </a:spcAft>
            </a:pPr>
            <a:r>
              <a:rPr sz="2000" b="0" i="0">
                <a:solidFill>
                  <a:srgbClr val="18232F"/>
                </a:solidFill>
                <a:latin typeface="Segoe UI"/>
              </a:rPr>
              <a:t>Swap after 10 decisions. Alone? Do the same with Bar Replay and say each decision aloud.</a:t>
            </a:r>
          </a:p>
          <a:p>
            <a:pPr algn="l">
              <a:lnSpc>
                <a:spcPct val="100000"/>
              </a:lnSpc>
            </a:pPr>
            <a:r>
              <a:rPr sz="2000" b="0" i="0">
                <a:solidFill>
                  <a:srgbClr val="18232F"/>
                </a:solidFill>
                <a:latin typeface="Segoe UI"/>
              </a:rPr>
              <a:t>The cohort award goes to the most rule-strict log, never the prettiest curve, and equity curves stay private.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stats sheet and a bias audit</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Backtest stats sheet</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“Give me a Google Sheets layout for a 30-trade log with these columns: trade number, signal date, instrument (a name I type), entry (the next day's open), stop, exit, exit reason (2.5R profit exit, 15-day time exit, stop, or gap through the stop), gross R computed per share as (exit - entry) / (entry - stop), even when a 25% exposure cap cut my quantity, cost in R (taken from one input cell that I fill once), net R, win (yes if net R is above zero)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Audit my backtest for bias</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strict but kind backtest reviewer for a beginner. I will paste only my test plan (rules, instruments, date range, entry convention, stop, cost per trade in R) and my trade log in R; do not ask for any personal or account details.”</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Luck simulator</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“Help me build a simple luck simulator in Google Sheets so I understand losing streaks and drawdowns. Each row is one trade: use RAND() so that each trade has a 40% chance to win +2.4R and a 60% chance to lose -1.1R (a 2.5R profit exit and a 1R stop, each less 0.1R of costs).”</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QUESTION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In a backtest, Aman's entry is Rs 400 and his stop is Rs 385. One morning, after bad news overnight, the stock opens at Rs 376, below his stop, so he logs the exit at that open. Costs are 0.1R per trade. What net R should he log?</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-1.00R: a stop-loss always caps the loss at 1R</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-1.10R: the planned stop, plus 0.1R of costs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-1.60R: costs are charged only on winning trades</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-1.70R: the loss to the Rs 376 open, plus 0.1R of costs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QUESTION 2/5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Reading only these month-end values of Priya's cumulative net R: 0, +3, +7, +4, +2, +5, +9, +6. What is her maximum drawdown so far?</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5R, the fall from +7R down to +2R</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7R, the height of the first peak</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2R, the lowest point after a peak</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3R, the latest fall from +9R down to +6R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Aman's daily signal is confirmed only once the exchange sets the day's official closing price, after trading ends. In his backtest he logs every entry at that same candle's low. What is wrong?</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logs a price nobody knew until the day was over</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Nothing, since the low was a real traded price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Daily charts are unfit for any kind of backtest</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should log the candle's high instead, to be safe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plans to backtest on the 50 companies in NIFTY 50 today, using data from 2019 to 2025. Which problem should she note in her report?</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None, since index companies always give a fair test</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Survivorship bias: names that dropped out since 2019 are missing</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Cost error: large index companies carry no charges</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Curve-fitting: she has tuned her EMA settings to this list</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After 30 trades, Aman changes EMA 20 to EMA 18 and adjusts the RSI band until those same 30 trades show a 75% win-rate. What is the most honest next step?</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Report 75% as the rule's future win-rate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Call it proven and switch his paper trades to it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Keep tweaking the settings until it reaches 90%</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Freeze it, then test it on 30 fresh trades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17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Backtest Level 1, by hand</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chart prices and trade logs in this lesson are made up for illustration; all backtest results are hypothetical and simulated. Past performance is not indicative of future results. Stage 1 uses virtual money only. No affiliation with any charting site, broker or tool named.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While logging your first trades, how many times did you want to peek at the next candle, or count a trade that did not quite match your card? What did that urge feel like, and what did you do with it?</a:t>
            </a:r>
          </a:p>
        </p:txBody>
      </p:sp>
      <p:sp>
        <p:nvSpPr>
          <p:cNvPr id="8" name="Rounded Rectangle 7"/>
          <p:cNvSpPr/>
          <p:nvPr/>
        </p:nvSpPr>
        <p:spPr>
          <a:xfrm>
            <a:off x="6233008" y="1335024"/>
            <a:ext cx="5501488" cy="4008120"/>
          </a:xfrm>
          <a:prstGeom prst="roundRect">
            <a:avLst>
              <a:gd name="adj" fmla="val 319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683764"/>
            <a:ext cx="4952848" cy="172212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An honest log with a modest number is worth more than a perfect curve built by peeking. Today you started the honest log; on Day 21 it becomes part of your review.</a:t>
            </a:r>
          </a:p>
        </p:txBody>
      </p:sp>
      <p:sp>
        <p:nvSpPr>
          <p:cNvPr id="11" name="Rounded Rectangle 10"/>
          <p:cNvSpPr/>
          <p:nvPr/>
        </p:nvSpPr>
        <p:spPr>
          <a:xfrm>
            <a:off x="457200" y="5489448"/>
            <a:ext cx="4402557"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18 · F&amp;O basics only: samjho, khelo mat</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17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18</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Build your system, protect yourself</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F&amp;O basics only: samjho, khelo mat</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Futures and options: what they are, and why Stage 1 only studies them</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Option chain explainer: read it, do not trade it</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The lottery-ticket mind</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BY THE END</a:t>
            </a:r>
          </a:p>
        </p:txBody>
      </p:sp>
      <p:sp>
        <p:nvSpPr>
          <p:cNvPr id="17" name="TextBox 16"/>
          <p:cNvSpPr txBox="1"/>
          <p:nvPr/>
        </p:nvSpPr>
        <p:spPr>
          <a:xfrm>
            <a:off x="4572000" y="4626864"/>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explain a futures contract, margin and MTM; tell a call from a put and ITM from OTM; split a premium into intrinsic and time value; read a buyer's and a seller's payoff; say which F&amp;O contracts end in delivery; and explain why Stage 1 only studies F&amp;O.</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one ticket everyone talks about</a:t>
            </a:r>
          </a:p>
        </p:txBody>
      </p:sp>
      <p:sp>
        <p:nvSpPr>
          <p:cNvPr id="4" name="Rounded Rectangle 3"/>
          <p:cNvSpPr/>
          <p:nvPr/>
        </p:nvSpPr>
        <p:spPr>
          <a:xfrm>
            <a:off x="457200" y="1426464"/>
            <a:ext cx="3649370" cy="3636264"/>
          </a:xfrm>
          <a:prstGeom prst="roundRect">
            <a:avLst>
              <a:gd name="adj" fmla="val 35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17906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Thursday evening, just after the class video call. Aman holds his phone up to the camera. Priya has her notebook open.</a:t>
            </a:r>
          </a:p>
        </p:txBody>
      </p:sp>
      <p:sp>
        <p:nvSpPr>
          <p:cNvPr id="7" name="Rounded Rectangle 6"/>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look. My colleague bought NIFTY calls at Rs 4 and sold them at Rs 60 the same day. He put in about Rs 3,000 and took out about Rs 45,000. And the most he could ever lose was that Rs 3,000. That is low risk, right?</a:t>
            </a:r>
          </a:p>
        </p:txBody>
      </p:sp>
      <p:sp>
        <p:nvSpPr>
          <p:cNvPr id="13" name="Rounded Rectangle 12"/>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Two questions, Aman. How many times did he buy Rs 4 calls before this? And how many of them ended at zero?</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one ticket everyone talks about</a:t>
            </a:r>
          </a:p>
        </p:txBody>
      </p:sp>
      <p:sp>
        <p:nvSpPr>
          <p:cNvPr id="4" name="Rounded Rectangle 3"/>
          <p:cNvSpPr/>
          <p:nvPr/>
        </p:nvSpPr>
        <p:spPr>
          <a:xfrm>
            <a:off x="457200"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Umm... he never talks about those. He just says he tries every week.</a:t>
            </a:r>
          </a:p>
        </p:txBody>
      </p:sp>
      <p:sp>
        <p:nvSpPr>
          <p:cNvPr id="10" name="Rounded Rectangle 9"/>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so a small loss that repeats every week is not really small? And why was that call so cheap in the first place?</a:t>
            </a:r>
          </a:p>
        </p:txBody>
      </p:sp>
      <p:sp>
        <p:nvSpPr>
          <p:cNvPr id="16" name="Rounded Rectangle 15"/>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That is the right question, Priya. Cheap options are cheap for a reason. Today we learn what futures and options are, and why Stage 1 only studies them. F&amp;O: samjho, khelo mat.</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small price is not the same as a small risk. Count the tickets that lost, not only the one that won.</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Futures: a deal today, settled every evening</a:t>
            </a:r>
          </a:p>
        </p:txBody>
      </p:sp>
      <p:sp>
        <p:nvSpPr>
          <p:cNvPr id="4" name="TextBox 3"/>
          <p:cNvSpPr txBox="1"/>
          <p:nvPr/>
        </p:nvSpPr>
        <p:spPr>
          <a:xfrm>
            <a:off x="457200" y="1335024"/>
            <a:ext cx="5519776" cy="160782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A futures contract is a deal made today to buy or sell something on a fixed later date, called the expiry, at a price agreed now.</a:t>
            </a:r>
          </a:p>
          <a:p>
            <a:pPr algn="l" marL="274320" indent="-274320">
              <a:lnSpc>
                <a:spcPct val="100000"/>
              </a:lnSpc>
              <a:spcAft>
                <a:spcPts val="750"/>
              </a:spcAft>
              <a:buClr>
                <a:srgbClr val="F5A623"/>
              </a:buClr>
              <a:buFont typeface="Arial"/>
              <a:buChar char="•"/>
            </a:pPr>
            <a:r>
              <a:rPr sz="1500" b="0" i="0">
                <a:solidFill>
                  <a:srgbClr val="18232F"/>
                </a:solidFill>
                <a:latin typeface="Segoe UI"/>
              </a:rPr>
              <a:t>On NSE there are futures on indices such as NIFTY 50 and on many stocks.</a:t>
            </a:r>
          </a:p>
          <a:p>
            <a:pPr algn="l" marL="274320" indent="-274320">
              <a:lnSpc>
                <a:spcPct val="100000"/>
              </a:lnSpc>
              <a:buClr>
                <a:srgbClr val="F5A623"/>
              </a:buClr>
              <a:buFont typeface="Arial"/>
              <a:buChar char="•"/>
            </a:pPr>
            <a:r>
              <a:rPr sz="1500" b="0" i="0">
                <a:solidFill>
                  <a:srgbClr val="18232F"/>
                </a:solidFill>
                <a:latin typeface="Segoe UI"/>
              </a:rPr>
              <a:t>You do not pay the full value.</a:t>
            </a:r>
          </a:p>
        </p:txBody>
      </p:sp>
      <p:sp>
        <p:nvSpPr>
          <p:cNvPr id="5" name="Rounded Rectangle 4"/>
          <p:cNvSpPr/>
          <p:nvPr/>
        </p:nvSpPr>
        <p:spPr>
          <a:xfrm>
            <a:off x="6214720" y="1335024"/>
            <a:ext cx="5519776" cy="2072640"/>
          </a:xfrm>
          <a:prstGeom prst="roundRect">
            <a:avLst>
              <a:gd name="adj" fmla="val 529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6154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Think of booking Diwali mithai in September at today's rate with a small advance: the price is locked, but here the difference is settled every single day. In a made-up case, one lot of Bharat Pumps Ltd futures is 2,000 shares at Rs 800, a contract value of Rs 16,00,000, and the broker blocks Rs 3,20,000 as margin. … On the Rs 10 lakh challenge capital, 1R is Rs 10,000, so one Rs 10 slip is already 2R, the daily stop, and this one contract is 1.6 times the whole capital.</a:t>
            </a:r>
          </a:p>
        </p:txBody>
      </p:sp>
      <p:sp>
        <p:nvSpPr>
          <p:cNvPr id="8" name="Rounded Rectangle 7"/>
          <p:cNvSpPr/>
          <p:nvPr/>
        </p:nvSpPr>
        <p:spPr>
          <a:xfrm>
            <a:off x="457200" y="3572256"/>
            <a:ext cx="11277295" cy="2042160"/>
          </a:xfrm>
          <a:prstGeom prst="roundRect">
            <a:avLst>
              <a:gd name="adj" fmla="val 537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7185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MTM, one evening at a time</a:t>
            </a:r>
          </a:p>
        </p:txBody>
      </p:sp>
      <p:sp>
        <p:nvSpPr>
          <p:cNvPr id="10" name="TextBox 9"/>
          <p:cNvSpPr txBox="1"/>
          <p:nvPr/>
        </p:nvSpPr>
        <p:spPr>
          <a:xfrm>
            <a:off x="640080" y="5166360"/>
            <a:ext cx="10911535"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numbers: 1 lot = 2,000 shares (Rs 16 lakh) on a margin of Rs 3,20,000, which is 5 times leverage, and nothing spare in the account. Losses leave your account every evening, not only at expiry, so even the first loss leaves you short of margin.</a:t>
            </a:r>
          </a:p>
        </p:txBody>
      </p:sp>
      <p:cxnSp>
        <p:nvCxnSpPr>
          <p:cNvPr id="11" name="Connector 10"/>
          <p:cNvCxnSpPr/>
          <p:nvPr/>
        </p:nvCxnSpPr>
        <p:spPr>
          <a:xfrm>
            <a:off x="1731234" y="420928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54329" y="404469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0</a:t>
            </a:r>
          </a:p>
        </p:txBody>
      </p:sp>
      <p:sp>
        <p:nvSpPr>
          <p:cNvPr id="13" name="TextBox 12"/>
          <p:cNvSpPr txBox="1"/>
          <p:nvPr/>
        </p:nvSpPr>
        <p:spPr>
          <a:xfrm>
            <a:off x="713232" y="450189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Bought 1 lot at Rs 800</a:t>
            </a:r>
          </a:p>
          <a:p>
            <a:pPr algn="ctr">
              <a:lnSpc>
                <a:spcPct val="100000"/>
              </a:lnSpc>
            </a:pPr>
            <a:r>
              <a:rPr sz="1100" b="0" i="0">
                <a:solidFill>
                  <a:srgbClr val="47596B"/>
                </a:solidFill>
                <a:latin typeface="Segoe UI"/>
              </a:rPr>
              <a:t>Margin of Rs 3,20,000 blocked</a:t>
            </a:r>
          </a:p>
        </p:txBody>
      </p:sp>
      <p:sp>
        <p:nvSpPr>
          <p:cNvPr id="14" name="Rounded Rectangle 13"/>
          <p:cNvSpPr/>
          <p:nvPr/>
        </p:nvSpPr>
        <p:spPr>
          <a:xfrm>
            <a:off x="3536636" y="404469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1</a:t>
            </a:r>
          </a:p>
        </p:txBody>
      </p:sp>
      <p:sp>
        <p:nvSpPr>
          <p:cNvPr id="15" name="TextBox 14"/>
          <p:cNvSpPr txBox="1"/>
          <p:nvPr/>
        </p:nvSpPr>
        <p:spPr>
          <a:xfrm>
            <a:off x="2895539" y="450189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Closes at Rs 790</a:t>
            </a:r>
          </a:p>
          <a:p>
            <a:pPr algn="ctr">
              <a:lnSpc>
                <a:spcPct val="100000"/>
              </a:lnSpc>
            </a:pPr>
            <a:r>
              <a:rPr sz="1100" b="0" i="0">
                <a:solidFill>
                  <a:srgbClr val="47596B"/>
                </a:solidFill>
                <a:latin typeface="Segoe UI"/>
              </a:rPr>
              <a:t>Rs 20,000 debited</a:t>
            </a:r>
          </a:p>
        </p:txBody>
      </p:sp>
      <p:sp>
        <p:nvSpPr>
          <p:cNvPr id="16" name="Rounded Rectangle 15"/>
          <p:cNvSpPr/>
          <p:nvPr/>
        </p:nvSpPr>
        <p:spPr>
          <a:xfrm>
            <a:off x="5718943" y="404469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2</a:t>
            </a:r>
          </a:p>
        </p:txBody>
      </p:sp>
      <p:sp>
        <p:nvSpPr>
          <p:cNvPr id="17" name="TextBox 16"/>
          <p:cNvSpPr txBox="1"/>
          <p:nvPr/>
        </p:nvSpPr>
        <p:spPr>
          <a:xfrm>
            <a:off x="5077846" y="450189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Closes at Rs 780</a:t>
            </a:r>
          </a:p>
          <a:p>
            <a:pPr algn="ctr">
              <a:lnSpc>
                <a:spcPct val="100000"/>
              </a:lnSpc>
            </a:pPr>
            <a:r>
              <a:rPr sz="1100" b="0" i="0">
                <a:solidFill>
                  <a:srgbClr val="47596B"/>
                </a:solidFill>
                <a:latin typeface="Segoe UI"/>
              </a:rPr>
              <a:t>Another Rs 20,000 debited</a:t>
            </a:r>
          </a:p>
        </p:txBody>
      </p:sp>
      <p:sp>
        <p:nvSpPr>
          <p:cNvPr id="18" name="Rounded Rectangle 17"/>
          <p:cNvSpPr/>
          <p:nvPr/>
        </p:nvSpPr>
        <p:spPr>
          <a:xfrm>
            <a:off x="7901250" y="404469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Day 3</a:t>
            </a:r>
          </a:p>
        </p:txBody>
      </p:sp>
      <p:sp>
        <p:nvSpPr>
          <p:cNvPr id="19" name="TextBox 18"/>
          <p:cNvSpPr txBox="1"/>
          <p:nvPr/>
        </p:nvSpPr>
        <p:spPr>
          <a:xfrm>
            <a:off x="7260153" y="450189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Closes at Rs 770</a:t>
            </a:r>
          </a:p>
          <a:p>
            <a:pPr algn="ctr">
              <a:lnSpc>
                <a:spcPct val="100000"/>
              </a:lnSpc>
            </a:pPr>
            <a:r>
              <a:rPr sz="1100" b="0" i="0">
                <a:solidFill>
                  <a:srgbClr val="47596B"/>
                </a:solidFill>
                <a:latin typeface="Segoe UI"/>
              </a:rPr>
              <a:t>Total so far: Rs 60,000</a:t>
            </a:r>
          </a:p>
        </p:txBody>
      </p:sp>
      <p:sp>
        <p:nvSpPr>
          <p:cNvPr id="20" name="Rounded Rectangle 19"/>
          <p:cNvSpPr/>
          <p:nvPr/>
        </p:nvSpPr>
        <p:spPr>
          <a:xfrm>
            <a:off x="10083557" y="4044696"/>
            <a:ext cx="753809"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Any day</a:t>
            </a:r>
          </a:p>
        </p:txBody>
      </p:sp>
      <p:sp>
        <p:nvSpPr>
          <p:cNvPr id="21" name="TextBox 20"/>
          <p:cNvSpPr txBox="1"/>
          <p:nvPr/>
        </p:nvSpPr>
        <p:spPr>
          <a:xfrm>
            <a:off x="9442460" y="450189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Margin call</a:t>
            </a:r>
          </a:p>
          <a:p>
            <a:pPr algn="ctr">
              <a:lnSpc>
                <a:spcPct val="100000"/>
              </a:lnSpc>
            </a:pPr>
            <a:r>
              <a:rPr sz="1100" b="0" i="0">
                <a:solidFill>
                  <a:srgbClr val="47596B"/>
                </a:solidFill>
                <a:latin typeface="Segoe UI"/>
              </a:rPr>
              <a:t>Balance below margin: top up, or the broker may close it</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Margin is a deposit, not a limit. In futures, the loss can be bigger than the money you put down.</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Options: a right for the buyer, a duty for the seller</a:t>
            </a:r>
          </a:p>
        </p:txBody>
      </p:sp>
      <p:sp>
        <p:nvSpPr>
          <p:cNvPr id="4" name="TextBox 3"/>
          <p:cNvSpPr txBox="1"/>
          <p:nvPr/>
        </p:nvSpPr>
        <p:spPr>
          <a:xfrm>
            <a:off x="457200" y="1335024"/>
            <a:ext cx="5519776" cy="1451610"/>
          </a:xfrm>
          <a:prstGeom prst="rect">
            <a:avLst/>
          </a:prstGeom>
          <a:noFill/>
        </p:spPr>
        <p:txBody>
          <a:bodyPr wrap="square" lIns="0" rIns="0" tIns="0" bIns="0" anchor="t">
            <a:noAutofit/>
          </a:bodyPr>
          <a:lstStyle/>
          <a:p>
            <a:pPr algn="l" marL="274320" indent="-274320">
              <a:lnSpc>
                <a:spcPct val="100000"/>
              </a:lnSpc>
              <a:spcAft>
                <a:spcPts val="675"/>
              </a:spcAft>
              <a:buClr>
                <a:srgbClr val="F5A623"/>
              </a:buClr>
              <a:buFont typeface="Arial"/>
              <a:buChar char="•"/>
            </a:pPr>
            <a:r>
              <a:rPr sz="1350" b="0" i="0">
                <a:solidFill>
                  <a:srgbClr val="18232F"/>
                </a:solidFill>
                <a:latin typeface="Segoe UI"/>
              </a:rPr>
              <a:t>An option gives its buyer a right, but not a duty, to buy or sell at a fixed price on the expiry day.</a:t>
            </a:r>
          </a:p>
          <a:p>
            <a:pPr algn="l" marL="274320" indent="-274320">
              <a:lnSpc>
                <a:spcPct val="100000"/>
              </a:lnSpc>
              <a:spcAft>
                <a:spcPts val="675"/>
              </a:spcAft>
              <a:buClr>
                <a:srgbClr val="F5A623"/>
              </a:buClr>
              <a:buFont typeface="Arial"/>
              <a:buChar char="•"/>
            </a:pPr>
            <a:r>
              <a:rPr sz="1350" b="0" i="0">
                <a:solidFill>
                  <a:srgbClr val="18232F"/>
                </a:solidFill>
                <a:latin typeface="Segoe UI"/>
              </a:rPr>
              <a:t>NSE options are European style: the right can be used only at expiry, but the option itself can be sold on the exchange on any trading day before that.</a:t>
            </a:r>
          </a:p>
          <a:p>
            <a:pPr algn="l" marL="274320" indent="-274320">
              <a:lnSpc>
                <a:spcPct val="100000"/>
              </a:lnSpc>
              <a:buClr>
                <a:srgbClr val="F5A623"/>
              </a:buClr>
              <a:buFont typeface="Arial"/>
              <a:buChar char="•"/>
            </a:pPr>
            <a:r>
              <a:rPr sz="1350" b="0" i="0">
                <a:solidFill>
                  <a:srgbClr val="18232F"/>
                </a:solidFill>
                <a:latin typeface="Segoe UI"/>
              </a:rPr>
              <a:t>A call option (CE) is the right to buy.</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It works like the token money on a flat booking. A young couple pays a non-refundable token of Rs 50,000 for the right to buy a flat at Rs 40 lakh when three months are up. The token is extra; it is not knocked off the Rs 40 lakh. … The couple is the call buyer, the token is the premium, Rs 40 lakh is the strike and the builder is the seller.</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Who sits where at the options table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Every option has a buyer and a seller. In Stage 1 you sit in none of these seats, not even on paper.</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7021"/>
            <a:ext cx="3527450"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Call buyer (CE)</a:t>
            </a:r>
          </a:p>
        </p:txBody>
      </p:sp>
      <p:cxnSp>
        <p:nvCxnSpPr>
          <p:cNvPr id="16" name="Connector 15"/>
          <p:cNvCxnSpPr/>
          <p:nvPr/>
        </p:nvCxnSpPr>
        <p:spPr>
          <a:xfrm>
            <a:off x="640080" y="382104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Right to buy at the strike</a:t>
            </a:r>
          </a:p>
          <a:p>
            <a:pPr algn="l" marL="201168" indent="-201168">
              <a:lnSpc>
                <a:spcPct val="100000"/>
              </a:lnSpc>
              <a:spcAft>
                <a:spcPts val="700"/>
              </a:spcAft>
              <a:buClr>
                <a:srgbClr val="16A34A"/>
              </a:buClr>
              <a:buFont typeface="Arial"/>
              <a:buChar char="•"/>
            </a:pPr>
            <a:r>
              <a:rPr sz="1400" b="0" i="0">
                <a:solidFill>
                  <a:srgbClr val="18232F"/>
                </a:solidFill>
                <a:latin typeface="Segoe UI"/>
              </a:rPr>
              <a:t>Pays the premium upfront</a:t>
            </a:r>
          </a:p>
          <a:p>
            <a:pPr algn="l" marL="201168" indent="-201168">
              <a:lnSpc>
                <a:spcPct val="100000"/>
              </a:lnSpc>
              <a:spcAft>
                <a:spcPts val="700"/>
              </a:spcAft>
              <a:buClr>
                <a:srgbClr val="16A34A"/>
              </a:buClr>
              <a:buFont typeface="Arial"/>
              <a:buChar char="•"/>
            </a:pPr>
            <a:r>
              <a:rPr sz="1400" b="0" i="0">
                <a:solidFill>
                  <a:srgbClr val="18232F"/>
                </a:solidFill>
                <a:latin typeface="Segoe UI"/>
              </a:rPr>
              <a:t>Gains if price rises enough</a:t>
            </a:r>
          </a:p>
          <a:p>
            <a:pPr algn="l" marL="201168" indent="-201168">
              <a:lnSpc>
                <a:spcPct val="100000"/>
              </a:lnSpc>
              <a:buClr>
                <a:srgbClr val="16A34A"/>
              </a:buClr>
              <a:buFont typeface="Arial"/>
              <a:buChar char="•"/>
            </a:pPr>
            <a:r>
              <a:rPr sz="1400" b="0" i="0">
                <a:solidFill>
                  <a:srgbClr val="18232F"/>
                </a:solidFill>
                <a:latin typeface="Segoe UI"/>
              </a:rPr>
              <a:t>Worst case: premium lost</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8056"/>
          </a:xfrm>
          <a:prstGeom prst="roundRect">
            <a:avLst>
              <a:gd name="adj" fmla="val 2040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7021"/>
            <a:ext cx="3527450" cy="22402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8056"/>
          </a:xfrm>
          <a:prstGeom prst="rect">
            <a:avLst/>
          </a:prstGeom>
          <a:noFill/>
        </p:spPr>
        <p:txBody>
          <a:bodyPr wrap="square" lIns="0" rIns="0" tIns="0" bIns="0" anchor="ctr">
            <a:noAutofit/>
          </a:bodyPr>
          <a:lstStyle/>
          <a:p>
            <a:pPr algn="l">
              <a:lnSpc>
                <a:spcPct val="100000"/>
              </a:lnSpc>
            </a:pPr>
            <a:r>
              <a:rPr sz="1500" b="1" i="0">
                <a:solidFill>
                  <a:srgbClr val="92400E"/>
                </a:solidFill>
                <a:latin typeface="Segoe UI"/>
              </a:rPr>
              <a:t>Put buyer (PE)</a:t>
            </a:r>
          </a:p>
        </p:txBody>
      </p:sp>
      <p:cxnSp>
        <p:nvCxnSpPr>
          <p:cNvPr id="23" name="Connector 22"/>
          <p:cNvCxnSpPr/>
          <p:nvPr/>
        </p:nvCxnSpPr>
        <p:spPr>
          <a:xfrm>
            <a:off x="4332122" y="382104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5A524"/>
              </a:buClr>
              <a:buFont typeface="Arial"/>
              <a:buChar char="•"/>
            </a:pPr>
            <a:r>
              <a:rPr sz="1400" b="0" i="0">
                <a:solidFill>
                  <a:srgbClr val="18232F"/>
                </a:solidFill>
                <a:latin typeface="Segoe UI"/>
              </a:rPr>
              <a:t>Right to sell at the strike</a:t>
            </a:r>
          </a:p>
          <a:p>
            <a:pPr algn="l" marL="201168" indent="-201168">
              <a:lnSpc>
                <a:spcPct val="100000"/>
              </a:lnSpc>
              <a:spcAft>
                <a:spcPts val="700"/>
              </a:spcAft>
              <a:buClr>
                <a:srgbClr val="F5A524"/>
              </a:buClr>
              <a:buFont typeface="Arial"/>
              <a:buChar char="•"/>
            </a:pPr>
            <a:r>
              <a:rPr sz="1400" b="0" i="0">
                <a:solidFill>
                  <a:srgbClr val="18232F"/>
                </a:solidFill>
                <a:latin typeface="Segoe UI"/>
              </a:rPr>
              <a:t>Pays the premium upfront</a:t>
            </a:r>
          </a:p>
          <a:p>
            <a:pPr algn="l" marL="201168" indent="-201168">
              <a:lnSpc>
                <a:spcPct val="100000"/>
              </a:lnSpc>
              <a:spcAft>
                <a:spcPts val="700"/>
              </a:spcAft>
              <a:buClr>
                <a:srgbClr val="F5A524"/>
              </a:buClr>
              <a:buFont typeface="Arial"/>
              <a:buChar char="•"/>
            </a:pPr>
            <a:r>
              <a:rPr sz="1400" b="0" i="0">
                <a:solidFill>
                  <a:srgbClr val="18232F"/>
                </a:solidFill>
                <a:latin typeface="Segoe UI"/>
              </a:rPr>
              <a:t>Gains if price falls enough</a:t>
            </a:r>
          </a:p>
          <a:p>
            <a:pPr algn="l" marL="201168" indent="-201168">
              <a:lnSpc>
                <a:spcPct val="100000"/>
              </a:lnSpc>
              <a:buClr>
                <a:srgbClr val="F5A524"/>
              </a:buClr>
              <a:buFont typeface="Arial"/>
              <a:buChar char="•"/>
            </a:pPr>
            <a:r>
              <a:rPr sz="1400" b="0" i="0">
                <a:solidFill>
                  <a:srgbClr val="18232F"/>
                </a:solidFill>
                <a:latin typeface="Segoe UI"/>
              </a:rPr>
              <a:t>Worst case: premium lost</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8056"/>
          </a:xfrm>
          <a:prstGeom prst="roundRect">
            <a:avLst>
              <a:gd name="adj" fmla="val 20408"/>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7021"/>
            <a:ext cx="3527450" cy="22402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8056"/>
          </a:xfrm>
          <a:prstGeom prst="rect">
            <a:avLst/>
          </a:prstGeom>
          <a:noFill/>
        </p:spPr>
        <p:txBody>
          <a:bodyPr wrap="square" lIns="0" rIns="0" tIns="0" bIns="0" anchor="ctr">
            <a:noAutofit/>
          </a:bodyPr>
          <a:lstStyle/>
          <a:p>
            <a:pPr algn="l">
              <a:lnSpc>
                <a:spcPct val="100000"/>
              </a:lnSpc>
            </a:pPr>
            <a:r>
              <a:rPr sz="1500" b="1" i="0">
                <a:solidFill>
                  <a:srgbClr val="991B1B"/>
                </a:solidFill>
                <a:latin typeface="Segoe UI"/>
              </a:rPr>
              <a:t>Seller (call or put)</a:t>
            </a:r>
          </a:p>
        </p:txBody>
      </p:sp>
      <p:cxnSp>
        <p:nvCxnSpPr>
          <p:cNvPr id="30" name="Connector 29"/>
          <p:cNvCxnSpPr/>
          <p:nvPr/>
        </p:nvCxnSpPr>
        <p:spPr>
          <a:xfrm>
            <a:off x="8024165" y="3821049"/>
            <a:ext cx="3527450"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0554E"/>
              </a:buClr>
              <a:buFont typeface="Arial"/>
              <a:buChar char="•"/>
            </a:pPr>
            <a:r>
              <a:rPr sz="1400" b="0" i="0">
                <a:solidFill>
                  <a:srgbClr val="18232F"/>
                </a:solidFill>
                <a:latin typeface="Segoe UI"/>
              </a:rPr>
              <a:t>Collects the premium</a:t>
            </a:r>
          </a:p>
          <a:p>
            <a:pPr algn="l" marL="201168" indent="-201168">
              <a:lnSpc>
                <a:spcPct val="100000"/>
              </a:lnSpc>
              <a:spcAft>
                <a:spcPts val="700"/>
              </a:spcAft>
              <a:buClr>
                <a:srgbClr val="F0554E"/>
              </a:buClr>
              <a:buFont typeface="Arial"/>
              <a:buChar char="•"/>
            </a:pPr>
            <a:r>
              <a:rPr sz="1400" b="0" i="0">
                <a:solidFill>
                  <a:srgbClr val="18232F"/>
                </a:solidFill>
                <a:latin typeface="Segoe UI"/>
              </a:rPr>
              <a:t>Must honour the buyer's right</a:t>
            </a:r>
          </a:p>
          <a:p>
            <a:pPr algn="l" marL="201168" indent="-201168">
              <a:lnSpc>
                <a:spcPct val="100000"/>
              </a:lnSpc>
              <a:spcAft>
                <a:spcPts val="700"/>
              </a:spcAft>
              <a:buClr>
                <a:srgbClr val="F0554E"/>
              </a:buClr>
              <a:buFont typeface="Arial"/>
              <a:buChar char="•"/>
            </a:pPr>
            <a:r>
              <a:rPr sz="1400" b="0" i="0">
                <a:solidFill>
                  <a:srgbClr val="18232F"/>
                </a:solidFill>
                <a:latin typeface="Segoe UI"/>
              </a:rPr>
              <a:t>Loss can far exceed premium</a:t>
            </a:r>
          </a:p>
          <a:p>
            <a:pPr algn="l" marL="201168" indent="-201168">
              <a:lnSpc>
                <a:spcPct val="100000"/>
              </a:lnSpc>
              <a:buClr>
                <a:srgbClr val="F0554E"/>
              </a:buClr>
              <a:buFont typeface="Arial"/>
              <a:buChar char="•"/>
            </a:pPr>
            <a:r>
              <a:rPr sz="1400" b="0" i="0">
                <a:solidFill>
                  <a:srgbClr val="18232F"/>
                </a:solidFill>
                <a:latin typeface="Segoe UI"/>
              </a:rPr>
              <a:t>Must keep margin</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Buyer: pays the premium and holds a right. Seller: collects the premium and carries the duty, and the bigger risk.</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ITM, ATM, OTM, and what a premium is made of</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Moneyness tells you where the strike sits against today's price.</a:t>
            </a:r>
          </a:p>
          <a:p>
            <a:pPr algn="l" marL="274320" indent="-274320">
              <a:lnSpc>
                <a:spcPct val="100000"/>
              </a:lnSpc>
              <a:spcAft>
                <a:spcPts val="800"/>
              </a:spcAft>
              <a:buClr>
                <a:srgbClr val="F5A623"/>
              </a:buClr>
              <a:buFont typeface="Arial"/>
              <a:buChar char="•"/>
            </a:pPr>
            <a:r>
              <a:rPr sz="1600" b="0" i="0">
                <a:solidFill>
                  <a:srgbClr val="18232F"/>
                </a:solidFill>
                <a:latin typeface="Segoe UI"/>
              </a:rPr>
              <a:t>For a call, a strike below the current price is in the money (ITM), a strike close to it is at the money (ATM), and a strike above it is out of the money (OTM)</a:t>
            </a:r>
          </a:p>
          <a:p>
            <a:pPr algn="l" marL="274320" indent="-274320">
              <a:lnSpc>
                <a:spcPct val="100000"/>
              </a:lnSpc>
              <a:spcAft>
                <a:spcPts val="800"/>
              </a:spcAft>
              <a:buClr>
                <a:srgbClr val="F5A623"/>
              </a:buClr>
              <a:buFont typeface="Arial"/>
              <a:buChar char="•"/>
            </a:pPr>
            <a:r>
              <a:rPr sz="1600" b="0" i="0">
                <a:solidFill>
                  <a:srgbClr val="18232F"/>
                </a:solidFill>
                <a:latin typeface="Segoe UI"/>
              </a:rPr>
              <a:t>For a put it is the mirror image.</a:t>
            </a:r>
          </a:p>
          <a:p>
            <a:pPr algn="l" marL="274320" indent="-274320">
              <a:lnSpc>
                <a:spcPct val="100000"/>
              </a:lnSpc>
              <a:buClr>
                <a:srgbClr val="F5A623"/>
              </a:buClr>
              <a:buFont typeface="Arial"/>
              <a:buChar char="•"/>
            </a:pPr>
            <a:r>
              <a:rPr sz="1600" b="0" i="0">
                <a:solidFill>
                  <a:srgbClr val="18232F"/>
                </a:solidFill>
                <a:latin typeface="Segoe UI"/>
              </a:rPr>
              <a:t>Every premium has two parts.</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NIFTY 50 is at 24,150 (illustrative; the practice option chain in Today's task uses the same numbers, 4 days before expiry). The 24,000 call is ITM by 150 points, and its premium is 210, so intrinsic value is 150 and time value is 60. The 24,300 call is OTM, and its premium of 61 is all time value. If NIFTY sits at 24,150 until expiry, the 24,000 call ends at 150 and the 24,300 call ends at zero. … Mirror image for puts: the 24,250 put is ITM by 100; its premium is 178, so intrinsic value is 100 and time value is 78.</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Time value melts fastest at the end</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an at-the-money NIFTY call with the index held flat at 24,150. Time value is about 331 points with 30 days left, 290 with 23, 160 with 7 and zero at expiry: the first week takes about 41 points, the last week about 160. The practice chain sits at 4 days left, where it is 121.</a:t>
            </a:r>
          </a:p>
        </p:txBody>
      </p:sp>
      <p:sp>
        <p:nvSpPr>
          <p:cNvPr id="12" name="TextBox 11"/>
          <p:cNvSpPr txBox="1"/>
          <p:nvPr/>
        </p:nvSpPr>
        <p:spPr>
          <a:xfrm>
            <a:off x="6397600" y="179679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Time value (points)</a:t>
            </a:r>
          </a:p>
        </p:txBody>
      </p:sp>
      <p:cxnSp>
        <p:nvCxnSpPr>
          <p:cNvPr id="13" name="Connector 12"/>
          <p:cNvCxnSpPr/>
          <p:nvPr/>
        </p:nvCxnSpPr>
        <p:spPr>
          <a:xfrm>
            <a:off x="6812159" y="45171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97600" y="44348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-26.5</a:t>
            </a:r>
          </a:p>
        </p:txBody>
      </p:sp>
      <p:cxnSp>
        <p:nvCxnSpPr>
          <p:cNvPr id="15" name="Connector 14"/>
          <p:cNvCxnSpPr/>
          <p:nvPr/>
        </p:nvCxnSpPr>
        <p:spPr>
          <a:xfrm>
            <a:off x="6812159" y="4001643"/>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97600" y="3919347"/>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69.5</a:t>
            </a:r>
          </a:p>
        </p:txBody>
      </p:sp>
      <p:cxnSp>
        <p:nvCxnSpPr>
          <p:cNvPr id="17" name="Connector 16"/>
          <p:cNvCxnSpPr/>
          <p:nvPr/>
        </p:nvCxnSpPr>
        <p:spPr>
          <a:xfrm>
            <a:off x="6812159" y="3486150"/>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3403854"/>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165.5</a:t>
            </a:r>
          </a:p>
        </p:txBody>
      </p:sp>
      <p:cxnSp>
        <p:nvCxnSpPr>
          <p:cNvPr id="19" name="Connector 18"/>
          <p:cNvCxnSpPr/>
          <p:nvPr/>
        </p:nvCxnSpPr>
        <p:spPr>
          <a:xfrm>
            <a:off x="6812159" y="2970657"/>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2888361"/>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261.5</a:t>
            </a:r>
          </a:p>
        </p:txBody>
      </p:sp>
      <p:cxnSp>
        <p:nvCxnSpPr>
          <p:cNvPr id="21" name="Connector 20"/>
          <p:cNvCxnSpPr/>
          <p:nvPr/>
        </p:nvCxnSpPr>
        <p:spPr>
          <a:xfrm>
            <a:off x="6812159" y="2455164"/>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237286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357.5</a:t>
            </a:r>
          </a:p>
        </p:txBody>
      </p:sp>
      <p:cxnSp>
        <p:nvCxnSpPr>
          <p:cNvPr id="23" name="Connector 22"/>
          <p:cNvCxnSpPr/>
          <p:nvPr/>
        </p:nvCxnSpPr>
        <p:spPr>
          <a:xfrm>
            <a:off x="10389659" y="2107692"/>
            <a:ext cx="0" cy="24094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435379" y="2016252"/>
            <a:ext cx="640638"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Last week</a:t>
            </a:r>
          </a:p>
        </p:txBody>
      </p:sp>
      <p:cxnSp>
        <p:nvCxnSpPr>
          <p:cNvPr id="25" name="Connector 24"/>
          <p:cNvCxnSpPr/>
          <p:nvPr/>
        </p:nvCxnSpPr>
        <p:spPr>
          <a:xfrm>
            <a:off x="11478463" y="2308860"/>
            <a:ext cx="0" cy="2208276"/>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1011137" y="2217420"/>
            <a:ext cx="421606"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Expiry</a:t>
            </a:r>
          </a:p>
        </p:txBody>
      </p:sp>
      <p:sp>
        <p:nvSpPr>
          <p:cNvPr id="27" name="Freeform 26"/>
          <p:cNvSpPr/>
          <p:nvPr/>
        </p:nvSpPr>
        <p:spPr>
          <a:xfrm>
            <a:off x="6812159" y="2597369"/>
            <a:ext cx="4666304" cy="1777562"/>
          </a:xfrm>
          <a:custGeom>
            <a:avLst/>
            <a:gdLst/>
            <a:ahLst/>
            <a:cxnLst/>
            <a:rect l="l" t="t" r="r" b="b"/>
            <a:pathLst>
              <a:path w="4666304" h="1777562">
                <a:moveTo>
                  <a:pt x="0" y="0"/>
                </a:moveTo>
                <a:lnTo>
                  <a:pt x="155544" y="26851"/>
                </a:lnTo>
                <a:lnTo>
                  <a:pt x="311087" y="59073"/>
                </a:lnTo>
                <a:lnTo>
                  <a:pt x="466631" y="91295"/>
                </a:lnTo>
                <a:lnTo>
                  <a:pt x="622174" y="118146"/>
                </a:lnTo>
                <a:lnTo>
                  <a:pt x="777718" y="150368"/>
                </a:lnTo>
                <a:lnTo>
                  <a:pt x="933261" y="187960"/>
                </a:lnTo>
                <a:lnTo>
                  <a:pt x="1088805" y="220181"/>
                </a:lnTo>
                <a:lnTo>
                  <a:pt x="1244348" y="252403"/>
                </a:lnTo>
                <a:lnTo>
                  <a:pt x="1399892" y="289995"/>
                </a:lnTo>
                <a:lnTo>
                  <a:pt x="1555435" y="322217"/>
                </a:lnTo>
                <a:lnTo>
                  <a:pt x="1710978" y="359809"/>
                </a:lnTo>
                <a:lnTo>
                  <a:pt x="1866522" y="397401"/>
                </a:lnTo>
                <a:lnTo>
                  <a:pt x="2022065" y="434992"/>
                </a:lnTo>
                <a:lnTo>
                  <a:pt x="2177609" y="477955"/>
                </a:lnTo>
                <a:lnTo>
                  <a:pt x="2333152" y="520917"/>
                </a:lnTo>
                <a:lnTo>
                  <a:pt x="2488696" y="563879"/>
                </a:lnTo>
                <a:lnTo>
                  <a:pt x="2644239" y="606841"/>
                </a:lnTo>
                <a:lnTo>
                  <a:pt x="2799783" y="649804"/>
                </a:lnTo>
                <a:lnTo>
                  <a:pt x="2955326" y="698136"/>
                </a:lnTo>
                <a:lnTo>
                  <a:pt x="3110870" y="751839"/>
                </a:lnTo>
                <a:lnTo>
                  <a:pt x="3266413" y="800171"/>
                </a:lnTo>
                <a:lnTo>
                  <a:pt x="3421957" y="859244"/>
                </a:lnTo>
                <a:lnTo>
                  <a:pt x="3577500" y="918318"/>
                </a:lnTo>
                <a:lnTo>
                  <a:pt x="3733043" y="982761"/>
                </a:lnTo>
                <a:lnTo>
                  <a:pt x="3888587" y="1052574"/>
                </a:lnTo>
                <a:lnTo>
                  <a:pt x="4044130" y="1127758"/>
                </a:lnTo>
                <a:lnTo>
                  <a:pt x="4199674" y="1213683"/>
                </a:lnTo>
                <a:lnTo>
                  <a:pt x="4355217" y="1315718"/>
                </a:lnTo>
                <a:lnTo>
                  <a:pt x="4510761" y="1449975"/>
                </a:lnTo>
                <a:lnTo>
                  <a:pt x="4666304" y="1777562"/>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159" y="455371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Days left to expiry: 30 on the left, 0 on the right</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Intrinsic value stays if the price stays. Time value melts every day, whether you watch it or not.</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Payoff at expiry: who can lose how much</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 payoff chart shows the profit or loss at expiry for every possible price.</a:t>
            </a:r>
          </a:p>
          <a:p>
            <a:pPr algn="l" marL="274320" indent="-274320">
              <a:lnSpc>
                <a:spcPct val="100000"/>
              </a:lnSpc>
              <a:spcAft>
                <a:spcPts val="800"/>
              </a:spcAft>
              <a:buClr>
                <a:srgbClr val="F5A623"/>
              </a:buClr>
              <a:buFont typeface="Arial"/>
              <a:buChar char="•"/>
            </a:pPr>
            <a:r>
              <a:rPr sz="1600" b="0" i="0">
                <a:solidFill>
                  <a:srgbClr val="18232F"/>
                </a:solidFill>
                <a:latin typeface="Segoe UI"/>
              </a:rPr>
              <a:t>A futures buyer gains or loses one rupee for every rupee the price moves, in both directions.</a:t>
            </a:r>
          </a:p>
          <a:p>
            <a:pPr algn="l" marL="274320" indent="-274320">
              <a:lnSpc>
                <a:spcPct val="100000"/>
              </a:lnSpc>
              <a:buClr>
                <a:srgbClr val="F5A623"/>
              </a:buClr>
              <a:buFont typeface="Arial"/>
              <a:buChar char="•"/>
            </a:pPr>
            <a:r>
              <a:rPr sz="1600" b="0" i="0">
                <a:solidFill>
                  <a:srgbClr val="18232F"/>
                </a:solidFill>
                <a:latin typeface="Segoe UI"/>
              </a:rPr>
              <a:t>A call buyer loses the full premium if the price ends at or below the strike, and makes money only above the breakeven, which is the strike plus the premium.</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Now a fresh example, not the 210 call above: a 24,000 NIFTY call bought at 100 points. At expiry, if NIFTY ends at 23,800 or at 24,000, the buyer loses 100 points. At 24,100 he is at breakeven, and at 24,400 he gains 300 points. The seller has the opposite result at every level: plus 100 at 24,000, zero at 24,100 and minus 300 at 24,400. A futures buyer at 24,000 would be minus 200 at 23,800 and plus 400 at 24,400. These are per-unit, illustrative figures; one lot multiplies them many times over.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Payoff at expiry, per unit</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per unit: a 24,000 call bought at 100, and a future bought at 24,000. X-axis: 23,500 to 24,500 in steps of 100. Each line crosses 0 where it breaks even: the future at 24,000, the call buyer and seller at 24,100.</a:t>
            </a:r>
          </a:p>
        </p:txBody>
      </p:sp>
      <p:sp>
        <p:nvSpPr>
          <p:cNvPr id="12" name="Rectangle 11"/>
          <p:cNvSpPr/>
          <p:nvPr/>
        </p:nvSpPr>
        <p:spPr>
          <a:xfrm>
            <a:off x="6769329"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098513" y="1796796"/>
            <a:ext cx="841896"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Futures buyer</a:t>
            </a:r>
          </a:p>
        </p:txBody>
      </p:sp>
      <p:sp>
        <p:nvSpPr>
          <p:cNvPr id="14" name="Rectangle 13"/>
          <p:cNvSpPr/>
          <p:nvPr/>
        </p:nvSpPr>
        <p:spPr>
          <a:xfrm>
            <a:off x="8214729" y="1860804"/>
            <a:ext cx="256032" cy="6400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543913" y="1796796"/>
            <a:ext cx="624777"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Call buyer</a:t>
            </a:r>
          </a:p>
        </p:txBody>
      </p:sp>
      <p:sp>
        <p:nvSpPr>
          <p:cNvPr id="16" name="Rectangle 15"/>
          <p:cNvSpPr/>
          <p:nvPr/>
        </p:nvSpPr>
        <p:spPr>
          <a:xfrm>
            <a:off x="9443010" y="1860804"/>
            <a:ext cx="256032" cy="6400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9772194" y="1796796"/>
            <a:ext cx="597150"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Call seller</a:t>
            </a:r>
          </a:p>
        </p:txBody>
      </p:sp>
      <p:sp>
        <p:nvSpPr>
          <p:cNvPr id="18" name="TextBox 17"/>
          <p:cNvSpPr txBox="1"/>
          <p:nvPr/>
        </p:nvSpPr>
        <p:spPr>
          <a:xfrm>
            <a:off x="6397600" y="2071116"/>
            <a:ext cx="2657729"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Points</a:t>
            </a:r>
          </a:p>
        </p:txBody>
      </p:sp>
      <p:cxnSp>
        <p:nvCxnSpPr>
          <p:cNvPr id="19" name="Connector 18"/>
          <p:cNvCxnSpPr/>
          <p:nvPr/>
        </p:nvCxnSpPr>
        <p:spPr>
          <a:xfrm>
            <a:off x="6769329" y="467715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59486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-580</a:t>
            </a:r>
          </a:p>
        </p:txBody>
      </p:sp>
      <p:cxnSp>
        <p:nvCxnSpPr>
          <p:cNvPr id="21" name="Connector 20"/>
          <p:cNvCxnSpPr/>
          <p:nvPr/>
        </p:nvCxnSpPr>
        <p:spPr>
          <a:xfrm>
            <a:off x="6769329" y="413994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405765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-290</a:t>
            </a:r>
          </a:p>
        </p:txBody>
      </p:sp>
      <p:cxnSp>
        <p:nvCxnSpPr>
          <p:cNvPr id="23" name="Connector 22"/>
          <p:cNvCxnSpPr/>
          <p:nvPr/>
        </p:nvCxnSpPr>
        <p:spPr>
          <a:xfrm>
            <a:off x="6769329" y="360273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52044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0</a:t>
            </a:r>
          </a:p>
        </p:txBody>
      </p:sp>
      <p:cxnSp>
        <p:nvCxnSpPr>
          <p:cNvPr id="25" name="Connector 24"/>
          <p:cNvCxnSpPr/>
          <p:nvPr/>
        </p:nvCxnSpPr>
        <p:spPr>
          <a:xfrm>
            <a:off x="6769329" y="306552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98323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290</a:t>
            </a:r>
          </a:p>
        </p:txBody>
      </p:sp>
      <p:cxnSp>
        <p:nvCxnSpPr>
          <p:cNvPr id="27" name="Connector 26"/>
          <p:cNvCxnSpPr/>
          <p:nvPr/>
        </p:nvCxnSpPr>
        <p:spPr>
          <a:xfrm>
            <a:off x="6769329" y="2528316"/>
            <a:ext cx="470913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97600" y="2446020"/>
            <a:ext cx="28028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580</a:t>
            </a:r>
          </a:p>
        </p:txBody>
      </p:sp>
      <p:cxnSp>
        <p:nvCxnSpPr>
          <p:cNvPr id="29" name="Connector 28"/>
          <p:cNvCxnSpPr/>
          <p:nvPr/>
        </p:nvCxnSpPr>
        <p:spPr>
          <a:xfrm>
            <a:off x="9123896"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169616" y="2290572"/>
            <a:ext cx="396447"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Strike</a:t>
            </a:r>
          </a:p>
        </p:txBody>
      </p:sp>
      <p:cxnSp>
        <p:nvCxnSpPr>
          <p:cNvPr id="31" name="Connector 30"/>
          <p:cNvCxnSpPr/>
          <p:nvPr/>
        </p:nvCxnSpPr>
        <p:spPr>
          <a:xfrm>
            <a:off x="9594809"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640529" y="2290572"/>
            <a:ext cx="682043"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Breakeven</a:t>
            </a:r>
          </a:p>
        </p:txBody>
      </p:sp>
      <p:sp>
        <p:nvSpPr>
          <p:cNvPr id="33" name="Freeform 32"/>
          <p:cNvSpPr/>
          <p:nvPr/>
        </p:nvSpPr>
        <p:spPr>
          <a:xfrm>
            <a:off x="6769329" y="2676512"/>
            <a:ext cx="4709134" cy="1852448"/>
          </a:xfrm>
          <a:custGeom>
            <a:avLst/>
            <a:gdLst/>
            <a:ahLst/>
            <a:cxnLst/>
            <a:rect l="l" t="t" r="r" b="b"/>
            <a:pathLst>
              <a:path w="4709134" h="1852448">
                <a:moveTo>
                  <a:pt x="0" y="1852448"/>
                </a:moveTo>
                <a:lnTo>
                  <a:pt x="470913" y="1667203"/>
                </a:lnTo>
                <a:lnTo>
                  <a:pt x="941827" y="1481958"/>
                </a:lnTo>
                <a:lnTo>
                  <a:pt x="1412740" y="1296714"/>
                </a:lnTo>
                <a:lnTo>
                  <a:pt x="1883653" y="1111469"/>
                </a:lnTo>
                <a:lnTo>
                  <a:pt x="2354567" y="926224"/>
                </a:lnTo>
                <a:lnTo>
                  <a:pt x="2825480" y="740979"/>
                </a:lnTo>
                <a:lnTo>
                  <a:pt x="3296394" y="555734"/>
                </a:lnTo>
                <a:lnTo>
                  <a:pt x="3767307" y="370490"/>
                </a:lnTo>
                <a:lnTo>
                  <a:pt x="4238221" y="185245"/>
                </a:lnTo>
                <a:lnTo>
                  <a:pt x="4709134" y="0"/>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769329" y="2861757"/>
            <a:ext cx="4709134" cy="926224"/>
          </a:xfrm>
          <a:custGeom>
            <a:avLst/>
            <a:gdLst/>
            <a:ahLst/>
            <a:cxnLst/>
            <a:rect l="l" t="t" r="r" b="b"/>
            <a:pathLst>
              <a:path w="4709134" h="926224">
                <a:moveTo>
                  <a:pt x="0" y="926224"/>
                </a:moveTo>
                <a:lnTo>
                  <a:pt x="470913" y="926224"/>
                </a:lnTo>
                <a:lnTo>
                  <a:pt x="941827" y="926224"/>
                </a:lnTo>
                <a:lnTo>
                  <a:pt x="1412740" y="926224"/>
                </a:lnTo>
                <a:lnTo>
                  <a:pt x="1883653" y="926224"/>
                </a:lnTo>
                <a:lnTo>
                  <a:pt x="2354567" y="926224"/>
                </a:lnTo>
                <a:lnTo>
                  <a:pt x="2825480" y="740979"/>
                </a:lnTo>
                <a:lnTo>
                  <a:pt x="3296394" y="555734"/>
                </a:lnTo>
                <a:lnTo>
                  <a:pt x="3767307" y="370489"/>
                </a:lnTo>
                <a:lnTo>
                  <a:pt x="4238221" y="185245"/>
                </a:lnTo>
                <a:lnTo>
                  <a:pt x="4709134" y="0"/>
                </a:lnTo>
              </a:path>
            </a:pathLst>
          </a:custGeom>
          <a:noFill/>
          <a:ln w="28575">
            <a:solidFill>
              <a:srgbClr val="16A34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769329" y="3417491"/>
            <a:ext cx="4709134" cy="926224"/>
          </a:xfrm>
          <a:custGeom>
            <a:avLst/>
            <a:gdLst/>
            <a:ahLst/>
            <a:cxnLst/>
            <a:rect l="l" t="t" r="r" b="b"/>
            <a:pathLst>
              <a:path w="4709134" h="926224">
                <a:moveTo>
                  <a:pt x="0" y="0"/>
                </a:moveTo>
                <a:lnTo>
                  <a:pt x="470913" y="0"/>
                </a:lnTo>
                <a:lnTo>
                  <a:pt x="941827" y="0"/>
                </a:lnTo>
                <a:lnTo>
                  <a:pt x="1412740" y="0"/>
                </a:lnTo>
                <a:lnTo>
                  <a:pt x="1883653" y="0"/>
                </a:lnTo>
                <a:lnTo>
                  <a:pt x="2354567" y="0"/>
                </a:lnTo>
                <a:lnTo>
                  <a:pt x="2825480" y="185245"/>
                </a:lnTo>
                <a:lnTo>
                  <a:pt x="3296394" y="370490"/>
                </a:lnTo>
                <a:lnTo>
                  <a:pt x="3767307" y="555735"/>
                </a:lnTo>
                <a:lnTo>
                  <a:pt x="4238221" y="740979"/>
                </a:lnTo>
                <a:lnTo>
                  <a:pt x="4709134" y="926224"/>
                </a:lnTo>
              </a:path>
            </a:pathLst>
          </a:custGeom>
          <a:noFill/>
          <a:ln w="28575">
            <a:solidFill>
              <a:srgbClr val="F055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9329" y="4713732"/>
            <a:ext cx="4709135"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NIFTY at expiry</a:t>
            </a:r>
          </a:p>
        </p:txBody>
      </p:sp>
      <p:sp>
        <p:nvSpPr>
          <p:cNvPr id="37" name="Rounded Rectangle 3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ounded Rectangle 37"/>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9" name="TextBox 38"/>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The buyer's worst case is the premium. The seller's best case is the premium.</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Expiry, delivery and the option-chain words</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Index F&amp;O, such as NIFTY 50 contracts, is settled in cash: only the profit or loss moves.</a:t>
            </a:r>
          </a:p>
          <a:p>
            <a:pPr algn="l" marL="274320" indent="-274320">
              <a:lnSpc>
                <a:spcPct val="100000"/>
              </a:lnSpc>
              <a:spcAft>
                <a:spcPts val="750"/>
              </a:spcAft>
              <a:buClr>
                <a:srgbClr val="F5A623"/>
              </a:buClr>
              <a:buFont typeface="Arial"/>
              <a:buChar char="•"/>
            </a:pPr>
            <a:r>
              <a:rPr sz="1500" b="0" i="0">
                <a:solidFill>
                  <a:srgbClr val="18232F"/>
                </a:solidFill>
                <a:latin typeface="Segoe UI"/>
              </a:rPr>
              <a:t>Stock F&amp;O held to expiry is physically settled.</a:t>
            </a:r>
          </a:p>
          <a:p>
            <a:pPr algn="l" marL="274320" indent="-274320">
              <a:lnSpc>
                <a:spcPct val="100000"/>
              </a:lnSpc>
              <a:spcAft>
                <a:spcPts val="750"/>
              </a:spcAft>
              <a:buClr>
                <a:srgbClr val="F5A623"/>
              </a:buClr>
              <a:buFont typeface="Arial"/>
              <a:buChar char="•"/>
            </a:pPr>
            <a:r>
              <a:rPr sz="1500" b="0" i="0">
                <a:solidFill>
                  <a:srgbClr val="18232F"/>
                </a:solidFill>
                <a:latin typeface="Segoe UI"/>
              </a:rPr>
              <a:t>A stock-future buyer or ITM call buyer may have to pay in full and take the shares.</a:t>
            </a:r>
          </a:p>
          <a:p>
            <a:pPr algn="l" marL="274320" indent="-274320">
              <a:lnSpc>
                <a:spcPct val="100000"/>
              </a:lnSpc>
              <a:buClr>
                <a:srgbClr val="F5A623"/>
              </a:buClr>
              <a:buFont typeface="Arial"/>
              <a:buChar char="•"/>
            </a:pPr>
            <a:r>
              <a:rPr sz="1500" b="0" i="0">
                <a:solidFill>
                  <a:srgbClr val="18232F"/>
                </a:solidFill>
                <a:latin typeface="Segoe UI"/>
              </a:rPr>
              <a:t>A future seller or ITM put buyer may have to hand over shares, and option sellers carry the mirror duty.</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Suppose Aman's colleague forgets to close a Bharat Pumps Ltd 780 call before expiry. The share closes at Rs 800 on expiry day, so the call is ITM. With a made-up lot of 2,000 shares, he may now have to pay 2,000 x Rs 780 = Rs 15,60,000 and take delivery of the shares. A small bet has turned into a demand for lakhs of rupees. Near expiry the exchange asks for extra margin on such positions and many brokers close them early; each broker's rules differ. One more thing, on an option chain: in the practice chain in Today's task, the 24,300 call shows 1,41,280 contracts open. Each of those contracts has a buyer on one side and a seller on the other, so the big number alone says nothing about which way NIFTY will go.</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stock call left open at expiry</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case from the example: a lot of 2,000 Bharat Pumps Ltd shares. Index options such as NIFTY settle in cash instead. Each broker's near-expiry rules differ.</a:t>
            </a:r>
          </a:p>
        </p:txBody>
      </p:sp>
      <p:sp>
        <p:nvSpPr>
          <p:cNvPr id="11" name="Rounded Rectangle 10"/>
          <p:cNvSpPr/>
          <p:nvPr/>
        </p:nvSpPr>
        <p:spPr>
          <a:xfrm>
            <a:off x="640080" y="4375404"/>
            <a:ext cx="1875069" cy="822960"/>
          </a:xfrm>
          <a:prstGeom prst="roundRect">
            <a:avLst>
              <a:gd name="adj" fmla="val 11111"/>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780 call not closed</a:t>
            </a:r>
          </a:p>
          <a:p>
            <a:pPr algn="ctr">
              <a:lnSpc>
                <a:spcPct val="100000"/>
              </a:lnSpc>
            </a:pPr>
            <a:r>
              <a:rPr sz="1200" b="0" i="0">
                <a:solidFill>
                  <a:srgbClr val="47596B"/>
                </a:solidFill>
                <a:latin typeface="Segoe UI"/>
              </a:rPr>
              <a:t>Expiry day arrives</a:t>
            </a:r>
          </a:p>
        </p:txBody>
      </p:sp>
      <p:sp>
        <p:nvSpPr>
          <p:cNvPr id="13" name="Right Arrow 12"/>
          <p:cNvSpPr/>
          <p:nvPr/>
        </p:nvSpPr>
        <p:spPr>
          <a:xfrm>
            <a:off x="257001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2899197" y="4375404"/>
            <a:ext cx="187506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3008925"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Share closes Rs 800</a:t>
            </a:r>
          </a:p>
          <a:p>
            <a:pPr algn="ctr">
              <a:lnSpc>
                <a:spcPct val="100000"/>
              </a:lnSpc>
            </a:pPr>
            <a:r>
              <a:rPr sz="1200" b="0" i="0">
                <a:solidFill>
                  <a:srgbClr val="47596B"/>
                </a:solidFill>
                <a:latin typeface="Segoe UI"/>
              </a:rPr>
              <a:t>ITM by Rs 20</a:t>
            </a:r>
          </a:p>
        </p:txBody>
      </p:sp>
      <p:sp>
        <p:nvSpPr>
          <p:cNvPr id="16" name="Right Arrow 15"/>
          <p:cNvSpPr/>
          <p:nvPr/>
        </p:nvSpPr>
        <p:spPr>
          <a:xfrm>
            <a:off x="4829129"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5158313" y="4375404"/>
            <a:ext cx="1875069"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5268041"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Exercised</a:t>
            </a:r>
          </a:p>
          <a:p>
            <a:pPr algn="ctr">
              <a:lnSpc>
                <a:spcPct val="100000"/>
              </a:lnSpc>
            </a:pPr>
            <a:r>
              <a:rPr sz="1200" b="0" i="0">
                <a:solidFill>
                  <a:srgbClr val="47596B"/>
                </a:solidFill>
                <a:latin typeface="Segoe UI"/>
              </a:rPr>
              <a:t>Normally automatic</a:t>
            </a:r>
          </a:p>
        </p:txBody>
      </p:sp>
      <p:sp>
        <p:nvSpPr>
          <p:cNvPr id="19" name="Right Arrow 18"/>
          <p:cNvSpPr/>
          <p:nvPr/>
        </p:nvSpPr>
        <p:spPr>
          <a:xfrm>
            <a:off x="7088246"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7417430" y="4375404"/>
            <a:ext cx="1875069"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527158"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Pay Rs 15,60,000</a:t>
            </a:r>
          </a:p>
          <a:p>
            <a:pPr algn="ctr">
              <a:lnSpc>
                <a:spcPct val="100000"/>
              </a:lnSpc>
            </a:pPr>
            <a:r>
              <a:rPr sz="1200" b="0" i="0">
                <a:solidFill>
                  <a:srgbClr val="47596B"/>
                </a:solidFill>
                <a:latin typeface="Segoe UI"/>
              </a:rPr>
              <a:t>2,000 x Rs 780</a:t>
            </a:r>
          </a:p>
        </p:txBody>
      </p:sp>
      <p:sp>
        <p:nvSpPr>
          <p:cNvPr id="22" name="Right Arrow 21"/>
          <p:cNvSpPr/>
          <p:nvPr/>
        </p:nvSpPr>
        <p:spPr>
          <a:xfrm>
            <a:off x="934736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9676547" y="4375404"/>
            <a:ext cx="187506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9786275" y="4375404"/>
            <a:ext cx="165561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Shares delivered</a:t>
            </a:r>
          </a:p>
          <a:p>
            <a:pPr algn="ctr">
              <a:lnSpc>
                <a:spcPct val="100000"/>
              </a:lnSpc>
            </a:pPr>
            <a:r>
              <a:rPr sz="1200" b="0" i="0">
                <a:solidFill>
                  <a:srgbClr val="47596B"/>
                </a:solidFill>
                <a:latin typeface="Segoe UI"/>
              </a:rPr>
              <a:t>2,000 shares to the demat</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Stock F&amp;O held to expiry can turn into delivery. OI counts open contracts; it does not tell direction.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Lottery ticket or insurance?</a:t>
            </a:r>
          </a:p>
        </p:txBody>
      </p:sp>
      <p:sp>
        <p:nvSpPr>
          <p:cNvPr id="4" name="TextBox 3"/>
          <p:cNvSpPr txBox="1"/>
          <p:nvPr/>
        </p:nvSpPr>
        <p:spPr>
          <a:xfrm>
            <a:off x="457200" y="1335024"/>
            <a:ext cx="5519776" cy="21590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The only F&amp;O-loss figure this course quotes.</a:t>
            </a:r>
          </a:p>
          <a:p>
            <a:pPr algn="l" marL="274320" indent="-274320">
              <a:lnSpc>
                <a:spcPct val="100000"/>
              </a:lnSpc>
              <a:spcAft>
                <a:spcPts val="800"/>
              </a:spcAft>
              <a:buClr>
                <a:srgbClr val="F5A623"/>
              </a:buClr>
              <a:buFont typeface="Arial"/>
              <a:buChar char="•"/>
            </a:pPr>
            <a:r>
              <a:rPr sz="1600" b="0" i="0">
                <a:solidFill>
                  <a:srgbClr val="18232F"/>
                </a:solidFill>
                <a:latin typeface="Segoe UI"/>
              </a:rPr>
              <a:t>The study reports outcomes, not the reason behind each loss.</a:t>
            </a:r>
          </a:p>
          <a:p>
            <a:pPr algn="l" marL="274320" indent="-274320">
              <a:lnSpc>
                <a:spcPct val="100000"/>
              </a:lnSpc>
              <a:spcAft>
                <a:spcPts val="800"/>
              </a:spcAft>
              <a:buClr>
                <a:srgbClr val="F5A623"/>
              </a:buClr>
              <a:buFont typeface="Arial"/>
              <a:buChar char="•"/>
            </a:pPr>
            <a:r>
              <a:rPr sz="1600" b="0" i="0">
                <a:solidFill>
                  <a:srgbClr val="18232F"/>
                </a:solidFill>
                <a:latin typeface="Segoe UI"/>
              </a:rPr>
              <a:t>Separately, as this course's own teaching view.</a:t>
            </a:r>
          </a:p>
          <a:p>
            <a:pPr algn="l" marL="274320" indent="-274320">
              <a:lnSpc>
                <a:spcPct val="100000"/>
              </a:lnSpc>
              <a:spcAft>
                <a:spcPts val="800"/>
              </a:spcAft>
              <a:buClr>
                <a:srgbClr val="F5A623"/>
              </a:buClr>
              <a:buFont typeface="Arial"/>
              <a:buChar char="•"/>
            </a:pPr>
            <a:r>
              <a:rPr sz="1600" b="0" i="0">
                <a:solidFill>
                  <a:srgbClr val="18232F"/>
                </a:solidFill>
                <a:latin typeface="Segoe UI"/>
              </a:rPr>
              <a:t>Losing a small premium again and again is still losing, like the No.</a:t>
            </a:r>
          </a:p>
          <a:p>
            <a:pPr algn="l" marL="274320" indent="-274320">
              <a:lnSpc>
                <a:spcPct val="100000"/>
              </a:lnSpc>
              <a:buClr>
                <a:srgbClr val="F5A623"/>
              </a:buClr>
              <a:buFont typeface="Arial"/>
              <a:buChar char="•"/>
            </a:pPr>
            <a:r>
              <a:rPr sz="1600" b="0" i="0">
                <a:solidFill>
                  <a:srgbClr val="18232F"/>
                </a:solidFill>
                <a:latin typeface="Segoe UI"/>
              </a:rPr>
              <a:t>11 batter being backed for a century every match.</a:t>
            </a:r>
          </a:p>
        </p:txBody>
      </p:sp>
      <p:sp>
        <p:nvSpPr>
          <p:cNvPr id="5" name="Rounded Rectangle 4"/>
          <p:cNvSpPr/>
          <p:nvPr/>
        </p:nvSpPr>
        <p:spPr>
          <a:xfrm>
            <a:off x="457200" y="3649472"/>
            <a:ext cx="5519776" cy="1964944"/>
          </a:xfrm>
          <a:prstGeom prst="roundRect">
            <a:avLst>
              <a:gd name="adj" fmla="val 558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7774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33520"/>
            <a:ext cx="5154016" cy="15077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In a made-up case, Mr Verma, a long-time investor, holds Bharat Pumps Ltd shares bought at Rs 800 and pays Rs 15 a share for a 760 put. If the share crashes to Rs 680, the put is worth Rs 80 at expiry, so his loss is Rs 55 a share (Rs 40 down to the strike plus the Rs 15 premium) instead of Rs 120. Held to expiry, this stock put settles by delivery: he hands over the shares at Rs 760, which gives the same Rs 55 loss. … And one lot is usually far bigger than a beginner's portfolio, so for small amounts the cheapest hedge is a smaller position or more cash.</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What the put changes, per share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case: shares bought at Rs 800 fall to Rs 680; a 760 put cost Rs 15. The Rs 15 premium is paid in every case, even if the share rises.</a:t>
            </a:r>
          </a:p>
        </p:txBody>
      </p:sp>
      <p:sp>
        <p:nvSpPr>
          <p:cNvPr id="11" name="TextBox 10"/>
          <p:cNvSpPr txBox="1"/>
          <p:nvPr/>
        </p:nvSpPr>
        <p:spPr>
          <a:xfrm>
            <a:off x="6397600" y="2448306"/>
            <a:ext cx="120895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No hedge</a:t>
            </a:r>
          </a:p>
        </p:txBody>
      </p:sp>
      <p:sp>
        <p:nvSpPr>
          <p:cNvPr id="12" name="Rounded Rectangle 11"/>
          <p:cNvSpPr/>
          <p:nvPr/>
        </p:nvSpPr>
        <p:spPr>
          <a:xfrm>
            <a:off x="7716286" y="2622042"/>
            <a:ext cx="298929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716286" y="2622042"/>
            <a:ext cx="2989290"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797017" y="2448306"/>
            <a:ext cx="782030"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-Rs 120</a:t>
            </a:r>
          </a:p>
        </p:txBody>
      </p:sp>
      <p:sp>
        <p:nvSpPr>
          <p:cNvPr id="15" name="TextBox 14"/>
          <p:cNvSpPr txBox="1"/>
          <p:nvPr/>
        </p:nvSpPr>
        <p:spPr>
          <a:xfrm>
            <a:off x="6397600" y="3106674"/>
            <a:ext cx="120895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With the put</a:t>
            </a:r>
          </a:p>
        </p:txBody>
      </p:sp>
      <p:sp>
        <p:nvSpPr>
          <p:cNvPr id="16" name="Rounded Rectangle 15"/>
          <p:cNvSpPr/>
          <p:nvPr/>
        </p:nvSpPr>
        <p:spPr>
          <a:xfrm>
            <a:off x="7716286" y="3280410"/>
            <a:ext cx="298929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716286" y="3280410"/>
            <a:ext cx="1370091"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797017" y="3106674"/>
            <a:ext cx="782030"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-Rs 55</a:t>
            </a:r>
          </a:p>
        </p:txBody>
      </p:sp>
      <p:sp>
        <p:nvSpPr>
          <p:cNvPr id="19" name="TextBox 18"/>
          <p:cNvSpPr txBox="1"/>
          <p:nvPr/>
        </p:nvSpPr>
        <p:spPr>
          <a:xfrm>
            <a:off x="6397600" y="3765042"/>
            <a:ext cx="1208959"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Premium paid</a:t>
            </a:r>
          </a:p>
        </p:txBody>
      </p:sp>
      <p:sp>
        <p:nvSpPr>
          <p:cNvPr id="20" name="Rounded Rectangle 19"/>
          <p:cNvSpPr/>
          <p:nvPr/>
        </p:nvSpPr>
        <p:spPr>
          <a:xfrm>
            <a:off x="7716286" y="3938778"/>
            <a:ext cx="298929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716286" y="3938778"/>
            <a:ext cx="373661"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797017" y="3765042"/>
            <a:ext cx="782030"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-Rs 15</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5" name="TextBox 2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Cheap is not the same as low risk. In Stage 1, F&amp;O is for understanding only: samjho, khelo mat.</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Futures contract</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deal to buy or sell a fixed quantity (one lot) at a price agreed today, on a set expiry date. Both sides are bound to it.</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Margin and MTM</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Margin is the deposit the broker blocks. MTM (mark-to-market) settles the day's profit or loss in cash every evening; a loss can exceed the margin.</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Leverage</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Controlling a big contract value with a small deposit. Contract value ÷ margin gives the multiple: Rs 16 lakh ÷ Rs 3.2 lakh = 5 times, so a 1% move in the share is 5% of your margin, in either direction.</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Call (CE) and put (PE)</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call is the right to buy, a put the right to sell, at the strike price on expiry. The buyer pays a premium for the right; the seller carries the duty.</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ITM, ATM, OTM</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Where the strike sits against the current price. For a call: strike below the current price = in the money, near it = at the money, above it = out of the money. Mirror image for a put.</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Intrinsic value and time value</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Intrinsic value is what the option is worth if it expired now. Time value is the rest of the premium; it shrinks towards zero by expiry (time decay).</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6829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Open interest (OI)</a:t>
            </a:r>
          </a:p>
        </p:txBody>
      </p:sp>
      <p:sp>
        <p:nvSpPr>
          <p:cNvPr id="24" name="TextBox 23"/>
          <p:cNvSpPr txBox="1"/>
          <p:nvPr/>
        </p:nvSpPr>
        <p:spPr>
          <a:xfrm>
            <a:off x="658368"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number of F&amp;O contracts still open. Each one has a buyer and a seller, so OI shows how much is open, not the market's direction.</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6829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Physical settlement</a:t>
            </a:r>
          </a:p>
        </p:txBody>
      </p:sp>
      <p:sp>
        <p:nvSpPr>
          <p:cNvPr id="27" name="TextBox 26"/>
          <p:cNvSpPr txBox="1"/>
          <p:nvPr/>
        </p:nvSpPr>
        <p:spPr>
          <a:xfrm>
            <a:off x="6379312"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Stock F&amp;O held to expiry settles by delivery: real shares and their full value change hands. Index F&amp;O such as NIFTY settles in cash.</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89988"/>
            <a:ext cx="502920" cy="161391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1391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89988"/>
            <a:ext cx="502920" cy="161391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1391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F&amp;O: samjho, khelo mat</a:t>
            </a:r>
          </a:p>
        </p:txBody>
      </p:sp>
      <p:sp>
        <p:nvSpPr>
          <p:cNvPr id="11" name="Rounded Rectangle 10"/>
          <p:cNvSpPr/>
          <p:nvPr/>
        </p:nvSpPr>
        <p:spPr>
          <a:xfrm>
            <a:off x="640080" y="1465326"/>
            <a:ext cx="3718408" cy="1449324"/>
          </a:xfrm>
          <a:prstGeom prst="roundRect">
            <a:avLst>
              <a:gd name="adj" fmla="val 757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75054"/>
            <a:ext cx="3425800"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Futures</a:t>
            </a:r>
          </a:p>
        </p:txBody>
      </p:sp>
      <p:sp>
        <p:nvSpPr>
          <p:cNvPr id="13" name="TextBox 12"/>
          <p:cNvSpPr txBox="1"/>
          <p:nvPr/>
        </p:nvSpPr>
        <p:spPr>
          <a:xfrm>
            <a:off x="786384" y="1914906"/>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0093D6"/>
              </a:buClr>
              <a:buFont typeface="Arial"/>
              <a:buChar char="•"/>
            </a:pPr>
            <a:r>
              <a:rPr sz="1600" b="0" i="0">
                <a:solidFill>
                  <a:srgbClr val="18232F"/>
                </a:solidFill>
                <a:latin typeface="Segoe UI"/>
              </a:rPr>
              <a:t>One lot = lakhs of exposure</a:t>
            </a:r>
          </a:p>
          <a:p>
            <a:pPr algn="l" marL="182880" indent="-182880">
              <a:lnSpc>
                <a:spcPct val="100000"/>
              </a:lnSpc>
              <a:spcAft>
                <a:spcPts val="480"/>
              </a:spcAft>
              <a:buClr>
                <a:srgbClr val="0093D6"/>
              </a:buClr>
              <a:buFont typeface="Arial"/>
              <a:buChar char="•"/>
            </a:pPr>
            <a:r>
              <a:rPr sz="1600" b="0" i="0">
                <a:solidFill>
                  <a:srgbClr val="18232F"/>
                </a:solidFill>
                <a:latin typeface="Segoe UI"/>
              </a:rPr>
              <a:t>MTM every evening</a:t>
            </a:r>
          </a:p>
          <a:p>
            <a:pPr algn="l" marL="182880" indent="-182880">
              <a:lnSpc>
                <a:spcPct val="100000"/>
              </a:lnSpc>
              <a:buClr>
                <a:srgbClr val="0093D6"/>
              </a:buClr>
              <a:buFont typeface="Arial"/>
              <a:buChar char="•"/>
            </a:pPr>
            <a:r>
              <a:rPr sz="1600" b="0" i="0">
                <a:solidFill>
                  <a:srgbClr val="18232F"/>
                </a:solidFill>
                <a:latin typeface="Segoe UI"/>
              </a:rPr>
              <a:t>Margin is not the max loss</a:t>
            </a:r>
          </a:p>
        </p:txBody>
      </p:sp>
      <p:sp>
        <p:nvSpPr>
          <p:cNvPr id="14" name="Rounded Rectangle 13"/>
          <p:cNvSpPr/>
          <p:nvPr/>
        </p:nvSpPr>
        <p:spPr>
          <a:xfrm>
            <a:off x="640080" y="3079242"/>
            <a:ext cx="3718408" cy="1449324"/>
          </a:xfrm>
          <a:prstGeom prst="roundRect">
            <a:avLst>
              <a:gd name="adj" fmla="val 757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88970"/>
            <a:ext cx="3425800"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Options</a:t>
            </a:r>
          </a:p>
        </p:txBody>
      </p:sp>
      <p:sp>
        <p:nvSpPr>
          <p:cNvPr id="16" name="TextBox 15"/>
          <p:cNvSpPr txBox="1"/>
          <p:nvPr/>
        </p:nvSpPr>
        <p:spPr>
          <a:xfrm>
            <a:off x="786384" y="3528822"/>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5A524"/>
              </a:buClr>
              <a:buFont typeface="Arial"/>
              <a:buChar char="•"/>
            </a:pPr>
            <a:r>
              <a:rPr sz="1600" b="0" i="0">
                <a:solidFill>
                  <a:srgbClr val="18232F"/>
                </a:solidFill>
                <a:latin typeface="Segoe UI"/>
              </a:rPr>
              <a:t>Call = right to buy</a:t>
            </a:r>
          </a:p>
          <a:p>
            <a:pPr algn="l" marL="182880" indent="-182880">
              <a:lnSpc>
                <a:spcPct val="100000"/>
              </a:lnSpc>
              <a:spcAft>
                <a:spcPts val="480"/>
              </a:spcAft>
              <a:buClr>
                <a:srgbClr val="F5A524"/>
              </a:buClr>
              <a:buFont typeface="Arial"/>
              <a:buChar char="•"/>
            </a:pPr>
            <a:r>
              <a:rPr sz="1600" b="0" i="0">
                <a:solidFill>
                  <a:srgbClr val="18232F"/>
                </a:solidFill>
                <a:latin typeface="Segoe UI"/>
              </a:rPr>
              <a:t>Put = right to sell</a:t>
            </a:r>
          </a:p>
          <a:p>
            <a:pPr algn="l" marL="182880" indent="-182880">
              <a:lnSpc>
                <a:spcPct val="100000"/>
              </a:lnSpc>
              <a:buClr>
                <a:srgbClr val="F5A524"/>
              </a:buClr>
              <a:buFont typeface="Arial"/>
              <a:buChar char="•"/>
            </a:pPr>
            <a:r>
              <a:rPr sz="1600" b="0" i="0">
                <a:solidFill>
                  <a:srgbClr val="18232F"/>
                </a:solidFill>
                <a:latin typeface="Segoe UI"/>
              </a:rPr>
              <a:t>Seller carries the duty</a:t>
            </a:r>
          </a:p>
        </p:txBody>
      </p:sp>
      <p:sp>
        <p:nvSpPr>
          <p:cNvPr id="17" name="Rounded Rectangle 16"/>
          <p:cNvSpPr/>
          <p:nvPr/>
        </p:nvSpPr>
        <p:spPr>
          <a:xfrm>
            <a:off x="640080" y="4693158"/>
            <a:ext cx="3718408" cy="1449324"/>
          </a:xfrm>
          <a:prstGeom prst="roundRect">
            <a:avLst>
              <a:gd name="adj" fmla="val 7570"/>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02886"/>
            <a:ext cx="3425800" cy="284988"/>
          </a:xfrm>
          <a:prstGeom prst="rect">
            <a:avLst/>
          </a:prstGeom>
          <a:noFill/>
        </p:spPr>
        <p:txBody>
          <a:bodyPr wrap="square" lIns="0" rIns="0" tIns="0" bIns="0" anchor="t">
            <a:noAutofit/>
          </a:bodyPr>
          <a:lstStyle/>
          <a:p>
            <a:pPr algn="l">
              <a:lnSpc>
                <a:spcPct val="100000"/>
              </a:lnSpc>
            </a:pPr>
            <a:r>
              <a:rPr sz="1750" b="1" i="0">
                <a:solidFill>
                  <a:srgbClr val="166534"/>
                </a:solidFill>
                <a:latin typeface="Segoe UI"/>
              </a:rPr>
              <a:t>Premium</a:t>
            </a:r>
          </a:p>
        </p:txBody>
      </p:sp>
      <p:sp>
        <p:nvSpPr>
          <p:cNvPr id="19" name="TextBox 18"/>
          <p:cNvSpPr txBox="1"/>
          <p:nvPr/>
        </p:nvSpPr>
        <p:spPr>
          <a:xfrm>
            <a:off x="786384" y="5142738"/>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16A34A"/>
              </a:buClr>
              <a:buFont typeface="Arial"/>
              <a:buChar char="•"/>
            </a:pPr>
            <a:r>
              <a:rPr sz="1600" b="0" i="0">
                <a:solidFill>
                  <a:srgbClr val="18232F"/>
                </a:solidFill>
                <a:latin typeface="Segoe UI"/>
              </a:rPr>
              <a:t>Intrinsic + time value</a:t>
            </a:r>
          </a:p>
          <a:p>
            <a:pPr algn="l" marL="182880" indent="-182880">
              <a:lnSpc>
                <a:spcPct val="100000"/>
              </a:lnSpc>
              <a:spcAft>
                <a:spcPts val="480"/>
              </a:spcAft>
              <a:buClr>
                <a:srgbClr val="16A34A"/>
              </a:buClr>
              <a:buFont typeface="Arial"/>
              <a:buChar char="•"/>
            </a:pPr>
            <a:r>
              <a:rPr sz="1600" b="0" i="0">
                <a:solidFill>
                  <a:srgbClr val="18232F"/>
                </a:solidFill>
                <a:latin typeface="Segoe UI"/>
              </a:rPr>
              <a:t>Melts fastest in the last week</a:t>
            </a:r>
          </a:p>
          <a:p>
            <a:pPr algn="l" marL="182880" indent="-182880">
              <a:lnSpc>
                <a:spcPct val="100000"/>
              </a:lnSpc>
              <a:buClr>
                <a:srgbClr val="16A34A"/>
              </a:buClr>
              <a:buFont typeface="Arial"/>
              <a:buChar char="•"/>
            </a:pPr>
            <a:r>
              <a:rPr sz="1600" b="0" i="0">
                <a:solidFill>
                  <a:srgbClr val="18232F"/>
                </a:solidFill>
                <a:latin typeface="Segoe UI"/>
              </a:rPr>
              <a:t>OTM = only time value</a:t>
            </a:r>
          </a:p>
        </p:txBody>
      </p:sp>
      <p:sp>
        <p:nvSpPr>
          <p:cNvPr id="20" name="Rounded Rectangle 19"/>
          <p:cNvSpPr/>
          <p:nvPr/>
        </p:nvSpPr>
        <p:spPr>
          <a:xfrm>
            <a:off x="7833208" y="1465326"/>
            <a:ext cx="3718408" cy="1449324"/>
          </a:xfrm>
          <a:prstGeom prst="roundRect">
            <a:avLst>
              <a:gd name="adj" fmla="val 757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575054"/>
            <a:ext cx="3425800" cy="284988"/>
          </a:xfrm>
          <a:prstGeom prst="rect">
            <a:avLst/>
          </a:prstGeom>
          <a:noFill/>
        </p:spPr>
        <p:txBody>
          <a:bodyPr wrap="square" lIns="0" rIns="0" tIns="0" bIns="0" anchor="t">
            <a:noAutofit/>
          </a:bodyPr>
          <a:lstStyle/>
          <a:p>
            <a:pPr algn="l">
              <a:lnSpc>
                <a:spcPct val="100000"/>
              </a:lnSpc>
            </a:pPr>
            <a:r>
              <a:rPr sz="1750" b="1" i="0">
                <a:solidFill>
                  <a:srgbClr val="095A90"/>
                </a:solidFill>
                <a:latin typeface="Segoe UI"/>
              </a:rPr>
              <a:t>Payoff</a:t>
            </a:r>
          </a:p>
        </p:txBody>
      </p:sp>
      <p:sp>
        <p:nvSpPr>
          <p:cNvPr id="22" name="TextBox 21"/>
          <p:cNvSpPr txBox="1"/>
          <p:nvPr/>
        </p:nvSpPr>
        <p:spPr>
          <a:xfrm>
            <a:off x="7979512" y="1914906"/>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0093D6"/>
              </a:buClr>
              <a:buFont typeface="Arial"/>
              <a:buChar char="•"/>
            </a:pPr>
            <a:r>
              <a:rPr sz="1600" b="0" i="0">
                <a:solidFill>
                  <a:srgbClr val="18232F"/>
                </a:solidFill>
                <a:latin typeface="Segoe UI"/>
              </a:rPr>
              <a:t>Call breakeven = strike + premium</a:t>
            </a:r>
          </a:p>
          <a:p>
            <a:pPr algn="l" marL="182880" indent="-182880">
              <a:lnSpc>
                <a:spcPct val="100000"/>
              </a:lnSpc>
              <a:spcAft>
                <a:spcPts val="480"/>
              </a:spcAft>
              <a:buClr>
                <a:srgbClr val="0093D6"/>
              </a:buClr>
              <a:buFont typeface="Arial"/>
              <a:buChar char="•"/>
            </a:pPr>
            <a:r>
              <a:rPr sz="1600" b="0" i="0">
                <a:solidFill>
                  <a:srgbClr val="18232F"/>
                </a:solidFill>
                <a:latin typeface="Segoe UI"/>
              </a:rPr>
              <a:t>Buyer's worst = premium</a:t>
            </a:r>
          </a:p>
          <a:p>
            <a:pPr algn="l" marL="182880" indent="-182880">
              <a:lnSpc>
                <a:spcPct val="100000"/>
              </a:lnSpc>
              <a:buClr>
                <a:srgbClr val="0093D6"/>
              </a:buClr>
              <a:buFont typeface="Arial"/>
              <a:buChar char="•"/>
            </a:pPr>
            <a:r>
              <a:rPr sz="1600" b="0" i="0">
                <a:solidFill>
                  <a:srgbClr val="18232F"/>
                </a:solidFill>
                <a:latin typeface="Segoe UI"/>
              </a:rPr>
              <a:t>Seller's best = premium</a:t>
            </a:r>
          </a:p>
        </p:txBody>
      </p:sp>
      <p:sp>
        <p:nvSpPr>
          <p:cNvPr id="23" name="Rounded Rectangle 22"/>
          <p:cNvSpPr/>
          <p:nvPr/>
        </p:nvSpPr>
        <p:spPr>
          <a:xfrm>
            <a:off x="7833208" y="3079242"/>
            <a:ext cx="3718408" cy="1449324"/>
          </a:xfrm>
          <a:prstGeom prst="roundRect">
            <a:avLst>
              <a:gd name="adj" fmla="val 7570"/>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88970"/>
            <a:ext cx="3425800"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Expiry and chain</a:t>
            </a:r>
          </a:p>
        </p:txBody>
      </p:sp>
      <p:sp>
        <p:nvSpPr>
          <p:cNvPr id="25" name="TextBox 24"/>
          <p:cNvSpPr txBox="1"/>
          <p:nvPr/>
        </p:nvSpPr>
        <p:spPr>
          <a:xfrm>
            <a:off x="7979512" y="3528822"/>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5A524"/>
              </a:buClr>
              <a:buFont typeface="Arial"/>
              <a:buChar char="•"/>
            </a:pPr>
            <a:r>
              <a:rPr sz="1600" b="0" i="0">
                <a:solidFill>
                  <a:srgbClr val="18232F"/>
                </a:solidFill>
                <a:latin typeface="Segoe UI"/>
              </a:rPr>
              <a:t>Index F&amp;O: cash-settled</a:t>
            </a:r>
          </a:p>
          <a:p>
            <a:pPr algn="l" marL="182880" indent="-182880">
              <a:lnSpc>
                <a:spcPct val="100000"/>
              </a:lnSpc>
              <a:spcAft>
                <a:spcPts val="480"/>
              </a:spcAft>
              <a:buClr>
                <a:srgbClr val="F5A524"/>
              </a:buClr>
              <a:buFont typeface="Arial"/>
              <a:buChar char="•"/>
            </a:pPr>
            <a:r>
              <a:rPr sz="1600" b="0" i="0">
                <a:solidFill>
                  <a:srgbClr val="18232F"/>
                </a:solidFill>
                <a:latin typeface="Segoe UI"/>
              </a:rPr>
              <a:t>Stock F&amp;O: delivery if held</a:t>
            </a:r>
          </a:p>
          <a:p>
            <a:pPr algn="l" marL="182880" indent="-182880">
              <a:lnSpc>
                <a:spcPct val="100000"/>
              </a:lnSpc>
              <a:buClr>
                <a:srgbClr val="F5A524"/>
              </a:buClr>
              <a:buFont typeface="Arial"/>
              <a:buChar char="•"/>
            </a:pPr>
            <a:r>
              <a:rPr sz="1600" b="0" i="0">
                <a:solidFill>
                  <a:srgbClr val="18232F"/>
                </a:solidFill>
                <a:latin typeface="Segoe UI"/>
              </a:rPr>
              <a:t>OI is not direction</a:t>
            </a:r>
          </a:p>
        </p:txBody>
      </p:sp>
      <p:sp>
        <p:nvSpPr>
          <p:cNvPr id="26" name="Rounded Rectangle 25"/>
          <p:cNvSpPr/>
          <p:nvPr/>
        </p:nvSpPr>
        <p:spPr>
          <a:xfrm>
            <a:off x="7833208" y="4693158"/>
            <a:ext cx="3718408" cy="1449324"/>
          </a:xfrm>
          <a:prstGeom prst="roundRect">
            <a:avLst>
              <a:gd name="adj" fmla="val 7570"/>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02886"/>
            <a:ext cx="3425800" cy="284988"/>
          </a:xfrm>
          <a:prstGeom prst="rect">
            <a:avLst/>
          </a:prstGeom>
          <a:noFill/>
        </p:spPr>
        <p:txBody>
          <a:bodyPr wrap="square" lIns="0" rIns="0" tIns="0" bIns="0" anchor="t">
            <a:noAutofit/>
          </a:bodyPr>
          <a:lstStyle/>
          <a:p>
            <a:pPr algn="l">
              <a:lnSpc>
                <a:spcPct val="100000"/>
              </a:lnSpc>
            </a:pPr>
            <a:r>
              <a:rPr sz="1750" b="1" i="0">
                <a:solidFill>
                  <a:srgbClr val="991B1B"/>
                </a:solidFill>
                <a:latin typeface="Segoe UI"/>
              </a:rPr>
              <a:t>Your mind</a:t>
            </a:r>
          </a:p>
        </p:txBody>
      </p:sp>
      <p:sp>
        <p:nvSpPr>
          <p:cNvPr id="28" name="TextBox 27"/>
          <p:cNvSpPr txBox="1"/>
          <p:nvPr/>
        </p:nvSpPr>
        <p:spPr>
          <a:xfrm>
            <a:off x="7979512" y="5142738"/>
            <a:ext cx="3425800" cy="999744"/>
          </a:xfrm>
          <a:prstGeom prst="rect">
            <a:avLst/>
          </a:prstGeom>
          <a:noFill/>
        </p:spPr>
        <p:txBody>
          <a:bodyPr wrap="square" lIns="0" rIns="0" tIns="0" bIns="0" anchor="t">
            <a:noAutofit/>
          </a:bodyPr>
          <a:lstStyle/>
          <a:p>
            <a:pPr algn="l" marL="182880" indent="-182880">
              <a:lnSpc>
                <a:spcPct val="100000"/>
              </a:lnSpc>
              <a:spcAft>
                <a:spcPts val="480"/>
              </a:spcAft>
              <a:buClr>
                <a:srgbClr val="F0554E"/>
              </a:buClr>
              <a:buFont typeface="Arial"/>
              <a:buChar char="•"/>
            </a:pPr>
            <a:r>
              <a:rPr sz="1600" b="0" i="0">
                <a:solidFill>
                  <a:srgbClr val="18232F"/>
                </a:solidFill>
                <a:latin typeface="Segoe UI"/>
              </a:rPr>
              <a:t>Cheap is not low risk</a:t>
            </a:r>
          </a:p>
          <a:p>
            <a:pPr algn="l" marL="182880" indent="-182880">
              <a:lnSpc>
                <a:spcPct val="100000"/>
              </a:lnSpc>
              <a:spcAft>
                <a:spcPts val="480"/>
              </a:spcAft>
              <a:buClr>
                <a:srgbClr val="F0554E"/>
              </a:buClr>
              <a:buFont typeface="Arial"/>
              <a:buChar char="•"/>
            </a:pPr>
            <a:r>
              <a:rPr sz="1600" b="0" i="0">
                <a:solidFill>
                  <a:srgbClr val="18232F"/>
                </a:solidFill>
                <a:latin typeface="Segoe UI"/>
              </a:rPr>
              <a:t>Hedge = insurance, not a bet</a:t>
            </a:r>
          </a:p>
          <a:p>
            <a:pPr algn="l" marL="182880" indent="-182880">
              <a:lnSpc>
                <a:spcPct val="100000"/>
              </a:lnSpc>
              <a:buClr>
                <a:srgbClr val="F0554E"/>
              </a:buClr>
              <a:buFont typeface="Arial"/>
              <a:buChar char="•"/>
            </a:pPr>
            <a:r>
              <a:rPr sz="1600" b="0" i="0">
                <a:solidFill>
                  <a:srgbClr val="18232F"/>
                </a:solidFill>
                <a:latin typeface="Segoe UI"/>
              </a:rPr>
              <a:t>Stage 1: no F&amp;O, not even paper</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Read an option chain without trading, live from NSE or the practice chain: find the ATM strike, split two premiums, feel the size of one lot, and have AI check your reading.</a:t>
            </a:r>
          </a:p>
        </p:txBody>
      </p:sp>
      <p:sp>
        <p:nvSpPr>
          <p:cNvPr id="6" name="Rounded Rectangle 5"/>
          <p:cNvSpPr/>
          <p:nvPr/>
        </p:nvSpPr>
        <p:spPr>
          <a:xfrm>
            <a:off x="457200" y="203606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nseindia.com, open the public NIFTY option chain (no login or broker account needed). Pick the nearest expiry at least two trading days away and write down the index level and the ATM strike, the strike nearest the index. If the page will not load on your phone, use the practice chain under 'Your template'.</a:t>
            </a:r>
          </a:p>
        </p:txBody>
      </p:sp>
      <p:sp>
        <p:nvSpPr>
          <p:cNvPr id="10" name="Rounded Rectangle 9"/>
          <p:cNvSpPr/>
          <p:nvPr/>
        </p:nvSpPr>
        <p:spPr>
          <a:xfrm>
            <a:off x="457200" y="306019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699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882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6077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Google Sheets or your notebook, copy five rows around the ATM strike: strike, call LTP, call OI, put LTP, put OI. (LTP, the last traded price, is the premium.)</a:t>
            </a:r>
          </a:p>
        </p:txBody>
      </p:sp>
      <p:sp>
        <p:nvSpPr>
          <p:cNvPr id="14" name="Rounded Rectangle 13"/>
          <p:cNvSpPr/>
          <p:nvPr/>
        </p:nvSpPr>
        <p:spPr>
          <a:xfrm>
            <a:off x="457200" y="38404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5020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9684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410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Fill two rows of the premium split sheet: the call two strikes below ATM (ITM) and the call two strikes above (OTM). Intrinsic value = index level minus strike, never below zero; time value is the rest. If a time value comes out negative, that LTP is old; use a strike nearer ATM.</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Search the NSE website for the current F&amp;O market lot of NIFTY and fill the 'What one lot controls' card: lot x index level in rupees, then compare it with the 25% exposure cap (Rs 2,50,000) on the Rs 10 lakh challenge capital.</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'Option chain explainer' with the rows you copied (live or practice), and mark every line the AI labels Guess or Kachra. Never paste your PAN, client ID or any account details.</a:t>
            </a:r>
          </a:p>
        </p:txBody>
      </p:sp>
      <p:sp>
        <p:nvSpPr>
          <p:cNvPr id="13" name="Rounded Rectangle 12"/>
          <p:cNvSpPr/>
          <p:nvPr/>
        </p:nvSpPr>
        <p:spPr>
          <a:xfrm>
            <a:off x="457200" y="313944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(any day this week, 5 minutes): pick an expiry at least two weeks away (the monthly one, or next month's if this month's is close) and note one far OTM call's premium and today's NIFTY level. Check both again 3 trading days later. If NIFTY is near the same level, most of the drop is usually time decay; if NIFTY moved a lot, write that the move changed the premium too.</a:t>
            </a:r>
          </a:p>
        </p:txBody>
      </p:sp>
      <p:sp>
        <p:nvSpPr>
          <p:cNvPr id="17" name="Rounded Rectangle 16"/>
          <p:cNvSpPr/>
          <p:nvPr/>
        </p:nvSpPr>
        <p:spPr>
          <a:xfrm>
            <a:off x="457200" y="5401056"/>
            <a:ext cx="11277295" cy="871728"/>
          </a:xfrm>
          <a:prstGeom prst="roundRect">
            <a:avLst>
              <a:gd name="adj" fmla="val 1258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51078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766816"/>
            <a:ext cx="10911535" cy="46024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explain a futures contract, margin and MTM; tell a call from a put and ITM from OTM; split a premium into intrinsic and time value; read a buyer's and a seller's payoff; say which F&amp;O contracts end in delivery; and explain why Stage 1 only studies F&amp;O.</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option chain (made-up)</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Use it when NSE's chain will not load, or to practise first. Calls sit on the left and puts on the right, as on NSE. Reading practice only: Stage 1 places no F&amp;O trades, not even on paper.</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numbers, not market data: NIFTY 50 at 24,150, 4 days to expiry, strikes 50 points apart. OI in contracts; LTP in points.</a:t>
            </a:r>
          </a:p>
        </p:txBody>
      </p:sp>
      <p:graphicFrame>
        <p:nvGraphicFramePr>
          <p:cNvPr id="7" name="Table 6"/>
          <p:cNvGraphicFramePr>
            <a:graphicFrameLocks noGrp="1"/>
          </p:cNvGraphicFramePr>
          <p:nvPr/>
        </p:nvGraphicFramePr>
        <p:xfrm>
          <a:off x="640080" y="2121408"/>
          <a:ext cx="10911535" cy="3520440"/>
        </p:xfrm>
        <a:graphic>
          <a:graphicData uri="http://schemas.openxmlformats.org/drawingml/2006/table">
            <a:tbl>
              <a:tblPr firstRow="1">
                <a:tableStyleId>{5C22544A-7EE6-4342-B048-85BDC9FD1C3A}</a:tableStyleId>
              </a:tblPr>
              <a:tblGrid>
                <a:gridCol w="2202658"/>
                <a:gridCol w="2225005"/>
                <a:gridCol w="2113237"/>
                <a:gridCol w="2167977"/>
                <a:gridCol w="2202658"/>
              </a:tblGrid>
              <a:tr h="301752">
                <a:tc>
                  <a:txBody>
                    <a:bodyPr wrap="square"/>
                    <a:lstStyle/>
                    <a:p>
                      <a:pPr algn="l"/>
                      <a:r>
                        <a:rPr sz="1200" b="1" i="0">
                          <a:solidFill>
                            <a:srgbClr val="FFFFFF"/>
                          </a:solidFill>
                          <a:latin typeface="Segoe UI"/>
                        </a:rPr>
                        <a:t>Call OI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Call LTP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Strike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Put LTP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Put OI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92608">
                <a:tc>
                  <a:txBody>
                    <a:bodyPr wrap="square"/>
                    <a:lstStyle/>
                    <a:p>
                      <a:pPr algn="ctr"/>
                      <a:r>
                        <a:rPr sz="1200" b="0" i="0">
                          <a:solidFill>
                            <a:srgbClr val="18232F"/>
                          </a:solidFill>
                          <a:latin typeface="Segoe UI"/>
                        </a:rPr>
                        <a:t>18,240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285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23,900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35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96,410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9,870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23,950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46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58,300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41,560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1,32,750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22,130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177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24,050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77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71,920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58,940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148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98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88,460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64,300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121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62,180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1,18,720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98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24,200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148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49,650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76,410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21,340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1,41,280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61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211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30,870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52,600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24,350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8,920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2608">
                <a:tc>
                  <a:txBody>
                    <a:bodyPr wrap="square"/>
                    <a:lstStyle/>
                    <a:p>
                      <a:pPr algn="ctr"/>
                      <a:r>
                        <a:rPr sz="1200" b="0" i="0">
                          <a:solidFill>
                            <a:srgbClr val="18232F"/>
                          </a:solidFill>
                          <a:latin typeface="Segoe UI"/>
                        </a:rPr>
                        <a:t>97,150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35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285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12,460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8" name="TextBox 7"/>
          <p:cNvSpPr txBox="1"/>
          <p:nvPr/>
        </p:nvSpPr>
        <p:spPr>
          <a:xfrm>
            <a:off x="640080" y="573328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Find the ATM strike first: the strike nearest the index level.</a:t>
            </a:r>
          </a:p>
        </p:txBody>
      </p:sp>
      <p:pic>
        <p:nvPicPr>
          <p:cNvPr id="9" name="Picture 8" descr="logo.png"/>
          <p:cNvPicPr>
            <a:picLocks noChangeAspect="1"/>
          </p:cNvPicPr>
          <p:nvPr/>
        </p:nvPicPr>
        <p:blipFill>
          <a:blip r:embed="rId2"/>
          <a:stretch>
            <a:fillRect/>
          </a:stretch>
        </p:blipFill>
        <p:spPr>
          <a:xfrm>
            <a:off x="457200" y="6437376"/>
            <a:ext cx="237744" cy="237744"/>
          </a:xfrm>
          <a:prstGeom prst="rect">
            <a:avLst/>
          </a:prstGeom>
        </p:spPr>
      </p:pic>
      <p:sp>
        <p:nvSpPr>
          <p:cNvPr id="1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1" name="TextBox 1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Premium split sheet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Four worked rows from the practice chain, with NIFTY 50 at 24,150. Add your two calls from step 3 in the empty rows. On the practice chain the answers are: 24,050 call = 100 + 77, and 24,250 call = 0 + 78.</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3771898"/>
        </p:xfrm>
        <a:graphic>
          <a:graphicData uri="http://schemas.openxmlformats.org/drawingml/2006/table">
            <a:tbl>
              <a:tblPr firstRow="1">
                <a:tableStyleId>{5C22544A-7EE6-4342-B048-85BDC9FD1C3A}</a:tableStyleId>
              </a:tblPr>
              <a:tblGrid>
                <a:gridCol w="2095999"/>
                <a:gridCol w="2429660"/>
                <a:gridCol w="2079972"/>
                <a:gridCol w="1892085"/>
                <a:gridCol w="2413820"/>
              </a:tblGrid>
              <a:tr h="421538">
                <a:tc>
                  <a:txBody>
                    <a:bodyPr wrap="square"/>
                    <a:lstStyle/>
                    <a:p>
                      <a:pPr algn="l"/>
                      <a:r>
                        <a:rPr sz="1500" b="1" i="0">
                          <a:solidFill>
                            <a:srgbClr val="FFFFFF"/>
                          </a:solidFill>
                          <a:latin typeface="Segoe UI"/>
                        </a:rPr>
                        <a:t>Option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ITM / OTM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Premium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Intrinsic</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Time value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12394">
                <a:tc>
                  <a:txBody>
                    <a:bodyPr wrap="square"/>
                    <a:lstStyle/>
                    <a:p>
                      <a:pPr algn="ctr"/>
                      <a:r>
                        <a:rPr sz="1500" b="0" i="0">
                          <a:solidFill>
                            <a:srgbClr val="18232F"/>
                          </a:solidFill>
                          <a:latin typeface="Segoe UI"/>
                        </a:rPr>
                        <a:t>24,000 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2394">
                <a:tc>
                  <a:txBody>
                    <a:bodyPr wrap="square"/>
                    <a:lstStyle/>
                    <a:p>
                      <a:pPr algn="ctr"/>
                      <a:r>
                        <a:rPr sz="1500" b="0" i="0">
                          <a:solidFill>
                            <a:srgbClr val="18232F"/>
                          </a:solidFill>
                          <a:latin typeface="Segoe UI"/>
                        </a:rPr>
                        <a:t>24,300 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2394">
                <a:tc>
                  <a:txBody>
                    <a:bodyPr wrap="square"/>
                    <a:lstStyle/>
                    <a:p>
                      <a:pPr algn="ctr"/>
                      <a:r>
                        <a:rPr sz="1500" b="0" i="0">
                          <a:solidFill>
                            <a:srgbClr val="18232F"/>
                          </a:solidFill>
                          <a:latin typeface="Segoe UI"/>
                        </a:rPr>
                        <a:t>24,000 PE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12394">
                <a:tc>
                  <a:txBody>
                    <a:bodyPr wrap="square"/>
                    <a:lstStyle/>
                    <a:p>
                      <a:pPr algn="ctr"/>
                      <a:r>
                        <a:rPr sz="1500" b="0" i="0">
                          <a:solidFill>
                            <a:srgbClr val="18232F"/>
                          </a:solidFill>
                          <a:latin typeface="Segoe UI"/>
                        </a:rPr>
                        <a:t>24,250 PE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ITM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984748"/>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Call: intrinsic = index - strike. Put: intrinsic = strike - index. Never below zero. Time value = premium - intrinsic.</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What one lot controls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The example uses a made-up lot of 75 units; write today's real lot from NSE in the 'Yours' column. It is a calculation, not a trade.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3401568"/>
        </p:xfrm>
        <a:graphic>
          <a:graphicData uri="http://schemas.openxmlformats.org/drawingml/2006/table">
            <a:tbl>
              <a:tblPr firstRow="1">
                <a:tableStyleId>{5C22544A-7EE6-4342-B048-85BDC9FD1C3A}</a:tableStyleId>
              </a:tblPr>
              <a:tblGrid>
                <a:gridCol w="5884863"/>
                <a:gridCol w="2934656"/>
                <a:gridCol w="2092016"/>
              </a:tblGrid>
              <a:tr h="493776">
                <a:tc>
                  <a:txBody>
                    <a:bodyPr wrap="square"/>
                    <a:lstStyle/>
                    <a:p>
                      <a:pPr algn="l"/>
                      <a:r>
                        <a:rPr sz="150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Example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NIFTY 50 level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24,150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Lot size (units)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75 (made-up)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One lot controls (lot x level)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18,11,250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25% cap on Rs 10 lakh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One lot ÷ the cap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7.2x</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A 100-point NIFTY move on one lot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7,500 = 0.75R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sp>
        <p:nvSpPr>
          <p:cNvPr id="7" name="TextBox 6"/>
          <p:cNvSpPr txBox="1"/>
          <p:nvPr/>
        </p:nvSpPr>
        <p:spPr>
          <a:xfrm>
            <a:off x="640080" y="5385816"/>
            <a:ext cx="10911535" cy="251460"/>
          </a:xfrm>
          <a:prstGeom prst="rect">
            <a:avLst/>
          </a:prstGeom>
          <a:noFill/>
        </p:spPr>
        <p:txBody>
          <a:bodyPr wrap="square" lIns="0" rIns="0" tIns="0" bIns="0" anchor="t">
            <a:noAutofit/>
          </a:bodyPr>
          <a:lstStyle/>
          <a:p>
            <a:pPr algn="l">
              <a:lnSpc>
                <a:spcPct val="100000"/>
              </a:lnSpc>
            </a:pPr>
            <a:r>
              <a:rPr sz="1050" b="0" i="1">
                <a:solidFill>
                  <a:srgbClr val="47596B"/>
                </a:solidFill>
                <a:latin typeface="Segoe UI"/>
              </a:rPr>
              <a:t>One lot is several times the most Stage 1 lets you put in any one position, and an ordinary 100-point day moves it by three-quarters of 1R. Samjho, khelo mat.</a:t>
            </a:r>
          </a:p>
        </p:txBody>
      </p:sp>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Class activity</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Lottery or insurance? On six chits, write six uses of options, for example 'buying a Rs 3 call two days before expiry', 'buying a put on shares you already hold', 'selling calls for weekly income', 'selling far OTM puts because they rarely pay out', 'buying a NIFTY put to cover a basket of mid-cap stocks', 'buying cheap calls on a company's results day'.</a:t>
            </a:r>
          </a:p>
          <a:p>
            <a:pPr algn="l">
              <a:lnSpc>
                <a:spcPct val="100000"/>
              </a:lnSpc>
              <a:spcAft>
                <a:spcPts val="700"/>
              </a:spcAft>
            </a:pPr>
            <a:r>
              <a:rPr sz="2000" b="0" i="0">
                <a:solidFill>
                  <a:srgbClr val="18232F"/>
                </a:solidFill>
                <a:latin typeface="Segoe UI"/>
              </a:rPr>
              <a:t>With classmates or family, sort each chit into Lottery, Insurance or Big hidden risk, and defend your choice in one line.</a:t>
            </a:r>
          </a:p>
          <a:p>
            <a:pPr algn="l">
              <a:lnSpc>
                <a:spcPct val="100000"/>
              </a:lnSpc>
            </a:pPr>
            <a:r>
              <a:rPr sz="2000" b="0" i="0">
                <a:solidFill>
                  <a:srgbClr val="18232F"/>
                </a:solidFill>
                <a:latin typeface="Segoe UI"/>
              </a:rPr>
              <a:t>Alone? Sort them yourself, then ask an AI chat to challenge your sorting.</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Option chain explainer: read it, do not trade it</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Option chain explainer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a few rows from the public NIFTY option chain on the NSE website or from my course's made-up practice chain (strike, call premium, call OI, put premium, put OI) and the current index level.”</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F&amp;O myth-buster</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“List 8 beliefs that Indian beginners commonly hold about futures and options, for example 'a cheap option is low risk', 'my margin is the most I can lose', 'high OI at a strike means the market will stop there', 'stock options always settle in cash' and 'buying a NIFTY put fully protects any portfolio'.”</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Lottery-ticket mind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6 short questions, one at a time, to find out whether I think about options like lottery tickets: how I react to screenshots of big option wins, whether I count the losing bets behind them, how I judge a 'small' premium that I might lose every week, and what I believe a low price tells me about the chance of a payoff.”</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QUESTION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NIFTY 50 is at 23,880 (illustrative). The 23,700 call trades at a premium of 230. How does that premium split?</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Intrinsic 230, time value zero</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Intrinsic 0, time value 230</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Intrinsic 50, time value 180</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Intrinsic 180, time value 50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In a made-up case, someone buys a Kiran Foods Ltd 400 call at a premium of Rs 18. Ignoring costs, above what share price at expiry does the buyer start to make money?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Above Rs 418</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Above Rs 382</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Above Rs 400, the strike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Above Rs 436</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In a made-up case, one lot of Gupta Cement Ltd futures is 3,750 shares, bought at Rs 400 with a margin of Rs 3,00,000. The price closes the day at Rs 392. What happens that evening?</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Only Rs 8 per lot is debited, the fall in price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Nothing yet: MTM waits until the contract is closed</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30,000 is debited from the account that same evening</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loss is held back until the expiry day ends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Suppose someone holds a Sharma Textiles Ltd stock call that is in the money at expiry, and forgets to close it. What can happen?</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They may have to pay for and take the shares</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is settled in cash, like a NIFTY option</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lapses at zero because it was not closed</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exchange sells it at the day's best price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QUICK QUIZ · QUESTION 5/5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far OTM NIFTY call costs just Rs 3, with two days left to expiry. What does the low price most likely tell you?</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is a bargain that most of the market missed</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Cheap options have more room left to rise</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Its loss is small, so its risk is small too</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market sees a small chance of a payoff</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18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F&amp;O basics only: samjho, khelo mat</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and places no F&amp;O trades, not even on paper. Company names, prices, lots, premiums and the practice option chain in this lesson are made up for illustration; the SEBI FY26 figure is quoted from SEBI's study. Check NSE for current lot sizes and expiry days.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JOURNAL, TONIGHT</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Which idea today changed how you see a cheap option? And in your own words: what does OI measure, and what does it not tell you?</a:t>
            </a:r>
          </a:p>
        </p:txBody>
      </p:sp>
      <p:sp>
        <p:nvSpPr>
          <p:cNvPr id="8" name="Rounded Rectangle 7"/>
          <p:cNvSpPr/>
          <p:nvPr/>
        </p:nvSpPr>
        <p:spPr>
          <a:xfrm>
            <a:off x="6233008" y="1335024"/>
            <a:ext cx="5501488" cy="3863340"/>
          </a:xfrm>
          <a:prstGeom prst="roundRect">
            <a:avLst>
              <a:gd name="adj" fmla="val 331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77901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Today you learnt a powerful tool well enough to know why you are leaving it alone for now. Many traders never learn that part.</a:t>
            </a:r>
          </a:p>
        </p:txBody>
      </p:sp>
      <p:sp>
        <p:nvSpPr>
          <p:cNvPr id="11" name="Rounded Rectangle 10"/>
          <p:cNvSpPr/>
          <p:nvPr/>
        </p:nvSpPr>
        <p:spPr>
          <a:xfrm>
            <a:off x="457200" y="5344668"/>
            <a:ext cx="4992784"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19 · The event calendar and your no-trade days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18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19</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Build your system, protect yourself</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The event calendar and your no-trade days</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8658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Events, their timing, and a no-trade rule for each strategy</a:t>
            </a:r>
          </a:p>
        </p:txBody>
      </p:sp>
      <p:sp>
        <p:nvSpPr>
          <p:cNvPr id="12" name="Rounded Rectangle 11"/>
          <p:cNvSpPr/>
          <p:nvPr/>
        </p:nvSpPr>
        <p:spPr>
          <a:xfrm>
            <a:off x="4572000" y="2898648"/>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2898648"/>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Event calendar builder: AI drafts, official sites decide</a:t>
            </a:r>
          </a:p>
        </p:txBody>
      </p:sp>
      <p:sp>
        <p:nvSpPr>
          <p:cNvPr id="14" name="Rounded Rectangle 13"/>
          <p:cNvSpPr/>
          <p:nvPr/>
        </p:nvSpPr>
        <p:spPr>
          <a:xfrm>
            <a:off x="4572000" y="3410712"/>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410712"/>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Fear of missing the big day</a:t>
            </a:r>
          </a:p>
        </p:txBody>
      </p:sp>
      <p:sp>
        <p:nvSpPr>
          <p:cNvPr id="16" name="TextBox 15"/>
          <p:cNvSpPr txBox="1"/>
          <p:nvPr/>
        </p:nvSpPr>
        <p:spPr>
          <a:xfrm>
            <a:off x="4572000" y="4096512"/>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BY THE END</a:t>
            </a:r>
          </a:p>
        </p:txBody>
      </p:sp>
      <p:sp>
        <p:nvSpPr>
          <p:cNvPr id="17" name="TextBox 16"/>
          <p:cNvSpPr txBox="1"/>
          <p:nvPr/>
        </p:nvSpPr>
        <p:spPr>
          <a:xfrm>
            <a:off x="4572000" y="4370832"/>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explain why scheduled events cause gaps and sharp swings, sort any event by where it comes from and when it lands, write no-trade rules that fit each strategy, build a 30-day event calendar from official sources, and turn one date into a complete Portfolio row.</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biggest day of the year</a:t>
            </a:r>
          </a:p>
        </p:txBody>
      </p:sp>
      <p:sp>
        <p:nvSpPr>
          <p:cNvPr id="4" name="Rounded Rectangle 3"/>
          <p:cNvSpPr/>
          <p:nvPr/>
        </p:nvSpPr>
        <p:spPr>
          <a:xfrm>
            <a:off x="457200" y="1426464"/>
            <a:ext cx="3649370" cy="3636264"/>
          </a:xfrm>
          <a:prstGeom prst="roundRect">
            <a:avLst>
              <a:gd name="adj" fmla="val 35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17906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The night before the Union Budget. Aman video-calls the mentor, and Priya joins from Lucknow.</a:t>
            </a:r>
          </a:p>
        </p:txBody>
      </p:sp>
      <p:sp>
        <p:nvSpPr>
          <p:cNvPr id="7" name="Rounded Rectangle 6"/>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tomorrow is Budget day. Everyone says there will be a huge move. On paper, I'll take an ORB trade as soon as the range breaks, and two swing trades before the speech. It's the biggest day of the year; I can't sit it out.</a:t>
            </a:r>
          </a:p>
        </p:txBody>
      </p:sp>
      <p:sp>
        <p:nvSpPr>
          <p:cNvPr id="13" name="Rounded Rectangle 12"/>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But the speech starts around 11. Your 9:15 to 9:30 range will be drawn before anyone knows what the Budget says. What will that range tell you?</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biggest day of the year</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Good question, Priya. Aman, one question from me too: which way will the market go tomorrow?</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Honestly, no idea. Up or down, but big. Like Gupta Cement last week: I bought at 400 on paper, stop 382, and after the results it opened at 364. I didn't even know the results were that evening.</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That results date was on the NSE website six trading days before you bought. Most big days are not surprises; they are written down in advance. Tonight we write them down too, with your rule for each one, before the day arrives.</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Most big days are on the calendar long before they arrive. The skill is deciding, in advance, what you will do on them.</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Events: the gaps you can see coming</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An event is a scheduled moment when big new information reaches the market all at once: a company's results, an RBI policy decision, the Union Budget.</a:t>
            </a:r>
          </a:p>
          <a:p>
            <a:pPr algn="l" marL="274320" indent="-274320">
              <a:lnSpc>
                <a:spcPct val="100000"/>
              </a:lnSpc>
              <a:spcAft>
                <a:spcPts val="800"/>
              </a:spcAft>
              <a:buClr>
                <a:srgbClr val="F5A623"/>
              </a:buClr>
              <a:buFont typeface="Arial"/>
              <a:buChar char="•"/>
            </a:pPr>
            <a:r>
              <a:rPr sz="1600" b="0" i="0">
                <a:solidFill>
                  <a:srgbClr val="18232F"/>
                </a:solidFill>
                <a:latin typeface="Segoe UI"/>
              </a:rPr>
              <a:t>Price does not walk to its new level.</a:t>
            </a:r>
          </a:p>
          <a:p>
            <a:pPr algn="l" marL="274320" indent="-274320">
              <a:lnSpc>
                <a:spcPct val="100000"/>
              </a:lnSpc>
              <a:spcAft>
                <a:spcPts val="800"/>
              </a:spcAft>
              <a:buClr>
                <a:srgbClr val="F5A623"/>
              </a:buClr>
              <a:buFont typeface="Arial"/>
              <a:buChar char="•"/>
            </a:pPr>
            <a:r>
              <a:rPr sz="1600" b="0" i="0">
                <a:solidFill>
                  <a:srgbClr val="18232F"/>
                </a:solidFill>
                <a:latin typeface="Segoe UI"/>
              </a:rPr>
              <a:t>It often jumps, and that jump is a gap (Day 6).</a:t>
            </a:r>
          </a:p>
          <a:p>
            <a:pPr algn="l" marL="274320" indent="-274320">
              <a:lnSpc>
                <a:spcPct val="100000"/>
              </a:lnSpc>
              <a:buClr>
                <a:srgbClr val="F5A623"/>
              </a:buClr>
              <a:buFont typeface="Arial"/>
              <a:buChar char="•"/>
            </a:pPr>
            <a:r>
              <a:rPr sz="1600" b="0" i="0">
                <a:solidFill>
                  <a:srgbClr val="18232F"/>
                </a:solidFill>
                <a:latin typeface="Segoe UI"/>
              </a:rPr>
              <a:t>Day 9 showed what a gap does to a stop: a planned 1R loss can become 2R or more.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Aman's paper trade in Gupta Cement Ltd last week: 555 shares at Rs 400, stop Rs 382 (1.5 x an ATR of Rs 12), so 1R was about Rs 10,000. Results came out that evening. Next morning the stock opened at Rs 364, and his stop, an SL-M order (Day 9), sold near there: 555 x Rs 36 = Rs 19,980, about 2R. The board-meeting notice for those results had been on the NSE website six trading days before he bought. … It was Day 9's gap again, with one difference: this time the date was public.</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date was public</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results date was announced six trading days before the entry. Stop Rs 382; the first price after the results was Rs 364. Loss: about 2R, not 1R.</a:t>
            </a:r>
          </a:p>
        </p:txBody>
      </p:sp>
      <p:cxnSp>
        <p:nvCxnSpPr>
          <p:cNvPr id="12" name="Connector 11"/>
          <p:cNvCxnSpPr/>
          <p:nvPr/>
        </p:nvCxnSpPr>
        <p:spPr>
          <a:xfrm>
            <a:off x="6935100" y="4434840"/>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35254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352.7</a:t>
            </a:r>
          </a:p>
        </p:txBody>
      </p:sp>
      <p:cxnSp>
        <p:nvCxnSpPr>
          <p:cNvPr id="14" name="Connector 13"/>
          <p:cNvCxnSpPr/>
          <p:nvPr/>
        </p:nvCxnSpPr>
        <p:spPr>
          <a:xfrm>
            <a:off x="6935100" y="3750564"/>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668268"/>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373.6</a:t>
            </a:r>
          </a:p>
        </p:txBody>
      </p:sp>
      <p:cxnSp>
        <p:nvCxnSpPr>
          <p:cNvPr id="16" name="Connector 15"/>
          <p:cNvCxnSpPr/>
          <p:nvPr/>
        </p:nvCxnSpPr>
        <p:spPr>
          <a:xfrm>
            <a:off x="6935100" y="30662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839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394.4</a:t>
            </a:r>
          </a:p>
        </p:txBody>
      </p:sp>
      <p:cxnSp>
        <p:nvCxnSpPr>
          <p:cNvPr id="18" name="Connector 17"/>
          <p:cNvCxnSpPr/>
          <p:nvPr/>
        </p:nvCxnSpPr>
        <p:spPr>
          <a:xfrm>
            <a:off x="6935100" y="2382012"/>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415.3</a:t>
            </a:r>
          </a:p>
        </p:txBody>
      </p:sp>
      <p:cxnSp>
        <p:nvCxnSpPr>
          <p:cNvPr id="20" name="Connector 19"/>
          <p:cNvCxnSpPr/>
          <p:nvPr/>
        </p:nvCxnSpPr>
        <p:spPr>
          <a:xfrm>
            <a:off x="6935100" y="2884077"/>
            <a:ext cx="3919083"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90759" y="2792637"/>
            <a:ext cx="660856"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400</a:t>
            </a:r>
          </a:p>
        </p:txBody>
      </p:sp>
      <p:cxnSp>
        <p:nvCxnSpPr>
          <p:cNvPr id="22" name="Connector 21"/>
          <p:cNvCxnSpPr/>
          <p:nvPr/>
        </p:nvCxnSpPr>
        <p:spPr>
          <a:xfrm>
            <a:off x="6935100" y="3473970"/>
            <a:ext cx="3919083" cy="0"/>
          </a:xfrm>
          <a:prstGeom prst="line">
            <a:avLst/>
          </a:prstGeom>
          <a:ln w="19050">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90759" y="3382530"/>
            <a:ext cx="66085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382</a:t>
            </a:r>
          </a:p>
        </p:txBody>
      </p:sp>
      <p:cxnSp>
        <p:nvCxnSpPr>
          <p:cNvPr id="24" name="Connector 23"/>
          <p:cNvCxnSpPr/>
          <p:nvPr/>
        </p:nvCxnSpPr>
        <p:spPr>
          <a:xfrm>
            <a:off x="7111577" y="2916848"/>
            <a:ext cx="0" cy="36049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005691" y="2982392"/>
            <a:ext cx="211773" cy="1638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7005691" y="4940166"/>
            <a:ext cx="211773" cy="13475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7" name="Connector 26"/>
          <p:cNvCxnSpPr/>
          <p:nvPr/>
        </p:nvCxnSpPr>
        <p:spPr>
          <a:xfrm>
            <a:off x="7464533" y="2752989"/>
            <a:ext cx="0" cy="3604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58646" y="2818533"/>
            <a:ext cx="211773" cy="1638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7358646" y="4926691"/>
            <a:ext cx="211773" cy="14822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817488" y="2589130"/>
            <a:ext cx="0" cy="39326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11601" y="2720217"/>
            <a:ext cx="211773" cy="9831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7711601" y="4913216"/>
            <a:ext cx="211773" cy="16170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3" name="Connector 32"/>
          <p:cNvCxnSpPr/>
          <p:nvPr/>
        </p:nvCxnSpPr>
        <p:spPr>
          <a:xfrm>
            <a:off x="8170443" y="2523586"/>
            <a:ext cx="0" cy="39326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064557" y="2720217"/>
            <a:ext cx="211773" cy="16385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8064557" y="4918606"/>
            <a:ext cx="211773" cy="15631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523398" y="2752989"/>
            <a:ext cx="0" cy="39326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417512" y="2884077"/>
            <a:ext cx="211773" cy="16385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ectangle 37"/>
          <p:cNvSpPr/>
          <p:nvPr/>
        </p:nvSpPr>
        <p:spPr>
          <a:xfrm>
            <a:off x="8417512" y="4934776"/>
            <a:ext cx="211773" cy="14014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9" name="Connector 38"/>
          <p:cNvCxnSpPr/>
          <p:nvPr/>
        </p:nvCxnSpPr>
        <p:spPr>
          <a:xfrm>
            <a:off x="8876353" y="2916848"/>
            <a:ext cx="0" cy="39326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8770467" y="3047936"/>
            <a:ext cx="211773" cy="13108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Rectangle 40"/>
          <p:cNvSpPr/>
          <p:nvPr/>
        </p:nvSpPr>
        <p:spPr>
          <a:xfrm>
            <a:off x="8770467" y="4945556"/>
            <a:ext cx="211773" cy="12936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229309" y="2949620"/>
            <a:ext cx="0" cy="39326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123422" y="3015164"/>
            <a:ext cx="211773" cy="1638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ectangle 43"/>
          <p:cNvSpPr/>
          <p:nvPr/>
        </p:nvSpPr>
        <p:spPr>
          <a:xfrm>
            <a:off x="9123422" y="4929386"/>
            <a:ext cx="211773" cy="14553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5" name="Connector 44"/>
          <p:cNvCxnSpPr/>
          <p:nvPr/>
        </p:nvCxnSpPr>
        <p:spPr>
          <a:xfrm>
            <a:off x="9582264" y="2785761"/>
            <a:ext cx="0" cy="39326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9476377" y="2851305"/>
            <a:ext cx="211773" cy="16385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9476377" y="4921301"/>
            <a:ext cx="211773" cy="15361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9935219" y="2720217"/>
            <a:ext cx="0" cy="32771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9829333" y="2752989"/>
            <a:ext cx="211773" cy="9831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9829333" y="4932081"/>
            <a:ext cx="211773" cy="142839"/>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1" name="Connector 50"/>
          <p:cNvCxnSpPr/>
          <p:nvPr/>
        </p:nvCxnSpPr>
        <p:spPr>
          <a:xfrm>
            <a:off x="10288174" y="2687446"/>
            <a:ext cx="0" cy="32771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0182288" y="2818533"/>
            <a:ext cx="211773" cy="6554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ectangle 52"/>
          <p:cNvSpPr/>
          <p:nvPr/>
        </p:nvSpPr>
        <p:spPr>
          <a:xfrm>
            <a:off x="10182288" y="4913216"/>
            <a:ext cx="211773" cy="16170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4" name="Connector 53"/>
          <p:cNvCxnSpPr/>
          <p:nvPr/>
        </p:nvCxnSpPr>
        <p:spPr>
          <a:xfrm>
            <a:off x="10641130" y="3900004"/>
            <a:ext cx="0" cy="39326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0535243" y="4063863"/>
            <a:ext cx="211773" cy="9831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Rectangle 55"/>
          <p:cNvSpPr/>
          <p:nvPr/>
        </p:nvSpPr>
        <p:spPr>
          <a:xfrm>
            <a:off x="10535243" y="4562856"/>
            <a:ext cx="211773" cy="51206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7" name="TextBox 56"/>
          <p:cNvSpPr txBox="1"/>
          <p:nvPr/>
        </p:nvSpPr>
        <p:spPr>
          <a:xfrm>
            <a:off x="6397600" y="471830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58" name="Isosceles Triangle 57"/>
          <p:cNvSpPr/>
          <p:nvPr/>
        </p:nvSpPr>
        <p:spPr>
          <a:xfrm rot="10800000">
            <a:off x="8115579" y="2386426"/>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9" name="TextBox 58"/>
          <p:cNvSpPr txBox="1"/>
          <p:nvPr/>
        </p:nvSpPr>
        <p:spPr>
          <a:xfrm>
            <a:off x="7646134" y="2176114"/>
            <a:ext cx="1048618"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Date announced</a:t>
            </a:r>
          </a:p>
        </p:txBody>
      </p:sp>
      <p:sp>
        <p:nvSpPr>
          <p:cNvPr id="60" name="Isosceles Triangle 59"/>
          <p:cNvSpPr/>
          <p:nvPr/>
        </p:nvSpPr>
        <p:spPr>
          <a:xfrm rot="10800000">
            <a:off x="10233310" y="2550286"/>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1" name="TextBox 60"/>
          <p:cNvSpPr txBox="1"/>
          <p:nvPr/>
        </p:nvSpPr>
        <p:spPr>
          <a:xfrm>
            <a:off x="10107641" y="2339974"/>
            <a:ext cx="361068"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a:t>
            </a:r>
          </a:p>
        </p:txBody>
      </p:sp>
      <p:sp>
        <p:nvSpPr>
          <p:cNvPr id="62" name="Isosceles Triangle 61"/>
          <p:cNvSpPr/>
          <p:nvPr/>
        </p:nvSpPr>
        <p:spPr>
          <a:xfrm rot="10800000">
            <a:off x="10586266" y="3762844"/>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3" name="TextBox 62"/>
          <p:cNvSpPr txBox="1"/>
          <p:nvPr/>
        </p:nvSpPr>
        <p:spPr>
          <a:xfrm>
            <a:off x="10266872" y="3360508"/>
            <a:ext cx="748514"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Results gap</a:t>
            </a:r>
          </a:p>
        </p:txBody>
      </p:sp>
      <p:sp>
        <p:nvSpPr>
          <p:cNvPr id="64" name="Rounded Rectangle 6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5" name="Rounded Rectangle 6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66" name="TextBox 6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Getting caught in a results-day gap is rarely bad luck. Usually it is a date nobody looked up.</a:t>
            </a:r>
          </a:p>
        </p:txBody>
      </p:sp>
      <p:pic>
        <p:nvPicPr>
          <p:cNvPr id="67" name="Picture 66" descr="logo.png"/>
          <p:cNvPicPr>
            <a:picLocks noChangeAspect="1"/>
          </p:cNvPicPr>
          <p:nvPr/>
        </p:nvPicPr>
        <p:blipFill>
          <a:blip r:embed="rId2"/>
          <a:stretch>
            <a:fillRect/>
          </a:stretch>
        </p:blipFill>
        <p:spPr>
          <a:xfrm>
            <a:off x="457200" y="6437376"/>
            <a:ext cx="237744" cy="237744"/>
          </a:xfrm>
          <a:prstGeom prst="rect">
            <a:avLst/>
          </a:prstGeom>
        </p:spPr>
      </p:pic>
      <p:sp>
        <p:nvSpPr>
          <p:cNvPr id="6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69" name="TextBox 6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Where events come from: your stock, India, the world</a:t>
            </a:r>
          </a:p>
        </p:txBody>
      </p:sp>
      <p:sp>
        <p:nvSpPr>
          <p:cNvPr id="4" name="TextBox 3"/>
          <p:cNvSpPr txBox="1"/>
          <p:nvPr/>
        </p:nvSpPr>
        <p:spPr>
          <a:xfrm>
            <a:off x="457200" y="1335024"/>
            <a:ext cx="5519776" cy="4279392"/>
          </a:xfrm>
          <a:prstGeom prst="rect">
            <a:avLst/>
          </a:prstGeom>
          <a:noFill/>
        </p:spPr>
        <p:txBody>
          <a:bodyPr wrap="square" lIns="0" rIns="0" tIns="0" bIns="0" anchor="t">
            <a:noAutofit/>
          </a:bodyPr>
          <a:lstStyle/>
          <a:p>
            <a:pPr algn="l" marL="274320" indent="-274320">
              <a:lnSpc>
                <a:spcPct val="100000"/>
              </a:lnSpc>
              <a:spcAft>
                <a:spcPts val="850"/>
              </a:spcAft>
              <a:buClr>
                <a:srgbClr val="F5A623"/>
              </a:buClr>
              <a:buFont typeface="Arial"/>
              <a:buChar char="•"/>
            </a:pPr>
            <a:r>
              <a:rPr sz="1700" b="0" i="0">
                <a:solidFill>
                  <a:srgbClr val="18232F"/>
                </a:solidFill>
                <a:latin typeface="Segoe UI"/>
              </a:rPr>
              <a:t>Events come from three places.</a:t>
            </a:r>
          </a:p>
          <a:p>
            <a:pPr algn="l" marL="274320" indent="-274320">
              <a:lnSpc>
                <a:spcPct val="100000"/>
              </a:lnSpc>
              <a:spcAft>
                <a:spcPts val="850"/>
              </a:spcAft>
              <a:buClr>
                <a:srgbClr val="F5A623"/>
              </a:buClr>
              <a:buFont typeface="Arial"/>
              <a:buChar char="•"/>
            </a:pPr>
            <a:r>
              <a:rPr sz="1700" b="0" i="0">
                <a:solidFill>
                  <a:srgbClr val="18232F"/>
                </a:solidFill>
                <a:latin typeface="Segoe UI"/>
              </a:rPr>
              <a:t>Indian market events touch almost everything.</a:t>
            </a:r>
          </a:p>
          <a:p>
            <a:pPr algn="l" marL="274320" indent="-274320">
              <a:lnSpc>
                <a:spcPct val="100000"/>
              </a:lnSpc>
              <a:spcAft>
                <a:spcPts val="850"/>
              </a:spcAft>
              <a:buClr>
                <a:srgbClr val="F5A623"/>
              </a:buClr>
              <a:buFont typeface="Arial"/>
              <a:buChar char="•"/>
            </a:pPr>
            <a:r>
              <a:rPr sz="1700" b="0" i="0">
                <a:solidFill>
                  <a:srgbClr val="18232F"/>
                </a:solidFill>
                <a:latin typeface="Segoe UI"/>
              </a:rPr>
              <a:t>Index events sit in between.</a:t>
            </a:r>
          </a:p>
          <a:p>
            <a:pPr algn="l" marL="274320" indent="-274320">
              <a:lnSpc>
                <a:spcPct val="100000"/>
              </a:lnSpc>
              <a:spcAft>
                <a:spcPts val="850"/>
              </a:spcAft>
              <a:buClr>
                <a:srgbClr val="F5A623"/>
              </a:buClr>
              <a:buFont typeface="Arial"/>
              <a:buChar char="•"/>
            </a:pPr>
            <a:r>
              <a:rPr sz="1700" b="0" i="0">
                <a:solidFill>
                  <a:srgbClr val="18232F"/>
                </a:solidFill>
                <a:latin typeface="Segoe UI"/>
              </a:rPr>
              <a:t>NSE Indices reviews NIFTY 50 twice a year and announces any change weeks before it takes effect.</a:t>
            </a:r>
          </a:p>
          <a:p>
            <a:pPr algn="l" marL="274320" indent="-274320">
              <a:lnSpc>
                <a:spcPct val="100000"/>
              </a:lnSpc>
              <a:buClr>
                <a:srgbClr val="F5A623"/>
              </a:buClr>
              <a:buFont typeface="Arial"/>
              <a:buChar char="•"/>
            </a:pPr>
            <a:r>
              <a:rPr sz="1700" b="0" i="0">
                <a:solidFill>
                  <a:srgbClr val="18232F"/>
                </a:solidFill>
                <a:latin typeface="Segoe UI"/>
              </a:rPr>
              <a:t>Some big global news comes with no date at all.</a:t>
            </a:r>
          </a:p>
        </p:txBody>
      </p:sp>
      <p:sp>
        <p:nvSpPr>
          <p:cNvPr id="5" name="Rounded Rectangle 4"/>
          <p:cNvSpPr/>
          <p:nvPr/>
        </p:nvSpPr>
        <p:spPr>
          <a:xfrm>
            <a:off x="6214720" y="1335024"/>
            <a:ext cx="5519776" cy="4279392"/>
          </a:xfrm>
          <a:prstGeom prst="roundRect">
            <a:avLst>
              <a:gd name="adj" fmla="val 256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3822192"/>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Priya jots down the next 30 days for her paper watchlist (all dates made up). The 6th: an RBI policy decision. Friday the 7th, in the Indian evening: US inflation data, which will show up at the open on Monday the 10th. The 12th: Kiran Foods Ltd results. The 18th: Sharma Textiles Ltd goes ex-dividend with a Rs 5 dividend, so, all else equal, its price drops by about Rs 5 that morning; that is an adjustment, not a signal. The 19th, at night: a US Fed decision, which will show up at the open on the 20th. Friday the 21st: an exchange holiday, so the market shuts for three days, a longer 'overnight' for any swing trade she holds. The 25th: the monthly NIFTY F&amp;O expiry; she trades no F&amp;O, so it is a note, not a block. The 27th: the last day before Desai Power Ltd joins NIFTY 50, a change NSE Indices announced weeks earlier; heavy volume near that close is index funds buying, not a breakout. Eight dates, three places, one sheet.</a:t>
            </a:r>
          </a:p>
        </p:txBody>
      </p:sp>
      <p:sp>
        <p:nvSpPr>
          <p:cNvPr id="8" name="Rounded Rectangle 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10" name="TextBox 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For every date, ask first: does it come from my stock, from India, or from the world?</a:t>
            </a:r>
          </a:p>
        </p:txBody>
      </p:sp>
      <p:pic>
        <p:nvPicPr>
          <p:cNvPr id="11" name="Picture 10" descr="logo.png"/>
          <p:cNvPicPr>
            <a:picLocks noChangeAspect="1"/>
          </p:cNvPicPr>
          <p:nvPr/>
        </p:nvPicPr>
        <p:blipFill>
          <a:blip r:embed="rId2"/>
          <a:stretch>
            <a:fillRect/>
          </a:stretch>
        </p:blipFill>
        <p:spPr>
          <a:xfrm>
            <a:off x="457200" y="6437376"/>
            <a:ext cx="237744" cy="237744"/>
          </a:xfrm>
          <a:prstGeom prst="rect">
            <a:avLst/>
          </a:prstGeom>
        </p:spPr>
      </p:pic>
      <p:sp>
        <p:nvSpPr>
          <p:cNvPr id="1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3" name="TextBox 1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2/6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Where events come from: your stock, India, the world</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1481328"/>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Three places events come from</a:t>
            </a: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Write down the date and the time, never a guess about what will be announced.</a:t>
            </a:r>
          </a:p>
        </p:txBody>
      </p:sp>
      <p:sp>
        <p:nvSpPr>
          <p:cNvPr id="7" name="Rounded Rectangle 6"/>
          <p:cNvSpPr/>
          <p:nvPr/>
        </p:nvSpPr>
        <p:spPr>
          <a:xfrm>
            <a:off x="640080" y="2485644"/>
            <a:ext cx="3527450" cy="2718816"/>
          </a:xfrm>
          <a:prstGeom prst="roundRect">
            <a:avLst>
              <a:gd name="adj" fmla="val 33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ounded Rectangle 7"/>
          <p:cNvSpPr/>
          <p:nvPr/>
        </p:nvSpPr>
        <p:spPr>
          <a:xfrm>
            <a:off x="640080" y="2485644"/>
            <a:ext cx="3527450" cy="463296"/>
          </a:xfrm>
          <a:prstGeom prst="roundRect">
            <a:avLst>
              <a:gd name="adj" fmla="val 1973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ectangle 8"/>
          <p:cNvSpPr/>
          <p:nvPr/>
        </p:nvSpPr>
        <p:spPr>
          <a:xfrm>
            <a:off x="640080" y="2717292"/>
            <a:ext cx="3527450" cy="23164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640080" y="2485644"/>
            <a:ext cx="3527450" cy="2718816"/>
          </a:xfrm>
          <a:prstGeom prst="roundRect">
            <a:avLst>
              <a:gd name="adj" fmla="val 3363"/>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2485644"/>
            <a:ext cx="3234842" cy="463296"/>
          </a:xfrm>
          <a:prstGeom prst="rect">
            <a:avLst/>
          </a:prstGeom>
          <a:noFill/>
        </p:spPr>
        <p:txBody>
          <a:bodyPr wrap="square" lIns="0" rIns="0" tIns="0" bIns="0" anchor="ctr">
            <a:noAutofit/>
          </a:bodyPr>
          <a:lstStyle/>
          <a:p>
            <a:pPr algn="l">
              <a:lnSpc>
                <a:spcPct val="100000"/>
              </a:lnSpc>
            </a:pPr>
            <a:r>
              <a:rPr sz="1600" b="1" i="0">
                <a:solidFill>
                  <a:srgbClr val="095A90"/>
                </a:solidFill>
                <a:latin typeface="Segoe UI"/>
              </a:rPr>
              <a:t>Your stock</a:t>
            </a:r>
          </a:p>
        </p:txBody>
      </p:sp>
      <p:cxnSp>
        <p:nvCxnSpPr>
          <p:cNvPr id="12" name="Connector 11"/>
          <p:cNvCxnSpPr/>
          <p:nvPr/>
        </p:nvCxnSpPr>
        <p:spPr>
          <a:xfrm>
            <a:off x="640080" y="2948940"/>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 y="3095244"/>
            <a:ext cx="3234842" cy="2072640"/>
          </a:xfrm>
          <a:prstGeom prst="rect">
            <a:avLst/>
          </a:prstGeom>
          <a:noFill/>
        </p:spPr>
        <p:txBody>
          <a:bodyPr wrap="square" lIns="0" rIns="0" tIns="0" bIns="0" anchor="t">
            <a:noAutofit/>
          </a:bodyPr>
          <a:lstStyle/>
          <a:p>
            <a:pPr algn="l" marL="201168" indent="-201168">
              <a:lnSpc>
                <a:spcPct val="100000"/>
              </a:lnSpc>
              <a:spcAft>
                <a:spcPts val="750"/>
              </a:spcAft>
              <a:buClr>
                <a:srgbClr val="0093D6"/>
              </a:buClr>
              <a:buFont typeface="Arial"/>
              <a:buChar char="•"/>
            </a:pPr>
            <a:r>
              <a:rPr sz="1500" b="0" i="0">
                <a:solidFill>
                  <a:srgbClr val="18232F"/>
                </a:solidFill>
                <a:latin typeface="Segoe UI"/>
              </a:rPr>
              <a:t>Results and the board meeting</a:t>
            </a:r>
          </a:p>
          <a:p>
            <a:pPr algn="l" marL="201168" indent="-201168">
              <a:lnSpc>
                <a:spcPct val="100000"/>
              </a:lnSpc>
              <a:spcAft>
                <a:spcPts val="750"/>
              </a:spcAft>
              <a:buClr>
                <a:srgbClr val="0093D6"/>
              </a:buClr>
              <a:buFont typeface="Arial"/>
              <a:buChar char="•"/>
            </a:pPr>
            <a:r>
              <a:rPr sz="1500" b="0" i="0">
                <a:solidFill>
                  <a:srgbClr val="18232F"/>
                </a:solidFill>
                <a:latin typeface="Segoe UI"/>
              </a:rPr>
              <a:t>Ex-date: dividend, bonus, split</a:t>
            </a:r>
          </a:p>
          <a:p>
            <a:pPr algn="l" marL="201168" indent="-201168">
              <a:lnSpc>
                <a:spcPct val="100000"/>
              </a:lnSpc>
              <a:buClr>
                <a:srgbClr val="0093D6"/>
              </a:buClr>
              <a:buFont typeface="Arial"/>
              <a:buChar char="•"/>
            </a:pPr>
            <a:r>
              <a:rPr sz="1500" b="0" i="0">
                <a:solidFill>
                  <a:srgbClr val="18232F"/>
                </a:solidFill>
                <a:latin typeface="Segoe UI"/>
              </a:rPr>
              <a:t>Found in NSE/BSE announcements</a:t>
            </a:r>
          </a:p>
        </p:txBody>
      </p:sp>
      <p:sp>
        <p:nvSpPr>
          <p:cNvPr id="14" name="Rounded Rectangle 13"/>
          <p:cNvSpPr/>
          <p:nvPr/>
        </p:nvSpPr>
        <p:spPr>
          <a:xfrm>
            <a:off x="4332122" y="2485644"/>
            <a:ext cx="3527450" cy="2718816"/>
          </a:xfrm>
          <a:prstGeom prst="roundRect">
            <a:avLst>
              <a:gd name="adj" fmla="val 33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4332122" y="2485644"/>
            <a:ext cx="3527450" cy="463296"/>
          </a:xfrm>
          <a:prstGeom prst="roundRect">
            <a:avLst>
              <a:gd name="adj" fmla="val 1973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Rectangle 15"/>
          <p:cNvSpPr/>
          <p:nvPr/>
        </p:nvSpPr>
        <p:spPr>
          <a:xfrm>
            <a:off x="4332122" y="2717292"/>
            <a:ext cx="3527450" cy="23164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332122" y="2485644"/>
            <a:ext cx="3527450" cy="2718816"/>
          </a:xfrm>
          <a:prstGeom prst="roundRect">
            <a:avLst>
              <a:gd name="adj" fmla="val 3363"/>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478426" y="2485644"/>
            <a:ext cx="3234842" cy="463296"/>
          </a:xfrm>
          <a:prstGeom prst="rect">
            <a:avLst/>
          </a:prstGeom>
          <a:noFill/>
        </p:spPr>
        <p:txBody>
          <a:bodyPr wrap="square" lIns="0" rIns="0" tIns="0" bIns="0" anchor="ctr">
            <a:noAutofit/>
          </a:bodyPr>
          <a:lstStyle/>
          <a:p>
            <a:pPr algn="l">
              <a:lnSpc>
                <a:spcPct val="100000"/>
              </a:lnSpc>
            </a:pPr>
            <a:r>
              <a:rPr sz="1600" b="1" i="0">
                <a:solidFill>
                  <a:srgbClr val="92400E"/>
                </a:solidFill>
                <a:latin typeface="Segoe UI"/>
              </a:rPr>
              <a:t>Indian market</a:t>
            </a:r>
          </a:p>
        </p:txBody>
      </p:sp>
      <p:cxnSp>
        <p:nvCxnSpPr>
          <p:cNvPr id="19" name="Connector 18"/>
          <p:cNvCxnSpPr/>
          <p:nvPr/>
        </p:nvCxnSpPr>
        <p:spPr>
          <a:xfrm>
            <a:off x="4332122" y="2948940"/>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78426" y="3095244"/>
            <a:ext cx="3234842" cy="2072640"/>
          </a:xfrm>
          <a:prstGeom prst="rect">
            <a:avLst/>
          </a:prstGeom>
          <a:noFill/>
        </p:spPr>
        <p:txBody>
          <a:bodyPr wrap="square" lIns="0" rIns="0" tIns="0" bIns="0" anchor="t">
            <a:noAutofit/>
          </a:bodyPr>
          <a:lstStyle/>
          <a:p>
            <a:pPr algn="l" marL="201168" indent="-201168">
              <a:lnSpc>
                <a:spcPct val="100000"/>
              </a:lnSpc>
              <a:spcAft>
                <a:spcPts val="750"/>
              </a:spcAft>
              <a:buClr>
                <a:srgbClr val="F5A524"/>
              </a:buClr>
              <a:buFont typeface="Arial"/>
              <a:buChar char="•"/>
            </a:pPr>
            <a:r>
              <a:rPr sz="1500" b="0" i="0">
                <a:solidFill>
                  <a:srgbClr val="18232F"/>
                </a:solidFill>
                <a:latin typeface="Segoe UI"/>
              </a:rPr>
              <a:t>RBI policy decisions</a:t>
            </a:r>
          </a:p>
          <a:p>
            <a:pPr algn="l" marL="201168" indent="-201168">
              <a:lnSpc>
                <a:spcPct val="100000"/>
              </a:lnSpc>
              <a:spcAft>
                <a:spcPts val="750"/>
              </a:spcAft>
              <a:buClr>
                <a:srgbClr val="F5A524"/>
              </a:buClr>
              <a:buFont typeface="Arial"/>
              <a:buChar char="•"/>
            </a:pPr>
            <a:r>
              <a:rPr sz="1500" b="0" i="0">
                <a:solidFill>
                  <a:srgbClr val="18232F"/>
                </a:solidFill>
                <a:latin typeface="Segoe UI"/>
              </a:rPr>
              <a:t>Union Budget</a:t>
            </a:r>
          </a:p>
          <a:p>
            <a:pPr algn="l" marL="201168" indent="-201168">
              <a:lnSpc>
                <a:spcPct val="100000"/>
              </a:lnSpc>
              <a:spcAft>
                <a:spcPts val="750"/>
              </a:spcAft>
              <a:buClr>
                <a:srgbClr val="F5A524"/>
              </a:buClr>
              <a:buFont typeface="Arial"/>
              <a:buChar char="•"/>
            </a:pPr>
            <a:r>
              <a:rPr sz="1500" b="0" i="0">
                <a:solidFill>
                  <a:srgbClr val="18232F"/>
                </a:solidFill>
                <a:latin typeface="Segoe UI"/>
              </a:rPr>
              <a:t>Holidays, special sessions</a:t>
            </a:r>
          </a:p>
          <a:p>
            <a:pPr algn="l" marL="201168" indent="-201168">
              <a:lnSpc>
                <a:spcPct val="100000"/>
              </a:lnSpc>
              <a:spcAft>
                <a:spcPts val="750"/>
              </a:spcAft>
              <a:buClr>
                <a:srgbClr val="F5A524"/>
              </a:buClr>
              <a:buFont typeface="Arial"/>
              <a:buChar char="•"/>
            </a:pPr>
            <a:r>
              <a:rPr sz="1500" b="0" i="0">
                <a:solidFill>
                  <a:srgbClr val="18232F"/>
                </a:solidFill>
                <a:latin typeface="Segoe UI"/>
              </a:rPr>
              <a:t>F&amp;O expiry days</a:t>
            </a:r>
          </a:p>
          <a:p>
            <a:pPr algn="l" marL="201168" indent="-201168">
              <a:lnSpc>
                <a:spcPct val="100000"/>
              </a:lnSpc>
              <a:buClr>
                <a:srgbClr val="F5A524"/>
              </a:buClr>
              <a:buFont typeface="Arial"/>
              <a:buChar char="•"/>
            </a:pPr>
            <a:r>
              <a:rPr sz="1500" b="0" i="0">
                <a:solidFill>
                  <a:srgbClr val="18232F"/>
                </a:solidFill>
                <a:latin typeface="Segoe UI"/>
              </a:rPr>
              <a:t>NIFTY changes: funds trade at close</a:t>
            </a:r>
          </a:p>
        </p:txBody>
      </p:sp>
      <p:sp>
        <p:nvSpPr>
          <p:cNvPr id="21" name="Rounded Rectangle 20"/>
          <p:cNvSpPr/>
          <p:nvPr/>
        </p:nvSpPr>
        <p:spPr>
          <a:xfrm>
            <a:off x="8024165" y="2485644"/>
            <a:ext cx="3527450" cy="2718816"/>
          </a:xfrm>
          <a:prstGeom prst="roundRect">
            <a:avLst>
              <a:gd name="adj" fmla="val 33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ounded Rectangle 21"/>
          <p:cNvSpPr/>
          <p:nvPr/>
        </p:nvSpPr>
        <p:spPr>
          <a:xfrm>
            <a:off x="8024165" y="2485644"/>
            <a:ext cx="3527450" cy="463296"/>
          </a:xfrm>
          <a:prstGeom prst="roundRect">
            <a:avLst>
              <a:gd name="adj" fmla="val 19736"/>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8024165" y="2717292"/>
            <a:ext cx="3527450" cy="231648"/>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8024165" y="2485644"/>
            <a:ext cx="3527450" cy="2718816"/>
          </a:xfrm>
          <a:prstGeom prst="roundRect">
            <a:avLst>
              <a:gd name="adj" fmla="val 3363"/>
            </a:avLst>
          </a:prstGeom>
          <a:no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TextBox 24"/>
          <p:cNvSpPr txBox="1"/>
          <p:nvPr/>
        </p:nvSpPr>
        <p:spPr>
          <a:xfrm>
            <a:off x="8170469" y="2485644"/>
            <a:ext cx="3234842" cy="463296"/>
          </a:xfrm>
          <a:prstGeom prst="rect">
            <a:avLst/>
          </a:prstGeom>
          <a:noFill/>
        </p:spPr>
        <p:txBody>
          <a:bodyPr wrap="square" lIns="0" rIns="0" tIns="0" bIns="0" anchor="ctr">
            <a:noAutofit/>
          </a:bodyPr>
          <a:lstStyle/>
          <a:p>
            <a:pPr algn="l">
              <a:lnSpc>
                <a:spcPct val="100000"/>
              </a:lnSpc>
            </a:pPr>
            <a:r>
              <a:rPr sz="1600" b="1" i="0">
                <a:solidFill>
                  <a:srgbClr val="47596B"/>
                </a:solidFill>
                <a:latin typeface="Segoe UI"/>
              </a:rPr>
              <a:t>The world</a:t>
            </a:r>
          </a:p>
        </p:txBody>
      </p:sp>
      <p:cxnSp>
        <p:nvCxnSpPr>
          <p:cNvPr id="26" name="Connector 25"/>
          <p:cNvCxnSpPr/>
          <p:nvPr/>
        </p:nvCxnSpPr>
        <p:spPr>
          <a:xfrm>
            <a:off x="8024165" y="2948940"/>
            <a:ext cx="3527450" cy="0"/>
          </a:xfrm>
          <a:prstGeom prst="line">
            <a:avLst/>
          </a:prstGeom>
          <a:ln w="15875">
            <a:solidFill>
              <a:srgbClr val="57687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70469" y="3095244"/>
            <a:ext cx="3234842" cy="2072640"/>
          </a:xfrm>
          <a:prstGeom prst="rect">
            <a:avLst/>
          </a:prstGeom>
          <a:noFill/>
        </p:spPr>
        <p:txBody>
          <a:bodyPr wrap="square" lIns="0" rIns="0" tIns="0" bIns="0" anchor="t">
            <a:noAutofit/>
          </a:bodyPr>
          <a:lstStyle/>
          <a:p>
            <a:pPr algn="l" marL="201168" indent="-201168">
              <a:lnSpc>
                <a:spcPct val="100000"/>
              </a:lnSpc>
              <a:spcAft>
                <a:spcPts val="750"/>
              </a:spcAft>
              <a:buClr>
                <a:srgbClr val="57687A"/>
              </a:buClr>
              <a:buFont typeface="Arial"/>
              <a:buChar char="•"/>
            </a:pPr>
            <a:r>
              <a:rPr sz="1500" b="0" i="0">
                <a:solidFill>
                  <a:srgbClr val="18232F"/>
                </a:solidFill>
                <a:latin typeface="Segoe UI"/>
              </a:rPr>
              <a:t>US Fed decisions</a:t>
            </a:r>
          </a:p>
          <a:p>
            <a:pPr algn="l" marL="201168" indent="-201168">
              <a:lnSpc>
                <a:spcPct val="100000"/>
              </a:lnSpc>
              <a:spcAft>
                <a:spcPts val="750"/>
              </a:spcAft>
              <a:buClr>
                <a:srgbClr val="57687A"/>
              </a:buClr>
              <a:buFont typeface="Arial"/>
              <a:buChar char="•"/>
            </a:pPr>
            <a:r>
              <a:rPr sz="1500" b="0" i="0">
                <a:solidFill>
                  <a:srgbClr val="18232F"/>
                </a:solidFill>
                <a:latin typeface="Segoe UI"/>
              </a:rPr>
              <a:t>Other central banks, such as the ECB</a:t>
            </a:r>
          </a:p>
          <a:p>
            <a:pPr algn="l" marL="201168" indent="-201168">
              <a:lnSpc>
                <a:spcPct val="100000"/>
              </a:lnSpc>
              <a:spcAft>
                <a:spcPts val="750"/>
              </a:spcAft>
              <a:buClr>
                <a:srgbClr val="57687A"/>
              </a:buClr>
              <a:buFont typeface="Arial"/>
              <a:buChar char="•"/>
            </a:pPr>
            <a:r>
              <a:rPr sz="1500" b="0" i="0">
                <a:solidFill>
                  <a:srgbClr val="18232F"/>
                </a:solidFill>
                <a:latin typeface="Segoe UI"/>
              </a:rPr>
              <a:t>US inflation and jobs reports</a:t>
            </a:r>
          </a:p>
          <a:p>
            <a:pPr algn="l" marL="201168" indent="-201168">
              <a:lnSpc>
                <a:spcPct val="100000"/>
              </a:lnSpc>
              <a:spcAft>
                <a:spcPts val="750"/>
              </a:spcAft>
              <a:buClr>
                <a:srgbClr val="57687A"/>
              </a:buClr>
              <a:buFont typeface="Arial"/>
              <a:buChar char="•"/>
            </a:pPr>
            <a:r>
              <a:rPr sz="1500" b="0" i="0">
                <a:solidFill>
                  <a:srgbClr val="18232F"/>
                </a:solidFill>
                <a:latin typeface="Segoe UI"/>
              </a:rPr>
              <a:t>Most land after our close</a:t>
            </a:r>
          </a:p>
          <a:p>
            <a:pPr algn="l" marL="201168" indent="-201168">
              <a:lnSpc>
                <a:spcPct val="100000"/>
              </a:lnSpc>
              <a:buClr>
                <a:srgbClr val="57687A"/>
              </a:buClr>
              <a:buFont typeface="Arial"/>
              <a:buChar char="•"/>
            </a:pPr>
            <a:r>
              <a:rPr sz="1500" b="0" i="0">
                <a:solidFill>
                  <a:srgbClr val="18232F"/>
                </a:solidFill>
                <a:latin typeface="Segoe UI"/>
              </a:rPr>
              <a:t>Surprise news: no date, so 1% risk</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Timing: during market hours or overnight</a:t>
            </a:r>
          </a:p>
        </p:txBody>
      </p:sp>
      <p:sp>
        <p:nvSpPr>
          <p:cNvPr id="4" name="TextBox 3"/>
          <p:cNvSpPr txBox="1"/>
          <p:nvPr/>
        </p:nvSpPr>
        <p:spPr>
          <a:xfrm>
            <a:off x="457200" y="1335024"/>
            <a:ext cx="5519776" cy="160782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The time of an event matters as much as its date.</a:t>
            </a:r>
          </a:p>
          <a:p>
            <a:pPr algn="l" marL="274320" indent="-274320">
              <a:lnSpc>
                <a:spcPct val="100000"/>
              </a:lnSpc>
              <a:spcAft>
                <a:spcPts val="750"/>
              </a:spcAft>
              <a:buClr>
                <a:srgbClr val="F5A623"/>
              </a:buClr>
              <a:buFont typeface="Arial"/>
              <a:buChar char="•"/>
            </a:pPr>
            <a:r>
              <a:rPr sz="1500" b="0" i="0">
                <a:solidFill>
                  <a:srgbClr val="18232F"/>
                </a:solidFill>
                <a:latin typeface="Segoe UI"/>
              </a:rPr>
              <a:t>Some land during market hours: the RBI usually announces its policy decision in the morning, and on Budget day the speech normally begins around 11 am.</a:t>
            </a:r>
          </a:p>
          <a:p>
            <a:pPr algn="l" marL="274320" indent="-274320">
              <a:lnSpc>
                <a:spcPct val="100000"/>
              </a:lnSpc>
              <a:buClr>
                <a:srgbClr val="F5A623"/>
              </a:buClr>
              <a:buFont typeface="Arial"/>
              <a:buChar char="•"/>
            </a:pPr>
            <a:r>
              <a:rPr sz="1500" b="0" i="0">
                <a:solidFill>
                  <a:srgbClr val="18232F"/>
                </a:solidFill>
                <a:latin typeface="Segoe UI"/>
              </a:rPr>
              <a:t>These whip prices up and down within the day, which hurts intraday trades such as ORB.</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On Budget day, the opening range of a liquid stock such as Sharma Textiles Ltd is set by 9:30, but the speech starts about 90 minutes later. ORB takes no new entry after 11:00 (Day 13), so any trade you take can still be open when the speech begins, and from then on the speech, not your rule, decides where it goes. Now picture a swing position in Kiran Foods Ltd: its results arrive at 6 pm, and the US Fed decides late at night, Indian time. Your first chance to exit is the next morning's open, at whatever price the market chooses.</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When events usually land (IST)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Typical times only; they can change. Surprise news can land at any hour. Always confirm on the official page.</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92747"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Night</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US Fed decision</a:t>
            </a:r>
          </a:p>
          <a:p>
            <a:pPr algn="ctr">
              <a:lnSpc>
                <a:spcPct val="100000"/>
              </a:lnSpc>
            </a:pPr>
            <a:r>
              <a:rPr sz="1150" b="0" i="0">
                <a:solidFill>
                  <a:srgbClr val="47596B"/>
                </a:solidFill>
                <a:latin typeface="Segoe UI"/>
              </a:rPr>
              <a:t>Shows up at the next open</a:t>
            </a:r>
          </a:p>
        </p:txBody>
      </p:sp>
      <p:sp>
        <p:nvSpPr>
          <p:cNvPr id="14" name="Rounded Rectangle 13"/>
          <p:cNvSpPr/>
          <p:nvPr/>
        </p:nvSpPr>
        <p:spPr>
          <a:xfrm>
            <a:off x="3575054"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9:00</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Pre-open</a:t>
            </a:r>
          </a:p>
          <a:p>
            <a:pPr algn="ctr">
              <a:lnSpc>
                <a:spcPct val="100000"/>
              </a:lnSpc>
            </a:pPr>
            <a:r>
              <a:rPr sz="1150" b="0" i="0">
                <a:solidFill>
                  <a:srgbClr val="47596B"/>
                </a:solidFill>
                <a:latin typeface="Segoe UI"/>
              </a:rPr>
              <a:t>Overnight news gets priced in</a:t>
            </a:r>
          </a:p>
        </p:txBody>
      </p:sp>
      <p:sp>
        <p:nvSpPr>
          <p:cNvPr id="16" name="Rounded Rectangle 15"/>
          <p:cNvSpPr/>
          <p:nvPr/>
        </p:nvSpPr>
        <p:spPr>
          <a:xfrm>
            <a:off x="5757361"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~10:00</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RBI policy decision</a:t>
            </a:r>
          </a:p>
          <a:p>
            <a:pPr algn="ctr">
              <a:lnSpc>
                <a:spcPct val="100000"/>
              </a:lnSpc>
            </a:pPr>
            <a:r>
              <a:rPr sz="1150" b="0" i="0">
                <a:solidFill>
                  <a:srgbClr val="47596B"/>
                </a:solidFill>
                <a:latin typeface="Segoe UI"/>
              </a:rPr>
              <a:t>Usually in the morning; hits intraday</a:t>
            </a:r>
          </a:p>
        </p:txBody>
      </p:sp>
      <p:sp>
        <p:nvSpPr>
          <p:cNvPr id="18" name="Rounded Rectangle 17"/>
          <p:cNvSpPr/>
          <p:nvPr/>
        </p:nvSpPr>
        <p:spPr>
          <a:xfrm>
            <a:off x="7939668"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~11:00</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Budget speech</a:t>
            </a:r>
          </a:p>
          <a:p>
            <a:pPr algn="ctr">
              <a:lnSpc>
                <a:spcPct val="100000"/>
              </a:lnSpc>
            </a:pPr>
            <a:r>
              <a:rPr sz="1150" b="0" i="0">
                <a:solidFill>
                  <a:srgbClr val="47596B"/>
                </a:solidFill>
                <a:latin typeface="Segoe UI"/>
              </a:rPr>
              <a:t>Budget day only; hits intraday</a:t>
            </a:r>
          </a:p>
        </p:txBody>
      </p:sp>
      <p:sp>
        <p:nvSpPr>
          <p:cNvPr id="20" name="Rounded Rectangle 19"/>
          <p:cNvSpPr/>
          <p:nvPr/>
        </p:nvSpPr>
        <p:spPr>
          <a:xfrm>
            <a:off x="10121975" y="4189476"/>
            <a:ext cx="676973"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15:30+</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Many results</a:t>
            </a:r>
          </a:p>
          <a:p>
            <a:pPr algn="ctr">
              <a:lnSpc>
                <a:spcPct val="100000"/>
              </a:lnSpc>
            </a:pPr>
            <a:r>
              <a:rPr sz="1150" b="0" i="0">
                <a:solidFill>
                  <a:srgbClr val="47596B"/>
                </a:solidFill>
                <a:latin typeface="Segoe UI"/>
              </a:rPr>
              <a:t>Gap at the next open; hits swing</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During-hours events hurt intraday trades; overnight events hurt swing trades. Know which one you are holding.</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no-trade rules: match the event to the trade</a:t>
            </a:r>
          </a:p>
        </p:txBody>
      </p:sp>
      <p:sp>
        <p:nvSpPr>
          <p:cNvPr id="4" name="TextBox 3"/>
          <p:cNvSpPr txBox="1"/>
          <p:nvPr/>
        </p:nvSpPr>
        <p:spPr>
          <a:xfrm>
            <a:off x="457200" y="1335024"/>
            <a:ext cx="5519776" cy="4279392"/>
          </a:xfrm>
          <a:prstGeom prst="rect">
            <a:avLst/>
          </a:prstGeom>
          <a:noFill/>
        </p:spPr>
        <p:txBody>
          <a:bodyPr wrap="square" lIns="0" rIns="0" tIns="0" bIns="0" anchor="t">
            <a:noAutofit/>
          </a:bodyPr>
          <a:lstStyle/>
          <a:p>
            <a:pPr algn="l" marL="274320" indent="-274320">
              <a:lnSpc>
                <a:spcPct val="100000"/>
              </a:lnSpc>
              <a:spcAft>
                <a:spcPts val="850"/>
              </a:spcAft>
              <a:buClr>
                <a:srgbClr val="F5A623"/>
              </a:buClr>
              <a:buFont typeface="Arial"/>
              <a:buChar char="•"/>
            </a:pPr>
            <a:r>
              <a:rPr sz="1700" b="0" i="0">
                <a:solidFill>
                  <a:srgbClr val="18232F"/>
                </a:solidFill>
                <a:latin typeface="Segoe UI"/>
              </a:rPr>
              <a:t>A no-trade rule is a line on your Rule Card that names the days you stay out, decided before those days arrive.</a:t>
            </a:r>
          </a:p>
          <a:p>
            <a:pPr algn="l" marL="274320" indent="-274320">
              <a:lnSpc>
                <a:spcPct val="100000"/>
              </a:lnSpc>
              <a:spcAft>
                <a:spcPts val="850"/>
              </a:spcAft>
              <a:buClr>
                <a:srgbClr val="F5A623"/>
              </a:buClr>
              <a:buFont typeface="Arial"/>
              <a:buChar char="•"/>
            </a:pPr>
            <a:r>
              <a:rPr sz="1700" b="0" i="0">
                <a:solidFill>
                  <a:srgbClr val="18232F"/>
                </a:solidFill>
                <a:latin typeface="Segoe UI"/>
              </a:rPr>
              <a:t>Your default strategy, EMA Pullback Swing (Day 11), holds overnight, so overnight events matter most to it.</a:t>
            </a:r>
          </a:p>
          <a:p>
            <a:pPr algn="l" marL="274320" indent="-274320">
              <a:lnSpc>
                <a:spcPct val="100000"/>
              </a:lnSpc>
              <a:spcAft>
                <a:spcPts val="850"/>
              </a:spcAft>
              <a:buClr>
                <a:srgbClr val="F5A623"/>
              </a:buClr>
              <a:buFont typeface="Arial"/>
              <a:buChar char="•"/>
            </a:pPr>
            <a:r>
              <a:rPr sz="1700" b="0" i="0">
                <a:solidFill>
                  <a:srgbClr val="18232F"/>
                </a:solidFill>
                <a:latin typeface="Segoe UI"/>
              </a:rPr>
              <a:t>The optional ORB (Day 13) opens and closes within one trading day (its time exit is 14:30), so during-hours events matter most to it.</a:t>
            </a:r>
          </a:p>
          <a:p>
            <a:pPr algn="l" marL="274320" indent="-274320">
              <a:lnSpc>
                <a:spcPct val="100000"/>
              </a:lnSpc>
              <a:spcAft>
                <a:spcPts val="850"/>
              </a:spcAft>
              <a:buClr>
                <a:srgbClr val="F5A623"/>
              </a:buClr>
              <a:buFont typeface="Arial"/>
              <a:buChar char="•"/>
            </a:pPr>
            <a:r>
              <a:rPr sz="1700" b="0" i="0">
                <a:solidFill>
                  <a:srgbClr val="18232F"/>
                </a:solidFill>
                <a:latin typeface="Segoe UI"/>
              </a:rPr>
              <a:t>And Aman's two swing entries on Budget morning?</a:t>
            </a:r>
          </a:p>
          <a:p>
            <a:pPr algn="l" marL="274320" indent="-274320">
              <a:lnSpc>
                <a:spcPct val="100000"/>
              </a:lnSpc>
              <a:buClr>
                <a:srgbClr val="F5A623"/>
              </a:buClr>
              <a:buFont typeface="Arial"/>
              <a:buChar char="•"/>
            </a:pPr>
            <a:r>
              <a:rPr sz="1700" b="0" i="0">
                <a:solidFill>
                  <a:srgbClr val="18232F"/>
                </a:solidFill>
                <a:latin typeface="Segoe UI"/>
              </a:rPr>
              <a:t>The starter table does not block them, because the speech lands during market hours, when a stop usually fills close to 1R, plus some slippage in a fast market.</a:t>
            </a:r>
          </a:p>
        </p:txBody>
      </p:sp>
      <p:sp>
        <p:nvSpPr>
          <p:cNvPr id="5" name="Rounded Rectangle 4"/>
          <p:cNvSpPr/>
          <p:nvPr/>
        </p:nvSpPr>
        <p:spPr>
          <a:xfrm>
            <a:off x="6214720" y="1335024"/>
            <a:ext cx="5519776" cy="4279392"/>
          </a:xfrm>
          <a:prstGeom prst="roundRect">
            <a:avLst>
              <a:gd name="adj" fmla="val 256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3822192"/>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Priya writes four lines on Sunday. One: no new swing entry in a stock whose results fall inside my 15-trading-day window (Day 11). Two: if a results date is announced after I enter, I exit before the close on the trading day before the results, and log it as a planned exit. (If I would rather hold through results, I write that on Sunday instead and accept that the loss could be 2R or more.) Three: no ORB on an RBI policy day or Budget day, or in a stock on its own results day. Four: on an ex-date, I do not read the adjusted drop as a signal. Expiry days and index-change days get a note on her calendar but no rule of their own: she trades no F&amp;O, and index-fund buying is mechanical, so she simply does not read that day's volume as a signal. Her count for next month: one RBI day with no ORB, and 1 of her 8 watchlist stocks (Kiran Foods Ltd) blocked for new swing entries. Every other day is normal.</a:t>
            </a:r>
          </a:p>
        </p:txBody>
      </p:sp>
      <p:sp>
        <p:nvSpPr>
          <p:cNvPr id="8" name="Rounded Rectangle 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10" name="TextBox 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Decide the event rule on Sunday, not at 9:14 on the day.</a:t>
            </a:r>
          </a:p>
        </p:txBody>
      </p:sp>
      <p:pic>
        <p:nvPicPr>
          <p:cNvPr id="11" name="Picture 10" descr="logo.png"/>
          <p:cNvPicPr>
            <a:picLocks noChangeAspect="1"/>
          </p:cNvPicPr>
          <p:nvPr/>
        </p:nvPicPr>
        <p:blipFill>
          <a:blip r:embed="rId2"/>
          <a:stretch>
            <a:fillRect/>
          </a:stretch>
        </p:blipFill>
        <p:spPr>
          <a:xfrm>
            <a:off x="457200" y="6437376"/>
            <a:ext cx="237744" cy="237744"/>
          </a:xfrm>
          <a:prstGeom prst="rect">
            <a:avLst/>
          </a:prstGeom>
        </p:spPr>
      </p:pic>
      <p:sp>
        <p:nvSpPr>
          <p:cNvPr id="1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3" name="TextBox 1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4/6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no-trade rules: match the event to the trade</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40080" y="1481328"/>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starter no-trade table</a:t>
            </a: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starting point to adapt, not a law. Write your own version on your Rule Card.</a:t>
            </a:r>
          </a:p>
        </p:txBody>
      </p:sp>
      <p:sp>
        <p:nvSpPr>
          <p:cNvPr id="7" name="Rounded Rectangle 6"/>
          <p:cNvSpPr/>
          <p:nvPr/>
        </p:nvSpPr>
        <p:spPr>
          <a:xfrm>
            <a:off x="640080"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Rounded Rectangle 7"/>
          <p:cNvSpPr/>
          <p:nvPr/>
        </p:nvSpPr>
        <p:spPr>
          <a:xfrm>
            <a:off x="640080" y="2533269"/>
            <a:ext cx="3527450" cy="463296"/>
          </a:xfrm>
          <a:prstGeom prst="roundRect">
            <a:avLst>
              <a:gd name="adj" fmla="val 1973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ectangle 8"/>
          <p:cNvSpPr/>
          <p:nvPr/>
        </p:nvSpPr>
        <p:spPr>
          <a:xfrm>
            <a:off x="640080" y="2764917"/>
            <a:ext cx="3527450" cy="23164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640080" y="2533269"/>
            <a:ext cx="3527450" cy="2623566"/>
          </a:xfrm>
          <a:prstGeom prst="roundRect">
            <a:avLst>
              <a:gd name="adj" fmla="val 3485"/>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2533269"/>
            <a:ext cx="3234842" cy="463296"/>
          </a:xfrm>
          <a:prstGeom prst="rect">
            <a:avLst/>
          </a:prstGeom>
          <a:noFill/>
        </p:spPr>
        <p:txBody>
          <a:bodyPr wrap="square" lIns="0" rIns="0" tIns="0" bIns="0" anchor="ctr">
            <a:noAutofit/>
          </a:bodyPr>
          <a:lstStyle/>
          <a:p>
            <a:pPr algn="l">
              <a:lnSpc>
                <a:spcPct val="100000"/>
              </a:lnSpc>
            </a:pPr>
            <a:r>
              <a:rPr sz="1600" b="1" i="0">
                <a:solidFill>
                  <a:srgbClr val="095A90"/>
                </a:solidFill>
                <a:latin typeface="Segoe UI"/>
              </a:rPr>
              <a:t>EMA Pullback (swing)</a:t>
            </a:r>
          </a:p>
        </p:txBody>
      </p:sp>
      <p:cxnSp>
        <p:nvCxnSpPr>
          <p:cNvPr id="12" name="Connector 11"/>
          <p:cNvCxnSpPr/>
          <p:nvPr/>
        </p:nvCxnSpPr>
        <p:spPr>
          <a:xfrm>
            <a:off x="640080" y="2996565"/>
            <a:ext cx="3527450"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0093D6"/>
              </a:buClr>
              <a:buFont typeface="Arial"/>
              <a:buChar char="•"/>
            </a:pPr>
            <a:r>
              <a:rPr sz="1500" b="0" i="0">
                <a:solidFill>
                  <a:srgbClr val="18232F"/>
                </a:solidFill>
                <a:latin typeface="Segoe UI"/>
              </a:rPr>
              <a:t>Results in window: no new entry</a:t>
            </a:r>
          </a:p>
          <a:p>
            <a:pPr algn="l" marL="201168" indent="-201168">
              <a:lnSpc>
                <a:spcPct val="100000"/>
              </a:lnSpc>
              <a:spcAft>
                <a:spcPts val="750"/>
              </a:spcAft>
              <a:buClr>
                <a:srgbClr val="0093D6"/>
              </a:buClr>
              <a:buFont typeface="Arial"/>
              <a:buChar char="•"/>
            </a:pPr>
            <a:r>
              <a:rPr sz="1500" b="0" i="0">
                <a:solidFill>
                  <a:srgbClr val="18232F"/>
                </a:solidFill>
                <a:latin typeface="Segoe UI"/>
              </a:rPr>
              <a:t>Holding into results: exit the day before</a:t>
            </a:r>
          </a:p>
          <a:p>
            <a:pPr algn="l" marL="201168" indent="-201168">
              <a:lnSpc>
                <a:spcPct val="100000"/>
              </a:lnSpc>
              <a:buClr>
                <a:srgbClr val="0093D6"/>
              </a:buClr>
              <a:buFont typeface="Arial"/>
              <a:buChar char="•"/>
            </a:pPr>
            <a:r>
              <a:rPr sz="1500" b="0" i="0">
                <a:solidFill>
                  <a:srgbClr val="18232F"/>
                </a:solidFill>
                <a:latin typeface="Segoe UI"/>
              </a:rPr>
              <a:t>Ex-date: the drop is an adjustment</a:t>
            </a:r>
          </a:p>
        </p:txBody>
      </p:sp>
      <p:sp>
        <p:nvSpPr>
          <p:cNvPr id="14" name="Rounded Rectangle 13"/>
          <p:cNvSpPr/>
          <p:nvPr/>
        </p:nvSpPr>
        <p:spPr>
          <a:xfrm>
            <a:off x="4332122"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4332122" y="2533269"/>
            <a:ext cx="3527450" cy="463296"/>
          </a:xfrm>
          <a:prstGeom prst="roundRect">
            <a:avLst>
              <a:gd name="adj" fmla="val 1973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Rectangle 15"/>
          <p:cNvSpPr/>
          <p:nvPr/>
        </p:nvSpPr>
        <p:spPr>
          <a:xfrm>
            <a:off x="4332122" y="2764917"/>
            <a:ext cx="3527450" cy="23164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332122" y="2533269"/>
            <a:ext cx="3527450" cy="2623566"/>
          </a:xfrm>
          <a:prstGeom prst="roundRect">
            <a:avLst>
              <a:gd name="adj" fmla="val 3485"/>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478426" y="2533269"/>
            <a:ext cx="3234842" cy="463296"/>
          </a:xfrm>
          <a:prstGeom prst="rect">
            <a:avLst/>
          </a:prstGeom>
          <a:noFill/>
        </p:spPr>
        <p:txBody>
          <a:bodyPr wrap="square" lIns="0" rIns="0" tIns="0" bIns="0" anchor="ctr">
            <a:noAutofit/>
          </a:bodyPr>
          <a:lstStyle/>
          <a:p>
            <a:pPr algn="l">
              <a:lnSpc>
                <a:spcPct val="100000"/>
              </a:lnSpc>
            </a:pPr>
            <a:r>
              <a:rPr sz="1600" b="1" i="0">
                <a:solidFill>
                  <a:srgbClr val="92400E"/>
                </a:solidFill>
                <a:latin typeface="Segoe UI"/>
              </a:rPr>
              <a:t>ORB (optional, intraday)</a:t>
            </a:r>
          </a:p>
        </p:txBody>
      </p:sp>
      <p:cxnSp>
        <p:nvCxnSpPr>
          <p:cNvPr id="19" name="Connector 18"/>
          <p:cNvCxnSpPr/>
          <p:nvPr/>
        </p:nvCxnSpPr>
        <p:spPr>
          <a:xfrm>
            <a:off x="4332122" y="2996565"/>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78426"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F5A524"/>
              </a:buClr>
              <a:buFont typeface="Arial"/>
              <a:buChar char="•"/>
            </a:pPr>
            <a:r>
              <a:rPr sz="1500" b="0" i="0">
                <a:solidFill>
                  <a:srgbClr val="18232F"/>
                </a:solidFill>
                <a:latin typeface="Segoe UI"/>
              </a:rPr>
              <a:t>RBI policy day: no ORB</a:t>
            </a:r>
          </a:p>
          <a:p>
            <a:pPr algn="l" marL="201168" indent="-201168">
              <a:lnSpc>
                <a:spcPct val="100000"/>
              </a:lnSpc>
              <a:spcAft>
                <a:spcPts val="750"/>
              </a:spcAft>
              <a:buClr>
                <a:srgbClr val="F5A524"/>
              </a:buClr>
              <a:buFont typeface="Arial"/>
              <a:buChar char="•"/>
            </a:pPr>
            <a:r>
              <a:rPr sz="1500" b="0" i="0">
                <a:solidFill>
                  <a:srgbClr val="18232F"/>
                </a:solidFill>
                <a:latin typeface="Segoe UI"/>
              </a:rPr>
              <a:t>Budget day: no ORB</a:t>
            </a:r>
          </a:p>
          <a:p>
            <a:pPr algn="l" marL="201168" indent="-201168">
              <a:lnSpc>
                <a:spcPct val="100000"/>
              </a:lnSpc>
              <a:spcAft>
                <a:spcPts val="750"/>
              </a:spcAft>
              <a:buClr>
                <a:srgbClr val="F5A524"/>
              </a:buClr>
              <a:buFont typeface="Arial"/>
              <a:buChar char="•"/>
            </a:pPr>
            <a:r>
              <a:rPr sz="1500" b="0" i="0">
                <a:solidFill>
                  <a:srgbClr val="18232F"/>
                </a:solidFill>
                <a:latin typeface="Segoe UI"/>
              </a:rPr>
              <a:t>Stock's results day: skip that stock</a:t>
            </a:r>
          </a:p>
          <a:p>
            <a:pPr algn="l" marL="201168" indent="-201168">
              <a:lnSpc>
                <a:spcPct val="100000"/>
              </a:lnSpc>
              <a:buClr>
                <a:srgbClr val="F5A524"/>
              </a:buClr>
              <a:buFont typeface="Arial"/>
              <a:buChar char="•"/>
            </a:pPr>
            <a:r>
              <a:rPr sz="1500" b="0" i="0">
                <a:solidFill>
                  <a:srgbClr val="18232F"/>
                </a:solidFill>
                <a:latin typeface="Segoe UI"/>
              </a:rPr>
              <a:t>Big gap open: Day 13 list</a:t>
            </a:r>
          </a:p>
        </p:txBody>
      </p:sp>
      <p:sp>
        <p:nvSpPr>
          <p:cNvPr id="21" name="Rounded Rectangle 20"/>
          <p:cNvSpPr/>
          <p:nvPr/>
        </p:nvSpPr>
        <p:spPr>
          <a:xfrm>
            <a:off x="8024165" y="2533269"/>
            <a:ext cx="3527450" cy="2623566"/>
          </a:xfrm>
          <a:prstGeom prst="roundRect">
            <a:avLst>
              <a:gd name="adj" fmla="val 34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ounded Rectangle 21"/>
          <p:cNvSpPr/>
          <p:nvPr/>
        </p:nvSpPr>
        <p:spPr>
          <a:xfrm>
            <a:off x="8024165" y="2533269"/>
            <a:ext cx="3527450"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8024165" y="2764917"/>
            <a:ext cx="3527450"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8024165" y="2533269"/>
            <a:ext cx="3527450" cy="2623566"/>
          </a:xfrm>
          <a:prstGeom prst="roundRect">
            <a:avLst>
              <a:gd name="adj" fmla="val 348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TextBox 24"/>
          <p:cNvSpPr txBox="1"/>
          <p:nvPr/>
        </p:nvSpPr>
        <p:spPr>
          <a:xfrm>
            <a:off x="8170469" y="2533269"/>
            <a:ext cx="3234842"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Every day</a:t>
            </a:r>
          </a:p>
        </p:txBody>
      </p:sp>
      <p:cxnSp>
        <p:nvCxnSpPr>
          <p:cNvPr id="26" name="Connector 25"/>
          <p:cNvCxnSpPr/>
          <p:nvPr/>
        </p:nvCxnSpPr>
        <p:spPr>
          <a:xfrm>
            <a:off x="8024165" y="2996565"/>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70469" y="3142869"/>
            <a:ext cx="3234842" cy="19773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Before any entry: calendar + that stock's NSE page</a:t>
            </a:r>
          </a:p>
          <a:p>
            <a:pPr algn="l" marL="201168" indent="-201168">
              <a:lnSpc>
                <a:spcPct val="100000"/>
              </a:lnSpc>
              <a:spcAft>
                <a:spcPts val="750"/>
              </a:spcAft>
              <a:buClr>
                <a:srgbClr val="16A34A"/>
              </a:buClr>
              <a:buFont typeface="Arial"/>
              <a:buChar char="•"/>
            </a:pPr>
            <a:r>
              <a:rPr sz="1500" b="0" i="0">
                <a:solidFill>
                  <a:srgbClr val="18232F"/>
                </a:solidFill>
                <a:latin typeface="Segoe UI"/>
              </a:rPr>
              <a:t>Skipped by rule = adherence</a:t>
            </a:r>
          </a:p>
          <a:p>
            <a:pPr algn="l" marL="201168" indent="-201168">
              <a:lnSpc>
                <a:spcPct val="100000"/>
              </a:lnSpc>
              <a:spcAft>
                <a:spcPts val="750"/>
              </a:spcAft>
              <a:buClr>
                <a:srgbClr val="16A34A"/>
              </a:buClr>
              <a:buFont typeface="Arial"/>
              <a:buChar char="•"/>
            </a:pPr>
            <a:r>
              <a:rPr sz="1500" b="0" i="0">
                <a:solidFill>
                  <a:srgbClr val="18232F"/>
                </a:solidFill>
                <a:latin typeface="Segoe UI"/>
              </a:rPr>
              <a:t>Log every event gap in R</a:t>
            </a:r>
          </a:p>
          <a:p>
            <a:pPr algn="l" marL="201168" indent="-201168">
              <a:lnSpc>
                <a:spcPct val="100000"/>
              </a:lnSpc>
              <a:buClr>
                <a:srgbClr val="16A34A"/>
              </a:buClr>
              <a:buFont typeface="Arial"/>
              <a:buChar char="•"/>
            </a:pPr>
            <a:r>
              <a:rPr sz="1500" b="0" i="0">
                <a:solidFill>
                  <a:srgbClr val="18232F"/>
                </a:solidFill>
                <a:latin typeface="Segoe UI"/>
              </a:rPr>
              <a:t>Expiry or index-change day: note only, no block</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Build your 30-day calendar from official sources</a:t>
            </a:r>
          </a:p>
        </p:txBody>
      </p:sp>
      <p:sp>
        <p:nvSpPr>
          <p:cNvPr id="4" name="TextBox 3"/>
          <p:cNvSpPr txBox="1"/>
          <p:nvPr/>
        </p:nvSpPr>
        <p:spPr>
          <a:xfrm>
            <a:off x="457200" y="1335024"/>
            <a:ext cx="5519776" cy="23888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Your calendar is one simple sheet with six columns: date, event, place and time (such as 'stock, overnight'), strategy hit, your rule, and 'source checked'.</a:t>
            </a:r>
          </a:p>
          <a:p>
            <a:pPr algn="l" marL="274320" indent="-274320">
              <a:lnSpc>
                <a:spcPct val="100000"/>
              </a:lnSpc>
              <a:spcAft>
                <a:spcPts val="750"/>
              </a:spcAft>
              <a:buClr>
                <a:srgbClr val="F5A623"/>
              </a:buClr>
              <a:buFont typeface="Arial"/>
              <a:buChar char="•"/>
            </a:pPr>
            <a:r>
              <a:rPr sz="1500" b="0" i="0">
                <a:solidFill>
                  <a:srgbClr val="18232F"/>
                </a:solidFill>
                <a:latin typeface="Segoe UI"/>
              </a:rPr>
              <a:t>Every date comes from an official page: the NSE holiday list and circulars.</a:t>
            </a:r>
          </a:p>
          <a:p>
            <a:pPr algn="l" marL="274320" indent="-274320">
              <a:lnSpc>
                <a:spcPct val="100000"/>
              </a:lnSpc>
              <a:spcAft>
                <a:spcPts val="750"/>
              </a:spcAft>
              <a:buClr>
                <a:srgbClr val="F5A623"/>
              </a:buClr>
              <a:buFont typeface="Arial"/>
              <a:buChar char="•"/>
            </a:pPr>
            <a:r>
              <a:rPr sz="1500" b="0" i="0">
                <a:solidFill>
                  <a:srgbClr val="18232F"/>
                </a:solidFill>
                <a:latin typeface="Segoe UI"/>
              </a:rPr>
              <a:t>Expiry dates in the expiry list of the NIFTY option chain on nseindia.com (Day 18)</a:t>
            </a:r>
          </a:p>
          <a:p>
            <a:pPr algn="l" marL="274320" indent="-274320">
              <a:lnSpc>
                <a:spcPct val="100000"/>
              </a:lnSpc>
              <a:buClr>
                <a:srgbClr val="F5A623"/>
              </a:buClr>
              <a:buFont typeface="Arial"/>
              <a:buChar char="•"/>
            </a:pPr>
            <a:r>
              <a:rPr sz="1500" b="0" i="0">
                <a:solidFill>
                  <a:srgbClr val="18232F"/>
                </a:solidFill>
                <a:latin typeface="Segoe UI"/>
              </a:rPr>
              <a:t>Board-meeting and corporate-action notices under NSE or BSE corporate announcements.</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One row of Priya's sheet reads: '12th | Kiran Foods Ltd results | stock, time not given: could be either | both | no new swing entry until results are out; if holding, exit before the close on the 11th; no ORB in it on the 12th | NSE announcement, checked'. She also sets a phone reminder for 8 pm on the evening before each action day: the 10th for this row, because the exit must happen before the close on the 11th. That way the rule reaches her before the market does. Her first full build took about 40 minutes; each Sunday refresh takes about 10. Her whole month is the model calendar in today's task.</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From official page to Rule Card</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Tick 'source checked' only after you have seen the date on the official page yourself.</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Official page</a:t>
            </a:r>
          </a:p>
          <a:p>
            <a:pPr algn="ctr">
              <a:lnSpc>
                <a:spcPct val="100000"/>
              </a:lnSpc>
            </a:pPr>
            <a:r>
              <a:rPr sz="1200" b="0" i="0">
                <a:solidFill>
                  <a:srgbClr val="47596B"/>
                </a:solidFill>
                <a:latin typeface="Segoe UI"/>
              </a:rPr>
              <a:t>NSE, BSE, RBI, govt, Fed</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copy date</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Your sheet</a:t>
            </a:r>
          </a:p>
          <a:p>
            <a:pPr algn="ctr">
              <a:lnSpc>
                <a:spcPct val="100000"/>
              </a:lnSpc>
            </a:pPr>
            <a:r>
              <a:rPr sz="1200" b="0" i="0">
                <a:solidFill>
                  <a:srgbClr val="47596B"/>
                </a:solidFill>
                <a:latin typeface="Segoe UI"/>
              </a:rPr>
              <a:t>Date, time, place</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tag</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Match strategy</a:t>
            </a:r>
          </a:p>
          <a:p>
            <a:pPr algn="ctr">
              <a:lnSpc>
                <a:spcPct val="100000"/>
              </a:lnSpc>
            </a:pPr>
            <a:r>
              <a:rPr sz="1200" b="0" i="0">
                <a:solidFill>
                  <a:srgbClr val="47596B"/>
                </a:solidFill>
                <a:latin typeface="Segoe UI"/>
              </a:rPr>
              <a:t>Swing or ORB?</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decide</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Write the rule</a:t>
            </a:r>
          </a:p>
          <a:p>
            <a:pPr algn="ctr">
              <a:lnSpc>
                <a:spcPct val="100000"/>
              </a:lnSpc>
            </a:pPr>
            <a:r>
              <a:rPr sz="1200" b="0" i="0">
                <a:solidFill>
                  <a:srgbClr val="47596B"/>
                </a:solidFill>
                <a:latin typeface="Segoe UI"/>
              </a:rPr>
              <a:t>On your Rule Card</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repeat</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Sunday refresh</a:t>
            </a:r>
          </a:p>
          <a:p>
            <a:pPr algn="ctr">
              <a:lnSpc>
                <a:spcPct val="100000"/>
              </a:lnSpc>
            </a:pPr>
            <a:r>
              <a:rPr sz="1200" b="0" i="0">
                <a:solidFill>
                  <a:srgbClr val="47596B"/>
                </a:solidFill>
                <a:latin typeface="Segoe UI"/>
              </a:rPr>
              <a:t>New notices keep coming</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AI drafts the table; official sites fill in the dates.</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Fear of missing the big day</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Big event days feel like a Diwali sale: news channels count down, groups buzz, and staying out feels like missing the one day that matters.</a:t>
            </a:r>
          </a:p>
          <a:p>
            <a:pPr algn="l" marL="274320" indent="-274320">
              <a:lnSpc>
                <a:spcPct val="100000"/>
              </a:lnSpc>
              <a:spcAft>
                <a:spcPts val="800"/>
              </a:spcAft>
              <a:buClr>
                <a:srgbClr val="F5A623"/>
              </a:buClr>
              <a:buFont typeface="Arial"/>
              <a:buChar char="•"/>
            </a:pPr>
            <a:r>
              <a:rPr sz="1600" b="0" i="0">
                <a:solidFill>
                  <a:srgbClr val="18232F"/>
                </a:solidFill>
                <a:latin typeface="Segoe UI"/>
              </a:rPr>
              <a:t>Day 13 met FOMO, the fear of missing out, in a running breakout.</a:t>
            </a:r>
          </a:p>
          <a:p>
            <a:pPr algn="l" marL="274320" indent="-274320">
              <a:lnSpc>
                <a:spcPct val="100000"/>
              </a:lnSpc>
              <a:spcAft>
                <a:spcPts val="800"/>
              </a:spcAft>
              <a:buClr>
                <a:srgbClr val="F5A623"/>
              </a:buClr>
              <a:buFont typeface="Arial"/>
              <a:buChar char="•"/>
            </a:pPr>
            <a:r>
              <a:rPr sz="1600" b="0" i="0">
                <a:solidFill>
                  <a:srgbClr val="18232F"/>
                </a:solidFill>
                <a:latin typeface="Segoe UI"/>
              </a:rPr>
              <a:t>Here it comes dressed as a date.</a:t>
            </a:r>
          </a:p>
          <a:p>
            <a:pPr algn="l" marL="274320" indent="-274320">
              <a:lnSpc>
                <a:spcPct val="100000"/>
              </a:lnSpc>
              <a:buClr>
                <a:srgbClr val="F5A623"/>
              </a:buClr>
              <a:buFont typeface="Arial"/>
              <a:buChar char="•"/>
            </a:pPr>
            <a:r>
              <a:rPr sz="1600" b="0" i="0">
                <a:solidFill>
                  <a:srgbClr val="18232F"/>
                </a:solidFill>
                <a:latin typeface="Segoe UI"/>
              </a:rPr>
              <a:t>On such days prices often swing both ways within minutes, spreads widen (Day 2), and the move is a reaction to news nobody could know in advance.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In this illustrative Budget day, NIFTY 50 was 1.6% above its open by 11:30, soon after the speech began. Two hours later it was 1.1% below the open, and it closed 0.4% lower. Anyone who chased the first surge and anyone who sold the later dip could both have been stopped out on the same day. … His journal entry: no-trade day, rule followed.</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One Budget day, both ways</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Open = 100. Up 1.6% by 11:30, down 1.1% by 13:30, closed 0.4% lower. At 9:15 nobody knew the direction.</a:t>
            </a:r>
          </a:p>
        </p:txBody>
      </p:sp>
      <p:sp>
        <p:nvSpPr>
          <p:cNvPr id="12" name="TextBox 11"/>
          <p:cNvSpPr txBox="1"/>
          <p:nvPr/>
        </p:nvSpPr>
        <p:spPr>
          <a:xfrm>
            <a:off x="6397600" y="179679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Open = 100</a:t>
            </a:r>
          </a:p>
        </p:txBody>
      </p:sp>
      <p:cxnSp>
        <p:nvCxnSpPr>
          <p:cNvPr id="13" name="Connector 12"/>
          <p:cNvCxnSpPr/>
          <p:nvPr/>
        </p:nvCxnSpPr>
        <p:spPr>
          <a:xfrm>
            <a:off x="6812159" y="483717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97600" y="475488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98.7</a:t>
            </a:r>
          </a:p>
        </p:txBody>
      </p:sp>
      <p:cxnSp>
        <p:nvCxnSpPr>
          <p:cNvPr id="15" name="Connector 14"/>
          <p:cNvCxnSpPr/>
          <p:nvPr/>
        </p:nvCxnSpPr>
        <p:spPr>
          <a:xfrm>
            <a:off x="6812159" y="4191381"/>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97600" y="4109085"/>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99.5</a:t>
            </a:r>
          </a:p>
        </p:txBody>
      </p:sp>
      <p:cxnSp>
        <p:nvCxnSpPr>
          <p:cNvPr id="17" name="Connector 16"/>
          <p:cNvCxnSpPr/>
          <p:nvPr/>
        </p:nvCxnSpPr>
        <p:spPr>
          <a:xfrm>
            <a:off x="6812159" y="354558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346329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100.2</a:t>
            </a:r>
          </a:p>
        </p:txBody>
      </p:sp>
      <p:cxnSp>
        <p:nvCxnSpPr>
          <p:cNvPr id="19" name="Connector 18"/>
          <p:cNvCxnSpPr/>
          <p:nvPr/>
        </p:nvCxnSpPr>
        <p:spPr>
          <a:xfrm>
            <a:off x="6812159" y="2899791"/>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2817495"/>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101.0</a:t>
            </a:r>
          </a:p>
        </p:txBody>
      </p:sp>
      <p:cxnSp>
        <p:nvCxnSpPr>
          <p:cNvPr id="21" name="Connector 20"/>
          <p:cNvCxnSpPr/>
          <p:nvPr/>
        </p:nvCxnSpPr>
        <p:spPr>
          <a:xfrm>
            <a:off x="6812159" y="225399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217170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101.8</a:t>
            </a:r>
          </a:p>
        </p:txBody>
      </p:sp>
      <p:cxnSp>
        <p:nvCxnSpPr>
          <p:cNvPr id="23" name="Connector 22"/>
          <p:cNvCxnSpPr/>
          <p:nvPr/>
        </p:nvCxnSpPr>
        <p:spPr>
          <a:xfrm>
            <a:off x="8118724" y="2107692"/>
            <a:ext cx="0" cy="272948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64444" y="2016252"/>
            <a:ext cx="85457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Speech starts</a:t>
            </a:r>
          </a:p>
        </p:txBody>
      </p:sp>
      <p:sp>
        <p:nvSpPr>
          <p:cNvPr id="25" name="Freeform 24"/>
          <p:cNvSpPr/>
          <p:nvPr/>
        </p:nvSpPr>
        <p:spPr>
          <a:xfrm>
            <a:off x="6812159" y="2432146"/>
            <a:ext cx="4666304" cy="2226880"/>
          </a:xfrm>
          <a:custGeom>
            <a:avLst/>
            <a:gdLst/>
            <a:ahLst/>
            <a:cxnLst/>
            <a:rect l="l" t="t" r="r" b="b"/>
            <a:pathLst>
              <a:path w="4666304" h="2226880">
                <a:moveTo>
                  <a:pt x="0" y="1319633"/>
                </a:moveTo>
                <a:lnTo>
                  <a:pt x="186653" y="1072201"/>
                </a:lnTo>
                <a:lnTo>
                  <a:pt x="373305" y="907247"/>
                </a:lnTo>
                <a:lnTo>
                  <a:pt x="559957" y="989724"/>
                </a:lnTo>
                <a:lnTo>
                  <a:pt x="746609" y="824770"/>
                </a:lnTo>
                <a:lnTo>
                  <a:pt x="933261" y="742293"/>
                </a:lnTo>
                <a:lnTo>
                  <a:pt x="1119913" y="824770"/>
                </a:lnTo>
                <a:lnTo>
                  <a:pt x="1306565" y="659816"/>
                </a:lnTo>
                <a:lnTo>
                  <a:pt x="1493218" y="247431"/>
                </a:lnTo>
                <a:lnTo>
                  <a:pt x="1679870" y="0"/>
                </a:lnTo>
                <a:lnTo>
                  <a:pt x="1866522" y="577339"/>
                </a:lnTo>
                <a:lnTo>
                  <a:pt x="2053174" y="1154679"/>
                </a:lnTo>
                <a:lnTo>
                  <a:pt x="2239826" y="1649541"/>
                </a:lnTo>
                <a:lnTo>
                  <a:pt x="2426478" y="2061926"/>
                </a:lnTo>
                <a:lnTo>
                  <a:pt x="2613131" y="1732018"/>
                </a:lnTo>
                <a:lnTo>
                  <a:pt x="2799783" y="1237156"/>
                </a:lnTo>
                <a:lnTo>
                  <a:pt x="2986435" y="1814495"/>
                </a:lnTo>
                <a:lnTo>
                  <a:pt x="3173087" y="2226880"/>
                </a:lnTo>
                <a:lnTo>
                  <a:pt x="3359739" y="1979449"/>
                </a:lnTo>
                <a:lnTo>
                  <a:pt x="3546391" y="1649541"/>
                </a:lnTo>
                <a:lnTo>
                  <a:pt x="3733043" y="1896972"/>
                </a:lnTo>
                <a:lnTo>
                  <a:pt x="3919696" y="2144403"/>
                </a:lnTo>
                <a:lnTo>
                  <a:pt x="4106348" y="1814495"/>
                </a:lnTo>
                <a:lnTo>
                  <a:pt x="4293000" y="1567064"/>
                </a:lnTo>
                <a:lnTo>
                  <a:pt x="4479652" y="1732018"/>
                </a:lnTo>
                <a:lnTo>
                  <a:pt x="4666304" y="1649541"/>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159" y="487375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Time, 9:15 to 15:30</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9" name="TextBox 28"/>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Skipping a blocked trade costs no money. A bad big day can cost weeks.</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Event</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scheduled moment when big new information reaches the market at once, such as results, an RBI policy decision or the Budget.</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95806"/>
            <a:ext cx="5154016"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Event calendar</a:t>
            </a:r>
          </a:p>
        </p:txBody>
      </p:sp>
      <p:sp>
        <p:nvSpPr>
          <p:cNvPr id="9" name="TextBox 8"/>
          <p:cNvSpPr txBox="1"/>
          <p:nvPr/>
        </p:nvSpPr>
        <p:spPr>
          <a:xfrm>
            <a:off x="6379312" y="1809750"/>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Your list of coming event dates, each checked on an official site, with your rule written next to it.</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71394"/>
            <a:ext cx="5154016"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No-trade day</a:t>
            </a:r>
          </a:p>
        </p:txBody>
      </p:sp>
      <p:sp>
        <p:nvSpPr>
          <p:cNvPr id="12" name="TextBox 11"/>
          <p:cNvSpPr txBox="1"/>
          <p:nvPr/>
        </p:nvSpPr>
        <p:spPr>
          <a:xfrm>
            <a:off x="658368"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A day your written rules keep you out of a strategy. Staying out on it counts as adherence.</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71394"/>
            <a:ext cx="5154016"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Board meeting notice</a:t>
            </a:r>
          </a:p>
        </p:txBody>
      </p:sp>
      <p:sp>
        <p:nvSpPr>
          <p:cNvPr id="15" name="TextBox 14"/>
          <p:cNvSpPr txBox="1"/>
          <p:nvPr/>
        </p:nvSpPr>
        <p:spPr>
          <a:xfrm>
            <a:off x="6379312"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A company's advance notice, under NSE or BSE corporate announcements, of the meeting that approves its results.</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46982"/>
            <a:ext cx="5154016"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Overnight event</a:t>
            </a:r>
          </a:p>
        </p:txBody>
      </p:sp>
      <p:sp>
        <p:nvSpPr>
          <p:cNvPr id="18" name="TextBox 17"/>
          <p:cNvSpPr txBox="1"/>
          <p:nvPr/>
        </p:nvSpPr>
        <p:spPr>
          <a:xfrm>
            <a:off x="658368" y="4360926"/>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News that arrives while the market is shut and often shows up as a gap at the next open.</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46982"/>
            <a:ext cx="5154016"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Results season</a:t>
            </a:r>
          </a:p>
        </p:txBody>
      </p:sp>
      <p:sp>
        <p:nvSpPr>
          <p:cNvPr id="21" name="TextBox 20"/>
          <p:cNvSpPr txBox="1"/>
          <p:nvPr/>
        </p:nvSpPr>
        <p:spPr>
          <a:xfrm>
            <a:off x="6379312" y="4360926"/>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The weeks after each quarter ends when companies publish results; board-meeting notices can appear any day.</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45430"/>
            <a:ext cx="5154016" cy="208788"/>
          </a:xfrm>
          <a:prstGeom prst="rect">
            <a:avLst/>
          </a:prstGeom>
          <a:noFill/>
        </p:spPr>
        <p:txBody>
          <a:bodyPr wrap="square" lIns="0" rIns="0" tIns="0" bIns="0" anchor="t">
            <a:noAutofit/>
          </a:bodyPr>
          <a:lstStyle/>
          <a:p>
            <a:pPr algn="l">
              <a:lnSpc>
                <a:spcPct val="100000"/>
              </a:lnSpc>
            </a:pPr>
            <a:r>
              <a:rPr sz="1250" b="1" i="0">
                <a:solidFill>
                  <a:srgbClr val="92400E"/>
                </a:solidFill>
                <a:latin typeface="Segoe UI"/>
              </a:rPr>
              <a:t>Index rebalance</a:t>
            </a:r>
          </a:p>
        </p:txBody>
      </p:sp>
      <p:sp>
        <p:nvSpPr>
          <p:cNvPr id="24" name="TextBox 23"/>
          <p:cNvSpPr txBox="1"/>
          <p:nvPr/>
        </p:nvSpPr>
        <p:spPr>
          <a:xfrm>
            <a:off x="658368" y="5590794"/>
            <a:ext cx="5154016" cy="51663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A change in the list of stocks in an index such as NIFTY 50, announced weeks ahead. Index funds buy the stock coming in and sell the one going out, usually near the close of the last day before the change, so that volume is mechanical, not a signal.</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Expiry day</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day an F&amp;O contract ends, set by the exchange (Day 18). The index can be jumpier that day. Stage 1 trades no F&amp;O, so it is a note on your calendar, not a no-trade day.</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076641"/>
            <a:ext cx="502920" cy="1727263"/>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727264"/>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371916"/>
            <a:ext cx="502920" cy="1431988"/>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295275"/>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27264"/>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Event calendar and no-trade days</a:t>
            </a:r>
          </a:p>
        </p:txBody>
      </p:sp>
      <p:sp>
        <p:nvSpPr>
          <p:cNvPr id="11" name="Rounded Rectangle 10"/>
          <p:cNvSpPr/>
          <p:nvPr/>
        </p:nvSpPr>
        <p:spPr>
          <a:xfrm>
            <a:off x="640080" y="1369124"/>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78852"/>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Why events matter</a:t>
            </a:r>
          </a:p>
        </p:txBody>
      </p:sp>
      <p:sp>
        <p:nvSpPr>
          <p:cNvPr id="13" name="TextBox 12"/>
          <p:cNvSpPr txBox="1"/>
          <p:nvPr/>
        </p:nvSpPr>
        <p:spPr>
          <a:xfrm>
            <a:off x="786384" y="18110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Big news lands at once</a:t>
            </a:r>
          </a:p>
          <a:p>
            <a:pPr algn="l" marL="182880" indent="-182880">
              <a:lnSpc>
                <a:spcPct val="100000"/>
              </a:lnSpc>
              <a:spcAft>
                <a:spcPts val="464"/>
              </a:spcAft>
              <a:buClr>
                <a:srgbClr val="F0554E"/>
              </a:buClr>
              <a:buFont typeface="Arial"/>
              <a:buChar char="•"/>
            </a:pPr>
            <a:r>
              <a:rPr sz="1550" b="0" i="0">
                <a:solidFill>
                  <a:srgbClr val="18232F"/>
                </a:solidFill>
                <a:latin typeface="Segoe UI"/>
              </a:rPr>
              <a:t>A gap can turn 1R into 2R</a:t>
            </a:r>
          </a:p>
          <a:p>
            <a:pPr algn="l" marL="182880" indent="-182880">
              <a:lnSpc>
                <a:spcPct val="100000"/>
              </a:lnSpc>
              <a:buClr>
                <a:srgbClr val="F0554E"/>
              </a:buClr>
              <a:buFont typeface="Arial"/>
              <a:buChar char="•"/>
            </a:pPr>
            <a:r>
              <a:rPr sz="1550" b="0" i="0">
                <a:solidFill>
                  <a:srgbClr val="18232F"/>
                </a:solidFill>
                <a:latin typeface="Segoe UI"/>
              </a:rPr>
              <a:t>Most dates are public early</a:t>
            </a:r>
          </a:p>
        </p:txBody>
      </p:sp>
      <p:sp>
        <p:nvSpPr>
          <p:cNvPr id="14" name="Rounded Rectangle 13"/>
          <p:cNvSpPr/>
          <p:nvPr/>
        </p:nvSpPr>
        <p:spPr>
          <a:xfrm>
            <a:off x="640080" y="2948750"/>
            <a:ext cx="3718408" cy="1710309"/>
          </a:xfrm>
          <a:prstGeom prst="roundRect">
            <a:avLst>
              <a:gd name="adj" fmla="val 641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058478"/>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Three places</a:t>
            </a:r>
          </a:p>
        </p:txBody>
      </p:sp>
      <p:sp>
        <p:nvSpPr>
          <p:cNvPr id="16" name="TextBox 15"/>
          <p:cNvSpPr txBox="1"/>
          <p:nvPr/>
        </p:nvSpPr>
        <p:spPr>
          <a:xfrm>
            <a:off x="786384" y="3390710"/>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Stock: results, ex-dates</a:t>
            </a:r>
          </a:p>
          <a:p>
            <a:pPr algn="l" marL="182880" indent="-182880">
              <a:lnSpc>
                <a:spcPct val="100000"/>
              </a:lnSpc>
              <a:spcAft>
                <a:spcPts val="464"/>
              </a:spcAft>
              <a:buClr>
                <a:srgbClr val="0093D6"/>
              </a:buClr>
              <a:buFont typeface="Arial"/>
              <a:buChar char="•"/>
            </a:pPr>
            <a:r>
              <a:rPr sz="1550" b="0" i="0">
                <a:solidFill>
                  <a:srgbClr val="18232F"/>
                </a:solidFill>
                <a:latin typeface="Segoe UI"/>
              </a:rPr>
              <a:t>India: RBI, Budget, holidays, expiry</a:t>
            </a:r>
          </a:p>
          <a:p>
            <a:pPr algn="l" marL="182880" indent="-182880">
              <a:lnSpc>
                <a:spcPct val="100000"/>
              </a:lnSpc>
              <a:spcAft>
                <a:spcPts val="464"/>
              </a:spcAft>
              <a:buClr>
                <a:srgbClr val="0093D6"/>
              </a:buClr>
              <a:buFont typeface="Arial"/>
              <a:buChar char="•"/>
            </a:pPr>
            <a:r>
              <a:rPr sz="1550" b="0" i="0">
                <a:solidFill>
                  <a:srgbClr val="18232F"/>
                </a:solidFill>
                <a:latin typeface="Segoe UI"/>
              </a:rPr>
              <a:t>Index change: volume is mechanical</a:t>
            </a:r>
          </a:p>
          <a:p>
            <a:pPr algn="l" marL="182880" indent="-182880">
              <a:lnSpc>
                <a:spcPct val="100000"/>
              </a:lnSpc>
              <a:buClr>
                <a:srgbClr val="0093D6"/>
              </a:buClr>
              <a:buFont typeface="Arial"/>
              <a:buChar char="•"/>
            </a:pPr>
            <a:r>
              <a:rPr sz="1550" b="0" i="0">
                <a:solidFill>
                  <a:srgbClr val="18232F"/>
                </a:solidFill>
                <a:latin typeface="Segoe UI"/>
              </a:rPr>
              <a:t>World: Fed, US data, surprise news</a:t>
            </a:r>
          </a:p>
        </p:txBody>
      </p:sp>
      <p:sp>
        <p:nvSpPr>
          <p:cNvPr id="17" name="Rounded Rectangle 16"/>
          <p:cNvSpPr/>
          <p:nvPr/>
        </p:nvSpPr>
        <p:spPr>
          <a:xfrm>
            <a:off x="640080" y="4823650"/>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933378"/>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Timing</a:t>
            </a:r>
          </a:p>
        </p:txBody>
      </p:sp>
      <p:sp>
        <p:nvSpPr>
          <p:cNvPr id="19" name="TextBox 18"/>
          <p:cNvSpPr txBox="1"/>
          <p:nvPr/>
        </p:nvSpPr>
        <p:spPr>
          <a:xfrm>
            <a:off x="786384" y="52656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During hours: hurts ORB</a:t>
            </a:r>
          </a:p>
          <a:p>
            <a:pPr algn="l" marL="182880" indent="-182880">
              <a:lnSpc>
                <a:spcPct val="100000"/>
              </a:lnSpc>
              <a:spcAft>
                <a:spcPts val="464"/>
              </a:spcAft>
              <a:buClr>
                <a:srgbClr val="F5A524"/>
              </a:buClr>
              <a:buFont typeface="Arial"/>
              <a:buChar char="•"/>
            </a:pPr>
            <a:r>
              <a:rPr sz="1550" b="0" i="0">
                <a:solidFill>
                  <a:srgbClr val="18232F"/>
                </a:solidFill>
                <a:latin typeface="Segoe UI"/>
              </a:rPr>
              <a:t>Overnight: hurts swing</a:t>
            </a:r>
          </a:p>
          <a:p>
            <a:pPr algn="l" marL="182880" indent="-182880">
              <a:lnSpc>
                <a:spcPct val="100000"/>
              </a:lnSpc>
              <a:buClr>
                <a:srgbClr val="F5A524"/>
              </a:buClr>
              <a:buFont typeface="Arial"/>
              <a:buChar char="•"/>
            </a:pPr>
            <a:r>
              <a:rPr sz="1550" b="0" i="0">
                <a:solidFill>
                  <a:srgbClr val="18232F"/>
                </a:solidFill>
                <a:latin typeface="Segoe UI"/>
              </a:rPr>
              <a:t>Confirm official times</a:t>
            </a:r>
          </a:p>
        </p:txBody>
      </p:sp>
      <p:sp>
        <p:nvSpPr>
          <p:cNvPr id="20" name="Rounded Rectangle 19"/>
          <p:cNvSpPr/>
          <p:nvPr/>
        </p:nvSpPr>
        <p:spPr>
          <a:xfrm>
            <a:off x="7833208" y="1516761"/>
            <a:ext cx="3718408" cy="1710309"/>
          </a:xfrm>
          <a:prstGeom prst="roundRect">
            <a:avLst>
              <a:gd name="adj" fmla="val 641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626489"/>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Your rules</a:t>
            </a:r>
          </a:p>
        </p:txBody>
      </p:sp>
      <p:sp>
        <p:nvSpPr>
          <p:cNvPr id="22" name="TextBox 21"/>
          <p:cNvSpPr txBox="1"/>
          <p:nvPr/>
        </p:nvSpPr>
        <p:spPr>
          <a:xfrm>
            <a:off x="7979512" y="1958721"/>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Results in window: no new swing</a:t>
            </a:r>
          </a:p>
          <a:p>
            <a:pPr algn="l" marL="182880" indent="-182880">
              <a:lnSpc>
                <a:spcPct val="100000"/>
              </a:lnSpc>
              <a:spcAft>
                <a:spcPts val="464"/>
              </a:spcAft>
              <a:buClr>
                <a:srgbClr val="16A34A"/>
              </a:buClr>
              <a:buFont typeface="Arial"/>
              <a:buChar char="•"/>
            </a:pPr>
            <a:r>
              <a:rPr sz="1550" b="0" i="0">
                <a:solidFill>
                  <a:srgbClr val="18232F"/>
                </a:solidFill>
                <a:latin typeface="Segoe UI"/>
              </a:rPr>
              <a:t>RBI or Budget day: no ORB</a:t>
            </a:r>
          </a:p>
          <a:p>
            <a:pPr algn="l" marL="182880" indent="-182880">
              <a:lnSpc>
                <a:spcPct val="100000"/>
              </a:lnSpc>
              <a:spcAft>
                <a:spcPts val="464"/>
              </a:spcAft>
              <a:buClr>
                <a:srgbClr val="16A34A"/>
              </a:buClr>
              <a:buFont typeface="Arial"/>
              <a:buChar char="•"/>
            </a:pPr>
            <a:r>
              <a:rPr sz="1550" b="0" i="0">
                <a:solidFill>
                  <a:srgbClr val="18232F"/>
                </a:solidFill>
                <a:latin typeface="Segoe UI"/>
              </a:rPr>
              <a:t>Keep the list short</a:t>
            </a:r>
          </a:p>
          <a:p>
            <a:pPr algn="l" marL="182880" indent="-182880">
              <a:lnSpc>
                <a:spcPct val="100000"/>
              </a:lnSpc>
              <a:buClr>
                <a:srgbClr val="16A34A"/>
              </a:buClr>
              <a:buFont typeface="Arial"/>
              <a:buChar char="•"/>
            </a:pPr>
            <a:r>
              <a:rPr sz="1550" b="0" i="0">
                <a:solidFill>
                  <a:srgbClr val="18232F"/>
                </a:solidFill>
                <a:latin typeface="Segoe UI"/>
              </a:rPr>
              <a:t>Skipped by rule = adherence</a:t>
            </a:r>
          </a:p>
        </p:txBody>
      </p:sp>
      <p:sp>
        <p:nvSpPr>
          <p:cNvPr id="23" name="Rounded Rectangle 22"/>
          <p:cNvSpPr/>
          <p:nvPr/>
        </p:nvSpPr>
        <p:spPr>
          <a:xfrm>
            <a:off x="7833208" y="3391662"/>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501390"/>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Your calendar</a:t>
            </a:r>
          </a:p>
        </p:txBody>
      </p:sp>
      <p:sp>
        <p:nvSpPr>
          <p:cNvPr id="25" name="TextBox 24"/>
          <p:cNvSpPr txBox="1"/>
          <p:nvPr/>
        </p:nvSpPr>
        <p:spPr>
          <a:xfrm>
            <a:off x="7979512" y="3833622"/>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Official pages only</a:t>
            </a:r>
          </a:p>
          <a:p>
            <a:pPr algn="l" marL="182880" indent="-182880">
              <a:lnSpc>
                <a:spcPct val="100000"/>
              </a:lnSpc>
              <a:spcAft>
                <a:spcPts val="464"/>
              </a:spcAft>
              <a:buClr>
                <a:srgbClr val="0093D6"/>
              </a:buClr>
              <a:buFont typeface="Arial"/>
              <a:buChar char="•"/>
            </a:pPr>
            <a:r>
              <a:rPr sz="1550" b="0" i="0">
                <a:solidFill>
                  <a:srgbClr val="18232F"/>
                </a:solidFill>
                <a:latin typeface="Segoe UI"/>
              </a:rPr>
              <a:t>AI drafts, you verify</a:t>
            </a:r>
          </a:p>
          <a:p>
            <a:pPr algn="l" marL="182880" indent="-182880">
              <a:lnSpc>
                <a:spcPct val="100000"/>
              </a:lnSpc>
              <a:buClr>
                <a:srgbClr val="0093D6"/>
              </a:buClr>
              <a:buFont typeface="Arial"/>
              <a:buChar char="•"/>
            </a:pPr>
            <a:r>
              <a:rPr sz="1550" b="0" i="0">
                <a:solidFill>
                  <a:srgbClr val="18232F"/>
                </a:solidFill>
                <a:latin typeface="Segoe UI"/>
              </a:rPr>
              <a:t>Refresh every Sunday</a:t>
            </a:r>
          </a:p>
        </p:txBody>
      </p:sp>
      <p:sp>
        <p:nvSpPr>
          <p:cNvPr id="26" name="Rounded Rectangle 25"/>
          <p:cNvSpPr/>
          <p:nvPr/>
        </p:nvSpPr>
        <p:spPr>
          <a:xfrm>
            <a:off x="7833208" y="4971288"/>
            <a:ext cx="3718408" cy="1119759"/>
          </a:xfrm>
          <a:prstGeom prst="roundRect">
            <a:avLst>
              <a:gd name="adj" fmla="val 9799"/>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81016"/>
            <a:ext cx="3425800" cy="277368"/>
          </a:xfrm>
          <a:prstGeom prst="rect">
            <a:avLst/>
          </a:prstGeom>
          <a:noFill/>
        </p:spPr>
        <p:txBody>
          <a:bodyPr wrap="square" lIns="0" rIns="0" tIns="0" bIns="0" anchor="t">
            <a:noAutofit/>
          </a:bodyPr>
          <a:lstStyle/>
          <a:p>
            <a:pPr algn="l">
              <a:lnSpc>
                <a:spcPct val="100000"/>
              </a:lnSpc>
            </a:pPr>
            <a:r>
              <a:rPr sz="1700" b="1" i="0">
                <a:solidFill>
                  <a:srgbClr val="47596B"/>
                </a:solidFill>
                <a:latin typeface="Segoe UI"/>
              </a:rPr>
              <a:t>Your mind</a:t>
            </a:r>
          </a:p>
        </p:txBody>
      </p:sp>
      <p:sp>
        <p:nvSpPr>
          <p:cNvPr id="28" name="TextBox 27"/>
          <p:cNvSpPr txBox="1"/>
          <p:nvPr/>
        </p:nvSpPr>
        <p:spPr>
          <a:xfrm>
            <a:off x="7979512" y="5413248"/>
            <a:ext cx="3425800" cy="677799"/>
          </a:xfrm>
          <a:prstGeom prst="rect">
            <a:avLst/>
          </a:prstGeom>
          <a:noFill/>
        </p:spPr>
        <p:txBody>
          <a:bodyPr wrap="square" lIns="0" rIns="0" tIns="0" bIns="0" anchor="t">
            <a:noAutofit/>
          </a:bodyPr>
          <a:lstStyle/>
          <a:p>
            <a:pPr algn="l" marL="182880" indent="-182880">
              <a:lnSpc>
                <a:spcPct val="100000"/>
              </a:lnSpc>
              <a:spcAft>
                <a:spcPts val="464"/>
              </a:spcAft>
              <a:buClr>
                <a:srgbClr val="57687A"/>
              </a:buClr>
              <a:buFont typeface="Arial"/>
              <a:buChar char="•"/>
            </a:pPr>
            <a:r>
              <a:rPr sz="1550" b="0" i="0">
                <a:solidFill>
                  <a:srgbClr val="18232F"/>
                </a:solidFill>
                <a:latin typeface="Segoe UI"/>
              </a:rPr>
              <a:t>Big-day FOMO</a:t>
            </a:r>
          </a:p>
          <a:p>
            <a:pPr algn="l" marL="182880" indent="-182880">
              <a:lnSpc>
                <a:spcPct val="100000"/>
              </a:lnSpc>
              <a:buClr>
                <a:srgbClr val="57687A"/>
              </a:buClr>
              <a:buFont typeface="Arial"/>
              <a:buChar char="•"/>
            </a:pPr>
            <a:r>
              <a:rPr sz="1550" b="0" i="0">
                <a:solidFill>
                  <a:srgbClr val="18232F"/>
                </a:solidFill>
                <a:latin typeface="Segoe UI"/>
              </a:rPr>
              <a:t>Skipping costs no money</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Build your first 30-day event calendar from official dates only, each with the rule you will follow, and turn one date into a Portfolio row.</a:t>
            </a:r>
          </a:p>
        </p:txBody>
      </p:sp>
      <p:sp>
        <p:nvSpPr>
          <p:cNvPr id="6" name="Rounded Rectangle 5"/>
          <p:cNvSpPr/>
          <p:nvPr/>
        </p:nvSpPr>
        <p:spPr>
          <a:xfrm>
            <a:off x="457200" y="203606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a new Google Sheet (or a notebook page) and copy the six column heads from the blank template below: Date, Event, Place and time, Strategy hit, My rule, Source checked. As you add each date in the next steps, write its rule from today's starter table straight away.</a:t>
            </a:r>
          </a:p>
        </p:txBody>
      </p:sp>
      <p:sp>
        <p:nvSpPr>
          <p:cNvPr id="10" name="Rounded Rectangle 9"/>
          <p:cNvSpPr/>
          <p:nvPr/>
        </p:nvSpPr>
        <p:spPr>
          <a:xfrm>
            <a:off x="457200" y="30601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699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31882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607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nseindia.com, add every trading holiday in your next 30 days from the holiday list, any special session (such as Muhurat trading) from NSE circulars, and the monthly NIFTY expiry date from the option chain's expiry list (Day 18), marked 'note only'.</a:t>
            </a:r>
          </a:p>
        </p:txBody>
      </p:sp>
      <p:sp>
        <p:nvSpPr>
          <p:cNvPr id="14" name="Rounded Rectangle 13"/>
          <p:cNvSpPr/>
          <p:nvPr/>
        </p:nvSpPr>
        <p:spPr>
          <a:xfrm>
            <a:off x="457200" y="40843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9404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42123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1849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rbi.org.in find this year's monetary policy meeting schedule, and on federalreserve.gov the Fed's meeting calendar; add each decision day in your 30 days (RBI: the meeting's last day; Fed: write the next Indian trading morning, when it shows up).</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50 min</a:t>
            </a:r>
          </a:p>
        </p:txBody>
      </p:sp>
      <p:sp>
        <p:nvSpPr>
          <p:cNvPr id="5" name="Rounded Rectangle 4"/>
          <p:cNvSpPr/>
          <p:nvPr/>
        </p:nvSpPr>
        <p:spPr>
          <a:xfrm>
            <a:off x="457200" y="13350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For three stocks on your paper watchlist, search NSE or BSE corporate announcements and add any results board meeting or ex-date in the next 30 days (if nothing is announced yet, write 'none yet' and recheck on Sunday). Then open the latest NIFTY 50 change announcement on niftyindices.com and note whether any of them is joining or leaving.</a:t>
            </a:r>
          </a:p>
        </p:txBody>
      </p:sp>
      <p:sp>
        <p:nvSpPr>
          <p:cNvPr id="9" name="Rounded Rectangle 8"/>
          <p:cNvSpPr/>
          <p:nvPr/>
        </p:nvSpPr>
        <p:spPr>
          <a:xfrm>
            <a:off x="457200" y="26029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71272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7035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the app's Portfolio page, fill one complete row for one of those three stocks, in virtual money only, with all seven parts from Day 12. Use its next results date as the review point (or 'next board-meeting notice' if none is out yet), and 'a results-day gap' as the top risk, with your written rule as the answer.</a:t>
            </a:r>
          </a:p>
        </p:txBody>
      </p:sp>
      <p:sp>
        <p:nvSpPr>
          <p:cNvPr id="13" name="Rounded Rectangle 12"/>
          <p:cNvSpPr/>
          <p:nvPr/>
        </p:nvSpPr>
        <p:spPr>
          <a:xfrm>
            <a:off x="457200" y="36271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about 15 more minutes: run the AI Lab prompt 'Event calendar template' and compare any date or time the AI mentions with your sheet; mark every mismatch Kachra.</a:t>
            </a:r>
          </a:p>
        </p:txBody>
      </p:sp>
      <p:sp>
        <p:nvSpPr>
          <p:cNvPr id="17" name="Rounded Rectangle 16"/>
          <p:cNvSpPr/>
          <p:nvPr/>
        </p:nvSpPr>
        <p:spPr>
          <a:xfrm>
            <a:off x="457200" y="5401056"/>
            <a:ext cx="11277295" cy="871728"/>
          </a:xfrm>
          <a:prstGeom prst="roundRect">
            <a:avLst>
              <a:gd name="adj" fmla="val 1258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51078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766816"/>
            <a:ext cx="10911535" cy="46024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explain why scheduled events cause gaps and sharp swings, sort any event by where it comes from and when it lands, write no-trade rules that fit each strategy, build a 30-day event calendar from official sources, and turn one date into a complete Portfolio row.</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Priya's 30-day event calendar (model)</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All dates and names are made up. Confirm every real date on the official page before you write it down.</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5984748"/>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Eight dates, but only two block a trade (the 6th and the 12th); the 18th is a reading rule and the rest are notes. Keep the list short enough to obey.</a:t>
            </a:r>
          </a:p>
        </p:txBody>
      </p:sp>
      <p:graphicFrame>
        <p:nvGraphicFramePr>
          <p:cNvPr id="7" name="Table 6"/>
          <p:cNvGraphicFramePr>
            <a:graphicFrameLocks noGrp="1"/>
          </p:cNvGraphicFramePr>
          <p:nvPr/>
        </p:nvGraphicFramePr>
        <p:xfrm>
          <a:off x="640080" y="1892808"/>
          <a:ext cx="10911536" cy="4000503"/>
        </p:xfrm>
        <a:graphic>
          <a:graphicData uri="http://schemas.openxmlformats.org/drawingml/2006/table">
            <a:tbl>
              <a:tblPr firstRow="1">
                <a:tableStyleId>{5C22544A-7EE6-4342-B048-85BDC9FD1C3A}</a:tableStyleId>
              </a:tblPr>
              <a:tblGrid>
                <a:gridCol w="732994"/>
                <a:gridCol w="2113494"/>
                <a:gridCol w="1148702"/>
                <a:gridCol w="749840"/>
                <a:gridCol w="4833866"/>
                <a:gridCol w="1332640"/>
              </a:tblGrid>
              <a:tr h="471255">
                <a:tc>
                  <a:txBody>
                    <a:bodyPr wrap="square"/>
                    <a:lstStyle/>
                    <a:p>
                      <a:pPr algn="l"/>
                      <a:r>
                        <a:rPr sz="1100" b="1" i="0">
                          <a:solidFill>
                            <a:srgbClr val="FFFFFF"/>
                          </a:solidFill>
                          <a:latin typeface="Segoe UI"/>
                        </a:rPr>
                        <a:t>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Event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Place, time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Strategy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My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00" b="1" i="0">
                          <a:solidFill>
                            <a:srgbClr val="FFFFFF"/>
                          </a:solidFill>
                          <a:latin typeface="Segoe UI"/>
                        </a:rPr>
                        <a:t>Source checked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94471">
                <a:tc>
                  <a:txBody>
                    <a:bodyPr wrap="square"/>
                    <a:lstStyle/>
                    <a:p>
                      <a:pPr algn="l"/>
                      <a:r>
                        <a:rPr sz="1100" b="0" i="0">
                          <a:solidFill>
                            <a:srgbClr val="18232F"/>
                          </a:solidFill>
                          <a:latin typeface="Segoe UI"/>
                        </a:rPr>
                        <a:t>6th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RBI policy decision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India, ~10 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ORB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ORB today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RBI site, 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2111">
                <a:tc>
                  <a:txBody>
                    <a:bodyPr wrap="square"/>
                    <a:lstStyle/>
                    <a:p>
                      <a:pPr algn="l"/>
                      <a:r>
                        <a:rPr sz="1100" b="0" i="0">
                          <a:solidFill>
                            <a:srgbClr val="18232F"/>
                          </a:solidFill>
                          <a:latin typeface="Segoe UI"/>
                        </a:rPr>
                        <a:t>7th (Fri)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US inflation data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World, evening: Mon 10th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Note only; stops stay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bls.gov, 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2111">
                <a:tc>
                  <a:txBody>
                    <a:bodyPr wrap="square"/>
                    <a:lstStyle/>
                    <a:p>
                      <a:pPr algn="l"/>
                      <a:r>
                        <a:rPr sz="1100" b="0" i="0">
                          <a:solidFill>
                            <a:srgbClr val="18232F"/>
                          </a:solidFill>
                          <a:latin typeface="Segoe UI"/>
                        </a:rPr>
                        <a:t>12th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Kiran Foods Ltd results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Stock, time not given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Both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 new swing entry; if holding, exit before the close on the 11th; no ORB in it on the 12th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NSE notice, 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2111">
                <a:tc>
                  <a:txBody>
                    <a:bodyPr wrap="square"/>
                    <a:lstStyle/>
                    <a:p>
                      <a:pPr algn="l"/>
                      <a:r>
                        <a:rPr sz="1100" b="0" i="0">
                          <a:solidFill>
                            <a:srgbClr val="18232F"/>
                          </a:solidFill>
                          <a:latin typeface="Segoe UI"/>
                        </a:rPr>
                        <a:t>18th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Sharma Textiles Ltd ex-dividend, Rs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Stock, at the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About Rs 5 drop = adjustment, not a signal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NSE actions, 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2111">
                <a:tc>
                  <a:txBody>
                    <a:bodyPr wrap="square"/>
                    <a:lstStyle/>
                    <a:p>
                      <a:pPr algn="l"/>
                      <a:r>
                        <a:rPr sz="1100" b="0" i="0">
                          <a:solidFill>
                            <a:srgbClr val="18232F"/>
                          </a:solidFill>
                          <a:latin typeface="Segoe UI"/>
                        </a:rPr>
                        <a:t>19th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US Fed decision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World, night: 20th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Note only; stops stay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Fed site, 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2111">
                <a:tc>
                  <a:txBody>
                    <a:bodyPr wrap="square"/>
                    <a:lstStyle/>
                    <a:p>
                      <a:pPr algn="l"/>
                      <a:r>
                        <a:rPr sz="1100" b="0" i="0">
                          <a:solidFill>
                            <a:srgbClr val="18232F"/>
                          </a:solidFill>
                          <a:latin typeface="Segoe UI"/>
                        </a:rPr>
                        <a:t>21st (Fri)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Exchange holiday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India, 3 days shut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Note: a longer overnight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NSE list, 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2111">
                <a:tc>
                  <a:txBody>
                    <a:bodyPr wrap="square"/>
                    <a:lstStyle/>
                    <a:p>
                      <a:pPr algn="l"/>
                      <a:r>
                        <a:rPr sz="1100" b="0" i="0">
                          <a:solidFill>
                            <a:srgbClr val="18232F"/>
                          </a:solidFill>
                          <a:latin typeface="Segoe UI"/>
                        </a:rPr>
                        <a:t>25th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NIFTY monthly F&amp;O expiry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India, market hours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None: no F&amp;O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Note only, no block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Option chain, 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2111">
                <a:tc>
                  <a:txBody>
                    <a:bodyPr wrap="square"/>
                    <a:lstStyle/>
                    <a:p>
                      <a:pPr algn="l"/>
                      <a:r>
                        <a:rPr sz="1100" b="0" i="0">
                          <a:solidFill>
                            <a:srgbClr val="18232F"/>
                          </a:solidFill>
                          <a:latin typeface="Segoe UI"/>
                        </a:rPr>
                        <a:t>27th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Last day before Desai Power Ltd joins NIFTY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Index, near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Note only: close volume is index funds, not a breakout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00" b="0" i="0">
                          <a:solidFill>
                            <a:srgbClr val="18232F"/>
                          </a:solidFill>
                          <a:latin typeface="Segoe UI"/>
                        </a:rPr>
                        <a:t>niftyindices.com, 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8" name="Picture 7" descr="logo.png"/>
          <p:cNvPicPr>
            <a:picLocks noChangeAspect="1"/>
          </p:cNvPicPr>
          <p:nvPr/>
        </p:nvPicPr>
        <p:blipFill>
          <a:blip r:embed="rId2"/>
          <a:stretch>
            <a:fillRect/>
          </a:stretch>
        </p:blipFill>
        <p:spPr>
          <a:xfrm>
            <a:off x="457200" y="6437376"/>
            <a:ext cx="237744" cy="237744"/>
          </a:xfrm>
          <a:prstGeom prst="rect">
            <a:avLst/>
          </a:prstGeom>
        </p:spPr>
      </p:pic>
      <p:sp>
        <p:nvSpPr>
          <p:cNvPr id="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0" name="TextBox 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30-day event calendar (template)</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Copy it into a Google Sheet or your notebook. Tick 'Source checked' only after you have seen the date on the official page yourself. Refresh it every Sunday.</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2"/>
        </p:xfrm>
        <a:graphic>
          <a:graphicData uri="http://schemas.openxmlformats.org/drawingml/2006/table">
            <a:tbl>
              <a:tblPr firstRow="1">
                <a:tableStyleId>{5C22544A-7EE6-4342-B048-85BDC9FD1C3A}</a:tableStyleId>
              </a:tblPr>
              <a:tblGrid>
                <a:gridCol w="1425721"/>
                <a:gridCol w="1425721"/>
                <a:gridCol w="1936974"/>
                <a:gridCol w="2058410"/>
                <a:gridCol w="1464528"/>
                <a:gridCol w="2600182"/>
              </a:tblGrid>
              <a:tr h="301752">
                <a:tc>
                  <a:txBody>
                    <a:bodyPr wrap="square"/>
                    <a:lstStyle/>
                    <a:p>
                      <a:pPr algn="l"/>
                      <a:r>
                        <a:rPr sz="1200" b="1" i="0">
                          <a:solidFill>
                            <a:srgbClr val="FFFFFF"/>
                          </a:solidFill>
                          <a:latin typeface="Segoe UI"/>
                        </a:rPr>
                        <a:t>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Event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Place, time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Strategy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My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Source checked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72161">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Calendar treasure hunt</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Set a 10-minute timer and find three dates on official pages: the next NSE market holiday, the next RBI policy decision, and one board meeting for a stock on your watchlist (or confirm that none is announced yet).</a:t>
            </a:r>
          </a:p>
          <a:p>
            <a:pPr algn="l">
              <a:lnSpc>
                <a:spcPct val="100000"/>
              </a:lnSpc>
              <a:spcAft>
                <a:spcPts val="700"/>
              </a:spcAft>
            </a:pPr>
            <a:r>
              <a:rPr sz="2000" b="0" i="0">
                <a:solidFill>
                  <a:srgbClr val="18232F"/>
                </a:solidFill>
                <a:latin typeface="Segoe UI"/>
              </a:rPr>
              <a:t>Screenshot each source page. With classmates, compare answers; if two people found different dates, work out which page was right and why.</a:t>
            </a:r>
          </a:p>
          <a:p>
            <a:pPr algn="l">
              <a:lnSpc>
                <a:spcPct val="100000"/>
              </a:lnSpc>
            </a:pPr>
            <a:r>
              <a:rPr sz="2000" b="0" i="0">
                <a:solidFill>
                  <a:srgbClr val="18232F"/>
                </a:solidFill>
                <a:latin typeface="Segoe UI"/>
              </a:rPr>
              <a:t>Alone? Try to beat your own time next Sunday.</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Event calendar builder: AI drafts, official sites decide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Event calendar template</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“Build a blank 30-day event calendar template for an Indian beginner who paper-trades NSE cash stocks with two strategies: an EMA pullback swing strategy that holds positions overnight, and an optional opening range breakout that is intraday only.”</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Event or noise?</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up to 10 items I collected about the coming month: headlines, forwarded messages and my own notes.”</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Big-day FOMO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5 short questions, one at a time, about how I feel and behave on big market days such as Budget day, an RBI policy day or a results day for a stock I follow: what I watch, whom I listen to, and what I did the last time I felt I might miss out.”</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QUESTION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holds 250 shares of Bharat Pumps Ltd, bought at Rs 800 with a stop at Rs 760, so 1R = Rs 10,000. Results come out after the close, and the next morning the stock opens at Rs 680. His stop fills at the open. What did the trade lose?</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1.5R, about Rs 15,000</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1R, as his stop planned</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3R, about Rs 30,000</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2R, about Rs 20,000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QUESTION 2/5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On a day's leave from office, Aman paper-trades the optional ORB in a liquid cash stock. Today the RBI's policy decision is due at about 10 am, and his opening range forms from 9:15 to 9:30. What does a sensible no-trade list tell him?</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ORB today; the range forms before the news</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it; RBI moves only banks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it, but only if the range breaks before 10 am</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it with a wider stop to ride out the swings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QUESTION 3/5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You hold a swing position overnight. Which event is most likely to hit it as a gap at the next open, rather than as sharp moves during market hours?</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Results released at 1 pm, mid-session</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Budget speech that starts around 11 am</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An RBI policy decision announced at about 10 am</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US Fed decision during the Indian night</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An AI chat tells you that Kiran Foods Ltd will announce its results on the 14th. Before you mark a no-trade rule on that date, what should you do?</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Ask the same AI again and trust a repeat answer</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Accept it; the date is very specific</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Look for the same date in a finfluencer's post</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Check the board-meeting notice on NSE or BSE yourself</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year later, Aman again takes Budget day off to paper-trade ORB, but his calendar marks it as a no-trade day for ORB, so he stays out. By the close NIFTY 50 is up 1%. How should he log the day in his journal?</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 a missed chance he should make up tomorrow</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Not at all, since no trade means nothing to log</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 a mistake, because his rule cost him a winner</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 full adherence: he followed a written rule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19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The event calendar and your no-trade days</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Stage 1 uses virtual money only. Company names, dates and chart prices are made up for illustration; confirm real event dates and times on the official NSE, BSE, NSE Indices, RBI, government, US Federal Reserve or US Bureau of Labor Statistics page.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Which date on your new calendar pulls at you the most, and why? Write the exact rule you will follow that day, and count how many trading days your rules block in the next 30. Is that a list you will actually obey?</a:t>
            </a:r>
          </a:p>
        </p:txBody>
      </p:sp>
      <p:sp>
        <p:nvSpPr>
          <p:cNvPr id="8" name="Rounded Rectangle 7"/>
          <p:cNvSpPr/>
          <p:nvPr/>
        </p:nvSpPr>
        <p:spPr>
          <a:xfrm>
            <a:off x="6233008" y="1335024"/>
            <a:ext cx="5501488" cy="4008120"/>
          </a:xfrm>
          <a:prstGeom prst="roundRect">
            <a:avLst>
              <a:gd name="adj" fmla="val 319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Today you put the market's big days on paper before they arrived. Deciding calmly on a Sunday is what lets you stay calm on a Budget morning.</a:t>
            </a:r>
          </a:p>
        </p:txBody>
      </p:sp>
      <p:sp>
        <p:nvSpPr>
          <p:cNvPr id="11" name="Rounded Rectangle 10"/>
          <p:cNvSpPr/>
          <p:nvPr/>
        </p:nvSpPr>
        <p:spPr>
          <a:xfrm>
            <a:off x="457200" y="5489448"/>
            <a:ext cx="5447597"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20 · Trading psychology and your Daily Routine Card</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19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20</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Build your system, protect yourself</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Trading psychology and your Daily Routine Card</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Seven biases that break rules, and a routine that catches them</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45536"/>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End-of-day process review: AI checks the process, never picks trades</a:t>
            </a:r>
          </a:p>
        </p:txBody>
      </p:sp>
      <p:sp>
        <p:nvSpPr>
          <p:cNvPr id="14" name="Rounded Rectangle 13"/>
          <p:cNvSpPr/>
          <p:nvPr/>
        </p:nvSpPr>
        <p:spPr>
          <a:xfrm>
            <a:off x="4572000" y="3922776"/>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922776"/>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The ego after a loss</a:t>
            </a:r>
          </a:p>
        </p:txBody>
      </p:sp>
      <p:sp>
        <p:nvSpPr>
          <p:cNvPr id="16" name="TextBox 15"/>
          <p:cNvSpPr txBox="1"/>
          <p:nvPr/>
        </p:nvSpPr>
        <p:spPr>
          <a:xfrm>
            <a:off x="4572000" y="4608576"/>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BY THE END</a:t>
            </a:r>
          </a:p>
        </p:txBody>
      </p:sp>
      <p:sp>
        <p:nvSpPr>
          <p:cNvPr id="17" name="TextBox 16"/>
          <p:cNvSpPr txBox="1"/>
          <p:nvPr/>
        </p:nvSpPr>
        <p:spPr>
          <a:xfrm>
            <a:off x="4572000" y="4882896"/>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name seven biases that break trading rules and write an answer to each, find your costliest emotion in your journal, set a kill-switch that is hard to break, run a four-block Daily Routine Card, and spot the warning signs that trading is turning into gambling.</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I'll win it all back today</a:t>
            </a:r>
          </a:p>
        </p:txBody>
      </p:sp>
      <p:sp>
        <p:nvSpPr>
          <p:cNvPr id="4" name="Rounded Rectangle 3"/>
          <p:cNvSpPr/>
          <p:nvPr/>
        </p:nvSpPr>
        <p:spPr>
          <a:xfrm>
            <a:off x="457200" y="1426464"/>
            <a:ext cx="3649370" cy="415442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6972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Thursday, 8 pm. Aman joins the class call with his paper-trading sheet open. The last two rows are deep red.</a:t>
            </a:r>
          </a:p>
        </p:txBody>
      </p:sp>
      <p:sp>
        <p:nvSpPr>
          <p:cNvPr id="7" name="Rounded Rectangle 6"/>
          <p:cNvSpPr/>
          <p:nvPr/>
        </p:nvSpPr>
        <p:spPr>
          <a:xfrm>
            <a:off x="4271162"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919984"/>
          </a:xfrm>
          <a:prstGeom prst="wedgeRoundRectCallout">
            <a:avLst>
              <a:gd name="adj1" fmla="val -41915"/>
              <a:gd name="adj2" fmla="val -56263"/>
              <a:gd name="adj3" fmla="val 375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6273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yesterday my Bharat Pumps trade hit its stop: minus Rs 10,000, exactly 1R, as planned. But it felt like the market had made a fool of me. So this morning, during a meeting, I bought two other stocks at double size to win it back. No setup. Both hit their stops by lunch.</a:t>
            </a:r>
          </a:p>
        </p:txBody>
      </p:sp>
      <p:sp>
        <p:nvSpPr>
          <p:cNvPr id="13" name="Rounded Rectangle 12"/>
          <p:cNvSpPr/>
          <p:nvPr/>
        </p:nvSpPr>
        <p:spPr>
          <a:xfrm>
            <a:off x="8085125"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Today alone is -4R, twice your -2R daily stop. With yesterday, that is -5R, Rs 50,000 of virtual money: you have hit the weekly pause, and it is only Thursday. One question, Aman. After the first loss, were you following your card, or trying to prove the market wrong?</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I'll win it all back today</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847344"/>
          </a:xfrm>
          <a:prstGeom prst="wedgeRoundRectCallout">
            <a:avLst>
              <a:gd name="adj1" fmla="val -41915"/>
              <a:gd name="adj2" fmla="val -71582"/>
              <a:gd name="adj3" fmla="val 12949"/>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5547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...Proving it wrong. It felt personal.</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I did something similar, only smaller. My stop was about to be hit, so I moved it lower, just so I would not have to write a loss in my journal. Is that the same thing?</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Same root, different branch. A loss hurts our pride more than our pocket, so we try to erase it. Today we build a routine that catches you in that moment, because that is exactly when willpower leaves the room.</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A loss is the price of one trade, not a verdict on you. Build the routine on a calm day so it protects you on an angry one.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ego after a loss: revenge trading</a:t>
            </a:r>
          </a:p>
        </p:txBody>
      </p:sp>
      <p:sp>
        <p:nvSpPr>
          <p:cNvPr id="4" name="TextBox 3"/>
          <p:cNvSpPr txBox="1"/>
          <p:nvPr/>
        </p:nvSpPr>
        <p:spPr>
          <a:xfrm>
            <a:off x="457200" y="1335024"/>
            <a:ext cx="5519776" cy="23888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A loss costs money once and pride a second time, and the pride often hurts more.</a:t>
            </a:r>
          </a:p>
          <a:p>
            <a:pPr algn="l" marL="274320" indent="-274320">
              <a:lnSpc>
                <a:spcPct val="100000"/>
              </a:lnSpc>
              <a:spcAft>
                <a:spcPts val="750"/>
              </a:spcAft>
              <a:buClr>
                <a:srgbClr val="F5A623"/>
              </a:buClr>
              <a:buFont typeface="Arial"/>
              <a:buChar char="•"/>
            </a:pPr>
            <a:r>
              <a:rPr sz="1500" b="0" i="0">
                <a:solidFill>
                  <a:srgbClr val="18232F"/>
                </a:solidFill>
                <a:latin typeface="Segoe UI"/>
              </a:rPr>
              <a:t>Ego here means the part of us that needs to be right.</a:t>
            </a:r>
          </a:p>
          <a:p>
            <a:pPr algn="l" marL="274320" indent="-274320">
              <a:lnSpc>
                <a:spcPct val="100000"/>
              </a:lnSpc>
              <a:spcAft>
                <a:spcPts val="750"/>
              </a:spcAft>
              <a:buClr>
                <a:srgbClr val="F5A623"/>
              </a:buClr>
              <a:buFont typeface="Arial"/>
              <a:buChar char="•"/>
            </a:pPr>
            <a:r>
              <a:rPr sz="1500" b="0" i="0">
                <a:solidFill>
                  <a:srgbClr val="18232F"/>
                </a:solidFill>
                <a:latin typeface="Segoe UI"/>
              </a:rPr>
              <a:t>When a stop is hit (traders call this a stop-out), the ego wants a quick win to cancel the loss, so we take a revenge trade.</a:t>
            </a:r>
          </a:p>
          <a:p>
            <a:pPr algn="l" marL="274320" indent="-274320">
              <a:lnSpc>
                <a:spcPct val="100000"/>
              </a:lnSpc>
              <a:buClr>
                <a:srgbClr val="F5A623"/>
              </a:buClr>
              <a:buFont typeface="Arial"/>
              <a:buChar char="•"/>
            </a:pPr>
            <a:r>
              <a:rPr sz="1500" b="0" i="0">
                <a:solidFill>
                  <a:srgbClr val="18232F"/>
                </a:solidFill>
                <a:latin typeface="Segoe UI"/>
              </a:rPr>
              <a:t>Revenge trades are usually bigger, faster and taken without a proper look at the chart, so they tend to lose more than a normal trade.</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Replay Aman's two days with his card. His week began at 0R; the Gupta Cement gap from Day 19 came the week before. Yesterday's stop: -1R, Rs 10,000. Today there was no setup, so the card says no trade, and his week would stand at -1R. His ego's version: two trades at double size, -2R each, so -1R - 2R - 2R = -5R, Rs 50,000, the whole weekly pause reached by Thursday. The gap between the two versions, Rs 40,000, was not the market's doing; it was the ego's bill. … (To keep the sums simple, R here is before Day 12's 0.1R cost allowance per trade.)</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revenge loop</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Without a kill-switch, the fourth box leads straight back to the second. The -2R daily stop cuts the loop.</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A loss</a:t>
            </a:r>
          </a:p>
          <a:p>
            <a:pPr algn="ctr">
              <a:lnSpc>
                <a:spcPct val="100000"/>
              </a:lnSpc>
            </a:pPr>
            <a:r>
              <a:rPr sz="1200" b="0" i="0">
                <a:solidFill>
                  <a:srgbClr val="47596B"/>
                </a:solidFill>
                <a:latin typeface="Segoe UI"/>
              </a:rPr>
              <a:t>-1R, as planned</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hurts</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Ego hurt</a:t>
            </a:r>
          </a:p>
          <a:p>
            <a:pPr algn="ctr">
              <a:lnSpc>
                <a:spcPct val="100000"/>
              </a:lnSpc>
            </a:pPr>
            <a:r>
              <a:rPr sz="1200" b="0" i="0">
                <a:solidFill>
                  <a:srgbClr val="47596B"/>
                </a:solidFill>
                <a:latin typeface="Segoe UI"/>
              </a:rPr>
              <a:t>'The market fooled me'</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pushes</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Revenge trade</a:t>
            </a:r>
          </a:p>
          <a:p>
            <a:pPr algn="ctr">
              <a:lnSpc>
                <a:spcPct val="100000"/>
              </a:lnSpc>
            </a:pPr>
            <a:r>
              <a:rPr sz="1200" b="0" i="0">
                <a:solidFill>
                  <a:srgbClr val="47596B"/>
                </a:solidFill>
                <a:latin typeface="Segoe UI"/>
              </a:rPr>
              <a:t>No setup, bigger size</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often loses</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Bigger loss</a:t>
            </a:r>
          </a:p>
          <a:p>
            <a:pPr algn="ctr">
              <a:lnSpc>
                <a:spcPct val="100000"/>
              </a:lnSpc>
            </a:pPr>
            <a:r>
              <a:rPr sz="1200" b="0" i="0">
                <a:solidFill>
                  <a:srgbClr val="47596B"/>
                </a:solidFill>
                <a:latin typeface="Segoe UI"/>
              </a:rPr>
              <a:t>-2R or worse</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at -2R</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Kill-switch</a:t>
            </a:r>
          </a:p>
          <a:p>
            <a:pPr algn="ctr">
              <a:lnSpc>
                <a:spcPct val="100000"/>
              </a:lnSpc>
            </a:pPr>
            <a:r>
              <a:rPr sz="1200" b="0" i="0">
                <a:solidFill>
                  <a:srgbClr val="47596B"/>
                </a:solidFill>
                <a:latin typeface="Segoe UI"/>
              </a:rPr>
              <a:t>Screen off till tomorrow</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The market does not know you exist. A stop-out is a cost, not an insult.</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FOMO and overtrading: your journal names the enemy</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FOMO, the fear of missing out, is the pull to jump into a move that has already run, without your setup.</a:t>
            </a:r>
          </a:p>
          <a:p>
            <a:pPr algn="l" marL="274320" indent="-274320">
              <a:lnSpc>
                <a:spcPct val="100000"/>
              </a:lnSpc>
              <a:spcAft>
                <a:spcPts val="800"/>
              </a:spcAft>
              <a:buClr>
                <a:srgbClr val="F5A623"/>
              </a:buClr>
              <a:buFont typeface="Arial"/>
              <a:buChar char="•"/>
            </a:pPr>
            <a:r>
              <a:rPr sz="1600" b="0" i="0">
                <a:solidFill>
                  <a:srgbClr val="18232F"/>
                </a:solidFill>
                <a:latin typeface="Segoe UI"/>
              </a:rPr>
              <a:t>It is like running after a Mumbai local that has left the platform: you might catch it, you might fall, and the next one comes in a few minutes.</a:t>
            </a:r>
          </a:p>
          <a:p>
            <a:pPr algn="l" marL="274320" indent="-274320">
              <a:lnSpc>
                <a:spcPct val="100000"/>
              </a:lnSpc>
              <a:buClr>
                <a:srgbClr val="F5A623"/>
              </a:buClr>
              <a:buFont typeface="Arial"/>
              <a:buChar char="•"/>
            </a:pPr>
            <a:r>
              <a:rPr sz="1600" b="0" i="0">
                <a:solidFill>
                  <a:srgbClr val="18232F"/>
                </a:solidFill>
                <a:latin typeface="Segoe UI"/>
              </a:rPr>
              <a:t>Overtrading means taking more trades than your rules produce, often out of boredom or the itch for action, like snacking when you are not hungry.</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adds up his 20 paper trades since Day 12. Only 8 came from his rule card, tagged 'calm': +2.4R. The other 12 were 6 FOMO trades (-2.1R), 4 'bored' trades (-1.6R) and 2 'angry' trades, this morning's revenge pair (-4.0R), together -7.7R. His total is -5.3R, or -Rs 53,000 of virtual money, while the 8 rule trades alone show +2.4R. Twenty trades in under two weeks, on a swing plan that allows three open trades at a time, is itself a clue: his rule card produced only 8. FOMO is his most frequent enemy; anger is his most expensive, at -2.0R a trade.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Aman's R by emotion tag</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20 hypothetical paper trades, count in brackets; R before the 0.1R cost allowance. Only the calm, on-rule trades added R.</a:t>
            </a:r>
          </a:p>
        </p:txBody>
      </p:sp>
      <p:sp>
        <p:nvSpPr>
          <p:cNvPr id="11" name="TextBox 10"/>
          <p:cNvSpPr txBox="1"/>
          <p:nvPr/>
        </p:nvSpPr>
        <p:spPr>
          <a:xfrm>
            <a:off x="6397600" y="2119122"/>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Calm (8)</a:t>
            </a:r>
          </a:p>
        </p:txBody>
      </p:sp>
      <p:sp>
        <p:nvSpPr>
          <p:cNvPr id="12" name="Rounded Rectangle 11"/>
          <p:cNvSpPr/>
          <p:nvPr/>
        </p:nvSpPr>
        <p:spPr>
          <a:xfrm>
            <a:off x="7604608" y="2292858"/>
            <a:ext cx="323362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2292858"/>
            <a:ext cx="1940177"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929676" y="2119122"/>
            <a:ext cx="649371" cy="658368"/>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+2.4R</a:t>
            </a:r>
          </a:p>
        </p:txBody>
      </p:sp>
      <p:sp>
        <p:nvSpPr>
          <p:cNvPr id="15" name="TextBox 14"/>
          <p:cNvSpPr txBox="1"/>
          <p:nvPr/>
        </p:nvSpPr>
        <p:spPr>
          <a:xfrm>
            <a:off x="6397600" y="2777490"/>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FOMO (6)</a:t>
            </a:r>
          </a:p>
        </p:txBody>
      </p:sp>
      <p:sp>
        <p:nvSpPr>
          <p:cNvPr id="16" name="Rounded Rectangle 15"/>
          <p:cNvSpPr/>
          <p:nvPr/>
        </p:nvSpPr>
        <p:spPr>
          <a:xfrm>
            <a:off x="7604608" y="2951226"/>
            <a:ext cx="323362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951226"/>
            <a:ext cx="1697655"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929676" y="2777490"/>
            <a:ext cx="649371"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-2.1R</a:t>
            </a:r>
          </a:p>
        </p:txBody>
      </p:sp>
      <p:sp>
        <p:nvSpPr>
          <p:cNvPr id="19" name="TextBox 18"/>
          <p:cNvSpPr txBox="1"/>
          <p:nvPr/>
        </p:nvSpPr>
        <p:spPr>
          <a:xfrm>
            <a:off x="6397600" y="3435858"/>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Bored (4)</a:t>
            </a:r>
          </a:p>
        </p:txBody>
      </p:sp>
      <p:sp>
        <p:nvSpPr>
          <p:cNvPr id="20" name="Rounded Rectangle 19"/>
          <p:cNvSpPr/>
          <p:nvPr/>
        </p:nvSpPr>
        <p:spPr>
          <a:xfrm>
            <a:off x="7604608" y="3609594"/>
            <a:ext cx="323362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609594"/>
            <a:ext cx="1293451"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929676" y="3435858"/>
            <a:ext cx="649371"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-1.6R</a:t>
            </a:r>
          </a:p>
        </p:txBody>
      </p:sp>
      <p:sp>
        <p:nvSpPr>
          <p:cNvPr id="23" name="TextBox 22"/>
          <p:cNvSpPr txBox="1"/>
          <p:nvPr/>
        </p:nvSpPr>
        <p:spPr>
          <a:xfrm>
            <a:off x="6397600" y="4094226"/>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Angry (2)</a:t>
            </a:r>
          </a:p>
        </p:txBody>
      </p:sp>
      <p:sp>
        <p:nvSpPr>
          <p:cNvPr id="24" name="Rounded Rectangle 23"/>
          <p:cNvSpPr/>
          <p:nvPr/>
        </p:nvSpPr>
        <p:spPr>
          <a:xfrm>
            <a:off x="7604608" y="4267962"/>
            <a:ext cx="323362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4267962"/>
            <a:ext cx="3233628"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0929676" y="4094226"/>
            <a:ext cx="649371"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-4.0R</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9" name="TextBox 28"/>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Your rules decide how many trades you take. Boredom and fear do not get a vote.</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Four quiet biases that bend your rules</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A bias is a built-in shortcut in thinking that pulls every human the same wrong way.</a:t>
            </a:r>
          </a:p>
          <a:p>
            <a:pPr algn="l" marL="274320" indent="-274320">
              <a:lnSpc>
                <a:spcPct val="100000"/>
              </a:lnSpc>
              <a:spcAft>
                <a:spcPts val="800"/>
              </a:spcAft>
              <a:buClr>
                <a:srgbClr val="F5A623"/>
              </a:buClr>
              <a:buFont typeface="Arial"/>
              <a:buChar char="•"/>
            </a:pPr>
            <a:r>
              <a:rPr sz="1600" b="0" i="0">
                <a:solidFill>
                  <a:srgbClr val="18232F"/>
                </a:solidFill>
                <a:latin typeface="Segoe UI"/>
              </a:rPr>
              <a:t>Revenge, FOMO and overtrading are the loud traps; these four are quiet.</a:t>
            </a:r>
          </a:p>
          <a:p>
            <a:pPr algn="l" marL="274320" indent="-274320">
              <a:lnSpc>
                <a:spcPct val="100000"/>
              </a:lnSpc>
              <a:spcAft>
                <a:spcPts val="800"/>
              </a:spcAft>
              <a:buClr>
                <a:srgbClr val="F5A623"/>
              </a:buClr>
              <a:buFont typeface="Arial"/>
              <a:buChar char="•"/>
            </a:pPr>
            <a:r>
              <a:rPr sz="1600" b="0" i="0">
                <a:solidFill>
                  <a:srgbClr val="18232F"/>
                </a:solidFill>
                <a:latin typeface="Segoe UI"/>
              </a:rPr>
              <a:t>Strictly, the loud three are habits driven by emotion and the quiet four are biases.</a:t>
            </a:r>
          </a:p>
          <a:p>
            <a:pPr algn="l" marL="274320" indent="-274320">
              <a:lnSpc>
                <a:spcPct val="100000"/>
              </a:lnSpc>
              <a:buClr>
                <a:srgbClr val="F5A623"/>
              </a:buClr>
              <a:buFont typeface="Arial"/>
              <a:buChar char="•"/>
            </a:pPr>
            <a:r>
              <a:rPr sz="1600" b="0" i="0">
                <a:solidFill>
                  <a:srgbClr val="18232F"/>
                </a:solidFill>
                <a:latin typeface="Segoe UI"/>
              </a:rPr>
              <a:t>For short, this lesson calls all seven biases.</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Loss aversion: Priya's paper trade in Desai Power Ltd, 500 shares at Rs 500 (her maximum planned entry was also Rs 500, so the 25% cap allowed exactly 500), stop Rs 480, so 1R = Rs 10,000. At Rs 483 she moved the stop to Rs 460 'to give it room'; the price fell through Rs 480 and then Rs 460, so she lost 500 x Rs 40 = Rs 20,000, which is 2R. … Recency: at a 40% win-rate, any three trades all lose about 22% of the time (0.6 x 0.6 x 0.6 = 0.216), so a three-loss streak says very little about a rule on its own.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stop that moved</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Exiting at the planned stop near Rs 480 would have cost -1R. After the stop moved, the exit near Rs 460 cost -2R.</a:t>
            </a:r>
          </a:p>
        </p:txBody>
      </p:sp>
      <p:cxnSp>
        <p:nvCxnSpPr>
          <p:cNvPr id="12" name="Connector 11"/>
          <p:cNvCxnSpPr/>
          <p:nvPr/>
        </p:nvCxnSpPr>
        <p:spPr>
          <a:xfrm>
            <a:off x="6812159" y="4681728"/>
            <a:ext cx="37844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450.8</a:t>
            </a:r>
          </a:p>
        </p:txBody>
      </p:sp>
      <p:cxnSp>
        <p:nvCxnSpPr>
          <p:cNvPr id="14" name="Connector 13"/>
          <p:cNvCxnSpPr/>
          <p:nvPr/>
        </p:nvCxnSpPr>
        <p:spPr>
          <a:xfrm>
            <a:off x="6812159" y="3851148"/>
            <a:ext cx="37844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7688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470.9</a:t>
            </a:r>
          </a:p>
        </p:txBody>
      </p:sp>
      <p:cxnSp>
        <p:nvCxnSpPr>
          <p:cNvPr id="16" name="Connector 15"/>
          <p:cNvCxnSpPr/>
          <p:nvPr/>
        </p:nvCxnSpPr>
        <p:spPr>
          <a:xfrm>
            <a:off x="6812159" y="3020568"/>
            <a:ext cx="37844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3827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491.1</a:t>
            </a:r>
          </a:p>
        </p:txBody>
      </p:sp>
      <p:cxnSp>
        <p:nvCxnSpPr>
          <p:cNvPr id="18" name="Connector 17"/>
          <p:cNvCxnSpPr/>
          <p:nvPr/>
        </p:nvCxnSpPr>
        <p:spPr>
          <a:xfrm>
            <a:off x="6812159" y="2189988"/>
            <a:ext cx="3784442"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511.2</a:t>
            </a:r>
          </a:p>
        </p:txBody>
      </p:sp>
      <p:cxnSp>
        <p:nvCxnSpPr>
          <p:cNvPr id="20" name="Connector 19"/>
          <p:cNvCxnSpPr/>
          <p:nvPr/>
        </p:nvCxnSpPr>
        <p:spPr>
          <a:xfrm>
            <a:off x="6812159" y="2650993"/>
            <a:ext cx="3821018"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669753" y="2559553"/>
            <a:ext cx="881862"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a:t>
            </a:r>
          </a:p>
        </p:txBody>
      </p:sp>
      <p:cxnSp>
        <p:nvCxnSpPr>
          <p:cNvPr id="22" name="Connector 21"/>
          <p:cNvCxnSpPr/>
          <p:nvPr/>
        </p:nvCxnSpPr>
        <p:spPr>
          <a:xfrm>
            <a:off x="6812159" y="3477167"/>
            <a:ext cx="3821018"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669753" y="3385727"/>
            <a:ext cx="881862"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Planned stop</a:t>
            </a:r>
          </a:p>
        </p:txBody>
      </p:sp>
      <p:cxnSp>
        <p:nvCxnSpPr>
          <p:cNvPr id="24" name="Connector 23"/>
          <p:cNvCxnSpPr/>
          <p:nvPr/>
        </p:nvCxnSpPr>
        <p:spPr>
          <a:xfrm>
            <a:off x="6812159" y="4303340"/>
            <a:ext cx="3821018"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669753" y="4211900"/>
            <a:ext cx="881862"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Moved stop</a:t>
            </a:r>
          </a:p>
        </p:txBody>
      </p:sp>
      <p:cxnSp>
        <p:nvCxnSpPr>
          <p:cNvPr id="26" name="Connector 25"/>
          <p:cNvCxnSpPr/>
          <p:nvPr/>
        </p:nvCxnSpPr>
        <p:spPr>
          <a:xfrm>
            <a:off x="7022406" y="2527067"/>
            <a:ext cx="0" cy="37177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96258" y="2609684"/>
            <a:ext cx="252296" cy="20654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442900" y="2403141"/>
            <a:ext cx="0" cy="37177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316752" y="2485758"/>
            <a:ext cx="252296" cy="16523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863393" y="2361832"/>
            <a:ext cx="0" cy="49570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37245" y="2485758"/>
            <a:ext cx="252296" cy="289161"/>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283887" y="2692302"/>
            <a:ext cx="0" cy="49570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157739" y="2774919"/>
            <a:ext cx="252296" cy="33046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704380" y="2981462"/>
            <a:ext cx="0" cy="45439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578232" y="3105389"/>
            <a:ext cx="252296" cy="24785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124874" y="3270623"/>
            <a:ext cx="0" cy="37177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998726" y="3353241"/>
            <a:ext cx="252296" cy="20654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9545367" y="3477167"/>
            <a:ext cx="0" cy="49570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419219" y="3559784"/>
            <a:ext cx="252296" cy="33046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965861" y="3766327"/>
            <a:ext cx="0" cy="57832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839713" y="3890254"/>
            <a:ext cx="252296" cy="33046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10386355" y="4055488"/>
            <a:ext cx="0" cy="45439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0260206" y="4220723"/>
            <a:ext cx="252296" cy="1652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Isosceles Triangle 43"/>
          <p:cNvSpPr/>
          <p:nvPr/>
        </p:nvSpPr>
        <p:spPr>
          <a:xfrm rot="10800000">
            <a:off x="8649516" y="2844302"/>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8312372" y="2633990"/>
            <a:ext cx="784017"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Stop moved</a:t>
            </a:r>
          </a:p>
        </p:txBody>
      </p:sp>
      <p:sp>
        <p:nvSpPr>
          <p:cNvPr id="46" name="Isosceles Triangle 45"/>
          <p:cNvSpPr/>
          <p:nvPr/>
        </p:nvSpPr>
        <p:spPr>
          <a:xfrm>
            <a:off x="9910997" y="4390369"/>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9705747" y="4500097"/>
            <a:ext cx="520229"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-2R exit</a:t>
            </a:r>
          </a:p>
        </p:txBody>
      </p:sp>
      <p:sp>
        <p:nvSpPr>
          <p:cNvPr id="48" name="Rounded Rectangle 4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ounded Rectangle 4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50" name="TextBox 4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Once a trade is on, the stop stays where your plan card put it. Never move it down to dodge a loss.</a:t>
            </a:r>
          </a:p>
        </p:txBody>
      </p:sp>
      <p:pic>
        <p:nvPicPr>
          <p:cNvPr id="51" name="Picture 50" descr="logo.png"/>
          <p:cNvPicPr>
            <a:picLocks noChangeAspect="1"/>
          </p:cNvPicPr>
          <p:nvPr/>
        </p:nvPicPr>
        <p:blipFill>
          <a:blip r:embed="rId2"/>
          <a:stretch>
            <a:fillRect/>
          </a:stretch>
        </p:blipFill>
        <p:spPr>
          <a:xfrm>
            <a:off x="457200" y="6437376"/>
            <a:ext cx="237744" cy="237744"/>
          </a:xfrm>
          <a:prstGeom prst="rect">
            <a:avLst/>
          </a:prstGeom>
        </p:spPr>
      </p:pic>
      <p:sp>
        <p:nvSpPr>
          <p:cNvPr id="5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3" name="TextBox 5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kill-switch for humans: design, not willpower</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Day 9 gave you the kill-switch: stop for the day at -2R, and pause and review after -5R in a week.</a:t>
            </a:r>
          </a:p>
          <a:p>
            <a:pPr algn="l" marL="274320" indent="-274320">
              <a:lnSpc>
                <a:spcPct val="100000"/>
              </a:lnSpc>
              <a:spcAft>
                <a:spcPts val="800"/>
              </a:spcAft>
              <a:buClr>
                <a:srgbClr val="F5A623"/>
              </a:buClr>
              <a:buFont typeface="Arial"/>
              <a:buChar char="•"/>
            </a:pPr>
            <a:r>
              <a:rPr sz="1600" b="0" i="0">
                <a:solidFill>
                  <a:srgbClr val="18232F"/>
                </a:solidFill>
                <a:latin typeface="Segoe UI"/>
              </a:rPr>
              <a:t>Think of the MCB, the small circuit breaker in your home's switchboard: it trips before the wiring burns, and nobody argues with it.</a:t>
            </a:r>
          </a:p>
          <a:p>
            <a:pPr algn="l" marL="274320" indent="-274320">
              <a:lnSpc>
                <a:spcPct val="100000"/>
              </a:lnSpc>
              <a:spcAft>
                <a:spcPts val="800"/>
              </a:spcAft>
              <a:buClr>
                <a:srgbClr val="F5A623"/>
              </a:buClr>
              <a:buFont typeface="Arial"/>
              <a:buChar char="•"/>
            </a:pPr>
            <a:r>
              <a:rPr sz="1600" b="0" i="0">
                <a:solidFill>
                  <a:srgbClr val="18232F"/>
                </a:solidFill>
                <a:latin typeface="Segoe UI"/>
              </a:rPr>
              <a:t>The trouble is that you must flip your own switch, at the very moment your judgement is weakest.</a:t>
            </a:r>
          </a:p>
          <a:p>
            <a:pPr algn="l" marL="274320" indent="-274320">
              <a:lnSpc>
                <a:spcPct val="100000"/>
              </a:lnSpc>
              <a:buClr>
                <a:srgbClr val="F5A623"/>
              </a:buClr>
              <a:buFont typeface="Arial"/>
              <a:buChar char="•"/>
            </a:pPr>
            <a:r>
              <a:rPr sz="1600" b="0" i="0">
                <a:solidFill>
                  <a:srgbClr val="18232F"/>
                </a:solidFill>
                <a:latin typeface="Segoe UI"/>
              </a:rPr>
              <a:t>So do not rely on willpower; design your day so that breaking the rule takes effort.</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On Rs 10 lakh of virtual capital, 1R = Rs 10,000, so Aman writes at the top of his card: 'Daily stop: -Rs 20,000. Weekly pause: -Rs 50,000. Then he designs his day. The chart and paper-trading apps leave his phone's home screen during office hours, and he exits every tip group. Alerts are set only at the entry and stop levels from last night's plan card. … None of this needs courage in the moment; it was all decided on a calm Sunday.</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Willpower vs design</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Design, not willpower: build the day so that the right action is also the easy one.</a:t>
            </a:r>
          </a:p>
        </p:txBody>
      </p:sp>
      <p:sp>
        <p:nvSpPr>
          <p:cNvPr id="11" name="Rounded Rectangle 10"/>
          <p:cNvSpPr/>
          <p:nvPr/>
        </p:nvSpPr>
        <p:spPr>
          <a:xfrm>
            <a:off x="6397600" y="1796796"/>
            <a:ext cx="2494712" cy="343814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796796"/>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28444"/>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796796"/>
            <a:ext cx="2494712" cy="3438144"/>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796796"/>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Willpower plan</a:t>
            </a:r>
          </a:p>
        </p:txBody>
      </p:sp>
      <p:cxnSp>
        <p:nvCxnSpPr>
          <p:cNvPr id="16" name="Connector 15"/>
          <p:cNvCxnSpPr/>
          <p:nvPr/>
        </p:nvCxnSpPr>
        <p:spPr>
          <a:xfrm>
            <a:off x="6397600" y="2260092"/>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406396"/>
            <a:ext cx="2202104" cy="2791968"/>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'I'll be careful today'</a:t>
            </a:r>
          </a:p>
          <a:p>
            <a:pPr algn="l" marL="201168" indent="-201168">
              <a:lnSpc>
                <a:spcPct val="100000"/>
              </a:lnSpc>
              <a:spcAft>
                <a:spcPts val="750"/>
              </a:spcAft>
              <a:buClr>
                <a:srgbClr val="F0554E"/>
              </a:buClr>
              <a:buFont typeface="Arial"/>
              <a:buChar char="•"/>
            </a:pPr>
            <a:r>
              <a:rPr sz="1500" b="0" i="0">
                <a:solidFill>
                  <a:srgbClr val="18232F"/>
                </a:solidFill>
                <a:latin typeface="Segoe UI"/>
              </a:rPr>
              <a:t>Limit decided in the moment</a:t>
            </a:r>
          </a:p>
          <a:p>
            <a:pPr algn="l" marL="201168" indent="-201168">
              <a:lnSpc>
                <a:spcPct val="100000"/>
              </a:lnSpc>
              <a:spcAft>
                <a:spcPts val="750"/>
              </a:spcAft>
              <a:buClr>
                <a:srgbClr val="F0554E"/>
              </a:buClr>
              <a:buFont typeface="Arial"/>
              <a:buChar char="•"/>
            </a:pPr>
            <a:r>
              <a:rPr sz="1500" b="0" i="0">
                <a:solidFill>
                  <a:srgbClr val="18232F"/>
                </a:solidFill>
                <a:latin typeface="Segoe UI"/>
              </a:rPr>
              <a:t>App and tip groups one tap away</a:t>
            </a:r>
          </a:p>
          <a:p>
            <a:pPr algn="l" marL="201168" indent="-201168">
              <a:lnSpc>
                <a:spcPct val="100000"/>
              </a:lnSpc>
              <a:buClr>
                <a:srgbClr val="F0554E"/>
              </a:buClr>
              <a:buFont typeface="Arial"/>
              <a:buChar char="•"/>
            </a:pPr>
            <a:r>
              <a:rPr sz="1500" b="0" i="0">
                <a:solidFill>
                  <a:srgbClr val="18232F"/>
                </a:solidFill>
                <a:latin typeface="Segoe UI"/>
              </a:rPr>
              <a:t>Journal filled later, if at all</a:t>
            </a:r>
          </a:p>
        </p:txBody>
      </p:sp>
      <p:sp>
        <p:nvSpPr>
          <p:cNvPr id="18" name="Rounded Rectangle 17"/>
          <p:cNvSpPr/>
          <p:nvPr/>
        </p:nvSpPr>
        <p:spPr>
          <a:xfrm>
            <a:off x="9056903" y="1796796"/>
            <a:ext cx="2494712" cy="343814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796796"/>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28444"/>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796796"/>
            <a:ext cx="2494712" cy="3438144"/>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796796"/>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Design plan</a:t>
            </a:r>
          </a:p>
        </p:txBody>
      </p:sp>
      <p:cxnSp>
        <p:nvCxnSpPr>
          <p:cNvPr id="23" name="Connector 22"/>
          <p:cNvCxnSpPr/>
          <p:nvPr/>
        </p:nvCxnSpPr>
        <p:spPr>
          <a:xfrm>
            <a:off x="9056903" y="2260092"/>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406396"/>
            <a:ext cx="2202104" cy="2791968"/>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Daily stop in rupees, written before 9:15</a:t>
            </a:r>
          </a:p>
          <a:p>
            <a:pPr algn="l" marL="201168" indent="-201168">
              <a:lnSpc>
                <a:spcPct val="100000"/>
              </a:lnSpc>
              <a:spcAft>
                <a:spcPts val="750"/>
              </a:spcAft>
              <a:buClr>
                <a:srgbClr val="16A34A"/>
              </a:buClr>
              <a:buFont typeface="Arial"/>
              <a:buChar char="•"/>
            </a:pPr>
            <a:r>
              <a:rPr sz="1500" b="0" i="0">
                <a:solidFill>
                  <a:srgbClr val="18232F"/>
                </a:solidFill>
                <a:latin typeface="Segoe UI"/>
              </a:rPr>
              <a:t>Alerts only at plan-card levels</a:t>
            </a:r>
          </a:p>
          <a:p>
            <a:pPr algn="l" marL="201168" indent="-201168">
              <a:lnSpc>
                <a:spcPct val="100000"/>
              </a:lnSpc>
              <a:spcAft>
                <a:spcPts val="750"/>
              </a:spcAft>
              <a:buClr>
                <a:srgbClr val="16A34A"/>
              </a:buClr>
              <a:buFont typeface="Arial"/>
              <a:buChar char="•"/>
            </a:pPr>
            <a:r>
              <a:rPr sz="1500" b="0" i="0">
                <a:solidFill>
                  <a:srgbClr val="18232F"/>
                </a:solidFill>
                <a:latin typeface="Segoe UI"/>
              </a:rPr>
              <a:t>Apps hidden at work, no tip groups</a:t>
            </a:r>
          </a:p>
          <a:p>
            <a:pPr algn="l" marL="201168" indent="-201168">
              <a:lnSpc>
                <a:spcPct val="100000"/>
              </a:lnSpc>
              <a:spcAft>
                <a:spcPts val="750"/>
              </a:spcAft>
              <a:buClr>
                <a:srgbClr val="16A34A"/>
              </a:buClr>
              <a:buFont typeface="Arial"/>
              <a:buChar char="•"/>
            </a:pPr>
            <a:r>
              <a:rPr sz="1500" b="0" i="0">
                <a:solidFill>
                  <a:srgbClr val="18232F"/>
                </a:solidFill>
                <a:latin typeface="Segoe UI"/>
              </a:rPr>
              <a:t>Journal row before every order</a:t>
            </a:r>
          </a:p>
          <a:p>
            <a:pPr algn="l" marL="201168" indent="-201168">
              <a:lnSpc>
                <a:spcPct val="100000"/>
              </a:lnSpc>
              <a:buClr>
                <a:srgbClr val="16A34A"/>
              </a:buClr>
              <a:buFont typeface="Arial"/>
              <a:buChar char="•"/>
            </a:pPr>
            <a:r>
              <a:rPr sz="1500" b="0" i="0">
                <a:solidFill>
                  <a:srgbClr val="18232F"/>
                </a:solidFill>
                <a:latin typeface="Segoe UI"/>
              </a:rPr>
              <a:t>A buddy who hears 'stopped'</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Discipline is not a feeling in the moment. It is a decision made earlier and written down.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Daily Routine Card: four blocks, every day</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The Daily Routine Card is one page, beside your screen or as a photo on your phone, that says what to do and when.</a:t>
            </a:r>
          </a:p>
          <a:p>
            <a:pPr algn="l" marL="274320" indent="-274320">
              <a:lnSpc>
                <a:spcPct val="100000"/>
              </a:lnSpc>
              <a:spcAft>
                <a:spcPts val="750"/>
              </a:spcAft>
              <a:buClr>
                <a:srgbClr val="F5A623"/>
              </a:buClr>
              <a:buFont typeface="Arial"/>
              <a:buChar char="•"/>
            </a:pPr>
            <a:r>
              <a:rPr sz="1500" b="0" i="0">
                <a:solidFill>
                  <a:srgbClr val="18232F"/>
                </a:solidFill>
                <a:latin typeface="Segoe UI"/>
              </a:rPr>
              <a:t>It has four blocks.</a:t>
            </a:r>
          </a:p>
          <a:p>
            <a:pPr algn="l" marL="274320" indent="-274320">
              <a:lnSpc>
                <a:spcPct val="100000"/>
              </a:lnSpc>
              <a:spcAft>
                <a:spcPts val="750"/>
              </a:spcAft>
              <a:buClr>
                <a:srgbClr val="F5A623"/>
              </a:buClr>
              <a:buFont typeface="Arial"/>
              <a:buChar char="•"/>
            </a:pPr>
            <a:r>
              <a:rPr sz="1500" b="0" i="0">
                <a:solidFill>
                  <a:srgbClr val="18232F"/>
                </a:solidFill>
                <a:latin typeface="Segoe UI"/>
              </a:rPr>
              <a:t>Before the bell, 10 minutes (say 8:45 to 8:55, before the 9:00 pre-open)</a:t>
            </a:r>
          </a:p>
          <a:p>
            <a:pPr algn="l" marL="274320" indent="-274320">
              <a:lnSpc>
                <a:spcPct val="100000"/>
              </a:lnSpc>
              <a:buClr>
                <a:srgbClr val="F5A623"/>
              </a:buClr>
              <a:buFont typeface="Arial"/>
              <a:buChar char="•"/>
            </a:pPr>
            <a:r>
              <a:rPr sz="1500" b="0" i="0">
                <a:solidFill>
                  <a:srgbClr val="18232F"/>
                </a:solidFill>
                <a:latin typeface="Segoe UI"/>
              </a:rPr>
              <a:t>During market hours: alerts and your checklist only, no tip groups, no news debates.</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Priya's weekend block asks the same five questions every Saturday. Out of all my decisions, no-trade days included, how many kept every rule? Which emotion tag cost the most R? Did the daily stop or the weekly pause fire, and did I obey it? Which one habit do I fix next week? What did I do well? Her first card took 25 minutes to write. Now each block fits the time printed on it, and on a day with no setup the card still gets its tick: a no-trade day counts as following the rules. Her whole card, filled in, is in today's task, with a blank one for you.</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day on the card</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Swing traders with a day job do the first block before work and the after-close block in the evening. The times are a template: fit them to your day.</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441991"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8:45</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Before the bell</a:t>
            </a:r>
          </a:p>
          <a:p>
            <a:pPr algn="ctr">
              <a:lnSpc>
                <a:spcPct val="100000"/>
              </a:lnSpc>
            </a:pPr>
            <a:r>
              <a:rPr sz="1150" b="0" i="0">
                <a:solidFill>
                  <a:srgbClr val="47596B"/>
                </a:solidFill>
                <a:latin typeface="Segoe UI"/>
              </a:rPr>
              <a:t>Events, daily stop, mood, one line</a:t>
            </a:r>
          </a:p>
        </p:txBody>
      </p:sp>
      <p:sp>
        <p:nvSpPr>
          <p:cNvPr id="14" name="Rounded Rectangle 13"/>
          <p:cNvSpPr/>
          <p:nvPr/>
        </p:nvSpPr>
        <p:spPr>
          <a:xfrm>
            <a:off x="3624298"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9:15</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Market hours</a:t>
            </a:r>
          </a:p>
          <a:p>
            <a:pPr algn="ctr">
              <a:lnSpc>
                <a:spcPct val="100000"/>
              </a:lnSpc>
            </a:pPr>
            <a:r>
              <a:rPr sz="1150" b="0" i="0">
                <a:solidFill>
                  <a:srgbClr val="47596B"/>
                </a:solidFill>
                <a:latin typeface="Segoe UI"/>
              </a:rPr>
              <a:t>Alerts and checklist only</a:t>
            </a:r>
          </a:p>
        </p:txBody>
      </p:sp>
      <p:sp>
        <p:nvSpPr>
          <p:cNvPr id="16" name="Rounded Rectangle 15"/>
          <p:cNvSpPr/>
          <p:nvPr/>
        </p:nvSpPr>
        <p:spPr>
          <a:xfrm>
            <a:off x="5806605"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-2R</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Kill-switch</a:t>
            </a:r>
          </a:p>
          <a:p>
            <a:pPr algn="ctr">
              <a:lnSpc>
                <a:spcPct val="100000"/>
              </a:lnSpc>
            </a:pPr>
            <a:r>
              <a:rPr sz="1150" b="0" i="0">
                <a:solidFill>
                  <a:srgbClr val="47596B"/>
                </a:solidFill>
                <a:latin typeface="Segoe UI"/>
              </a:rPr>
              <a:t>If hit: screen off till tomorrow</a:t>
            </a:r>
          </a:p>
        </p:txBody>
      </p:sp>
      <p:sp>
        <p:nvSpPr>
          <p:cNvPr id="18" name="Rounded Rectangle 17"/>
          <p:cNvSpPr/>
          <p:nvPr/>
        </p:nvSpPr>
        <p:spPr>
          <a:xfrm>
            <a:off x="7988912"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15:30</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After the close</a:t>
            </a:r>
          </a:p>
          <a:p>
            <a:pPr algn="ctr">
              <a:lnSpc>
                <a:spcPct val="100000"/>
              </a:lnSpc>
            </a:pPr>
            <a:r>
              <a:rPr sz="1150" b="0" i="0">
                <a:solidFill>
                  <a:srgbClr val="47596B"/>
                </a:solidFill>
                <a:latin typeface="Segoe UI"/>
              </a:rPr>
              <a:t>Journal, scan, plan card, AI review</a:t>
            </a:r>
          </a:p>
        </p:txBody>
      </p:sp>
      <p:sp>
        <p:nvSpPr>
          <p:cNvPr id="20" name="Rounded Rectangle 19"/>
          <p:cNvSpPr/>
          <p:nvPr/>
        </p:nvSpPr>
        <p:spPr>
          <a:xfrm>
            <a:off x="10171219"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Sat</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Weekend review</a:t>
            </a:r>
          </a:p>
          <a:p>
            <a:pPr algn="ctr">
              <a:lnSpc>
                <a:spcPct val="100000"/>
              </a:lnSpc>
            </a:pPr>
            <a:r>
              <a:rPr sz="1150" b="0" i="0">
                <a:solidFill>
                  <a:srgbClr val="47596B"/>
                </a:solidFill>
                <a:latin typeface="Segoe UI"/>
              </a:rPr>
              <a:t>Five questions; rule changes only here, after 30 trades</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Plan before the bell, follow the card during the session, review after the close.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protection checklist: guard the money and the mind</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Your money needs five checks, all from Week 1.</a:t>
            </a:r>
          </a:p>
          <a:p>
            <a:pPr algn="l" marL="274320" indent="-274320">
              <a:lnSpc>
                <a:spcPct val="100000"/>
              </a:lnSpc>
              <a:spcAft>
                <a:spcPts val="800"/>
              </a:spcAft>
              <a:buClr>
                <a:srgbClr val="F5A623"/>
              </a:buClr>
              <a:buFont typeface="Arial"/>
              <a:buChar char="•"/>
            </a:pPr>
            <a:r>
              <a:rPr sz="1600" b="0" i="0">
                <a:solidFill>
                  <a:srgbClr val="18232F"/>
                </a:solidFill>
                <a:latin typeface="Segoe UI"/>
              </a:rPr>
              <a:t>Verify any adviser or analyst on sebi.gov.in before you pay.</a:t>
            </a:r>
          </a:p>
          <a:p>
            <a:pPr algn="l" marL="274320" indent="-274320">
              <a:lnSpc>
                <a:spcPct val="100000"/>
              </a:lnSpc>
              <a:spcAft>
                <a:spcPts val="800"/>
              </a:spcAft>
              <a:buClr>
                <a:srgbClr val="F5A623"/>
              </a:buClr>
              <a:buFont typeface="Arial"/>
              <a:buChar char="•"/>
            </a:pPr>
            <a:r>
              <a:rPr sz="1600" b="0" i="0">
                <a:solidFill>
                  <a:srgbClr val="18232F"/>
                </a:solidFill>
                <a:latin typeface="Segoe UI"/>
              </a:rPr>
              <a:t>Pay only into an account in that registered name, checked on SEBI Check (Day 7)</a:t>
            </a:r>
          </a:p>
          <a:p>
            <a:pPr algn="l" marL="274320" indent="-274320">
              <a:lnSpc>
                <a:spcPct val="100000"/>
              </a:lnSpc>
              <a:spcAft>
                <a:spcPts val="800"/>
              </a:spcAft>
              <a:buClr>
                <a:srgbClr val="F5A623"/>
              </a:buClr>
              <a:buFont typeface="Arial"/>
              <a:buChar char="•"/>
            </a:pPr>
            <a:r>
              <a:rPr sz="1600" b="0" i="0">
                <a:solidFill>
                  <a:srgbClr val="18232F"/>
                </a:solidFill>
                <a:latin typeface="Segoe UI"/>
              </a:rPr>
              <a:t>Never share an OTP, TPIN or password.</a:t>
            </a:r>
          </a:p>
          <a:p>
            <a:pPr algn="l" marL="274320" indent="-274320">
              <a:lnSpc>
                <a:spcPct val="100000"/>
              </a:lnSpc>
              <a:buClr>
                <a:srgbClr val="F5A623"/>
              </a:buClr>
              <a:buFont typeface="Arial"/>
              <a:buChar char="•"/>
            </a:pPr>
            <a:r>
              <a:rPr sz="1600" b="0" i="0">
                <a:solidFill>
                  <a:srgbClr val="18232F"/>
                </a:solidFill>
                <a:latin typeface="Segoe UI"/>
              </a:rPr>
              <a:t>Complain first at the broker's or adviser's own grievance desk, then on SCORES or SMART ODR.</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looks honestly at his week: two trades placed in secret during office meetings, and a thought of taking a Rs 50,000 card loan 'to do it with real money and win it all back'. That makes three warning signs: chasing losses, trading in secret at work and planning to borrow. … Stage 1 runs on virtual money, which makes it the cheapest place to catch a habit like this.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If a warning sign shows up</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Tele-MANAS: 14416, free, 24x7, in many Indian languages. Check the latest details at telemanas.mohfw.gov.in.</a:t>
            </a:r>
          </a:p>
        </p:txBody>
      </p:sp>
      <p:sp>
        <p:nvSpPr>
          <p:cNvPr id="11" name="Rounded Rectangle 10"/>
          <p:cNvSpPr/>
          <p:nvPr/>
        </p:nvSpPr>
        <p:spPr>
          <a:xfrm>
            <a:off x="6397600" y="1796796"/>
            <a:ext cx="5154016" cy="568452"/>
          </a:xfrm>
          <a:prstGeom prst="roundRect">
            <a:avLst>
              <a:gd name="adj" fmla="val 16085"/>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534760" y="1879092"/>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Spot a sign</a:t>
            </a:r>
          </a:p>
          <a:p>
            <a:pPr algn="l">
              <a:lnSpc>
                <a:spcPct val="100000"/>
              </a:lnSpc>
            </a:pPr>
            <a:r>
              <a:rPr sz="1250" b="0" i="0">
                <a:solidFill>
                  <a:srgbClr val="47596B"/>
                </a:solidFill>
                <a:latin typeface="Segoe UI"/>
              </a:rPr>
              <a:t>Borrowing, hiding, chasing, no sleep</a:t>
            </a:r>
          </a:p>
        </p:txBody>
      </p:sp>
      <p:sp>
        <p:nvSpPr>
          <p:cNvPr id="13" name="Down Arrow 12"/>
          <p:cNvSpPr/>
          <p:nvPr/>
        </p:nvSpPr>
        <p:spPr>
          <a:xfrm>
            <a:off x="6708496" y="2401824"/>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2700020"/>
            <a:ext cx="5154016" cy="568452"/>
          </a:xfrm>
          <a:prstGeom prst="roundRect">
            <a:avLst>
              <a:gd name="adj" fmla="val 1608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34760" y="2782316"/>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Stop for a week</a:t>
            </a:r>
          </a:p>
          <a:p>
            <a:pPr algn="l">
              <a:lnSpc>
                <a:spcPct val="100000"/>
              </a:lnSpc>
            </a:pPr>
            <a:r>
              <a:rPr sz="1250" b="0" i="0">
                <a:solidFill>
                  <a:srgbClr val="47596B"/>
                </a:solidFill>
                <a:latin typeface="Segoe UI"/>
              </a:rPr>
              <a:t>Charts and apps closed</a:t>
            </a:r>
          </a:p>
        </p:txBody>
      </p:sp>
      <p:sp>
        <p:nvSpPr>
          <p:cNvPr id="16" name="Down Arrow 15"/>
          <p:cNvSpPr/>
          <p:nvPr/>
        </p:nvSpPr>
        <p:spPr>
          <a:xfrm>
            <a:off x="6708496" y="3305048"/>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6397600" y="3603244"/>
            <a:ext cx="5154016" cy="568452"/>
          </a:xfrm>
          <a:prstGeom prst="roundRect">
            <a:avLst>
              <a:gd name="adj" fmla="val 1608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534760" y="3685540"/>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Tell someone</a:t>
            </a:r>
          </a:p>
          <a:p>
            <a:pPr algn="l">
              <a:lnSpc>
                <a:spcPct val="100000"/>
              </a:lnSpc>
            </a:pPr>
            <a:r>
              <a:rPr sz="1250" b="0" i="0">
                <a:solidFill>
                  <a:srgbClr val="47596B"/>
                </a:solidFill>
                <a:latin typeface="Segoe UI"/>
              </a:rPr>
              <a:t>Family or a trusted friend</a:t>
            </a:r>
          </a:p>
        </p:txBody>
      </p:sp>
      <p:sp>
        <p:nvSpPr>
          <p:cNvPr id="19" name="Down Arrow 18"/>
          <p:cNvSpPr/>
          <p:nvPr/>
        </p:nvSpPr>
        <p:spPr>
          <a:xfrm>
            <a:off x="6708496" y="4208272"/>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6397600" y="4506468"/>
            <a:ext cx="5154016" cy="568452"/>
          </a:xfrm>
          <a:prstGeom prst="roundRect">
            <a:avLst>
              <a:gd name="adj" fmla="val 1608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6534760" y="4588764"/>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Get help</a:t>
            </a:r>
          </a:p>
          <a:p>
            <a:pPr algn="l">
              <a:lnSpc>
                <a:spcPct val="100000"/>
              </a:lnSpc>
            </a:pPr>
            <a:r>
              <a:rPr sz="1250" b="0" i="0">
                <a:solidFill>
                  <a:srgbClr val="47596B"/>
                </a:solidFill>
                <a:latin typeface="Segoe UI"/>
              </a:rPr>
              <a:t>Counsellor or Tele-MANAS 14416</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Protect the money with checks and the mind with people. Neither has to be done alone.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72946"/>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Revenge trade</a:t>
            </a:r>
          </a:p>
        </p:txBody>
      </p:sp>
      <p:sp>
        <p:nvSpPr>
          <p:cNvPr id="6" name="TextBox 5"/>
          <p:cNvSpPr txBox="1"/>
          <p:nvPr/>
        </p:nvSpPr>
        <p:spPr>
          <a:xfrm>
            <a:off x="658368" y="1802130"/>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 trade taken to win back a loss, not because a rule gave a setup. Usually bigger and hastier than normal.</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72946"/>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FOMO</a:t>
            </a:r>
          </a:p>
        </p:txBody>
      </p:sp>
      <p:sp>
        <p:nvSpPr>
          <p:cNvPr id="9" name="TextBox 8"/>
          <p:cNvSpPr txBox="1"/>
          <p:nvPr/>
        </p:nvSpPr>
        <p:spPr>
          <a:xfrm>
            <a:off x="6379312" y="1802130"/>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Fear of missing out: jumping into a move that has already run, without your setup.</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48534"/>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Loss aversion</a:t>
            </a:r>
          </a:p>
        </p:txBody>
      </p:sp>
      <p:sp>
        <p:nvSpPr>
          <p:cNvPr id="12" name="TextBox 11"/>
          <p:cNvSpPr txBox="1"/>
          <p:nvPr/>
        </p:nvSpPr>
        <p:spPr>
          <a:xfrm>
            <a:off x="658368" y="3077718"/>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 loss hurts more than an equal gain pleases, so we avoid booking losses, for example by moving a stop.</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59964"/>
            <a:ext cx="5154016" cy="284988"/>
          </a:xfrm>
          <a:prstGeom prst="rect">
            <a:avLst/>
          </a:prstGeom>
          <a:noFill/>
        </p:spPr>
        <p:txBody>
          <a:bodyPr wrap="square" lIns="0" rIns="0" tIns="0" bIns="0" anchor="t">
            <a:noAutofit/>
          </a:bodyPr>
          <a:lstStyle/>
          <a:p>
            <a:pPr algn="l">
              <a:lnSpc>
                <a:spcPct val="100000"/>
              </a:lnSpc>
            </a:pPr>
            <a:r>
              <a:rPr sz="1750" b="1" i="0">
                <a:solidFill>
                  <a:srgbClr val="92400E"/>
                </a:solidFill>
                <a:latin typeface="Segoe UI"/>
              </a:rPr>
              <a:t>Sunk cost</a:t>
            </a:r>
          </a:p>
        </p:txBody>
      </p:sp>
      <p:sp>
        <p:nvSpPr>
          <p:cNvPr id="15" name="TextBox 14"/>
          <p:cNvSpPr txBox="1"/>
          <p:nvPr/>
        </p:nvSpPr>
        <p:spPr>
          <a:xfrm>
            <a:off x="6379312" y="3081528"/>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Money already lost. It should not decide today's choice, because the market does not know your buying price.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24122"/>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Confirmation bias</a:t>
            </a:r>
          </a:p>
        </p:txBody>
      </p:sp>
      <p:sp>
        <p:nvSpPr>
          <p:cNvPr id="18" name="TextBox 17"/>
          <p:cNvSpPr txBox="1"/>
          <p:nvPr/>
        </p:nvSpPr>
        <p:spPr>
          <a:xfrm>
            <a:off x="658368"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Looking only for views that agree with a trade you have already taken.</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24122"/>
            <a:ext cx="5154016" cy="292608"/>
          </a:xfrm>
          <a:prstGeom prst="rect">
            <a:avLst/>
          </a:prstGeom>
          <a:noFill/>
        </p:spPr>
        <p:txBody>
          <a:bodyPr wrap="square" lIns="0" rIns="0" tIns="0" bIns="0" anchor="t">
            <a:noAutofit/>
          </a:bodyPr>
          <a:lstStyle/>
          <a:p>
            <a:pPr algn="l">
              <a:lnSpc>
                <a:spcPct val="100000"/>
              </a:lnSpc>
            </a:pPr>
            <a:r>
              <a:rPr sz="1800" b="1" i="0">
                <a:solidFill>
                  <a:srgbClr val="92400E"/>
                </a:solidFill>
                <a:latin typeface="Segoe UI"/>
              </a:rPr>
              <a:t>Recency bias</a:t>
            </a:r>
          </a:p>
        </p:txBody>
      </p:sp>
      <p:sp>
        <p:nvSpPr>
          <p:cNvPr id="21" name="TextBox 20"/>
          <p:cNvSpPr txBox="1"/>
          <p:nvPr/>
        </p:nvSpPr>
        <p:spPr>
          <a:xfrm>
            <a:off x="6379312"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Giving the last few trades too much weight, such as dropping a rule after three losses.</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Daily Routine Card</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One page that says what to do and when: your kill-switch at the top, four timed blocks, a written answer to each of the seven biases, and your protection checklist.</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Kill-switch for humans</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Your written stop for the day (-2R) and pause for the week (-5R), in rupees, decided on a calm day so that you never have to decide it in the heat of a loss.</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04263"/>
            <a:ext cx="502920" cy="1699641"/>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3082671"/>
            <a:ext cx="502920" cy="721233"/>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849820"/>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Mind and routine</a:t>
            </a:r>
          </a:p>
        </p:txBody>
      </p:sp>
      <p:sp>
        <p:nvSpPr>
          <p:cNvPr id="10" name="Rounded Rectangle 9"/>
          <p:cNvSpPr/>
          <p:nvPr/>
        </p:nvSpPr>
        <p:spPr>
          <a:xfrm>
            <a:off x="640080" y="1336738"/>
            <a:ext cx="3718408" cy="1535049"/>
          </a:xfrm>
          <a:prstGeom prst="roundRect">
            <a:avLst>
              <a:gd name="adj" fmla="val 7148"/>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1446467"/>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The loud three</a:t>
            </a:r>
          </a:p>
        </p:txBody>
      </p:sp>
      <p:sp>
        <p:nvSpPr>
          <p:cNvPr id="12" name="TextBox 11"/>
          <p:cNvSpPr txBox="1"/>
          <p:nvPr/>
        </p:nvSpPr>
        <p:spPr>
          <a:xfrm>
            <a:off x="786384"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Revenge: win-it-back trades</a:t>
            </a:r>
          </a:p>
          <a:p>
            <a:pPr algn="l" marL="182880" indent="-182880">
              <a:lnSpc>
                <a:spcPct val="100000"/>
              </a:lnSpc>
              <a:spcAft>
                <a:spcPts val="405"/>
              </a:spcAft>
              <a:buClr>
                <a:srgbClr val="F0554E"/>
              </a:buClr>
              <a:buFont typeface="Arial"/>
              <a:buChar char="•"/>
            </a:pPr>
            <a:r>
              <a:rPr sz="1350" b="0" i="0">
                <a:solidFill>
                  <a:srgbClr val="18232F"/>
                </a:solidFill>
                <a:latin typeface="Segoe UI"/>
              </a:rPr>
              <a:t>FOMO: chasing a move that left</a:t>
            </a:r>
          </a:p>
          <a:p>
            <a:pPr algn="l" marL="182880" indent="-182880">
              <a:lnSpc>
                <a:spcPct val="100000"/>
              </a:lnSpc>
              <a:spcAft>
                <a:spcPts val="405"/>
              </a:spcAft>
              <a:buClr>
                <a:srgbClr val="F0554E"/>
              </a:buClr>
              <a:buFont typeface="Arial"/>
              <a:buChar char="•"/>
            </a:pPr>
            <a:r>
              <a:rPr sz="1350" b="0" i="0">
                <a:solidFill>
                  <a:srgbClr val="18232F"/>
                </a:solidFill>
                <a:latin typeface="Segoe UI"/>
              </a:rPr>
              <a:t>Overtrading: trades from boredom</a:t>
            </a:r>
          </a:p>
          <a:p>
            <a:pPr algn="l" marL="182880" indent="-182880">
              <a:lnSpc>
                <a:spcPct val="100000"/>
              </a:lnSpc>
              <a:buClr>
                <a:srgbClr val="F0554E"/>
              </a:buClr>
              <a:buFont typeface="Arial"/>
              <a:buChar char="•"/>
            </a:pPr>
            <a:r>
              <a:rPr sz="1350" b="0" i="0">
                <a:solidFill>
                  <a:srgbClr val="18232F"/>
                </a:solidFill>
                <a:latin typeface="Segoe UI"/>
              </a:rPr>
              <a:t>Journal tags name the enemy</a:t>
            </a:r>
          </a:p>
        </p:txBody>
      </p:sp>
      <p:sp>
        <p:nvSpPr>
          <p:cNvPr id="13" name="Rounded Rectangle 12"/>
          <p:cNvSpPr/>
          <p:nvPr/>
        </p:nvSpPr>
        <p:spPr>
          <a:xfrm>
            <a:off x="640080" y="3036379"/>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86384" y="3146108"/>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The quiet four</a:t>
            </a:r>
          </a:p>
        </p:txBody>
      </p:sp>
      <p:sp>
        <p:nvSpPr>
          <p:cNvPr id="15" name="TextBox 14"/>
          <p:cNvSpPr txBox="1"/>
          <p:nvPr/>
        </p:nvSpPr>
        <p:spPr>
          <a:xfrm>
            <a:off x="786384"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Loss aversion: the moved stop</a:t>
            </a:r>
          </a:p>
          <a:p>
            <a:pPr algn="l" marL="182880" indent="-182880">
              <a:lnSpc>
                <a:spcPct val="100000"/>
              </a:lnSpc>
              <a:spcAft>
                <a:spcPts val="405"/>
              </a:spcAft>
              <a:buClr>
                <a:srgbClr val="F5A524"/>
              </a:buClr>
              <a:buFont typeface="Arial"/>
              <a:buChar char="•"/>
            </a:pPr>
            <a:r>
              <a:rPr sz="1350" b="0" i="0">
                <a:solidFill>
                  <a:srgbClr val="18232F"/>
                </a:solidFill>
                <a:latin typeface="Segoe UI"/>
              </a:rPr>
              <a:t>Sunk cost: 'till it comes back'</a:t>
            </a:r>
          </a:p>
          <a:p>
            <a:pPr algn="l" marL="182880" indent="-182880">
              <a:lnSpc>
                <a:spcPct val="100000"/>
              </a:lnSpc>
              <a:spcAft>
                <a:spcPts val="405"/>
              </a:spcAft>
              <a:buClr>
                <a:srgbClr val="F5A524"/>
              </a:buClr>
              <a:buFont typeface="Arial"/>
              <a:buChar char="•"/>
            </a:pPr>
            <a:r>
              <a:rPr sz="1350" b="0" i="0">
                <a:solidFill>
                  <a:srgbClr val="18232F"/>
                </a:solidFill>
                <a:latin typeface="Segoe UI"/>
              </a:rPr>
              <a:t>Confirmation: only views that agree</a:t>
            </a:r>
          </a:p>
          <a:p>
            <a:pPr algn="l" marL="182880" indent="-182880">
              <a:lnSpc>
                <a:spcPct val="100000"/>
              </a:lnSpc>
              <a:buClr>
                <a:srgbClr val="F5A524"/>
              </a:buClr>
              <a:buFont typeface="Arial"/>
              <a:buChar char="•"/>
            </a:pPr>
            <a:r>
              <a:rPr sz="1350" b="0" i="0">
                <a:solidFill>
                  <a:srgbClr val="18232F"/>
                </a:solidFill>
                <a:latin typeface="Segoe UI"/>
              </a:rPr>
              <a:t>Recency: judging by three trades</a:t>
            </a:r>
          </a:p>
        </p:txBody>
      </p:sp>
      <p:sp>
        <p:nvSpPr>
          <p:cNvPr id="16" name="Rounded Rectangle 15"/>
          <p:cNvSpPr/>
          <p:nvPr/>
        </p:nvSpPr>
        <p:spPr>
          <a:xfrm>
            <a:off x="640080" y="4736020"/>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Kill-switch</a:t>
            </a:r>
          </a:p>
        </p:txBody>
      </p:sp>
      <p:sp>
        <p:nvSpPr>
          <p:cNvPr id="18" name="TextBox 17"/>
          <p:cNvSpPr txBox="1"/>
          <p:nvPr/>
        </p:nvSpPr>
        <p:spPr>
          <a:xfrm>
            <a:off x="786384"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-2R: done for the day</a:t>
            </a:r>
          </a:p>
          <a:p>
            <a:pPr algn="l" marL="182880" indent="-182880">
              <a:lnSpc>
                <a:spcPct val="100000"/>
              </a:lnSpc>
              <a:spcAft>
                <a:spcPts val="405"/>
              </a:spcAft>
              <a:buClr>
                <a:srgbClr val="0093D6"/>
              </a:buClr>
              <a:buFont typeface="Arial"/>
              <a:buChar char="•"/>
            </a:pPr>
            <a:r>
              <a:rPr sz="1350" b="0" i="0">
                <a:solidFill>
                  <a:srgbClr val="18232F"/>
                </a:solidFill>
                <a:latin typeface="Segoe UI"/>
              </a:rPr>
              <a:t>-5R: pause and review</a:t>
            </a:r>
          </a:p>
          <a:p>
            <a:pPr algn="l" marL="182880" indent="-182880">
              <a:lnSpc>
                <a:spcPct val="100000"/>
              </a:lnSpc>
              <a:spcAft>
                <a:spcPts val="405"/>
              </a:spcAft>
              <a:buClr>
                <a:srgbClr val="0093D6"/>
              </a:buClr>
              <a:buFont typeface="Arial"/>
              <a:buChar char="•"/>
            </a:pPr>
            <a:r>
              <a:rPr sz="1350" b="0" i="0">
                <a:solidFill>
                  <a:srgbClr val="18232F"/>
                </a:solidFill>
                <a:latin typeface="Segoe UI"/>
              </a:rPr>
              <a:t>No trades when angry, ill or tired</a:t>
            </a:r>
          </a:p>
          <a:p>
            <a:pPr algn="l" marL="182880" indent="-182880">
              <a:lnSpc>
                <a:spcPct val="100000"/>
              </a:lnSpc>
              <a:buClr>
                <a:srgbClr val="0093D6"/>
              </a:buClr>
              <a:buFont typeface="Arial"/>
              <a:buChar char="•"/>
            </a:pPr>
            <a:r>
              <a:rPr sz="1350" b="0" i="0">
                <a:solidFill>
                  <a:srgbClr val="18232F"/>
                </a:solidFill>
                <a:latin typeface="Segoe UI"/>
              </a:rPr>
              <a:t>Design, not willpower</a:t>
            </a:r>
          </a:p>
        </p:txBody>
      </p:sp>
      <p:sp>
        <p:nvSpPr>
          <p:cNvPr id="19" name="Rounded Rectangle 18"/>
          <p:cNvSpPr/>
          <p:nvPr/>
        </p:nvSpPr>
        <p:spPr>
          <a:xfrm>
            <a:off x="7833208" y="2315147"/>
            <a:ext cx="3718408" cy="1535049"/>
          </a:xfrm>
          <a:prstGeom prst="roundRect">
            <a:avLst>
              <a:gd name="adj" fmla="val 714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979512" y="2424875"/>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Routine Card</a:t>
            </a:r>
          </a:p>
        </p:txBody>
      </p:sp>
      <p:sp>
        <p:nvSpPr>
          <p:cNvPr id="21" name="TextBox 20"/>
          <p:cNvSpPr txBox="1"/>
          <p:nvPr/>
        </p:nvSpPr>
        <p:spPr>
          <a:xfrm>
            <a:off x="7979512" y="2726627"/>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Before the bell: 10 minutes</a:t>
            </a:r>
          </a:p>
          <a:p>
            <a:pPr algn="l" marL="182880" indent="-182880">
              <a:lnSpc>
                <a:spcPct val="100000"/>
              </a:lnSpc>
              <a:spcAft>
                <a:spcPts val="405"/>
              </a:spcAft>
              <a:buClr>
                <a:srgbClr val="16A34A"/>
              </a:buClr>
              <a:buFont typeface="Arial"/>
              <a:buChar char="•"/>
            </a:pPr>
            <a:r>
              <a:rPr sz="1350" b="0" i="0">
                <a:solidFill>
                  <a:srgbClr val="18232F"/>
                </a:solidFill>
                <a:latin typeface="Segoe UI"/>
              </a:rPr>
              <a:t>Market hours: alerts only</a:t>
            </a:r>
          </a:p>
          <a:p>
            <a:pPr algn="l" marL="182880" indent="-182880">
              <a:lnSpc>
                <a:spcPct val="100000"/>
              </a:lnSpc>
              <a:spcAft>
                <a:spcPts val="405"/>
              </a:spcAft>
              <a:buClr>
                <a:srgbClr val="16A34A"/>
              </a:buClr>
              <a:buFont typeface="Arial"/>
              <a:buChar char="•"/>
            </a:pPr>
            <a:r>
              <a:rPr sz="1350" b="0" i="0">
                <a:solidFill>
                  <a:srgbClr val="18232F"/>
                </a:solidFill>
                <a:latin typeface="Segoe UI"/>
              </a:rPr>
              <a:t>After the close: journal, plan, AI review</a:t>
            </a:r>
          </a:p>
          <a:p>
            <a:pPr algn="l" marL="182880" indent="-182880">
              <a:lnSpc>
                <a:spcPct val="100000"/>
              </a:lnSpc>
              <a:buClr>
                <a:srgbClr val="16A34A"/>
              </a:buClr>
              <a:buFont typeface="Arial"/>
              <a:buChar char="•"/>
            </a:pPr>
            <a:r>
              <a:rPr sz="1350" b="0" i="0">
                <a:solidFill>
                  <a:srgbClr val="18232F"/>
                </a:solidFill>
                <a:latin typeface="Segoe UI"/>
              </a:rPr>
              <a:t>Weekend: five questions</a:t>
            </a:r>
          </a:p>
        </p:txBody>
      </p:sp>
      <p:sp>
        <p:nvSpPr>
          <p:cNvPr id="22" name="Rounded Rectangle 21"/>
          <p:cNvSpPr/>
          <p:nvPr/>
        </p:nvSpPr>
        <p:spPr>
          <a:xfrm>
            <a:off x="7833208" y="4014788"/>
            <a:ext cx="3718408" cy="1277874"/>
          </a:xfrm>
          <a:prstGeom prst="roundRect">
            <a:avLst>
              <a:gd name="adj" fmla="val 8586"/>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7979512" y="4124516"/>
            <a:ext cx="3425800" cy="246888"/>
          </a:xfrm>
          <a:prstGeom prst="rect">
            <a:avLst/>
          </a:prstGeom>
          <a:noFill/>
        </p:spPr>
        <p:txBody>
          <a:bodyPr wrap="square" lIns="0" rIns="0" tIns="0" bIns="0" anchor="t">
            <a:noAutofit/>
          </a:bodyPr>
          <a:lstStyle/>
          <a:p>
            <a:pPr algn="l">
              <a:lnSpc>
                <a:spcPct val="100000"/>
              </a:lnSpc>
            </a:pPr>
            <a:r>
              <a:rPr sz="1500" b="1" i="0">
                <a:solidFill>
                  <a:srgbClr val="47596B"/>
                </a:solidFill>
                <a:latin typeface="Segoe UI"/>
              </a:rPr>
              <a:t>Protection</a:t>
            </a:r>
          </a:p>
        </p:txBody>
      </p:sp>
      <p:sp>
        <p:nvSpPr>
          <p:cNvPr id="24" name="TextBox 23"/>
          <p:cNvSpPr txBox="1"/>
          <p:nvPr/>
        </p:nvSpPr>
        <p:spPr>
          <a:xfrm>
            <a:off x="7979512" y="4426268"/>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57687A"/>
              </a:buClr>
              <a:buFont typeface="Arial"/>
              <a:buChar char="•"/>
            </a:pPr>
            <a:r>
              <a:rPr sz="1350" b="0" i="0">
                <a:solidFill>
                  <a:srgbClr val="18232F"/>
                </a:solidFill>
                <a:latin typeface="Segoe UI"/>
              </a:rPr>
              <a:t>SEBI check before paying</a:t>
            </a:r>
          </a:p>
          <a:p>
            <a:pPr algn="l" marL="182880" indent="-182880">
              <a:lnSpc>
                <a:spcPct val="100000"/>
              </a:lnSpc>
              <a:spcAft>
                <a:spcPts val="405"/>
              </a:spcAft>
              <a:buClr>
                <a:srgbClr val="57687A"/>
              </a:buClr>
              <a:buFont typeface="Arial"/>
              <a:buChar char="•"/>
            </a:pPr>
            <a:r>
              <a:rPr sz="1350" b="0" i="0">
                <a:solidFill>
                  <a:srgbClr val="18232F"/>
                </a:solidFill>
                <a:latin typeface="Segoe UI"/>
              </a:rPr>
              <a:t>OTP and TPIN stay with you</a:t>
            </a:r>
          </a:p>
          <a:p>
            <a:pPr algn="l" marL="182880" indent="-182880">
              <a:lnSpc>
                <a:spcPct val="100000"/>
              </a:lnSpc>
              <a:buClr>
                <a:srgbClr val="57687A"/>
              </a:buClr>
              <a:buFont typeface="Arial"/>
              <a:buChar char="•"/>
            </a:pPr>
            <a:r>
              <a:rPr sz="1350" b="0" i="0">
                <a:solidFill>
                  <a:srgbClr val="18232F"/>
                </a:solidFill>
                <a:latin typeface="Segoe UI"/>
              </a:rPr>
              <a:t>Warning sign: stop, tell, get help</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Build your Daily Routine Card: find your costliest emotion, set the kill-switch in rupees, answer all seven biases and add your protection checklist.</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your Day 12 journal sheet in Google Sheets. For each emotion tag since Day 12, add up the R and count the trades, then divide to get R per trade. Highlight the tag that cost the most R per trade.</a:t>
            </a:r>
          </a:p>
        </p:txBody>
      </p:sp>
      <p:sp>
        <p:nvSpPr>
          <p:cNvPr id="10" name="Rounded Rectangle 9"/>
          <p:cNvSpPr/>
          <p:nvPr/>
        </p:nvSpPr>
        <p:spPr>
          <a:xfrm>
            <a:off x="457200" y="28163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the blank Daily Routine Card from today's task onto one page or a Google Sheet, and fill the four blocks with your own times: before the bell, market hours, after the close and the weekend.</a:t>
            </a:r>
          </a:p>
        </p:txBody>
      </p:sp>
      <p:sp>
        <p:nvSpPr>
          <p:cNvPr id="14" name="Rounded Rectangle 13"/>
          <p:cNvSpPr/>
          <p:nvPr/>
        </p:nvSpPr>
        <p:spPr>
          <a:xfrm>
            <a:off x="457200" y="35966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7063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7246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6972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At the top, write your kill-switch in rupees and R: on Rs 10 lakh, daily stop -Rs 20,000 (-2R) and weekly pause -Rs 50,000 (-5R), plus the body rule: no new trades when angry, unwell or short of sleep.</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Under it, write a one-line answer to each of the seven in your own words, for example 'After any stop-out, chart closed for 10 minutes' (revenge), 'No setup, no trade' (FOMO, overtrading), 'My buying price is not a level' (sunk cost) and 'I judge a rule only after 30 trades' (recency). Priya's card shows all seven.</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At the bottom, copy the five money checks and the warning signs from Priya's card, with Tele-MANAS 14416 beside them.</a:t>
            </a:r>
          </a:p>
        </p:txBody>
      </p:sp>
      <p:sp>
        <p:nvSpPr>
          <p:cNvPr id="13" name="Rounded Rectangle 12"/>
          <p:cNvSpPr/>
          <p:nvPr/>
        </p:nvSpPr>
        <p:spPr>
          <a:xfrm>
            <a:off x="457200" y="313944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'End-of-day process review' on this week's journal rows: now if the market has closed, otherwise this evening after 3:30 pm. Paste only the ten journal columns, never names, account numbers or personal details.</a:t>
            </a:r>
          </a:p>
        </p:txBody>
      </p:sp>
      <p:sp>
        <p:nvSpPr>
          <p:cNvPr id="17" name="Rounded Rectangle 16"/>
          <p:cNvSpPr/>
          <p:nvPr/>
        </p:nvSpPr>
        <p:spPr>
          <a:xfrm>
            <a:off x="457200" y="5401056"/>
            <a:ext cx="11277295" cy="871728"/>
          </a:xfrm>
          <a:prstGeom prst="roundRect">
            <a:avLst>
              <a:gd name="adj" fmla="val 1258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51078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766816"/>
            <a:ext cx="10911535" cy="46024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name seven biases that break trading rules and write an answer to each, find your costliest emotion in your journal, set a kill-switch that is hard to break, run a four-block Daily Routine Card, and spot the warning signs that trading is turning into gambling.</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Priya's Daily Routine Card: her day (model)</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On Rs 10 lakh of virtual capital, 1R = Rs 10,000. Priya's office hours rule out live ORB, so her card is built for swing trading, with the after-close block at 7 pm.</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0"/>
        </p:xfrm>
        <a:graphic>
          <a:graphicData uri="http://schemas.openxmlformats.org/drawingml/2006/table">
            <a:tbl>
              <a:tblPr firstRow="1">
                <a:tableStyleId>{5C22544A-7EE6-4342-B048-85BDC9FD1C3A}</a:tableStyleId>
              </a:tblPr>
              <a:tblGrid>
                <a:gridCol w="1015173"/>
                <a:gridCol w="1231883"/>
                <a:gridCol w="8664480"/>
              </a:tblGrid>
              <a:tr h="345186">
                <a:tc>
                  <a:txBody>
                    <a:bodyPr wrap="square"/>
                    <a:lstStyle/>
                    <a:p>
                      <a:pPr algn="l"/>
                      <a:r>
                        <a:rPr sz="1450" b="1" i="0">
                          <a:solidFill>
                            <a:srgbClr val="FFFFFF"/>
                          </a:solidFill>
                          <a:latin typeface="Segoe UI"/>
                        </a:rPr>
                        <a:t>Part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When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What she does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6042">
                <a:tc>
                  <a:txBody>
                    <a:bodyPr wrap="square"/>
                    <a:lstStyle/>
                    <a:p>
                      <a:pPr algn="l"/>
                      <a:r>
                        <a:rPr sz="1450" b="0" i="0">
                          <a:solidFill>
                            <a:srgbClr val="18232F"/>
                          </a:solidFill>
                          <a:latin typeface="Segoe UI"/>
                        </a:rPr>
                        <a:t>Daily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-2R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At -Rs 20,000: screen off till tomorrow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Weekly pause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-5R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At -Rs 50,000: no new trades; review at the weekend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Body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Every morning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Angry, unwell or short of sleep: no new trades today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Before the bell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8:45-8:55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Day 19 calendar: no-trade day? Yesterday's journal line. Daily stop in rupees. Sleep and mood. 'Today's job: follow the card.'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Market hours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9:15-15:30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Alerts at plan-card levels and the checklist only. No tip groups, no news debates.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19:00-19:20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Journal row (no-trade days too), daily-close scan, tomorrow's plan card, end-of-day AI review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57022">
                <a:tc>
                  <a:txBody>
                    <a:bodyPr wrap="square"/>
                    <a:lstStyle/>
                    <a:p>
                      <a:pPr algn="l"/>
                      <a:r>
                        <a:rPr sz="1450" b="0" i="0">
                          <a:solidFill>
                            <a:srgbClr val="18232F"/>
                          </a:solidFill>
                          <a:latin typeface="Segoe UI"/>
                        </a:rPr>
                        <a:t>Weekend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Saturday, 30 min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Five questions. A rule changes only here, in writing, after 30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Priya's card: seven answers and her protection checklist (model)</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Write the seven answers in your own words. The five money checks and the warning signs are the same for everyone: copy them as they are.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4"/>
        </p:xfrm>
        <a:graphic>
          <a:graphicData uri="http://schemas.openxmlformats.org/drawingml/2006/table">
            <a:tbl>
              <a:tblPr firstRow="1">
                <a:tableStyleId>{5C22544A-7EE6-4342-B048-85BDC9FD1C3A}</a:tableStyleId>
              </a:tblPr>
              <a:tblGrid>
                <a:gridCol w="2074904"/>
                <a:gridCol w="8836631"/>
              </a:tblGrid>
              <a:tr h="295874">
                <a:tc>
                  <a:txBody>
                    <a:bodyPr wrap="square"/>
                    <a:lstStyle/>
                    <a:p>
                      <a:pPr algn="l"/>
                      <a:r>
                        <a:rPr sz="1150" b="1" i="0">
                          <a:solidFill>
                            <a:srgbClr val="FFFFFF"/>
                          </a:solidFill>
                          <a:latin typeface="Segoe UI"/>
                        </a:rPr>
                        <a:t>Guard against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50" b="1" i="0">
                          <a:solidFill>
                            <a:srgbClr val="FFFFFF"/>
                          </a:solidFill>
                          <a:latin typeface="Segoe UI"/>
                        </a:rPr>
                        <a:t>Her card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86730">
                <a:tc>
                  <a:txBody>
                    <a:bodyPr wrap="square"/>
                    <a:lstStyle/>
                    <a:p>
                      <a:pPr algn="l"/>
                      <a:r>
                        <a:rPr sz="1150" b="0" i="0">
                          <a:solidFill>
                            <a:srgbClr val="18232F"/>
                          </a:solidFill>
                          <a:latin typeface="Segoe UI"/>
                        </a:rPr>
                        <a:t>Revenge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After any stop-out: chart closed, journal row filled, 10-minute wait; then only a trade already on last night's plan card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FOMO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No setup, no trade. A missed move goes in the journal, not into an order.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Overtrading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Trades come only from the evening scan and the plan card; never more than 3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Loss aversion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My stop stays where my plan card put 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Sunk cost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My buying price is not a level. At the time exit I ask: would I buy it today?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Confirmation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Each week, one view against every open trade, checked against its Why-stop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Recency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I judge a rule only after 30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Money: fake adviser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Verify any adviser or analyst on sebi.gov.in before paying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Money: wrong payee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Pay only into an account in the registered name, checked on SEBI 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Money: account takeover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OTP, TPIN and passwords never leave 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Money: a dispute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Grievance desk first, then SCORES, then SMART ODR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Money: fraud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Report at cybercrime.gov.in or call 1930 at once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Mind: warning signs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Borrowing, hiding losses, chasing, lost sleep, secret trading: stop a week, tell someone, Tele-MANAS 14416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Daily Routine Card (template)</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Fill every row in your own words, with your own times for the four blocks. Print it or keep a photo beside your chart, and add the money checks and warning signs from Priya's card at the bottom.</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54"/>
        </p:xfrm>
        <a:graphic>
          <a:graphicData uri="http://schemas.openxmlformats.org/drawingml/2006/table">
            <a:tbl>
              <a:tblPr firstRow="1">
                <a:tableStyleId>{5C22544A-7EE6-4342-B048-85BDC9FD1C3A}</a:tableStyleId>
              </a:tblPr>
              <a:tblGrid>
                <a:gridCol w="4377894"/>
                <a:gridCol w="6533642"/>
              </a:tblGrid>
              <a:tr h="276758">
                <a:tc>
                  <a:txBody>
                    <a:bodyPr wrap="square"/>
                    <a:lstStyle/>
                    <a:p>
                      <a:pPr algn="l"/>
                      <a:r>
                        <a:rPr sz="1000" b="1" i="0">
                          <a:solidFill>
                            <a:srgbClr val="FFFFFF"/>
                          </a:solidFill>
                          <a:latin typeface="Segoe UI"/>
                        </a:rPr>
                        <a:t>Part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My line, with the time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67614">
                <a:tc>
                  <a:txBody>
                    <a:bodyPr wrap="square"/>
                    <a:lstStyle/>
                    <a:p>
                      <a:pPr algn="l"/>
                      <a:r>
                        <a:rPr sz="1000" b="0" i="0">
                          <a:solidFill>
                            <a:srgbClr val="18232F"/>
                          </a:solidFill>
                          <a:latin typeface="Segoe UI"/>
                        </a:rPr>
                        <a:t>Daily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Weekly pause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Body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Before the bell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Market hours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Weekend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Revenge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FOMO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Overtrading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Loss aversion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Sunk cost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Confirmation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67614">
                <a:tc>
                  <a:txBody>
                    <a:bodyPr wrap="square"/>
                    <a:lstStyle/>
                    <a:p>
                      <a:pPr algn="l"/>
                      <a:r>
                        <a:rPr sz="1000" b="0" i="0">
                          <a:solidFill>
                            <a:srgbClr val="18232F"/>
                          </a:solidFill>
                          <a:latin typeface="Segoe UI"/>
                        </a:rPr>
                        <a:t>Recency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0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Class activity</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542"/>
              </a:spcAft>
            </a:pPr>
            <a:r>
              <a:rPr sz="1550" b="0" i="0">
                <a:solidFill>
                  <a:srgbClr val="18232F"/>
                </a:solidFill>
                <a:latin typeface="Segoe UI"/>
              </a:rPr>
              <a:t>'Which bias is this? Write these eight trader confessions on chits.</a:t>
            </a:r>
          </a:p>
          <a:p>
            <a:pPr algn="l">
              <a:lnSpc>
                <a:spcPct val="100000"/>
              </a:lnSpc>
              <a:spcAft>
                <a:spcPts val="542"/>
              </a:spcAft>
            </a:pPr>
            <a:r>
              <a:rPr sz="1550" b="0" i="0">
                <a:solidFill>
                  <a:srgbClr val="18232F"/>
                </a:solidFill>
                <a:latin typeface="Segoe UI"/>
              </a:rPr>
              <a:t>1: 'I moved my stop just this once, to give it room.</a:t>
            </a:r>
          </a:p>
          <a:p>
            <a:pPr algn="l">
              <a:lnSpc>
                <a:spcPct val="100000"/>
              </a:lnSpc>
              <a:spcAft>
                <a:spcPts val="542"/>
              </a:spcAft>
            </a:pPr>
            <a:r>
              <a:rPr sz="1550" b="0" i="0">
                <a:solidFill>
                  <a:srgbClr val="18232F"/>
                </a:solidFill>
                <a:latin typeface="Segoe UI"/>
              </a:rPr>
              <a:t>2: 'I lost 1R this morning, so I doubled my size to win it back before lunch.</a:t>
            </a:r>
          </a:p>
          <a:p>
            <a:pPr algn="l">
              <a:lnSpc>
                <a:spcPct val="100000"/>
              </a:lnSpc>
              <a:spcAft>
                <a:spcPts val="542"/>
              </a:spcAft>
            </a:pPr>
            <a:r>
              <a:rPr sz="1550" b="0" i="0">
                <a:solidFill>
                  <a:srgbClr val="18232F"/>
                </a:solidFill>
                <a:latin typeface="Segoe UI"/>
              </a:rPr>
              <a:t>3: 'Everyone in the group was buying, so I jumped in at 11 without a setup.</a:t>
            </a:r>
          </a:p>
          <a:p>
            <a:pPr algn="l">
              <a:lnSpc>
                <a:spcPct val="100000"/>
              </a:lnSpc>
              <a:spcAft>
                <a:spcPts val="542"/>
              </a:spcAft>
            </a:pPr>
            <a:r>
              <a:rPr sz="1550" b="0" i="0">
                <a:solidFill>
                  <a:srgbClr val="18232F"/>
                </a:solidFill>
                <a:latin typeface="Segoe UI"/>
              </a:rPr>
              <a:t>4: 'The market was slow, so I took three small trades just to feel involved.</a:t>
            </a:r>
          </a:p>
          <a:p>
            <a:pPr algn="l">
              <a:lnSpc>
                <a:spcPct val="100000"/>
              </a:lnSpc>
              <a:spcAft>
                <a:spcPts val="542"/>
              </a:spcAft>
            </a:pPr>
            <a:r>
              <a:rPr sz="1550" b="0" i="0">
                <a:solidFill>
                  <a:srgbClr val="18232F"/>
                </a:solidFill>
                <a:latin typeface="Segoe UI"/>
              </a:rPr>
              <a:t>5: 'I am not selling until it gets back to my buying price.</a:t>
            </a:r>
          </a:p>
          <a:p>
            <a:pPr algn="l">
              <a:lnSpc>
                <a:spcPct val="100000"/>
              </a:lnSpc>
              <a:spcAft>
                <a:spcPts val="542"/>
              </a:spcAft>
            </a:pPr>
            <a:r>
              <a:rPr sz="1550" b="0" i="0">
                <a:solidFill>
                  <a:srgbClr val="18232F"/>
                </a:solidFill>
                <a:latin typeface="Segoe UI"/>
              </a:rPr>
              <a:t>6: 'I only watch channels that like my stock; the negative ones are just jealous.</a:t>
            </a:r>
          </a:p>
          <a:p>
            <a:pPr algn="l">
              <a:lnSpc>
                <a:spcPct val="100000"/>
              </a:lnSpc>
              <a:spcAft>
                <a:spcPts val="542"/>
              </a:spcAft>
            </a:pPr>
            <a:r>
              <a:rPr sz="1550" b="0" i="0">
                <a:solidFill>
                  <a:srgbClr val="18232F"/>
                </a:solidFill>
                <a:latin typeface="Segoe UI"/>
              </a:rPr>
              <a:t>7: 'Three losses in a row, so this strategy is useless; I am switching tomorrow.</a:t>
            </a:r>
          </a:p>
          <a:p>
            <a:pPr algn="l">
              <a:lnSpc>
                <a:spcPct val="100000"/>
              </a:lnSpc>
              <a:spcAft>
                <a:spcPts val="542"/>
              </a:spcAft>
            </a:pPr>
            <a:r>
              <a:rPr sz="1550" b="0" i="0">
                <a:solidFill>
                  <a:srgbClr val="18232F"/>
                </a:solidFill>
                <a:latin typeface="Segoe UI"/>
              </a:rPr>
              <a:t>8: 'I will take a small card loan and win it all back with real money.</a:t>
            </a:r>
          </a:p>
          <a:p>
            <a:pPr algn="l">
              <a:lnSpc>
                <a:spcPct val="100000"/>
              </a:lnSpc>
              <a:spcAft>
                <a:spcPts val="542"/>
              </a:spcAft>
            </a:pPr>
            <a:r>
              <a:rPr sz="1550" b="0" i="0">
                <a:solidFill>
                  <a:srgbClr val="18232F"/>
                </a:solidFill>
                <a:latin typeface="Segoe UI"/>
              </a:rPr>
              <a:t>With classmates or family, take turns reading one aloud; the others name the bias and the card line that answers it.</a:t>
            </a:r>
          </a:p>
          <a:p>
            <a:pPr algn="l">
              <a:lnSpc>
                <a:spcPct val="100000"/>
              </a:lnSpc>
              <a:spcAft>
                <a:spcPts val="542"/>
              </a:spcAft>
            </a:pPr>
            <a:r>
              <a:rPr sz="1550" b="0" i="0">
                <a:solidFill>
                  <a:srgbClr val="18232F"/>
                </a:solidFill>
                <a:latin typeface="Segoe UI"/>
              </a:rPr>
              <a:t>Chit 8 is not a bias but a warning sign: its answer is to stop for a week, tell someone and, if it feels heavy, call Tele-MANAS on 14416.</a:t>
            </a:r>
          </a:p>
          <a:p>
            <a:pPr algn="l">
              <a:lnSpc>
                <a:spcPct val="100000"/>
              </a:lnSpc>
            </a:pPr>
            <a:r>
              <a:rPr sz="1550" b="0" i="0">
                <a:solidFill>
                  <a:srgbClr val="18232F"/>
                </a:solidFill>
                <a:latin typeface="Segoe UI"/>
              </a:rPr>
              <a:t>Alone? Sort the chits, write the answer on the back of each, then check yourself against Priya's card.</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End-of-day process review: AI checks the process, never picks trades</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End-of-day process review</a:t>
            </a:r>
          </a:p>
        </p:txBody>
      </p:sp>
      <p:sp>
        <p:nvSpPr>
          <p:cNvPr id="7" name="TextBox 6"/>
          <p:cNvSpPr txBox="1"/>
          <p:nvPr/>
        </p:nvSpPr>
        <p:spPr>
          <a:xfrm>
            <a:off x="658368"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859024"/>
            <a:ext cx="3234842" cy="1557528"/>
          </a:xfrm>
          <a:prstGeom prst="rect">
            <a:avLst/>
          </a:prstGeom>
          <a:noFill/>
        </p:spPr>
        <p:txBody>
          <a:bodyPr wrap="square" lIns="0" rIns="0" tIns="0" bIns="0" anchor="t">
            <a:noAutofit/>
          </a:bodyPr>
          <a:lstStyle/>
          <a:p>
            <a:pPr algn="l">
              <a:lnSpc>
                <a:spcPct val="100000"/>
              </a:lnSpc>
            </a:pPr>
            <a:r>
              <a:rPr sz="1300" b="0" i="1">
                <a:solidFill>
                  <a:srgbClr val="47596B"/>
                </a:solidFill>
                <a:latin typeface="Segoe UI"/>
              </a:rPr>
              <a:t>“You are my end-of-day process reviewer, not a market analyst. I paper-trade with virtual money. I will paste this week's journal rows with these ten columns: Date, Stock, Setup, Entry, Stop, Qty, Exit, R result, Rule broken?, Emotion (one of calm, FOMO, fear, bored, angry, overconfident).”</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Which bias is this?</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“Give me 8 short, made-up trader confessions, one at a time, for example 'I moved my stop lower just this once'.”</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Stress-test my Routine Card</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“Here is my Daily Routine Card for paper trading with virtual money: &lt;paste your card&gt;. Act as a strict but kind reviewer.”</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QUESTION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classmate's journal since Day 12: 10 calm trades made +3.0R, 6 FOMO trades lost 2.4R, and 2 'angry' trades, both revenge trades, lost 3.0R. Which statement is correct?</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Revenge costs the most per trade: -1.5R each</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total is +0.6R, so the tags do not matter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Dropping the FOMO trades alone would give +0.6R</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FOMO costs the most per trade: -0.4R each</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classmate buys 400 shares at Rs 300 with a stop at Rs 275, so 1R = Rs 10,000. Near Rs 276 he moves the stop down to Rs 250, and the trade later exits there. What did moving the stop cost him?</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An extra Rs 20,000: the loss became 3R</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Nothing extra: a stop-out is 1R either way</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An extra Rs 5,000: the loss became 1.5R</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An extra Rs 10,000: the loss became 2R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Assume each trade of a rule has about a 40% chance of winning. The rule has just lost three trades in a row, and Aman wants to drop it. What does the maths say?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Broken: a 40% rule should never lose three in a row</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Very rare: below a 5% chance for three in a row</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win is now due, because the streak has to end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Normal: about a 22% chance of three losses in a row</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keeps breaking his -2R daily stop. Which change is the best example of 'design, not willpower'?</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Raising the daily stop to -3R so it trips less often</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Promising himself firmly to be more careful tomorrow</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Watching the screen longer so he can react faster</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Writing the limit before 9:15 and texting a buddy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friend tells Priya about his month. Which one is a warning sign that trading is turning into gambling, and calls for stopping and telling someone?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Losing three trades in a row on his written rule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Feeling annoyed for an evening after a stop-out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Taking no trades for a week as no setup appeared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Borrowing on a credit card to win back his losses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20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Trading psychology and your Daily Routine Card</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and not counselling. Company names, prices and paper results in this lesson are made up for illustration; paper results are hypothetical, and past performance is not indicative of future results. For mental-health support, call Tele-MANAS on 14416. Stage 1 uses virtual money only.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JOURNAL, TONIGHT</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Recall your worst trading moment so far, on paper or real. What did your ego say just before it, in its exact words? Which line on your new card would have stopped you? And did you notice any warning sign in yourself this week?</a:t>
            </a:r>
          </a:p>
        </p:txBody>
      </p:sp>
      <p:sp>
        <p:nvSpPr>
          <p:cNvPr id="8" name="Rounded Rectangle 7"/>
          <p:cNvSpPr/>
          <p:nvPr/>
        </p:nvSpPr>
        <p:spPr>
          <a:xfrm>
            <a:off x="6233008" y="1335024"/>
            <a:ext cx="5501488" cy="3863340"/>
          </a:xfrm>
          <a:prstGeom prst="roundRect">
            <a:avLst>
              <a:gd name="adj" fmla="val 331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946654"/>
            <a:ext cx="4952848" cy="105156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You wrote this card on a calm day. On an angry day, it will remember your rules for you.</a:t>
            </a:r>
          </a:p>
        </p:txBody>
      </p:sp>
      <p:sp>
        <p:nvSpPr>
          <p:cNvPr id="11" name="Rounded Rectangle 10"/>
          <p:cNvSpPr/>
          <p:nvPr/>
        </p:nvSpPr>
        <p:spPr>
          <a:xfrm>
            <a:off x="457200" y="5344668"/>
            <a:ext cx="6540917"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21 · Finale: Week 3 review, your certificate and the road to Stage 2</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20   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0B1B33"/>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0B1B33"/>
                </a:solidFill>
                <a:latin typeface="Segoe UI"/>
              </a:rPr>
              <a:t>21</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0B1B33"/>
                </a:solidFill>
                <a:latin typeface="Segoe UI"/>
              </a:rPr>
              <a:t>WEEK 3</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0B1B33"/>
                </a:solidFill>
                <a:latin typeface="Segoe UI"/>
              </a:rPr>
              <a:t>Build your system, protect yourself</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Rounded Rectangle 7"/>
          <p:cNvSpPr/>
          <p:nvPr/>
        </p:nvSpPr>
        <p:spPr>
          <a:xfrm>
            <a:off x="1771978" y="5577840"/>
            <a:ext cx="1410123"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Weekly review</a:t>
            </a:r>
          </a:p>
        </p:txBody>
      </p:sp>
      <p:sp>
        <p:nvSpPr>
          <p:cNvPr id="9" name="TextBox 8"/>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10" name="TextBox 9"/>
          <p:cNvSpPr txBox="1"/>
          <p:nvPr/>
        </p:nvSpPr>
        <p:spPr>
          <a:xfrm>
            <a:off x="4572000" y="960120"/>
            <a:ext cx="7162495" cy="1645920"/>
          </a:xfrm>
          <a:prstGeom prst="rect">
            <a:avLst/>
          </a:prstGeom>
          <a:noFill/>
        </p:spPr>
        <p:txBody>
          <a:bodyPr wrap="square" lIns="0" rIns="0" tIns="0" bIns="0" anchor="t">
            <a:noAutofit/>
          </a:bodyPr>
          <a:lstStyle/>
          <a:p>
            <a:pPr algn="l">
              <a:lnSpc>
                <a:spcPct val="100000"/>
              </a:lnSpc>
            </a:pPr>
            <a:r>
              <a:rPr sz="3500" b="1" i="0">
                <a:solidFill>
                  <a:srgbClr val="18232F"/>
                </a:solidFill>
                <a:latin typeface="Segoe UI"/>
              </a:rPr>
              <a:t>Finale: Week 3 review, your certificate and the road to Stage 2</a:t>
            </a:r>
          </a:p>
        </p:txBody>
      </p:sp>
      <p:sp>
        <p:nvSpPr>
          <p:cNvPr id="11" name="Rounded Rectangle 10"/>
          <p:cNvSpPr/>
          <p:nvPr/>
        </p:nvSpPr>
        <p:spPr>
          <a:xfrm>
            <a:off x="4572000" y="288950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2" name="TextBox 11"/>
          <p:cNvSpPr txBox="1"/>
          <p:nvPr/>
        </p:nvSpPr>
        <p:spPr>
          <a:xfrm>
            <a:off x="5557266" y="288036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Week 3 as one system, process-based results, certificate criteria and the road to Stage 2</a:t>
            </a:r>
          </a:p>
        </p:txBody>
      </p:sp>
      <p:sp>
        <p:nvSpPr>
          <p:cNvPr id="13" name="Rounded Rectangle 12"/>
          <p:cNvSpPr/>
          <p:nvPr/>
        </p:nvSpPr>
        <p:spPr>
          <a:xfrm>
            <a:off x="4572000" y="365760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4" name="TextBox 13"/>
          <p:cNvSpPr txBox="1"/>
          <p:nvPr/>
        </p:nvSpPr>
        <p:spPr>
          <a:xfrm>
            <a:off x="5557266" y="365760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Final journal review: AI counts, you choose the habits</a:t>
            </a:r>
          </a:p>
        </p:txBody>
      </p:sp>
      <p:sp>
        <p:nvSpPr>
          <p:cNvPr id="15" name="Rounded Rectangle 14"/>
          <p:cNvSpPr/>
          <p:nvPr/>
        </p:nvSpPr>
        <p:spPr>
          <a:xfrm>
            <a:off x="4572000" y="416966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6" name="TextBox 15"/>
          <p:cNvSpPr txBox="1"/>
          <p:nvPr/>
        </p:nvSpPr>
        <p:spPr>
          <a:xfrm>
            <a:off x="5557266" y="416966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Finish-line overconfidence</a:t>
            </a:r>
          </a:p>
        </p:txBody>
      </p:sp>
      <p:sp>
        <p:nvSpPr>
          <p:cNvPr id="17" name="TextBox 16"/>
          <p:cNvSpPr txBox="1"/>
          <p:nvPr/>
        </p:nvSpPr>
        <p:spPr>
          <a:xfrm>
            <a:off x="4572000" y="4855464"/>
            <a:ext cx="7162495"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BY THE END</a:t>
            </a:r>
          </a:p>
        </p:txBody>
      </p:sp>
      <p:sp>
        <p:nvSpPr>
          <p:cNvPr id="18" name="TextBox 17"/>
          <p:cNvSpPr txBox="1"/>
          <p:nvPr/>
        </p:nvSpPr>
        <p:spPr>
          <a:xfrm>
            <a:off x="4572000" y="5129784"/>
            <a:ext cx="7162495" cy="1065276"/>
          </a:xfrm>
          <a:prstGeom prst="rect">
            <a:avLst/>
          </a:prstGeom>
          <a:noFill/>
        </p:spPr>
        <p:txBody>
          <a:bodyPr wrap="square" lIns="0" rIns="0" tIns="0" bIns="0" anchor="t">
            <a:noAutofit/>
          </a:bodyPr>
          <a:lstStyle/>
          <a:p>
            <a:pPr algn="l">
              <a:lnSpc>
                <a:spcPct val="100000"/>
              </a:lnSpc>
            </a:pPr>
            <a:r>
              <a:rPr sz="1350" b="0" i="0">
                <a:solidFill>
                  <a:srgbClr val="47596B"/>
                </a:solidFill>
                <a:latin typeface="Segoe UI"/>
              </a:rPr>
              <a:t>By the end you can run one stock through all of Week 3's rules, spot a 'we trade for you' offer, score your own paper trading since Day 12 on process, list the six certificate checks, grade a Portfolio row against the A/C/D guide, name the Stage 2 chapter that takes each Stage 1 skill further, and explain why finishing a course is not the same as being ready for real money.</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Course over, so I'm ready?</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evening, the last weekend call of Stage 1. Aman joins late, reading something on his phone.</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Congratulations on finishing your course! Now let our AI algo trade options for you. Just share your login ID and one OTP. 5% every month, assured. Zero effort. Only 10 seats left.</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the course ends today and the certificate comes on its own. Ten days of paper trading is enough, right? This algo could run while I sit in office.</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Course over, so I'm ready?</a:t>
            </a:r>
          </a:p>
        </p:txBody>
      </p:sp>
      <p:sp>
        <p:nvSpPr>
          <p:cNvPr id="4" name="Rounded Rectangle 3"/>
          <p:cNvSpPr/>
          <p:nvPr/>
        </p:nvSpPr>
        <p:spPr>
          <a:xfrm>
            <a:off x="457200"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my backtest has 30 trades and my paper log has only 7. What does the certificate actually allow us to do?</a:t>
            </a:r>
          </a:p>
        </p:txBody>
      </p:sp>
      <p:sp>
        <p:nvSpPr>
          <p:cNvPr id="10" name="Rounded Rectangle 9"/>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Good questions, both of you. Aman, on Day 16, what did a legal algo need: which broker, which Algo-ID? This message names neither, and it wants your OTP. Would you hand a stranger your house keys because he congratulated you?</a:t>
            </a:r>
          </a:p>
        </p:txBody>
      </p:sp>
      <p:sp>
        <p:nvSpPr>
          <p:cNvPr id="16" name="Rounded Rectangle 15"/>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Today we look back at Week 3, read what your certificate really means, write down the conditions that must be met before anyone thinks of real money, and see where Stage 2 takes each skill next. Finishing is one thing. Being ready is another.</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certificate says you finished learning the basics. Readiness shows slowly, in a routine you keep.</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 3 in one evening</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Week 3 turned your rules into a system.</a:t>
            </a:r>
          </a:p>
          <a:p>
            <a:pPr algn="l" marL="274320" indent="-274320">
              <a:lnSpc>
                <a:spcPct val="100000"/>
              </a:lnSpc>
              <a:spcAft>
                <a:spcPts val="750"/>
              </a:spcAft>
              <a:buClr>
                <a:srgbClr val="F5A623"/>
              </a:buClr>
              <a:buFont typeface="Arial"/>
              <a:buChar char="•"/>
            </a:pPr>
            <a:r>
              <a:rPr sz="1500" b="0" i="0">
                <a:solidFill>
                  <a:srgbClr val="18232F"/>
                </a:solidFill>
                <a:latin typeface="Segoe UI"/>
              </a:rPr>
              <a:t>Day 15 gave you a five-check health filter and showed how corporate actions, such as a dividend, bonus or split, change the price on the ex-date.</a:t>
            </a:r>
          </a:p>
          <a:p>
            <a:pPr algn="l" marL="274320" indent="-274320">
              <a:lnSpc>
                <a:spcPct val="100000"/>
              </a:lnSpc>
              <a:spcAft>
                <a:spcPts val="750"/>
              </a:spcAft>
              <a:buClr>
                <a:srgbClr val="F5A623"/>
              </a:buClr>
              <a:buFont typeface="Arial"/>
              <a:buChar char="•"/>
            </a:pPr>
            <a:r>
              <a:rPr sz="1500" b="0" i="0">
                <a:solidFill>
                  <a:srgbClr val="18232F"/>
                </a:solidFill>
                <a:latin typeface="Segoe UI"/>
              </a:rPr>
              <a:t>Day 16 turned your rule card into a yes/no flowchart, with alerts that only say 'look now'.</a:t>
            </a:r>
          </a:p>
          <a:p>
            <a:pPr algn="l" marL="274320" indent="-274320">
              <a:lnSpc>
                <a:spcPct val="100000"/>
              </a:lnSpc>
              <a:buClr>
                <a:srgbClr val="F5A623"/>
              </a:buClr>
              <a:buFont typeface="Arial"/>
              <a:buChar char="•"/>
            </a:pPr>
            <a:r>
              <a:rPr sz="1500" b="0" i="0">
                <a:solidFill>
                  <a:srgbClr val="18232F"/>
                </a:solidFill>
                <a:latin typeface="Segoe UI"/>
              </a:rPr>
              <a:t>Day 17 tested the rule by hand over 30 trades, in R, after costs.</a:t>
            </a:r>
          </a:p>
        </p:txBody>
      </p:sp>
      <p:sp>
        <p:nvSpPr>
          <p:cNvPr id="5" name="Rounded Rectangle 4"/>
          <p:cNvSpPr/>
          <p:nvPr/>
        </p:nvSpPr>
        <p:spPr>
          <a:xfrm>
            <a:off x="6214720" y="1335024"/>
            <a:ext cx="5519776" cy="2314956"/>
          </a:xfrm>
          <a:prstGeom prst="roundRect">
            <a:avLst>
              <a:gd name="adj" fmla="val 473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85775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7 pm, after the close. Priya's screener lists Kiran Foods Ltd. It passes all five health checks, and its corporate actions page shows no bonus or split that could fake a move on her chart. Flowchart: EMA 20 is above a rising EMA 50; the close of Rs 470 is above EMA 20 at Rs 464 and within 2% of it; RSI 14 reads 46; it has beaten NIFTY 50 over 3 months; and today it closed above yesterday's high. Every chart box says yes, and the rule has her hand-made 30-trade backtest behind it. … She writes 'Valid setup, skipped: results rule' in her journal and closes the laptop at 7:20.</a:t>
            </a:r>
          </a:p>
        </p:txBody>
      </p:sp>
      <p:sp>
        <p:nvSpPr>
          <p:cNvPr id="8" name="Rounded Rectangle 7"/>
          <p:cNvSpPr/>
          <p:nvPr/>
        </p:nvSpPr>
        <p:spPr>
          <a:xfrm>
            <a:off x="457200" y="3814572"/>
            <a:ext cx="11277295" cy="1799844"/>
          </a:xfrm>
          <a:prstGeom prst="roundRect">
            <a:avLst>
              <a:gd name="adj" fmla="val 609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960876"/>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Week 3 in one evening</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One NO anywhere ends the chain. A valid setup, correctly skipped, counts as a rule followed.</a:t>
            </a:r>
          </a:p>
        </p:txBody>
      </p:sp>
      <p:sp>
        <p:nvSpPr>
          <p:cNvPr id="11" name="Rounded Rectangle 10"/>
          <p:cNvSpPr/>
          <p:nvPr/>
        </p:nvSpPr>
        <p:spPr>
          <a:xfrm>
            <a:off x="640080" y="4287774"/>
            <a:ext cx="122422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287774"/>
            <a:ext cx="100477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Health-check</a:t>
            </a:r>
          </a:p>
          <a:p>
            <a:pPr algn="ctr">
              <a:lnSpc>
                <a:spcPct val="100000"/>
              </a:lnSpc>
            </a:pPr>
            <a:r>
              <a:rPr sz="1100" b="0" i="0">
                <a:solidFill>
                  <a:srgbClr val="47596B"/>
                </a:solidFill>
                <a:latin typeface="Segoe UI"/>
              </a:rPr>
              <a:t>Day 15: 5 checks pass</a:t>
            </a:r>
          </a:p>
        </p:txBody>
      </p:sp>
      <p:sp>
        <p:nvSpPr>
          <p:cNvPr id="13" name="Right Arrow 12"/>
          <p:cNvSpPr/>
          <p:nvPr/>
        </p:nvSpPr>
        <p:spPr>
          <a:xfrm>
            <a:off x="2083765"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891741"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pass</a:t>
            </a:r>
          </a:p>
        </p:txBody>
      </p:sp>
      <p:sp>
        <p:nvSpPr>
          <p:cNvPr id="15" name="Rounded Rectangle 14"/>
          <p:cNvSpPr/>
          <p:nvPr/>
        </p:nvSpPr>
        <p:spPr>
          <a:xfrm>
            <a:off x="2577541" y="4287774"/>
            <a:ext cx="122422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2687269" y="4287774"/>
            <a:ext cx="100477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Corporate actions</a:t>
            </a:r>
          </a:p>
          <a:p>
            <a:pPr algn="ctr">
              <a:lnSpc>
                <a:spcPct val="100000"/>
              </a:lnSpc>
            </a:pPr>
            <a:r>
              <a:rPr sz="1100" b="0" i="0">
                <a:solidFill>
                  <a:srgbClr val="47596B"/>
                </a:solidFill>
                <a:latin typeface="Segoe UI"/>
              </a:rPr>
              <a:t>Day 15: chart not distorted</a:t>
            </a:r>
          </a:p>
        </p:txBody>
      </p:sp>
      <p:sp>
        <p:nvSpPr>
          <p:cNvPr id="17" name="Right Arrow 16"/>
          <p:cNvSpPr/>
          <p:nvPr/>
        </p:nvSpPr>
        <p:spPr>
          <a:xfrm>
            <a:off x="4021226"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3829202"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clear</a:t>
            </a:r>
          </a:p>
        </p:txBody>
      </p:sp>
      <p:sp>
        <p:nvSpPr>
          <p:cNvPr id="19" name="Rounded Rectangle 18"/>
          <p:cNvSpPr/>
          <p:nvPr/>
        </p:nvSpPr>
        <p:spPr>
          <a:xfrm>
            <a:off x="4515002" y="4287774"/>
            <a:ext cx="122422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4624730" y="4287774"/>
            <a:ext cx="100477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Flowchart</a:t>
            </a:r>
          </a:p>
          <a:p>
            <a:pPr algn="ctr">
              <a:lnSpc>
                <a:spcPct val="100000"/>
              </a:lnSpc>
            </a:pPr>
            <a:r>
              <a:rPr sz="1100" b="0" i="0">
                <a:solidFill>
                  <a:srgbClr val="47596B"/>
                </a:solidFill>
                <a:latin typeface="Segoe UI"/>
              </a:rPr>
              <a:t>Day 16: chart boxes yes</a:t>
            </a:r>
          </a:p>
        </p:txBody>
      </p:sp>
      <p:sp>
        <p:nvSpPr>
          <p:cNvPr id="21" name="Right Arrow 20"/>
          <p:cNvSpPr/>
          <p:nvPr/>
        </p:nvSpPr>
        <p:spPr>
          <a:xfrm>
            <a:off x="5958688"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5766664"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yes</a:t>
            </a:r>
          </a:p>
        </p:txBody>
      </p:sp>
      <p:sp>
        <p:nvSpPr>
          <p:cNvPr id="23" name="Rounded Rectangle 22"/>
          <p:cNvSpPr/>
          <p:nvPr/>
        </p:nvSpPr>
        <p:spPr>
          <a:xfrm>
            <a:off x="6452464" y="4287774"/>
            <a:ext cx="1224229"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62192" y="4287774"/>
            <a:ext cx="100477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Tested rule</a:t>
            </a:r>
          </a:p>
          <a:p>
            <a:pPr algn="ctr">
              <a:lnSpc>
                <a:spcPct val="100000"/>
              </a:lnSpc>
            </a:pPr>
            <a:r>
              <a:rPr sz="1100" b="0" i="0">
                <a:solidFill>
                  <a:srgbClr val="47596B"/>
                </a:solidFill>
                <a:latin typeface="Segoe UI"/>
              </a:rPr>
              <a:t>Day 17: 30-trade backtest</a:t>
            </a:r>
          </a:p>
        </p:txBody>
      </p:sp>
      <p:sp>
        <p:nvSpPr>
          <p:cNvPr id="25" name="Right Arrow 24"/>
          <p:cNvSpPr/>
          <p:nvPr/>
        </p:nvSpPr>
        <p:spPr>
          <a:xfrm>
            <a:off x="7896149"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704125"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rule OK</a:t>
            </a:r>
          </a:p>
        </p:txBody>
      </p:sp>
      <p:sp>
        <p:nvSpPr>
          <p:cNvPr id="27" name="Rounded Rectangle 26"/>
          <p:cNvSpPr/>
          <p:nvPr/>
        </p:nvSpPr>
        <p:spPr>
          <a:xfrm>
            <a:off x="8389925" y="4287774"/>
            <a:ext cx="1224229" cy="935736"/>
          </a:xfrm>
          <a:prstGeom prst="roundRect">
            <a:avLst>
              <a:gd name="adj" fmla="val 9771"/>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8499653" y="4287774"/>
            <a:ext cx="100477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Event calendar</a:t>
            </a:r>
          </a:p>
          <a:p>
            <a:pPr algn="ctr">
              <a:lnSpc>
                <a:spcPct val="100000"/>
              </a:lnSpc>
            </a:pPr>
            <a:r>
              <a:rPr sz="1100" b="0" i="0">
                <a:solidFill>
                  <a:srgbClr val="47596B"/>
                </a:solidFill>
                <a:latin typeface="Segoe UI"/>
              </a:rPr>
              <a:t>Day 19: results in 3 days</a:t>
            </a:r>
          </a:p>
        </p:txBody>
      </p:sp>
      <p:sp>
        <p:nvSpPr>
          <p:cNvPr id="29" name="Right Arrow 28"/>
          <p:cNvSpPr/>
          <p:nvPr/>
        </p:nvSpPr>
        <p:spPr>
          <a:xfrm>
            <a:off x="9833610"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9641586"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NO</a:t>
            </a:r>
          </a:p>
        </p:txBody>
      </p:sp>
      <p:sp>
        <p:nvSpPr>
          <p:cNvPr id="31" name="Rounded Rectangle 30"/>
          <p:cNvSpPr/>
          <p:nvPr/>
        </p:nvSpPr>
        <p:spPr>
          <a:xfrm>
            <a:off x="10327386" y="4287774"/>
            <a:ext cx="1224229" cy="935736"/>
          </a:xfrm>
          <a:prstGeom prst="roundRect">
            <a:avLst>
              <a:gd name="adj" fmla="val 977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10437114" y="4287774"/>
            <a:ext cx="1004773"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Routine card</a:t>
            </a:r>
          </a:p>
          <a:p>
            <a:pPr algn="ctr">
              <a:lnSpc>
                <a:spcPct val="100000"/>
              </a:lnSpc>
            </a:pPr>
            <a:r>
              <a:rPr sz="1100" b="0" i="0">
                <a:solidFill>
                  <a:srgbClr val="47596B"/>
                </a:solidFill>
                <a:latin typeface="Segoe UI"/>
              </a:rPr>
              <a:t>Day 20: log 'No trade'</a:t>
            </a:r>
          </a:p>
        </p:txBody>
      </p:sp>
      <p:sp>
        <p:nvSpPr>
          <p:cNvPr id="33" name="Rounded Rectangle 3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ounded Rectangle 3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5" name="TextBox 3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system is every rule together. One NO from any rule, from any week, means no trade.</a:t>
            </a:r>
          </a:p>
        </p:txBody>
      </p:sp>
      <p:pic>
        <p:nvPicPr>
          <p:cNvPr id="36" name="Picture 35" descr="logo.png"/>
          <p:cNvPicPr>
            <a:picLocks noChangeAspect="1"/>
          </p:cNvPicPr>
          <p:nvPr/>
        </p:nvPicPr>
        <p:blipFill>
          <a:blip r:embed="rId2"/>
          <a:stretch>
            <a:fillRect/>
          </a:stretch>
        </p:blipFill>
        <p:spPr>
          <a:xfrm>
            <a:off x="457200" y="6437376"/>
            <a:ext cx="237744" cy="237744"/>
          </a:xfrm>
          <a:prstGeom prst="rect">
            <a:avLst/>
          </a:prstGeom>
        </p:spPr>
      </p:pic>
      <p:sp>
        <p:nvSpPr>
          <p:cNvPr id="3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8" name="TextBox 3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Shortcut Trap #3: 'we trade for you'</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When a course ends, a new kind of offer arrives.</a:t>
            </a:r>
          </a:p>
          <a:p>
            <a:pPr algn="l" marL="274320" indent="-274320">
              <a:lnSpc>
                <a:spcPct val="100000"/>
              </a:lnSpc>
              <a:spcAft>
                <a:spcPts val="800"/>
              </a:spcAft>
              <a:buClr>
                <a:srgbClr val="F5A623"/>
              </a:buClr>
              <a:buFont typeface="Arial"/>
              <a:buChar char="•"/>
            </a:pPr>
            <a:r>
              <a:rPr sz="1600" b="0" i="0">
                <a:solidFill>
                  <a:srgbClr val="18232F"/>
                </a:solidFill>
                <a:latin typeface="Segoe UI"/>
              </a:rPr>
              <a:t>Copy-trading means your account automatically copies someone else's trades.</a:t>
            </a:r>
          </a:p>
          <a:p>
            <a:pPr algn="l" marL="274320" indent="-274320">
              <a:lnSpc>
                <a:spcPct val="100000"/>
              </a:lnSpc>
              <a:spcAft>
                <a:spcPts val="800"/>
              </a:spcAft>
              <a:buClr>
                <a:srgbClr val="F5A623"/>
              </a:buClr>
              <a:buFont typeface="Arial"/>
              <a:buChar char="•"/>
            </a:pPr>
            <a:r>
              <a:rPr sz="1600" b="0" i="0">
                <a:solidFill>
                  <a:srgbClr val="18232F"/>
                </a:solidFill>
                <a:latin typeface="Segoe UI"/>
              </a:rPr>
              <a:t>'account handling' means a stranger trades in your account.</a:t>
            </a:r>
          </a:p>
          <a:p>
            <a:pPr algn="l" marL="274320" indent="-274320">
              <a:lnSpc>
                <a:spcPct val="100000"/>
              </a:lnSpc>
              <a:buClr>
                <a:srgbClr val="F5A623"/>
              </a:buClr>
              <a:buFont typeface="Arial"/>
              <a:buChar char="•"/>
            </a:pPr>
            <a:r>
              <a:rPr sz="1600" b="0" i="0">
                <a:solidFill>
                  <a:srgbClr val="18232F"/>
                </a:solidFill>
                <a:latin typeface="Segoe UI"/>
              </a:rPr>
              <a:t>A 'fully automatic' algo runs there for a fee or a profit share.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Take the message in Aman's story. '5% a month' sounds modest, but compounded over a year it is twelve 1.05s multiplied together, about 1.80: roughly 80% a year, with no losing month. Priya's honest 30-trade backtest on Day 17 had a drawdown of 6.23R inside it; a record with no bad month is the Day 14 brochure again. … Aman shares nothing, keeps a screenshot, blocks the number and reports the message at cybercrime.gov.in; had any money gone, he would also call 1930 at once.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offer vs your checks</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One failed check is enough to say no. Stage 1 places no automated orders at all.</a:t>
            </a:r>
          </a:p>
        </p:txBody>
      </p:sp>
      <p:sp>
        <p:nvSpPr>
          <p:cNvPr id="11" name="Rounded Rectangle 10"/>
          <p:cNvSpPr/>
          <p:nvPr/>
        </p:nvSpPr>
        <p:spPr>
          <a:xfrm>
            <a:off x="6397600" y="1796796"/>
            <a:ext cx="2494712" cy="343814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796796"/>
            <a:ext cx="2494712" cy="455676"/>
          </a:xfrm>
          <a:prstGeom prst="roundRect">
            <a:avLst>
              <a:gd name="adj" fmla="val 2006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024634"/>
            <a:ext cx="2494712" cy="22783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796796"/>
            <a:ext cx="2494712" cy="3438144"/>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796796"/>
            <a:ext cx="2202104" cy="455676"/>
          </a:xfrm>
          <a:prstGeom prst="rect">
            <a:avLst/>
          </a:prstGeom>
          <a:noFill/>
        </p:spPr>
        <p:txBody>
          <a:bodyPr wrap="square" lIns="0" rIns="0" tIns="0" bIns="0" anchor="ctr">
            <a:noAutofit/>
          </a:bodyPr>
          <a:lstStyle/>
          <a:p>
            <a:pPr algn="l">
              <a:lnSpc>
                <a:spcPct val="100000"/>
              </a:lnSpc>
            </a:pPr>
            <a:r>
              <a:rPr sz="1550" b="1" i="0">
                <a:solidFill>
                  <a:srgbClr val="991B1B"/>
                </a:solidFill>
                <a:latin typeface="Segoe UI"/>
              </a:rPr>
              <a:t>The offer says</a:t>
            </a:r>
          </a:p>
        </p:txBody>
      </p:sp>
      <p:cxnSp>
        <p:nvCxnSpPr>
          <p:cNvPr id="16" name="Connector 15"/>
          <p:cNvCxnSpPr/>
          <p:nvPr/>
        </p:nvCxnSpPr>
        <p:spPr>
          <a:xfrm>
            <a:off x="6397600" y="2252472"/>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398776"/>
            <a:ext cx="2202104" cy="2799588"/>
          </a:xfrm>
          <a:prstGeom prst="rect">
            <a:avLst/>
          </a:prstGeom>
          <a:noFill/>
        </p:spPr>
        <p:txBody>
          <a:bodyPr wrap="square" lIns="0" rIns="0" tIns="0" bIns="0" anchor="t">
            <a:noAutofit/>
          </a:bodyPr>
          <a:lstStyle/>
          <a:p>
            <a:pPr algn="l" marL="201168" indent="-201168">
              <a:lnSpc>
                <a:spcPct val="100000"/>
              </a:lnSpc>
              <a:spcAft>
                <a:spcPts val="725"/>
              </a:spcAft>
              <a:buClr>
                <a:srgbClr val="F0554E"/>
              </a:buClr>
              <a:buFont typeface="Arial"/>
              <a:buChar char="•"/>
            </a:pPr>
            <a:r>
              <a:rPr sz="1450" b="0" i="0">
                <a:solidFill>
                  <a:srgbClr val="18232F"/>
                </a:solidFill>
                <a:latin typeface="Segoe UI"/>
              </a:rPr>
              <a:t>Share your login and OTP once</a:t>
            </a:r>
          </a:p>
          <a:p>
            <a:pPr algn="l" marL="201168" indent="-201168">
              <a:lnSpc>
                <a:spcPct val="100000"/>
              </a:lnSpc>
              <a:spcAft>
                <a:spcPts val="725"/>
              </a:spcAft>
              <a:buClr>
                <a:srgbClr val="F0554E"/>
              </a:buClr>
              <a:buFont typeface="Arial"/>
              <a:buChar char="•"/>
            </a:pPr>
            <a:r>
              <a:rPr sz="1450" b="0" i="0">
                <a:solidFill>
                  <a:srgbClr val="18232F"/>
                </a:solidFill>
                <a:latin typeface="Segoe UI"/>
              </a:rPr>
              <a:t>5% every month, no bad month</a:t>
            </a:r>
          </a:p>
          <a:p>
            <a:pPr algn="l" marL="201168" indent="-201168">
              <a:lnSpc>
                <a:spcPct val="100000"/>
              </a:lnSpc>
              <a:spcAft>
                <a:spcPts val="725"/>
              </a:spcAft>
              <a:buClr>
                <a:srgbClr val="F0554E"/>
              </a:buClr>
              <a:buFont typeface="Arial"/>
              <a:buChar char="•"/>
            </a:pPr>
            <a:r>
              <a:rPr sz="1450" b="0" i="0">
                <a:solidFill>
                  <a:srgbClr val="18232F"/>
                </a:solidFill>
                <a:latin typeface="Segoe UI"/>
              </a:rPr>
              <a:t>Secret algo, no broker named</a:t>
            </a:r>
          </a:p>
          <a:p>
            <a:pPr algn="l" marL="201168" indent="-201168">
              <a:lnSpc>
                <a:spcPct val="100000"/>
              </a:lnSpc>
              <a:buClr>
                <a:srgbClr val="F0554E"/>
              </a:buClr>
              <a:buFont typeface="Arial"/>
              <a:buChar char="•"/>
            </a:pPr>
            <a:r>
              <a:rPr sz="1450" b="0" i="0">
                <a:solidFill>
                  <a:srgbClr val="18232F"/>
                </a:solidFill>
                <a:latin typeface="Segoe UI"/>
              </a:rPr>
              <a:t>Pay the profit share to a person</a:t>
            </a:r>
          </a:p>
        </p:txBody>
      </p:sp>
      <p:sp>
        <p:nvSpPr>
          <p:cNvPr id="18" name="Rounded Rectangle 17"/>
          <p:cNvSpPr/>
          <p:nvPr/>
        </p:nvSpPr>
        <p:spPr>
          <a:xfrm>
            <a:off x="9056903" y="1796796"/>
            <a:ext cx="2494712" cy="3438144"/>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796796"/>
            <a:ext cx="2494712" cy="455676"/>
          </a:xfrm>
          <a:prstGeom prst="roundRect">
            <a:avLst>
              <a:gd name="adj" fmla="val 2006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024634"/>
            <a:ext cx="2494712" cy="22783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796796"/>
            <a:ext cx="2494712" cy="3438144"/>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796796"/>
            <a:ext cx="2202104" cy="455676"/>
          </a:xfrm>
          <a:prstGeom prst="rect">
            <a:avLst/>
          </a:prstGeom>
          <a:noFill/>
        </p:spPr>
        <p:txBody>
          <a:bodyPr wrap="square" lIns="0" rIns="0" tIns="0" bIns="0" anchor="ctr">
            <a:noAutofit/>
          </a:bodyPr>
          <a:lstStyle/>
          <a:p>
            <a:pPr algn="l">
              <a:lnSpc>
                <a:spcPct val="100000"/>
              </a:lnSpc>
            </a:pPr>
            <a:r>
              <a:rPr sz="1550" b="1" i="0">
                <a:solidFill>
                  <a:srgbClr val="166534"/>
                </a:solidFill>
                <a:latin typeface="Segoe UI"/>
              </a:rPr>
              <a:t>What you check</a:t>
            </a:r>
          </a:p>
        </p:txBody>
      </p:sp>
      <p:cxnSp>
        <p:nvCxnSpPr>
          <p:cNvPr id="23" name="Connector 22"/>
          <p:cNvCxnSpPr/>
          <p:nvPr/>
        </p:nvCxnSpPr>
        <p:spPr>
          <a:xfrm>
            <a:off x="9056903" y="2252472"/>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398776"/>
            <a:ext cx="2202104" cy="2799588"/>
          </a:xfrm>
          <a:prstGeom prst="rect">
            <a:avLst/>
          </a:prstGeom>
          <a:noFill/>
        </p:spPr>
        <p:txBody>
          <a:bodyPr wrap="square" lIns="0" rIns="0" tIns="0" bIns="0" anchor="t">
            <a:noAutofit/>
          </a:bodyPr>
          <a:lstStyle/>
          <a:p>
            <a:pPr algn="l" marL="201168" indent="-201168">
              <a:lnSpc>
                <a:spcPct val="100000"/>
              </a:lnSpc>
              <a:spcAft>
                <a:spcPts val="725"/>
              </a:spcAft>
              <a:buClr>
                <a:srgbClr val="16A34A"/>
              </a:buClr>
              <a:buFont typeface="Arial"/>
              <a:buChar char="•"/>
            </a:pPr>
            <a:r>
              <a:rPr sz="1450" b="0" i="0">
                <a:solidFill>
                  <a:srgbClr val="18232F"/>
                </a:solidFill>
                <a:latin typeface="Segoe UI"/>
              </a:rPr>
              <a:t>No genuine firm asks you to share an OTP or TPIN</a:t>
            </a:r>
          </a:p>
          <a:p>
            <a:pPr algn="l" marL="201168" indent="-201168">
              <a:lnSpc>
                <a:spcPct val="100000"/>
              </a:lnSpc>
              <a:spcAft>
                <a:spcPts val="725"/>
              </a:spcAft>
              <a:buClr>
                <a:srgbClr val="16A34A"/>
              </a:buClr>
              <a:buFont typeface="Arial"/>
              <a:buChar char="•"/>
            </a:pPr>
            <a:r>
              <a:rPr sz="1450" b="0" i="0">
                <a:solidFill>
                  <a:srgbClr val="18232F"/>
                </a:solidFill>
                <a:latin typeface="Segoe UI"/>
              </a:rPr>
              <a:t>Registered advisers and analysts may not promise returns</a:t>
            </a:r>
          </a:p>
          <a:p>
            <a:pPr algn="l" marL="201168" indent="-201168">
              <a:lnSpc>
                <a:spcPct val="100000"/>
              </a:lnSpc>
              <a:spcAft>
                <a:spcPts val="725"/>
              </a:spcAft>
              <a:buClr>
                <a:srgbClr val="16A34A"/>
              </a:buClr>
              <a:buFont typeface="Arial"/>
              <a:buChar char="•"/>
            </a:pPr>
            <a:r>
              <a:rPr sz="1450" b="0" i="0">
                <a:solidFill>
                  <a:srgbClr val="18232F"/>
                </a:solidFill>
                <a:latin typeface="Segoe UI"/>
              </a:rPr>
              <a:t>Legal algo: broker, Algo-ID, empanelment</a:t>
            </a:r>
          </a:p>
          <a:p>
            <a:pPr algn="l" marL="201168" indent="-201168">
              <a:lnSpc>
                <a:spcPct val="100000"/>
              </a:lnSpc>
              <a:buClr>
                <a:srgbClr val="16A34A"/>
              </a:buClr>
              <a:buFont typeface="Arial"/>
              <a:buChar char="•"/>
            </a:pPr>
            <a:r>
              <a:rPr sz="1450" b="0" i="0">
                <a:solidFill>
                  <a:srgbClr val="18232F"/>
                </a:solidFill>
                <a:latin typeface="Segoe UI"/>
              </a:rPr>
              <a:t>Fees go only to an account in the registered name</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Your login, OTP and TPIN never leave you. Anyone who needs them to 'help' you is the trap.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challenge result is a process score</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Since Day 12 your paper account has gone up or down.</a:t>
            </a:r>
          </a:p>
          <a:p>
            <a:pPr algn="l" marL="274320" indent="-274320">
              <a:lnSpc>
                <a:spcPct val="100000"/>
              </a:lnSpc>
              <a:spcAft>
                <a:spcPts val="800"/>
              </a:spcAft>
              <a:buClr>
                <a:srgbClr val="F5A623"/>
              </a:buClr>
              <a:buFont typeface="Arial"/>
              <a:buChar char="•"/>
            </a:pPr>
            <a:r>
              <a:rPr sz="1600" b="0" i="0">
                <a:solidFill>
                  <a:srgbClr val="18232F"/>
                </a:solidFill>
                <a:latin typeface="Segoe UI"/>
              </a:rPr>
              <a:t>The challenge ignores that number on purpose.</a:t>
            </a:r>
          </a:p>
          <a:p>
            <a:pPr algn="l" marL="274320" indent="-274320">
              <a:lnSpc>
                <a:spcPct val="100000"/>
              </a:lnSpc>
              <a:spcAft>
                <a:spcPts val="800"/>
              </a:spcAft>
              <a:buClr>
                <a:srgbClr val="F5A623"/>
              </a:buClr>
              <a:buFont typeface="Arial"/>
              <a:buChar char="•"/>
            </a:pPr>
            <a:r>
              <a:rPr sz="1600" b="0" i="0">
                <a:solidFill>
                  <a:srgbClr val="18232F"/>
                </a:solidFill>
                <a:latin typeface="Segoe UI"/>
              </a:rPr>
              <a:t>In about ten days you have logged perhaps 5 to 20 paper trades, below the 30 needed even to judge a rule, so profit or loss over so few trades is mostly luck.</a:t>
            </a:r>
          </a:p>
          <a:p>
            <a:pPr algn="l" marL="274320" indent="-274320">
              <a:lnSpc>
                <a:spcPct val="100000"/>
              </a:lnSpc>
              <a:buClr>
                <a:srgbClr val="F5A623"/>
              </a:buClr>
              <a:buFont typeface="Arial"/>
              <a:buChar char="•"/>
            </a:pPr>
            <a:r>
              <a:rPr sz="1600" b="0" i="0">
                <a:solidFill>
                  <a:srgbClr val="18232F"/>
                </a:solidFill>
                <a:latin typeface="Segoe UI"/>
              </a:rPr>
              <a:t>Your challenge score, out of 1,000 points, comes only from what you control.</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Aman's sheet since Day 12, the same one he added up on Day 20: 20 paper trades, 12 of which broke a rule, and 3 times he correctly stayed out (two no-setup days, and one setup he skipped because it gapped past his maximum entry). 11 of his 23 decisions followed his rules (8 on-rule trades + 3 stay-outs), an adherence of about 48%, and his virtual account is down Rs 53,000. Priya took 7 trades and is down Rs 6,000. … Had those broken trades happened to win, he would have learned the wrong lesson: a rule-breaking win is the most dangerous habit to reward.</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Priya's adherence score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Aman's adherence was 48%, and his 12 rule-breaking trades lost 7.7R. Adherence is the one number in your hands every day.</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4181077"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Trades that followed every rule</a:t>
            </a:r>
          </a:p>
        </p:txBody>
      </p:sp>
      <p:sp>
        <p:nvSpPr>
          <p:cNvPr id="13" name="TextBox 12"/>
          <p:cNvSpPr txBox="1"/>
          <p:nvPr/>
        </p:nvSpPr>
        <p:spPr>
          <a:xfrm>
            <a:off x="10944437" y="1899666"/>
            <a:ext cx="534026"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4</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503170"/>
            <a:ext cx="4181077"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Times correctly stayed out</a:t>
            </a:r>
          </a:p>
        </p:txBody>
      </p:sp>
      <p:sp>
        <p:nvSpPr>
          <p:cNvPr id="17" name="TextBox 16"/>
          <p:cNvSpPr txBox="1"/>
          <p:nvPr/>
        </p:nvSpPr>
        <p:spPr>
          <a:xfrm>
            <a:off x="10944437" y="2503170"/>
            <a:ext cx="534026"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8</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4181077"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Decisions on-rule</a:t>
            </a:r>
          </a:p>
        </p:txBody>
      </p:sp>
      <p:sp>
        <p:nvSpPr>
          <p:cNvPr id="21" name="TextBox 20"/>
          <p:cNvSpPr txBox="1"/>
          <p:nvPr/>
        </p:nvSpPr>
        <p:spPr>
          <a:xfrm>
            <a:off x="10944437" y="3106674"/>
            <a:ext cx="534026"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4181077"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All decisions: 7 trades + 8 stay-outs</a:t>
            </a:r>
          </a:p>
        </p:txBody>
      </p:sp>
      <p:sp>
        <p:nvSpPr>
          <p:cNvPr id="25" name="TextBox 24"/>
          <p:cNvSpPr txBox="1"/>
          <p:nvPr/>
        </p:nvSpPr>
        <p:spPr>
          <a:xfrm>
            <a:off x="10944437" y="3710178"/>
            <a:ext cx="534026"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15</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4181077"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Adherence score</a:t>
            </a:r>
          </a:p>
        </p:txBody>
      </p:sp>
      <p:sp>
        <p:nvSpPr>
          <p:cNvPr id="29" name="TextBox 28"/>
          <p:cNvSpPr txBox="1"/>
          <p:nvPr/>
        </p:nvSpPr>
        <p:spPr>
          <a:xfrm>
            <a:off x="10944437" y="4368546"/>
            <a:ext cx="534026"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80%</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2" name="TextBox 3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Profit over a few paper trades is mostly noise. Adherence is the number you can improve every single day.</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From journal to five habits</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Your journal now holds every paper decision since Day 12, with its emotion tag and any broken rule.</a:t>
            </a:r>
          </a:p>
          <a:p>
            <a:pPr algn="l" marL="274320" indent="-274320">
              <a:lnSpc>
                <a:spcPct val="100000"/>
              </a:lnSpc>
              <a:spcAft>
                <a:spcPts val="800"/>
              </a:spcAft>
              <a:buClr>
                <a:srgbClr val="F5A623"/>
              </a:buClr>
              <a:buFont typeface="Arial"/>
              <a:buChar char="•"/>
            </a:pPr>
            <a:r>
              <a:rPr sz="1600" b="0" i="0">
                <a:solidFill>
                  <a:srgbClr val="18232F"/>
                </a:solidFill>
                <a:latin typeface="Segoe UI"/>
              </a:rPr>
              <a:t>Read it like a coach, not a judge: count how often each rule broke, not how much money moved.</a:t>
            </a:r>
          </a:p>
          <a:p>
            <a:pPr algn="l" marL="274320" indent="-274320">
              <a:lnSpc>
                <a:spcPct val="100000"/>
              </a:lnSpc>
              <a:buClr>
                <a:srgbClr val="F5A623"/>
              </a:buClr>
              <a:buFont typeface="Arial"/>
              <a:buChar char="•"/>
            </a:pPr>
            <a:r>
              <a:rPr sz="1600" b="0" i="0">
                <a:solidFill>
                  <a:srgbClr val="18232F"/>
                </a:solidFill>
                <a:latin typeface="Segoe UI"/>
              </a:rPr>
              <a:t>Pick out your top 3 mistakes with their counts, your top 3 strengths, and the one emotion that sits most often next to a broken rule.</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Aman's counts: 12 of his 20 trades broke a rule. Five had no setup, and four of those were also above the formula size: his two early Kiran Foods chases and Thursday's revenge pair. Four entries came before the daily close confirmed the signal. He moved the stop lower twice, and ignored his results rule once. His strengths: never more than 3 open trades, a journal row every day, and an honest emotion tag on every row. The tag 'FOMO' sits next to 6 of his 12 breaks. … His check-in is 4 weeks from today, with Priya as his study partner.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Aman's 12 rule breaks, by type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12 of his 20 paper trades broke a rule, and FOMO sat next to 6 of the 12. Count breaks, not rupees: the tallest bar is next month's first habit.</a:t>
            </a:r>
          </a:p>
        </p:txBody>
      </p:sp>
      <p:sp>
        <p:nvSpPr>
          <p:cNvPr id="11" name="TextBox 10"/>
          <p:cNvSpPr txBox="1"/>
          <p:nvPr/>
        </p:nvSpPr>
        <p:spPr>
          <a:xfrm>
            <a:off x="6397600" y="2119122"/>
            <a:ext cx="184661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No setup</a:t>
            </a:r>
          </a:p>
        </p:txBody>
      </p:sp>
      <p:sp>
        <p:nvSpPr>
          <p:cNvPr id="12" name="Rounded Rectangle 11"/>
          <p:cNvSpPr/>
          <p:nvPr/>
        </p:nvSpPr>
        <p:spPr>
          <a:xfrm>
            <a:off x="8353945" y="2292858"/>
            <a:ext cx="289055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8353945" y="2292858"/>
            <a:ext cx="2890559"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335944" y="2119122"/>
            <a:ext cx="243103"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5</a:t>
            </a:r>
          </a:p>
        </p:txBody>
      </p:sp>
      <p:sp>
        <p:nvSpPr>
          <p:cNvPr id="15" name="TextBox 14"/>
          <p:cNvSpPr txBox="1"/>
          <p:nvPr/>
        </p:nvSpPr>
        <p:spPr>
          <a:xfrm>
            <a:off x="6397600" y="2777490"/>
            <a:ext cx="184661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Entry before the close</a:t>
            </a:r>
          </a:p>
        </p:txBody>
      </p:sp>
      <p:sp>
        <p:nvSpPr>
          <p:cNvPr id="16" name="Rounded Rectangle 15"/>
          <p:cNvSpPr/>
          <p:nvPr/>
        </p:nvSpPr>
        <p:spPr>
          <a:xfrm>
            <a:off x="8353945" y="2951226"/>
            <a:ext cx="289055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8353945" y="2951226"/>
            <a:ext cx="2312447"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335944" y="2777490"/>
            <a:ext cx="243103"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4</a:t>
            </a:r>
          </a:p>
        </p:txBody>
      </p:sp>
      <p:sp>
        <p:nvSpPr>
          <p:cNvPr id="19" name="TextBox 18"/>
          <p:cNvSpPr txBox="1"/>
          <p:nvPr/>
        </p:nvSpPr>
        <p:spPr>
          <a:xfrm>
            <a:off x="6397600" y="3435858"/>
            <a:ext cx="184661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Stop moved lower</a:t>
            </a:r>
          </a:p>
        </p:txBody>
      </p:sp>
      <p:sp>
        <p:nvSpPr>
          <p:cNvPr id="20" name="Rounded Rectangle 19"/>
          <p:cNvSpPr/>
          <p:nvPr/>
        </p:nvSpPr>
        <p:spPr>
          <a:xfrm>
            <a:off x="8353945" y="3609594"/>
            <a:ext cx="289055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8353945" y="3609594"/>
            <a:ext cx="1156224"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335944" y="3435858"/>
            <a:ext cx="243103"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2</a:t>
            </a:r>
          </a:p>
        </p:txBody>
      </p:sp>
      <p:sp>
        <p:nvSpPr>
          <p:cNvPr id="23" name="TextBox 22"/>
          <p:cNvSpPr txBox="1"/>
          <p:nvPr/>
        </p:nvSpPr>
        <p:spPr>
          <a:xfrm>
            <a:off x="6397600" y="4094226"/>
            <a:ext cx="184661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Results rule ignored</a:t>
            </a:r>
          </a:p>
        </p:txBody>
      </p:sp>
      <p:sp>
        <p:nvSpPr>
          <p:cNvPr id="24" name="Rounded Rectangle 23"/>
          <p:cNvSpPr/>
          <p:nvPr/>
        </p:nvSpPr>
        <p:spPr>
          <a:xfrm>
            <a:off x="8353945" y="4267962"/>
            <a:ext cx="2890559"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8353945" y="4267962"/>
            <a:ext cx="578112"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335944" y="4094226"/>
            <a:ext cx="243103"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a:t>
            </a:r>
          </a:p>
        </p:txBody>
      </p:sp>
      <p:sp>
        <p:nvSpPr>
          <p:cNvPr id="27" name="Rounded Rectangle 2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9" name="TextBox 28"/>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Write habits, not money goals. A habit you can tick every day beats a target you cannot control.</a:t>
            </a:r>
          </a:p>
        </p:txBody>
      </p:sp>
      <p:pic>
        <p:nvPicPr>
          <p:cNvPr id="30" name="Picture 29" descr="logo.png"/>
          <p:cNvPicPr>
            <a:picLocks noChangeAspect="1"/>
          </p:cNvPicPr>
          <p:nvPr/>
        </p:nvPicPr>
        <p:blipFill>
          <a:blip r:embed="rId2"/>
          <a:stretch>
            <a:fillRect/>
          </a:stretch>
        </p:blipFill>
        <p:spPr>
          <a:xfrm>
            <a:off x="457200" y="6437376"/>
            <a:ext cx="237744" cy="237744"/>
          </a:xfrm>
          <a:prstGeom prst="rect">
            <a:avLst/>
          </a:prstGeom>
        </p:spPr>
      </p:pic>
      <p:sp>
        <p:nvSpPr>
          <p:cNvPr id="3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2" name="TextBox 3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certificate: six checks, no profit test</a:t>
            </a:r>
          </a:p>
        </p:txBody>
      </p:sp>
      <p:sp>
        <p:nvSpPr>
          <p:cNvPr id="4" name="TextBox 3"/>
          <p:cNvSpPr txBox="1"/>
          <p:nvPr/>
        </p:nvSpPr>
        <p:spPr>
          <a:xfrm>
            <a:off x="457200" y="1335024"/>
            <a:ext cx="5519776" cy="1703070"/>
          </a:xfrm>
          <a:prstGeom prst="rect">
            <a:avLst/>
          </a:prstGeom>
          <a:noFill/>
        </p:spPr>
        <p:txBody>
          <a:bodyPr wrap="square" lIns="0" rIns="0" tIns="0" bIns="0" anchor="t">
            <a:noAutofit/>
          </a:bodyPr>
          <a:lstStyle/>
          <a:p>
            <a:pPr algn="l" marL="274320" indent="-274320">
              <a:lnSpc>
                <a:spcPct val="100000"/>
              </a:lnSpc>
              <a:spcAft>
                <a:spcPts val="750"/>
              </a:spcAft>
              <a:buClr>
                <a:srgbClr val="F5A623"/>
              </a:buClr>
              <a:buFont typeface="Arial"/>
              <a:buChar char="•"/>
            </a:pPr>
            <a:r>
              <a:rPr sz="1500" b="0" i="0">
                <a:solidFill>
                  <a:srgbClr val="18232F"/>
                </a:solidFill>
                <a:latin typeface="Segoe UI"/>
              </a:rPr>
              <a:t>Your certificate is issued automatically once six checks are met, and the certificate page shows a tick against each.</a:t>
            </a:r>
          </a:p>
          <a:p>
            <a:pPr algn="l" marL="274320" indent="-274320">
              <a:lnSpc>
                <a:spcPct val="100000"/>
              </a:lnSpc>
              <a:spcAft>
                <a:spcPts val="750"/>
              </a:spcAft>
              <a:buClr>
                <a:srgbClr val="F5A623"/>
              </a:buClr>
              <a:buFont typeface="Arial"/>
              <a:buChar char="•"/>
            </a:pPr>
            <a:r>
              <a:rPr sz="1500" b="0" i="0">
                <a:solidFill>
                  <a:srgbClr val="18232F"/>
                </a:solidFill>
                <a:latin typeface="Segoe UI"/>
              </a:rPr>
              <a:t>One: at least 90% of sessions complete, which is 19 of 21.</a:t>
            </a:r>
          </a:p>
          <a:p>
            <a:pPr algn="l" marL="274320" indent="-274320">
              <a:lnSpc>
                <a:spcPct val="100000"/>
              </a:lnSpc>
              <a:spcAft>
                <a:spcPts val="750"/>
              </a:spcAft>
              <a:buClr>
                <a:srgbClr val="F5A623"/>
              </a:buClr>
              <a:buFont typeface="Arial"/>
              <a:buChar char="•"/>
            </a:pPr>
            <a:r>
              <a:rPr sz="1500" b="0" i="0">
                <a:solidFill>
                  <a:srgbClr val="18232F"/>
                </a:solidFill>
                <a:latin typeface="Segoe UI"/>
              </a:rPr>
              <a:t>A session counts once its quiz is submitted and its journal entry is written.</a:t>
            </a:r>
          </a:p>
          <a:p>
            <a:pPr algn="l" marL="274320" indent="-274320">
              <a:lnSpc>
                <a:spcPct val="100000"/>
              </a:lnSpc>
              <a:buClr>
                <a:srgbClr val="F5A623"/>
              </a:buClr>
              <a:buFont typeface="Arial"/>
              <a:buChar char="•"/>
            </a:pPr>
            <a:r>
              <a:rPr sz="1500" b="0" i="0">
                <a:solidFill>
                  <a:srgbClr val="18232F"/>
                </a:solidFill>
                <a:latin typeface="Segoe UI"/>
              </a:rPr>
              <a:t>Two: the final exam passed with 60% or more (18 of 30)</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 complete Portfolio row, in virtual money only, has seven parts. Here is Priya's row on Kiran Foods Ltd, the stock she skipped this evening. Full Why 1, the business: it passed all five Day 15 health checks. Full Why 2, a second reason that does not lean on the first: every chart box (3 to 5) of her Day 16 flowchart said yes, including beating NIFTY 50 over 3 months. Top risk: results are due in 3 trading days, and a results gap can turn 1R into 2R. Her answer: no entry until the results are out (her Day 11 card). … It is not a SEBI or NISM certification, not a licence to advise, and not a signal that you are ready for real money.</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Six checks for the certificate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Your certificate page shows the same six checks. None of them asks for profit.</a:t>
            </a:r>
          </a:p>
        </p:txBody>
      </p:sp>
      <p:cxnSp>
        <p:nvCxnSpPr>
          <p:cNvPr id="11" name="Connector 10"/>
          <p:cNvCxnSpPr/>
          <p:nvPr/>
        </p:nvCxnSpPr>
        <p:spPr>
          <a:xfrm>
            <a:off x="1549375" y="4354068"/>
            <a:ext cx="9092946"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23466" y="418947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19/21</a:t>
            </a:r>
          </a:p>
        </p:txBody>
      </p:sp>
      <p:sp>
        <p:nvSpPr>
          <p:cNvPr id="13" name="TextBox 12"/>
          <p:cNvSpPr txBox="1"/>
          <p:nvPr/>
        </p:nvSpPr>
        <p:spPr>
          <a:xfrm>
            <a:off x="713232" y="4646676"/>
            <a:ext cx="1672285" cy="6309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Sessions complete</a:t>
            </a:r>
          </a:p>
          <a:p>
            <a:pPr algn="ctr">
              <a:lnSpc>
                <a:spcPct val="100000"/>
              </a:lnSpc>
            </a:pPr>
            <a:r>
              <a:rPr sz="1100" b="0" i="0">
                <a:solidFill>
                  <a:srgbClr val="47596B"/>
                </a:solidFill>
                <a:latin typeface="Segoe UI"/>
              </a:rPr>
              <a:t>Quiz submitted, journal written</a:t>
            </a:r>
          </a:p>
        </p:txBody>
      </p:sp>
      <p:sp>
        <p:nvSpPr>
          <p:cNvPr id="14" name="Rounded Rectangle 13"/>
          <p:cNvSpPr/>
          <p:nvPr/>
        </p:nvSpPr>
        <p:spPr>
          <a:xfrm>
            <a:off x="3042056" y="418947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60%+</a:t>
            </a:r>
          </a:p>
        </p:txBody>
      </p:sp>
      <p:sp>
        <p:nvSpPr>
          <p:cNvPr id="15" name="TextBox 14"/>
          <p:cNvSpPr txBox="1"/>
          <p:nvPr/>
        </p:nvSpPr>
        <p:spPr>
          <a:xfrm>
            <a:off x="2531821" y="4646676"/>
            <a:ext cx="1672285" cy="6309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Final exam passed</a:t>
            </a:r>
          </a:p>
          <a:p>
            <a:pPr algn="ctr">
              <a:lnSpc>
                <a:spcPct val="100000"/>
              </a:lnSpc>
            </a:pPr>
            <a:r>
              <a:rPr sz="1100" b="0" i="0">
                <a:solidFill>
                  <a:srgbClr val="47596B"/>
                </a:solidFill>
                <a:latin typeface="Segoe UI"/>
              </a:rPr>
              <a:t>30 questions, 60 minutes</a:t>
            </a:r>
          </a:p>
        </p:txBody>
      </p:sp>
      <p:sp>
        <p:nvSpPr>
          <p:cNvPr id="16" name="Rounded Rectangle 15"/>
          <p:cNvSpPr/>
          <p:nvPr/>
        </p:nvSpPr>
        <p:spPr>
          <a:xfrm>
            <a:off x="4860645" y="418947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3/3</a:t>
            </a:r>
          </a:p>
        </p:txBody>
      </p:sp>
      <p:sp>
        <p:nvSpPr>
          <p:cNvPr id="17" name="TextBox 16"/>
          <p:cNvSpPr txBox="1"/>
          <p:nvPr/>
        </p:nvSpPr>
        <p:spPr>
          <a:xfrm>
            <a:off x="4350410" y="4646676"/>
            <a:ext cx="1672285" cy="6309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Quiz Games attempted</a:t>
            </a:r>
          </a:p>
          <a:p>
            <a:pPr algn="ctr">
              <a:lnSpc>
                <a:spcPct val="100000"/>
              </a:lnSpc>
            </a:pPr>
            <a:r>
              <a:rPr sz="1100" b="0" i="0">
                <a:solidFill>
                  <a:srgbClr val="47596B"/>
                </a:solidFill>
                <a:latin typeface="Segoe UI"/>
              </a:rPr>
              <a:t>One for each week</a:t>
            </a:r>
          </a:p>
        </p:txBody>
      </p:sp>
      <p:sp>
        <p:nvSpPr>
          <p:cNvPr id="18" name="Rounded Rectangle 17"/>
          <p:cNvSpPr/>
          <p:nvPr/>
        </p:nvSpPr>
        <p:spPr>
          <a:xfrm>
            <a:off x="6679234" y="418947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 rows</a:t>
            </a:r>
          </a:p>
        </p:txBody>
      </p:sp>
      <p:sp>
        <p:nvSpPr>
          <p:cNvPr id="19" name="TextBox 18"/>
          <p:cNvSpPr txBox="1"/>
          <p:nvPr/>
        </p:nvSpPr>
        <p:spPr>
          <a:xfrm>
            <a:off x="6169000" y="4646676"/>
            <a:ext cx="1672285" cy="6309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Practice ladder</a:t>
            </a:r>
          </a:p>
          <a:p>
            <a:pPr algn="ctr">
              <a:lnSpc>
                <a:spcPct val="100000"/>
              </a:lnSpc>
            </a:pPr>
            <a:r>
              <a:rPr sz="1100" b="0" i="0">
                <a:solidFill>
                  <a:srgbClr val="47596B"/>
                </a:solidFill>
                <a:latin typeface="Segoe UI"/>
              </a:rPr>
              <a:t>Graded C or better</a:t>
            </a:r>
          </a:p>
        </p:txBody>
      </p:sp>
      <p:sp>
        <p:nvSpPr>
          <p:cNvPr id="20" name="Rounded Rectangle 19"/>
          <p:cNvSpPr/>
          <p:nvPr/>
        </p:nvSpPr>
        <p:spPr>
          <a:xfrm>
            <a:off x="8497823" y="418947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2/3</a:t>
            </a:r>
          </a:p>
        </p:txBody>
      </p:sp>
      <p:sp>
        <p:nvSpPr>
          <p:cNvPr id="21" name="TextBox 20"/>
          <p:cNvSpPr txBox="1"/>
          <p:nvPr/>
        </p:nvSpPr>
        <p:spPr>
          <a:xfrm>
            <a:off x="7987589" y="4646676"/>
            <a:ext cx="1672285" cy="6309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Weekly reviews</a:t>
            </a:r>
          </a:p>
          <a:p>
            <a:pPr algn="ctr">
              <a:lnSpc>
                <a:spcPct val="100000"/>
              </a:lnSpc>
            </a:pPr>
            <a:r>
              <a:rPr sz="1100" b="0" i="0">
                <a:solidFill>
                  <a:srgbClr val="47596B"/>
                </a:solidFill>
                <a:latin typeface="Segoe UI"/>
              </a:rPr>
              <a:t>Day 7, 14 or 21</a:t>
            </a:r>
          </a:p>
        </p:txBody>
      </p:sp>
      <p:sp>
        <p:nvSpPr>
          <p:cNvPr id="22" name="Rounded Rectangle 21"/>
          <p:cNvSpPr/>
          <p:nvPr/>
        </p:nvSpPr>
        <p:spPr>
          <a:xfrm>
            <a:off x="10316412" y="4189476"/>
            <a:ext cx="651817"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OK</a:t>
            </a:r>
          </a:p>
        </p:txBody>
      </p:sp>
      <p:sp>
        <p:nvSpPr>
          <p:cNvPr id="23" name="TextBox 22"/>
          <p:cNvSpPr txBox="1"/>
          <p:nvPr/>
        </p:nvSpPr>
        <p:spPr>
          <a:xfrm>
            <a:off x="9806178" y="4646676"/>
            <a:ext cx="1672285" cy="63093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Good standing</a:t>
            </a:r>
          </a:p>
          <a:p>
            <a:pPr algn="ctr">
              <a:lnSpc>
                <a:spcPct val="100000"/>
              </a:lnSpc>
            </a:pPr>
            <a:r>
              <a:rPr sz="1100" b="0" i="0">
                <a:solidFill>
                  <a:srgbClr val="47596B"/>
                </a:solidFill>
                <a:latin typeface="Segoe UI"/>
              </a:rPr>
              <a:t>Not suspended</a:t>
            </a:r>
          </a:p>
        </p:txBody>
      </p:sp>
      <p:sp>
        <p:nvSpPr>
          <p:cNvPr id="24" name="Rounded Rectangle 2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6" name="TextBox 2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The certificate shows you finished the course. Only your journal can show how you trade.</a:t>
            </a:r>
          </a:p>
        </p:txBody>
      </p:sp>
      <p:pic>
        <p:nvPicPr>
          <p:cNvPr id="27" name="Picture 26" descr="logo.png"/>
          <p:cNvPicPr>
            <a:picLocks noChangeAspect="1"/>
          </p:cNvPicPr>
          <p:nvPr/>
        </p:nvPicPr>
        <p:blipFill>
          <a:blip r:embed="rId2"/>
          <a:stretch>
            <a:fillRect/>
          </a:stretch>
        </p:blipFill>
        <p:spPr>
          <a:xfrm>
            <a:off x="457200" y="6437376"/>
            <a:ext cx="237744" cy="237744"/>
          </a:xfrm>
          <a:prstGeom prst="rect">
            <a:avLst/>
          </a:prstGeom>
        </p:spPr>
      </p:pic>
      <p:sp>
        <p:nvSpPr>
          <p:cNvPr id="2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9" name="TextBox 2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Before real money: the 'not yet' list, and Stage 2</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F5A623"/>
              </a:buClr>
              <a:buFont typeface="Arial"/>
              <a:buChar char="•"/>
            </a:pPr>
            <a:r>
              <a:rPr sz="1600" b="0" i="0">
                <a:solidFill>
                  <a:srgbClr val="18232F"/>
                </a:solidFill>
                <a:latin typeface="Segoe UI"/>
              </a:rPr>
              <a:t>Finishing Stage 1 means you have learned the basics.</a:t>
            </a:r>
          </a:p>
          <a:p>
            <a:pPr algn="l" marL="274320" indent="-274320">
              <a:lnSpc>
                <a:spcPct val="100000"/>
              </a:lnSpc>
              <a:spcAft>
                <a:spcPts val="800"/>
              </a:spcAft>
              <a:buClr>
                <a:srgbClr val="F5A623"/>
              </a:buClr>
              <a:buFont typeface="Arial"/>
              <a:buChar char="•"/>
            </a:pPr>
            <a:r>
              <a:rPr sz="1600" b="0" i="0">
                <a:solidFill>
                  <a:srgbClr val="18232F"/>
                </a:solidFill>
                <a:latin typeface="Segoe UI"/>
              </a:rPr>
              <a:t>It does not mean you are ready to risk real money, and no certificate, course or AI can tell you that you are.</a:t>
            </a:r>
          </a:p>
          <a:p>
            <a:pPr algn="l" marL="274320" indent="-274320">
              <a:lnSpc>
                <a:spcPct val="100000"/>
              </a:lnSpc>
              <a:spcAft>
                <a:spcPts val="800"/>
              </a:spcAft>
              <a:buClr>
                <a:srgbClr val="F5A623"/>
              </a:buClr>
              <a:buFont typeface="Arial"/>
              <a:buChar char="•"/>
            </a:pPr>
            <a:r>
              <a:rPr sz="1600" b="0" i="0">
                <a:solidFill>
                  <a:srgbClr val="18232F"/>
                </a:solidFill>
                <a:latin typeface="Segoe UI"/>
              </a:rPr>
              <a:t>Before anyone should even consider it, a few conditions must be met.</a:t>
            </a:r>
          </a:p>
          <a:p>
            <a:pPr algn="l" marL="274320" indent="-274320">
              <a:lnSpc>
                <a:spcPct val="100000"/>
              </a:lnSpc>
              <a:buClr>
                <a:srgbClr val="F5A623"/>
              </a:buClr>
              <a:buFont typeface="Arial"/>
              <a:buChar char="•"/>
            </a:pPr>
            <a:r>
              <a:rPr sz="1600" b="0" i="0">
                <a:solidFill>
                  <a:srgbClr val="18232F"/>
                </a:solidFill>
                <a:latin typeface="Segoe UI"/>
              </a:rPr>
              <a:t>The Daily Routine Card has run for at least four more weeks of paper trading.</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Say Aman ignores the list, puts Rs 2,00,000 of real money behind rules he is still changing, and a bad month takes 25%, leaving Rs 1,50,000. To get back to Rs 2,00,000 he now needs Rs 50,000, which is 33% of what is left, not 25%. Four more weeks on paper would have cost him nothing but patience. This is Day 3's loss-recovery maths, and it is why 'not yet' is often the wisest answer.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Gain needed to repair a loss</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deeper the fall, the steeper the climb back. Waiting on paper costs far less.</a:t>
            </a:r>
          </a:p>
        </p:txBody>
      </p:sp>
      <p:sp>
        <p:nvSpPr>
          <p:cNvPr id="11" name="TextBox 10"/>
          <p:cNvSpPr txBox="1"/>
          <p:nvPr/>
        </p:nvSpPr>
        <p:spPr>
          <a:xfrm>
            <a:off x="6397600" y="2528316"/>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After -10%</a:t>
            </a:r>
          </a:p>
        </p:txBody>
      </p:sp>
      <p:sp>
        <p:nvSpPr>
          <p:cNvPr id="12" name="Rounded Rectangle 11"/>
          <p:cNvSpPr/>
          <p:nvPr/>
        </p:nvSpPr>
        <p:spPr>
          <a:xfrm>
            <a:off x="7604608" y="2702052"/>
            <a:ext cx="313874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2702052"/>
            <a:ext cx="348400"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834788" y="2528316"/>
            <a:ext cx="744259"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+11%</a:t>
            </a:r>
          </a:p>
        </p:txBody>
      </p:sp>
      <p:sp>
        <p:nvSpPr>
          <p:cNvPr id="15" name="TextBox 14"/>
          <p:cNvSpPr txBox="1"/>
          <p:nvPr/>
        </p:nvSpPr>
        <p:spPr>
          <a:xfrm>
            <a:off x="6397600" y="3186684"/>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After -25%</a:t>
            </a:r>
          </a:p>
        </p:txBody>
      </p:sp>
      <p:sp>
        <p:nvSpPr>
          <p:cNvPr id="16" name="Rounded Rectangle 15"/>
          <p:cNvSpPr/>
          <p:nvPr/>
        </p:nvSpPr>
        <p:spPr>
          <a:xfrm>
            <a:off x="7604608" y="3360420"/>
            <a:ext cx="313874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3360420"/>
            <a:ext cx="1045200"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834788" y="3186684"/>
            <a:ext cx="744259"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+33%</a:t>
            </a:r>
          </a:p>
        </p:txBody>
      </p:sp>
      <p:sp>
        <p:nvSpPr>
          <p:cNvPr id="19" name="TextBox 18"/>
          <p:cNvSpPr txBox="1"/>
          <p:nvPr/>
        </p:nvSpPr>
        <p:spPr>
          <a:xfrm>
            <a:off x="6397600" y="3845052"/>
            <a:ext cx="1097280"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After -50%</a:t>
            </a:r>
          </a:p>
        </p:txBody>
      </p:sp>
      <p:sp>
        <p:nvSpPr>
          <p:cNvPr id="20" name="Rounded Rectangle 19"/>
          <p:cNvSpPr/>
          <p:nvPr/>
        </p:nvSpPr>
        <p:spPr>
          <a:xfrm>
            <a:off x="7604608" y="4018788"/>
            <a:ext cx="3138740"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4018788"/>
            <a:ext cx="3138740"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834788" y="3845052"/>
            <a:ext cx="744259"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+100%</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5" name="TextBox 2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'Not yet' is a complete answer. Routine, sample size and savings come before any real rupee.</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Adherence score</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Decisions that followed your written rules divided by all decisions. A setup skipped by a written rule, or a no-setup day spent out, counts as a decision followed.</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Copy-trading and account handling</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Offers to copy someone's trades into your account, or to trade it for you. Many ask for your login or OTP, and whoever trades, every loss stays yours.</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Practice artefact ladder</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Five complete seven-part rows on the Portfolio page (Day 12), each graded on process by your mentor. C or better on all five is one certificate check.</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1711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Improvement plan</a:t>
            </a:r>
          </a:p>
        </p:txBody>
      </p:sp>
      <p:sp>
        <p:nvSpPr>
          <p:cNvPr id="15" name="TextBox 14"/>
          <p:cNvSpPr txBox="1"/>
          <p:nvPr/>
        </p:nvSpPr>
        <p:spPr>
          <a:xfrm>
            <a:off x="6379312"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Five habits for the next four weeks, built from your journal's counts, with a check-in date.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Certificate of Completion</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Proof that you completed the course, with a number and a QR code to verify it. Not a SEBI or NISM certification, not a licence, not a readiness signal.</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Challenge score</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Your Stage 1 score out of 1,000: attendance 200, quizzes 200, exams 250, practice work 250, discipline 100. Paper profit earns zero points.</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Full Why</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One complete, checkable reason in a Portfolio row. Every row needs two that do not lean on each other, such as a health-card result and a trend signal. A tip is never a Full Why.</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Why-stop</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line that says 'the idea is wrong if...', such as 'sales fall two quarters in a row'. It ends the idea even when the price-stop has not been hit.</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361438"/>
            <a:ext cx="502920" cy="144246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2858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1053"/>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104263"/>
            <a:ext cx="502920" cy="169964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The finish line is a start line</a:t>
            </a:r>
          </a:p>
        </p:txBody>
      </p:sp>
      <p:sp>
        <p:nvSpPr>
          <p:cNvPr id="11" name="Rounded Rectangle 10"/>
          <p:cNvSpPr/>
          <p:nvPr/>
        </p:nvSpPr>
        <p:spPr>
          <a:xfrm>
            <a:off x="640080" y="1593914"/>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703642"/>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Week 3 system</a:t>
            </a:r>
          </a:p>
        </p:txBody>
      </p:sp>
      <p:sp>
        <p:nvSpPr>
          <p:cNvPr id="13" name="TextBox 12"/>
          <p:cNvSpPr txBox="1"/>
          <p:nvPr/>
        </p:nvSpPr>
        <p:spPr>
          <a:xfrm>
            <a:off x="786384" y="2005394"/>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Health-check and ex-dates</a:t>
            </a:r>
          </a:p>
          <a:p>
            <a:pPr algn="l" marL="182880" indent="-182880">
              <a:lnSpc>
                <a:spcPct val="100000"/>
              </a:lnSpc>
              <a:spcAft>
                <a:spcPts val="405"/>
              </a:spcAft>
              <a:buClr>
                <a:srgbClr val="0093D6"/>
              </a:buClr>
              <a:buFont typeface="Arial"/>
              <a:buChar char="•"/>
            </a:pPr>
            <a:r>
              <a:rPr sz="1350" b="0" i="0">
                <a:solidFill>
                  <a:srgbClr val="18232F"/>
                </a:solidFill>
                <a:latin typeface="Segoe UI"/>
              </a:rPr>
              <a:t>Flowchart; alerts only say 'look'</a:t>
            </a:r>
          </a:p>
          <a:p>
            <a:pPr algn="l" marL="182880" indent="-182880">
              <a:lnSpc>
                <a:spcPct val="100000"/>
              </a:lnSpc>
              <a:spcAft>
                <a:spcPts val="405"/>
              </a:spcAft>
              <a:buClr>
                <a:srgbClr val="0093D6"/>
              </a:buClr>
              <a:buFont typeface="Arial"/>
              <a:buChar char="•"/>
            </a:pPr>
            <a:r>
              <a:rPr sz="1350" b="0" i="0">
                <a:solidFill>
                  <a:srgbClr val="18232F"/>
                </a:solidFill>
                <a:latin typeface="Segoe UI"/>
              </a:rPr>
              <a:t>30-trade backtest in net R</a:t>
            </a:r>
          </a:p>
          <a:p>
            <a:pPr algn="l" marL="182880" indent="-182880">
              <a:lnSpc>
                <a:spcPct val="100000"/>
              </a:lnSpc>
              <a:buClr>
                <a:srgbClr val="0093D6"/>
              </a:buClr>
              <a:buFont typeface="Arial"/>
              <a:buChar char="•"/>
            </a:pPr>
            <a:r>
              <a:rPr sz="1350" b="0" i="0">
                <a:solidFill>
                  <a:srgbClr val="18232F"/>
                </a:solidFill>
                <a:latin typeface="Segoe UI"/>
              </a:rPr>
              <a:t>Calendar, routine card, -2R stop</a:t>
            </a:r>
          </a:p>
        </p:txBody>
      </p:sp>
      <p:sp>
        <p:nvSpPr>
          <p:cNvPr id="14" name="Rounded Rectangle 13"/>
          <p:cNvSpPr/>
          <p:nvPr/>
        </p:nvSpPr>
        <p:spPr>
          <a:xfrm>
            <a:off x="640080" y="3293554"/>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403282"/>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Shortcut Trap #3</a:t>
            </a:r>
          </a:p>
        </p:txBody>
      </p:sp>
      <p:sp>
        <p:nvSpPr>
          <p:cNvPr id="16" name="TextBox 15"/>
          <p:cNvSpPr txBox="1"/>
          <p:nvPr/>
        </p:nvSpPr>
        <p:spPr>
          <a:xfrm>
            <a:off x="786384" y="3705034"/>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Never share login, OTP, TPIN</a:t>
            </a:r>
          </a:p>
          <a:p>
            <a:pPr algn="l" marL="182880" indent="-182880">
              <a:lnSpc>
                <a:spcPct val="100000"/>
              </a:lnSpc>
              <a:spcAft>
                <a:spcPts val="405"/>
              </a:spcAft>
              <a:buClr>
                <a:srgbClr val="F0554E"/>
              </a:buClr>
              <a:buFont typeface="Arial"/>
              <a:buChar char="•"/>
            </a:pPr>
            <a:r>
              <a:rPr sz="1350" b="0" i="0">
                <a:solidFill>
                  <a:srgbClr val="18232F"/>
                </a:solidFill>
                <a:latin typeface="Segoe UI"/>
              </a:rPr>
              <a:t>Legal algo: broker plus Algo-ID</a:t>
            </a:r>
          </a:p>
          <a:p>
            <a:pPr algn="l" marL="182880" indent="-182880">
              <a:lnSpc>
                <a:spcPct val="100000"/>
              </a:lnSpc>
              <a:buClr>
                <a:srgbClr val="F0554E"/>
              </a:buClr>
              <a:buFont typeface="Arial"/>
              <a:buChar char="•"/>
            </a:pPr>
            <a:r>
              <a:rPr sz="1350" b="0" i="0">
                <a:solidFill>
                  <a:srgbClr val="18232F"/>
                </a:solidFill>
                <a:latin typeface="Segoe UI"/>
              </a:rPr>
              <a:t>Monthly-return promise = red flag</a:t>
            </a:r>
          </a:p>
        </p:txBody>
      </p:sp>
      <p:sp>
        <p:nvSpPr>
          <p:cNvPr id="17" name="Rounded Rectangle 16"/>
          <p:cNvSpPr/>
          <p:nvPr/>
        </p:nvSpPr>
        <p:spPr>
          <a:xfrm>
            <a:off x="640080" y="4736020"/>
            <a:ext cx="3718408" cy="1277874"/>
          </a:xfrm>
          <a:prstGeom prst="roundRect">
            <a:avLst>
              <a:gd name="adj" fmla="val 8586"/>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Process score</a:t>
            </a:r>
          </a:p>
        </p:txBody>
      </p:sp>
      <p:sp>
        <p:nvSpPr>
          <p:cNvPr id="19" name="TextBox 18"/>
          <p:cNvSpPr txBox="1"/>
          <p:nvPr/>
        </p:nvSpPr>
        <p:spPr>
          <a:xfrm>
            <a:off x="786384" y="5147500"/>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Paper profit earns 0 points</a:t>
            </a:r>
          </a:p>
          <a:p>
            <a:pPr algn="l" marL="182880" indent="-182880">
              <a:lnSpc>
                <a:spcPct val="100000"/>
              </a:lnSpc>
              <a:spcAft>
                <a:spcPts val="405"/>
              </a:spcAft>
              <a:buClr>
                <a:srgbClr val="16A34A"/>
              </a:buClr>
              <a:buFont typeface="Arial"/>
              <a:buChar char="•"/>
            </a:pPr>
            <a:r>
              <a:rPr sz="1350" b="0" i="0">
                <a:solidFill>
                  <a:srgbClr val="18232F"/>
                </a:solidFill>
                <a:latin typeface="Segoe UI"/>
              </a:rPr>
              <a:t>No-trade days count</a:t>
            </a:r>
          </a:p>
          <a:p>
            <a:pPr algn="l" marL="182880" indent="-182880">
              <a:lnSpc>
                <a:spcPct val="100000"/>
              </a:lnSpc>
              <a:buClr>
                <a:srgbClr val="16A34A"/>
              </a:buClr>
              <a:buFont typeface="Arial"/>
              <a:buChar char="•"/>
            </a:pPr>
            <a:r>
              <a:rPr sz="1350" b="0" i="0">
                <a:solidFill>
                  <a:srgbClr val="18232F"/>
                </a:solidFill>
                <a:latin typeface="Segoe UI"/>
              </a:rPr>
              <a:t>5 habits, one check-in date</a:t>
            </a:r>
          </a:p>
        </p:txBody>
      </p:sp>
      <p:sp>
        <p:nvSpPr>
          <p:cNvPr id="20" name="Rounded Rectangle 19"/>
          <p:cNvSpPr/>
          <p:nvPr/>
        </p:nvSpPr>
        <p:spPr>
          <a:xfrm>
            <a:off x="7833208" y="1336738"/>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46467"/>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Certificate</a:t>
            </a:r>
          </a:p>
        </p:txBody>
      </p:sp>
      <p:sp>
        <p:nvSpPr>
          <p:cNvPr id="22" name="TextBox 21"/>
          <p:cNvSpPr txBox="1"/>
          <p:nvPr/>
        </p:nvSpPr>
        <p:spPr>
          <a:xfrm>
            <a:off x="7979512"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Six checks, none about profit</a:t>
            </a:r>
          </a:p>
          <a:p>
            <a:pPr algn="l" marL="182880" indent="-182880">
              <a:lnSpc>
                <a:spcPct val="100000"/>
              </a:lnSpc>
              <a:spcAft>
                <a:spcPts val="405"/>
              </a:spcAft>
              <a:buClr>
                <a:srgbClr val="F5A524"/>
              </a:buClr>
              <a:buFont typeface="Arial"/>
              <a:buChar char="•"/>
            </a:pPr>
            <a:r>
              <a:rPr sz="1350" b="0" i="0">
                <a:solidFill>
                  <a:srgbClr val="18232F"/>
                </a:solidFill>
                <a:latin typeface="Segoe UI"/>
              </a:rPr>
              <a:t>5 Portfolio rows, C or better</a:t>
            </a:r>
          </a:p>
          <a:p>
            <a:pPr algn="l" marL="182880" indent="-182880">
              <a:lnSpc>
                <a:spcPct val="100000"/>
              </a:lnSpc>
              <a:spcAft>
                <a:spcPts val="405"/>
              </a:spcAft>
              <a:buClr>
                <a:srgbClr val="F5A524"/>
              </a:buClr>
              <a:buFont typeface="Arial"/>
              <a:buChar char="•"/>
            </a:pPr>
            <a:r>
              <a:rPr sz="1350" b="0" i="0">
                <a:solidFill>
                  <a:srgbClr val="18232F"/>
                </a:solidFill>
                <a:latin typeface="Segoe UI"/>
              </a:rPr>
              <a:t>Not SEBI/NISM, not a licence</a:t>
            </a:r>
          </a:p>
          <a:p>
            <a:pPr algn="l" marL="182880" indent="-182880">
              <a:lnSpc>
                <a:spcPct val="100000"/>
              </a:lnSpc>
              <a:buClr>
                <a:srgbClr val="F5A524"/>
              </a:buClr>
              <a:buFont typeface="Arial"/>
              <a:buChar char="•"/>
            </a:pPr>
            <a:r>
              <a:rPr sz="1350" b="0" i="0">
                <a:solidFill>
                  <a:srgbClr val="18232F"/>
                </a:solidFill>
                <a:latin typeface="Segoe UI"/>
              </a:rPr>
              <a:t>Missed one? 7-day catch-up</a:t>
            </a:r>
          </a:p>
        </p:txBody>
      </p:sp>
      <p:sp>
        <p:nvSpPr>
          <p:cNvPr id="23" name="Rounded Rectangle 22"/>
          <p:cNvSpPr/>
          <p:nvPr/>
        </p:nvSpPr>
        <p:spPr>
          <a:xfrm>
            <a:off x="7833208" y="3036379"/>
            <a:ext cx="3718408" cy="1535049"/>
          </a:xfrm>
          <a:prstGeom prst="roundRect">
            <a:avLst>
              <a:gd name="adj" fmla="val 7148"/>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146108"/>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Not yet</a:t>
            </a:r>
          </a:p>
        </p:txBody>
      </p:sp>
      <p:sp>
        <p:nvSpPr>
          <p:cNvPr id="25" name="TextBox 24"/>
          <p:cNvSpPr txBox="1"/>
          <p:nvPr/>
        </p:nvSpPr>
        <p:spPr>
          <a:xfrm>
            <a:off x="7979512"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4 more weeks of routine</a:t>
            </a:r>
          </a:p>
          <a:p>
            <a:pPr algn="l" marL="182880" indent="-182880">
              <a:lnSpc>
                <a:spcPct val="100000"/>
              </a:lnSpc>
              <a:spcAft>
                <a:spcPts val="405"/>
              </a:spcAft>
              <a:buClr>
                <a:srgbClr val="F0554E"/>
              </a:buClr>
              <a:buFont typeface="Arial"/>
              <a:buChar char="•"/>
            </a:pPr>
            <a:r>
              <a:rPr sz="1350" b="0" i="0">
                <a:solidFill>
                  <a:srgbClr val="18232F"/>
                </a:solidFill>
                <a:latin typeface="Segoe UI"/>
              </a:rPr>
              <a:t>About 100 trades, same rules</a:t>
            </a:r>
          </a:p>
          <a:p>
            <a:pPr algn="l" marL="182880" indent="-182880">
              <a:lnSpc>
                <a:spcPct val="100000"/>
              </a:lnSpc>
              <a:spcAft>
                <a:spcPts val="405"/>
              </a:spcAft>
              <a:buClr>
                <a:srgbClr val="F0554E"/>
              </a:buClr>
              <a:buFont typeface="Arial"/>
              <a:buChar char="•"/>
            </a:pPr>
            <a:r>
              <a:rPr sz="1350" b="0" i="0">
                <a:solidFill>
                  <a:srgbClr val="18232F"/>
                </a:solidFill>
                <a:latin typeface="Segoe UI"/>
              </a:rPr>
              <a:t>Emergency fund; never borrowed money</a:t>
            </a:r>
          </a:p>
          <a:p>
            <a:pPr algn="l" marL="182880" indent="-182880">
              <a:lnSpc>
                <a:spcPct val="100000"/>
              </a:lnSpc>
              <a:buClr>
                <a:srgbClr val="F0554E"/>
              </a:buClr>
              <a:buFont typeface="Arial"/>
              <a:buChar char="•"/>
            </a:pPr>
            <a:r>
              <a:rPr sz="1350" b="0" i="0">
                <a:solidFill>
                  <a:srgbClr val="18232F"/>
                </a:solidFill>
                <a:latin typeface="Segoe UI"/>
              </a:rPr>
              <a:t>F&amp;O: samjho, khelo mat</a:t>
            </a:r>
          </a:p>
        </p:txBody>
      </p:sp>
      <p:sp>
        <p:nvSpPr>
          <p:cNvPr id="26" name="Rounded Rectangle 25"/>
          <p:cNvSpPr/>
          <p:nvPr/>
        </p:nvSpPr>
        <p:spPr>
          <a:xfrm>
            <a:off x="7833208" y="4736020"/>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45748"/>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Next step</a:t>
            </a:r>
          </a:p>
        </p:txBody>
      </p:sp>
      <p:sp>
        <p:nvSpPr>
          <p:cNvPr id="28" name="TextBox 27"/>
          <p:cNvSpPr txBox="1"/>
          <p:nvPr/>
        </p:nvSpPr>
        <p:spPr>
          <a:xfrm>
            <a:off x="7979512"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Stage 2: CIRCLE W.I.N.N.E.R.S</a:t>
            </a:r>
          </a:p>
          <a:p>
            <a:pPr algn="l" marL="182880" indent="-182880">
              <a:lnSpc>
                <a:spcPct val="100000"/>
              </a:lnSpc>
              <a:spcAft>
                <a:spcPts val="405"/>
              </a:spcAft>
              <a:buClr>
                <a:srgbClr val="0093D6"/>
              </a:buClr>
              <a:buFont typeface="Arial"/>
              <a:buChar char="•"/>
            </a:pPr>
            <a:r>
              <a:rPr sz="1350" b="0" i="0">
                <a:solidFill>
                  <a:srgbClr val="18232F"/>
                </a:solidFill>
                <a:latin typeface="Segoe UI"/>
              </a:rPr>
              <a:t>A short recap, then deeper</a:t>
            </a:r>
          </a:p>
          <a:p>
            <a:pPr algn="l" marL="182880" indent="-182880">
              <a:lnSpc>
                <a:spcPct val="100000"/>
              </a:lnSpc>
              <a:spcAft>
                <a:spcPts val="405"/>
              </a:spcAft>
              <a:buClr>
                <a:srgbClr val="0093D6"/>
              </a:buClr>
              <a:buFont typeface="Arial"/>
              <a:buChar char="•"/>
            </a:pPr>
            <a:r>
              <a:rPr sz="1350" b="0" i="0">
                <a:solidFill>
                  <a:srgbClr val="18232F"/>
                </a:solidFill>
                <a:latin typeface="Segoe UI"/>
              </a:rPr>
              <a:t>An AI Lab in every chapter</a:t>
            </a:r>
          </a:p>
          <a:p>
            <a:pPr algn="l" marL="182880" indent="-182880">
              <a:lnSpc>
                <a:spcPct val="100000"/>
              </a:lnSpc>
              <a:buClr>
                <a:srgbClr val="0093D6"/>
              </a:buClr>
              <a:buFont typeface="Arial"/>
              <a:buChar char="•"/>
            </a:pPr>
            <a:r>
              <a:rPr sz="1350" b="0" i="0">
                <a:solidFill>
                  <a:srgbClr val="18232F"/>
                </a:solidFill>
                <a:latin typeface="Segoe UI"/>
              </a:rPr>
              <a:t>Your mentor opens it after Stage 1</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60 min</a:t>
            </a:r>
          </a:p>
        </p:txBody>
      </p:sp>
      <p:sp>
        <p:nvSpPr>
          <p:cNvPr id="5" name="TextBox 4"/>
          <p:cNvSpPr txBox="1"/>
          <p:nvPr/>
        </p:nvSpPr>
        <p:spPr>
          <a:xfrm>
            <a:off x="457200" y="1335024"/>
            <a:ext cx="11277295" cy="539496"/>
          </a:xfrm>
          <a:prstGeom prst="rect">
            <a:avLst/>
          </a:prstGeom>
          <a:noFill/>
        </p:spPr>
        <p:txBody>
          <a:bodyPr wrap="square" lIns="0" rIns="0" tIns="0" bIns="0" anchor="t">
            <a:noAutofit/>
          </a:bodyPr>
          <a:lstStyle/>
          <a:p>
            <a:pPr algn="l">
              <a:lnSpc>
                <a:spcPct val="100000"/>
              </a:lnSpc>
            </a:pPr>
            <a:r>
              <a:rPr sz="1650" b="1" i="0">
                <a:solidFill>
                  <a:srgbClr val="18232F"/>
                </a:solidFill>
                <a:latin typeface="Segoe UI"/>
              </a:rPr>
              <a:t>Close Stage 1 properly: review your journal since Day 12 with AI, write five habits with a check-in date, check the six certificate checks and add a Portfolio row if you need one, then take Quiz Game 3 and the final exam.</a:t>
            </a:r>
          </a:p>
        </p:txBody>
      </p:sp>
      <p:sp>
        <p:nvSpPr>
          <p:cNvPr id="6" name="Rounded Rectangle 5"/>
          <p:cNvSpPr/>
          <p:nvPr/>
        </p:nvSpPr>
        <p:spPr>
          <a:xfrm>
            <a:off x="457200" y="20208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305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1</a:t>
            </a:r>
          </a:p>
        </p:txBody>
      </p:sp>
      <p:sp>
        <p:nvSpPr>
          <p:cNvPr id="8" name="Rounded Rectangle 7"/>
          <p:cNvSpPr/>
          <p:nvPr/>
        </p:nvSpPr>
        <p:spPr>
          <a:xfrm>
            <a:off x="11332159" y="21488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214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your journal entries since Day 12 into one note, and delete every personal name, PAN, client ID and account detail.</a:t>
            </a:r>
          </a:p>
        </p:txBody>
      </p:sp>
      <p:sp>
        <p:nvSpPr>
          <p:cNvPr id="10" name="Rounded Rectangle 9"/>
          <p:cNvSpPr/>
          <p:nvPr/>
        </p:nvSpPr>
        <p:spPr>
          <a:xfrm>
            <a:off x="457200" y="280111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1084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2</a:t>
            </a:r>
          </a:p>
        </p:txBody>
      </p:sp>
      <p:sp>
        <p:nvSpPr>
          <p:cNvPr id="12" name="Rounded Rectangle 11"/>
          <p:cNvSpPr/>
          <p:nvPr/>
        </p:nvSpPr>
        <p:spPr>
          <a:xfrm>
            <a:off x="11332159" y="29291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0169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'Final journal review' on that note, and tick each count only after checking it against your journal.</a:t>
            </a:r>
          </a:p>
        </p:txBody>
      </p:sp>
      <p:sp>
        <p:nvSpPr>
          <p:cNvPr id="14" name="Rounded Rectangle 13"/>
          <p:cNvSpPr/>
          <p:nvPr/>
        </p:nvSpPr>
        <p:spPr>
          <a:xfrm>
            <a:off x="457200" y="358140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69112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3</a:t>
            </a:r>
          </a:p>
        </p:txBody>
      </p:sp>
      <p:sp>
        <p:nvSpPr>
          <p:cNvPr id="16" name="Rounded Rectangle 15"/>
          <p:cNvSpPr/>
          <p:nvPr/>
        </p:nvSpPr>
        <p:spPr>
          <a:xfrm>
            <a:off x="11332159" y="37094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68198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today's journal, choose 'Weekly review' and write your Week 3 review: start with the 'Your four numbers' card from your Day 17 backtest (win-rate, expectancy, maximum drawdown, longest losing streak; if the test is not finished, write how many of the 30 trades are done), end with your five habits, and set a phone reminder four weeks from today called 'Check my five habits'.</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the certificate page and write down each check that is still open, with the one action it needs. If your Day 7 or Day 14 weekly review is missing, open that day from your Path, choose 'Weekly review' and write it now; you have a 7-day catch-up window for anything still open.</a:t>
            </a:r>
          </a:p>
        </p:txBody>
      </p:sp>
      <p:sp>
        <p:nvSpPr>
          <p:cNvPr id="9" name="Rounded Rectangle 8"/>
          <p:cNvSpPr/>
          <p:nvPr/>
        </p:nvSpPr>
        <p:spPr>
          <a:xfrm>
            <a:off x="457200" y="235915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the Portfolio page and count the rows marked Complete; the certificate needs five, each with all seven parts. Check one of your rows against Priya's model row and the grading guide in today's task and fix its weakest part. If you have fewer than five, fill one more now, in virtual money only, and add the rest within the catch-up window; your mentor grades each one.</a:t>
            </a:r>
          </a:p>
        </p:txBody>
      </p:sp>
      <p:sp>
        <p:nvSpPr>
          <p:cNvPr id="13" name="Rounded Rectangle 12"/>
          <p:cNvSpPr/>
          <p:nvPr/>
        </p:nvSpPr>
        <p:spPr>
          <a:xfrm>
            <a:off x="457200" y="362712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0B1B33"/>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Submit today's quiz first, so all 21 days are complete. Then take Quiz Game 3 (15 questions, 30 minutes), take a break, and sit the final exam (30 questions, 60 minutes) when you are fresh, today or tomorrow. None of these is part of the minutes above.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run one stock through all of Week 3's rules, spot a 'we trade for you' offer, score your own paper trading since Day 12 on process, list the six certificate checks, grade a Portfolio row against the A/C/D guide, name the Stage 2 chapter that takes each Stage 1 skill further, and explain why finishing a course is not the same as being ready for real money.</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Priya's Portfolio row: Kiran Foods Ltd (model)</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Virtual money only; the company and prices are made up. A row is a plan and a reason, never a tip: do not share it as one.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6" cy="4251960"/>
        </p:xfrm>
        <a:graphic>
          <a:graphicData uri="http://schemas.openxmlformats.org/drawingml/2006/table">
            <a:tbl>
              <a:tblPr firstRow="1">
                <a:tableStyleId>{5C22544A-7EE6-4342-B048-85BDC9FD1C3A}</a:tableStyleId>
              </a:tblPr>
              <a:tblGrid>
                <a:gridCol w="1498353"/>
                <a:gridCol w="9413183"/>
              </a:tblGrid>
              <a:tr h="482346">
                <a:tc>
                  <a:txBody>
                    <a:bodyPr wrap="square"/>
                    <a:lstStyle/>
                    <a:p>
                      <a:pPr algn="l"/>
                      <a:r>
                        <a:rPr sz="1500" b="1" i="0">
                          <a:solidFill>
                            <a:srgbClr val="FFFFFF"/>
                          </a:solidFill>
                          <a:latin typeface="Segoe UI"/>
                        </a:rPr>
                        <a:t>Part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Priya's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01802">
                <a:tc>
                  <a:txBody>
                    <a:bodyPr wrap="square"/>
                    <a:lstStyle/>
                    <a:p>
                      <a:pPr algn="l"/>
                      <a:r>
                        <a:rPr sz="1500" b="0" i="0">
                          <a:solidFill>
                            <a:srgbClr val="18232F"/>
                          </a:solidFill>
                          <a:latin typeface="Segoe UI"/>
                        </a:rPr>
                        <a:t>Full Why 1 (business)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Passed all five Day 15 health checks: sales up over three years, margin steady, D/E below 1, no pledge, cash close to profit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01802">
                <a:tc>
                  <a:txBody>
                    <a:bodyPr wrap="square"/>
                    <a:lstStyle/>
                    <a:p>
                      <a:pPr algn="l"/>
                      <a:r>
                        <a:rPr sz="1500" b="0" i="0">
                          <a:solidFill>
                            <a:srgbClr val="18232F"/>
                          </a:solidFill>
                          <a:latin typeface="Segoe UI"/>
                        </a:rPr>
                        <a:t>Full Why 2 (independent)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Every Day 16 chart box (3 to 5) says yes: EMA 20 above a rising EMA 50, close above yesterday's high, beat NIFTY 50 over 3 months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l"/>
                      <a:r>
                        <a:rPr sz="1500" b="0" i="0">
                          <a:solidFill>
                            <a:srgbClr val="18232F"/>
                          </a:solidFill>
                          <a:latin typeface="Segoe UI"/>
                        </a:rPr>
                        <a:t>Top risk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Results in 3 trading days: a gap can turn 1R into 2R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l"/>
                      <a:r>
                        <a:rPr sz="1500" b="0" i="0">
                          <a:solidFill>
                            <a:srgbClr val="18232F"/>
                          </a:solidFill>
                          <a:latin typeface="Segoe UI"/>
                        </a:rPr>
                        <a:t>Her answer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 entry until results are out (Day 11 card); logged 'Skipped: results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l"/>
                      <a:r>
                        <a:rPr sz="1500" b="0" i="0">
                          <a:solidFill>
                            <a:srgbClr val="18232F"/>
                          </a:solidFill>
                          <a:latin typeface="Segoe UI"/>
                        </a:rPr>
                        <a:t>Price-stop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452: 1.5 x an ATR of Rs 12 below the Rs 470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l"/>
                      <a:r>
                        <a:rPr sz="1500" b="0" i="0">
                          <a:solidFill>
                            <a:srgbClr val="18232F"/>
                          </a:solidFill>
                          <a:latin typeface="Segoe UI"/>
                        </a:rPr>
                        <a:t>Why-stop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Sales fall two quarters in a row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l"/>
                      <a:r>
                        <a:rPr sz="1500" b="0" i="0">
                          <a:solidFill>
                            <a:srgbClr val="18232F"/>
                          </a:solidFill>
                          <a:latin typeface="Segoe UI"/>
                        </a:rPr>
                        <a:t>Review point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The evening after results: re-run the health card and the flowchart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How a row is graded: A, C and 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B sits between A and C. A row graded D or below does not count yet: fix the weak part and ask your mentor to grade it again. Profit never changes a grade.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05072"/>
        </p:xfrm>
        <a:graphic>
          <a:graphicData uri="http://schemas.openxmlformats.org/drawingml/2006/table">
            <a:tbl>
              <a:tblPr firstRow="1">
                <a:tableStyleId>{5C22544A-7EE6-4342-B048-85BDC9FD1C3A}</a:tableStyleId>
              </a:tblPr>
              <a:tblGrid>
                <a:gridCol w="737600"/>
                <a:gridCol w="8688770"/>
                <a:gridCol w="1485165"/>
              </a:tblGrid>
              <a:tr h="950976">
                <a:tc>
                  <a:txBody>
                    <a:bodyPr wrap="square"/>
                    <a:lstStyle/>
                    <a:p>
                      <a:pPr algn="l"/>
                      <a:r>
                        <a:rPr sz="1500" b="1" i="0">
                          <a:solidFill>
                            <a:srgbClr val="FFFFFF"/>
                          </a:solidFill>
                          <a:latin typeface="Segoe UI"/>
                        </a:rPr>
                        <a:t>Grade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the row shows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The two Whys, for example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1170432">
                <a:tc>
                  <a:txBody>
                    <a:bodyPr wrap="square"/>
                    <a:lstStyle/>
                    <a:p>
                      <a:pPr algn="l"/>
                      <a:r>
                        <a:rPr sz="1500" b="0" i="0">
                          <a:solidFill>
                            <a:srgbClr val="18232F"/>
                          </a:solidFill>
                          <a:latin typeface="Segoe UI"/>
                        </a:rPr>
                        <a: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All seven parts. Two specific Whys that do not lean on each other, a price-stop in rupees, a testable Why-stop, and a review date or trigger.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'Health card 5/5' and 'chart boxes all yes, beat NIFTY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41832">
                <a:tc>
                  <a:txBody>
                    <a:bodyPr wrap="square"/>
                    <a:lstStyle/>
                    <a:p>
                      <a:pPr algn="l"/>
                      <a:r>
                        <a:rPr sz="1500" b="0" i="0">
                          <a:solidFill>
                            <a:srgbClr val="18232F"/>
                          </a:solidFill>
                          <a:latin typeface="Segoe UI"/>
                        </a:rPr>
                        <a:t>C</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All seven parts filled, but one is vague: Why 2 repeats Why 1, the Why-stop cannot be tested, or the review point just says 'later'.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'Health card 5/5' and 'good company'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41832">
                <a:tc>
                  <a:txBody>
                    <a:bodyPr wrap="square"/>
                    <a:lstStyle/>
                    <a:p>
                      <a:pPr algn="l"/>
                      <a:r>
                        <a:rPr sz="1500" b="0" i="0">
                          <a:solidFill>
                            <a:srgbClr val="18232F"/>
                          </a:solidFill>
                          <a:latin typeface="Segoe UI"/>
                        </a:rPr>
                        <a: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 part is missing or copied, a tip or 'everyone is buying' is used as a Why, or there is no Why-stop.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 friend's tip' and 'it will rise after results'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From Stage 1 to Stage 2: your skill map</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Stage 2 opens each chapter with a short recap of the Stage 1 day and then goes deeper, so nothing here is taught twice. Your mentor opens Stage 2 once Stage 1 is complete.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57"/>
        </p:xfrm>
        <a:graphic>
          <a:graphicData uri="http://schemas.openxmlformats.org/drawingml/2006/table">
            <a:tbl>
              <a:tblPr firstRow="1">
                <a:tableStyleId>{5C22544A-7EE6-4342-B048-85BDC9FD1C3A}</a:tableStyleId>
              </a:tblPr>
              <a:tblGrid>
                <a:gridCol w="2938916"/>
                <a:gridCol w="2740864"/>
                <a:gridCol w="5231755"/>
              </a:tblGrid>
              <a:tr h="299381">
                <a:tc>
                  <a:txBody>
                    <a:bodyPr wrap="square"/>
                    <a:lstStyle/>
                    <a:p>
                      <a:pPr algn="l"/>
                      <a:r>
                        <a:rPr sz="1150" b="1" i="0">
                          <a:solidFill>
                            <a:srgbClr val="FFFFFF"/>
                          </a:solidFill>
                          <a:latin typeface="Segoe UI"/>
                        </a:rPr>
                        <a:t>Stage 1 gave you</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50" b="1" i="0">
                          <a:solidFill>
                            <a:srgbClr val="FFFFFF"/>
                          </a:solidFill>
                          <a:latin typeface="Segoe UI"/>
                        </a:rPr>
                        <a:t>Stage 2 chapter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50" b="1" i="0">
                          <a:solidFill>
                            <a:srgbClr val="FFFFFF"/>
                          </a:solidFill>
                          <a:latin typeface="Segoe UI"/>
                        </a:rPr>
                        <a:t>What is new there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65497">
                <a:tc>
                  <a:txBody>
                    <a:bodyPr wrap="square"/>
                    <a:lstStyle/>
                    <a:p>
                      <a:pPr algn="l"/>
                      <a:r>
                        <a:rPr sz="1150" b="0" i="0">
                          <a:solidFill>
                            <a:srgbClr val="18232F"/>
                          </a:solidFill>
                          <a:latin typeface="Segoe UI"/>
                        </a:rPr>
                        <a:t>Market basics, orders, costs, tax heads (Days 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Ch1 Paisa &amp; Economy; Ch2 Markets &amp; Taxation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How money and the economy move markets; tax in depth, with dated figures to 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5497">
                <a:tc>
                  <a:txBody>
                    <a:bodyPr wrap="square"/>
                    <a:lstStyle/>
                    <a:p>
                      <a:pPr algn="l"/>
                      <a:r>
                        <a:rPr sz="1150" b="0" i="0">
                          <a:solidFill>
                            <a:srgbClr val="18232F"/>
                          </a:solidFill>
                          <a:latin typeface="Segoe UI"/>
                        </a:rPr>
                        <a:t>Candles and volume (Days 5-6)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Ch3 Candles by Numbers; Ch4 Candlestick Patterns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Candles measured: body and wick %, size in ATR, relative volume; patterns tested by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5497">
                <a:tc>
                  <a:txBody>
                    <a:bodyPr wrap="square"/>
                    <a:lstStyle/>
                    <a:p>
                      <a:pPr algn="l"/>
                      <a:r>
                        <a:rPr sz="1150" b="0" i="0">
                          <a:solidFill>
                            <a:srgbClr val="18232F"/>
                          </a:solidFill>
                          <a:latin typeface="Segoe UI"/>
                        </a:rPr>
                        <a:t>Trend, support, resistance, gaps (Day 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Ch5 Chart Patterns; Ch6 Elliott Wave &amp; Harmonics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Bigger chart shapes and wave counts, with written rules for when they fail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5497">
                <a:tc>
                  <a:txBody>
                    <a:bodyPr wrap="square"/>
                    <a:lstStyle/>
                    <a:p>
                      <a:pPr algn="l"/>
                      <a:r>
                        <a:rPr sz="1150" b="0" i="0">
                          <a:solidFill>
                            <a:srgbClr val="18232F"/>
                          </a:solidFill>
                          <a:latin typeface="Segoe UI"/>
                        </a:rPr>
                        <a:t>Health check, corporate actions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Ch7 Stock Investing; Ch8 Reading the Numbers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Full financial statements, well beyond five checks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5497">
                <a:tc>
                  <a:txBody>
                    <a:bodyPr wrap="square"/>
                    <a:lstStyle/>
                    <a:p>
                      <a:pPr algn="l"/>
                      <a:r>
                        <a:rPr sz="1150" b="0" i="0">
                          <a:solidFill>
                            <a:srgbClr val="18232F"/>
                          </a:solidFill>
                          <a:latin typeface="Segoe UI"/>
                        </a:rPr>
                        <a:t>F&amp;O basics: samjho, khelo mat (Day 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Ch9 Basic Options to Ch12 Futures in Practice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Expiry mechanics, Greeks, strategies, futures: explained in depth, never as a call to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5497">
                <a:tc>
                  <a:txBody>
                    <a:bodyPr wrap="square"/>
                    <a:lstStyle/>
                    <a:p>
                      <a:pPr algn="l"/>
                      <a:r>
                        <a:rPr sz="1150" b="0" i="0">
                          <a:solidFill>
                            <a:srgbClr val="18232F"/>
                          </a:solidFill>
                          <a:latin typeface="Segoe UI"/>
                        </a:rPr>
                        <a:t>Risk, sizing, psychology (Days 3, 9, 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Ch13 Risk Management &amp; Trading Psychology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Deeper risk and mind work, building on your 1% starter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5497">
                <a:tc>
                  <a:txBody>
                    <a:bodyPr wrap="square"/>
                    <a:lstStyle/>
                    <a:p>
                      <a:pPr algn="l"/>
                      <a:r>
                        <a:rPr sz="1150" b="0" i="0">
                          <a:solidFill>
                            <a:srgbClr val="18232F"/>
                          </a:solidFill>
                          <a:latin typeface="Segoe UI"/>
                        </a:rPr>
                        <a:t>AI co-pilot, flowchart, hand backtest (Days 4, 16, 17)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The AI Lab at the end of every chapter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About six prompts a chapter, one at algo level; AI stays the analyst, you stay the trigger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65497">
                <a:tc>
                  <a:txBody>
                    <a:bodyPr wrap="square"/>
                    <a:lstStyle/>
                    <a:p>
                      <a:pPr algn="l"/>
                      <a:r>
                        <a:rPr sz="1150" b="0" i="0">
                          <a:solidFill>
                            <a:srgbClr val="18232F"/>
                          </a:solidFill>
                          <a:latin typeface="Segoe UI"/>
                        </a:rPr>
                        <a:t>Journal, event calendar, Routine Card (Days 12, 19, 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Every chapter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Not taught again: keep them running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Convocation, opt-in and with no numbers</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Each learner reads one line from their Day 1 journal next to one line from today's.</a:t>
            </a:r>
          </a:p>
          <a:p>
            <a:pPr algn="l">
              <a:lnSpc>
                <a:spcPct val="100000"/>
              </a:lnSpc>
              <a:spcAft>
                <a:spcPts val="700"/>
              </a:spcAft>
            </a:pPr>
            <a:r>
              <a:rPr sz="2000" b="0" i="0">
                <a:solidFill>
                  <a:srgbClr val="18232F"/>
                </a:solidFill>
                <a:latin typeface="Segoe UI"/>
              </a:rPr>
              <a:t>Then play 'Which day busted it?': one person reads an old belief, such as 'a stop-loss fixes my exit price', 'an AI answer is a fact' or 'a certificate means I am ready', and whoever first names the day that corrected it reads the next one.</a:t>
            </a:r>
          </a:p>
          <a:p>
            <a:pPr algn="l">
              <a:lnSpc>
                <a:spcPct val="100000"/>
              </a:lnSpc>
              <a:spcAft>
                <a:spcPts val="700"/>
              </a:spcAft>
            </a:pPr>
            <a:r>
              <a:rPr sz="2000" b="0" i="0">
                <a:solidFill>
                  <a:srgbClr val="18232F"/>
                </a:solidFill>
                <a:latin typeface="Segoe UI"/>
              </a:rPr>
              <a:t>If your cohort gives awards, they go by process only: Discipline, Best Journal, and Best Screener, judged on how cleanly rules became screener conditions, never on whether its picks rose.</a:t>
            </a:r>
          </a:p>
          <a:p>
            <a:pPr algn="l">
              <a:lnSpc>
                <a:spcPct val="100000"/>
              </a:lnSpc>
            </a:pPr>
            <a:r>
              <a:rPr sz="2000" b="0" i="0">
                <a:solidFill>
                  <a:srgbClr val="18232F"/>
                </a:solidFill>
                <a:latin typeface="Segoe UI"/>
              </a:rPr>
              <a:t>Alone? Write a five-line letter to your Day 1 self and reopen it on your check-in date.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Final journal review: AI counts, you choose the habits</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Final journal review</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my paper-trade journal rows since I started paper trading (about ten days), with all personal details removed: date, stock (I may replace names with Stock A, Stock B), setup, whether each rule was followed, emotion tag and notes, plus the days I took no trade.”</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'We trade for you' offer check</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received a message offering copy-trading, 'account handling' or an automatic algo that would trade in my account for a monthly fee or a profit share.”</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Ready or not yet</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“Ask me 8 short questions, one at a time, about: how many weeks I have followed a written daily routine, how many trades I have logged on the same frozen rules (backtest and paper together), my adherence on losing days, whether I have an emergency fund, whether any money I might use is borrowed, whether I understand contract notes and the basic tax heads, how I behaved during my worst losing streak, and who I would talk to before …”</a:t>
            </a:r>
          </a:p>
        </p:txBody>
      </p:sp>
      <p:sp>
        <p:nvSpPr>
          <p:cNvPr id="19" name="Oval 18"/>
          <p:cNvSpPr/>
          <p:nvPr/>
        </p:nvSpPr>
        <p:spPr>
          <a:xfrm>
            <a:off x="457200"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QUESTION 1/5</a:t>
            </a:r>
          </a:p>
        </p:txBody>
      </p:sp>
      <p:sp>
        <p:nvSpPr>
          <p:cNvPr id="3" name="TextBox 2"/>
          <p:cNvSpPr txBox="1"/>
          <p:nvPr/>
        </p:nvSpPr>
        <p:spPr>
          <a:xfrm>
            <a:off x="457200" y="640080"/>
            <a:ext cx="11277295" cy="1760220"/>
          </a:xfrm>
          <a:prstGeom prst="rect">
            <a:avLst/>
          </a:prstGeom>
          <a:noFill/>
        </p:spPr>
        <p:txBody>
          <a:bodyPr wrap="square" lIns="0" rIns="0" tIns="0" bIns="0" anchor="t">
            <a:noAutofit/>
          </a:bodyPr>
          <a:lstStyle/>
          <a:p>
            <a:pPr algn="l">
              <a:lnSpc>
                <a:spcPct val="100000"/>
              </a:lnSpc>
            </a:pPr>
            <a:r>
              <a:rPr sz="2250" b="1" i="0">
                <a:solidFill>
                  <a:srgbClr val="18232F"/>
                </a:solidFill>
                <a:latin typeface="Segoe UI"/>
              </a:rPr>
              <a:t>At 7 pm, Priya's EMA Pullback rule gives a valid setup on Bharat Pumps Ltd, every chart box in her flowchart says yes, and her backtest showed a positive edge. Her written no-trade rule, from her Day 11 card, says: no new swing entry if the company's results fall within the next 15 trading days. Results are due in 2 trading days. What does her system say?</a:t>
            </a:r>
          </a:p>
        </p:txBody>
      </p:sp>
      <p:sp>
        <p:nvSpPr>
          <p:cNvPr id="4" name="Rounded Rectangle 3"/>
          <p:cNvSpPr/>
          <p:nvPr/>
        </p:nvSpPr>
        <p:spPr>
          <a:xfrm>
            <a:off x="457200" y="262890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78434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83311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 trade: the calendar rule overrides the setup</a:t>
            </a:r>
          </a:p>
        </p:txBody>
      </p:sp>
      <p:sp>
        <p:nvSpPr>
          <p:cNvPr id="7" name="Rounded Rectangle 6"/>
          <p:cNvSpPr/>
          <p:nvPr/>
        </p:nvSpPr>
        <p:spPr>
          <a:xfrm>
            <a:off x="457200" y="347014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62559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67436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Enter now and plan to exit just before results</a:t>
            </a:r>
          </a:p>
        </p:txBody>
      </p:sp>
      <p:sp>
        <p:nvSpPr>
          <p:cNvPr id="10" name="Rounded Rectangle 9"/>
          <p:cNvSpPr/>
          <p:nvPr/>
        </p:nvSpPr>
        <p:spPr>
          <a:xfrm>
            <a:off x="457200" y="431139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46684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51561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Enter with half the usual size, to be careful</a:t>
            </a:r>
          </a:p>
        </p:txBody>
      </p:sp>
      <p:sp>
        <p:nvSpPr>
          <p:cNvPr id="13" name="Rounded Rectangle 12"/>
          <p:cNvSpPr/>
          <p:nvPr/>
        </p:nvSpPr>
        <p:spPr>
          <a:xfrm>
            <a:off x="457200" y="515264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30809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35686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Enter, since her backtest showed a positive edge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QUESTION 2/5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Since paper trading began, a learner took 10 paper trades: 8 followed every rule and 2 broke one, though both of those made money. On 6 other days there was no setup, and she correctly stayed out. What is her adherence score?</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cannot be scored before 30 trades</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88%, counting no-trade days as decisions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80%, counting only the trades she took</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100%, because both rule breaks made money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message offers Aman a 'fully automatic algo' that trades options in his account for a 30% profit share. It needs his login ID and a one-time OTP, and it names no broker, Algo-ID or registration. What should he do?</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Share nothing, check sebi.gov.in and report it</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Share the OTP once and change the password after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Ask for a free trial month before sharing anything</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Try it with a small amount first, then decide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learner passes the final exam with a Distinction. Her paper account shows +Rs 38,000 from 12 trades since Day 12, and 5 of those trades broke a rule. What is the most accurate reading?</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She knows the basics, but 12 trades prove little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She is ready to start with a small real amount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Her rules are proven by a strong exam and profit</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She should move to F&amp;O now that cash is mastered</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Someone skips the 'not yet' list, and a bad month takes 20% of Rs 5,00,000, leaving Rs 4,00,000. What gain on Rs 4,00,000 is needed just to get back to Rs 5,00,000?</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20%, the same percentage as the loss itself</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25%: Rs 1,00,000 back on a smaller base of Rs 4,00,000</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40%, because a recovery takes double the fall</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FEF1DA"/>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92400E"/>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16%, since a smaller base makes it easier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DAY 21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Finale: Week 3 review, your certificate and the road to Stage 2</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prices and paper results in this lesson are made up for illustration; paper and backtest results are hypothetical. Stage 1 uses virtual money only and places no automated or F&amp;O orders. The course certificate certifies completion only; it is not a SEBI or NISM certification, confers no licence to advise, and is not a signal to trade with real money. Past performance is not indicative of future results.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92400E"/>
                </a:solidFill>
                <a:latin typeface="Segoe UI"/>
              </a:rPr>
              <a:t>JOURNAL, TONIGHT</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Read your Day 1 journal entry again. What did you believe about the market then that you no longer believe? And which of your five habits will be hardest to keep in the next four weeks, and why?</a:t>
            </a:r>
          </a:p>
        </p:txBody>
      </p:sp>
      <p:sp>
        <p:nvSpPr>
          <p:cNvPr id="8" name="Rounded Rectangle 7"/>
          <p:cNvSpPr/>
          <p:nvPr/>
        </p:nvSpPr>
        <p:spPr>
          <a:xfrm>
            <a:off x="6233008" y="1335024"/>
            <a:ext cx="5501488" cy="3863340"/>
          </a:xfrm>
          <a:prstGeom prst="roundRect">
            <a:avLst>
              <a:gd name="adj" fmla="val 331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92400E"/>
                </a:solidFill>
                <a:latin typeface="Segoe UI"/>
              </a:rPr>
              <a:t>“</a:t>
            </a:r>
          </a:p>
        </p:txBody>
      </p:sp>
      <p:sp>
        <p:nvSpPr>
          <p:cNvPr id="10" name="TextBox 9"/>
          <p:cNvSpPr txBox="1"/>
          <p:nvPr/>
        </p:nvSpPr>
        <p:spPr>
          <a:xfrm>
            <a:off x="6507328" y="2443734"/>
            <a:ext cx="4952848" cy="205740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Twenty-one days ago you wanted to know what happens after you tap Buy. Today you also know when not to tap it, and why. Keep the journal going; it will teach you more than any certificate.</a:t>
            </a:r>
          </a:p>
        </p:txBody>
      </p:sp>
      <p:sp>
        <p:nvSpPr>
          <p:cNvPr id="11" name="Rounded Rectangle 10"/>
          <p:cNvSpPr/>
          <p:nvPr/>
        </p:nvSpPr>
        <p:spPr>
          <a:xfrm>
            <a:off x="457200" y="5344668"/>
            <a:ext cx="3215834"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Stage 2: CIRCLE W.I.N.N.E.R.S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3 · Day 21   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457200"/>
            <a:ext cx="685800" cy="685800"/>
          </a:xfrm>
          <a:prstGeom prst="rect">
            <a:avLst/>
          </a:prstGeom>
        </p:spPr>
      </p:pic>
      <p:sp>
        <p:nvSpPr>
          <p:cNvPr id="3" name="TextBox 2"/>
          <p:cNvSpPr txBox="1"/>
          <p:nvPr/>
        </p:nvSpPr>
        <p:spPr>
          <a:xfrm>
            <a:off x="1371600" y="640080"/>
            <a:ext cx="7315200" cy="365760"/>
          </a:xfrm>
          <a:prstGeom prst="rect">
            <a:avLst/>
          </a:prstGeom>
          <a:noFill/>
        </p:spPr>
        <p:txBody>
          <a:bodyPr wrap="square" lIns="0" rIns="0" tIns="0" bIns="0" anchor="t">
            <a:noAutofit/>
          </a:bodyPr>
          <a:lstStyle/>
          <a:p>
            <a:pPr algn="l">
              <a:lnSpc>
                <a:spcPct val="100000"/>
              </a:lnSpc>
            </a:pPr>
            <a:r>
              <a:rPr sz="2400" b="1" i="0">
                <a:solidFill>
                  <a:srgbClr val="FFFFFF"/>
                </a:solidFill>
                <a:latin typeface="Segoe UI"/>
              </a:rPr>
              <a:t>Disclaimer</a:t>
            </a:r>
          </a:p>
        </p:txBody>
      </p:sp>
      <p:sp>
        <p:nvSpPr>
          <p:cNvPr id="4" name="Rounded Rectangle 3"/>
          <p:cNvSpPr/>
          <p:nvPr/>
        </p:nvSpPr>
        <p:spPr>
          <a:xfrm>
            <a:off x="457200" y="1554480"/>
            <a:ext cx="11277295" cy="2596896"/>
          </a:xfrm>
          <a:prstGeom prst="roundRect">
            <a:avLst>
              <a:gd name="adj" fmla="val 4929"/>
            </a:avLst>
          </a:prstGeom>
          <a:noFill/>
          <a:ln w="15875">
            <a:solidFill>
              <a:srgbClr val="00AE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731520" y="1828800"/>
            <a:ext cx="10728655" cy="2093976"/>
          </a:xfrm>
          <a:prstGeom prst="rect">
            <a:avLst/>
          </a:prstGeom>
          <a:noFill/>
        </p:spPr>
        <p:txBody>
          <a:bodyPr wrap="square" lIns="0" rIns="0" tIns="0" bIns="0" anchor="t">
            <a:noAutofit/>
          </a:bodyPr>
          <a:lstStyle/>
          <a:p>
            <a:pPr algn="l">
              <a:lnSpc>
                <a:spcPct val="112000"/>
              </a:lnSpc>
            </a:pPr>
            <a:r>
              <a:rPr sz="2000" b="0" i="0">
                <a:solidFill>
                  <a:srgbClr val="E8EEF6"/>
                </a:solidFill>
                <a:latin typeface="Segoe UI"/>
              </a:rP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6" name="TextBox 5"/>
          <p:cNvSpPr txBox="1"/>
          <p:nvPr/>
        </p:nvSpPr>
        <p:spPr>
          <a:xfrm>
            <a:off x="457200" y="4425696"/>
            <a:ext cx="11277295" cy="822960"/>
          </a:xfrm>
          <a:prstGeom prst="rect">
            <a:avLst/>
          </a:prstGeom>
          <a:noFill/>
        </p:spPr>
        <p:txBody>
          <a:bodyPr wrap="square" lIns="0" rIns="0" tIns="0" bIns="0" anchor="t">
            <a:noAutofit/>
          </a:bodyPr>
          <a:lstStyle/>
          <a:p>
            <a:pPr algn="l">
              <a:lnSpc>
                <a:spcPct val="100000"/>
              </a:lnSpc>
            </a:pPr>
            <a:r>
              <a:rPr sz="1500" b="0" i="0">
                <a:solidFill>
                  <a:srgbClr val="A8B8CE"/>
                </a:solidFill>
                <a:latin typeface="Segoe UI"/>
              </a:rPr>
              <a:t>Educational material. Nothing in this deck is investment advice or a recommendation. Company names and chart prices are made up for illustration.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3   175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
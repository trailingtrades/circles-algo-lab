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2: Risk pehle, strategy baad mein</a:t>
            </a:r>
          </a:p>
          <a:p/>
          <a:p>
            <a:r>
              <a:t>Class ke liye week deck. Har din ka kram: divider, kahani, har topic ki ek slide, naye shabd, recap map, aaj ka kaam, template, class activity, AI Lab, 5 sawaalon ka quiz aur journal. Har slide ka talk track in notes mein hai. Quiz ke jawab is file mein nahi hain: learner app mein jawab dete hain, aur submit ke baad wahin explanation dikhta hai.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8: Kaam ke indicators, aur unki limits — Chaar chart tools aur unka lag: EMA 20/50, RSI 14, ATR 14, VWAP</a:t>
            </a:r>
          </a:p>
          <a:p>
            <a:r>
              <a:t>Day 9: Risk pehle: 1% rule aur position sizing — 1% rule, position sizing aur woh limits jo aapko game mein tikaaye rakhti hain</a:t>
            </a:r>
          </a:p>
          <a:p>
            <a:r>
              <a:t>Day 10: Aapka style, aur investing ka raasta — Holding time ke hisaab se trading styles, paise ka sahi order, aur investing ka raasta</a:t>
            </a:r>
          </a:p>
          <a:p>
            <a:r>
              <a:t>Day 11: Strategy #1: EMA Pullback Swing — EMA Pullback Swing: trend, pullback, strength, signal, entry, stop, size aur exit ke saaf rules</a:t>
            </a:r>
          </a:p>
          <a:p>
            <a:r>
              <a:t>Day 12: Paper trading ka pehla din aur AI trade journal — Imaandaar paper trading: fills, gaps, costs R mein, journal aur adherence score</a:t>
            </a:r>
          </a:p>
          <a:p>
            <a:r>
              <a:t>Day 13: Strategy #2: Opening Range Breakout (optional) — Opening Range Breakout: ek optional intraday strategy, rules mein likhi hui</a:t>
            </a:r>
          </a:p>
          <a:p>
            <a:r>
              <a:t>Day 14: Week 2 ka review aur Shortcut Trap #2: jab result bahut achha dikhe — Process review, aur performance ke daawe padhna: backtests, paid groups, IPO offers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8: Kaam ke indicators, aur unki limits</a:t>
            </a:r>
          </a:p>
          <a:p/>
          <a:p>
            <a:r>
              <a:t>Concept: Chaar chart tools aur unka lag: EMA 20/50, RSI 14, ATR 14, VWAP</a:t>
            </a:r>
          </a:p>
          <a:p>
            <a:r>
              <a:t>AI Lab: 'Kab dhokha deta hai?' cards: AI draft kare, aap check karein</a:t>
            </a:r>
          </a:p>
          <a:p>
            <a:r>
              <a:t>Mindset: Indicator overload</a:t>
            </a:r>
          </a:p>
          <a:p/>
          <a:p>
            <a:r>
              <a:t>Aaj ke baad: Aaj ke baad aap samjha payenge ki har indicator late kyun hota hai, EMA 20/50, RSI 14 aur ATR 14 (intraday par VWAP bhi) set kar payenge, bata payenge ki har tool kya naapta hai aur kab dhokha deta hai, AI ke banaye tool card ko model card se check kar payenge, aur RSI, true range, VWAP aur 1.5 x ATR stop ki doori haath se nikaal payenge.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Gyarah lines, ek hi raay</a:t>
            </a:r>
          </a:p>
          <a:p/>
          <a:p>
            <a:r>
              <a:t>(Sunday raat. Hafte ki class call khatam ho chuki hai, lekin Aman mentor aur Priya se paanch minute aur rukne ko kehta hai aur apni laptop screen share karta hai. Chart par itni rang-birangi lines hain ki woh Diwali par saja hua ghar lag raha hai.)</a:t>
            </a:r>
          </a:p>
          <a:p>
            <a:r>
              <a:t>Aman: Sir, mera naya setup dekhiye: gyarah indicators. Jab inmein se saat ek saath green ho jaate hain, main buy kar leta hoon. Zyada confirmation matlab kam risk, hai na?</a:t>
            </a:r>
          </a:p>
          <a:p>
            <a:r>
              <a:t>Priya: Lekin Aman, pichhle mahine tumne Kiran Foods usi din bech diya tha jis din uska RSI 70 ke paar gaya. Woh teen hafte aur chadhta raha.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Gyarah lines, ek hi raay</a:t>
            </a:r>
          </a:p>
          <a:p/>
          <a:p>
            <a:r>
              <a:t>Mentor: Aman, sabse pehle ek sawaal. Aapke gyarah indicators bane kis cheez se hain?</a:t>
            </a:r>
          </a:p>
          <a:p>
            <a:r>
              <a:t>Aman: Umm... price se hi, shayad. Saare ke saare. Par RSI 70 ke upar ka matlab overbought hi toh hota hai, na?</a:t>
            </a:r>
          </a:p>
          <a:p>
            <a:r>
              <a:t>Mentor: Zyadatar wahi closing prices, gyarah tareekon se pakaaye hue. Saat green lines aksar ek hi raay hoti hai, bas saat baar dohraayi hui. Aur 'overbought' sirf ek label hai; Kiran Foods ne yeh aapko dikha hi diya. Aaj hum sirf chaar tools rakhenge, aur samjhenge ki har tool kya naapta hai, aur utna hi zaroori, ki woh kab dhokha deta hai.</a:t>
            </a:r>
          </a:p>
          <a:p/>
          <a:p>
            <a:r>
              <a:t>Seekh: Zyada indicators se zyada jaankari nahi milti. Ek tool kya naapta hai aur kab fail hota hai, yeh jaanna chart ki das lines se zyada keemti hai.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 indicator late hota hai: SMA, EMA aur lag</a:t>
            </a:r>
          </a:p>
          <a:p/>
          <a:p>
            <a:r>
              <a:t>Indicator ek formula hai jo pichhle prices par, aur kabhi-kabhi volume par, lagaya jaata hai aur chart par line ki tarah dikhta hai. Yeh un prices se banta hai jo pehle hi trade ho chuke hain, isliye price hilne ke baad hi react karta hai; is deri ko lag kehte hain. Sabse simple indicator hai SMA (simple moving average): pichhle N closing prices ka seedha average (N woh length hai jo aap chunte hain, jaise 5 ya 20), jismein har din ka barabar hissa hota hai. EMA (exponential moving average) haal ke closes ko zyada weight deta hai, isliye jaldi mudta hai, lekin late woh bhi hota hai. Moving average ko car ka rear-view mirror samjhiye: peeche ka raasta saaf dikhata hai, aage ka kabhi nahi. Day 6 mein aapne trend ko swing highs aur lows se pehchana tha; moving average wahi kahani smooth karke, thodi der se sunata hai.</a:t>
            </a:r>
          </a:p>
          <a:p/>
          <a:p>
            <a:r>
              <a:t>Udaharan: Kiran Foods Ltd ke closes hain Rs 100, 102, 104 aur 106, aur paanchve din price seedha Rs 118 par pahunch jaata hai. SMA 5 = (100 + 102 + 104 + 106 + 118) / 5 = Rs 530 / 5 = Rs 106. Price Rs 118 par hai, lekin average abhi bhi Rs 106 bata raha hai, yaani Rs 12 peeche. Inhi prices par EMA 5 thoda jaldi react karta, kyunki akele aaj ke close ka weight ek-tihaai hota hai.</a:t>
            </a:r>
          </a:p>
          <a:p/>
          <a:p>
            <a:r>
              <a:t>Yaad rakhiye: Har indicator past se bana hai. Woh bata sakta hai kya hua; aage kya hoga, yeh nahi.</a:t>
            </a:r>
          </a:p>
          <a:p/>
          <a:p>
            <a:r>
              <a:t>Slide par: EMA 5: har din ka kitna weight · SMA 5 pichhle paanch dinon mein se har din ko theek 20% deta hai aur purane dinon ko zero. EMA haal ke dinon ko zyada weight deta hai, lekin purane dinon ko poori tarah bhoolta nahi.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20 aur EMA 50: trend ka filter, buy ka button nahi</a:t>
            </a:r>
          </a:p>
          <a:p/>
          <a:p>
            <a:r>
              <a:t>Is course mein daily chart par EMA ka ek hi joda use hota hai: EMA 20 (lagbhag ek mahine ke trading days) aur EMA 50 (lagbhag dhai mahine). Jab EMA 20, EMA 50 ke upar ho aur EMA 50 upar ki taraf badh raha ho, toh course trend ko up maanta hai aur paper par sirf buy wale setups dekhta hai; in dono mein se ek bhi shart toote, toh course door rehta hai. 'Badh raha hai' ka ek seedha test hai, jo Day 11 use karega: aaj ka EMA 50, 10 trading days pehle wale EMA 50 se upar ho. Yeh ek filter hai: batata hai kis taraf dekhna hai, entry kab leni hai yeh nahi. Jis pal dono lines ek-doosre ko cross karti hain, use crossover kehte hain. Sideways market mein lines flat ho jaati hain aur baar-baar cross karti hain, har baar 'signal' palat jaata hai; ise whipsaw kehte hain, aur kai EMA users yahin chhote-chhote loss khaate rehte hain.</a:t>
            </a:r>
          </a:p>
          <a:p/>
          <a:p>
            <a:r>
              <a:t>Udaharan: Neeche ka chart dekhiye. Jab tak trend chala, EMA 20, EMA 50 ke upar raha aur price dono ke upar. Phir price lagbhag Rs 191 aur Rs 210 ke beech sideways ho gaya, aur takreeban 30 sessions mein dono lines chaar baar cross hui. Har crossover par trade karta toh Aman range ke top ke paas khareedta aur bottom ke paas bechta, baar-baar. Flat EMA 50 aapke liye warning hai ki filter ab chup ho gaya hai.</a:t>
            </a:r>
          </a:p>
          <a:p/>
          <a:p>
            <a:r>
              <a:t>Yaad rakhiye: EMA 20 upar ho aur EMA 50 chadh raha ho, toh pata chalta hai kis taraf dekhna hai. Entry kab leni hai, yeh kabhi nahi batata.</a:t>
            </a:r>
          </a:p>
          <a:p/>
          <a:p>
            <a:r>
              <a:t>Slide par: Pehle filter on, phir whipsaw · Jab tak price trend mein tha, EMA 20, EMA 50 ke upar raha. Sideways hisse mein dono lines chaar baar cross hui, aur har cross ek jhootha alarm tha. Pehla cross trend khatam hone ke 13 sessions baad aaya: yahi lag hai.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RSI 14: speedometer hai, sell signal nahi</a:t>
            </a:r>
          </a:p>
          <a:p/>
          <a:p>
            <a:r>
              <a:t>RSI (Relative Strength Index) momentum naapta hai, yaani price kitni taaqat se chal raha hai. Yeh pichhli 14 candles ki saari badhat aur saari girawat alag-alag jodta hai, dono totals ko 14 se divide karta hai, dono averages ko compare karta hai, aur jawab 0 se 100 ke scale par dikhata hai. 70 ke upar ko aksar overbought aur 30 ke neeche ko oversold kehte hain, lekin yeh sirf naam hain: strong uptrend mein RSI hafton tak 70 ke upar reh sakta hai aur price chadhta rehta hai. Overbought apne aap mein sell signal nahi hai. Mote taur par, uptrend mein RSI lagbhag 40 se 80 ke beech jhoolta hai, aur downtrend mein lagbhag 20 se 60 ke beech. Day 11 ki strategy uptrend ke andar RSI ke lagbhag 40-50 tak aane wale dip ko dekhti hai; yeh is course ka practice rule hai, market ka kanoon nahi.</a:t>
            </a:r>
          </a:p>
          <a:p/>
          <a:p>
            <a:r>
              <a:t>Udaharan: Pichhle 14 dinon mein Kiran Foods Ltd 9 din chadha, kul Rs 36, aur 5 din gira, kul Rs 12. Dono totals ko 14 se divide karte hain, isliye 14 cancel ho jaata hai: gain aur loss ka ratio = 36 ÷ 12 = 3, aur RSI = 100 - 100 ÷ (1 + 3) = 100 - 25 = 75. (Kitabon mein is ratio ko RS kehte hain; yeh Day 11 wali NIFTY 50 ke muqable relative strength nahi hai. Platforms aage ki readings ko smooth karte hain, isliye aapke chart par number thoda alag dikh sakta hai.) Yeh 75 sirf ek baat kehta hai: haal mein buyers zyada taaqatwar rahe. Kal ke baare mein yeh kuch nahi kehta. Aman ne RSI 70 par bech kar speedometer ki reading ko stop sign samajh liya tha; neeche ka chart wahi sauda dobara dikhata hai.</a:t>
            </a:r>
          </a:p>
          <a:p/>
          <a:p>
            <a:r>
              <a:t>Yaad rakhiye: High RSI ka matlab hai tez chaal, aane wali girawat nahi.</a:t>
            </a:r>
          </a:p>
          <a:p/>
          <a:p>
            <a:r>
              <a:t>Slide par: RSI 70 ke upar, price phir bhi chadhta raha · Aman ke Kiran Foods Ltd wale saude ka misaal ke liye banaya roop. Price ko badle hue scale par dikhaya gaya hai taaki woh RSI ke saath ek hi chart mein aa jaaye; iska shape dekhiye, rupaye ka level nahi. Jis din usne becha, us din RSI 14, 70 ke upar close hua aur lagbhag chaar hafte 70 ke upar hi raha; unmein se teen hafte price chadhta raha, lagbhag 8% upar. 'Overbought' ek label tha, top nahi.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ATR 14: normal hil-dul kitni badi hai</a:t>
            </a:r>
          </a:p>
          <a:p/>
          <a:p>
            <a:r>
              <a:t>ATR (Average True Range) naapta hai ki ek candle mein price aam taur par kitna chalta hai: size batata hai, direction kabhi nahi. Har candle ki true range teen dooriyon mein se sabse badi hoti hai: high se low, pichhle close se high, aur pichhle close se low. Isliye gap bhi gina jaata hai: kal close Rs 100 par hua aur aaj price sirf Rs 105 se Rs 108 ke beech chala, toh high-low range Rs 3 hai, lekin true range Rs 8. ATR 14 aapke chart ki pichhli 14 true ranges ka thoda smooth kiya hua average hai, yaani daily chart par ek aam din ki chaal, aur 15-minute chart par ek aam 15 minute ki chaal. Iska asli kaam hai stop-loss ko roz ki normal hil-dul, yaani noise, se bahar rakhna: Day 11 ki swing strategy stop ko entry se 1.5 x ATR neeche rakhti hai. Day 6 ke zones ka paimaana bhi yahi hai: zone aam taur par lagbhag 1 x ATR se zyada chauda nahi hota.</a:t>
            </a:r>
          </a:p>
          <a:p/>
          <a:p>
            <a:r>
              <a:t>Udaharan: Gupta Cement Ltd daily chart par Rs 500 par hai aur uska ATR 14 Rs 12 hai, yaani ek aam din mein woh lagbhag Rs 12 hilta hai. Rs 495 ka stop, sirf Rs 5 door, isi roz ki hil-dul ke andar baitha hai. Course ka swing stop entry se 1.5 x Rs 12 = Rs 18 neeche hai: Rs 500 - Rs 18 = Rs 482. Chart mein ek aam si dip Rs 490 tak aayi aur tight stop hit ho gaya, jabki ATR wala stop noise se bahar raha. Chauda stop hit hua toh loss bhi bada hoga, isiliye kal ka lesson position size isi ke hisaab se tay karega.</a:t>
            </a:r>
          </a:p>
          <a:p/>
          <a:p>
            <a:r>
              <a:t>Yaad rakhiye: ATR batata hai price kitna ghoomta hai, kidhar jaayega yeh nahi. Stop ko normal hil-dul se bahar rakhiye.</a:t>
            </a:r>
          </a:p>
          <a:p/>
          <a:p>
            <a:r>
              <a:t>Slide par: Stop: noise ke andar ya bahar · Yahan ATR 14 Rs 12 hai. Entry, entry wali candle ke close par hai, isliye stop ki lines usi close ke baad se maayne rakhti hain. Agli hi normal dip ne Rs 495 wala tight stop hit kar diya; Rs 482 wala 1.5 x ATR stop chhua tak nahi gaya. Price Rs 482 tak girta bhi reh sakta tha.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VWAP: din ka volume-weighted average, sirf intraday ke liye</a:t>
            </a:r>
          </a:p>
          <a:p/>
          <a:p>
            <a:r>
              <a:t>VWAP (volume-weighted average price) din ka woh average price hai jismein jis price par jitne zyada shares trade hue, us price ka utna hi zyada weight hota hai. Formula: 9:15 ke open se har trade ka (price x volume) jodiye, phir open se ab tak ke total volume se divide kar dijiye. Yeh har subah naye sire se shuru hota hai, yaani yeh intraday ka tool hai; daily ya weekly chart par har candle hi poora din ya usse zyada hoti hai, isliye yeh course wahan iska use nahi karta. Badi institutions ise ek paimaane ki tarah use karti hain, yeh jaanchne ke liye ki unhone din ke hisaab se sahi price par khareeda ya becha. Price VWAP ke upar tike toh aam taur par maana jaata hai ki us din buyers haavi hain, neeche ho toh sellers; ise mota andaaza samjhiye, rule nahi. Is course mein VWAP sirf intraday charts par use hota hai, jaise Day 13 ki optional ORB strategy ke ek check mein.</a:t>
            </a:r>
          </a:p>
          <a:p/>
          <a:p>
            <a:r>
              <a:t>Udaharan: Subah 10 baje ki sabzi mandi sochiye. Ek vyapari 10 kg tamatar Rs 20 kilo bechta hai, phir 30 kg Rs 22 kilo, phir 60 kg Rs 25 kilo. Teeno bhaav ka seedha average Rs 22.33 hai, lekin zyadatar tamatar Rs 25 mein bike. Volume-weighted average hai (200 + 660 + 1,500) / 100 kg = Rs 23.60 kilo. Charting sites yahi jod-bhaag 9:15 se candle dar candle karti hain, isliye unka VWAP kareeb-kareeb yahi hota hai.</a:t>
            </a:r>
          </a:p>
          <a:p/>
          <a:p>
            <a:r>
              <a:t>Yaad rakhiye: VWAP din ka volume se weighted average price hai. Har open par yeh naye sire se shuru hota hai, isliye ise sirf intraday charts par use kijiye.</a:t>
            </a:r>
          </a:p>
          <a:p/>
          <a:p>
            <a:r>
              <a:t>Slide par: Pehle ghante ka VWAP · Sharma Textiles Ltd ke made-up trades. Teeno prices ka seedha average Rs 202.33 hai; VWAP Rs 205 ki taraf jhukta hai, jahan sabse zyada shares ka len-den hua.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4-tools ka rule: kam meter, saaf nazar</a:t>
            </a:r>
          </a:p>
          <a:p/>
          <a:p>
            <a:r>
              <a:t>Indicator overload woh aadat hai jismein hum ek ke baad ek tool jodte jaate hain, is umeed mein ki agla tool saara doubt khatam kar dega. Hota ulta hai. Zyadatar indicators unhi closing prices se pakaaye jaate hain, isliye jab sab ek hi baat kehte hain toh woh ek hi raay hai jo dohraayi ja rahi hai, aur jab alag-alag baat kehte hain toh aap atak jaate hain, ya chupchaap wahi chun lete hain jo aapke mann ki baat keh raha ho. Is course mein chaar tools hain: EMA 20/50 ka joda ek gina jaata hai, phir RSI 14, ATR 14, aur VWAP sirf intraday charts par. Har platform ki apni default settings hoti hain, isliye har tool ki settings kholkar yeh numbers khud daaliye. Har tool ke liye chaar line ka card likhiye: kya naapta hai, kab kaam aata hai, kab dhokha deta hai, aur course mein iska kya kaam hai; jis tool ki limits aap likh nahi sakte, use chart se hata dijiye. Chaaron tools ka bhara hua model card Aaj Ka Kaam mein, Aapka template ke neeche hai.</a:t>
            </a:r>
          </a:p>
          <a:p/>
          <a:p>
            <a:r>
              <a:t>Udaharan: Car ka dashboard sochiye. Speedometer (RSI) batata hai aap kitni tez chal rahe hain, rear-view mirror (EMA ka joda) peeche ki sadak dikhata hai, aur sadak ke gaddhe (ATR) batate hain ki kitni jagah chhod kar chalna hai. Das aur meter laga dijiye, aur aapki nazar sadak se hat jaayegi. Aman ki 'saat green lights' asal mein ek hi closing price ko saat tareekon se padhna tha, isliye woh ek saath green hui, aur baad mein ek saath red bhi.</a:t>
            </a:r>
          </a:p>
          <a:p/>
          <a:p>
            <a:r>
              <a:t>Yaad rakhiye: Gyarah tools aankh band karke follow karne se achha hai, chaar aise tools jo aap sach mein samajhte hain.</a:t>
            </a:r>
          </a:p>
          <a:p/>
          <a:p>
            <a:r>
              <a:t>Slide par: Diwali-lights chart vs saaf chart · Yeh chaaron bhi price se hi bane hain (VWAP mein volume bhi judta hai). Farak yeh hai ki har ek alag sawaal ka jawab deta hai.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Har indicator mein chhupi deri, kyunki woh pehle trade ho chuke prices se banta hai.</a:t>
            </a:r>
          </a:p>
          <a:p>
            <a:r>
              <a:t>SMA aur EMA: Haal ke closes ke moving averages. SMA har din ko barabar ginta hai; EMA haal ke dinon ko zyada weight deta hai, isliye jaldi mudta hai.</a:t>
            </a:r>
          </a:p>
          <a:p>
            <a:r>
              <a:t>Crossover aur whipsaw: Crossover woh pal hai jab EMA 20, EMA 50 ko cross karta hai. Sideways market mein lines baar-baar cross karti hain, aur har jhoothi palti, jo ek chhota loss de jaati hai, whipsaw kehlaati hai.</a:t>
            </a:r>
          </a:p>
          <a:p>
            <a:r>
              <a:t>RSI 14: 0-100 ka momentum meter, jo 14 candles ke average gain ko average loss se compare karta hai. High ka matlab sell nahi.</a:t>
            </a:r>
          </a:p>
          <a:p>
            <a:r>
              <a:t>Overbought / oversold: RSI 70 ke upar aur 30 ke neeche ke naam. Yeh tez chaal ka bayaan hain, signal nahi: strong trend mein RSI hafton tak 70 ke upar reh sakta hai.</a:t>
            </a:r>
          </a:p>
          <a:p>
            <a:r>
              <a:t>ATR 14 aur true range: True range ek candle ki poori chaal hai, gap samet; ATR 14 pichhli 14 ka average hai. Yeh batata hai price kitna chalta hai, kis taraf nahi.</a:t>
            </a:r>
          </a:p>
          <a:p>
            <a:r>
              <a:t>Noise: Price ki roz ki normal hil-dul. Iske andar laga stop aam chaal se hi hit ho jaata hai, isliye course swing stop ko 1.5 x ATR door rakhta hai.</a:t>
            </a:r>
          </a:p>
          <a:p>
            <a:r>
              <a:t>VWAP: Open se ab tak ke (price x volume) ka total, total volume se divide kiya hua. Intraday average jo roz naye sire se shuru hota hai.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Chaar tools, limits ke saath</a:t>
            </a:r>
          </a:p>
          <a:p>
            <a:r>
              <a:t>Lag: Pichhli candles se bana; SMA: barabar weight; EMA: jaldi, phir bhi late</a:t>
            </a:r>
          </a:p>
          <a:p>
            <a:r>
              <a:t>EMA 20/50: Filter hai, entry nahi; Sideways = whipsaw; Flat EMA 50 = saavdhaan</a:t>
            </a:r>
          </a:p>
          <a:p>
            <a:r>
              <a:t>RSI 14: Momentum, 0-100; 70 ke upar matlab sell nahi; Uptrend: lagbhag 40-80; Hafton tak upar reh sakta hai</a:t>
            </a:r>
          </a:p>
          <a:p>
            <a:r>
              <a:t>ATR 14: Size, direction nahi; Gap bhi gina jaata hai; Swing stop 1.5 x ATR</a:t>
            </a:r>
          </a:p>
          <a:p>
            <a:r>
              <a:t>VWAP: Volume se weighted; 9:15 par naye sire se; Sirf intraday charts</a:t>
            </a:r>
          </a:p>
          <a:p>
            <a:r>
              <a:t>Aapka mann: 11 lines, ek raay; Likhiye kab dhokha deta hai; Kam meter, saaf nazar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Apne chart ko sirf chaar tools tak saaf kijiye aur har tool ke liye AI ka banaya 'kab dhokha deta hai' card check kijiye.</a:t>
            </a:r>
          </a:p>
          <a:p/>
          <a:p>
            <a:r>
              <a:t>1. TradingView par NIFTY 50 ka free daily chart kholiye, aur pehle se lage saare indicators hata dijiye.</a:t>
            </a:r>
          </a:p>
          <a:p>
            <a:r>
              <a:t>2. EMA 20, EMA 50, RSI 14 aur ATR 14 jodiye, har length khud type kijiye. Agar free plan itne indicators na lagane de, toh ek Moving Average Ribbon lagaiye: pehli do lines ka type EMA aur length 20 aur 50 kar dijiye, baaki do chhupa dijiye, aur RSI aur ATR baari-baari se lagaiye.</a:t>
            </a:r>
          </a:p>
          <a:p>
            <a:r>
              <a:t>3. Chart ko peeche scroll karke ek aisa sideways daur dhoondhiye jahan dono EMAs baar-baar cross hue, aur uske shuru aur khatam hone ki dates apne Chart notes (Aapka template) mein likhiye.</a:t>
            </a:r>
          </a:p>
          <a:p>
            <a:r>
              <a:t>4. ATR ki sabse taaza value padhiye aur Chart notes ki dono ATR lines bhariye: NIFTY 50 ki din ki normal chaal points mein, aur uska 1.5 guna.</a:t>
            </a:r>
          </a:p>
          <a:p>
            <a:r>
              <a:t>5. Kisi bhi NIFTY 50 company ka 5-minute chart kholiye (index ka apna volume nahi hota, isliye uska VWAP nahi banta), free plan jagah na de toh RSI ya ATR hata dijiye, VWAP jodiye, aur peeche scroll karke dekhiye ki woh roz 9:15 par naye sire se kaise shuru hota hai.</a:t>
            </a:r>
          </a:p>
          <a:p>
            <a:r>
              <a:t>6. AI Lab ka prompt 'Kab dhokha deta hai?' chalaiye, uske chaaron cards ko Aapka template wale model Tool Card se milaiye, aur jo Fact / Guess / Kachra label galat lage, badal dijiye.</a:t>
            </a:r>
          </a:p>
          <a:p/>
          <a:p>
            <a:r>
              <a:t>Aaj ke baad: Aaj ke baad aap samjha payenge ki har indicator late kyun hota hai, EMA 20/50, RSI 14 aur ATR 14 (intraday par VWAP bhi) set kar payenge, bata payenge ki har tool kya naapta hai aur kab dhokha deta hai, AI ke banaye tool card ko model card se check kar payenge, aur RSI, true range, VWAP aur 1.5 x ATR stop ki doori haath se nikaal payenge.</a:t>
            </a:r>
          </a:p>
          <a:p/>
          <a:p>
            <a:r>
              <a:t>Tools: TradingView free chart; Google Sheets ya kaagaz; Phone ka calculator; Koi bhi AI chat</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Apne chart ko sirf chaar tools tak saaf kijiye aur har tool ke liye AI ka banaya 'kab dhokha deta hai' card check kijiye.</a:t>
            </a:r>
          </a:p>
          <a:p/>
          <a:p>
            <a:r>
              <a:t>1. TradingView par NIFTY 50 ka free daily chart kholiye, aur pehle se lage saare indicators hata dijiye.</a:t>
            </a:r>
          </a:p>
          <a:p>
            <a:r>
              <a:t>2. EMA 20, EMA 50, RSI 14 aur ATR 14 jodiye, har length khud type kijiye. Agar free plan itne indicators na lagane de, toh ek Moving Average Ribbon lagaiye: pehli do lines ka type EMA aur length 20 aur 50 kar dijiye, baaki do chhupa dijiye, aur RSI aur ATR baari-baari se lagaiye.</a:t>
            </a:r>
          </a:p>
          <a:p>
            <a:r>
              <a:t>3. Chart ko peeche scroll karke ek aisa sideways daur dhoondhiye jahan dono EMAs baar-baar cross hue, aur uske shuru aur khatam hone ki dates apne Chart notes (Aapka template) mein likhiye.</a:t>
            </a:r>
          </a:p>
          <a:p>
            <a:r>
              <a:t>4. ATR ki sabse taaza value padhiye aur Chart notes ki dono ATR lines bhariye: NIFTY 50 ki din ki normal chaal points mein, aur uska 1.5 guna.</a:t>
            </a:r>
          </a:p>
          <a:p>
            <a:r>
              <a:t>5. Kisi bhi NIFTY 50 company ka 5-minute chart kholiye (index ka apna volume nahi hota, isliye uska VWAP nahi banta), free plan jagah na de toh RSI ya ATR hata dijiye, VWAP jodiye, aur peeche scroll karke dekhiye ki woh roz 9:15 par naye sire se kaise shuru hota hai.</a:t>
            </a:r>
          </a:p>
          <a:p>
            <a:r>
              <a:t>6. AI Lab ka prompt 'Kab dhokha deta hai?' chalaiye, uske chaaron cards ko Aapka template wale model Tool Card se milaiye, aur jo Fact / Guess / Kachra label galat lage, badal dijiye.</a:t>
            </a:r>
          </a:p>
          <a:p/>
          <a:p>
            <a:r>
              <a:t>Aaj ke baad: Aaj ke baad aap samjha payenge ki har indicator late kyun hota hai, EMA 20/50, RSI 14 aur ATR 14 (intraday par VWAP bhi) set kar payenge, bata payenge ki har tool kya naapta hai aur kab dhokha deta hai, AI ke banaye tool card ko model card se check kar payenge, aur RSI, true range, VWAP aur 1.5 x ATR stop ki doori haath se nikaal payenge.</a:t>
            </a:r>
          </a:p>
          <a:p/>
          <a:p>
            <a:r>
              <a:t>Tools: TradingView free chart; Google Sheets ya kaagaz; Phone ka calculator; Koi bhi AI chat</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Card: model jawab</a:t>
            </a:r>
          </a:p>
          <a:p/>
          <a:p>
            <a:r>
              <a:t>AI ke chaaron cards isi se milaiye. Koi paanchva tool jodne se pehle uske liye khaali row bhariye; 'Kab dhokha deta hai' na bhar sakein, toh woh chart par nahi aayega.</a:t>
            </a:r>
          </a:p>
          <a:p/>
          <a:p>
            <a:r>
              <a:t>Tool | Kya naapta hai | Kab kaam aata hai | Kab dhokha deta hai | Course mein kaam</a:t>
            </a:r>
          </a:p>
          <a:p>
            <a:r>
              <a:t>EMA 20/50 | Trend ki disha, smooth aur late | Daily chart par saaf trend ho | Sideways market: flat lines, whipsaw wale cross | Sirf filter: EMA 20 upar, EMA 50 chadhta hua</a:t>
            </a:r>
          </a:p>
          <a:p>
            <a:r>
              <a:t>RSI 14 | Momentum: haal ke gain vs loss, 0-100 | Uptrend ke andar dip pehchanna | Strong trend: hafton 70 ke upar, phir bhi sell signal nahi | Day 11: uptrend mein lagbhag 40-50 tak dip</a:t>
            </a:r>
          </a:p>
          <a:p>
            <a:r>
              <a:t>ATR 14 | Aam candle ka size, gap samet | Stop ko noise se bahar rakhna | Ise direction samajhna; news ya gap ke baad uchhalta hai | Swing stop entry se 1.5 x ATR neeche</a:t>
            </a:r>
          </a:p>
          <a:p>
            <a:r>
              <a:t>VWAP | Din ka volume-weighted average price | Intraday: price din ke average ke upar hai ya neeche? | Daily chart, index (volume nahi), shuru ke kuch minute | Sirf intraday: Day 13 ke ORB ka ek check</a:t>
            </a:r>
          </a:p>
          <a:p>
            <a:r>
              <a:t>+ 1 ___</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notes</a:t>
            </a:r>
          </a:p>
          <a:p/>
          <a:p>
            <a:r>
              <a:t>Steps 1 se 5 karte-karte aakhri column bhariye. Wahi likhiye jo chart dikhata hai, woh nahi jo aap dekhna chahte hain.</a:t>
            </a:r>
          </a:p>
          <a:p/>
          <a:p>
            <a:r>
              <a:t>Check | Kya likhna hai | Mera</a:t>
            </a:r>
          </a:p>
          <a:p>
            <a:r>
              <a:t>Hataayi gayi lines (step 1) | Har hataaya gaya indicator, aur woh asal mein kya naapta tha | </a:t>
            </a:r>
          </a:p>
          <a:p>
            <a:r>
              <a:t>Sideways daur (step 3) | Shuru aur khatam ki dates, aur kitne EMA cross | </a:t>
            </a:r>
          </a:p>
          <a:p>
            <a:r>
              <a:t>ATR 14 (step 4) | NIFTY 50 aam taur par din mein lagbhag ___ points chalta hai | </a:t>
            </a:r>
          </a:p>
          <a:p>
            <a:r>
              <a:t>1.5 x ATR (step 4) | Wahi ATR x 1.5 = ___ points: swing stop ki doori | </a:t>
            </a:r>
          </a:p>
          <a:p>
            <a:r>
              <a:t>VWAP (step 5) | Kya VWAP roz 9:15 par naye sire se shuru hua? Haan / Nahi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'Mera hisaab check kijiye'</a:t>
            </a:r>
          </a:p>
          <a:p/>
          <a:p>
            <a:r>
              <a:t>AI Lab ka prompt 'Mera hisaab check kijiye' chalaiye, phir AI ke har jawab ko is key se milaiye. Farak ho, toh kisi par bharosa karne se pehle woh step dhoondhiye jo galat hua.</a:t>
            </a:r>
          </a:p>
          <a:p/>
          <a:p>
            <a:r>
              <a:t>Sawaal | Hisaab | Jawab</a:t>
            </a:r>
          </a:p>
          <a:p>
            <a:r>
              <a:t>(a) SMA 5 | (100 + 102 + 104 + 106 + 118) ÷ 5 = 530 ÷ 5 | Rs 106</a:t>
            </a:r>
          </a:p>
          <a:p>
            <a:r>
              <a:t>(b) VWAP | Rs 2,03,600 ÷ 1,000 shares; seedha average (200 + 202 + 205) ÷ 3 = Rs 202.33 | Rs 203.60</a:t>
            </a:r>
          </a:p>
          <a:p>
            <a:r>
              <a:t>(c) RSI | 36 ÷ 12 = 3; 100 - 100 ÷ (1 + 3) = 100 - 25 | 75</a:t>
            </a:r>
          </a:p>
          <a:p>
            <a:r>
              <a:t>(d) Stop, 1.5 x ATR | 1.5 x Rs 12 = Rs 18; Rs 500 - Rs 18 | Rs 482</a:t>
            </a:r>
          </a:p>
          <a:p>
            <a:r>
              <a:t>(e) True range, gap wala din | Pichhla close 100, high 108, low 105. High - low = 3; high - pichhla close = 8; low - pichhla close = 5. Sabse bada lijiye. | Rs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Diwali Lights award: classmates apne sabse bhare hue purane chart ka screenshot, apne saaf chaar-tool chart ke saath share karte hain. Sabse bhara 'before' chart award jeetta hai, aur uska maalik batata hai ki hataayi gayi har line asal mein kya naap rahi thi. Dono screenshots NIFTY 50 chart ke hon, taaki group mein kisi stock ka chart na ghoome. Agar free plan zyada indicators lagane hi na de, toh 'before' screenshot ki jagah un lines ki list share kijiye jo aap pehle dekhte the.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Kab dhokha deta hai?</a:t>
            </a:r>
          </a:p>
          <a:p>
            <a:r>
              <a:t>You are a patient teacher of technical analysis for Indian beginners who study only NSE cash-market shares and indices, with no futures or options. For each of these four tools, EMA 20 and EMA 50 used as one pair, RSI 14, ATR 14, and VWAP on intraday charts, write a four-line card: (1) what it measures, in one plain sentence; (2) when it tends to help; (3) three market conditions in which it misleads, such as sideways markets, gap days or big news days; (4) how a beginner course uses it: the EMA pair as a daily trend filter, RSI 14 as a momentum check, ATR 14 to place a stop 1.5 x ATR away, and VWAP on intraday charts only. Do not suggest any additional indicator. Keep each line under 25 words. Label every claim Fact (a standard definition I can check), Guess (a rule of thumb that may not hold) or Kachra (a popular myth), and add at least two popular myths about these tools, labelled Kachra. If you need an example, use a made-up company name, never a real listed company. Do not recommend any stock, do not give buy or sell advice, and do not mention targets or expected returns.</a:t>
            </a:r>
          </a:p>
          <a:p/>
          <a:p>
            <a:r>
              <a:t>Prompt 2: Mera hisaab check kijiye</a:t>
            </a:r>
          </a:p>
          <a:p>
            <a:r>
              <a:t>Act as a careful maths tutor. Use only the numbers I give and show every step. (a) Five daily closes: 100, 102, 104, 106, 118. Calculate the 5-day simple moving average. (b) In one morning, 100 shares traded at Rs 200, 300 at Rs 202 and 600 at Rs 205. Calculate the VWAP and the plain average of the three prices, and explain the difference in two lines. (c) Over 14 days, total gains were Rs 36 and total losses Rs 12. Calculate the first RSI reading. (d) Entry Rs 500 and ATR 14 = Rs 12. Find the stop 1.5 x ATR below entry. (e) Yesterday's close was Rs 100; today's high is Rs 108 and today's low is Rs 105. Give today's high-low range and its true range, showing all three distances. After each answer, show me a Google Sheets formula I can use to recheck it myself, and mark any step you are unsure of as Guess. These are made-up numbers for learning; do not give buy or sell advice, targets or return expectations.</a:t>
            </a:r>
          </a:p>
          <a:p/>
          <a:p>
            <a:r>
              <a:t>Prompt 3: Indicator myth buster</a:t>
            </a:r>
          </a:p>
          <a:p>
            <a:r>
              <a:t>List 8 beliefs that Indian beginners commonly hold about chart indicators, for example 'RSI above 70 means sell', 'more indicators mean more confirmation', 'an EMA crossover is a buy signal', 'VWAP works on a daily chart' and 'ATR shows direction'. For each belief, label it Fact, Guess or Kachra, give a one-line correction in simple words, and describe one chart situation in which acting on the belief would hurt a learner. Keep to NSE cash-market shares and indices, and do not discuss futures or options. If you need an example, use a made-up company name, never a real listed company. Do not recommend any stock, do not give buy or sell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Maan lijiye aap daily chart dekhkar Gupta Cement Ltd mein Rs 300 par practice buy ka plan banate hain, aur ATR 14 Rs 8 hai. Is course ka swing stop kahan lagega?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Pehle ghante mein Kiran Foods Ltd ke 200 shares Rs 100 par aur 800 shares Rs 110 par trade hote hain. Ab tak ka VWAP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stock strong uptrend mein hai, aur uska RSI 14 do hafte se 70 ke upar tika hai, jabki price naye higher highs bana raha hai. Yeh RSI reading akele kya batati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Chhe hafte tak ek daily chart sideways chalta hai, aur EMA 20 chaar baar EMA 50 ko cross karta hai. Peeche dekhne par Aman ko pata chalta hai ki har cross par trade karta toh zyadatar baar loss hota. Iski sabse sahi wajah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 chart par 11 indicators hain, aur unmein se 7 ek hi din 'buy' dikhate hain. Yeh saboot jitna dikhta hai, utna mazboot kyun nahi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se pehle aap kis indicator par sabse zyada bharosa karte the, ya kiske baare mein sabse zyada suna tha, aur woh asal mein kya naapta hai? Ek aisi situation likhiye jismein woh aapko dhokha de deta.</a:t>
            </a:r>
          </a:p>
          <a:p/>
          <a:p>
            <a:r>
              <a:t>Aaj aapne chart par lines badhayi nahi, ghataayi. Koi tool kya nahi bata sakta, yeh jaanna hi asli chart reading ki shuruaat hai.</a:t>
            </a:r>
          </a:p>
          <a:p/>
          <a:p>
            <a:r>
              <a:t>Agla: Day 9 · Risk pehle: 1% rule aur position sizing</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9: Risk pehle: 1% rule aur position sizing</a:t>
            </a:r>
          </a:p>
          <a:p/>
          <a:p>
            <a:r>
              <a:t>Concept: 1% rule, position sizing aur woh limits jo aapko game mein tikaaye rakhti hain</a:t>
            </a:r>
          </a:p>
          <a:p>
            <a:r>
              <a:t>AI Lab: Sizing sheet banaiye; formulas AI se check karwaiye</a:t>
            </a:r>
          </a:p>
          <a:p>
            <a:r>
              <a:t>Mindset: 'Is baar bada lagata hoon'</a:t>
            </a:r>
          </a:p>
          <a:p/>
          <a:p>
            <a:r>
              <a:t>Aaj ke baad: Aaj ke baad aap 1% formula se kisi bhi trade ka size nikaal payenge, maximum entry par 25% cap laga payenge, samjha payenge ki stop-loss ke baad bhi loss 1R se zyada kyun ho sakta hai, check kar payenge ki koi do open trades ek hi sector mein na hon, aur paanch limits wala woh Risk Card likh payenge jis par aap Day 12 se chalenge.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baar bada</a:t>
            </a:r>
          </a:p>
          <a:p/>
          <a:p>
            <a:r>
              <a:t>(Monday, subah 7:30. Pune mein subah ki chai ke saath Aman ko ek chart bahut pasand aa gaya hai, aur office nikalne se pehle woh mentor ko call kar deta hai. Priya Lucknow se notebook khol kar call par judti hai.)</a:t>
            </a:r>
          </a:p>
          <a:p>
            <a:r>
              <a:t>Aman: Sir, Rs 500 wala zone toot gaya tha, ab Bharat Pumps teen baar Rs 400 se bounce ho chuka hai. Paper trading shuru hote hi is baar bada lagata hoon: Rs 5 lakh, mere Rs 10 lakh ke practice capital ka aadha. Poore 1,250 shares.</a:t>
            </a:r>
          </a:p>
          <a:p>
            <a:r>
              <a:t>Priya: Aur agar is baar Rs 400 toot gaya toh? Exit kahan hoga, aur usmein kitna jaayega?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baar bada</a:t>
            </a:r>
          </a:p>
          <a:p/>
          <a:p>
            <a:r>
              <a:t>Aman: Stop-loss Rs 380 par lagaunga. Sirf Rs 20 per share. Chhota sa risk hai.</a:t>
            </a:r>
          </a:p>
          <a:p>
            <a:r>
              <a:t>Mentor: Pehle ek sawaal, Aman. 1,250 shares par Rs 20 kitna hua? Aur agar raat mein buri khabar aa gayi aur stock Rs 360 par khula, toh kya aapka stop Rs 380 par bech payega?</a:t>
            </a:r>
          </a:p>
          <a:p>
            <a:r>
              <a:t>Priya: Stop chala toh Rs 25,000. Rs 360 par khula toh ek hi subah mein Rs 50,000.</a:t>
            </a:r>
          </a:p>
          <a:p/>
          <a:p>
            <a:r>
              <a:t>Seekh: Chart batata hai exit kahan karna hai; kitna khareedna hai, yeh kabhi nahi batata. Woh formula se aata hai, aur size hi trade ka woh hissa hai jo poori tarah aapke haath mein hai.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rule: trade se pehle loss tay kijiye</a:t>
            </a:r>
          </a:p>
          <a:p/>
          <a:p>
            <a:r>
              <a:t>Koi bhi trade lene se pehle tay kar lijiye ki galat nikle toh zyada se zyada kitna nuksaan uthayenge. Is course mein yeh limit aapke capital ka 1% hai; capital matlab woh paisa jo aapne trading ke liye alag rakha hai. Day 3 mein aapne 1R dekha tha, yaani stop hit hone par planned loss; aaj se iska size tay hai: aapke shuruaati capital ka 1%, yaani Rs 10 lakh ke challenge capital par Rs 10,000. Yeh Rs 10,000 poore challenge mein fixed rehta hai: jeet ke baad badhta nahi, loss ke baad ghatta nahi, taaki journal ka har trade ek hi paimaane se naapa jaaye. Yeh rule nahi batata ki trade mein kitna paisa lagega; yeh batata hai ki stop-loss hit hua toh plan ke hisaab se woh trade aapse kitna le jaayega. Chhote loss aapko game mein itni der tikaaye rakhte hain ki aap kisi method ko theek se parakh sakein: kam se kam 30 trades, aur bharose ke liye 100.</a:t>
            </a:r>
          </a:p>
          <a:p/>
          <a:p>
            <a:r>
              <a:t>Udaharan: Lucknow mein do chai-stall wale naye items try karne ke liye apne galle mein Rs 10,000 rakhte hain. Ramesh har naye idea par Rs 1,000 lagata hai, yaani shuruaati galle ka 10%; Salim sirf Rs 100, yaani 1%. Baarish ke do kharab hafton mein lagataar das idea flop ho gaye, Day 3 ke saat wale silsile se bhi lamba. Ramesh ka galla khaali ho gaya: gyarahva idea, jo shayad chal jaata, kabhi try hi nahi hua. Salim ke paas abhi bhi Rs 9,000 hain, aur wapas Rs 10,000 tak pahunchne ke liye use bas lagbhag 11% chahiye. Kismat dono ki ek jaisi kharab thi, aage ka raasta bilkul alag.</a:t>
            </a:r>
          </a:p>
          <a:p/>
          <a:p>
            <a:r>
              <a:t>Yaad rakhiye: 1% woh zyada se zyada loss hai jo aap ek idea par plan karte hain, invest hone wali rakam nahi.</a:t>
            </a:r>
          </a:p>
          <a:p/>
          <a:p>
            <a:r>
              <a:t>Slide par: Lagataar 10 loss · Lagataar 10 loss ke baad kitna capital bachta hai, jab har loss shuru mein tay ki gayi ek fixed rakam ho, jaise course ka fixed 1R. Har trade par 5% ho toh aadha capital chala gaya aur wapas aane ke liye +100% chahiye; 10% par kuch nahi bachta.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Sizing formula: pehle stop, phir quantity</a:t>
            </a:r>
          </a:p>
          <a:p/>
          <a:p>
            <a:r>
              <a:t>Position size ka matlab hai aap kitne shares khareedenge, aur yeh teen chhote steps se nikalta hai. Pehla, risk budget = capital x 1%. Doosra, risk per share = entry price aur stop-loss price ke beech ki doori. Teesra, quantity = risk budget ÷ risk per share, round down karke poore share tak, kyunki round up karne se 1% ki limit toot jaayegi. Sequence par dhyaan dijiye: jab tak stop pata nahi, trade ka size nikal hi nahi sakta. Stop kahan lagega, yeh chart batata hai: Day 6 ke swing lows, ya Day 8 ki 1.5 x ATR wali doori, jise Day 11 swing rule mein jodega.</a:t>
            </a:r>
          </a:p>
          <a:p/>
          <a:p>
            <a:r>
              <a:t>Udaharan: Day 8 ke quiz mein Gupta Cement Ltd ka stop Rs 300 ki entry se Rs 12 neeche tha: Rs 10,000 ÷ 12 = 833.3, yaani 833 shares. Priya apne Rs 10 lakh ke virtual capital par Kiran Foods Ltd ka ek practice trade size karti hai: entry Rs 250, stop Rs 237. Risk per share Rs 13 hua. Rs 10,000 ÷ 13 = 769.2, toh woh 769 shares leti hai, aur uska planned risk 769 x Rs 13 = Rs 9,997 hai, 1R ke andar. 770 tak round up karti toh risk Rs 10,010 ho jaata. Rs 1 lakh ke account par yahi trade Rs 1,000 ÷ 13 = 76 shares ka banta: formula aapke capital ke saath chhota-bada hota hai.</a:t>
            </a:r>
          </a:p>
          <a:p/>
          <a:p>
            <a:r>
              <a:t>Yaad rakhiye: Pehle stop, phir size. Kitne shares, yeh formula tay karta hai, aapka mood nahi.</a:t>
            </a:r>
          </a:p>
          <a:p/>
          <a:p>
            <a:r>
              <a:t>Slide par: Aman ka trade, sahi size ke saath · 500 shares x Rs 400 = Rs 2,00,000, yaani capital ka 20%. Aman ke 1,250 shares Rs 5,00,000 ke hote, yaani 50%: agle topic ke 25% cap ka dugna.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cap: jab tight stop bahut zyada maangta hai</a:t>
            </a:r>
          </a:p>
          <a:p/>
          <a:p>
            <a:r>
              <a:t>Is formula mein ek kamzori hai. Jab stop entry ke bilkul paas ho, toh risk per share bahut chhota hota hai, aur formula bahut badi quantity maang leta hai. Isliye course ek doosri limit jodta hai: koi bhi ek position aapke capital ke 25% se zyada ki nahi hogi, yaani Rs 10 lakh par Rs 2.5 lakh. Position value = quantity x entry price. Ise ek shaam pehle check kijiye, apni maximum planned entry par, yaani kal aap zyada se zyada jis price tak khareedne ko taiyaar hain (Day 11 ise tay karna sikhayega); market jis price par khule, us par kabhi nahi. Pehle formula se size nikaliye, phir cap check kijiye, aur jo quantity chhoti ho wahi lijiye. Leverage, yaani broker aapko apne cash se badi position lene de, in dono limits ko nahi badalta: dono aapke apne capital par hi naapi jaati hain.</a:t>
            </a:r>
          </a:p>
          <a:p/>
          <a:p>
            <a:r>
              <a:t>Udaharan: Sharma Textiles Ltd: maximum entry Rs 500, stop Rs 495, yaani risk per share sirf Rs 5. Formula kehta hai Rs 10,000 ÷ 5 = 2,000 shares, jinki value Rs 10 lakh hai: aapka poora capital ek hi stock mein. Cap sirf Rs 2,50,000 ÷ 500 = 500 shares ki ijazat deta hai, toh planned risk ghat ke 500 x Rs 5 = Rs 2,500 (0.25R) reh jaata hai. Ab maan lijiye buri khabar ke baad stock Rs 450 par khulta hai. Bina cap ke loss 2,000 x Rs 50 = Rs 1,00,000 hai, ek hi subah mein capital ka 10%. Cap ke saath yeh Rs 25,000 (2.5R) hai: dard hota hai, par aap game mein bane rehte hain.</a:t>
            </a:r>
          </a:p>
          <a:p/>
          <a:p>
            <a:r>
              <a:t>Yaad rakhiye: Pehle formula, phir 25% cap. Hamesha chhoti quantity lijiye.</a:t>
            </a:r>
          </a:p>
          <a:p/>
          <a:p>
            <a:r>
              <a:t>Slide par: Pehle formula, phir cap · Sharma Textiles Ltd: Rs 5 ka stop safe lagta hai, lekin sirf formula ke bharose chalte toh poora capital ek hi stock mein chala jaata.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Jab stop phisal jaaye: gap, circuit aur slippage</a:t>
            </a:r>
          </a:p>
          <a:p/>
          <a:p>
            <a:r>
              <a:t>Stop-loss woh price hai jahan aap exit karna plan karte hain; yeh is baat ka vaada nahi ki aapko wahi price milega (Day 2). Gap stop ke upar se kood sakta hai: buri khabar market band hone ke baad aati hai aur stock aapke stop se kaafi neeche khulta hai. Tab SL-M (stop-loss market) order usi opening price ke aas-paas bik jaata hai, ya broker use reject kar deta hai aur aapko khud bechna padta hai (Day 2), aur SL (stop-loss limit) order shayad bike hi nahi. Circuit aapko phansa sakta hai: lower price band par buyers na ke barabar hote hain, aur aapka sell order bas queue mein pada rehta hai. Slippage thoda aur jod deta hai: tez girte market mein market order trigger se thoda neeche fill hota hai. 1% ki ek aur wajah yahi hai: tab 2R ka jhatka capital ka 2% hota hai, jabki 10% risk par wahi jhatka 20% ka hota hai.</a:t>
            </a:r>
          </a:p>
          <a:p/>
          <a:p>
            <a:r>
              <a:t>Udaharan: Maan lijiye Aman sahi size wala trade paper par leta hai: Bharat Pumps Ltd ke 500 shares Rs 400 par, stop Rs 380, yaani 1R = Rs 10,000. Shaam ko kamzor results aate hain, aur agli subah pre-open mein opening price Rs 360 tay hota hai. Uska SL-M stop, jo woh har shaam AMO ki tarah lagata hai, exchange tak 9:15 par hi pahunchta hai, aur tab tak trigger pehle se hi price ke upar hai. Kai brokers aisa sell stop reject kar dete hain, tab use khud bechna padta hai; kuch systems use turant trigger kar dete hain (Day 2). Dono haalat mein woh lagbhag Rs 360 par bechta hai: loss 500 x Rs 40 = Rs 20,000, yaani 2R, capital ka 2%. Isi ek gap se -2R ka daily stop bhi lag gaya, toh us din ki trading khatam; lekin agle hafte bhi woh trading mein hai. Uske pehle plan ke 1,250 shares ke saath yahi subah Rs 50,000 (5R) ki padti.</a:t>
            </a:r>
          </a:p>
          <a:p/>
          <a:p>
            <a:r>
              <a:t>Yaad rakhiye: Stop plan tay karta hai; gap aur circuit asli exit ko kahin aur le ja sakte hain. Size itna chhota rakhiye ki in dono ko jhel sakein.</a:t>
            </a:r>
          </a:p>
          <a:p/>
          <a:p>
            <a:r>
              <a:t>Slide par: Gap stop ke upar se kood gaya · Stop Rs 380 par tha, lekin khabar ke baad pehla price hi Rs 360 tha. Loss: 2R, 1R nahi.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Teen open trades, aur saath girne wale trades</a:t>
            </a:r>
          </a:p>
          <a:p/>
          <a:p>
            <a:r>
              <a:t>Do aur limits poore account ko bachati hain. Pehli, ek waqt mein zyada se zyada 3 trades open rakhiye, taaki ek saath 3R se zyada, yaani capital ke lagbhag 3% se zyada, planned risk na ho; 25% cap ke saath aapke capital ka kam se kam ek-chauthai hissa cash mein bhi rehta hai. Doosri, correlation par nazar rakhiye, yaani do shares kitna saath-saath chalte hain. Ek hi sector ke shares, yaani ek hi tarah ka business, jaise teen bank, ek hi khabar par react karte hain, isliye teen bank trades asal mein banks par ek bada daon hain. Seedha sa check: agar do open trades ek hi headline par gir sakte hain, toh unhe do alag trades nahi, ek bada daon maaniye jiska risk jud jaata hai, aur open trades alag-alag sectors mein rakhiye. Kisi stock ka sector jaanne ke liye NSE ki website par uska quote page kholiye; wahan har listed share ka sector aur industry likha hota hai (aapki charting site ke symbol page par bhi aksar milta hai; latest ke liye NSE check kijiye). Har open trade ke aage uska sector likhiye, aur naya trade jodne se pehle dekhiye: woh sector list mein pehle se hai, toh naya trade chhod dijiye.</a:t>
            </a:r>
          </a:p>
          <a:p/>
          <a:p>
            <a:r>
              <a:t>Udaharan: Aman ke paper trading ka pehla hafta sochiye: teen trades open hain, har ek 1R ka, aur teeno bank shares hain. Ek shaam poore banking sector par ek buri headline aa jaati hai. Agli subah pehle kuch minute mein hi teeno stops hit ho jaate hain: kam se kam 3R, yaani Rs 30,000, sochne se pehle hi chale gaye. Priya ke bhi teen trades hain: ek bank, ek cement company aur ek pump company. Wahi headline shayad sirf uske bank trade ko lagegi: kam se kam 1R, 3R nahi. Naam dhokha de sakte hain: Kiran Foods Ltd aur Anand Snacks Ltd alag lagte hain, lekin dono food products ke business mein hain, isliye cooking oil ke daam mein ek uchaal dono ko chot pahuncha sakta hai. Isiliye check sector ka hota hai, naam ka nahi.</a:t>
            </a:r>
          </a:p>
          <a:p/>
          <a:p>
            <a:r>
              <a:t>Yaad rakhiye: Jo trades ek hi khabar par girte hain, woh ek bada daon hain. Sector check kijiye, naam nahi.</a:t>
            </a:r>
          </a:p>
          <a:p/>
          <a:p>
            <a:r>
              <a:t>Slide par: Teen trades, ya ek bada daon? · Poore market ki giraavat teeno ko phir bhi maar sakti hai. Alag sectors mein baantne se yeh risk kam hota hai, khatam nahi.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Daily stop, aur 'is baar bada lagata hoon' wala mann</a:t>
            </a:r>
          </a:p>
          <a:p/>
          <a:p>
            <a:r>
              <a:t>'Is baar bada lagata hoon' wala mann aksar do mauko par aata hai: do-teen trade jeetne ke baad, jab aap khud ko pakka sahi maante hain, aur do-teen loss ke baad, jab paisa jaldi wapas chahiye. Dono waqt feeling sabse tez hoti hai aur samajh sabse kamzor, isliye size kabhi confidence ke hisaab se nahi badalta; sirf formula se aata hai. Course aapko ek emergency off switch bhi deta hai, jise hum kill-switch for humans kehte hain: ek din mein -2R (do poore loss, yaani 1% risk par -2%) ke baad us din trading band, 'bas ek aakhri recovery trade' bhi nahi. Hafte mein -5R ho jaaye, toh ruk jaiye aur agle trade se pehle apna journal padhiye. Koi bhi rule badalna weekend ka kaam hai, likh kar, market hours mein kabhi nahi.</a:t>
            </a:r>
          </a:p>
          <a:p/>
          <a:p>
            <a:r>
              <a:t>Udaharan: Challenge ka ek din sochiye, jab Aman ne office se chhutti li hai. Subah 11 baje tak Aman do poore trades haar chuka hai: -Rs 20,000, yaani -2R. Ek naya chart ekdum perfect lag raha hai, aur woh use double size par lena chahta hai, Rs 20,000 ke risk ke saath, 'sab wapas nikaalne ke liye'. Agar yeh bhi fail ho gaya, toh din -4R, yaani Rs 40,000 par khatam hoga. Kill-switch ke saath woh -2R, yaani capital ke 2% par app band kar deta hai, aur kal normal 1R size se nayi shuruaat karta hai.</a:t>
            </a:r>
          </a:p>
          <a:p/>
          <a:p>
            <a:r>
              <a:t>Yaad rakhiye: Size formula se aata hai, is baat se kabhi nahi ki aap kitne sure feel kar rahe hain.</a:t>
            </a:r>
          </a:p>
          <a:p/>
          <a:p>
            <a:r>
              <a:t>Slide par: Loss ki seedhi · Paanchon limits Aaj Ka Kaam mein aapke Risk Card par hain. Yeh seedhi dikhati hai ki har loss level par aapke baaki din aur hafte ka kya hoga; card market khulne se pehle, shaant mann se likhiye.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1R (risk per trade): Stop hit hone par ek trade ka planned loss: shuruaati capital ka 1%, yaani Rs 10 lakh par Rs 10,000, poore challenge mein fixed.</a:t>
            </a:r>
          </a:p>
          <a:p>
            <a:r>
              <a:t>Risk per share: Aapke entry price aur stop-loss price ke beech ki doori.</a:t>
            </a:r>
          </a:p>
          <a:p>
            <a:r>
              <a:t>Position size: Aap kitne shares khareedte hain: risk budget ÷ risk per share, round down karke, aur zaroorat ho toh 25% cap tak kam karke.</a:t>
            </a:r>
          </a:p>
          <a:p>
            <a:r>
              <a:t>Exposure cap: Ek position ki zyada se zyada value: capital ka 25%, yaani Rs 10 lakh par Rs 2.5 lakh, ek shaam pehle maximum planned entry par check ki hui.</a:t>
            </a:r>
          </a:p>
          <a:p>
            <a:r>
              <a:t>Correlation: Do shares kitna saath-saath chalte hain. Correlated trades ek bade daon ki tarah behave karte hain.</a:t>
            </a:r>
          </a:p>
          <a:p>
            <a:r>
              <a:t>Sector: Company kis tarah ka business karti hai, jaise cement, bank ya food products. NSE par har listed share ke quote page par yeh likha hota hai.</a:t>
            </a:r>
          </a:p>
          <a:p>
            <a:r>
              <a:t>Kill-switch for humans: Daily stop: ek din mein -2R (challenge capital par Rs 20,000) ke baad agle din tak koi trade nahi.</a:t>
            </a:r>
          </a:p>
          <a:p>
            <a:r>
              <a:t>Weekly pause: Ek hafte mein -5R (challenge capital par Rs 50,000) ke baad ruk jaiye aur agle trade se pehle apna journal padhiye.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Pehle risk, phir size</a:t>
            </a:r>
          </a:p>
          <a:p>
            <a:r>
              <a:t>1% rule: 1R fixed: Rs 10 lakh par Rs 10,000; Planned loss ki limit, investment ki nahi; Losing streak jhelne mein madad</a:t>
            </a:r>
          </a:p>
          <a:p>
            <a:r>
              <a:t>Sizing formula: Budget = capital x 1%; ÷ entry se stop ki doori; Hamesha round down</a:t>
            </a:r>
          </a:p>
          <a:p>
            <a:r>
              <a:t>25% cap: Ek position max Rs 2.5 lakh; Tight stop mein sabse zaroori; Chhoti quantity lijiye; Max entry par check</a:t>
            </a:r>
          </a:p>
          <a:p>
            <a:r>
              <a:t>Stop phisal sakta hai: Gap stop ke upar se kood jaata hai; Circuit sellers ko phansata hai; Loss 1R se zyada ho sakta hai</a:t>
            </a:r>
          </a:p>
          <a:p>
            <a:r>
              <a:t>Account ki limits: Max 3 open trades; Ek khabar wale trades = ek daon; -2R par din band, -5R par pause aur review; Pehle sector check</a:t>
            </a:r>
          </a:p>
          <a:p>
            <a:r>
              <a:t>Aapka mann: Confidence size nahi hai; 'Wapas nikaalo' trade nahi; Rules sirf weekend par badlein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Sheets mein apna sizing calculator banaiye, chaar practice trades par test kijiye aur apna Risk Card likhiye.</a:t>
            </a:r>
          </a:p>
          <a:p/>
          <a:p>
            <a:r>
              <a:t>1. Ek nayi Google Sheet kholiye. A1 se A4 mein likhiye Capital, Risk %, Max entry, Stop; aur B1 se B4 mein 1000000, 1%, 400, 380.</a:t>
            </a:r>
          </a:p>
          <a:p>
            <a:r>
              <a:t>2. A5 se A7 mein likhiye Risk budget, Risk per share, Quantity. B5 mein =B1*B2, B6 mein =ABS(B3-B4), B7 mein =ROUNDDOWN(B5/B6,0). Sheets mein * ka matlab guna hai.</a:t>
            </a:r>
          </a:p>
          <a:p>
            <a:r>
              <a:t>3. A8 se A10 mein likhiye Position value, Cap check, Final quantity. B8 mein =B7*B3, B9 mein =IF(B8&gt;0.25*B1,"OVERSIZED","OK"), B10 mein =MIN(B7,ROUNDDOWN(0.25*B1/B3,0)).</a:t>
            </a:r>
          </a:p>
          <a:p>
            <a:r>
              <a:t>4. Sirf Max entry aur Stop badal kar chaar trades test kijiye: 400/380, 250/237, 500/495 aur 300/288 (Day 8 ka 1.5 x ATR stop). Har number ko Aapka template ki 'Chaar test trades' table se milaiye: sirf 500/495 par OVERSIZED aata hai, aur uski Final quantity 500 hai.</a:t>
            </a:r>
          </a:p>
          <a:p>
            <a:r>
              <a:t>5. Aapka template se Risk Card ko paper par ya apni sheet mein, apne haath se ya apne shabdon mein, utaariye, aur use chart ke paas rakhiye.</a:t>
            </a:r>
          </a:p>
          <a:p>
            <a:r>
              <a:t>6. AI Lab ka 'Meri sizing sheet check kijiye' prompt chalaiye, phir uska ek jawab khud phone calculator par dobara check kijiye.</a:t>
            </a:r>
          </a:p>
          <a:p/>
          <a:p>
            <a:r>
              <a:t>Aaj ke baad: Aaj ke baad aap 1% formula se kisi bhi trade ka size nikaal payenge, maximum entry par 25% cap laga payenge, samjha payenge ki stop-loss ke baad bhi loss 1R se zyada kyun ho sakta hai, check kar payenge ki koi do open trades ek hi sector mein na hon, aur paanch limits wala woh Risk Card likh payenge jis par aap Day 12 se chalenge.</a:t>
            </a:r>
          </a:p>
          <a:p/>
          <a:p>
            <a:r>
              <a:t>Tools: Google Sheets; Phone calculator; Risk Card ke liye paper ya notebook; Koi bhi AI chat; NSE website, stock ka sector dekhne ke liye</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Sheets mein apna sizing calculator banaiye, chaar practice trades par test kijiye aur apna Risk Card likhiye.</a:t>
            </a:r>
          </a:p>
          <a:p/>
          <a:p>
            <a:r>
              <a:t>1. Ek nayi Google Sheet kholiye. A1 se A4 mein likhiye Capital, Risk %, Max entry, Stop; aur B1 se B4 mein 1000000, 1%, 400, 380.</a:t>
            </a:r>
          </a:p>
          <a:p>
            <a:r>
              <a:t>2. A5 se A7 mein likhiye Risk budget, Risk per share, Quantity. B5 mein =B1*B2, B6 mein =ABS(B3-B4), B7 mein =ROUNDDOWN(B5/B6,0). Sheets mein * ka matlab guna hai.</a:t>
            </a:r>
          </a:p>
          <a:p>
            <a:r>
              <a:t>3. A8 se A10 mein likhiye Position value, Cap check, Final quantity. B8 mein =B7*B3, B9 mein =IF(B8&gt;0.25*B1,"OVERSIZED","OK"), B10 mein =MIN(B7,ROUNDDOWN(0.25*B1/B3,0)).</a:t>
            </a:r>
          </a:p>
          <a:p>
            <a:r>
              <a:t>4. Sirf Max entry aur Stop badal kar chaar trades test kijiye: 400/380, 250/237, 500/495 aur 300/288 (Day 8 ka 1.5 x ATR stop). Har number ko Aapka template ki 'Chaar test trades' table se milaiye: sirf 500/495 par OVERSIZED aata hai, aur uski Final quantity 500 hai.</a:t>
            </a:r>
          </a:p>
          <a:p>
            <a:r>
              <a:t>5. Aapka template se Risk Card ko paper par ya apni sheet mein, apne haath se ya apne shabdon mein, utaariye, aur use chart ke paas rakhiye.</a:t>
            </a:r>
          </a:p>
          <a:p>
            <a:r>
              <a:t>6. AI Lab ka 'Meri sizing sheet check kijiye' prompt chalaiye, phir uska ek jawab khud phone calculator par dobara check kijiye.</a:t>
            </a:r>
          </a:p>
          <a:p/>
          <a:p>
            <a:r>
              <a:t>Aaj ke baad: Aaj ke baad aap 1% formula se kisi bhi trade ka size nikaal payenge, maximum entry par 25% cap laga payenge, samjha payenge ki stop-loss ke baad bhi loss 1R se zyada kyun ho sakta hai, check kar payenge ki koi do open trades ek hi sector mein na hon, aur paanch limits wala woh Risk Card likh payenge jis par aap Day 12 se chalenge.</a:t>
            </a:r>
          </a:p>
          <a:p/>
          <a:p>
            <a:r>
              <a:t>Tools: Google Sheets; Phone calculator; Risk Card ke liye paper ya notebook; Koi bhi AI chat; NSE website, stock ka sector dekhne ke liye</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Card</a:t>
            </a:r>
          </a:p>
          <a:p/>
          <a:p>
            <a:r>
              <a:t>Paanch limits, shaant mann se likhi hui. Challenge poore Stage 1 mein Rs 10 lakh wala column use karta hai; Rs 1 lakh wala column dikhata hai ki har limit capital ke saath badalti hai. Kabhi alag rakam se shuru karein, toh pehle trade se pehle saare number dobara nikaaliye.</a:t>
            </a:r>
          </a:p>
          <a:p/>
          <a:p>
            <a:r>
              <a:t>Limit | Rule | Rs 10 lakh par | Rs 1 lakh par</a:t>
            </a:r>
          </a:p>
          <a:p>
            <a:r>
              <a:t>Har trade ka risk (1R) | Shuruaati capital ka 1%, fixed | Rs 10,000 | Rs 1,000</a:t>
            </a:r>
          </a:p>
          <a:p>
            <a:r>
              <a:t>Ek position | Zyada se zyada 25%, max planned entry par | Rs 2,50,000 | Rs 25,000</a:t>
            </a:r>
          </a:p>
          <a:p>
            <a:r>
              <a:t>Open trades | Zyada se zyada 3, har ek alag sector mein | 3R = Rs 30,000 | 3R = Rs 3,000</a:t>
            </a:r>
          </a:p>
          <a:p>
            <a:r>
              <a:t>Daily stop | -2R par us din trading band | -Rs 20,000 | -Rs 2,000</a:t>
            </a:r>
          </a:p>
          <a:p>
            <a:r>
              <a:t>Weekly pause | -5R par ruk kar review | -Rs 50,000 | -Rs 5,000</a:t>
            </a:r>
          </a:p>
          <a:p>
            <a:r>
              <a:t>Signature | Aapka naam aur aaj ki date |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Chaar test trades</a:t>
            </a:r>
          </a:p>
          <a:p/>
          <a:p>
            <a:r>
              <a:t>Rs 10 lakh aur 1% risk par aapki sheet mein bilkul yahi number aane chahiye. Khaali rows Size Sprint ke liye hain.</a:t>
            </a:r>
          </a:p>
          <a:p/>
          <a:p>
            <a:r>
              <a:t>Max entry | Stop | Risk per share | Formula qty | Max entry par value | Final qty</a:t>
            </a:r>
          </a:p>
          <a:p>
            <a:r>
              <a:t>Rs 400 | Rs 380 | Rs 20 | 500 | Rs 2,00,000 | 500</a:t>
            </a:r>
          </a:p>
          <a:p>
            <a:r>
              <a:t>Rs 250 | Rs 237 | Rs 13 | 769 | Rs 1,92,250 | 769</a:t>
            </a:r>
          </a:p>
          <a:p>
            <a:r>
              <a:t>Rs 500 | Rs 495 | Rs 5 | 2,000 | Rs 10,00,000 | 500 (OVERSIZED)</a:t>
            </a:r>
          </a:p>
          <a:p>
            <a:r>
              <a:t>Rs 300 | Rs 288 | Rs 12 | 833 | Rs 2,49,900 | 833</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trades ka check</a:t>
            </a:r>
          </a:p>
          <a:p/>
          <a:p>
            <a:r>
              <a:t>Bhari hui rows ek model hafta hain. Day 12 se har naye paper trade se pehle ek row bhariye, sector stock ke NSE quote page se lekar. Woh sector pehle se open ho, ya 3 trades pehle se open hon, toh naya trade intezaar karega.</a:t>
            </a:r>
          </a:p>
          <a:p/>
          <a:p>
            <a:r>
              <a:t>Stock | Sector | Planned risk | Faisla</a:t>
            </a:r>
          </a:p>
          <a:p>
            <a:r>
              <a:t>Gupta Cement Ltd | Cement | 1R | Open</a:t>
            </a:r>
          </a:p>
          <a:p>
            <a:r>
              <a:t>Kiran Foods Ltd | Food products | 1R | Open</a:t>
            </a:r>
          </a:p>
          <a:p>
            <a:r>
              <a:t>Anand Snacks Ltd | Food products | 1R | Skip: Kiran Foods wala hi sector</a:t>
            </a:r>
          </a:p>
          <a:p>
            <a:r>
              <a:t>Bharat Pumps Ltd | Pumps (capital goods) | 1R | Open: teesra trade, naya sector</a:t>
            </a:r>
          </a:p>
          <a:p>
            <a:r>
              <a:t>Koi chautha stock | - | 1R | Intezaar: 3 trades pehle se open</a:t>
            </a:r>
          </a:p>
          <a:p>
            <a:r>
              <a:t>+ 3 ___</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Sprint: kisi dost ya ghar mein kisi se paanch entry aur stop prices bolne ko kahiye. Har ek ka size phone calculator par 60 second mein nikaaliye aur 'Chaar test trades' ki khaali rows mein likhiye. Har sahi, round down ki hui quantity aur har pakde gaye OVERSIZED ka ek point; sirf speed ka koi point nahi.</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Meri sizing sheet check kijiye</a:t>
            </a:r>
          </a:p>
          <a:p>
            <a:r>
              <a:t>You are a careful spreadsheet tutor for a beginner who is learning position sizing for Indian cash-market shares with virtual money only. I will paste the formulas from my Google Sheets sizing calculator. Inputs: capital, risk % per trade, maximum planned entry price, stop price. Outputs: risk budget, risk per share (the absolute distance between entry and stop), quantity rounded down to a whole share, position value (quantity x maximum entry), a cell that shows OVERSIZED when position value is above 25% of capital, and a final quantity that is the smaller of the formula quantity and the 25% cap quantity. Check each formula for mistakes and explain any error in simple words. Then work these four test cases by hand, showing every step, so I can compare with my sheet: capital Rs 10,00,000 and risk 1%, with maximum entry/stop of 400/380, 250/237, 500/495 and 300/288, and for each give the formula quantity, the position value, OK or OVERSIZED, and the final quantity after the 25% cap. Do not recommend any stock, do not give buy or sell advice, and do not mention targets or expected returns.</a:t>
            </a:r>
          </a:p>
          <a:p/>
          <a:p>
            <a:r>
              <a:t>Prompt 2: Mere stop ka stress-test</a:t>
            </a:r>
          </a:p>
          <a:p>
            <a:r>
              <a:t>Act as a patient risk teacher for Indian markets. On Rs 10,00,000 of virtual capital I plan a practice trade in a made-up NSE stock, 'Bharat Pumps Ltd': 500 shares at Rs 400 with a stop-loss at Rs 380, so 1R = Rs 10,000. Describe five realistic situations in which my actual loss could be bigger than 1R, for example an overnight gap, a lower circuit, slippage in a fast market, or an SL-limit order that does not fill. For each one, state an example price clearly and calculate the loss in rupees and in R. Label every statement Fact (how Indian markets work, checkable on the NSE or SEBI website), Guess (your assumption about prices) or Kachra (a popular myth). Finish with three habits that limit the damage. Do not recommend any stock, do not give buy or sell advice, and do not mention targets or expected returns. Do not quote any price-band or circuit percentage; say that the exchange sets the band for each stock and that I should check the NSE website. Use only this made-up company in every situation, and do not name any real company, index constituent or real news event.</a:t>
            </a:r>
          </a:p>
          <a:p/>
          <a:p>
            <a:r>
              <a:t>Prompt 3: 'Bada lagata hoon' wala mann</a:t>
            </a:r>
          </a:p>
          <a:p>
            <a:r>
              <a:t>Act as a calm trading-psychology coach. Ask me 5 short questions, one at a time, about the moments when I have wanted to increase my position size: after wins, after losses, or when a tip or a chart looked 'perfect'. After my answers, describe my pattern in plain words and help me write two if-then rules, for example 'If I feel very sure, then I still use the formula size'. Do not ask for any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paas Rs 10,00,000 ka virtual capital hai aur woh har trade par 1% risk leti hai. Entry Rs 320 hai aur stop Rs 304. Use kitne shares khareedne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Rs 800, stop Rs 796, capital Rs 10 lakh, risk 1%. Sizing formula 2,500 shares deta hai. Course ke rules ke hisaab se final size kitna hoga?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ke ek hafte baad aapka virtual account Rs 9,70,000 dikha raha hai. Aapke paas Kiran Foods Ltd ke 400 shares hain, Rs 250 par khareede, stop Rs 225 par. Buri khabar ke baad stock Rs 205 par khulta hai, aur aapka stop opening par bech deta hai. Loss kitne R ka hua?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ke teen swing trades open hain, har ek 1R ka: Gupta Cement Ltd aur do aur cement companies. Kaunsi baat sabse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Office se chhutti ke din Priya ka ek trade open hai. Stock uske stop ke neeche gap ke saath khulta hai, aur exit par use -2R ka loss hota hai. Dopahar 1:30 baje ek saaf setup aata hai jo uske saare rules par fit hai. Course ke rules kya kehte hain?</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Aakhri baar 'is baar bada lagata hoon' wala mann kab aaya tha, market mein ya kahin aur? Usse theek pehle aap kya feel kar rahe the? Woh ek line likhiye jo agli baar yeh mann aane par aap khud se kahenge.</a:t>
            </a:r>
          </a:p>
          <a:p/>
          <a:p>
            <a:r>
              <a:t>Agla trade kaise khatam hoga, yeh aapke haath mein nahi. Uska size hamesha aapke haath mein hai.</a:t>
            </a:r>
          </a:p>
          <a:p/>
          <a:p>
            <a:r>
              <a:t>Agla: Day 10 · Aapka style, aur investing ka raasta</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10: Aapka style, aur investing ka raasta</a:t>
            </a:r>
          </a:p>
          <a:p/>
          <a:p>
            <a:r>
              <a:t>Concept: Holding time ke hisaab se trading styles, paise ka sahi order, aur investing ka raasta</a:t>
            </a:r>
          </a:p>
          <a:p>
            <a:r>
              <a:t>AI Lab: Style Fit interview: AI sawaal poochhe, faisla aapka</a:t>
            </a:r>
          </a:p>
          <a:p>
            <a:r>
              <a:t>Mindset: Kisi aur ka style copy karna</a:t>
            </a:r>
          </a:p>
          <a:p/>
          <a:p>
            <a:r>
              <a:t>Aaj ke baad: Aaj ke baad aap chaaron styles (intraday, swing, positional, investing) ko holding period aur screen time se pehchaan payenge, Style Fit check se woh style chun payenge jo aapka asli din allow karta hai, apna paisa sahi order mein rakh payenge (pehle emergency fund, phir goals, phir risk capital), aur index fund, ETF, NAV, expense ratio, tracking error, SIP aur IPO ka process samjha payenge.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room mein five-minute charts</a:t>
            </a:r>
          </a:p>
          <a:p/>
          <a:p>
            <a:r>
              <a:t>(Monday ki shaam. Aman office ke kapdon mein hi Pune se mentor ko call karta hai. Priya Lucknow se jud jaati hai.)</a:t>
            </a:r>
          </a:p>
          <a:p>
            <a:r>
              <a:t>Aman: Sir, aaj maine YouTube wale full-time trader ko copy kiya: five-minute charts, jaldi andar, jaldi bahar, trades notebook mein likhe. Phir 11 baje ki meeting mein manager ne kuch pooch liya aur mere paas jawab hi nahi tha. Phone dekha toh price mere likhe stop-loss se kab ka neeche nikal chuka tha.</a:t>
            </a:r>
          </a:p>
          <a:p>
            <a:r>
              <a:t>Mentor: Aman, do sawaal. Woh kitne baje se kitne baje tak trade karta hai? Aur aap kitne baje se kitne baje tak kaam karte hain?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room mein five-minute charts</a:t>
            </a:r>
          </a:p>
          <a:p/>
          <a:p>
            <a:r>
              <a:t>Aman: Woh ghar par teen screens ke saath baithta hai, 9:15 se 3:30 tak. Main 9:30 se 6:30 tak office mein hota hoon... Matlab style toh maine uska copy kar liya, par uska din mere paas hai hi nahi.</a:t>
            </a:r>
          </a:p>
          <a:p>
            <a:r>
              <a:t>Priya: Sir, mujhe dinner ke baad bas 20 minute milte hain. Papa kehte hain, trading chhodo, SIP shuru karo. Toh kya investing sirf unke liye hai jo trade nahi kar paate?</a:t>
            </a:r>
          </a:p>
          <a:p>
            <a:r>
              <a:t>Mentor: Aap dono asli sawaal tak pahunch gaye hain. Aaj hum style aapke din ke hisaab se chunenge, kisi aur ke din ke hisaab se nahi. Aur Priya, investing apne aap mein ek poora raasta hai, majboori ka raasta nahi. Aur dono se pehle hum yeh dekhenge ki aapka paisa sahi order mein hai ya nahi.</a:t>
            </a:r>
          </a:p>
          <a:p/>
          <a:p>
            <a:r>
              <a:t>Seekh: Kisi aur ki zindagi se copy kiya hua style aapki zindagi mein toot jaata hai. Woh style chuniye jise aapka apna din sambhal sake.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Chaar styles, chaar ghadiyan</a:t>
            </a:r>
          </a:p>
          <a:p/>
          <a:p>
            <a:r>
              <a:t>Trading style zyadatar is baat par tika hai ki aap position kitni der hold karte hain; ise holding period kehte hain. Styles chaar hain: intraday (usi din), swing (kuch din se kuch hafte), positional (hafton se mahinon tak) aur investing (saalon tak). Scalping intraday ka sabse tez roop hai, jismein trade bas kuch minute chalta hai, aur optional Opening Range Breakout yaani ORB strategy (Day 13) ke liye aapko subah 9:15 se 11:00 tak screen ke saamne rehna padta hai, aur dopahar 2:30 baje phir se, taaki khula trade band kar sakein. Close ke paas jo intraday position khuli reh jaaye, use broker apne tay kiye cut-off time par khud square off kar deta hai (apne broker ka cut-off check kijiye; Day 2). Holding period jitna chhota, market hours mein utna zyada screen time chahiye, aur utni hi baar charges lagte hain. Tax bhi alag lagta hai (intraday ka profit speculative business income hai, delivery ka gain aam taur par capital gains, Day 2), isliye contract notes sambhal kar rakhiye aur CA se poochiye.</a:t>
            </a:r>
          </a:p>
          <a:p/>
          <a:p>
            <a:r>
              <a:t>Udaharan: Har round trip, yaani ek buy aur ek sell, ko ek toll booth samajhiye: trade jeete ya haare, charges aur slippage toh dene hi padte hain. Kuch charges har order par lagte hain aur kuch sirf buy ya sirf sell side par; kaunsa kahan laga, yeh aapka contract note batata hai. Din mein 20 round trips karne wala scalper 20 trading days mein lagbhag 400 booth paar kar leta hai. Day 11 wala EMA Pullback swing trader usi mahine mein shayad 5 booth hi paar kare, roz shaam lagbhag 20 minute chart dekh kar. Matlab scalper lagbhag 80 guna zyada booth paar karta hai, aur ek rupaya profit dekhne se pehle har toll wapas kamana padta hai. Har toll ek jaisa nahi hota, kyunki delivery aur intraday par charges alag lagte hain, lekin 80 guna zyada booth bhaari hi padte hain; asli amount aapka contract note batata hai.</a:t>
            </a:r>
          </a:p>
          <a:p/>
          <a:p>
            <a:r>
              <a:t>Yaad rakhiye: Style us ghadi se chuniye jo sach mein aapke paas hai, us ghadi se nahi jiska aap bas sapna dekhte hain.</a:t>
            </a:r>
          </a:p>
          <a:p/>
          <a:p>
            <a:r>
              <a:t>Slide par: Ek trading day ka screen time · Sirf samjhane ke liye: ek trading day mein kitne minute. Scalping poora 9:15 am-3:30 pm session le leta hai; ORB ko 9:15-11:00 am chahiye, plus dopahar 2:30 baje ek chhota check taaki khula trade band ho sake, kul lagbhag 110 minute; swing ka kaam shaam ko, close ke baad hota hai. Positional mein hafte ke lagbhag 30 minute lagte hain, investor ko mahine mein lagbhag ek ghanta. Scalping aur ORB, dono intraday hi hain.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Style Fit check: aapka din, unka nahi</a:t>
            </a:r>
          </a:p>
          <a:p/>
          <a:p>
            <a:r>
              <a:t>Zyadatar beginners style chunte nahi, udhaar le lete hain: kisi dost se, kisi rishtedaar se, ya YouTube ke kisi trader se. Aapko unki screen toh dikhti hai, lekin unke free ghante, unka capital aur unke bure mahine nahi dikhte; aur awaaz bhi aksar unhi ki aati hai jo abhi jeet rahe hain. Udhaar ka style pehli busy subah hi toot jaata hai, aur phir uske peeche bhaagte hue aap apne hi rules tod dete hain. Isliye paanch imaandaar Yes/No sawaalon ke jawab dijiye: Q1 se Q4 tak koi bhi No apne likhe styles ko bahar kar deta hai, Q5 ka No asli paise ko bahar rakhta hai, aur jo bach jaaye wahi aapka fit hai. Yeh check aage ke asli paise ke liye hai; Stage 1 mein jawab kuch bhi hon, sab log EMA Pullback Swing hi paper par chalate hain, jismein sirf shaam ka ek check lagta hai.</a:t>
            </a:r>
          </a:p>
          <a:p/>
          <a:p>
            <a:r>
              <a:t>Udaharan: Aman ke jawab: office 9:30 se 6:30 tak, toh Q1 No, yaani intraday aur ORB bahar. Dinner ke baad 20 minute free hain (Q2 Yes), overnight position rakh kar bhi chain se so leta hai (Q3 Yes), aur likha hua plan pasand hai (Q4 Yes); lekin emergency fund abhi sirf do mahine ka hai (Q5 No). Swing, positional aur investor ka raasta bachte hain; woh swing chunta hai, jo course ki default challenge strategy hai, kyunki usmein uski shaam kaam aati hai. Stage 1 mein sab paper par hi hain, aur uske baad bhi jab tak fund kam se kam 3 mahine ka na ho jaaye, asli paisa nahi. Priya Q1 par No aur baaki sab par Yes kehti hai, toh swing, positional aur investor ka raasta, teeno bachte hain. Papa ka SIP aur uski paper practice aapas mein takraate nahi: neeche wale paise ke order mein long-term investing risk capital se pehle aati hai. Ek baar style chun liya, toh usi par tike rahiye; har hafte badla hua style kuch nahi sikhata.</a:t>
            </a:r>
          </a:p>
          <a:p/>
          <a:p>
            <a:r>
              <a:t>Yaad rakhiye: Style aapka timetable chunta hai, kisi aur ki highlights nahi.</a:t>
            </a:r>
          </a:p>
          <a:p/>
          <a:p>
            <a:r>
              <a:t>Slide par: Style Fit check: paanch sawaal · Q1 se Q4 tak koi bhi No apne likhe styles ko bahar kar deta hai; Q5 ka No asli paise ko bahar rakhta hai. Agar saare trading styles bahar ho jaayein, toh investor ka raasta apne aap mein poora jawab hai, majboori ka raasta nahi. Jo bhi nikle, Stage 1 ka paper challenge sabke liye EMA Pullback Swing hi hai.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Paisa sahi order mein: pehle emergency fund</a:t>
            </a:r>
          </a:p>
          <a:p/>
          <a:p>
            <a:r>
              <a:t>Trading ke paise se pehle order sahi kar lijiye. Sabse pehle har mahine ke zaroori kharche nikalte hain: rent, EMI, khaana aur fees. Phir aata hai emergency fund: woh paisa jo naukri chhootne, hospital ke bill ya ghar ki kisi zaroorat ke liye alag rakha jaata hai. Kai planners 3 se 6 mahine ke zaroori kharche jitna rakhne ki salaah dete hain, kisi safe jagah par jahan se turant nikal sakein, jaise savings account. Uske baad aapke lambe goals aate hain. Jo bache, sirf wahi risk capital ho sakta hai: woh paisa jo poora doob bhi jaaye toh aapka rent, aapki EMI aur aapki neend na badle. Udhaar ka paisa kabhi risk capital nahi hota, chahe personal loan ho, credit card, gold loan, family se liya paisa ya broker ki margin facility (zyada shares khareedne ke liye broker ka diya udhaar), kyunki trade jeete ya haare, chukana toh padega hi.</a:t>
            </a:r>
          </a:p>
          <a:p/>
          <a:p>
            <a:r>
              <a:t>Udaharan: Aman ka zaroori kharcha Rs 30,000 mahina hai, toh 3 se 6 mahine ka emergency fund Rs 90,000 se Rs 1,80,000 banta hai; abhi uske paas Rs 60,000 hain, yaani sirf do mahine ka. Office ka ek saathi salaah deta hai: 'Rs 2 lakh ka personal loan le lo, trade karo aur profit se chuka dena.' Agar ek bura mahina uska 15% kha jaaye, yaani Rs 30,000, toh Aman ke paas Rs 1,70,000 bachte hain, lekin karz poore Rs 2,00,000 aur byaaj ka hai, aur EMI har mahine aayegi. Loss bhi uska, loan bhi uska. Stage 1 mein aapka trading ka paisa Rs 10 lakh ka virtual account hai, isliye seekhte waqt inmein se kuch bhi daav par nahi hai.</a:t>
            </a:r>
          </a:p>
          <a:p/>
          <a:p>
            <a:r>
              <a:t>Yaad rakhiye: Pehle emergency fund, aakhir mein risk capital, aur udhaar ka paisa kabhi nahi.</a:t>
            </a:r>
          </a:p>
          <a:p/>
          <a:p>
            <a:r>
              <a:t>Slide par: Har rupaya pehle kahan jaaye · Udhaar ka paisa is chain mein kabhi nahi aata. Stage 1 mein aapka trading ka paisa Rs 10 lakh ka virtual account hai.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Investor ka raasta: mutual funds, index funds aur ETFs</a:t>
            </a:r>
          </a:p>
          <a:p/>
          <a:p>
            <a:r>
              <a:t>Mutual fund bahut saare logon ka paisa ek jagah jodta hai, aur ek fund house, jise AMC (asset management company) kehte hain, use SEBI ke rules ke andar invest karta hai. Aapke paas fund ke units hote hain, aur NAV (net asset value) ek unit ki keemat hai, jo roz market band hone ke baad ek baar nikali jaati hai. Active fund mein ek manager stocks chunta hai aur index se aage nikalne ki koshish karta hai; index fund bas kisi index ko copy kar leta hai, jaise NIFTY 50. Koi copy perfect nahi hoti: fees, withdrawals ke liye rakha cash aur trading costs uske return ko index se thoda idhar-udhar kar dete hain, aur is hil-dul ko tracking error se naapte hain; yeh jitna chhota, copy utni kareebi. ETF (exchange traded fund) bhi aam taur par index hi copy karta hai, lekin woh exchange par share ki tarah trade hota hai, live price par, broker aur demat account ke through. Har fund ek saalana fee leta hai jise expense ratio kehte hain; yeh fee fund mein se roz thodi-thodi kat jaati hai, isliye jo NAV aap dekhte hain woh fee katne ke baad ka hi hota hai. Aapke apne goals ke liye kaunsa fund theek hai, yeh sawaal SEBI-registered Investment Adviser se poochne ka hai, kisi tip, dost ya is course se nahi.</a:t>
            </a:r>
          </a:p>
          <a:p/>
          <a:p>
            <a:r>
              <a:t>Udaharan: Priya paper par hisaab lagati hai ki Rs 5,000 se NIFTY 50 ko follow karne ke do tareeke kya hain. NIFTY 50 index fund mein woh fund house ya kisi fund app se us din ke NAV par units legi; NAV Rs 50 ho toh lagbhag 100 units (pehle ek chhoti si stamp duty katti hai, aur kis din ka NAV milega yeh fund ke cut-off time par depend karta hai; sahi figure uske statement mein aata hai), aur demat account ki zaroorat hi nahi. NIFTY 50 ETF ke liye use broker aur demat account chahiye, market hours mein live price par khareedna hoga, aur baaki shares ki tarah bid-ask spread aur contract note wale charges bhi dene padenge (Day 2). Use yeh bhi pata chalta hai ki har fund ka ek direct plan aur ek regular plan hota hai; regular plan distributor ko commission deta hai, isliye uska expense ratio zyada hota hai.</a:t>
            </a:r>
          </a:p>
          <a:p/>
          <a:p>
            <a:r>
              <a:t>Yaad rakhiye: Index fund market ko copy karta hai. Woh na market se aage nikalne ka vada karta hai, na girawat se bachane ka.</a:t>
            </a:r>
          </a:p>
          <a:p/>
          <a:p>
            <a:r>
              <a:t>Slide par: Ek tokri rakhne ke teen tareeke · Sirf concepts. Har fund ka asli expense ratio uski factsheet mein padhiye. Mutual fund investments are subject to market risks.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SIP: timetable se investing</a:t>
            </a:r>
          </a:p>
          <a:p/>
          <a:p>
            <a:r>
              <a:t>SIP (systematic investment plan) koi product nahi hai; yeh mutual fund khareedne ka ek tareeka hai. Aap ek amount aur ek date fix kar dete hain, aur har mahine utna paisa us din ke NAV par units khareed leta hai. NAV kam ho toh utne hi paise mein zyada units milte hain, aur NAV zyada ho toh kam. Is aadat se roz ka sawaal 'kya aaj khareedne ka sahi din hai?' khatam ho jaata hai, jiska jawab aksar mood de deta hai. SIP profit ka vada nahi karta: market gire aur neeche hi tika rahe, toh aapke units ki value bhi gir jaati hai.</a:t>
            </a:r>
          </a:p>
          <a:p/>
          <a:p>
            <a:r>
              <a:t>Udaharan: Priya Google Sheets mein hisaab lagati hai: ek made-up index fund mein har mahine ki 5 taareekh ko Rs 5,000. Month 1 mein NAV Rs 50 hai, girawat ke baad month 2 mein Rs 40, aur month 3 mein Rs 62.50. Use 100, 125 aur 80 units milte hain: Rs 15,000 mein 305 units. Uski average cost lagbhag Rs 49.18 per unit aati hai, jo teeno NAV ke seedhe average, lagbhag Rs 50.83, se thodi kam hai, kyunki girawat wale mahine mein zyada units mil gaye. Yeh NAV sirf samjhane ke liye hain, koi forecast nahi.</a:t>
            </a:r>
          </a:p>
          <a:p/>
          <a:p>
            <a:r>
              <a:t>Yaad rakhiye: SIP aapki aadat fix karta hai, aapka result nahi.</a:t>
            </a:r>
          </a:p>
          <a:p/>
          <a:p>
            <a:r>
              <a:t>Slide par: Har mahine Rs 5,000, teen NAV · Teeno NAV ka seedha average Rs 50.83 hai; kam NAV wale mahine ne zyada units dilaye. NAV illustrative hain, forecast nahi. Stamp duty hisaab mein nahi li gayi.</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 basics: company ki pehli public sale</a:t>
            </a:r>
          </a:p>
          <a:p/>
          <a:p>
            <a:r>
              <a:t>IPO (initial public offering) ka matlab hai kisi company ke shares ki public ko pehli sale, jiske baad shares exchange par list hote hain. Offer document, jise RHP (red herring prospectus) kehte hain, business aur risks batata hai, aur yeh bhi ki kitna paisa company ko jaayega aur kitna bechne wale purane maalikon ko. Issue khulne se pehle company lot size aur price band bata deti hai, yaani woh range jismein aap bid kar sakte hain (yeh Day 1 wala daily circuit band nahi hai). Aap ASBA (application supported by blocked amount) ke through lots mein apply karte hain: aapka bank paisa block kar deta hai, net banking se ya aapke approve kiye UPI mandate se, aur debit tabhi hota hai jab shares mil jaayein. Agar chhote investors ke liye jitne lots hain usse zyada log apply kar dein, toh computer lottery se tay hota hai ki kise ek lot milega, isliye bahut se logon ko kuch nahi milta. Listing day par price issue price se upar ya neeche khul sakta hai; IPO ke liye demat account chahiye, isliye Stage 1 mein aap sirf process samajhte hain.</a:t>
            </a:r>
          </a:p>
          <a:p/>
          <a:p>
            <a:r>
              <a:t>Udaharan: Ek made-up issue se samjhiye. Ek made-up company, jo abhi listed nahi hai, apne IPO ka price band Rs 95 se Rs 100 rakhti hai aur lot 150 shares ka, yaani band ke upar wale sire par ek lot Rs 15,000 ka. Maan lijiye Priya apply karti hai: uske bank account mein Rs 15,000 block ho jaate hain, abhi kuch debit nahi hua. Retail mein lots se kahin zyada log apply karte hain, lottery mein uska naam nahi aata, aur block hat jaata hai. Agar naam aa jaata, toh use ek lot milta, aur uska price Rs 100 se upar bhi khul sakta tha aur neeche bhi. Grey market premium yaani GMP ek unofficial, unregulated number hai, koi price nahi; aur allotment dilane ka vada karne wale offers scam hain. Dono ki cheer-phaad hum Day 14 mein karenge.</a:t>
            </a:r>
          </a:p>
          <a:p/>
          <a:p>
            <a:r>
              <a:t>Yaad rakhiye: IPO mein allotment tak paisa sirf block hota hai, kharch nahi. Listing day kisi bhi taraf ja sakta hai.</a:t>
            </a:r>
          </a:p>
          <a:p/>
          <a:p>
            <a:r>
              <a:t>Slide par: IPO, step by step · T woh din hai jab issue band hota hai; yahan din working days hain, SEBI ki abhi ki timeline ke hisaab se. Latest jaankari sebi.gov.in par dekhiye.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 period: Aap position kitni der khuli rakhte hain: kuch minute (scalping), ek din (intraday), din se hafte (swing), hafte se mahine (positional), saal (investing).</a:t>
            </a:r>
          </a:p>
          <a:p>
            <a:r>
              <a:t>Risk capital: Woh paisa jo poora doob jaaye toh bhi aapka rent, EMI ya neend na badle. Udhaar ka paisa isme kabhi nahi ginta.</a:t>
            </a:r>
          </a:p>
          <a:p>
            <a:r>
              <a:t>NAV: Net asset value: mutual fund ki ek unit ki keemat, jo roz market band hone ke baad ek baar nikalti hai.</a:t>
            </a:r>
          </a:p>
          <a:p>
            <a:r>
              <a:t>Expense ratio: Fund ki saalana fee, jo fund mein se roz thodi-thodi katti rehti hai. Jo NAV aap dekhte hain, woh fee ke baad ka hai; asli figure factsheet mein milta hai. Documents mein aksar ise TER (total expense ratio) likha jaata hai.</a:t>
            </a:r>
          </a:p>
          <a:p>
            <a:r>
              <a:t>Index fund aur ETF: Dono aam taur par index copy karte hain. Index fund din ke NAV par, bina demat ke milta hai; ETF exchange par live price par trade hota hai aur uske liye broker aur demat chahiye.</a:t>
            </a:r>
          </a:p>
          <a:p>
            <a:r>
              <a:t>Tracking error: Index fund ya ETF apne index ko kitni kareebi se follow karta hai. Fees, withdrawals ke liye rakha cash aur trading costs uske return ko thoda idhar-udhar kar dete hain; tracking error jitna chhota, copy utni kareebi. Fund house ki website par yeh number milta hai.</a:t>
            </a:r>
          </a:p>
          <a:p>
            <a:r>
              <a:t>SIP: Systematic investment plan: ek fix amount, fix date par, aam taur par har mahine, us din ke NAV par mutual fund mein. Yeh ek aadat hai, profit ka vada nahi.</a:t>
            </a:r>
          </a:p>
          <a:p>
            <a:r>
              <a:t>ASBA: Application supported by blocked amount: IPO mein apply karne ka tareeka. Aapka bank paisa block karta hai, net banking se ya aapke approve kiye UPI mandate se, aur debit tabhi karta hai jab shares milein; warna block hat jaata hai.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style, aapka paisa</a:t>
            </a:r>
          </a:p>
          <a:p>
            <a:r>
              <a:t>Chaar styles: Intraday: usi din; Swing: din se hafte; Positional: hafte se mahine; Investor: saalon tak</a:t>
            </a:r>
          </a:p>
          <a:p>
            <a:r>
              <a:t>Style Fit: Aapki ghadi, unki nahi; No aaya, toh woh style bahar; Ek style par tike rahiye; Zyada trades, zyada toll</a:t>
            </a:r>
          </a:p>
          <a:p>
            <a:r>
              <a:t>Paise ka order: Pehle emergency fund; Risk capital = sehne layak loss; Udhaar ka paisa: kabhi nahi</a:t>
            </a:r>
          </a:p>
          <a:p>
            <a:r>
              <a:t>Investor ka raasta: Index fund index copy karta hai; ETF share ki tarah trade hota hai; NAV aur expense ratio; Apna plan: registered adviser se poochhein</a:t>
            </a:r>
          </a:p>
          <a:p>
            <a:r>
              <a:t>SIP aur IPO: SIP: fix amount, fix date; Profit ka koi vada nahi; IPO: block, lottery, listing</a:t>
            </a:r>
          </a:p>
          <a:p>
            <a:r>
              <a:t>Aapka mann: Style copy karna, zindagi udhaar lena; Josh nahi, fit dekhiye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Dekhiye ki aapka asli din kaunsa style allow karta hai, apne paise ka order check kijiye, aur ek fund ka NAV aur expense ratio khud padhiye.</a:t>
            </a:r>
          </a:p>
          <a:p/>
          <a:p>
            <a:r>
              <a:t>1. Google Sheets mein ya paper par apna asli weekday timetable likhiye, subah uthne se raat sone tak, ghante-ghante ka, travel, meetings aur dinner samet.</a:t>
            </a:r>
          </a:p>
          <a:p>
            <a:r>
              <a:t>2. 'Aapka template' mein diye 'Style Fit card' mein paanch sawaalon ke jawab Yes ya No mein bhariye, aur jo style bach jaaye use ek line mein likh lijiye.</a:t>
            </a:r>
          </a:p>
          <a:p>
            <a:r>
              <a:t>3. 'Emergency-fund worksheet' bhariye: apne zaroori mahine ke kharche jodiye, unhe 3 aur 6 se guna kijiye, aur note kijiye ki is range mein se kitna aapke paas pehle se hai.</a:t>
            </a:r>
          </a:p>
          <a:p>
            <a:r>
              <a:t>4. amfiindia.com, yaani AMFI (mutual fund industry ki sanstha) ki website par NAV section kholiye, ek fund house aur phir uska NIFTY 50 index fund chuniye, aur latest NAV aur uski date note kijiye.</a:t>
            </a:r>
          </a:p>
          <a:p>
            <a:r>
              <a:t>5. Fund house ki website par us fund ka page ya uski latest factsheet kholiye, aur direct plan aur regular plan ka TER (total expense ratio), aur agar diya ho toh tracking error, 'Fund reading notes' mein likhiye.</a:t>
            </a:r>
          </a:p>
          <a:p>
            <a:r>
              <a:t>6. AI Lab ka 'Style Fit interview' prompt chalaiye aur uska jawab apne jawab se milaiye; jahan dono alag hon, wahan faisla aapka timetable karega.</a:t>
            </a:r>
          </a:p>
          <a:p/>
          <a:p>
            <a:r>
              <a:t>Aaj ke baad: Aaj ke baad aap chaaron styles (intraday, swing, positional, investing) ko holding period aur screen time se pehchaan payenge, Style Fit check se woh style chun payenge jo aapka asli din allow karta hai, apna paisa sahi order mein rakh payenge (pehle emergency fund, phir goals, phir risk capital), aur index fund, ETF, NAV, expense ratio, tracking error, SIP aur IPO ka process samjha payenge.</a:t>
            </a:r>
          </a:p>
          <a:p/>
          <a:p>
            <a:r>
              <a:t>Tools: Paper ya Google Sheets; AMFI website (amfiindia.com); Kisi fund ki factsheet; SEBI website (sebi.gov.in); Koi bhi AI chat</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Dekhiye ki aapka asli din kaunsa style allow karta hai, apne paise ka order check kijiye, aur ek fund ka NAV aur expense ratio khud padhiye.</a:t>
            </a:r>
          </a:p>
          <a:p/>
          <a:p>
            <a:r>
              <a:t>1. Google Sheets mein ya paper par apna asli weekday timetable likhiye, subah uthne se raat sone tak, ghante-ghante ka, travel, meetings aur dinner samet.</a:t>
            </a:r>
          </a:p>
          <a:p>
            <a:r>
              <a:t>2. 'Aapka template' mein diye 'Style Fit card' mein paanch sawaalon ke jawab Yes ya No mein bhariye, aur jo style bach jaaye use ek line mein likh lijiye.</a:t>
            </a:r>
          </a:p>
          <a:p>
            <a:r>
              <a:t>3. 'Emergency-fund worksheet' bhariye: apne zaroori mahine ke kharche jodiye, unhe 3 aur 6 se guna kijiye, aur note kijiye ki is range mein se kitna aapke paas pehle se hai.</a:t>
            </a:r>
          </a:p>
          <a:p>
            <a:r>
              <a:t>4. amfiindia.com, yaani AMFI (mutual fund industry ki sanstha) ki website par NAV section kholiye, ek fund house aur phir uska NIFTY 50 index fund chuniye, aur latest NAV aur uski date note kijiye.</a:t>
            </a:r>
          </a:p>
          <a:p>
            <a:r>
              <a:t>5. Fund house ki website par us fund ka page ya uski latest factsheet kholiye, aur direct plan aur regular plan ka TER (total expense ratio), aur agar diya ho toh tracking error, 'Fund reading notes' mein likhiye.</a:t>
            </a:r>
          </a:p>
          <a:p>
            <a:r>
              <a:t>6. AI Lab ka 'Style Fit interview' prompt chalaiye aur uska jawab apne jawab se milaiye; jahan dono alag hon, wahan faisla aapka timetable karega.</a:t>
            </a:r>
          </a:p>
          <a:p/>
          <a:p>
            <a:r>
              <a:t>Aaj ke baad: Aaj ke baad aap chaaron styles (intraday, swing, positional, investing) ko holding period aur screen time se pehchaan payenge, Style Fit check se woh style chun payenge jo aapka asli din allow karta hai, apna paisa sahi order mein rakh payenge (pehle emergency fund, phir goals, phir risk capital), aur index fund, ETF, NAV, expense ratio, tracking error, SIP aur IPO ka process samjha payenge.</a:t>
            </a:r>
          </a:p>
          <a:p/>
          <a:p>
            <a:r>
              <a:t>Tools: Paper ya Google Sheets; AMFI website (amfiindia.com); Kisi fund ki factsheet; SEBI website (sebi.gov.in); Koi bhi AI chat</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Style Fit card</a:t>
            </a:r>
          </a:p>
          <a:p/>
          <a:p>
            <a:r>
              <a:t>Us weekday ke hisaab se jawab dijiye jo sach mein aapka hai. Jahan AI ka jawab aapse alag ho, wahan faisla aapka timetable karega.</a:t>
            </a:r>
          </a:p>
          <a:p/>
          <a:p>
            <a:r>
              <a:t>Q | Sawaal | Aman | Aap</a:t>
            </a:r>
          </a:p>
          <a:p>
            <a:r>
              <a:t>Q1 | Weekdays mein 9:15-11:00 am aur 2:30 pm par free? | No: intraday aur ORB bahar | </a:t>
            </a:r>
          </a:p>
          <a:p>
            <a:r>
              <a:t>Q2 | Zyadatar shaam, close ke baad, lagbhag 20 minute? | Yes | </a:t>
            </a:r>
          </a:p>
          <a:p>
            <a:r>
              <a:t>Q3 | Overnight aur weekend par position rakh kar chain? | Yes | </a:t>
            </a:r>
          </a:p>
          <a:p>
            <a:r>
              <a:t>Q4 | Likhe rules aur journal follow karna pasand? | Yes | </a:t>
            </a:r>
          </a:p>
          <a:p>
            <a:r>
              <a:t>Q5 | 3 mahine ka emergency fund, aur udhaar bilkul nahi? | No: abhi sirf 2 mahine | </a:t>
            </a:r>
          </a:p>
          <a:p>
            <a:r>
              <a:t>Result | Jo styles bache | Swing, positional, investor | </a:t>
            </a:r>
          </a:p>
          <a:p>
            <a:r>
              <a:t>Paisa | Stage 1 ke baad asli paisa? | Jab tak fund 3 mahine ka na ho, nahi | </a:t>
            </a:r>
          </a:p>
          <a:p>
            <a:r>
              <a:t>Abhi | Stage 1 paper challenge | EMA Pullback Swing | EMA Pullback Swing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Emergency-fund worksheet</a:t>
            </a:r>
          </a:p>
          <a:p/>
          <a:p>
            <a:r>
              <a:t>Yeh fund kisi safe jagah rakhiye jahan se turant nikal sake, jaise savings account. Stage 1 mein iski zaroorat nahi: aapka trading ka paisa Rs 10 lakh ka virtual account hai.</a:t>
            </a:r>
          </a:p>
          <a:p/>
          <a:p>
            <a:r>
              <a:t>Line | Aman | Aap</a:t>
            </a:r>
          </a:p>
          <a:p>
            <a:r>
              <a:t>Mahine ke zaroori kharche | Rs 30,000 | </a:t>
            </a:r>
          </a:p>
          <a:p>
            <a:r>
              <a:t>x 3 mahine (kam se kam) | Rs 90,000 | </a:t>
            </a:r>
          </a:p>
          <a:p>
            <a:r>
              <a:t>x 6 mahine (upar ki had) | Rs 1,80,000 | </a:t>
            </a:r>
          </a:p>
          <a:p>
            <a:r>
              <a:t>Abhi tak jama | Rs 60,000 | </a:t>
            </a:r>
          </a:p>
          <a:p>
            <a:r>
              <a:t>Kitne mahine cover (jama ÷ mahine ka kharcha) | 2 | </a:t>
            </a:r>
          </a:p>
          <a:p>
            <a:r>
              <a:t>3 mahine ke liye aur chahiye | Rs 30,000 | </a:t>
            </a:r>
          </a:p>
          <a:p>
            <a:r>
              <a:t>Trading ke liye udhaar | Bilkul nahi |</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 reading notes</a:t>
            </a:r>
          </a:p>
          <a:p/>
          <a:p>
            <a:r>
              <a:t>Ek fund ke numbers padhna sirf practice hai, recommendation nahi. Aapke liye kaunsa fund theek hai, yeh SEBI-registered Investment Adviser se poochne ka sawaal hai.</a:t>
            </a:r>
          </a:p>
          <a:p/>
          <a:p>
            <a:r>
              <a:t>Kya dhoondhna hai | Kahan | Aapka note</a:t>
            </a:r>
          </a:p>
          <a:p>
            <a:r>
              <a:t>Fund house aur uska NIFTY 50 index fund | amfiindia.com, NAV section | </a:t>
            </a:r>
          </a:p>
          <a:p>
            <a:r>
              <a:t>Latest NAV aur uski date | amfiindia.com, NAV section | </a:t>
            </a:r>
          </a:p>
          <a:p>
            <a:r>
              <a:t>TER, direct plan | Fund page ya factsheet | </a:t>
            </a:r>
          </a:p>
          <a:p>
            <a:r>
              <a:t>TER, regular plan | Fund page ya factsheet | </a:t>
            </a:r>
          </a:p>
          <a:p>
            <a:r>
              <a:t>Regular minus direct | Aapka apna hisaab | </a:t>
            </a:r>
          </a:p>
          <a:p>
            <a:r>
              <a:t>Tracking error, agar diya ho | Fund house ki website |</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Cricket-format game: family ya classmates ke saath har koi bataye ki uska weekday asal mein kaunsa format allow karta hai: super over (scalping), T20 (intraday), Test match (swing), poori series (positional) ya poora career (investing). Phir har koi bataye ki aaj se pehle woh kaunsa format khelna chahta tha, aur dono alag kyun hain.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Style Fit interview</a:t>
            </a:r>
          </a:p>
          <a:p>
            <a:r>
              <a:t>Act as a calm trading coach for a complete beginner in India. Interview me with 6 short questions, one at a time, to find a trading style that fits my real life: my weekday timetable from waking up to bedtime, my commute and meetings, how many minutes I can give in the evening after the market closes, how I feel holding a position overnight or over a weekend, whether I enjoy following written rules and keeping a journal, and whether my emergency fund covers at least 3 months and I have no borrowed money for trading; for this one I will answer only Yes or No, so do not ask for amounts. Use this rule: No to being free 9:15 to 11:00 am and briefly at 2:30 pm removes intraday and Opening Range Breakout; No to 20 minutes in the evening after the close removes swing; No to holding overnight removes swing and positional; No to following written rules removes all trading styles; No to the emergency-fund question removes no style but means no real money until the fund covers at least 3 months. Then list which of these styles survive: intraday (including Opening Range Breakout, which needs me free from 9:15 to 11:00 am and again at 2:30 pm), swing (such as an EMA pullback checked after the close), positional and the investor path. Tell me which answer ruled out each style, and leave the final choice to me. Remind me that this check is about real money later: in my course everyone paper-trades the EMA Pullback Swing on virtual money for now, whatever the result. Do not ask for my income, savings amount, PAN, account details or any personal identifiers. Do not recommend any stock, fund or broker, do not give buy or sell advice, and do not mention targets or expected returns.</a:t>
            </a:r>
          </a:p>
          <a:p/>
          <a:p>
            <a:r>
              <a:t>Prompt 2: Fund ke shabd: samjhiye aur check kijiye</a:t>
            </a:r>
          </a:p>
          <a:p>
            <a:r>
              <a:t>Explain these terms to a beginner in India in plain words, one short paragraph each, with a made-up example: mutual fund, AMC, NAV, expense ratio, direct plan vs regular plan, index fund, ETF, tracking error, SIP. Label every claim as Fact (checkable on the SEBI or AMFI websites or in a scheme's own documents), Guess (you are not sure, or it may have changed) or Kachra (a popular myth). Then list 5 myths beginners believe about SIPs and index funds and correct each in one line. Do not name or recommend any fund, fund house, stock or platform, do not say which option is best for me, and do not give buy or sell advice, targets or return expectations. End by reminding me that advice on my own situation should come from a SEBI-registered Investment Adviser.</a:t>
            </a:r>
          </a:p>
          <a:p/>
          <a:p>
            <a:r>
              <a:t>Prompt 3: IPO myth check</a:t>
            </a:r>
          </a:p>
          <a:p>
            <a:r>
              <a:t>List 8 common beliefs that Indian beginners hold about IPOs, for example 'my money is debited as soon as I apply', 'applying for more lots always raises my chance of allotment', 'the grey market premium is an official price' and 'a big subscription number means the listing price will rise'. For each belief, label it Fact, Guess or Kachra, give a one-line correction in simple words, and name the official source (SEBI, NSE, BSE or the company's RHP) where I can check it. Do not mention or recommend any real IPO or company, do not give buy, sell or apply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ka favourite YouTuber ghar se poore din five-minute charts par scalping karta hai. Aman subah 9:30 se shaam 6:30 tak office mein hota hai, dinner ke baad 20 minute free hai, aur overnight position khuli ho tab bhi chain se so leta hai. Aman ke din mein kaunsa style fit baithta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ka SIP har mahine ki 5 taareekh ko ek fund mein Rs 6,000 daalta hai. Month 1 mein NAV Rs 60 hai, month 2 mein Rs 40 aur month 3 mein Rs 50. Teen mahine baad uske paas kitne units hain?</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ka zaroori kharcha Rs 30,000 mahina hai aur uska emergency fund abhi sirf do mahine ka hai. Ek dost kehta hai, 'Rs 1 lakh ka personal loan le lo, trading shuru karo aur profit se chuka dena.' Aman ke liye abhi sahi kadam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NIFTY 50 index fund aur NIFTY 50 ETF ke baare mein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Maan lijiye Priya UPI se ek made-up IPO mein ek lot ke liye apply karti hai. Retail hissa kai guna oversubscribe hota hai aur lottery mein uska naam nahi aata. Uske paise ka kya hota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se pehle aap chupchaap kiska style copy kar rahe the, aur aapka asli weekday timetable kya kehta hai? Jo style chuna, woh likhiye, woh ek sawaal bhi jisne faisla kiya, aur yeh bhi ki aapka emergency fund kam se kam 3 mahine ka hai ya nahi.</a:t>
            </a:r>
          </a:p>
          <a:p/>
          <a:p>
            <a:r>
              <a:t>Jo style aapka asli din sambhal sake, use chunna samjhauta nahi hai. Iska matlab hai aise rules chunna jinhe aap sach mein nibha sakein.</a:t>
            </a:r>
          </a:p>
          <a:p/>
          <a:p>
            <a:r>
              <a:t>Agla: Day 11 · Strategy #1: EMA Pullback Swing</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11: Strategy #1: EMA Pullback Swing</a:t>
            </a:r>
          </a:p>
          <a:p/>
          <a:p>
            <a:r>
              <a:t>Concept: EMA Pullback Swing: trend, pullback, strength, signal, entry, stop, size aur exit ke saaf rules</a:t>
            </a:r>
          </a:p>
          <a:p>
            <a:r>
              <a:t>AI Lab: Screener condition writer: AI draft kare, aap charts par verify karein</a:t>
            </a:r>
          </a:p>
          <a:p>
            <a:r>
              <a:t>Mindset: Impatience: nikal chuki train ke peeche bhaagna</a:t>
            </a:r>
          </a:p>
          <a:p>
            <a:r>
              <a:t>Strategy: EMA Pullback Swing</a:t>
            </a:r>
          </a:p>
          <a:p/>
          <a:p>
            <a:r>
              <a:t>Aaj ke baad: Aaj ke baad aap EMA Pullback Swing ke rules bilkul saaf bata payenge, kisi chart ko un par check kar payenge, relative-strength rule free screener mein ya haath se chala payenge, aisa plan card likh payenge jismein 1.5 x ATR stop, maximum entry par 25% cap se check ki hui quantity, 2.5R profit exit aur 15 din ka time exit ho, aur samjha payenge ki plan se aage ka gap skip kyun hota hai, chase kyun nahi.</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 train nikal chuki</a:t>
            </a:r>
          </a:p>
          <a:p/>
          <a:p>
            <a:r>
              <a:t>(Wednesday, raat 8:30. Aman abhi-abhi Pune mein office se lauta hai. Priya Lucknow se mentor ki video call par jud jaati hai.)</a:t>
            </a:r>
          </a:p>
          <a:p>
            <a:r>
              <a:t>Aman: Sir, Kiran Foods aaj 7% bhaag gaya, aur mujhe office ke baad pata chala. Kal 9:15 par jo bhi price ho, main le lunga, isse pehle ki woh aur bhaag jaye.</a:t>
            </a:r>
          </a:p>
          <a:p>
            <a:r>
              <a:t>Mentor: Aman, station par agar aapki train chal padi ho, toh aap kya karte hain?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 train nikal chuki</a:t>
            </a:r>
          </a:p>
          <a:p/>
          <a:p>
            <a:r>
              <a:t>Aman: Daud ke chadh jaata hoon, sir... Pichhle mahine bhi aise hi khareeda tha. Agle hi hafte gir gaya, aur loss mein bechna pada.</a:t>
            </a:r>
          </a:p>
          <a:p>
            <a:r>
              <a:t>Priya: Sir, kya usi trend ko pakadne ka koi shaant tareeka hai, jaise agle station par train pakadna?</a:t>
            </a:r>
          </a:p>
          <a:p>
            <a:r>
              <a:t>Mentor: Haan, hai Priya. Uptrend wale stocks aksar thoda rukte hain aur wapas apne EMA 20 ki taraf aate hain. Kabhi wahan se trend phir chal padta hai, kabhi nahi, isliye exit hum chadhne se pehle hi tay kar lete hain. Aur kuch hafte koi train rukti hi nahi. Intezaar bhi plan ka hissa hai.</a:t>
            </a:r>
          </a:p>
          <a:p/>
          <a:p>
            <a:r>
              <a:t>Seekh: Bhaagte price ke peeche daudna impatience hai. Pullback plan mein price aapke paas aata hai, aur kuch din sahi trade yahi hota hai ki trade na karein.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Rukne par khareediye, bhaagne par nahi</a:t>
            </a:r>
          </a:p>
          <a:p/>
          <a:p>
            <a:r>
              <a:t>Swing trade mein aap stock ko kuch din se kuch hafton tak rakhte hain, aur plan daily chart par banta hai. EMA Pullback Swing aise stock ko khareedta hai jo pehle se uptrend mein hai, lekin tabhi jab woh thoda ruk kar apne EMA 20 ki taraf wapas aaye; is wapsi ko pullback kehte hain. Upar jaati escalator sochiye: koi ek seedhi peeche aa gaya, par escalator toh upar hi ja rahi hai. Jaldbaazi iska ulta karwati hai: bade jump ke turant baad stock ke peeche bhaagna, ya girte stock ko 'sasta' samajh kar utha lena. Yeh course ki default challenge strategy isliye hai, kyunki ismein din mein ek baar, shaam ko market band hone ke baad, lagbhag 20 minute dekhna kaafi hai.</a:t>
            </a:r>
          </a:p>
          <a:p/>
          <a:p>
            <a:r>
              <a:t>Udaharan: Diwali sale sochiye. Busy season mein achhi shirt par 20% off ek pullback jaisa hai: demand abhi bhi bani hui hai. Aadhe daam par tamatar, kyunki woh sadne lage hain, downtrend jaise hain: saste toh hain, par kisi wajah se. Aman jis Kiran Foods Ltd ko 7% jump ke baad khareedna chahta hai, woh in dono mein se kuch nahi hai. Woh Rs 420 se Rs 449 par band hua, jabki uska EMA 20 Rs 416 hai: close EMA 20 se lagbhag 8% upar hai, us 2% band ka chaar guna jo aap agle topic mein dekhenge. ATR(14) lagbhag Rs 16.70 hai, toh 1.5 x ATR stop entry se Rs 25 neeche lagega; lekin Rs 449 se EMA 20 tak ki ek aam wapsi hi Rs 33 ki hai, yaani pullback poora hone se pehle hi stop hit ho jaata.</a:t>
            </a:r>
          </a:p>
          <a:p/>
          <a:p>
            <a:r>
              <a:t>Yaad rakhiye: Pehle trend, phir rukne ka intezaar. Downtrend mein sasta dikhne wala stock pullback nahi hai.</a:t>
            </a:r>
          </a:p>
          <a:p/>
          <a:p>
            <a:r>
              <a:t>Slide par: Khareedne ke teen tareeke · Sirf pehla setup hai. Baaki do mauke jaise dikhte hain, par asal mein jaldbaazi hai.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trend, pullback, cool-down</a:t>
            </a:r>
          </a:p>
          <a:p/>
          <a:p>
            <a:r>
              <a:t>Teen rules aap daily chart par, Day 8 ke tools se check karte hain. Rule 1, trend: EMA 20, EMA 50 ke upar ho, aur EMA 50 ki value 10 trading days pehle se zyada ho, yaani woh badh raha ho. Rule 2, pullback: close EMA 20 se 2% ke andar ho, upar ya neeche, aur phir bhi EMA 50 ke upar ho. Rule 3, cool-down: RSI(14) 40 aur 50 ke beech ho; uptrend mein iska matlab halka sa aaraam hai, 'oversold' nahi. Jo stock teeno pass kare, woh ek aur check par jaata hai, relative strength, aur uske baad hi aapki watchlist mein aata hai, yaani woh chhoti list jo aap har shaam dekhte hain.</a:t>
            </a:r>
          </a:p>
          <a:p/>
          <a:p>
            <a:r>
              <a:t>Udaharan: Wednesday shaam, Gupta Cement Ltd Rs 393.50 par band hota hai. EMA 20 Rs 400.2 hai aur EMA 50 Rs 390.1; 10 trading days pehle EMA 50 Rs 383.4 tha, yaani woh badh raha hai. Close EMA 20 se lagbhag 1.7% neeche hai aur phir bhi EMA 50 ke upar, aur RSI(14) 45 hai. Teeno rules pass. Priya ki screen par ek aur stock ka RSI bhi 45 hai, lekin uska EMA 20, EMA 50 ke neeche hai, toh uski jaanch rule 1 par hi ruk jaati hai.</a:t>
            </a:r>
          </a:p>
          <a:p/>
          <a:p>
            <a:r>
              <a:t>Yaad rakhiye: Rule 1 ek darwaza hai: trend fail toh baaki sab bekaar, RSI kitna bhi achha dikhe.</a:t>
            </a:r>
          </a:p>
          <a:p/>
          <a:p>
            <a:r>
              <a:t>Slide par: Pehle trend, phir pullback · Gupta Cement Ltd: price EMA 20 ki taraf wapas aata hai, aur EMA 20 badhte EMA 50 ke upar bana rehta hai. Aakhri teen points: Wednesday ka setup, Thursday ka signal aur Friday.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Relative strength: kya stock NIFTY 50 se aage hai?</a:t>
            </a:r>
          </a:p>
          <a:p/>
          <a:p>
            <a:r>
              <a:t>Relative strength, yaani RS, batata hai ki ek hi period mein stock market se kitna aage ya peeche chala. Naam milta-julta hai, kyunki RSI ka poora naam Relative Strength Index hai, par dono alag hain: RSI stock ko uske apne pichhle dino se compare karta hai, RS use NIFTY 50 se. Yahan period 3 mahine ka hai, lagbhag 63 trading days, aur market matlab NIFTY 50. Rule 4, strength: RS = stock ka % change minus NIFTY 50 ka % change, aur yeh positive hona chahiye. Wajah practical hai: aap ek saath sirf 3 trades rakh sakte hain, toh yeh jagah un stocks ko dijiye jo market se mazboot rahe hain, kamzor nahi. Yeh bhi pass ho, tab stock watchlist mein aata hai; aur agar khaali jagah se zyada setups aa jayein, toh zyada RS wale ko pehle rakhiye.</a:t>
            </a:r>
          </a:p>
          <a:p/>
          <a:p>
            <a:r>
              <a:t>Udaharan: Isi 3 mahine mein NIFTY 50, 25,000 se 26,000 gaya, yaani 4% upar. Gupta Cement Ltd Rs 348 se Rs 393.50 (Wednesday ka close) tak gaya, lagbhag 13% upar, toh uska RS lagbhag +9 points hai aur woh watchlist mein aa jaata hai. Sharma Textiles Ltd Rs 250 se Rs 255 gaya, 2% upar: chadha toh sahi, par RS -2 points hai, isliye skip. Free screener NIFTY 50 ko khud nahi dekh sakta, isliye har shaam number aap dete hain: NIFTY 50 ke chart par uska 3 mahine ka change padhiye (yahan 26,000 ÷ 25,000 - 1 = 4%) aur screener ke 3-month performance filter mein 'greater than' 4 type kijiye. Jis screener mein conditions likhi jaati hain, jaise Chartink, wahan yahi rule hai: aaj ka close, 63 trading days pehle ke close x 1.04 se upar; aur agar screener dono na kar sake, toh 'Aapka template' ka 2-minute RS check yahi kaam haath se karta hai. TradingView ke free chart par stock ka symbol, phir slash, phir NIFTY type karne se RS ek line ban jaata hai: line upar ja rahi hai toh stock index se aage hai.</a:t>
            </a:r>
          </a:p>
          <a:p/>
          <a:p>
            <a:r>
              <a:t>Yaad rakhiye: Chadhna aur aage rehna ek baat nahi. Apni 3 jagah un stocks ko dijiye jo NIFTY 50 se aage hain.</a:t>
            </a:r>
          </a:p>
          <a:p/>
          <a:p>
            <a:r>
              <a:t>Slide par: 3 mahine ka change · Dono stocks chadhe, par index se aage sirf ek raha. RS = stock ka change minus NIFTY 50 ka change.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Signal, aur aisi entry jo peeche nahi bhaagti</a:t>
            </a:r>
          </a:p>
          <a:p/>
          <a:p>
            <a:r>
              <a:t>Watchlist wale stock ko ek signal day chahiye: ek candle jo pichhle din ke high ke upar close ho, aur rule 1 tab bhi pass ho; yeh ishaara hai ki buyers wapas aa rahe hain. Jis shaam rule 1 fail ho, ya stock EMA 50 ke neeche close ho, ya 5 trading days tak signal na aaye, us stock ko watchlist se hata dijiye. Din ka official close hi lijiye, jo session khatam hone ke baad tay hota hai (F&amp;O contracts wale stocks mein closing auction se; latest jaankari NSE par dekhiye), isliye yeh check shaam ko kijiye. Signal wali shaam aap plan likhte hain, aur entry hoti hai agle din ka open, yaani pehla price jis par aap sach mein trade kar sakte the. Plan mein do limits hoti hain: stock signal close plus 0.5 x ATR se upar khule toh skip, kyunki gap aapke plan se aage nikal gaya; aur signal day ke low se neeche khule toh bhi skip, kyunki signal pehle hi fail ho chuka hai. Skip karne se capital nahi jaata; chase karne mein woh risk lagta hai jo aapne plan hi nahi kiya tha.</a:t>
            </a:r>
          </a:p>
          <a:p/>
          <a:p>
            <a:r>
              <a:t>Udaharan: Gupta Cement Ltd paanch din ki girawat ke dauran Priya ki watchlist mein aaya. Thursday ko woh Rs 400 par band hua, jo Wednesday ke high Rs 398 se upar hai: yahi signal hai. Us shaam uska plan kehta hai: maximum entry Rs 400 + 0.5 x Rs 12 = Rs 406, aur agar Thursday ke low Rs 390 se neeche khule toh skip. Friday ko stock Rs 404 par khulta hai, dono limits ke andar, toh uski paper entry Rs 404 hai. Agar woh Rs 409 par khulta, toh Priya 'skipped: gap past plan' likh kar aage badh jaati, kyunki sirf Rs 400 tak wapas aane par hi uska aadha risk chala jaata.</a:t>
            </a:r>
          </a:p>
          <a:p/>
          <a:p>
            <a:r>
              <a:t>Yaad rakhiye: Plan shaam ko, entry agle open par, aur sirf apni do limits ke andar. Paper par open agli shaam daily candle se padhiye.</a:t>
            </a:r>
          </a:p>
          <a:p/>
          <a:p>
            <a:r>
              <a:t>Slide par: Signal day, phir sabr wali entry · Thursday ka close Wednesday ke high se upar hai. Friday Rs 404 par khulta hai, Rs 406 ki maximum se neeche, toh paper entry Rs 404 aur stop Rs 386.</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card: stop, size, exits</a:t>
            </a:r>
          </a:p>
          <a:p/>
          <a:p>
            <a:r>
              <a:t>Har trade ka plan card pichhli shaam hi ban jaata hai, aur uske numbers baad mein nahi badalte. Stop: entry minus 1.5 x ATR(14), taaki roz ka normal utaar-chadhaav aapko aasaani se bahar na kar de; yeh doori pichhli shaam hi pata hoti hai, isliye size bhi. Size: quantity = Rs 10,000 ÷ stop ki doori, neeche round karke; Rs 10,000 aapke Rs 10 lakh virtual capital ka 1% hai. Usi shaam 25% cap maximum entry par check kijiye, yaani us sabse oonche price par jo aap de sakte hain: agar quantity x maximum entry Rs 2,50,000 se zyada ho, toh quantity ko Rs 2,50,000 ÷ maximum entry tak ghataiye, neeche round karke, aur Day 9 ki tarah jo number chhota ho wahi lijiye. Profit exit: entry + stop ki doori ka 2.5 guna par ek planned sell, yaani 2.5R; paper par yeh tabhi fill hota hai jab price uske upar trade kare, sirf chhoona kaafi nahi (Day 12), jabki stop din ka low chhoote hi gina jaata hai. Time exit: entry wale din ko day 1 giniye; day 15 ke close tak dono mein se koi exit na ho, toh agle din ke open par exit. Ek saath zyada se zyada 3 open trades, aur Day 9 yaad rakhiye: gap aane par loss 1R se zyada bhi ho sakta hai.</a:t>
            </a:r>
          </a:p>
          <a:p/>
          <a:p>
            <a:r>
              <a:t>Udaharan: Gupta Cement Ltd ke liye Priya apna card Thursday shaam likhti hai, signal close Rs 400 aur ATR(14) Rs 12 se: maximum entry Rs 406, stop ki doori Rs 18, 555 shares. Cap check Rs 406 par hota hai, Friday ke anjaane open par nahi: 555 x Rs 406 = Rs 2,25,330, yaani capital ka 22.5%, isliye 555 hi rehte hain. Friday Rs 404 par khulta hai, jisse stop Rs 386 aur profit exit Rs 449 tay hota hai; neeche wali calculation mein har line dikhti hai. 2.5R profit exit par breakeven win-rate hai 1 ÷ (1 + 2.5), yaani costs se pehle lagbhag 29%. Das trades mein 3 jeet (+2.5R) aur 7 haar (-1R) hon toh net +0.5R; 2 jeet aur 8 haar hon toh net -3R. Yeh sirf hisaab hai, forecast nahi: time exit, costs, slippage aur gaps, sab isse badal dete hain. Normal order sirf ek din chalta hai, isliye real broker par hafton tak rukne wale stop-loss ya profit-exit sell ke liye GTT (Day 2) chahiye, ya har subah order dobara lagana padta; paper par aap bas har shaam daily candle se dono levels check karte hain.</a:t>
            </a:r>
          </a:p>
          <a:p/>
          <a:p>
            <a:r>
              <a:t>Yaad rakhiye: Stop, size aur dono exits entry se pehle likhiye. Entry ke baad card follow hota hai, edit nahi.</a:t>
            </a:r>
          </a:p>
          <a:p/>
          <a:p>
            <a:r>
              <a:t>Slide par: Priya ka plan card · Thursday shaam likha gaya. 25% cap Rs 406 ki maximum entry par check hua, Friday ke open par nahi. Stop ke paar gap aaye, toh loss phir bhi 1R se zyada ho sakta hai.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Screener dhoondhta hai, faisla aap karte hain</a:t>
            </a:r>
          </a:p>
          <a:p/>
          <a:p>
            <a:r>
              <a:t>Screener ek website tool hai jo aapke rules se sainkdon stocks filter kar deta hai; TradingView ke stock screener aur Chartink, dono ke free versions hain, aur hamara kisi se koi tie-up nahi hai. Shuruaat NIFTY 500 se kijiye, yaani Bharat ki 500 badi listed companies ka index. Sirf woh stocks rakhiye jinka pichhle 20 din ka average turnover roz kam se kam Rs 10 crore ho (turnover = price x kitne shares trade hue); kam trade hone wale stocks mein spread chauda hota hai aur gap achanak aate hain. Phir rules 1 se 4 jodiye, rule 4 ke liye us shaam ka NIFTY 50 ka 3 mahine ka change type karke, aur har shaam close ke baad ek baar chalaiye. Free screener har rule nahi likh paate, jaise 'EMA 50, 10 din pehle se upar'; jo rule screener mein na bane, use chart par aankh se check kijiye. Iske baad har result ko aankh se khol kar dekhiye: list mein downtrend wala stock aa gaya, toh koi condition galat hai. Jis stock ki results date agle 15 trading days mein ho, use skip kijiye; poora calendar Day 19 mein banega. Date abhi announce nahi hui, toh trade ke dauran har shaam dobara check kijiye: companies yeh date kuch hi din pehle bhi bata sakti hain. Price achanak theek aadha ho jaye, toh pehle bonus ya split check kijiye; tab tak us girawat par bharosa mat kijiye. Screener aapki aankhon ka kaam karta hai, trigger aapke haath mein rehta hai; Day 16 mein yahi rules flowchart aur alerts banenge.</a:t>
            </a:r>
          </a:p>
          <a:p/>
          <a:p>
            <a:r>
              <a:t>Udaharan: Aman ek free data site par Bharat Pumps Ltd dekhta hai: 'aaj 50% down', RSI 15 ke aas-paas, aur ATR Rs 15 se Rs 36 ho gaya. Woh kehta hai, sasta mil raha hai. Priya NSE ka corporate actions page check karti hai: us din ka 1:1 bonus likha hai, toh price lagbhag Rs 600 se Rs 300 ho gaya, par har holder ko har share par ek extra share milna hai. Site ne data adjust nahi kiya tha, isliye gap ko lagbhag Rs 300 ki true range gin liya gaya. Adjusted data par kuch nahi gira, aur ATR lagbhag Rs 7.50 hai; Rs 36 wale ATR se bana stop Rs 54 door hota, lagbhag Rs 11 ki jagah. Bonus aur split ko Day 15 mein theek se samjhenge.</a:t>
            </a:r>
          </a:p>
          <a:p/>
          <a:p>
            <a:r>
              <a:t>Yaad rakhiye: Screener = aankhein, trigger = aap. Kisi shaam list khaali aaye, toh yeh rule ka kaam hai; market aapko ignore nahi kar raha.</a:t>
            </a:r>
          </a:p>
          <a:p/>
          <a:p>
            <a:r>
              <a:t>Slide par: 500 stocks se ek plan tak · Screener sirf list chhoti karta hai. Aapki aankhein, aapke checks aur ek signal day hi use plan banate hain.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Pullback: Uptrend ke andar ek chhoti si girawat, EMA 20 jaise moving average ki taraf, jab trend abhi bhi bana hua ho.</a:t>
            </a:r>
          </a:p>
          <a:p>
            <a:r>
              <a:t>Swing trade: Kuch din se kuch hafton tak rakha jaane wala trade, jiska plan daily chart par banta hai aur din mein ek baar check hota hai.</a:t>
            </a:r>
          </a:p>
          <a:p>
            <a:r>
              <a:t>Watchlist: Un stocks ki chhoti list jo rules 1 se 4 pass kar chuke hain aur ab signal day ka intezaar kar rahe hain. Jis shaam rule 1 fail ho, stock EMA 50 ke neeche close ho, ya 5 trading days bina signal ke nikal jaayein, stock list se bahar.</a:t>
            </a:r>
          </a:p>
          <a:p>
            <a:r>
              <a:t>Signal day: Woh din jab watchlist wala stock pichhle din ke high ke upar close kare aur trend rule tab bhi pass ho. Plan usi shaam likhte hain, entry agle open par.</a:t>
            </a:r>
          </a:p>
          <a:p>
            <a:r>
              <a:t>Maximum entry: Sabse ooncha open jo aap maanenge: signal close + 0.5 x ATR(14), pichhli shaam likha hua. 25% cap isi price par check hota hai; open isse upar ho toh skip.</a:t>
            </a:r>
          </a:p>
          <a:p>
            <a:r>
              <a:t>Relative strength (RS): Ek hi dauran mein stock ka % change minus NIFTY 50 ka % change. Positive ka matlab stock index se aage raha. Yeh RSI nahi hai.</a:t>
            </a:r>
          </a:p>
          <a:p>
            <a:r>
              <a:t>Screener: Aisa tool jo aapke rules se bahut saare stocks filter karke ek list deta hai. Yeh na order lagata hai, na aapki apni jaanch ki jagah leta hai.</a:t>
            </a:r>
          </a:p>
          <a:p>
            <a:r>
              <a:t>Time exit: Tay waqt ke baad trade se nikalna, jab na stop hit hua ho na profit exit. Yahan: entry wala din day 1 giniye; day 15 ke close tak kuch na ho, toh agle open par exit.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Pullback Swing</a:t>
            </a:r>
          </a:p>
          <a:p>
            <a:r>
              <a:t>Setup: EMA 20, badhte EMA 50 ke upar; Close EMA 20 se 2% ke andar; RSI(14) 40-50; RS, NIFTY 50 se aage</a:t>
            </a:r>
          </a:p>
          <a:p>
            <a:r>
              <a:t>Entry: Signal: pichhle high ke upar close; Entry agle open par; Max entry = close + 0.5 x ATR; Plan se aage gap = skip</a:t>
            </a:r>
          </a:p>
          <a:p>
            <a:r>
              <a:t>Plan card: Stop = entry - 1.5 x ATR; Qty = Rs 10,000 ÷ stop distance; Profit exit 2.5R; time exit day 15; Max 3 trades; cap max entry par</a:t>
            </a:r>
          </a:p>
          <a:p>
            <a:r>
              <a:t>Screener: Dhoondhta hai, faisla nahi karta; Har result aankh se check; Agle 15 din mein results = skip; Bonus nakli crash dikha sakta hai</a:t>
            </a:r>
          </a:p>
          <a:p>
            <a:r>
              <a:t>Aapka mann: Impatience bhaagti hai; rules rukte hain; Chhoote trade se capital nahi jaata; Khaali list = rule kaam kar raha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EMA Pullback rule card ko apne shabdon mein copy kijiye, usse screener banaiye jismein rule 4 ke liye aaj raat ka NIFTY 50 number ho, results aankh se check kijiye, aur ek practice plan card bhariye. Aaj koi trade nahi; paper trading kal se shuru hogi. Pehli baar mein lagbhag 55 minute lagenge; laptop par screener aasaan rehta hai, par phone par bhi ho jaata hai.</a:t>
            </a:r>
          </a:p>
          <a:p/>
          <a:p>
            <a:r>
              <a:t>1. 'Aapka template' se 'EMA Pullback rule card' ko Google Sheets ya notebook mein copy kijiye, har hisse ki ek line, apne shabdon mein. Kal se paper trades isi card se chalenge.</a:t>
            </a:r>
          </a:p>
          <a:p>
            <a:r>
              <a:t>2. Apne screener ke liye AI Lab ka 'Screener condition writer' prompt chalaiye, aur rules 1 se 4 aur minimum turnover ki jo conditions woh de, unhe copy kar lijiye.</a:t>
            </a:r>
          </a:p>
          <a:p>
            <a:r>
              <a:t>3. TradingView ke free chart par NIFTY 50 ka 3 mahine ka % change note kijiye (aaj ka close ÷ lagbhag 63 trading days pehle ka close, minus 1). Phir ek free screener kholiye, TradingView ka stock screener ya Chartink (broker account ki zaroorat nahi), conditions daaliye, rule 4 mein yahi number, aur latest daily close par chalaiye. Jo rule screener mein na bane, use note kar lijiye; woh aankh se check hoga.</a:t>
            </a:r>
          </a:p>
          <a:p>
            <a:r>
              <a:t>4. Results mein se 5 charts kholiye aur rules 1 se 4 ke hisaab se har ek ko aankh se Eligible ya Not eligible mark kijiye; agar koi rule todne wala stock aa gaya, toh woh condition theek karke screener dobara chalaiye. List khaali ho, toh 5 NIFTY 50 stocks haath se check kijiye. Yeh naam sirf checking drill hain, buy list nahi; inhe tips ki tarah share mat kijiye.</a:t>
            </a:r>
          </a:p>
          <a:p>
            <a:r>
              <a:t>5. '2-minute RS check' template mein unmein se 3 stocks ka RS nikaliye: har stock ka 3 mahine ka % change minus usi dauran NIFTY 50 ka. Sirf positive wale rakhiye.</a:t>
            </a:r>
          </a:p>
          <a:p>
            <a:r>
              <a:t>6. 'Plan card' template ka khaali 'Aapka case' column bhariye: signal close Rs 520, signal-day low Rs 508, ATR Rs 16, agla open Rs 526. Milaiye: maximum entry Rs 528, stop ki doori Rs 24, 416 shares, cap check 416 x Rs 528 = Rs 2,19,648 (22.0%, andar), entry lijiye, stop Rs 502, profit exit Rs 586.</a:t>
            </a:r>
          </a:p>
          <a:p/>
          <a:p>
            <a:r>
              <a:t>Aaj ke baad: Aaj ke baad aap EMA Pullback Swing ke rules bilkul saaf bata payenge, kisi chart ko un par check kar payenge, relative-strength rule free screener mein ya haath se chala payenge, aisa plan card likh payenge jismein 1.5 x ATR stop, maximum entry par 25% cap se check ki hui quantity, 2.5R profit exit aur 15 din ka time exit ho, aur samjha payenge ki plan se aage ka gap skip kyun hota hai, chase kyun nahi.</a:t>
            </a:r>
          </a:p>
          <a:p/>
          <a:p>
            <a:r>
              <a:t>Tools: TradingView free chart aur stock screener; Chartink (free; kuch features ke liye free login); NSE website: event calendar aur corporate actions; Google Sheets ya notebook; Koi bhi AI chat</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EMA Pullback rule card ko apne shabdon mein copy kijiye, usse screener banaiye jismein rule 4 ke liye aaj raat ka NIFTY 50 number ho, results aankh se check kijiye, aur ek practice plan card bhariye. Aaj koi trade nahi; paper trading kal se shuru hogi. Pehli baar mein lagbhag 55 minute lagenge; laptop par screener aasaan rehta hai, par phone par bhi ho jaata hai.</a:t>
            </a:r>
          </a:p>
          <a:p/>
          <a:p>
            <a:r>
              <a:t>1. 'Aapka template' se 'EMA Pullback rule card' ko Google Sheets ya notebook mein copy kijiye, har hisse ki ek line, apne shabdon mein. Kal se paper trades isi card se chalenge.</a:t>
            </a:r>
          </a:p>
          <a:p>
            <a:r>
              <a:t>2. Apne screener ke liye AI Lab ka 'Screener condition writer' prompt chalaiye, aur rules 1 se 4 aur minimum turnover ki jo conditions woh de, unhe copy kar lijiye.</a:t>
            </a:r>
          </a:p>
          <a:p>
            <a:r>
              <a:t>3. TradingView ke free chart par NIFTY 50 ka 3 mahine ka % change note kijiye (aaj ka close ÷ lagbhag 63 trading days pehle ka close, minus 1). Phir ek free screener kholiye, TradingView ka stock screener ya Chartink (broker account ki zaroorat nahi), conditions daaliye, rule 4 mein yahi number, aur latest daily close par chalaiye. Jo rule screener mein na bane, use note kar lijiye; woh aankh se check hoga.</a:t>
            </a:r>
          </a:p>
          <a:p>
            <a:r>
              <a:t>4. Results mein se 5 charts kholiye aur rules 1 se 4 ke hisaab se har ek ko aankh se Eligible ya Not eligible mark kijiye; agar koi rule todne wala stock aa gaya, toh woh condition theek karke screener dobara chalaiye. List khaali ho, toh 5 NIFTY 50 stocks haath se check kijiye. Yeh naam sirf checking drill hain, buy list nahi; inhe tips ki tarah share mat kijiye.</a:t>
            </a:r>
          </a:p>
          <a:p>
            <a:r>
              <a:t>5. '2-minute RS check' template mein unmein se 3 stocks ka RS nikaliye: har stock ka 3 mahine ka % change minus usi dauran NIFTY 50 ka. Sirf positive wale rakhiye.</a:t>
            </a:r>
          </a:p>
          <a:p>
            <a:r>
              <a:t>6. 'Plan card' template ka khaali 'Aapka case' column bhariye: signal close Rs 520, signal-day low Rs 508, ATR Rs 16, agla open Rs 526. Milaiye: maximum entry Rs 528, stop ki doori Rs 24, 416 shares, cap check 416 x Rs 528 = Rs 2,19,648 (22.0%, andar), entry lijiye, stop Rs 502, profit exit Rs 586.</a:t>
            </a:r>
          </a:p>
          <a:p/>
          <a:p>
            <a:r>
              <a:t>Aaj ke baad: Aaj ke baad aap EMA Pullback Swing ke rules bilkul saaf bata payenge, kisi chart ko un par check kar payenge, relative-strength rule free screener mein ya haath se chala payenge, aisa plan card likh payenge jismein 1.5 x ATR stop, maximum entry par 25% cap se check ki hui quantity, 2.5R profit exit aur 15 din ka time exit ho, aur samjha payenge ki plan se aage ka gap skip kyun hota hai, chase kyun nahi.</a:t>
            </a:r>
          </a:p>
          <a:p/>
          <a:p>
            <a:r>
              <a:t>Tools: TradingView free chart aur stock screener; Chartink (free; kuch features ke liye free login); NSE website: event calendar aur corporate actions; Google Sheets ya notebook; Koi bhi AI chat</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Pullback rule card</a:t>
            </a:r>
          </a:p>
          <a:p/>
          <a:p>
            <a:r>
              <a:t>Ise apne shabdon mein copy kijiye, har hisse ki ek line. Day 12 se paper trades isi card se chalenge, aur Day 16 mein yeh haan/na steps banega.</a:t>
            </a:r>
          </a:p>
          <a:p/>
          <a:p>
            <a:r>
              <a:t>Hissa | Likha hua rule</a:t>
            </a:r>
          </a:p>
          <a:p>
            <a:r>
              <a:t>Universe | NIFTY 500 ke stocks, jinka 20 din ka average turnover roz kam se kam Rs 10 crore ho</a:t>
            </a:r>
          </a:p>
          <a:p>
            <a:r>
              <a:t>Rule 1: Trend | EMA 20, EMA 50 ke upar, aur EMA 50 10 trading days pehle se upar</a:t>
            </a:r>
          </a:p>
          <a:p>
            <a:r>
              <a:t>Rule 2: Pullback | Close EMA 20 se 2% ke andar, upar ya neeche, aur EMA 50 ke upar</a:t>
            </a:r>
          </a:p>
          <a:p>
            <a:r>
              <a:t>Rule 3: Cool-down | RSI(14) 40 aur 50 ke beech</a:t>
            </a:r>
          </a:p>
          <a:p>
            <a:r>
              <a:t>Rule 4: Strength | 3 mahine ka % change NIFTY 50 se zyada; NIFTY 50 ka number har shaam type kijiye</a:t>
            </a:r>
          </a:p>
          <a:p>
            <a:r>
              <a:t>Watchlist | Jis shaam rule 1 fail ho, stock EMA 50 ke neeche close ho, ya 5 trading days tak signal na aaye, use hata dijiye</a:t>
            </a:r>
          </a:p>
          <a:p>
            <a:r>
              <a:t>Signal day | Official close pichhle din ke high ke upar, aur rule 1 tab bhi sahi</a:t>
            </a:r>
          </a:p>
          <a:p>
            <a:r>
              <a:t>Entry | Agle din ka open. Signal close + 0.5 x ATR se upar, ya signal-day low se neeche khule toh skip</a:t>
            </a:r>
          </a:p>
          <a:p>
            <a:r>
              <a:t>Stop | Entry - 1.5 x ATR(14); din ka low chhoote hi gina jaata hai</a:t>
            </a:r>
          </a:p>
          <a:p>
            <a:r>
              <a:t>Size | Rs 10,000 ÷ stop ki doori, neeche round; 25% cap pichhli shaam maximum entry par check; jo chhota ho wahi</a:t>
            </a:r>
          </a:p>
          <a:p>
            <a:r>
              <a:t>Exits | Profit exit entry + 2.5 x stop ki doori par, fill tabhi jab price uske upar trade kare; time exit day 15 ke baad agle open par</a:t>
            </a:r>
          </a:p>
          <a:p>
            <a:r>
              <a:t>Skip checks | Agle 15 trading days mein results date; NSE ke corporate actions page par bonus ya split</a:t>
            </a:r>
          </a:p>
          <a:p>
            <a:r>
              <a:t>House limits | Zyada se zyada 3 open trades, har ek alag sector mein (Day 9); -2R ke baad us din ke liye stop; hafte mein -5R ke baad ruk kar review</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card</a:t>
            </a:r>
          </a:p>
          <a:p/>
          <a:p>
            <a:r>
              <a:t>Pichhli shaam likha jaata hai; entry ke baad ismein kuch nahi badalta. 'Aapka case' ke khaali khaane bhariye aur task ke aakhri step se milaiye.</a:t>
            </a:r>
          </a:p>
          <a:p/>
          <a:p>
            <a:r>
              <a:t>Line | Priya: Gupta Cement Ltd | Aapka case</a:t>
            </a:r>
          </a:p>
          <a:p>
            <a:r>
              <a:t>Signal close | Rs 400 | Rs 520</a:t>
            </a:r>
          </a:p>
          <a:p>
            <a:r>
              <a:t>Signal-day low (iske neeche skip) | Rs 390 | Rs 508</a:t>
            </a:r>
          </a:p>
          <a:p>
            <a:r>
              <a:t>ATR(14) | Rs 12 | Rs 16</a:t>
            </a:r>
          </a:p>
          <a:p>
            <a:r>
              <a:t>Maximum entry = close + 0.5 x ATR | Rs 406 | </a:t>
            </a:r>
          </a:p>
          <a:p>
            <a:r>
              <a:t>Stop ki doori = 1.5 x ATR | Rs 18 | </a:t>
            </a:r>
          </a:p>
          <a:p>
            <a:r>
              <a:t>Quantity = Rs 10,000 ÷ stop ki doori | 555 | </a:t>
            </a:r>
          </a:p>
          <a:p>
            <a:r>
              <a:t>Cap check: quantity x maximum entry (limit Rs 2,50,000) | Rs 2,25,330 (22.5%) | </a:t>
            </a:r>
          </a:p>
          <a:p>
            <a:r>
              <a:t>Agle din ka open | Rs 404 | Rs 526</a:t>
            </a:r>
          </a:p>
          <a:p>
            <a:r>
              <a:t>Entry ya skip? | Entry | </a:t>
            </a:r>
          </a:p>
          <a:p>
            <a:r>
              <a:t>Stop = entry - stop ki doori | Rs 386 | </a:t>
            </a:r>
          </a:p>
          <a:p>
            <a:r>
              <a:t>Profit exit = entry + 2.5 x stop ki doori | Rs 449 | </a:t>
            </a:r>
          </a:p>
          <a:p>
            <a:r>
              <a:t>Stop hit hone par loss | Rs 9,990 (1R) | </a:t>
            </a:r>
          </a:p>
          <a:p>
            <a:r>
              <a:t>Time exit | Day 15 ke baad agla open |</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2-minute RS check</a:t>
            </a:r>
          </a:p>
          <a:p/>
          <a:p>
            <a:r>
              <a:t>Har change same dates par nikaliye: aaj ka close ÷ lagbhag 63 trading days pehle ka close, minus 1. Sirf positive RS rakhiye; khaali jagah se zyada setups hon, toh sabse zyada RS wala pehle.</a:t>
            </a:r>
          </a:p>
          <a:p/>
          <a:p>
            <a:r>
              <a:t>Stock | Stock, 3 mahine | NIFTY 50, wahi dates | RS | Rakhein?</a:t>
            </a:r>
          </a:p>
          <a:p>
            <a:r>
              <a:t>Gupta Cement Ltd | +13% | +4% | +9 | Rakhein</a:t>
            </a:r>
          </a:p>
          <a:p>
            <a:r>
              <a:t>Sharma Textiles Ltd | +2% | +4% | -2 | Skip</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'Screener Race', ek process game: jodi mein screener lists badal lijiye. Partner ki list mein har rule todne wale stock par aapko ek point, aur jab partner woh condition theek kar de jisse woh stock aaya, toh ek point usko. Point kabhi list ke stocks se nahi milte, aur kisi stock ki buy ya sell ke roop mein baat nahi hoti. Akele khelna ho toh 'Chase ya Pause': 5 random daily charts kholiye, har chart ko 60 second dijiye aur boliye Pause (card mein fit hone wala pullback), Chase (Aman ke Kiran Foods ki tarah EMA 20 se kaafi upar) ya Sasta jaal (downtrend); phir rule card se khud ko score kijiye. Pehli shaam 5 mein se 4 achha score hai.</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Screener condition writer</a:t>
            </a:r>
          </a:p>
          <a:p>
            <a:r>
              <a:t>You are a careful teacher helping a beginner build a stock screener for Indian cash equities on the daily timeframe. I will tell you which platform I use (TradingView stock screener or Chartink). Turn these rules into screener conditions: (1) EMA 20 above EMA 50, and EMA 50 higher than it was 10 trading days ago; (2) close within 2% of EMA 20, above or below, and above EMA 50; (3) RSI(14) between 40 and 50; (4) 3-month (about 63 trading day) % change greater than NIFTY 50's 3-month % change; a screener cannot look up NIFTY 50 by itself, so I will read NIFTY 50's 3-month % change each evening and type it in as a number (for example 4 for a 4% rise, or -3 for a 3% fall): show me exactly where that number goes, either as a 3-month performance filter or as today's close greater than the close 63 trading days ago x (1 + that number / 100); (5) universe NIFTY 500, with 20-day average turnover (close x volume) above Rs 10 crore. Give each condition in the platform's own syntax, then explain each clause in one plain line so I can verify it. Also give a second version for signal days: rule 1, rule 4 and the universe and turnover filter, plus today's close above the previous day's high. Explain that rules 2 and 3 were met on an earlier day, so I must match this list against my watchlist from the last 5 trading days. If the platform cannot express a rule, say so clearly and tell me to check that rule by eye. Label every statement about the platform's features as Fact (checkable in its help pages), Guess (you are not sure, or it may have changed) or Kachra (a common myth). Finally, list 2 ways a wrong clause would show up in the results, for example downtrend stocks appearing. Do not name any stock, do not give buy or sell advice, and do not mention price targets or expected returns.</a:t>
            </a:r>
          </a:p>
          <a:p/>
          <a:p>
            <a:r>
              <a:t>My platform: &lt;TradingView stock screener or Chartink&gt;</a:t>
            </a:r>
          </a:p>
          <a:p/>
          <a:p>
            <a:r>
              <a:t>Prompt 2: Rule card ki ambiguity pakadiye</a:t>
            </a:r>
          </a:p>
          <a:p>
            <a:r>
              <a:t>Act as a strict examiner of trading rule cards. I will paste my EMA Pullback Swing rule card below. Find every word or rule that two people could read differently (for example 'near', 'rising', 'strong', or 'close above what?') and ask me one short question about each. Then check whether the card covers all of these, and list anything missing: trend filter, pullback distance, RSI zone, relative strength vs NIFTY 50, signal day, signal within 5 trading days of joining the watchlist, NIFTY 500 universe with average daily turnover of Rs 10 crore or more, watchlist exit (rule 1 fails, a close below EMA 50, or 5 trading days without a signal), entry at the next day's open with a maximum entry and a gap-down skip, stop at 1.5 x ATR(14) below entry, quantity from 1% risk on Rs 10 lakh virtual capital, 25% position cap checked the evening before at the maximum entry, 2.5R profit exit that fills only if price trades above it, 15-day time exit, maximum 3 open trades, no two in the same sector, daily stop after -2R, weekly pause after -5R, results-date check and corporate-action check. Do not judge whether the strategy makes money, do not suggest any stock, and do not give buy or sell advice, targets or return expectations.</a:t>
            </a:r>
          </a:p>
          <a:p/>
          <a:p>
            <a:r>
              <a:t>My rule card: &lt;paste here&gt;</a:t>
            </a:r>
          </a:p>
          <a:p/>
          <a:p>
            <a:r>
              <a:t>Prompt 3: Plan card ka hisaab check</a:t>
            </a:r>
          </a:p>
          <a:p>
            <a:r>
              <a:t>Check the arithmetic of my plan card for a virtual paper trade. I will type: capital (Rs 10,00,000), risk per trade (1%), the signal day's close and low, ATR(14), the next day's open, plus my own answers. Show each step in this order. The evening before: maximum entry = signal close + 0.5 x ATR; stop distance = 1.5 x ATR; quantity = (capital x 1%) / stop distance, rounded down; the 25% cap check at the maximum entry: quantity x maximum entry and its % of capital, and if it is above 25%, the capped quantity (Rs 2,50,000 / maximum entry, rounded down) and the new planned risk in R. Then, with the next day's open: whether the open is at or below the maximum entry and not below the signal day's low (if not, the rule says skip); entry = the open; stop = entry - stop distance; profit exit = entry + 2.5 x stop distance; the loss in rupees and in R if the stop is hit exactly; and the loss in R if the stock opens 2% below the stop. Then point out which of my answers differ from yours and why. This is an arithmetic check only: do not tell me whether to take the trade, do not name or suggest any stock, and do not give return expectations.</a:t>
            </a:r>
          </a:p>
          <a:p/>
          <a:p>
            <a:r>
              <a:t>My numbers and my answers: &lt;type here&gt;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stock ka EMA 20 uske EMA 50 ke neeche hai. Price abhi EMA 20 tak aaya hai aur RSI(14) 45 hai. EMA Pullback Swing ke rules ke hisaab se aap kya karenge?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Shaam ka plan: signal close Rs 247 aur ATR(14) Rs 6, isliye maximum entry Rs 250. Virtual capital Rs 10 lakh, har trade par risk 1%, aur koi position capital ke 25% se zyada ki nahi ho sakti. Plan card par kya likha jaayega?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Gupta Cement Ltd ke liye Priya ka plan: signal close Rs 400, signal day ka low Rs 390, ATR(14) Rs 12. Agli subah stock Rs 409 par khulta hai. Rule card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Pichhle 3 mahine mein NIFTY 50, 4% chadha. Stock A 9% chadha, Stock B 3% aur Stock C 1%. Teeno rules 1 se 3 pass karte hain. Relative-strength rule kaun pass karta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free data site par Bharat Pumps Ltd aaj 50% down dikh raha hai, RSI 15 ke aas-paas aur ATR do guna se zyada. NSE ke corporate actions page ke mutabik aaj 1:1 bonus laagu hua hai. Sahi matlab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Ek aisa mauka yaad kijiye jab aap kisi aisi cheez ke peeche bhaage jo pehle hi nikal chuki thi: sale, train, stock ya trend. Us chase ki kya keemat chukani padi? Ab aaj ke rule card ki woh ek line likhiye jo aapko rukne par majboor karti.</a:t>
            </a:r>
          </a:p>
          <a:p/>
          <a:p>
            <a:r>
              <a:t>Aaj aapne aise rules likhe jo zyadatar batate hain ki kab nahi khareedna. Zyadatar shaamon ko aap yahi rules use karenge.</a:t>
            </a:r>
          </a:p>
          <a:p/>
          <a:p>
            <a:r>
              <a:t>Agla: Day 12 · Paper trading ka pehla din aur AI trade journal</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12: Paper trading ka pehla din aur AI trade journal</a:t>
            </a:r>
          </a:p>
          <a:p/>
          <a:p>
            <a:r>
              <a:t>Concept: Imaandaar paper trading: fills, gaps, costs R mein, journal aur adherence score</a:t>
            </a:r>
          </a:p>
          <a:p>
            <a:r>
              <a:t>AI Lab: Journal detective: AI pattern dhoondhe, faisla aap karein</a:t>
            </a:r>
          </a:p>
          <a:p>
            <a:r>
              <a:t>Mindset: 'Paper hai, chalta hai'</a:t>
            </a:r>
          </a:p>
          <a:p/>
          <a:p>
            <a:r>
              <a:t>Aaj ke baad: Aaj ke baad aap aise fills ke saath paper trade kar payenge jo sach mein mil sakte the, stop ke paar gap ko imaandaari se record kar payenge, har row mein ek emotion shabd ke saath das columns ka journal rakh payenge, apna adherence score points ÷ decisions se khud nikaal payenge, aur saat hisson wali Portfolio row shuru kar payenge jise mentor grade kar sakein.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hi toh hai?</a:t>
            </a:r>
          </a:p>
          <a:p/>
          <a:p>
            <a:r>
              <a:t>(Shaam ka waqt, paper trading ka pehla din. Aman, Priya aur mentor video call par hain.)</a:t>
            </a:r>
          </a:p>
          <a:p>
            <a:r>
              <a:t>Aman: Sir, pehle hi din Rs 18,000 ka profit. Maine Kiran Foods ke 1,000 shares le liye, wahi jo kal uchhla tha. Entry Rs 446 likhi, din ka low, aur woh Rs 464 par band hua. Formula 400 shares bol raha tha, lekin paisa toh paper ka hai. Paper hai, chalta hai.</a:t>
            </a:r>
          </a:p>
          <a:p>
            <a:r>
              <a:t>Priya: Mere screener mein aaj koi setup aaya hi nahi, toh meri sheet mein bas ek row hai: 'No setup'. Sir, kya maine pehla din bekaar kar diya?</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hi toh hai?</a:t>
            </a:r>
          </a:p>
          <a:p/>
          <a:p>
            <a:r>
              <a:t>Mentor: Aman, do sawaal. Aaj subah 9:15 par kya aapko pata tha ki Rs 446 hi low banega? Aur asli paisa hota, toh kya aap 1,000 shares lete, jab formula 400 keh raha tha?</a:t>
            </a:r>
          </a:p>
          <a:p>
            <a:r>
              <a:t>Aman: Nahi sir. Low maine 3:30 baje chuna, poora din dekhne ke baad. Aur size... bas real nahi lag raha tha.</a:t>
            </a:r>
          </a:p>
          <a:p>
            <a:r>
              <a:t>Mentor: Toh aapke Rs 18,000 ek kahani hain, record nahi. Priya ki ek imaandaar row usse zyada keemti hai. Aaj hum seekhenge ki paper trading sach kaise bole, aur aisa journal kaise rakhein jo rules follow karne ko score kare, profit ko nahi.</a:t>
            </a:r>
          </a:p>
          <a:p/>
          <a:p>
            <a:r>
              <a:t>Seekh: Paper ka paisa asli nahi hota. Uske saath bani aadatein asli hoti hain.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asli prices, virtual paisa, asli rules</a:t>
            </a:r>
          </a:p>
          <a:p/>
          <a:p>
            <a:r>
              <a:t>Paper trading ka matlab hai asli market prices par apni strategy follow karna, lekin virtual paise se; koi order exchange tak jaata hi nahi. Aaj se aap Day 11 ki EMA Pullback Swing chalayenge, Rs 10 lakh ke virtual challenge capital par, jahan 1R = Rs 10,000 hai aur ek waqt par zyada se zyada 3 trades khule reh sakte hain. Yeh strategy daily candles par chalti hai, isliye aap 3:30 ke close ke baad scan kar sakte hain aur open dekhne ki zaroorat hi nahi; Day 13 ka ORB optional hai, sirf unke liye jo 9:15 se 11:00 tak screen dekh sakein. Paper trading yeh test nahi karti ki aap paisa bana sakte hain ya nahi. Yeh test karti hai ki price hilne par bhi aap apne rules follow karte hain ya nahi. Iska sabse bada trap hai 'paper hai, chalta hai': yeh feeling ki nakli paise mein rules zaroori nahi, jabki yahan liya gaya har shortcut ek aadat ban raha hota hai.</a:t>
            </a:r>
          </a:p>
          <a:p/>
          <a:p>
            <a:r>
              <a:t>Udaharan: Priya Lucknow ke ek office mein shaam 6 baje tak kaam karti hai. Raat 8 baje woh Day 11 wala screener chalati hai, naye naam watchlist mein jodti hai, aur har watchlist stock ko TradingView ke free daily chart par signal day ke liye check karti hai. Signal mile tabhi woh Google Sheet mein kal ka plan likhti hai: stock, maximum entry, woh low jiske neeche khulne par skip, stop ki doori aur quantity. 9:15 ka open woh kabhi dekhti hi nahi. Agli shaam woh daily candle dekhti hai: stock dono limits ke andar khula toh open hi uski entry hai; nahi toh 'Skipped: gap' likh deti hai. Sheet ki version history dikhati hai ki plan market khulne se pehle likha gaya tha, isliye baad mein kiya koi bhi badlaav usmein dikh jaayega.</a:t>
            </a:r>
          </a:p>
          <a:p/>
          <a:p>
            <a:r>
              <a:t>Yaad rakhiye: Paisa virtual hai, aadatein asli: paper par jo chhoot aap dete hain, wahi aadat aap khud ko sikha rahe hain.</a:t>
            </a:r>
          </a:p>
          <a:p/>
          <a:p>
            <a:r>
              <a:t>Slide par: Naukri karne walon ka paper day · Swing strategy ke liye office time mein screen dekhne ki zaroorat nahi.</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fills jo aapko jhooti shaabashi na dein</a:t>
            </a:r>
          </a:p>
          <a:p/>
          <a:p>
            <a:r>
              <a:t>Fill woh price hai jis par order sach mein execute hota hai; paper par yeh aap khud tay karte hain, isliye woh price likh dena aasaan hai jo din khatam hone ke baad dikha. Shuruaat teen house rules se. Ek: entry agle din ka open hai, aur woh bhi tabhi jab stock aapke plan ki dono limits ke andar khule (Day 11), din ka low kabhi nahi. Profit exit par lagaya sell order tabhi maaniye jab price uske upar trade kare, kyunki us price par pehle se line mein khade sellers ka order pehle fill hota hai (Day 1); aur agar din hi uske upar khule, toh exit wahi open hai. Do: daily candle yeh nahi batati ki pehle kya hua, isliye agar ek hi candle aapke stop aur profit exit dono ko chhoo le, toh stop hi giniye (Day 7). Teen: har band trade se 0.1R kaatiye, costs (brokerage, STT, exchange charges, GST, stamp duty) aur slippage ke liye; slippage yaani asli order ka screen price se thoda kharab price par fill hona, aur yeh practice allowance hai, koi asli rate nahi.</a:t>
            </a:r>
          </a:p>
          <a:p/>
          <a:p>
            <a:r>
              <a:t>Udaharan: Wapas chaliye Day 11 ke Gupta Cement Ltd wale plan par: signal close Rs 400, maximum entry Rs 406, Rs 390 se neeche khule toh skip, stop ki doori Rs 18, 555 shares. Friday Rs 404 par khula, dono limits ke andar, isliye entry Rs 404, stop Rs 386 aur profit exit Rs 449. Gyarah trading din baad stock Rs 441 par khula aur Rs 452 tak gaya, Rs 449 ke upar trade hua, isliye sell Rs 449 par fill hoti hai. Aman ne usi setup par Friday ka low Rs 398 entry likha aur us baad wale din ka high Rs 452 exit likha: har share par Rs 54, woh bhi aise do prices se jo usne chart dekhne ke baad chune, aur bina costs. Pichhli shaam likha koi bhi plan use yeh prices de hi nahi sakta tha. Imaandaar result 2.4R hai, challenge capital par lagbhag Rs 24,000, aur bahut se trades itni safai se khatam nahi honge.</a:t>
            </a:r>
          </a:p>
          <a:p/>
          <a:p>
            <a:r>
              <a:t>Yaad rakhiye: Jis price par aap trade kar hi nahi sakte the, woh journal mein nahi jaata.</a:t>
            </a:r>
          </a:p>
          <a:p/>
          <a:p>
            <a:r>
              <a:t>Slide par: Priya ka trade, imaandaari se likha hua · Aman ka baad mein dekh kar chuna gaya version, Friday ke low se baad ke high tak aur bina costs, har share par Rs 54 dikhata tha. Pehle se likha koi plan use yeh prices nahi de sakta tha.</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Jab price aapke stop ke upar se kood jaaye</a:t>
            </a:r>
          </a:p>
          <a:p/>
          <a:p>
            <a:r>
              <a:t>Stop-loss ek plan hai, exit price ka vada nahi; yeh humne Day 2 mein dekha tha. Agar din ke beech price aapke stop tak aa jaaye, toh exit stop par likhiye: stop ek trigger hai, isliye yahan chhoona hi kaafi hai, aur thoda-bahut slippage 0.1R allowance mein aa jaata hai. Lekin agar close ke baad koi buri khabar aa jaaye, toh agla din aapke stop se kaafi neeche khul sakta hai; price ki is chhalaang ko gap kehte hain. Chautha house rule: jab din aapke stop se neeche khule, toh aapka paper exit wahi opening price hai, stop kabhi nahi. Agar stock lower price band par atka hai aur buyers hi nahi, toh aapka paper exit bhi intezaar karega, bilkul waise hi jaise asli sell order line mein bina fill hue pada rehta hai; uske baad jis pehle price par trade ho, wahi likhiye, aksar kisi agle din ka open. Isiliye 1R ka planned loss kabhi-kabhi journal mein 1.5R ya usse bhi zyada ban jaata hai.</a:t>
            </a:r>
          </a:p>
          <a:p/>
          <a:p>
            <a:r>
              <a:t>Udaharan: Ab usi Gupta Cement trade ko ek alag ending dete hain: entry Rs 404, stop Rs 386. Agle Wednesday close ke baad khabar aati hai ki company ke main plant mein aag lag gayi, aur Thursday Rs 377 par khulta hai, stop se neeche. Priya ka paper exit Rs 377 hai, Rs 386 nahi. Loss har share par Rs 27 hai, yaani 27 ÷ 18 = 1.5R, aur 0.1R allowance ke baad 1.6R: plan kiye Rs 10,000 ki jagah lagbhag Rs 16,000. Aman Rs 386 likhna chahta tha, 'kyunki mera stop wahi tha'. Priya ka journal wahi likhta hai jo sach mein hua.</a:t>
            </a:r>
          </a:p>
          <a:p/>
          <a:p>
            <a:r>
              <a:t>Yaad rakhiye: Stop aapka plan hai; journal wahi likhta hai jo asal mein hua.</a:t>
            </a:r>
          </a:p>
          <a:p/>
          <a:p>
            <a:r>
              <a:t>Slide par: Gap stop ke paar kood gaya · Thursday ko Rs 386 par koi trade hua hi nahi. Imaandaar exit Rs 377 ka open hai.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Aapka journal: das columns. Aapki Portfolio row: saat hisse</a:t>
            </a:r>
          </a:p>
          <a:p/>
          <a:p>
            <a:r>
              <a:t>Trade journal ek logbook hai jismein har decision har baar ek hi tareeke se likha jaata hai. Hamare journal mein das columns hain: date, stock, setup, entry, stop, quantity, exit aur R result, aur do honesty columns, 'Rule broken?' aur 'Emotion'; har column mein kya likhna hai, yeh Aaj Ka Kaam wala template dikhata hai. Jis din trade na ho, Setup cell mein 'No setup' ya 'Skipped: &lt;kaunsa rule&gt;' likhiye. R result = rupaye mein gain ya loss ÷ Rs 10,000 (challenge capital par 1R, Day 9), phir 0.1R allowance ghataiye. Poore size ke trade mein yeh lagbhag har share ka gain ya loss ÷ har share ka planned risk hai (Day 3), isliye Rs 200 aur Rs 2,000 wale share ek hi paimane par aa jaate hain; aur jis trade ko 25% cap ne kaata, uska R wahi chhota risk dikhata hai jo aapne sach mein liya, jaise -1R ki jagah -0.9R (Day 14). Emotion ek fixed menu se sirf ek shabd hai: calm, FOMO ('fear of missing out', price bhaagta dekh kar kood padne ki bechaini), darr, bore, gussa ya over-confident; ek imaandaar shabd baad mein ginna ek paragraph se kahin aasaan hai. Journal har decision likhta hai. App ke Portfolio page par zyada se zyada paanch rows aati hain, har us stock ki ek row jise aapne poori tarah socha hai, chahe paper trade liya ho ya woh watchlist par hi raha: pehla paper trade ek row shuru karta hai, aur Day 15, 16 aur 19 ek-ek row jodne ko kehte hain. Har row ke saat hisse hain: do Full Why (business ka reason aur doosra, alag reason), sabse bada risk aur us risk ka aapka jawab, price-stop, Why-stop ('idea galat sabit hoga agar...') aur review point. Mentor har poori row ko process par grade karte hain, aur C ya behtar grade wali paanch rows certificate ke chhe checks mein se ek hain (Day 21). Row ek likha hua plan hai, khula trade nahi: trade band hone par bhi row page par rehti hai, aur khule trades ki limit ab bhi 3 hai.</a:t>
            </a:r>
          </a:p>
          <a:p/>
          <a:p>
            <a:r>
              <a:t>Udaharan: Priya ki sheet ki do rows. Row 1: No setup, koi trade nahi, emotion 'bore'. Row 2, trade band hone par poori hui: Gupta Cement Ltd, EMA Pullback, entry Rs 404, stop Rs 386, 555 shares, exit Rs 449, R result +2.4R, Rule broken? 'none', emotion 'calm'. Cricket ke scorer ki tarah woh har ball likhti hai, dot balls bhi. Jis din entry hui, usi din usne is trade ki Portfolio row bhi shuru ki, virtual paise mein: Full Why 2 'uptrend mein EMA Pullback signal, 3 mahine mein NIFTY 50 se mazboot'; sabse bada risk 'raat ki koi buri khabar ise stop ke neeche gap kar de'; uska jawab 'size aisa hai ki 1.5R ka gap bhi lagbhag Rs 15,000 ka hi hoga, aur main asli exit hi likhungi'; price-stop Rs 386; Why-stop 'lagatar do quarter sales giri'; review point 'agli results date'. Full Why 1, yaani business ka reason, Day 15 ke health check tak rukta hai; tab tak page row ko Adhoori dikhata hai, kyunki row tabhi ginti hai jab saaton hisse bhare hon.</a:t>
            </a:r>
          </a:p>
          <a:p/>
          <a:p>
            <a:r>
              <a:t>Yaad rakhiye: Har decision ki journal row banti hai, kuch na karne ke decision ki bhi. Jis stock ko aap poori tarah sochte hain, uski saat hisson wali Portfolio row bhi banti hai, zyada se zyada paanch.</a:t>
            </a:r>
          </a:p>
          <a:p/>
          <a:p>
            <a:r>
              <a:t>Slide par: Journal ki ek row kaise bharein · Google Sheet mein das columns. Kisi fancy tool ki zaroorat nahi.</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Adherence score: sahi chhodi gayi ball bhi ginti hai</a:t>
            </a:r>
          </a:p>
          <a:p/>
          <a:p>
            <a:r>
              <a:t>Adherence ka matlab hai wahi karna jo aapka rule card kehta hai. Challenge aapke process ko score karta hai, profit ko kabhi nahi (points kaise gine jaate hain, yeh Day 21 mein), aur adherence woh process number hai jo aap roz khud track karte hain. Har decision ko 1 ya 0 milta hai: jo trade entry se exit tak har rule follow kare, use 1; jo setup aap kisi likhe hue rule ki wajah se chhod dein, use 1; aur jis din setup na aaye aur aap bahar rahein, us din ko bhi 1. Koi bhi rule toota toh 0: plan likha nahi, size formula ya 25% cap se zyada, stop aur door khiska diya, chautha trade khol liya, daily -2R stop ke baad ya -5R weekly pause mein trade kar diya, ya journal mein aisa price likha jis par trade ho hi nahi sakta tha. Score = points ÷ decisions, aur no-setup wala din ek decision ginta hai, isliye sabr wala khaali hafta bhi poora score kamata hai. Jaise batsman off stump ke bahar ki ball chhod deta hai, waise hi sahi chhoda gaya setup bhi scorebook mein jaata hai.</a:t>
            </a:r>
          </a:p>
          <a:p/>
          <a:p>
            <a:r>
              <a:t>Udaharan: Aman ke pehle paanch paper dinon mein chhe decisions the. Paper day 1: Kiran Foods wala trade, na setup, na likha hua plan, entry price close ke baad chuna gaya, size formula se 2.5 guna aur 25% cap se bhi upar (0). Paper day 2: koi setup nahi, woh bahar raha (1). Paper day 3: ek setup, liya aur exit tak saare rules follow kiye (1). Paper day 4: do setups; ek maximum entry se upar gap up hokar khula, toh usne skip kar diya, bilkul Day 11 ke hisaab se (1), aur doosre mein price girne par usne stop aur door khiska diya (0). Paper day 5: koi setup nahi, bahar raha (1). Score: 4 ÷ 6 = 67%. Us hafte ka paper profit ya loss is score mein kahin nahi aata.</a:t>
            </a:r>
          </a:p>
          <a:p/>
          <a:p>
            <a:r>
              <a:t>Yaad rakhiye: Score = points ÷ decisions. Profit ismein kabhi nahi aata.</a:t>
            </a:r>
          </a:p>
          <a:p/>
          <a:p>
            <a:r>
              <a:t>Slide par: Har decision, ek point · Score = points ÷ decisions. No-setup wala din ek decision hai.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journal padhe, faisla aap karein</a:t>
            </a:r>
          </a:p>
          <a:p/>
          <a:p>
            <a:r>
              <a:t>Ek-do hafte baad aapki rows mein patterns chhupe hote hain, aur table mein pattern dhoondhne mein AI achha hai. Kisi bhi AI chat mein sirf das columns copy kijiye; apna naam, PAN, client ID, account number ya contract note kabhi paste mat kijiye. Usse poochhiye ki kaunse rules sabse zyada toote, kaunse emotion shabd toote rules ke saath dikhte hain, aur kin dinon. Kahiye ki har baat par label lagaye, Fact (jo aapki rows mein dikhta hai) ya Guess (uska andaaza), aur aapne jo belief likha ho, agar aapki rows use support na karein, toh use Kachra bole. AI pattern dikhata hai; uska kya karna hai yeh aap tay karte hain, aur 30 logged trades se pehle strategy ka koi rule nahi badalta. AI ginti mein galti kar sakta hai, isliye har number apni sheet se milaiye.</a:t>
            </a:r>
          </a:p>
          <a:p/>
          <a:p>
            <a:r>
              <a:t>Udaharan: Do hafte baad ek classmate apni 14 rows paste karta hai. AI ka summary: 14 mein se 7 decisions mein rule toota, yaani adherence score 50%. Un saat mein se teen par tag tha FOMO aur do par 'bore'; 'calm' wala ek bhi nahi. Chaar toote rules kisi jeete hue trade ke agle din aaye. Woh har ginti apni sheet se milata hai, aur sab sahi nikalti hain. Uska pehla khayal hai ki AI se koi behtar strategy maang le. Mentor use Facts dobara padhne ko kehte hain: strategy nahi tooti, uske rules toote, sabse zyada FOMO wale dinon mein aur jeet ke agle din. 14 rows par yeh rishta abhi bhi Guess hai, jise aage test karte rehna hai, koi fixed rule nahi. Woh ek hi badlaav karta hai, aur woh aadat ka hai, strategy ka nahi: jab FOMO ho, khaas kar jeet ke baad, idea sheet mein likh do aur shaam ke scan ka intezaar karo.</a:t>
            </a:r>
          </a:p>
          <a:p/>
          <a:p>
            <a:r>
              <a:t>Yaad rakhiye: AI pattern dhoondhta hai. Uska matlab aap tay karte hain.</a:t>
            </a:r>
          </a:p>
          <a:p/>
          <a:p>
            <a:r>
              <a:t>Slide par: Ek classmate ke toote rules, emotion ke hisaab se · Do hafte ke ek-shabd wale tags. Rules sabse zyada FOMO wale dinon mein toote, aur calm rehne par kabhi nahi.</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Asli prices par virtual paise se apni strategy chalana. Koi order exchange tak nahi jaata.</a:t>
            </a:r>
          </a:p>
          <a:p>
            <a:r>
              <a:t>Fill: Woh price jis par order sach mein execute hota hai. Paper par entry agle din ka open hai, plan ki limits ke andar; profit exit wali sell tabhi fill hoti hai jab price uske upar trade kare.</a:t>
            </a:r>
          </a:p>
          <a:p>
            <a:r>
              <a:t>Stop ke paar gap: Jab din aapke stop se neeche khule. Exit wahi opening price hota hai, isliye loss 1R se zyada ho sakta hai.</a:t>
            </a:r>
          </a:p>
          <a:p>
            <a:r>
              <a:t>0.1R allowance: Har band paper trade se costs aur slippage ke liye seedha 0.1R kaatna. Yeh practice number hai, asli rate nahi.</a:t>
            </a:r>
          </a:p>
          <a:p>
            <a:r>
              <a:t>Trade journal: Das columns ka log, har decision ki ek row, bina setup wale din bhi.</a:t>
            </a:r>
          </a:p>
          <a:p>
            <a:r>
              <a:t>Adherence score: Points ÷ decisions: rule card follow karne wale har decision ko 1, rule tootne par 0. Profit kabhi nahi gina jaata.</a:t>
            </a:r>
          </a:p>
          <a:p>
            <a:r>
              <a:t>Portfolio row: App ke Portfolio page par ek poori tarah soche gaye stock (paper trade ya watchlist stock) ka saat hisson wala record: do Full Why, sabse bada risk aur aapka jawab, price-stop, Why-stop aur review point. C ya behtar grade wali paanch rows certificate ka ek check hain.</a:t>
            </a:r>
          </a:p>
          <a:p>
            <a:r>
              <a:t>Why-stop: Woh fact jo aapke reason ko galat sabit kar de, entry se pehle likha hua: 'idea galat sabit hoga agar...'. Price-stop price par nazar rakhta hai; Why-stop aapke reason par.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Imaandaar paper trading</a:t>
            </a:r>
          </a:p>
          <a:p>
            <a:r>
              <a:t>Paper, par asli: Asli prices, virtual paisa; EMA Pullback, 1R = Rs 10,000; Swing office walon ke liye sahi</a:t>
            </a:r>
          </a:p>
          <a:p>
            <a:r>
              <a:t>Imaandaar fills: Entry = agla open; Profit exit: upar trade zaroori; Costs ke liye 0.1R kam</a:t>
            </a:r>
          </a:p>
          <a:p>
            <a:r>
              <a:t>Gaps: Stop ek plan hai; Stop chhua: exit stop par; Stop ke paar gap: exit open par</a:t>
            </a:r>
          </a:p>
          <a:p>
            <a:r>
              <a:t>Journal: Das columns, har decision ki row; 'No setup' bhi ek row hai; Ek emotion shabd; Portfolio row: 7 hisse, grade milta hai</a:t>
            </a:r>
          </a:p>
          <a:p>
            <a:r>
              <a:t>Adherence: Points ÷ decisions; Rule se skip = 1; Profit kabhi nahi ginta</a:t>
            </a:r>
          </a:p>
          <a:p>
            <a:r>
              <a:t>AI review: Sirf rows, personal data nahi; Fact / Guess / Kachra; 30 trades se pehle rule change nahi</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imaandaar paper journal banaiye, pehla decision log kijiye aur pehli saat hisson wali Portfolio row shuru kijiye: aaj lagbhag 35 minute, phir har shaam scan aur row ke liye lagbhag 20 minute.</a:t>
            </a:r>
          </a:p>
          <a:p/>
          <a:p>
            <a:r>
              <a:t>1. Google Sheets mein neeche diye template ke das headers wali sheet banaiye: Date, Stock, Setup, Entry, Stop, Qty, Exit, R result, Rule broken?, Emotion. Sheets nahi? Notebook mein yahi das columns bana lijiye.</a:t>
            </a:r>
          </a:p>
          <a:p>
            <a:r>
              <a:t>2. 3:30 ke close ke baad Day 11 wala screener chalaiye, results ko watchlist mein daaliye, aur TradingView ke free daily chart par dekhiye ki pichhle 5 trading dinon mein jude kisi watchlist stock ne signal day banaya ya nahi: close pichhle din ke high ke upar.</a:t>
            </a:r>
          </a:p>
          <a:p>
            <a:r>
              <a:t>3. Aaj shaam hi kal ke liye ek row likhiye: signal ho toh plan (stock; maximum entry = signal close + 0.5 x ATR; signal-day ke low se neeche khule toh skip; stop ki doori 1.5 x ATR; quantity = Rs 10,000 ÷ stop ki doori aur Rs 2,50,000 ÷ maximum entry mein se jo chhoti ho, dono round down karke; 2.5R par profit exit; day 15 par time exit), warna 'No setup'.</a:t>
            </a:r>
          </a:p>
          <a:p>
            <a:r>
              <a:t>4. Kal shaam daily candle dekhiye aur row poori kijiye. Agar woh dono limits ke andar khula, toh entry wahi open hai, stop = open minus 1.5 x ATR aur profit exit = open plus 2.5 x stop ki doori; nahi toh 'Skipped: gap' likhiye, iska bhi point milta hai. Phir 'Rule broken?' aur ek emotion shabd bhariye.</a:t>
            </a:r>
          </a:p>
          <a:p>
            <a:r>
              <a:t>5. Jis din aapka pehla paper trade enter ho, app ka Portfolio page kholiye aur uski row virtual paise mein jodiye (symbol, entry date, quantity, entry price), phir woh hisse jo aaj bhar sakte hain: price-stop, Full Why 2, sabse bada risk, us risk ka jawab, Why-stop aur review point, neeche Priya ke model ki tarah. Full Why 1, yaani business ka reason, Day 15 ke baad jodiye.</a:t>
            </a:r>
          </a:p>
          <a:p>
            <a:r>
              <a:t>6. Stretch, paanch rows ke baad (15 minute): sirf das columns 'Journal detective' prompt ke saath kisi bhi AI mein paste kijiye, aur har Fact ko apni sheet se milaiye.</a:t>
            </a:r>
          </a:p>
          <a:p/>
          <a:p>
            <a:r>
              <a:t>Aaj ke baad: Aaj ke baad aap aise fills ke saath paper trade kar payenge jo sach mein mil sakte the, stop ke paar gap ko imaandaari se record kar payenge, har row mein ek emotion shabd ke saath das columns ka journal rakh payenge, apna adherence score points ÷ decisions se khud nikaal payenge, aur saat hisson wali Portfolio row shuru kar payenge jise mentor grade kar sakein.</a:t>
            </a:r>
          </a:p>
          <a:p/>
          <a:p>
            <a:r>
              <a:t>Tools: Google Sheets; TradingView free chart; App ka Portfolio page; Koi bhi AI chat</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Apna imaandaar paper journal banaiye, pehla decision log kijiye aur pehli saat hisson wali Portfolio row shuru kijiye: aaj lagbhag 35 minute, phir har shaam scan aur row ke liye lagbhag 20 minute.</a:t>
            </a:r>
          </a:p>
          <a:p/>
          <a:p>
            <a:r>
              <a:t>1. Google Sheets mein neeche diye template ke das headers wali sheet banaiye: Date, Stock, Setup, Entry, Stop, Qty, Exit, R result, Rule broken?, Emotion. Sheets nahi? Notebook mein yahi das columns bana lijiye.</a:t>
            </a:r>
          </a:p>
          <a:p>
            <a:r>
              <a:t>2. 3:30 ke close ke baad Day 11 wala screener chalaiye, results ko watchlist mein daaliye, aur TradingView ke free daily chart par dekhiye ki pichhle 5 trading dinon mein jude kisi watchlist stock ne signal day banaya ya nahi: close pichhle din ke high ke upar.</a:t>
            </a:r>
          </a:p>
          <a:p>
            <a:r>
              <a:t>3. Aaj shaam hi kal ke liye ek row likhiye: signal ho toh plan (stock; maximum entry = signal close + 0.5 x ATR; signal-day ke low se neeche khule toh skip; stop ki doori 1.5 x ATR; quantity = Rs 10,000 ÷ stop ki doori aur Rs 2,50,000 ÷ maximum entry mein se jo chhoti ho, dono round down karke; 2.5R par profit exit; day 15 par time exit), warna 'No setup'.</a:t>
            </a:r>
          </a:p>
          <a:p>
            <a:r>
              <a:t>4. Kal shaam daily candle dekhiye aur row poori kijiye. Agar woh dono limits ke andar khula, toh entry wahi open hai, stop = open minus 1.5 x ATR aur profit exit = open plus 2.5 x stop ki doori; nahi toh 'Skipped: gap' likhiye, iska bhi point milta hai. Phir 'Rule broken?' aur ek emotion shabd bhariye.</a:t>
            </a:r>
          </a:p>
          <a:p>
            <a:r>
              <a:t>5. Jis din aapka pehla paper trade enter ho, app ka Portfolio page kholiye aur uski row virtual paise mein jodiye (symbol, entry date, quantity, entry price), phir woh hisse jo aaj bhar sakte hain: price-stop, Full Why 2, sabse bada risk, us risk ka jawab, Why-stop aur review point, neeche Priya ke model ki tarah. Full Why 1, yaani business ka reason, Day 15 ke baad jodiye.</a:t>
            </a:r>
          </a:p>
          <a:p>
            <a:r>
              <a:t>6. Stretch, paanch rows ke baad (15 minute): sirf das columns 'Journal detective' prompt ke saath kisi bhi AI mein paste kijiye, aur har Fact ko apni sheet se milaiye.</a:t>
            </a:r>
          </a:p>
          <a:p/>
          <a:p>
            <a:r>
              <a:t>Aaj ke baad: Aaj ke baad aap aise fills ke saath paper trade kar payenge jo sach mein mil sakte the, stop ke paar gap ko imaandaari se record kar payenge, har row mein ek emotion shabd ke saath das columns ka journal rakh payenge, apna adherence score points ÷ decisions se khud nikaal payenge, aur saat hisson wali Portfolio row shuru kar payenge jise mentor grade kar sakein.</a:t>
            </a:r>
          </a:p>
          <a:p/>
          <a:p>
            <a:r>
              <a:t>Tools: Google Sheets; TradingView free chart; App ka Portfolio page; Koi bhi AI chat</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 journal template: das columns</a:t>
            </a:r>
          </a:p>
          <a:p/>
          <a:p>
            <a:r>
              <a:t>Google Sheets ki pehli row mein yeh das column naam likhiye; phir har decision ki neeche ek row. 'Rule broken?' mein 'none' = 1 point, kuch aur = 0.</a:t>
            </a:r>
          </a:p>
          <a:p/>
          <a:p>
            <a:r>
              <a:t>Column | Kya likhein | Priya: ek trade | Priya: no setup</a:t>
            </a:r>
          </a:p>
          <a:p>
            <a:r>
              <a:t>Date | Jis shaam plan likha | 03-09 | 02-09</a:t>
            </a:r>
          </a:p>
          <a:p>
            <a:r>
              <a:t>Stock | Share ka naam; no-setup din '-' | Gupta Cement Ltd | -</a:t>
            </a:r>
          </a:p>
          <a:p>
            <a:r>
              <a:t>Setup | Strategy aur plan ki limits, ya 'No setup' / 'Skipped: &lt;rule&gt;' | EMA Pullback, max 406, 390 se neeche skip, exit 449 | No setup</a:t>
            </a:r>
          </a:p>
          <a:p>
            <a:r>
              <a:t>Entry | Agle din ka open, sirf dono limits ke andar ho toh | Rs 404 | -</a:t>
            </a:r>
          </a:p>
          <a:p>
            <a:r>
              <a:t>Stop | Entry minus 1.5 x ATR | Rs 386 | -</a:t>
            </a:r>
          </a:p>
          <a:p>
            <a:r>
              <a:t>Qty | Rs 10,000 ÷ stop ki doori aur Rs 2,50,000 ÷ max entry mein se chhota, round down | 555 (cap 615 tak deta) | -</a:t>
            </a:r>
          </a:p>
          <a:p>
            <a:r>
              <a:t>Exit | Jo price sach mein mila: stop, profit exit, gap wala open ya time exit | Rs 449 | -</a:t>
            </a:r>
          </a:p>
          <a:p>
            <a:r>
              <a:t>R result | Rupaye ÷ Rs 10,000, minus 0.1R | +2.4R | -</a:t>
            </a:r>
          </a:p>
          <a:p>
            <a:r>
              <a:t>Rule broken? | 'none', ya toote rule ka naam | none | none</a:t>
            </a:r>
          </a:p>
          <a:p>
            <a:r>
              <a:t>Emotion | Ek shabd: calm, FOMO, darr, bore, gussa, over-confident | calm | bore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row: Priya ka model, virtual paise mein</a:t>
            </a:r>
          </a:p>
          <a:p/>
          <a:p>
            <a:r>
              <a:t>Page par 5 rows tak rehti hain, liye gaye trades ki ya poori tarah plan kiye watchlist stocks ki; row khula trade nahi hai, aur ek saath 3 se zyada trades khule kabhi nahi. Row tabhi ginti hai jab saaton hisse bhare hon; Full Why 1 Day 15 ke baad jodiye.</a:t>
            </a:r>
          </a:p>
          <a:p/>
          <a:p>
            <a:r>
              <a:t>Hissa | Kaunsa sawaal | Priya ki row: Gupta Cement Ltd</a:t>
            </a:r>
          </a:p>
          <a:p>
            <a:r>
              <a:t>Full Why 1 (business ka reason) | Yeh business kyun? | Teen saal lagatar sales aur profit badhe; karz kam hai (uska Day 15 health card)</a:t>
            </a:r>
          </a:p>
          <a:p>
            <a:r>
              <a:t>Full Why 2 (doosra, alag reason) | Business ke alawa aur kya haan kehta hai? | Uptrend mein EMA Pullback signal; 3 mahine mein NIFTY 50 se mazboot</a:t>
            </a:r>
          </a:p>
          <a:p>
            <a:r>
              <a:t>Sabse bada risk | Sabse zyada nuksaan kya kar sakta hai? | Raat ki buri khabar ise stop ke neeche gap kar de</a:t>
            </a:r>
          </a:p>
          <a:p>
            <a:r>
              <a:t>Us risk ka aapka jawab | Aap uske liye kya karenge? | Size aisa ki 1.5R ka gap bhi lagbhag Rs 15,000; asli exit hi likhna</a:t>
            </a:r>
          </a:p>
          <a:p>
            <a:r>
              <a:t>Price-stop | Price kahan bolta hai ki aap galat hain? | Rs 386, plan card se (404 - 18)</a:t>
            </a:r>
          </a:p>
          <a:p>
            <a:r>
              <a:t>Why-stop | Kaunsa fact idea ko galat sabit karega? | Lagatar do quarter sales giri</a:t>
            </a:r>
          </a:p>
          <a:p>
            <a:r>
              <a:t>Review point | Dobara kab dekhenge? | Agli results date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row ko kaise grade karte hain: A, C aur D</a:t>
            </a:r>
          </a:p>
          <a:p/>
          <a:p>
            <a:r>
              <a:t>B, A aur C ke beech hai, aur grade A se F tak hote hain: D ya usse neeche wali row abhi ginti mein nahi aati. Yahi guide Day 21 par phir aayegi, aur profit se grade kabhi nahi badalta.</a:t>
            </a:r>
          </a:p>
          <a:p/>
          <a:p>
            <a:r>
              <a:t>Grade | Row mein kya dikhta hai | Certificate mein ginti?</a:t>
            </a:r>
          </a:p>
          <a:p>
            <a:r>
              <a:t>A | Saaton hisse. Do saaf Why jo ek-doosre par tike na hon, rupees mein price-stop, test ho sakne wala Why-stop, aur review ki date ya trigger. | Haan</a:t>
            </a:r>
          </a:p>
          <a:p>
            <a:r>
              <a:t>C | Saaton hisse bhare, par ek dhundhla: Why 2 Why 1 ko hi dohraata hai, Why-stop test nahi ho sakta, ya review point mein bas 'baad mein' likha hai. | Haan; agli baar dhundhla hissa saaf kijiye</a:t>
            </a:r>
          </a:p>
          <a:p>
            <a:r>
              <a:t>D | Koi hissa gayab ya copy kiya hua, tip ya 'sab khareed rahe hain' ko Why banaya, ya Why-stop hai hi nahi. | Abhi nahi: kamzor hissa theek kijiye aur mentor se dobara grade karne ko kahiye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Scorebook swap: pehle hafte ke baad kisi classmate ke saath journal sheet badal lijiye (sirf das columns, koi naam ya personal detail nahi) aur profit-loss dekhe bina ek-doosre ka adherence score nikaaliye. Agar aapka apne liye score unke diye score se zyada hai, toh woh row dhoondhiye jahan aapne khud par narmi barti. Sheet ke stock names sirf record hain, tips nahi: na un par trade kijiye, na aage forward kijiye. Phir partner ke saath ek Portfolio row badliye aur Aaj Ka Kaam wali guide se use A, C ya D grade dijiye; unhe woh ek hissa bataiye jo row ko ek grade upar le jaaye.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Journal detective</a:t>
            </a:r>
          </a:p>
          <a:p>
            <a:r>
              <a:t>You are a calm trading-journal coach for a beginner who paper-trades with virtual money only. I will paste rows from my paper-trade journal with ten columns: Date, Stock, Setup, Entry, Stop, Qty, Exit, R result, Rule broken?, Emotion. A row with Setup = 'No setup' is a day on which I found no setup, and Setup = 'Skipped: &lt;rule&gt;' is a setup I skipped because of a written rule. Summarise in this order: (1) the number of decisions, trades and no-setup days; (2) my adherence score as points divided by decisions, where a trade that kept every rule, a setup skipped because of a written rule, and a no-setup day with no trade each score 1, and any broken rule scores 0; (3) which rules broke and how often; (4) which emotion words show up together with broken rules, on which days, and whether those broken rules follow a winning or a losing trade; (5) three questions I should ask myself next week. Label every statement Fact (directly visible in my rows) or Guess (your interpretation), and list as Kachra any of my beliefs below that the rows do not support. Do not judge me or the strategy by profit or loss; use the R result column only to check whether broken rules come more often on the day after a win or after a loss; do not suggest changing the strategy, do not recommend any stock, and give no buy or sell advice, targets or return expectations. I have removed all personal details.</a:t>
            </a:r>
          </a:p>
          <a:p/>
          <a:p>
            <a:r>
              <a:t>My beliefs to check (1 to 3, for example 'I break more rules on Mondays'): &lt;write here&gt;</a:t>
            </a:r>
          </a:p>
          <a:p/>
          <a:p>
            <a:r>
              <a:t>Journal rows:</a:t>
            </a:r>
          </a:p>
          <a:p>
            <a:r>
              <a:t>&lt;paste here&gt;</a:t>
            </a:r>
          </a:p>
          <a:p/>
          <a:p>
            <a:r>
              <a:t>Prompt 2: Honest fill check</a:t>
            </a:r>
          </a:p>
          <a:p>
            <a:r>
              <a:t>Act as a strict paper-trading auditor for a beginner who uses virtual money only. I will describe one paper trade: the plan I wrote the evening before (signal close, signal-day low, ATR(14), maximum entry, stop distance, quantity), the daily candles (open, high, low, close) of the following days, the entry and exit I recorded, and my virtual capital of Rs 10,00,000 with 1R = Rs 10,000. Check my record against these rules: (a) the entry is the next day's open, and only if that open is at or below the maximum entry (signal close + 0.5 x ATR) and not below the signal-day low; otherwise the trade is skipped; the stop is the entry minus 1.5 x ATR, and the profit exit is the entry plus 2.5 x that stop distance; (b) a sell waiting at the profit exit counts only if the price traded above it, and a touch does not count; if a day opened above it, the exit is that open; (c) if a day opened below my stop, the exit is that opening price, not the stop; (d) if one daily candle touched both my stop and my profit exit, the stop counts; (e) the R result is (exit - entry) x quantity divided by Rs 10,000 (1R), and 0.1R is subtracted from every closed trade for costs and slippage; for a full-size trade this is almost exactly (exit - entry) divided by (entry - stop); (f) quantity must not exceed the smaller of Rs 10,000 divided by the stop distance and Rs 2,50,000 (25% of capital) divided by the maximum entry price, both rounded down; the quantity is fixed the evening before, so a lower open does not raise it; (g) if a day's low reached my stop but the day did not open below it, the exit is the stop; (h) if the stock was locked at its lower price band, the exit is the first price it traded at afterwards, usually a later open; (i) if neither the stop nor the profit exit was hit by the close of the 15th trading day after entry (the entry day counts as day 1), the exit is the next open. Tell me which rule, if any, my record breaks, and recompute the honest R result step by step, showing the arithmetic. Label each statement Fact (follows from my numbers) or Guess. Do not recommend any stock, and give no buy or sell advice, targets or return expectations.</a:t>
            </a:r>
          </a:p>
          <a:p/>
          <a:p>
            <a:r>
              <a:t>Prompt 3: Portfolio row check</a:t>
            </a:r>
          </a:p>
          <a:p>
            <a:r>
              <a:t>You are a strict but kind coach for an Indian beginner who paper-trades with virtual money only. I will paste one row from my practice portfolio with seven parts: Full Why 1 (a business reason), Full Why 2 (a second, independent reason), the top risk, my answer to that risk, a price-stop, a Why-stop (the fact that would prove the idea wrong) and a review point (a date or trigger to look again). The company may be made up, and I have removed all personal details. For each part, say whether it is Specific (a checkable fact, number or date), Vague (true but too general to check) or Missing, and quote my words. Check that the two Whys are really independent of each other, that the Why-stop could actually be proved true or false, that the price-stop is a price, and that the review point is a date or a clear trigger. Then say which band the row is closest to: A (all seven parts: two specific Whys that do not lean on each other, a price-stop in rupees, a testable Why-stop, and a review date or trigger), C (all seven filled, but one is vague: Why 2 repeats Why 1, the Why-stop cannot be tested, or the review point just says 'later') or D (a part is missing or copied, a tip or 'everyone is buying' is used as a Why, or there is no Why-stop), and suggest one rewrite for the weakest part. This is practice feedback only; my mentor gives the real grade. Do not judge whether the company or the trade is good, do not recommend any stock, and give no buy or sell advice, targets or return expectations.</a:t>
            </a:r>
          </a:p>
          <a:p/>
          <a:p>
            <a:r>
              <a:t>My row:</a:t>
            </a:r>
          </a:p>
          <a:p>
            <a:r>
              <a:t>&lt;paste here&gt;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Bharat Pumps Ltd ke liye Priya ka plan card: signal close Rs 250, signal-day low Rs 244, ATR(14) Rs 8, isliye maximum entry Rs 254. Agle din stock Rs 247 par khulta hai aur Rs 242 se Rs 256 ke beech trade karta hai. Course ke paper rules ke hisaab se journal mein kaunsi entry jaayegi?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paper trade mein entry Rs 300 hai aur stop Rs 285. Close ke baad buri khabar aati hai, aur agla din Rs 279 par khulta hai, stop se neeche. Course ke rules se (exit open par, phir 0.1R allowance), uske journal mein kya R result jaayega?</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hafte mein Priya paanch decisions log karti hai. Do no-setup dinon par woh bahar rahi, ek trade liya jisne har rule follow kiya, ek setup chhoda kyunki uski results date agle 15 trading dinon ke andar thi, aur ek trade bina plan likhe le liya. Uska adherence score kya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do hafte ki journal rows, bina kisi personal detail ke, ek AI chat mein paste karta hai. Kaunsi request is course ke AI use karne ke tareeke mein fit baithti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par Aman apna stop aur door khiska deta hai, 'kyunki yeh toh paper ka paisa hai'. Phir trade wapas sambhal jaata hai aur +1.2R par band hota hai. Ise journal mein kaise likhna chahiye?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Aaj ki row likhiye, chahe usmein 'No setup' hi ho. Aaj ke liye kaunsa ek emotion shabd sahi baithta hai? Kya koi pal aaya jab laga 'paper hai, chalta hai'? Uske baad aapne kya kiya?</a:t>
            </a:r>
          </a:p>
          <a:p/>
          <a:p>
            <a:r>
              <a:t>Aaj aapke journal ki pehli row likhi gayi. Un dinon bhi ise imaandaar rakhiye jab koi check karne wala na ho; sabse zyada wahi rows sikhayengi.</a:t>
            </a:r>
          </a:p>
          <a:p/>
          <a:p>
            <a:r>
              <a:t>Agla: Day 13 · Strategy #2: Opening Range Breakout (optional)</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13: Strategy #2: Opening Range Breakout (optional)</a:t>
            </a:r>
          </a:p>
          <a:p/>
          <a:p>
            <a:r>
              <a:t>Concept: Opening Range Breakout: ek optional intraday strategy, rules mein likhi hui</a:t>
            </a:r>
          </a:p>
          <a:p>
            <a:r>
              <a:t>AI Lab: ORB rule-card audit: AI kamzor jagah dhoondhe, aap unhe theek karein</a:t>
            </a:r>
          </a:p>
          <a:p>
            <a:r>
              <a:t>Mindset: Breakout ka FOMO</a:t>
            </a:r>
          </a:p>
          <a:p>
            <a:r>
              <a:t>Strategy: Opening Range Breakout (ORB)</a:t>
            </a:r>
          </a:p>
          <a:p/>
          <a:p>
            <a:r>
              <a:t>Aaj ke baad: Aaj ke baad aap opening range mark kar payenge, breakout close aur sirf bahar jhaankti wick mein farak kar payenge, ORB paper trade ka stop, 2R profit exit, time exit aur size plan kar payenge, cash segment mein short selling ke rules aur risk samjha payenge, bata payenge ki kin dinon ORB bilkul nahi karna chahiye, aur ek purani subah ka haath se kiya replay log kar payenge.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breakout jo tha hi nahi</a:t>
            </a:r>
          </a:p>
          <a:p/>
          <a:p>
            <a:r>
              <a:t>(Ek working day, subah 9:22. Aman Pune mein office cab mein baitha hai, phone par 5-minute chart khula hai. Priya Lucknow se call par hai.)</a:t>
            </a:r>
          </a:p>
          <a:p>
            <a:r>
              <a:t>Aman: Kiran Foods open se Rs 12 upar hai. Breakout ho raha hai. Maine abhi paper par Rs 476 par 2,000 shares le liye, isse pehle ki yeh bhaag jaaye.</a:t>
            </a:r>
          </a:p>
          <a:p>
            <a:r>
              <a:t>(Subah 9:40. Kiran Foods wapas Rs 464 par aa gaya. Aman paper par Rs 24,000 ke loss mein hai. Stop toh usne lagaya hi nahi tha. Aur Rs 9.52 lakh ki position 25% cap se lagbhag chaar guna thi.)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breakout jo tha hi nahi</a:t>
            </a:r>
          </a:p>
          <a:p/>
          <a:p>
            <a:r>
              <a:t>Priya: Aman, breakout kis cheez se? 9:22 par toh pehle 15 minute bhi poore nahi hue the. Aur stop kahan tha?</a:t>
            </a:r>
          </a:p>
          <a:p>
            <a:r>
              <a:t>Aman: Stop tha hi nahi. Rs 24,000 matlab 2.4R, meri poori daily limit 2R se bhi zyada. Aur 9:30 se toh main desk par hota hoon.</a:t>
            </a:r>
          </a:p>
          <a:p>
            <a:r>
              <a:t>Mentor: Toh 10:30 par, jab aap meeting mein honge, yeh trade kaun dekhega? Aman, problem idea mein nahi thi, jaldbaazi mein thi. Aaj hum ORB ko rules mein likhenge: kab rukna hai, kab entry leni hai, kahan exit karna hai aur kab trade karna hi nahi hai. Day 10 mein aapke apne jawabon se hi intraday aapke liye bahar ho gaya tha; aaj aap dekhenge ki kyun.</a:t>
            </a:r>
          </a:p>
          <a:p/>
          <a:p>
            <a:r>
              <a:t>Seekh: Jis breakout ke peeche aap bhaagte hain, woh ek feeling hai. Mark ki hui range ke bahar close, likhe hue rules ke saath, woh setup hai.</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ek line mein, aur yeh kiske liye hai</a:t>
            </a:r>
          </a:p>
          <a:p/>
          <a:p>
            <a:r>
              <a:t>9:15 ke baad ke pehle kuch minute din ke sabse shor wale hote hain: raat ki news, pending orders aur emotions, sab ek saath market par toot padte hain. Opening Range Breakout, yaani ORB, is shor ke thamne ka intezaar karta hai. Aap pehle 15 minute, 9:15 se 9:30, ka sabse ooncha aur sabse neecha price mark karte hain; yahi box opening range (OR) hai. Agar baad mein koi 5-minute candle is box ke bahar close ho jaye, toh woh breakout hai. Trend wale dinon mein subah ka yeh dhakka ghanton chal sakta hai; choppy dinon mein, jab price bina kisi direction ke upar-neeche jhoolta hai, yeh aksar fail ho jaata hai. Is course mein ORB optional hai: ise tabhi apnaiye jab aap working days par 9:15 se 11:00 tak screen dekh sakein aur 14:30 (dopahar 2:30) par phir se free hon, taaki khula trade band kar sakein; warna Day 11 wali EMA Pullback Swing hi aapki strategy rahegi.</a:t>
            </a:r>
          </a:p>
          <a:p/>
          <a:p>
            <a:r>
              <a:t>Udaharan: Priya ke office hours mein live ORB mumkin nahi, isliye Sunday ko woh pichhle Tuesday ka Bharat Pumps Ltd ka 5-minute chart peeche scroll karke dekhti hai. (Naam made-up hai; ise ek badi, khoob trade hone wali company maaniye.) Stock Rs 1,003 par khula aur pehle 15 minute mein Rs 1,000 aur Rs 1,010 ke beech jhoolta raha, toh woh notebook mein 'OR 1,000-1,010' likh leti hai aur baaki chart dhak deti hai. Test match ka opener yaad kijiye: shuru ki kuch gendein off stump ke bahar chhod deta hai aur bade shots se pehle pitch samajh leta hai. ORB sirf liquid cash stocks par kijiye; shuruaat mein sirf NIFTY 50 list ke shares par, aur futures ya options bilkul nahi, paper par bhi nahi. NIFTY 50 index khud koi share nahi hai aur uska apna volume nahi hota, isliye na use share ki tarah khareed sakte hain, na us par VWAP ban sakta hai.</a:t>
            </a:r>
          </a:p>
          <a:p/>
          <a:p>
            <a:r>
              <a:t>Yaad rakhiye: ORB = pehle 15 minute mark kijiye, phir bahar close ka intezaar. 9:15 se 11:00 tak aur phir 14:30 par screen ka waqt nahi, toh ORB nahi.</a:t>
            </a:r>
          </a:p>
          <a:p/>
          <a:p>
            <a:r>
              <a:t>Slide par: Ek ORB wali subah · Time IST mein hai, NSE ke trading days par. Chhuttiyan aur timing mein koi badlav nseindia.com par check kijiye.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bahar close chahiye, wick nahi</a:t>
            </a:r>
          </a:p>
          <a:p/>
          <a:p>
            <a:r>
              <a:t>Wick candle ki patli line hoti hai: price wahan gaya toh, par tik nahi paya. Close woh jagah hai jahan paanch minute ki khareed-bikri ke baad candle khatam hui, isliye ORB tabhi kuch karta hai jab koi 5-minute candle range ke bahar close ho. Chart candle ko uske shuru hone ke time se naam deta hai: 9:30 wali candle 9:35 par close hoti hai, yahi sabse pehla mumkin signal hai. Long ke liye yeh close range high ke upar aur price VWAP (Day 8) ke upar chahiye; short ke liye close range low ke neeche aur price VWAP ke neeche. Breakout candle ka volume bhi apne 20-candle average se upar hona chahiye; subah yeh average kal dopahar ki shaant candles bhi gin leta hai, isliye ise kam se kam shart maaniye, saboot nahi. Paper par aapki entry agli candle ka open hai, kyunki asal mein sabse pehla price wahi mil sakta tha.</a:t>
            </a:r>
          </a:p>
          <a:p/>
          <a:p>
            <a:r>
              <a:t>Udaharan: Neeche chart mein Bharat Pumps ki range Rs 1,000-1,010 hai. 9:35-9:40 wali candle kam volume par Rs 1,013 tak uchhalti hai, lekin Rs 1,007 par, range ke andar hi close hoti hai: entry nahi, chahe kitni bhi exciting lagi ho. 9:45-9:50 wali candle Rs 1,012 par close hoti hai; uska volume apne 20-candle average se kaafi upar hai (range banne ke baad sabse lamba volume bar yahi hai), aur VWAP lagbhag Rs 1,006 par, price ke neeche hai. Yahi signal hai. Paper entry agli candle ka open hai: Rs 1,012.</a:t>
            </a:r>
          </a:p>
          <a:p/>
          <a:p>
            <a:r>
              <a:t>Yaad rakhiye: Wick sirf ek chakkar hai; close ek faisla hai. ORB sirf close par trade karta hai.</a:t>
            </a:r>
          </a:p>
          <a:p/>
          <a:p>
            <a:r>
              <a:t>Slide par: Wick vs close · 9:15 se 5-minute candles. Pehli teen se range banti hai. 9:35-9:40 wali candle ne sirf bahar jhaanka; 9:45-9:50 wali candle strong volume ke saath, VWAP ke upar, bahar close hui.</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profit exit, time exit aur size</a:t>
            </a:r>
          </a:p>
          <a:p/>
          <a:p>
            <a:r>
              <a:t>Har ORB trade ke teen exit entry se pehle likh liye jaate hain. Stop range ki doosri taraf hota hai: long mein range low, short mein range high. Profit exit 2R par hai, yaani per share risk ka do guna, aur 14:30 par jo bhi khula ho, use band kar dijiye, broker ke square-off se kaafi pehle. Size Day 9 se aata hai: Rs 10,000 ÷ entry aur stop ki doori, neeche round kijiye, phir 25% cap se milaiye; jo chhota ho, wahi lijiye. ORB mein shaam ka plan nahi hota, isliye dono numbers breakout close aur agle open ke beech ke paanch minute mein nikaaliye, usi close ko planned entry maan kar. ORB ke stop paas hote hain, isliye aksar 25% cap hi chhota padta hai aur poora stop-out Rs 10,000 se kam ka hota hai. Journal mein ise Day 12 ke tareeke se hi likhiye: rupaye ÷ Rs 10,000, phir 0.1R allowance minus. Day 9 ka daily stop yahan bhi lagta hai: -2R par din khatam. Cap ki wajah se ORB ka stop-out aksar 1R se kam ka hota hai, isliye ORB ek line aur jodta hai: din mein do stop-out, aur aapka din khatam; jo pehle ho.</a:t>
            </a:r>
          </a:p>
          <a:p/>
          <a:p>
            <a:r>
              <a:t>Udaharan: Bharat Pumps: entry Rs 1,012, stop Rs 1,000, yaani risk Rs 12 per share. Sirf 1% rule se 833 shares bante hain, lekin woh lagbhag Rs 8.4 lakh ke shares ho jaate hain, 25% cap yaani Rs 2.5 lakh se bahut zyada. Isliye Priya ke paper test mein 247 shares hain, aur risk Rs 2,964 hai, 1% se kam; 1% ek chhat hai, manzil nahi. Phir woh baaki din ka chart kholti hai aur jo pehle hua woh likhti hai: stop, profit exit ya 14:30. Us din price Rs 1,036 tak pahuncha hi nahi, aur 14:30 wali candle Rs 1,027 par khuli, isliye exit Rs 1,027: 247 x Rs 15 = Rs 3,705, yaani 0.37R, aur allowance ke baad +0.27R. Day 12 ke paper rules yahan bhi lagte hain: profit exit tabhi ginega jab price uske paar trade hua ho, aur 0.1R ka cost allowance katega. Day 12 wala dono-touch rule yahan bhi lagta hai: agar stop aur profit exit dono ek hi 5-minute candle ke andar aa jaayein, toh stop hi giniye, kyunki chart yeh nahi dikhata ki pehle kya hua. Agar har jeet poore 2R tak pahunche, toh costs se pehle breakeven win-rate 1 ÷ (1 + 2), yaani lagbhag 33% hoga; 14:30 wale exit aur costs ise aur upar le jaate hain.</a:t>
            </a:r>
          </a:p>
          <a:p/>
          <a:p>
            <a:r>
              <a:t>Yaad rakhiye: Stop range ki doosri taraf, profit exit 2R, 14:30 tak bahar. Size = 1% rule aur 25% cap mein jo chhota ho.</a:t>
            </a:r>
          </a:p>
          <a:p/>
          <a:p>
            <a:r>
              <a:t>Slide par: Ek ORB trade ka size · Is trade ka risk: 247 x Rs 12 = Rs 2,964. 2R par profit exit: Rs 1,012 + Rs 24 = Rs 1,036.</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 mein short selling: trade se pehle rules samajhiye</a:t>
            </a:r>
          </a:p>
          <a:p/>
          <a:p>
            <a:r>
              <a:t>Short selling ka matlab hai woh shares bechna jo aapke paas hain hi nahi, is ummeed mein ki baad mein saste mein khareed lenge. Cash segment mein normal trading account wala retail trader yeh sirf usi din ke andar kar sakta hai: brokers ise intraday product ki tarah dete hain, aur har short ko market band hone se pehle wapas khareedna, yaani square off karna, zaroori hai. (Short ko raat bhar rakhne ke liye alag securities lending scheme se udhaar shares chahiye, jo is course ke bahar hai.) Agar short wapas nahi khareeda gaya aur settlement par aap shares deliver nahi kar paaye, toh exchange auction mein woh shares khareedta hai, aapke kharche par, aur upar se penalty lagti hai; yeh bill aapke stop se kahin bada ho sakta hai. Short apne aap mein bhi zyada risky hai: price gir kar zero tak hi ja sakta hai, lekin chadhta hi ja sakta hai. Stage 1 mein yeh sab sirf paper par hai.</a:t>
            </a:r>
          </a:p>
          <a:p/>
          <a:p>
            <a:r>
              <a:t>Udaharan: Priya jis doosri purani subah tak peeche scroll karti hai, usmein Gupta Cement Ltd ki range Rs 497-505 hai. 9:50-9:55 wali candle Rs 495 par close hoti hai: range ke neeche, VWAP ke neeche, aur average se zyada volume ke saath. Priya ka paper short: agle open par Rs 495 par entry, stop range high Rs 505 par, risk Rs 10 per share. 1% rule 1,000 shares deta hai aur 25% cap 505, toh woh 505 shares short karti hai aur Rs 5,050 ka risk leti hai; uska 2R profit exit Rs 475 hai, aur 14:30 par jo bacha ho woh wapas khareed leti hai. 10:40 tak price Rs 474 par trade hota hai, uske exit se neeche, isliye Rs 475 par buy-back ginti hai. Cap ne uska risk Rs 5,050 rakha, yaani 1R ka lagbhag aadha, isliye yeh '2R' exit uske journal mein lagbhag 1R ka hai: 505 x Rs 20 = Rs 10,100, aur allowance ke baad +0.91R. Ab sochiye ki yeh course aapko NIFTY 50 stocks tak hi kyun rakhta hai: dopahar 1 baje ki news kisi chhote, kam trade hone wale stock ko upper price band tak le jaati hai, sellers gayab ho jaate hain aur short seller wapas khareed hi nahi paata. Auction ka bill aise hi banta hai.</a:t>
            </a:r>
          </a:p>
          <a:p/>
          <a:p>
            <a:r>
              <a:t>Yaad rakhiye: Cash ka short sirf ek din ka hota hai. Har baar 14:30 tak wapas khareed lijiye.</a:t>
            </a:r>
          </a:p>
          <a:p/>
          <a:p>
            <a:r>
              <a:t>Slide par: Gupta Cement Ltd mein Priya ka paper short · 9:15 se 5-minute candles. 9:35 wali candle range ke neeche sirf jhaank kar laut aayi; 9:50 wali candle strong volume ke saath range ke neeche close hui, VWAP (lagbhag Rs 499) ke neeche. Agle open par Rs 495 par entry, stop range high par. Baad mein price Rs 475 ke neeche trade hua, isliye buy-back Rs 475 par fill hoti hai. Stage 1: sirf paper, sirf cash shares.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days aur aapki starter no-trade list</a:t>
            </a:r>
          </a:p>
          <a:p/>
          <a:p>
            <a:r>
              <a:t>Kai baar subah ka sabse achha ORB trade yahi hota hai ki trade hi na karein. Gap day woh din hai jab stock kal ke high se upar ya kal ke low se neeche khulta hai, aksar raat ki kisi news par; aise din pehle 15 minute aksar bahut uthal-puthal bhare hote hain, range bahut chaudi ho sakti hai, aur range banne se pehle hi move ka ek hissa nikal chuka ho sakta hai. Kisi stock ke gap day par us mein ORB mat kijiye. Yeh rule tab tak mat badliye jab tak journal mein 30 ORB paper trades na ho jaayein; uske baad bhi sirf weekend par, likhkar. Kisi stock ke results wale din ya badi company news wale din bhi use chhod dijiye, aur jo stock apne price band par ya uske paas atka ho, use bhi, kyunki wahan se nikalna mushkil ho sakta hai; band stock ke NSE quote page par dikhta hai (kai NIFTY 50 stocks wahan 'No Band' dikhate hain; yeh check baaki stocks ke liye zyada zaroori hai). Din -2R ya do stop-out tak pahunch jaaye, jo pehle ho, toh koi naya trade nahi, aur jab 3 trades pehle se khule hon tab bhi nahi. Day 19 is starter list ko ek poore event calendar mein badal dega.</a:t>
            </a:r>
          </a:p>
          <a:p/>
          <a:p>
            <a:r>
              <a:t>Udaharan: Sunday ko purane charts ki practice mein, Sharma Textiles Ltd pichhle din Rs 290 aur Rs 300 ke beech trade hua tha, phir raat ki news ke baad Rs 318 par khula, pichhle din ke high ke upar: gap day. Call par Aman is 'strength' ko khareedna chahta hai. Priya apna card dekhti hai, 'gap day: skip' padhti hai, aur journal mein 'Skipped: gap day' likh deti hai. Day 12 ke adherence score mein yeh bhi rules follow karna hi gina jaata hai.</a:t>
            </a:r>
          </a:p>
          <a:p/>
          <a:p>
            <a:r>
              <a:t>Yaad rakhiye: No-trade day ek faisla hai, chhoota hua mauka nahi, aur yeh bhi rules follow karna hi gina jaata hai.</a:t>
            </a:r>
          </a:p>
          <a:p/>
          <a:p>
            <a:r>
              <a:t>Slide par: Pre-trade gate · Kahin bhi ek 'nahi' ka matlab: aaj us stock mein ORB trade nahi.</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Breakout FOMO: jis trade ke peeche aap bhaagte hain</a:t>
            </a:r>
          </a:p>
          <a:p/>
          <a:p>
            <a:r>
              <a:t>FOMO, yaani fear of missing out, woh khinchaav hai jo tab mehsoos hota hai jab price bhaag raha ho aur lage ki sab log andar hain. ORB mein yeh teen tarah se dikhta hai: range poori hone se pehle khareed lena, bahut pehle ho chuke breakout ke peeche bhaagna, aur stop lagne ke turant baad wapas kood padna. Fakeout, yaani nakli breakout jo wapas range ke andar aa jaata hai, aksar teeno ko sazaa deta hai. Rule seedha hai: entry sirf us pehle bahar close ke baad wale open par, jo dono checks paas kare, aur woh open 11:00 tak aana chahiye; agar woh chhoot gaya, toh trade gaya. Ek stock mein ek din mein sirf ek ORB trade, taaki stop lagne ke baad usi stock mein revenge trade na ho. ORB ko 30 paper trades ke baad parakhiye, kisi ek exciting subah par nahi.</a:t>
            </a:r>
          </a:p>
          <a:p/>
          <a:p>
            <a:r>
              <a:t>Udaharan: Bharat Pumps ke chart mein signal 9:45-9:50 wali candle thi aur entry Rs 1,012 par thi. Usi subah 10:30 par Aman desk par phone dekhta hai, stock Rs 1,028 par hai, aur woh andar ghusna chahta hai. Uska stop ab bhi range low Rs 1,000 hi hoga, toh per share risk Rs 12 se Rs 28 ho jaata hai, aur 2R profit exit Rs 1,036 se khisak kar Rs 1,084 par chala jaata hai. 25% cap ke andar rehkar bhi uska rupee risk do guna se zyada ho jaata hai.</a:t>
            </a:r>
          </a:p>
          <a:p/>
          <a:p>
            <a:r>
              <a:t>Yaad rakhiye: Chhoota hua trade nuksaan nahi hai. Agle setup ka intezaar muft hai.</a:t>
            </a:r>
          </a:p>
          <a:p/>
          <a:p>
            <a:r>
              <a:t>Slide par: Peeche bhaagne par rupee risk · Wahi stop Rs 1,000, size 25% cap par (247, 245, 243 shares). 2R profit exit Rs 1,036 se Rs 1,060 aur phir Rs 1,084 tak khisak jaata hai.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range (OR): Trading ke pehle 15 minute, 9:15 se 9:30, ka high aur low. ORB iske bahar close ka intezaar karta hai.</a:t>
            </a:r>
          </a:p>
          <a:p>
            <a:r>
              <a:t>Breakout close: Woh 5-minute candle jo opening range ke bahar close ho. Sirf bahar jhaankti wick nahi ginti.</a:t>
            </a:r>
          </a:p>
          <a:p>
            <a:r>
              <a:t>Fakeout: Nakli breakout: price range ke bahar jaata hai, kabhi bahar close bhi ho jaata hai, phir wapas andar aa jaata hai. Close ka intezaar sirf-wick wale fakeouts se bachata hai; baaki mein doosri taraf ka stop nuksaan chhota rakhta hai.</a:t>
            </a:r>
          </a:p>
          <a:p>
            <a:r>
              <a:t>Short selling (cash): Jo shares aapke paas nahi, unhe bechna aur baad mein wapas khareedna. Normal trading account se cash segment mein retail short sirf intraday hota hai.</a:t>
            </a:r>
          </a:p>
          <a:p>
            <a:r>
              <a:t>Square-off: Khuli intraday position ko din khatam hone se pehle band karna. Broker close ke paas yeh kar sakta hai; ORB mein aap khud 14:30 tak karte hain.</a:t>
            </a:r>
          </a:p>
          <a:p>
            <a:r>
              <a:t>Short delivery auction: Agar short wapas nahi khareeda gaya aur shares deliver nahi hue, toh exchange auction mein unhe khareedta hai, bechne wale ke kharche par, upar se penalty.</a:t>
            </a:r>
          </a:p>
          <a:p>
            <a:r>
              <a:t>Gap day: Woh din jab stock kal ke high se upar ya kal ke low se neeche khule, aksar raat ki kisi khabar par. Us din us stock mein ORB skip kijiye.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likhe hue rules se</a:t>
            </a:r>
          </a:p>
          <a:p>
            <a:r>
              <a:t>Range: 9:15-9:30 ka high aur low; Sirf NIFTY 50 ke cash stocks; Optional: 9:15-11:00 ka waqt chahiye</a:t>
            </a:r>
          </a:p>
          <a:p>
            <a:r>
              <a:t>Entry: Bahar 5-min close, wick nahi; VWAP aur volume saath; Fill agli candle ke open par; 11:00 ke baad nayi entry nahi</a:t>
            </a:r>
          </a:p>
          <a:p>
            <a:r>
              <a:t>Exit aur size: Stop: range ki doosri taraf; 2R profit exit, 14:30 tak bahar; 1% rule aur 25% cap mein chhota</a:t>
            </a:r>
          </a:p>
          <a:p>
            <a:r>
              <a:t>Cash mein short: Sirf intraday (normal account); Usi din wapas khareedna; Nahi khareeda: auction + penalty</a:t>
            </a:r>
          </a:p>
          <a:p>
            <a:r>
              <a:t>No-trade list: Gap days; Results ya badi news; Price band ke paas; -2R par, 2 stop-out ke baad ya 3 khule hon</a:t>
            </a:r>
          </a:p>
          <a:p>
            <a:r>
              <a:t>Aapka mann: Chhoota matlab nuksaan nahi; Ek stock, ek din, ek ORB trade; 30 trades ke baad parakhiye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Neeche diye model se apna ORB rule card likhiye, phir kisi NIFTY 50 stock ki ek purani subah par haath se test karke replay log mein likhiye. Chahe aapki strategy EMA Pullback hi rahe, yeh ek baar zaroor kijiye. Stretch (lagbhag 30 minute aur): is hafte chaar aur purani subahon par dohraiye.</a:t>
            </a:r>
          </a:p>
          <a:p/>
          <a:p>
            <a:r>
              <a:t>1. Google Sheets mein ya kaagaz par neeche diya model ORB rule card apne shabdon mein likhiye: setup, entry, stop, 2R profit exit, 14:30 time exit, size (1% rule aur 25% cap), aapki starter no-trade list, aur ek stock mein ek din mein sirf ek ORB trade.</a:t>
            </a:r>
          </a:p>
          <a:p>
            <a:r>
              <a:t>2. NIFTY 50 list ke kisi bhi stock ka free TradingView chart kholiye, 5-minute timeframe lagaiye, VWAP aur Volume jodiye, aur Volume ki settings mein moving average ho toh use 20 par kijiye. Phir kisi purane trading day par scroll kijiye.</a:t>
            </a:r>
          </a:p>
          <a:p>
            <a:r>
              <a:t>3. Pehle gate check kijiye: agar us din stock pichhle din ke high se upar ya low se neeche khula, toh 'Skipped: gap day' likhiye aur koi doosra din chuniye. Warna 9:15, 9:20 aur 9:25 wali candles ke high aur low par do horizontal lines kheenchiye: yahi aapki opening range hai.</a:t>
            </a:r>
          </a:p>
          <a:p>
            <a:r>
              <a:t>4. Chart ko aise scroll kijiye ki range ki aakhri candle, 9:25 wali, screen ke right edge par ho (ya baaki ko sticky note se dhak dijiye), phir 11:00 tak ek-ek candle aage badhiye, aur har candle se pehle likhiye: 'entry' ya 'no entry'. Entry mili ho, toh stop, profit exit ya 14:30 tak aage chalte rahiye.</a:t>
            </a:r>
          </a:p>
          <a:p>
            <a:r>
              <a:t>5. Ise neeche diye ORB replay log ki ek row mein likhiye (long aur short dono wahin): range, pehla valid close, agle open par entry, stop, 2R profit exit, pehle kya hua (stop, profit exit ya 14:30) aur Day 12 ke tareeke se R result. 11:00 tak entry nahi mili? 'No setup' likhiye. Replay practice hai, Day 17 ke haath wale backtest jaisa, isliye yeh aapke Day 12 paper journal mein nahi jaata.</a:t>
            </a:r>
          </a:p>
          <a:p>
            <a:r>
              <a:t>6. Apna rule card AI Lab ke prompt 'ORB rule-card audit' mein paste kijiye, aur jo bhi rule woh unclear bataye, use dobara likhiye.</a:t>
            </a:r>
          </a:p>
          <a:p/>
          <a:p>
            <a:r>
              <a:t>Aaj ke baad: Aaj ke baad aap opening range mark kar payenge, breakout close aur sirf bahar jhaankti wick mein farak kar payenge, ORB paper trade ka stop, 2R profit exit, time exit aur size plan kar payenge, cash segment mein short selling ke rules aur risk samjha payenge, bata payenge ki kin dinon ORB bilkul nahi karna chahiye, aur ek purani subah ka haath se kiya replay log kar payenge.</a:t>
            </a:r>
          </a:p>
          <a:p/>
          <a:p>
            <a:r>
              <a:t>Tools: TradingView free chart (5-min, VWAP, Volume); Google Sheets ya kaagaz; NSE website (nseindia.com); Koi bhi AI chat</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Neeche diye model se apna ORB rule card likhiye, phir kisi NIFTY 50 stock ki ek purani subah par haath se test karke replay log mein likhiye. Chahe aapki strategy EMA Pullback hi rahe, yeh ek baar zaroor kijiye. Stretch (lagbhag 30 minute aur): is hafte chaar aur purani subahon par dohraiye.</a:t>
            </a:r>
          </a:p>
          <a:p/>
          <a:p>
            <a:r>
              <a:t>1. Google Sheets mein ya kaagaz par neeche diya model ORB rule card apne shabdon mein likhiye: setup, entry, stop, 2R profit exit, 14:30 time exit, size (1% rule aur 25% cap), aapki starter no-trade list, aur ek stock mein ek din mein sirf ek ORB trade.</a:t>
            </a:r>
          </a:p>
          <a:p>
            <a:r>
              <a:t>2. NIFTY 50 list ke kisi bhi stock ka free TradingView chart kholiye, 5-minute timeframe lagaiye, VWAP aur Volume jodiye, aur Volume ki settings mein moving average ho toh use 20 par kijiye. Phir kisi purane trading day par scroll kijiye.</a:t>
            </a:r>
          </a:p>
          <a:p>
            <a:r>
              <a:t>3. Pehle gate check kijiye: agar us din stock pichhle din ke high se upar ya low se neeche khula, toh 'Skipped: gap day' likhiye aur koi doosra din chuniye. Warna 9:15, 9:20 aur 9:25 wali candles ke high aur low par do horizontal lines kheenchiye: yahi aapki opening range hai.</a:t>
            </a:r>
          </a:p>
          <a:p>
            <a:r>
              <a:t>4. Chart ko aise scroll kijiye ki range ki aakhri candle, 9:25 wali, screen ke right edge par ho (ya baaki ko sticky note se dhak dijiye), phir 11:00 tak ek-ek candle aage badhiye, aur har candle se pehle likhiye: 'entry' ya 'no entry'. Entry mili ho, toh stop, profit exit ya 14:30 tak aage chalte rahiye.</a:t>
            </a:r>
          </a:p>
          <a:p>
            <a:r>
              <a:t>5. Ise neeche diye ORB replay log ki ek row mein likhiye (long aur short dono wahin): range, pehla valid close, agle open par entry, stop, 2R profit exit, pehle kya hua (stop, profit exit ya 14:30) aur Day 12 ke tareeke se R result. 11:00 tak entry nahi mili? 'No setup' likhiye. Replay practice hai, Day 17 ke haath wale backtest jaisa, isliye yeh aapke Day 12 paper journal mein nahi jaata.</a:t>
            </a:r>
          </a:p>
          <a:p>
            <a:r>
              <a:t>6. Apna rule card AI Lab ke prompt 'ORB rule-card audit' mein paste kijiye, aur jo bhi rule woh unclear bataye, use dobara likhiye.</a:t>
            </a:r>
          </a:p>
          <a:p/>
          <a:p>
            <a:r>
              <a:t>Aaj ke baad: Aaj ke baad aap opening range mark kar payenge, breakout close aur sirf bahar jhaankti wick mein farak kar payenge, ORB paper trade ka stop, 2R profit exit, time exit aur size plan kar payenge, cash segment mein short selling ke rules aur risk samjha payenge, bata payenge ki kin dinon ORB bilkul nahi karna chahiye, aur ek purani subah ka haath se kiya replay log kar payenge.</a:t>
            </a:r>
          </a:p>
          <a:p/>
          <a:p>
            <a:r>
              <a:t>Tools: TradingView free chart (5-min, VWAP, Volume); Google Sheets ya kaagaz; NSE website (nseindia.com); Koi bhi AI chat</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rule card (model)</a:t>
            </a:r>
          </a:p>
          <a:p/>
          <a:p>
            <a:r>
              <a:t>Ise apne shabdon mein likhiye, phir AI Lab ke prompt 'ORB rule-card audit' se check karwaiye. Samay IST mein, NSE trading dinon ke hain; holidays aur timing ke badlaav nseindia.com par dekhiye.</a:t>
            </a:r>
          </a:p>
          <a:p/>
          <a:p>
            <a:r>
              <a:t>Card ki line | Long | Short</a:t>
            </a:r>
          </a:p>
          <a:p>
            <a:r>
              <a:t>Kiske liye | Sirf tab, jab 9:15-11:00 screen dekh sakein aur 14:30 par phir action le sakein | Same</a:t>
            </a:r>
          </a:p>
          <a:p>
            <a:r>
              <a:t>Stocks | Sirf NIFTY 50 ke cash shares; F&amp;O kabhi nahi, paper par bhi nahi | Same; sirf intraday, usi din wapas khareedna</a:t>
            </a:r>
          </a:p>
          <a:p>
            <a:r>
              <a:t>Opening range | 9:15, 9:20 aur 9:25 wali candles ka high aur low | Same</a:t>
            </a:r>
          </a:p>
          <a:p>
            <a:r>
              <a:t>Signal | Range high ke upar pehla 5-minute close | Range low ke neeche pehla 5-minute close</a:t>
            </a:r>
          </a:p>
          <a:p>
            <a:r>
              <a:t>Checks | Price VWAP ke upar; volume apne 20-candle average se upar | Price VWAP ke neeche; volume apne 20-candle average se upar</a:t>
            </a:r>
          </a:p>
          <a:p>
            <a:r>
              <a:t>Entry | Agli candle ka open, sirf agar 11:00 tak aaye | Same</a:t>
            </a:r>
          </a:p>
          <a:p>
            <a:r>
              <a:t>Stop | Range low | Range high</a:t>
            </a:r>
          </a:p>
          <a:p>
            <a:r>
              <a:t>Profit exit | Entry + 2 x (entry - stop) | Entry - 2 x (stop - entry)</a:t>
            </a:r>
          </a:p>
          <a:p>
            <a:r>
              <a:t>Time exit | 14:30 par jo khula ho, bech dijiye | 14:30 par jo khula ho, wapas khareed lijiye</a:t>
            </a:r>
          </a:p>
          <a:p>
            <a:r>
              <a:t>Size | Rs 10,000 ÷ (entry - stop) aur Rs 2,50,000 ÷ entry mein se chhota, breakout close par nikaala hua | Same, risk per share = (stop - entry)</a:t>
            </a:r>
          </a:p>
          <a:p>
            <a:r>
              <a:t>Stop aur exit ek candle mein | Stop hi giniye | Same</a:t>
            </a:r>
          </a:p>
          <a:p>
            <a:r>
              <a:t>Din ki limits | Ek stock mein ek ORB trade; -2R ya do stop-out par din khatam; zyada se zyada 3 khule | Same</a:t>
            </a:r>
          </a:p>
          <a:p>
            <a:r>
              <a:t>Aaj stock skip | Gap day, results ya badi news, price band ke paas | Same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rule card (model)</a:t>
            </a:r>
          </a:p>
          <a:p/>
          <a:p>
            <a:r>
              <a:t>Ise apne shabdon mein likhiye, phir AI Lab ke prompt 'ORB rule-card audit' se check karwaiye. Samay IST mein, NSE trading dinon ke hain; holidays aur timing ke badlaav nseindia.com par dekhiye.</a:t>
            </a:r>
          </a:p>
          <a:p/>
          <a:p>
            <a:r>
              <a:t>Card ki line | Long | Short</a:t>
            </a:r>
          </a:p>
          <a:p>
            <a:r>
              <a:t>Kiske liye | Sirf tab, jab 9:15-11:00 screen dekh sakein aur 14:30 par phir action le sakein | Same</a:t>
            </a:r>
          </a:p>
          <a:p>
            <a:r>
              <a:t>Stocks | Sirf NIFTY 50 ke cash shares; F&amp;O kabhi nahi, paper par bhi nahi | Same; sirf intraday, usi din wapas khareedna</a:t>
            </a:r>
          </a:p>
          <a:p>
            <a:r>
              <a:t>Opening range | 9:15, 9:20 aur 9:25 wali candles ka high aur low | Same</a:t>
            </a:r>
          </a:p>
          <a:p>
            <a:r>
              <a:t>Signal | Range high ke upar pehla 5-minute close | Range low ke neeche pehla 5-minute close</a:t>
            </a:r>
          </a:p>
          <a:p>
            <a:r>
              <a:t>Checks | Price VWAP ke upar; volume apne 20-candle average se upar | Price VWAP ke neeche; volume apne 20-candle average se upar</a:t>
            </a:r>
          </a:p>
          <a:p>
            <a:r>
              <a:t>Entry | Agli candle ka open, sirf agar 11:00 tak aaye | Same</a:t>
            </a:r>
          </a:p>
          <a:p>
            <a:r>
              <a:t>Stop | Range low | Range high</a:t>
            </a:r>
          </a:p>
          <a:p>
            <a:r>
              <a:t>Profit exit | Entry + 2 x (entry - stop) | Entry - 2 x (stop - entry)</a:t>
            </a:r>
          </a:p>
          <a:p>
            <a:r>
              <a:t>Time exit | 14:30 par jo khula ho, bech dijiye | 14:30 par jo khula ho, wapas khareed lijiye</a:t>
            </a:r>
          </a:p>
          <a:p>
            <a:r>
              <a:t>Size | Rs 10,000 ÷ (entry - stop) aur Rs 2,50,000 ÷ entry mein se chhota, breakout close par nikaala hua | Same, risk per share = (stop - entry)</a:t>
            </a:r>
          </a:p>
          <a:p>
            <a:r>
              <a:t>Stop aur exit ek candle mein | Stop hi giniye | Same</a:t>
            </a:r>
          </a:p>
          <a:p>
            <a:r>
              <a:t>Din ki limits | Ek stock mein ek ORB trade; -2R ya do stop-out par din khatam; zyada se zyada 3 khule | Same</a:t>
            </a:r>
          </a:p>
          <a:p>
            <a:r>
              <a:t>Aaj stock skip | Gap day, results ya badi news, price band ke paas | Same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replay log (practice, paper journal nahi)</a:t>
            </a:r>
          </a:p>
          <a:p/>
          <a:p>
            <a:r>
              <a:t>Priya ke teen replays format dikhate hain; apne replays khaali rows mein likhiye. Market khula rehte liye gaye live ORB paper trades Day 12 journal mein jaate hain.</a:t>
            </a:r>
          </a:p>
          <a:p/>
          <a:p>
            <a:r>
              <a:t>Purani date | Stock | Range | Pehla valid close | Entry / stop / 2R exit | Kaise khatam hua (R)</a:t>
            </a:r>
          </a:p>
          <a:p>
            <a:r>
              <a:t>01-09 | Bharat Pumps Ltd | 1,000-1,010 | 9:45 candle, long | 1,012 / 1,000 / 1,036 | 14:30 exit 1,027 par: +0.27R</a:t>
            </a:r>
          </a:p>
          <a:p>
            <a:r>
              <a:t>12-05 | Gupta Cement Ltd | 497-505 | 9:50 candle, short | 495 / 505 / 475 | 475 par buy-back: +0.91R</a:t>
            </a:r>
          </a:p>
          <a:p>
            <a:r>
              <a:t>14-05 | Sharma Textiles Ltd | - | Koi nahi: gap day | - | Skipped: gap day</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 ya nahi?' rapid-fire: koi ek saathi kaagaz par range aur kuch 5-minute candles banata hai, baaki log paanch second mein 'entry', 'no entry' ya 'no-trade day' bolte hain, phir wajah samjhate hain. Phir partner ke saath rule card badliye aur aisi ek situation dhoondhiye jiska jawab card mein nahi hai. Har kami milne par likhne wala apna card dobara likhega; koi saza nahi.</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ORB rule-card audit</a:t>
            </a:r>
          </a:p>
          <a:p>
            <a:r>
              <a:t>Act as a strict but kind trading-rules reviewer for an Indian beginner who is paper trading only. I will paste my one-page Opening Range Breakout (ORB) rule card for liquid NSE cash-segment stocks. First, list every rule that is ambiguous, meaning two honest people could read it differently, and suggest stricter wording. Then turn the card into a yes/no pre-trade checklist in the order I would use it between 9:00 and 14:30 IST: opening range marked from 9:15 to 9:30; a 5-minute close outside the range, not a wick; VWAP on the same side; breakout volume above its 20-candle average; entry at the next candle's open after the first close outside that passes both checks, and only if that open comes by 11:00; stop at the other side of the range; 2R profit exit; time exit at 14:30; if the stop and the profit exit fall inside one candle, count the stop; no new entries after 11:00; quantity = (capital x 1%) / (distance between entry and stop; stop minus entry for a short), capped at 25% of capital; at most 3 open trades; one ORB trade per stock per day; no new trades once the day hits -2R or two stop-outs, whichever comes first; and the no-trade checks (gap day, results or big news, near the price band). Flag anything in my card that uses futures or options, because this course does not allow them, not even on paper. Do not comment on how profitable ORB is, do not recommend any stock, do not give buy or sell advice, and do not mention price targets for real stocks or expected returns.</a:t>
            </a:r>
          </a:p>
          <a:p/>
          <a:p>
            <a:r>
              <a:t>My rule card:</a:t>
            </a:r>
          </a:p>
          <a:p>
            <a:r>
              <a:t>&lt;paste here&gt;</a:t>
            </a:r>
          </a:p>
          <a:p/>
          <a:p>
            <a:r>
              <a:t>Prompt 2: Short selling ka reality check</a:t>
            </a:r>
          </a:p>
          <a:p>
            <a:r>
              <a:t>Explain to a complete beginner how intraday short selling works for a retail trader in the Indian cash (equity) segment: why a short must be squared off the same day, what a broker's auto square-off is and why a trader should not rely on it, what happens in concept if a short is not bought back and the shares are not delivered at settlement (the exchange auction and the penalty), and why a stock stuck at its upper price band is dangerous for a short seller. Use a made-up company, 'Gupta Cement Ltd', and simple rupee numbers. Label every statement Fact (checkable on the NSE, BSE or SEBI websites or with a broker), Guess (you are unsure, or it may have changed) or Kachra (a popular myth). End with a list of points I should verify on nseindia.com or with a broker, because rules and timings can change. Do not quote penalty rates or percentages, do not recommend any stock, do not give buy or sell advice, and do not mention targets or expected returns.</a:t>
            </a:r>
          </a:p>
          <a:p/>
          <a:p>
            <a:r>
              <a:t>Prompt 3: Valid ya nahi? drill</a:t>
            </a:r>
          </a:p>
          <a:p>
            <a:r>
              <a:t>Create 8 short practice scenarios for the Opening Range Breakout rules below, using made-up NSE cash stocks only (for example 'Bharat Pumps Ltd'). For each scenario give yesterday's high and low, today's open, the 9:15-9:30 range high and low, and three or four 5-minute candles after 9:30 with open, high, low, close, volume compared with its 20-candle average, and VWAP. Show me one scenario at a time and ask: entry, no entry, or no-trade day? Wait for my answer, then explain the correct answer using only these rules: entry only on the first 5-minute close outside the range that has VWAP on the same side and above-average volume; entry at the next candle's open, which must come by 11:00; no entries after 11:00; skip gap days, results days and stocks near their price band; one ORB trade per stock per day. Include at least two wick-only fakeouts and one gap day. Do not use real company names, do not give buy or sell advice, and do not mention returns or how profitable ORB is.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 ki opening range Rs 300 se Rs 306 hai. 9:40-9:45 wali candle Rs 308 tak jaati hai lekin Rs 305 par close hoti hai, aur VWAP Rs 303 hai. Aaj ke rules ke hisaab se aap kya karenge?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Capital Rs 10,00,000 hai. Kiran Foods Ltd mein ek paper ORB short: entry Rs 400, stop range high Rs 408 par. 1% rule aur 25% cap dono lagakar aap kitne shares short karenge?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Office se chhutti wale din Aman paper par 10:00 baje cash segment mein Gupta Cement Ltd ke 300 shares intraday short sell karta hai. Kaunsi baat sahi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 Bharat Pumps Ltd Rs 980 aur Rs 1,000 ke beech trade hua. Raat ki news ke baad aaj woh Rs 1,030 par khulta hai. Aapki starter no-trade list kya kehti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ke upar pehla close jo dono checks paas karta tha, 9:50 par aaya aur aap chook gaye. 10:30 par stock range high se Rs 18 upar hai, aur office group keh raha hai ki abhi bhi time hai. Aapka rule card kya kehta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Aakhri baar kab aapne sirf isliye kuch kiya kyunki 'sab log ghus rahe hain', kisi sale, line, tip ya trade mein? Uski keemat kya padi? Aur aapke ORB rule card ki kaunsi ek line Aman ko 9:22 par rok leti?</a:t>
            </a:r>
          </a:p>
          <a:p/>
          <a:p>
            <a:r>
              <a:t>Jo rule aap ek boring subah bhi nibha sakein, woh kisi exciting subah ke pasandida setup se zyada keemti hai. Aaj aapne aisa ek rule likh liya.</a:t>
            </a:r>
          </a:p>
          <a:p/>
          <a:p>
            <a:r>
              <a:t>Agla: Day 14 · Week 2 ka review aur Shortcut Trap #2: jab result bahut achha dikhe</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14: Week 2 ka review aur Shortcut Trap #2: jab result bahut achha dikhe</a:t>
            </a:r>
          </a:p>
          <a:p/>
          <a:p>
            <a:r>
              <a:t>Concept: Process review, aur performance ke daawe padhna: backtests, paid groups, IPO offers</a:t>
            </a:r>
          </a:p>
          <a:p>
            <a:r>
              <a:t>AI Lab: Backtest page reader: Present, Missing ya Unclear</a:t>
            </a:r>
          </a:p>
          <a:p>
            <a:r>
              <a:t>Mindset: 'Too good' result ka lalach</a:t>
            </a:r>
          </a:p>
          <a:p/>
          <a:p>
            <a:r>
              <a:t>Aaj ke baad: Aaj ke baad aap ek paper trade ko poore Week 2 ke toolkit se guzaar payenge, trades ko profit ki jagah process par grade karke apni rows ka weekly review save kar payenge, kisi bhi backtest page ko paanch checks se parakh payenge, kuch tip groups ki perfect-record wali chaal samjha payenge, aur IPO ke 'GMP / assured allotment' scam ko pehchaan payenge.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curve jo kabhi girta nahi</a:t>
            </a:r>
          </a:p>
          <a:p/>
          <a:p>
            <a:r>
              <a:t>(Sunday shaam. Weekend call par Aman, Priya aur mentor ke saath ek screenshot share karta hai.)</a:t>
            </a:r>
          </a:p>
          <a:p>
            <a:r>
              <a:t>Tip-wala: VIP Premium Group, sirf Rs 2,999 mahina. Humare bot ka backtest: 92% accuracy, ek saal mein 310%. Saath mein humare special quota se assured IPO allotment. Sirf 7 seats bachi hain.</a:t>
            </a:r>
          </a:p>
          <a:p>
            <a:r>
              <a:t>Aman: Sir, yeh curve dekhiye. Bas upar hi ja raha hai. Is hafte mere paper trades red mein band hue, aur yeh bot toh jaise haarta hi nahi. 310% ke saamne Rs 2,999 kuch bhi nahi hai.</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 curve jo kabhi girta nahi</a:t>
            </a:r>
          </a:p>
          <a:p/>
          <a:p>
            <a:r>
              <a:t>Mentor: Paise dene se pehle, Aman, teen sawaal. Is curve mein losing trades kahan hain? Yeh kitne trades par bana hai? Aur kya costs ghataye gaye hain?</a:t>
            </a:r>
          </a:p>
          <a:p>
            <a:r>
              <a:t>Priya: Aur sir, Day 10 mein padha tha na ki jab retail mein jitne lots hain usse zyada log apply kar dete hain, toh allotment lottery se hota hai. Phir koi ise assure kaise kar sakta hai?</a:t>
            </a:r>
          </a:p>
          <a:p>
            <a:r>
              <a:t>Mentor: Sahi pakda, Priya. Aaj pehle aapke apne paper week ka review karenge, losses ke saath. Phir isi imaandari se is page ko bhi parkhenge. Jo result apne losses, costs aur trade count chhupaye, woh result nahi hai. Woh advertisement hai.</a:t>
            </a:r>
          </a:p>
          <a:p/>
          <a:p>
            <a:r>
              <a:t>Seekh: Result jitna perfect dikhe, use utne hi zyada sawaalon ka jawab dena padega.</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ek trade mein</a:t>
            </a:r>
          </a:p>
          <a:p/>
          <a:p>
            <a:r>
              <a:t>Is hafte aapne poora toolkit bana liya. Neeche yeh usi order mein hai jismein aap ise use karte hain; example mein ek paper trade isse guzarta hai. Sabse pehle style (Day 10): naukri ke saath swing trading fit baithti hai, isliye default strategy EMA Pullback Swing hai (Day 11). Chart check Day 8 ke chaar tools se hota hai: trend ke liye EMA 20 aur 50, momentum ke liye RSI 14, normal movement ke liye ATR 14, aur VWAP sirf intraday charts par. Phir risk (Day 9): har trade par 1%, size formula se, aur koi position capital ke 25% se upar nahi, jo pichhli shaam maximum entry par check hota hai. Ek saath zyada se zyada 3 open trades rakhiye, har ek alag sector mein, -2R ke baad us din trading band, aur hafte mein -5R ho jaaye toh ruk kar review. Aakhir mein trade Day 12 ke journal mein jaata hai; ORB (Day 13) optional hi rehta hai, sirf unke liye jo 9:15 se 11:00 tak screen dekh sakte hain.</a:t>
            </a:r>
          </a:p>
          <a:p/>
          <a:p>
            <a:r>
              <a:t>Udaharan: Bharat Pumps Ltd Day 11 ke chaaron rules pass karta hai: EMA 20 badhte hue EMA 50 ke upar hai, close EMA 20 ke paas hai, RSI 14 thanda hokar 46 par aa gaya hai, aur 3 mahine mein yeh NIFTY 50 se aage hai. Uski signal candle Rs 494 par, pichhle din ke high ke upar close hoti hai, aur us din ka low Rs 486 hai. ATR 14 Rs 12 hai, toh usi shaam plan likhiye: agle din ke open par entry, lekin open Rs 500 (Rs 494 + 0.5 x 12) se upar ho ya Rs 486 se neeche, toh skip. Stop entry se 1.5 x 12 = Rs 18 neeche hoga, isliye size bhi usi shaam tay ho jaata hai: Rs 10 lakh par 1R = Rs 10,000, aur 10,000 ÷ 18 = 555.6, neeche round karke 555 shares. 25% cap us sabse unche price par check hota hai jo aap de sakte hain, yaani Rs 500 ki maximum entry: 555 x Rs 500 = Rs 2,77,500, jo Rs 2,50,000 ke cap se zyada hai, isliye plan 500 shares kehta hai. Agli subah stock Rs 496 par khulta hai, dono limits ke andar: entry Rs 496, stop Rs 478, aur position Rs 2,48,000 ki, yaani open kuch bhi ho, cap ke andar. Asli risk 500 x Rs 18 = Rs 9,000, capital ka 0.9% (0.9R); stop hit hua toh journal mein -0.9R likha jaayega, Day 12 ke allowance se pehle. Isi card par entry se pehle dono exits bhi likhe jaate hain: profit exit Rs 496 + 2.5 x Rs 18 = Rs 541 par, aur 15ve trading day ke baad time exit. Cap jeet ko bhi chhota karta hai: 500 x Rs 45 = Rs 22,500, yaani allowance se pehle +2.25R.</a:t>
            </a:r>
          </a:p>
          <a:p/>
          <a:p>
            <a:r>
              <a:t>Yaad rakhiye: Size stop aur cap se tay hota hai, is baat se nahi ki aap kitna sure feel kar rahe hain.</a:t>
            </a:r>
          </a:p>
          <a:p/>
          <a:p>
            <a:r>
              <a:t>Slide par: Ek trade ka size, Week 2 ke tareeke se · Size pichhli shaam hi tay hota hai: pehla number risk se aata hai, aur maximum entry par check hua 25% cap use kaat sakta hai. Tab asli risk 1R se kam ho jaata hai, aur yeh bilkul theek hai.</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Apne paper week ka review, ek coach ki tarah</a:t>
            </a:r>
          </a:p>
          <a:p/>
          <a:p>
            <a:r>
              <a:t>Achha review yeh dekhta hai ki aapne trade kaise kiya, yeh nahi ki kitna kamaya. Apna Day 12 wala journal kholiye aur har trade se chaar sawaal poochhiye: kya entry kisi likhe hue rule se aayi, kya size formula se tha, kya stop wahin raha jahan plan kiya tha, aur aapne kaunsa emotion tag likha? Jo loss har rule follow karke hua, woh sahi trade hai, business ka normal kharcha. Jo jeet rule todkar aayi, woh hafte ka sabse khatarnak trade hai, kyunki woh sikhati hai ki rule todna faayde ka sauda hai. Jis din koi setup nahi bana aur aapne trade nahi kiya, woh din bhi rule follow karne mein hi gina jaata hai. Aapka Day 12 wala adherence score yeh sab ek number mein bata deta hai: points ÷ decisions. Pehle Aaj Ka Kaam mein diye mentor ke 10 rows wale practice journal par abhyaas kijiye, jiski key saath hai, phir wahi sawaal apni rows se poochhiye, chahe woh kitni bhi kam hon. Nateeja is lesson ke Journal tab mein 'Weekly review' ki tarah save kijiye: teen mein se do hafton ke review certificate ke chhe checks mein se ek hain (Day 21).</a:t>
            </a:r>
          </a:p>
          <a:p/>
          <a:p>
            <a:r>
              <a:t>Udaharan: Maan lijiye, kuch hafton baad Priya ke journal se saat decisions lete hain; aapke paas abhi shayad do-teen rows hi hon. Paanch closed trades hain aur do no-setup din. Teen trades mein har rule follow hua: Day 12 ke allowance ke baad -1.1R, +2.4R aur -1.1R, yaani net +0.2R. Careful Priya se bhi do baar rule toot gaya. Ek trade mein usne stop neeche khiska diya aur 1.1R ki jagah 1.7R ka loss ho gaya. Doosre mein woh signal se pehle hi kood padi, tag likha 'FOMO', aur trade 15ve din ke time exit par +1.1R par band hua. In rows ka total -0.4R hai, lekin uska review zyada batata hai: 7 mein se 5 decisions rule par, yaani adherence 71%, aur agle hafte ke liye ek fix: 'mera stop kabhi neeche nahi khiskega'.</a:t>
            </a:r>
          </a:p>
          <a:p/>
          <a:p>
            <a:r>
              <a:t>Yaad rakhiye: Faisle ko grade kijiye, result ko nahi.</a:t>
            </a:r>
          </a:p>
          <a:p/>
          <a:p>
            <a:r>
              <a:t>Slide par: Process vs result · Rule todkar mili jeet sabse achhi lagti hai, aur sabse buri aadat banati hai.</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#2: backtest ya brochure?</a:t>
            </a:r>
          </a:p>
          <a:p/>
          <a:p>
            <a:r>
              <a:t>Backtest ka matlab hai ek fixed rule ko purane prices par chala kar dekhna ki woh kaisa chalta. Bot bechne wale aur paid groups backtest ko saboot ki tarah dikhate hain, isliye pehle chaar terms samajh lijiye. Equity curve account ka chalta hua total hai, trade dar trade. Drawdown (Day 3) yeh hai ki curve apne high se kitna gira, naya high banne se pehle; yaani woh dard jo aapko beech mein jhelna padta. Out-of-sample ka matlab hai rule ko us data par test karna jis par woh banaya nahi gaya. Curve-fitting ka matlab hai settings ko tab tak ghumana jab tak woh purane data par perfect fit na ho jaayein; aise rules naye data par aksar fail ho jaate hain. Neeche ke paanch checks mein se ek bhi missing ho ya fail ho, toh page ko saboot nahi, advertisement maaniye. Bot bechne walon par SEBI ke rules Day 16 mein aayenge, aur apna imaandaar backtest Day 17 mein.</a:t>
            </a:r>
          </a:p>
          <a:p/>
          <a:p>
            <a:r>
              <a:t>Udaharan: Aman ke screenshot par checks chalaiye. Costs: koi zikr nahi. Drawdown: dikhaya hi nahi. Trade count: 25, chhote akshar mein. Data: ek hi chadhta hua saal. Out-of-sample: kuch nahi, aur settings 'optimised' hain, yaani usi saal par tune ki gayi. Paanchon checks fail: teen missing, aur do bahut kamzor. Yeh builder ka woh brochure hai jo balcony se dhalta suraj toh dikhata hai, par bagal wala naala chhod deta hai.</a:t>
            </a:r>
          </a:p>
          <a:p/>
          <a:p>
            <a:r>
              <a:t>Yaad rakhiye: Na costs, na drawdown, na trade count: toh bharosa bhi nahi.</a:t>
            </a:r>
          </a:p>
          <a:p/>
          <a:p>
            <a:r>
              <a:t>Slide par: Backtest par bharosa karne se pehle paanch checks · Ek bhi missing ya fail? Page ko advertisement hi maaniye.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Perfect curves kyun bikhar jaate hain: costs aur naya data</a:t>
            </a:r>
          </a:p>
          <a:p/>
          <a:p>
            <a:r>
              <a:t>Do cheezein zyadatar advertised curves ko chupchaap flat kar deti hain. Pehli cheez hai costs: brokerage, STT, exchange charges, GST, stamp duty aur slippage har trade par lagte hain, jeet ho ya haar, isliye zyada trades wali strategy bahut kharcha bharti hai. Day 12 mein aapne inhe R mein ginna seekha tha; jo page inhe chhod deta hai, woh aisa result dikha raha hai jo kisi ke account mein kabhi aaya hi nahi. Doosri cheez hai naya data: curve-fit kiya hua rule un saalon par shaandaar dikhta hai jin par use tune kiya gaya, aur agle saal mamooli. Aur ek khinchaav humare andar bhi hai. Chhote-chhote imaandaar losses wale hafte ke baad, bina dip wali smooth line raahat jaisi lagti hai, aur seller asal mein yahi feeling bech raha hota hai.</a:t>
            </a:r>
          </a:p>
          <a:p/>
          <a:p>
            <a:r>
              <a:t>Udaharan: Ek page 40 trades aur +11R dikhata hai. Maan lijiye charges aur slippage har trade par 0.2R padte hain. Yeh sirf samjhaane ke liye figure hai, aapke Day 12 allowance ka dugna. Tight stop ya kam trade hone wale stocks mein aisa ho sakta hai: tight stop ka matlab hai usi 1R ke liye zyada shares, aur zyada shares par charges bhi zyada lagte hain. 40 x 0.2R = 8R, yaani asli result +3R. Rs 10,000 per R ke hisaab se advert Rs 1,10,000 bolta hai, jabki account mein Rs 30,000 hi bante. Aur sabse gehra drawdown 4R se badh kar 6R ho jaata hai, chart dekhiye.</a:t>
            </a:r>
          </a:p>
          <a:p/>
          <a:p>
            <a:r>
              <a:t>Yaad rakhiye: Har trade apne costs bharta hai, jeet ho ya haar. Unke bina bana curve sirf kahaani hai.</a:t>
            </a:r>
          </a:p>
          <a:p/>
          <a:p>
            <a:r>
              <a:t>Slide par: Wahi trades, costs ke saath aur bina · 40 trades, har trade par 0.2R cost. Har trade ke saath gap badhta jaata hai, aur dips gehre ho jaate hain.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 groups aur finfluencers: perfect record ki chaal</a:t>
            </a:r>
          </a:p>
          <a:p/>
          <a:p>
            <a:r>
              <a:t>Finfluencer social media ka woh chehra hai jo paise ki baatein karta hai; kuch sikhate hain, kuch bechte hain. Paid group 'calls' ke liye monthly fee leta hai. India mein paise lekar buy ya sell advice dene ke liye SEBI se Research Analyst ya Investment Adviser ka registration chahiye, aur Day 7 ki tarah aap koi bhi naam sebi.gov.in par check kar sakte hain. Registration sirf pehla check hai, skill ka saboot nahi. SEBI ne apne regulated brokers, advisers aur baaki entities ko aise logon se judne se bhi rok diya hai jo bina registration advice dete hain ya returns ke daawe karte hain; latest rules SEBI ki site par dekhiye. Jeet ke screenshots kuch saabit nahi karte: losing calls post hi nahi hoti, aur koi bhi image edit ho sakti hai.</a:t>
            </a:r>
          </a:p>
          <a:p/>
          <a:p>
            <a:r>
              <a:t>Udaharan: Ek tipster 1,024 anjaan logon ko NIFTY 50 par message bhejta hai: aadhe logon ko 'kal upar', aadhon ko 'kal neeche'. Jo bhi ho, 512 logon ne sahi call dekh li. Phir woh sirf un 512 ke saath yahi karta hai, phir 256, aur aise hi aage. Paanch round ke baad 32 logon ne lagaataar paanch sahi calls dekh li hain. Unmein se kuch ko lagta hai koi genius mil gaya, aur woh Rs 2,999 mahina dene lagte hain. Tipster ne bas unhi logon ko likhna jaari rakha jinki call ko market ne ittefaq se sahi saabit kar diya.</a:t>
            </a:r>
          </a:p>
          <a:p/>
          <a:p>
            <a:r>
              <a:t>Yaad rakhiye: Jo record aap check na kar sakein, aur jiska naam sebi.gov.in par na mile, woh record nahi hai.</a:t>
            </a:r>
          </a:p>
          <a:p/>
          <a:p>
            <a:r>
              <a:t>Slide par: 'Perfect record' wali list kaise chhoti hoti hai · 32 logon ke liye paanch calls ka perfect record, skill se nahi, chhantai se bana.</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 scams: 'GMP' aur 'assured allotment'</a:t>
            </a:r>
          </a:p>
          <a:p/>
          <a:p>
            <a:r>
              <a:t>Day 10 mein humne dekha tha ki asli IPO application kaise hoti hai. Aap ASBA ke through apply karte hain, net banking se ya bank/broker app mein UPI mandate se, aur paisa sirf aapke apne bank account mein block hota hai. Agar retail mein jitne lots baantne hain usse zyada log apply karein, toh SEBI ke rules ke tahat allotment computerised lottery se hota hai, isliye koi bhi aapse shares ka vaada nahi kar sakta. GMP yaani grey market premium ek unofficial, unregulated number hai jo exchange ke bahar bola jaata hai; yeh tezi se badalta hai aur aasaani se fake kiya ja sakta hai. Scam groups high GMP dikha kar josh paida karte hain, phir 'special quota' se 'assured allotment' bechte hain aur paisa apne account mein mangwate hain.</a:t>
            </a:r>
          </a:p>
          <a:p/>
          <a:p>
            <a:r>
              <a:t>Udaharan: Ek made-up company ka IPO khabron mein hai, 'GMP Rs 80' ke saath. Ek Telegram group Aman ko offer deta hai: 'aaj raat tak Rs 30,000 humare account mein bhejo, 2 lots assured'. Ise asli raaste se milaiye: asli application mein allotment se pehle paisa aapke account se bahar jaata hi nahi, aur allotment lottery se hota hai. Offer dono baaton par fail hai. Agar paisa chala gaya ho, toh turant cybercrime helpline 1930 par call kijiye, cybercrime.gov.in par report kijiye, aur bank ko bataiye.</a:t>
            </a:r>
          </a:p>
          <a:p/>
          <a:p>
            <a:r>
              <a:t>Yaad rakhiye: Har shortcut se teen sawaal: Kya bechne wala sebi.gov.in par hai? Losses aur costs kahan hain? Mera paisa mere account se bahar kyun jaaye?</a:t>
            </a:r>
          </a:p>
          <a:p/>
          <a:p>
            <a:r>
              <a:t>Slide par: Asli IPO ka raasta · Kisi bhi step par kisi insaan ya group ko paisa nahi dena hota. Process SEBI ya exchange ki website par check kijiye.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curve: Ek line jo har trade ke baad account ka chalta hua total dikhati hai.</a:t>
            </a:r>
          </a:p>
          <a:p>
            <a:r>
              <a:t>Backtest: Ek fixed rule ko purane prices par chala kar dekhna ki woh kaisa chalta. Yeh past ka test hai, future ka andaaza nahi.</a:t>
            </a:r>
          </a:p>
          <a:p>
            <a:r>
              <a:t>Out-of-sample test: Rule ko us data par test karna jis par woh bana ya tune nahi hua. Backtest ke sabse imaandaar checks mein se ek.</a:t>
            </a:r>
          </a:p>
          <a:p>
            <a:r>
              <a:t>Curve-fitting: Rule ki settings ko tab tak ghumana jab tak woh purane data par perfect fit na ho jaayein. Naye data par aksar kamzor nikalta hai.</a:t>
            </a:r>
          </a:p>
          <a:p>
            <a:r>
              <a:t>Finfluencer: Social media par paise ki baat karne wala. Paise lekar buy ya sell advice dene ke liye SEBI registration chahiye.</a:t>
            </a:r>
          </a:p>
          <a:p>
            <a:r>
              <a:t>GMP (grey market premium): Listing se pehle IPO ke baare mein unofficial, unregulated price ki baat. Exchange ka price nahi, aur aasaani se fake.</a:t>
            </a:r>
          </a:p>
          <a:p>
            <a:r>
              <a:t>Weekly review: Weekend par hafte ki rows ko process par parakhna, profit par nahi. Journal tab mein Entry type 'Weekly review' chun kar save kiya review certificate mein ginta hai (3 mein se 2 hafte).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review + Trap #2</a:t>
            </a:r>
          </a:p>
          <a:p>
            <a:r>
              <a:t>Ek trade: Pehle style, phir EMA 20/50; Stop 1.5 x ATR, exit 2.5R; 1% risk, 25% cap, 3 trades; -2R din ka stop, -5R hafte ka pause</a:t>
            </a:r>
          </a:p>
          <a:p>
            <a:r>
              <a:t>Aapka review: Process ko grade, P&amp;L ko nahi; Rule todkar jeet = warning; No-trade din bhi ginte hain; 'Weekly review' ki tarah save</a:t>
            </a:r>
          </a:p>
          <a:p>
            <a:r>
              <a:t>Backtest checks: Costs aur slippage; Max drawdown; 30+ trades, girta market bhi; Out-of-sample test</a:t>
            </a:r>
          </a:p>
          <a:p>
            <a:r>
              <a:t>Tip groups: sebi.gov.in par search; Screenshots kuch saabit nahi karte; 1,024 se 32: skill zero</a:t>
            </a:r>
          </a:p>
          <a:p>
            <a:r>
              <a:t>IPO scams: GMP unofficial hai; Allotment lottery se hota hai; Paisa aapke account mein hi</a:t>
            </a:r>
          </a:p>
          <a:p>
            <a:r>
              <a:t>Aapka mann: Jitna perfect, utne sawaal; Smooth line raahat bechti hai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ke 10 rows wale journal par process review ka abhyaas kijiye, apni rows ka review karke use Weekly review ki tarah save kijiye, ek made-up backtest page ka audit kijiye, sebi.gov.in par ek naam check kijiye, aur Quiz Game 2 kheliye.</a:t>
            </a:r>
          </a:p>
          <a:p/>
          <a:p>
            <a:r>
              <a:t>1. Pehle abhyaas: neeche diye 10 rows ke practice journal ka Point column bhariye, adherence score nikaaliye aur har toota rule pehchaaniye, phir Weekly review card ki key se khud ko check kijiye.</a:t>
            </a:r>
          </a:p>
          <a:p>
            <a:r>
              <a:t>2. Ab apni rows: apna Day 12 journal kholiye aur review card ka 'Aapka hafta' column bhariye: points ÷ decisions ('No setup' rows giniye; open trades ko plan, size aur stop par grade kijiye), har toota rule aur uska ek line ka fix, aur hafte ka total R. -5R ya usse bura ho toh agle trade se pehle ruk kar review kijiye.</a:t>
            </a:r>
          </a:p>
          <a:p>
            <a:r>
              <a:t>3. Is lesson ke Journal tab mein Entry type 'Weekly review' hi rehne dijiye aur teen lines mein review likhiye: aapka score, sabse zyada toota rule (ya 'none') aur ek fix. Yeh entry certificate mein ginti hai, jise 3 mein se 2 hafton ke weekly review chahiye.</a:t>
            </a:r>
          </a:p>
          <a:p>
            <a:r>
              <a:t>4. Mentor ke banaye is practice page ka audit kijiye (asli bot ya tips pages mat kholiye): 'TrendRider Bot. 88% winning trades. Ek strong saal ki 1 Jan se 31 Dec tak ke 34 trades. Brokerage included. Settings is data par best result ke liye optimised.' Paanchon checks ke aage Present, Missing ya Unclear likhiye, phir key se milaiye: costs Unclear (sirf brokerage), drawdown Missing, trade count Present (34 bas shuruaat hai), girta market Missing, out-of-sample Missing.</a:t>
            </a:r>
          </a:p>
          <a:p>
            <a:r>
              <a:t>5. sebi.gov.in par kisi ek finfluencer ya paid group ko check kijiye jo aapne dekha ho (koi na ho toh is lesson ke end mein chhapa INH000020004): unka dikhaya hua INH ya INA number Research Analyst ya Investment Adviser list mein search kijiye, aur note kijiye ki naam, number aur SEBI record ke contact details (email, phone) unke page se match karte hain ya nahi. Agar koi INH ya INA number dikhaya hi nahi, toh naam se search kijiye; kuch match na ho toh unhe unregistered maaniye. Unhe join mat kijiye, paisa mat dijiye, message bhi mat kijiye.</a:t>
            </a:r>
          </a:p>
          <a:p>
            <a:r>
              <a:t>6. Aakhir mein Quiz Game 2 dijiye, Week 2 ka 15 sawaalon wala exam; yeh upar ke 55 minute mein shaamil nahi hai. Jin topics mein galti hui unhe note kijiye. Teenon weekly Quiz Games dena certificate ke chhe checks mein se ek hai (Day 21).</a:t>
            </a:r>
          </a:p>
          <a:p/>
          <a:p>
            <a:r>
              <a:t>Aaj ke baad: Aaj ke baad aap ek paper trade ko poore Week 2 ke toolkit se guzaar payenge, trades ko profit ki jagah process par grade karke apni rows ka weekly review save kar payenge, kisi bhi backtest page ko paanch checks se parakh payenge, kuch tip groups ki perfect-record wali chaal samjha payenge, aur IPO ke 'GMP / assured allotment' scam ko pehchaan payenge.</a:t>
            </a:r>
          </a:p>
          <a:p/>
          <a:p>
            <a:r>
              <a:t>Tools: Aapka Day 12 wala journal (Google Sheets), aur app mein aapki Portfolio rows; Koi bhi AI chat; SEBI website (sebi.gov.in); Quiz Game 2</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Mentor ke 10 rows wale journal par process review ka abhyaas kijiye, apni rows ka review karke use Weekly review ki tarah save kijiye, ek made-up backtest page ka audit kijiye, sebi.gov.in par ek naam check kijiye, aur Quiz Game 2 kheliye.</a:t>
            </a:r>
          </a:p>
          <a:p/>
          <a:p>
            <a:r>
              <a:t>1. Pehle abhyaas: neeche diye 10 rows ke practice journal ka Point column bhariye, adherence score nikaaliye aur har toota rule pehchaaniye, phir Weekly review card ki key se khud ko check kijiye.</a:t>
            </a:r>
          </a:p>
          <a:p>
            <a:r>
              <a:t>2. Ab apni rows: apna Day 12 journal kholiye aur review card ka 'Aapka hafta' column bhariye: points ÷ decisions ('No setup' rows giniye; open trades ko plan, size aur stop par grade kijiye), har toota rule aur uska ek line ka fix, aur hafte ka total R. -5R ya usse bura ho toh agle trade se pehle ruk kar review kijiye.</a:t>
            </a:r>
          </a:p>
          <a:p>
            <a:r>
              <a:t>3. Is lesson ke Journal tab mein Entry type 'Weekly review' hi rehne dijiye aur teen lines mein review likhiye: aapka score, sabse zyada toota rule (ya 'none') aur ek fix. Yeh entry certificate mein ginti hai, jise 3 mein se 2 hafton ke weekly review chahiye.</a:t>
            </a:r>
          </a:p>
          <a:p>
            <a:r>
              <a:t>4. Mentor ke banaye is practice page ka audit kijiye (asli bot ya tips pages mat kholiye): 'TrendRider Bot. 88% winning trades. Ek strong saal ki 1 Jan se 31 Dec tak ke 34 trades. Brokerage included. Settings is data par best result ke liye optimised.' Paanchon checks ke aage Present, Missing ya Unclear likhiye, phir key se milaiye: costs Unclear (sirf brokerage), drawdown Missing, trade count Present (34 bas shuruaat hai), girta market Missing, out-of-sample Missing.</a:t>
            </a:r>
          </a:p>
          <a:p>
            <a:r>
              <a:t>5. sebi.gov.in par kisi ek finfluencer ya paid group ko check kijiye jo aapne dekha ho (koi na ho toh is lesson ke end mein chhapa INH000020004): unka dikhaya hua INH ya INA number Research Analyst ya Investment Adviser list mein search kijiye, aur note kijiye ki naam, number aur SEBI record ke contact details (email, phone) unke page se match karte hain ya nahi. Agar koi INH ya INA number dikhaya hi nahi, toh naam se search kijiye; kuch match na ho toh unhe unregistered maaniye. Unhe join mat kijiye, paisa mat dijiye, message bhi mat kijiye.</a:t>
            </a:r>
          </a:p>
          <a:p>
            <a:r>
              <a:t>6. Aakhir mein Quiz Game 2 dijiye, Week 2 ka 15 sawaalon wala exam; yeh upar ke 55 minute mein shaamil nahi hai. Jin topics mein galti hui unhe note kijiye. Teenon weekly Quiz Games dena certificate ke chhe checks mein se ek hai (Day 21).</a:t>
            </a:r>
          </a:p>
          <a:p/>
          <a:p>
            <a:r>
              <a:t>Aaj ke baad: Aaj ke baad aap ek paper trade ko poore Week 2 ke toolkit se guzaar payenge, trades ko profit ki jagah process par grade karke apni rows ka weekly review save kar payenge, kisi bhi backtest page ko paanch checks se parakh payenge, kuch tip groups ki perfect-record wali chaal samjha payenge, aur IPO ke 'GMP / assured allotment' scam ko pehchaan payenge.</a:t>
            </a:r>
          </a:p>
          <a:p/>
          <a:p>
            <a:r>
              <a:t>Tools: Aapka Day 12 wala journal (Google Sheets), aur app mein aapki Portfolio rows; Koi bhi AI chat; SEBI website (sebi.gov.in); Quiz Game 2</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journal: review ke liye 10 decisions</a:t>
            </a:r>
          </a:p>
          <a:p/>
          <a:p>
            <a:r>
              <a:t>Mentor ne practice ke liye banaya hai; stock names tips nahi hain. Point column (1 ya 0) bhariye, phir neeche Weekly review card ki key se khud ko check kijiye.</a:t>
            </a:r>
          </a:p>
          <a:p/>
          <a:p>
            <a:r>
              <a:t># | Stock aur setup | R result | Rule broken? | Emotion | Point (aap bhariye)</a:t>
            </a:r>
          </a:p>
          <a:p>
            <a:r>
              <a:t>1 | No setup | - | none | bore | </a:t>
            </a:r>
          </a:p>
          <a:p>
            <a:r>
              <a:t>2 | Gupta Cement Ltd, EMA Pullback | -1.1R | none | calm | </a:t>
            </a:r>
          </a:p>
          <a:p>
            <a:r>
              <a:t>3 | Kiran Foods Ltd, tip par khareeda, likha plan nahi | +1.4R | Likha plan nahi | FOMO | </a:t>
            </a:r>
          </a:p>
          <a:p>
            <a:r>
              <a:t>4 | Bharat Pumps Ltd, Skipped: max entry se upar gap | - | none | calm | </a:t>
            </a:r>
          </a:p>
          <a:p>
            <a:r>
              <a:t>5 | Desai Power Ltd, EMA Pullback, stop ke paar gap | -1.6R | none | calm | </a:t>
            </a:r>
          </a:p>
          <a:p>
            <a:r>
              <a:t>6 | Anand Snacks Ltd, EMA Pullback | -1.7R | Stop neeche khiskaya | darr | </a:t>
            </a:r>
          </a:p>
          <a:p>
            <a:r>
              <a:t>7 | No setup | - | none | bore | </a:t>
            </a:r>
          </a:p>
          <a:p>
            <a:r>
              <a:t>8 | Sharma Textiles Ltd, EMA Pullback | +2.4R | none | calm | </a:t>
            </a:r>
          </a:p>
          <a:p>
            <a:r>
              <a:t>9 | Bharat Pumps Ltd, chautha khula trade | -1.1R | 4th open trade | over-confident | </a:t>
            </a:r>
          </a:p>
          <a:p>
            <a:r>
              <a:t>10 | Kiran Foods Ltd, EMA Pullback, time exit | +0.6R | none | calm |</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review card: pehle key, phir aapka hafta</a:t>
            </a:r>
          </a:p>
          <a:p/>
          <a:p>
            <a:r>
              <a:t>Daayan column apni rows se bhariye, chahe do-teen hi hon, phir Journal tab mein Entry type 'Weekly review' chun kar likhiye.</a:t>
            </a:r>
          </a:p>
          <a:p/>
          <a:p>
            <a:r>
              <a:t>Sawaal | Practice journal (key) | Aapka hafta</a:t>
            </a:r>
          </a:p>
          <a:p>
            <a:r>
              <a:t>Points ÷ decisions | 7 ÷ 10 = 70% (points 1,1,0,1,1,0,1,1,0,1) | </a:t>
            </a:r>
          </a:p>
          <a:p>
            <a:r>
              <a:t>Kaunse rules toote? | Likha plan nahi (row 3), stop neeche khiskaya (row 6), chautha khula trade (row 9) | </a:t>
            </a:r>
          </a:p>
          <a:p>
            <a:r>
              <a:t>Rule todkar koi jeet? | Row 3, +1.4R: dason mein sabse khatarnak row | </a:t>
            </a:r>
          </a:p>
          <a:p>
            <a:r>
              <a:t>Toote rows par emotion | FOMO, darr, over-confident; calm kabhi nahi. Row 9 +2.4R ki jeet ke theek baad aayi | </a:t>
            </a:r>
          </a:p>
          <a:p>
            <a:r>
              <a:t>Har rule ke saath hue loss | Row 2 aur 5: sahi trades. Row 5 ka 1.6R loss gap se hua, rule todne se nahi | </a:t>
            </a:r>
          </a:p>
          <a:p>
            <a:r>
              <a:t>Total R; -5R wala pause? | -1.1R: rule wale trades +0.3R, toote rules -1.4R; pause nahi | </a:t>
            </a:r>
          </a:p>
          <a:p>
            <a:r>
              <a:t>Agle hafte ka ek fix | Pichhli shaam likhe plan ke bina koi entry nahi |</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 round ka practice page: 'SteadyLine Bot' (made-up)</a:t>
            </a:r>
          </a:p>
          <a:p/>
          <a:p>
            <a:r>
              <a:t>Aakhri row dhak dijiye, do minute ka timer lagaiye aur paanchon checks mark kijiye: line quote kijiye, ya 'page par nahi hai' likhiye. Phir key kholiye.</a:t>
            </a:r>
          </a:p>
          <a:p/>
          <a:p>
            <a:r>
              <a:t>Line | Page kya kehta hai</a:t>
            </a:r>
          </a:p>
          <a:p>
            <a:r>
              <a:t>1 | SteadyLine Bot: 71% winning trades, 2019 se 2023 tak 180 trades.</a:t>
            </a:r>
          </a:p>
          <a:p>
            <a:r>
              <a:t>2 | 2020 ke crash aur do sideways saalon mein bhi test kiya gaya.</a:t>
            </a:r>
          </a:p>
          <a:p>
            <a:r>
              <a:t>3 | Saare results brokerage, taxes aur baaki charges se pehle ke hain.</a:t>
            </a:r>
          </a:p>
          <a:p>
            <a:r>
              <a:t>4 | Sabse bura ek mahina: -3%.</a:t>
            </a:r>
          </a:p>
          <a:p>
            <a:r>
              <a:t>5 | Settings 2019-2023 par sabse smooth curve ke liye fine-tune ki gayi. Live results jald aa rahe hain.</a:t>
            </a:r>
          </a:p>
          <a:p>
            <a:r>
              <a:t>6 | 5,000 khush members se judiye. Rs 1,999 mahina.</a:t>
            </a:r>
          </a:p>
          <a:p>
            <a:r>
              <a:t>Key | Costs Missing (line 3 charges se pehle ki hai), drawdown Unclear (sabse bura mahina sabse gehri girawat nahi hai), trade count Present (180), girta market Present (line 2), out-of-sample Missing (line 5). Ab bhi advertisement hi hai.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Swap-and-audit, sirf apni marzi se: is hafte ka journal kisi classmate ke saath badliye, naam hata kar, aur ek-doosre ko sirf process par grade kijiye: rule follow hua, size formula se tha, stop apni jagah raha. Journal mein likhe stock names record hain, tips nahi: na un par trade kijiye, na unhe aage forward kijiye. Phir Aaj Ka Kaam mein diye 'SteadyLine Bot' practice page par race lagaiye: key dhak dijiye, do minute ka timer lagaiye, aur paanchon checks mark kijiye, line quote karke ya 'page par nahi hai' likh kar. Sabse pehle poori sahi sheet wala jeeta. Akele padh rahe hain? Timer ko haraiye, phir 'Practice brochure' prompt se naya page banwa kar dobara race lagaiye.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Backtest page reader</a:t>
            </a:r>
          </a:p>
          <a:p>
            <a:r>
              <a:t>You are a careful reviewer who teaches Indian beginners to read performance claims. I will paste the text of a backtest or performance page for a trading strategy, bot or paid group. It is either made-up practice material or has all names removed. Check it against these five points and answer Present, Missing or Unclear for each, quoting the exact line you relied on: (1) transaction costs and slippage, (2) maximum drawdown and how long it lasted, (3) number of trades (under 30 is too few to judge; 30 to 100 is only a start), (4) whether the data covers at least one falling market, (5) an out-of-sample or forward test, and whether the settings were optimised on the same data. Then label every performance claim on the page as Fact (checkable), Guess (cannot be verified) or Kachra (marketing noise or impossible). End with the three most important missing items and three polite questions I can ask the seller. Judge the page, not the person. Do not recommend any strategy, product, group or stock, do not give buy or sell advice, and do not estimate targets or future returns.</a:t>
            </a:r>
          </a:p>
          <a:p/>
          <a:p>
            <a:r>
              <a:t>Page text:</a:t>
            </a:r>
          </a:p>
          <a:p>
            <a:r>
              <a:t>&lt;paste here&gt;</a:t>
            </a:r>
          </a:p>
          <a:p/>
          <a:p>
            <a:r>
              <a:t>Prompt 2: Practice brochure</a:t>
            </a:r>
          </a:p>
          <a:p>
            <a:r>
              <a:t>Create a short, made-up advertisement page for a fictional trading bot called 'RocketAlgo X' so I can practise spotting a weak backtest. Use only fictional names: no real people, brokers, apps or listed companies. Put the words FICTIONAL PRACTICE MATERIAL at the top and at the bottom. Include typical marketing lines and a performance summary, but quietly leave out or blur three to five of these: costs and slippage, maximum drawdown, trade count, a falling-market period, an out-of-sample test. Do not tell me which ones are missing. When I reply with my checklist (Present, Missing or Unclear for each), reveal the hidden gaps, grade my answers, and label each claim on your page as Fact, Guess or Kachra. Do not give buy or sell advice, targets or return expectations of your own.</a:t>
            </a:r>
          </a:p>
          <a:p/>
          <a:p>
            <a:r>
              <a:t>Prompt 3: IPO offer check</a:t>
            </a:r>
          </a:p>
          <a:p>
            <a:r>
              <a:t>A message offers me 'assured allotment' in an upcoming IPO through a special quota if I transfer money to an account today, and it quotes a high grey market premium (GMP). Do not ask me for any personal details. In simple numbered steps, explain how a real IPO application works in India: ASBA, the UPI mandate, the blocked amount, allotment by lottery when retail applicants outnumber the minimum lots available, unblocking of money, and listing. Then point out each place where the message does not match. Label each statement Fact, Guess or Kachra, and name the official website where I can check it (SEBI, NSE, BSE or the issue's registrar). Tell me what to do if money has already been sent: inform the bank, call the 1930 cybercrime helpline and report on cybercrime.gov.in. Do not comment on whether any IPO is a good investment, do not give buy or sell advice, and do not predict listing prices or returns.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bot page kehta hai: '2018 se 2023 tak 220 trades, saare charges ke baad ke results, 2020 ke crash mein bhi test kiya, 2024 ke us data par dobara test kiya jo settings ne kabhi dekha nahi, sabse bura ek mahina -4%.' Paanch checks mein se kaunsa abhi bhi khula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ke paper trade mein har rule follow hua: entry likhe hue rule se, size formula se, stop ko chhua tak nahi. Stop hit hua: Day 12 ke allowance ke baad -1.1R. Uska weekly review ise kaise grade kare?</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strategy page 150 trades, costs ke saath, aur -12R ka maximum drawdown dikhata hai. Lekin saare trades ek hi lagaataar chadhte saal ke hain, aur settings bhi usi saal par optimise ki gayi thi. Isse sabse sahi baat kya nikalti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tipster 2,048 logon ke do hisson ko NIFTY 50 par ulti predictions bhejta hai, phir roz sirf us aadhe hisse ke saath yahi dohraata hai jise sahi call mili. 4 round ke baad kitne logon ne lagaataar 4 sahi calls dekhi hain?</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 WhatsApp group aane wale IPO ka GMP Rs 120 bata raha hai. Woh Priya ke cousin ko special quota se '1 lot, confirmed' offer karta hai, agar woh aaj hi Rs 15,000 kisi insaan ki UPI ID par bhej de. Kaunsa fact is scam ko sabse saaf pakadta hai?</a:t>
            </a:r>
          </a:p>
          <a:p/>
          <a:p>
            <a:r>
              <a:t>Class se vote karwaiye, phir do learners se unka jawab defend karwaiye. Sahi jawab learner app ke quiz mein dekhte hain, submit ke baad wahin explanation aata hai.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Aaj raat ka journal: Entry type mein 'Weekly review' chuniye. Apna adherence score, sabse zyada toota rule (ya 'none') aur agle hafte ka ek fix likhiye. Phir: is hafte ka kaunsa trade aap reviewer se sabse zyada chhupana chahenge, aur kyun? Aakhir mein, is mahine ka koi ek result yaad kijiye jis par aapne bharosa kiya aur jisne apne losses kabhi nahi dikhaye: kaunsa sawaal uski pol khol deta?</a:t>
            </a:r>
          </a:p>
          <a:p/>
          <a:p>
            <a:r>
              <a:t>Is hafte aapne ek aisa record rakha jo apne losses bhi dikhata hai. Aapko jo bhi becha jaayega, usmein se zyadatar apne losses kabhi nahi dikhata.</a:t>
            </a:r>
          </a:p>
          <a:p/>
          <a:p>
            <a:r>
              <a:t>Agla: Day 15 · AI ke saath fundamental health check, aur corporate actions</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2</a:t>
            </a:r>
          </a:p>
        </p:txBody>
      </p:sp>
      <p:sp>
        <p:nvSpPr>
          <p:cNvPr id="5" name="TextBox 4"/>
          <p:cNvSpPr txBox="1"/>
          <p:nvPr/>
        </p:nvSpPr>
        <p:spPr>
          <a:xfrm>
            <a:off x="457200" y="2331720"/>
            <a:ext cx="10241280" cy="74676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Risk pehle, strategy baad mein</a:t>
            </a:r>
          </a:p>
        </p:txBody>
      </p:sp>
      <p:sp>
        <p:nvSpPr>
          <p:cNvPr id="6" name="TextBox 5"/>
          <p:cNvSpPr txBox="1"/>
          <p:nvPr/>
        </p:nvSpPr>
        <p:spPr>
          <a:xfrm>
            <a:off x="457200" y="330708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8-14</a:t>
            </a:r>
          </a:p>
        </p:txBody>
      </p:sp>
      <p:sp>
        <p:nvSpPr>
          <p:cNvPr id="7" name="TextBox 6"/>
          <p:cNvSpPr txBox="1"/>
          <p:nvPr/>
        </p:nvSpPr>
        <p:spPr>
          <a:xfrm>
            <a:off x="457200" y="374599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Sirf virtual paisa. Score process ka hota hai, profit ka nahi.</a:t>
            </a:r>
          </a:p>
        </p:txBody>
      </p:sp>
      <p:sp>
        <p:nvSpPr>
          <p:cNvPr id="8" name="Rounded Rectangle 7"/>
          <p:cNvSpPr/>
          <p:nvPr/>
        </p:nvSpPr>
        <p:spPr>
          <a:xfrm>
            <a:off x="457200" y="5074920"/>
            <a:ext cx="1867650"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Hinglish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2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WEEK 2 · RISK PEHLE, STRATEGY BAAD MEIN</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Is hafte ka plan, din-ba-din</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8</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Kaam ke indicators, aur unki limits</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Chaar chart tools aur unka lag: EMA 20/50, RSI 14, ATR 14, VWAP</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9</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Risk pehle: 1% rule aur position sizing</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1% rule, position sizing aur woh limits jo aapko game mein tikaaye rakhti hain</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10</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Aapka style, aur investing ka raasta</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Holding time ke hisaab se trading styles, paise ka sahi order, aur investing ka raasta</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70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11</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Strategy #1: EMA Pullback Swing</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EMA Pullback Swing: trend, pullback, strength, signal, entry, stop, size aur exit ke saaf rules</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90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12</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Paper trading ka pehla din aur AI trade journal</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Imaandaar paper trading: fills, gaps, costs R mein, journal aur adherence score</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13</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Strategy #2: Opening Range Breakout (optional)</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Opening Range Breakout: ek optional intraday strategy, rules mein likhi hui</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14</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Week 2 ka review aur Shortcut Trap #2: jab result bahut achha dikhe</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Process review, aur performance ke daawe padhna: backtests, paid groups, IPO offers</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08</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Kaam ke indicators, aur unki limits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Chaar chart tools aur unka lag: EMA 20/50, RSI 14, ATR 14, VWAP</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45536"/>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'Kab dhokha deta hai?' cards: AI draft kare, aap check karein</a:t>
            </a:r>
          </a:p>
        </p:txBody>
      </p:sp>
      <p:sp>
        <p:nvSpPr>
          <p:cNvPr id="14" name="Rounded Rectangle 13"/>
          <p:cNvSpPr/>
          <p:nvPr/>
        </p:nvSpPr>
        <p:spPr>
          <a:xfrm>
            <a:off x="4572000" y="3922776"/>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922776"/>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Indicator overload</a:t>
            </a:r>
          </a:p>
        </p:txBody>
      </p:sp>
      <p:sp>
        <p:nvSpPr>
          <p:cNvPr id="16" name="TextBox 15"/>
          <p:cNvSpPr txBox="1"/>
          <p:nvPr/>
        </p:nvSpPr>
        <p:spPr>
          <a:xfrm>
            <a:off x="4572000" y="4608576"/>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7" name="TextBox 16"/>
          <p:cNvSpPr txBox="1"/>
          <p:nvPr/>
        </p:nvSpPr>
        <p:spPr>
          <a:xfrm>
            <a:off x="4572000" y="4882896"/>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samjha payenge ki har indicator late kyun hota hai, EMA 20/50, RSI 14 aur ATR 14 (intraday par VWAP bhi) set kar payenge, bata payenge ki har tool kya naapta hai aur kab dhokha deta hai, AI ke banaye tool card ko model card se check kar payenge, aur RSI, true range, VWAP aur 1.5 x ATR stop ki doori haath se nikaal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Gyarah lines, ek hi raay</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raat. Hafte ki class call khatam ho chuki hai, lekin Aman mentor aur Priya se paanch minute aur rukne ko kehta hai aur apni laptop screen share karta hai. Chart par itni rang-birangi lines hain ki woh Diwali par saja hua ghar lag raha hai.</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mera naya setup dekhiye: gyarah indicators. Jab inmein se saat ek saath green ho jaate hain, main buy kar leta hoon. Zyada confirmation matlab kam risk, hai na?</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Lekin Aman, pichhle mahine tumne Kiran Foods usi din bech diya tha jis din uska RSI 70 ke paar gaya. Woh teen hafte aur chadhta raha.</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Gyarah lines, ek hi raay</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sabse pehle ek sawaal. Aapke gyarah indicators bane kis cheez se hain?</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price se hi, shayad. Saare ke saare. Par RSI 70 ke upar ka matlab overbought hi toh hota hai, na?</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Zyadatar wahi closing prices, gyarah tareekon se pakaaye hue. Saat green lines aksar ek hi raay hoti hai, bas saat baar dohraayi hui. Aur 'overbought' sirf ek label hai; Kiran Foods ne yeh aapko dikha hi diya. Aaj hum sirf chaar tools rakhenge, aur samjhenge ki har tool kya naapta hai, aur utna hi zaroori, ki woh kab dhokha deta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Zyada indicators se zyada jaankari nahi milti. Ek tool kya naapta hai aur kab fail hota hai, yeh jaanna chart ki das lines se zyada keemti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Har indicator late hota hai: SMA, EMA aur lag</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Indicator ek formula hai jo pichhle prices par, aur kabhi-kabhi volume par, lagaya jaata hai aur chart par line ki tarah dikhta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un prices se banta hai jo pehle hi trade ho chuke hain, isliye price hilne ke baad hi react karta hai; is deri ko lag kehte hain.</a:t>
            </a:r>
          </a:p>
          <a:p>
            <a:pPr algn="l" marL="274320" indent="-274320">
              <a:lnSpc>
                <a:spcPct val="100000"/>
              </a:lnSpc>
              <a:buClr>
                <a:srgbClr val="134A9A"/>
              </a:buClr>
              <a:buFont typeface="Arial"/>
              <a:buChar char="•"/>
            </a:pPr>
            <a:r>
              <a:rPr sz="1600" b="0" i="0">
                <a:solidFill>
                  <a:srgbClr val="18232F"/>
                </a:solidFill>
                <a:latin typeface="Segoe UI"/>
              </a:rPr>
              <a:t>Sabse simple indicator hai SMA (simple moving average)</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Kiran Foods Ltd ke closes hain Rs 100, 102, 104 aur 106, aur paanchve din price seedha Rs 118 par pahunch jaata hai. SMA 5 = (100 + 102 + 104 + 106 + 118) / 5 = Rs 530 / 5 = Rs 106. Price Rs 118 par hai, lekin average abhi bhi Rs 106 bata raha hai, yaani Rs 12 peeche. Inhi prices par EMA 5 thoda jaldi react karta, kyunki akele aaj ke close ka weight ek-tihaai hota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EMA 5: har din ka kitna weight</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SMA 5 pichhle paanch dinon mein se har din ko theek 20% deta hai aur purane dinon ko zero. EMA haal ke dinon ko zyada weight deta hai, lekin purane dinon ko poori tarah bhoolta nahi.</a:t>
            </a:r>
          </a:p>
        </p:txBody>
      </p:sp>
      <p:sp>
        <p:nvSpPr>
          <p:cNvPr id="11" name="TextBox 10"/>
          <p:cNvSpPr txBox="1"/>
          <p:nvPr/>
        </p:nvSpPr>
        <p:spPr>
          <a:xfrm>
            <a:off x="6397600" y="1796796"/>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Aaj</a:t>
            </a:r>
          </a:p>
        </p:txBody>
      </p:sp>
      <p:sp>
        <p:nvSpPr>
          <p:cNvPr id="12" name="Rounded Rectangle 11"/>
          <p:cNvSpPr/>
          <p:nvPr/>
        </p:nvSpPr>
        <p:spPr>
          <a:xfrm>
            <a:off x="7604608" y="1926717"/>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26717"/>
            <a:ext cx="3374578" cy="259842"/>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51968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33%</a:t>
            </a:r>
          </a:p>
        </p:txBody>
      </p:sp>
      <p:sp>
        <p:nvSpPr>
          <p:cNvPr id="15" name="TextBox 14"/>
          <p:cNvSpPr txBox="1"/>
          <p:nvPr/>
        </p:nvSpPr>
        <p:spPr>
          <a:xfrm>
            <a:off x="6397600" y="2316480"/>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din pehle</a:t>
            </a:r>
          </a:p>
        </p:txBody>
      </p:sp>
      <p:sp>
        <p:nvSpPr>
          <p:cNvPr id="16" name="Rounded Rectangle 15"/>
          <p:cNvSpPr/>
          <p:nvPr/>
        </p:nvSpPr>
        <p:spPr>
          <a:xfrm>
            <a:off x="7604608" y="2446401"/>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46401"/>
            <a:ext cx="2249719" cy="259842"/>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316480"/>
            <a:ext cx="508421" cy="51968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22%</a:t>
            </a:r>
          </a:p>
        </p:txBody>
      </p:sp>
      <p:sp>
        <p:nvSpPr>
          <p:cNvPr id="19" name="TextBox 18"/>
          <p:cNvSpPr txBox="1"/>
          <p:nvPr/>
        </p:nvSpPr>
        <p:spPr>
          <a:xfrm>
            <a:off x="6397600" y="2836164"/>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2 din pehle</a:t>
            </a:r>
          </a:p>
        </p:txBody>
      </p:sp>
      <p:sp>
        <p:nvSpPr>
          <p:cNvPr id="20" name="Rounded Rectangle 19"/>
          <p:cNvSpPr/>
          <p:nvPr/>
        </p:nvSpPr>
        <p:spPr>
          <a:xfrm>
            <a:off x="7604608" y="2966085"/>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2966085"/>
            <a:ext cx="1499813" cy="259842"/>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2836164"/>
            <a:ext cx="508421" cy="51968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15%</a:t>
            </a:r>
          </a:p>
        </p:txBody>
      </p:sp>
      <p:sp>
        <p:nvSpPr>
          <p:cNvPr id="23" name="TextBox 22"/>
          <p:cNvSpPr txBox="1"/>
          <p:nvPr/>
        </p:nvSpPr>
        <p:spPr>
          <a:xfrm>
            <a:off x="6397600" y="3355848"/>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3 din pehle</a:t>
            </a:r>
          </a:p>
        </p:txBody>
      </p:sp>
      <p:sp>
        <p:nvSpPr>
          <p:cNvPr id="24" name="Rounded Rectangle 23"/>
          <p:cNvSpPr/>
          <p:nvPr/>
        </p:nvSpPr>
        <p:spPr>
          <a:xfrm>
            <a:off x="7604608" y="3485769"/>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485769"/>
            <a:ext cx="1003253" cy="259842"/>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355848"/>
            <a:ext cx="508421" cy="51968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10%</a:t>
            </a:r>
          </a:p>
        </p:txBody>
      </p:sp>
      <p:sp>
        <p:nvSpPr>
          <p:cNvPr id="27" name="TextBox 26"/>
          <p:cNvSpPr txBox="1"/>
          <p:nvPr/>
        </p:nvSpPr>
        <p:spPr>
          <a:xfrm>
            <a:off x="6397600" y="3875532"/>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4 din pehle</a:t>
            </a:r>
          </a:p>
        </p:txBody>
      </p:sp>
      <p:sp>
        <p:nvSpPr>
          <p:cNvPr id="28" name="Rounded Rectangle 27"/>
          <p:cNvSpPr/>
          <p:nvPr/>
        </p:nvSpPr>
        <p:spPr>
          <a:xfrm>
            <a:off x="7604608" y="4005453"/>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005453"/>
            <a:ext cx="668835" cy="259842"/>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3875532"/>
            <a:ext cx="508421" cy="51968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7%</a:t>
            </a:r>
          </a:p>
        </p:txBody>
      </p:sp>
      <p:sp>
        <p:nvSpPr>
          <p:cNvPr id="31" name="TextBox 30"/>
          <p:cNvSpPr txBox="1"/>
          <p:nvPr/>
        </p:nvSpPr>
        <p:spPr>
          <a:xfrm>
            <a:off x="6397600" y="4395216"/>
            <a:ext cx="1097280" cy="51968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Purane din</a:t>
            </a:r>
          </a:p>
        </p:txBody>
      </p:sp>
      <p:sp>
        <p:nvSpPr>
          <p:cNvPr id="32" name="Rounded Rectangle 31"/>
          <p:cNvSpPr/>
          <p:nvPr/>
        </p:nvSpPr>
        <p:spPr>
          <a:xfrm>
            <a:off x="7604608" y="4525137"/>
            <a:ext cx="3374578" cy="25984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525137"/>
            <a:ext cx="1337671" cy="25984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070626" y="4395216"/>
            <a:ext cx="508421" cy="51968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13%</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7" name="TextBox 3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Har indicator past se bana hai. Woh bata sakta hai kya hua; aage kya hoga, yeh nahi.</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EMA 20 aur EMA 50: trend ka filter, buy ka button nahi</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Is course mein daily chart par EMA ka ek hi joda use hota hai: EMA 20 (lagbhag ek mahine ke trading days) aur EMA 50 (lagbhag dhai mahine).</a:t>
            </a:r>
          </a:p>
          <a:p>
            <a:pPr algn="l" marL="274320" indent="-274320">
              <a:lnSpc>
                <a:spcPct val="100000"/>
              </a:lnSpc>
              <a:spcAft>
                <a:spcPts val="800"/>
              </a:spcAft>
              <a:buClr>
                <a:srgbClr val="134A9A"/>
              </a:buClr>
              <a:buFont typeface="Arial"/>
              <a:buChar char="•"/>
            </a:pPr>
            <a:r>
              <a:rPr sz="1600" b="0" i="0">
                <a:solidFill>
                  <a:srgbClr val="18232F"/>
                </a:solidFill>
                <a:latin typeface="Segoe UI"/>
              </a:rPr>
              <a:t>Jab EMA 20, EMA 50 ke upar ho aur EMA 50 upar ki taraf badh raha ho, toh course trend ko up maanta hai aur paper par sirf buy wale setups dekhta hai.</a:t>
            </a:r>
          </a:p>
          <a:p>
            <a:pPr algn="l" marL="274320" indent="-274320">
              <a:lnSpc>
                <a:spcPct val="100000"/>
              </a:lnSpc>
              <a:buClr>
                <a:srgbClr val="134A9A"/>
              </a:buClr>
              <a:buFont typeface="Arial"/>
              <a:buChar char="•"/>
            </a:pPr>
            <a:r>
              <a:rPr sz="1600" b="0" i="0">
                <a:solidFill>
                  <a:srgbClr val="18232F"/>
                </a:solidFill>
                <a:latin typeface="Segoe UI"/>
              </a:rPr>
              <a:t>In dono mein se ek bhi shart toote, toh course door rehta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Neeche ka chart dekhiye. Jab tak trend chala, EMA 20, EMA 50 ke upar raha aur price dono ke upar. Phir price lagbhag Rs 191 aur Rs 210 ke beech sideways ho gaya, aur takreeban 30 sessions mein dono lines chaar baar cross hui. Har crossover par trade karta toh Aman range ke top ke paas khareedta aur bottom ke paas bechta, baar-baar. Flat EMA 50 aapke liye warning hai ki filter ab chup ho gaya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Pehle filter on, phir whipsaw</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Jab tak price trend mein tha, EMA 20, EMA 50 ke upar raha. Sideways hisse mein dono lines chaar baar cross hui, aur har cross ek jhootha alarm tha. Pehla cross trend khatam hone ke 13 sessions baad aaya: yahi lag hai.</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32669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Price</a:t>
            </a:r>
          </a:p>
        </p:txBody>
      </p:sp>
      <p:sp>
        <p:nvSpPr>
          <p:cNvPr id="14" name="Rectangle 13"/>
          <p:cNvSpPr/>
          <p:nvPr/>
        </p:nvSpPr>
        <p:spPr>
          <a:xfrm>
            <a:off x="7742363"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071547"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20</a:t>
            </a:r>
          </a:p>
        </p:txBody>
      </p:sp>
      <p:sp>
        <p:nvSpPr>
          <p:cNvPr id="16" name="Rectangle 15"/>
          <p:cNvSpPr/>
          <p:nvPr/>
        </p:nvSpPr>
        <p:spPr>
          <a:xfrm>
            <a:off x="8839706"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168890"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50</a:t>
            </a:r>
          </a:p>
        </p:txBody>
      </p:sp>
      <p:sp>
        <p:nvSpPr>
          <p:cNvPr id="18" name="TextBox 17"/>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(Rs)</a:t>
            </a:r>
          </a:p>
        </p:txBody>
      </p:sp>
      <p:cxnSp>
        <p:nvCxnSpPr>
          <p:cNvPr id="19" name="Connector 18"/>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188.8</a:t>
            </a:r>
          </a:p>
        </p:txBody>
      </p:sp>
      <p:cxnSp>
        <p:nvCxnSpPr>
          <p:cNvPr id="21" name="Connector 20"/>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196.5</a:t>
            </a:r>
          </a:p>
        </p:txBody>
      </p:sp>
      <p:cxnSp>
        <p:nvCxnSpPr>
          <p:cNvPr id="23" name="Connector 22"/>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204.2</a:t>
            </a:r>
          </a:p>
        </p:txBody>
      </p:sp>
      <p:cxnSp>
        <p:nvCxnSpPr>
          <p:cNvPr id="25" name="Connector 24"/>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211.8</a:t>
            </a:r>
          </a:p>
        </p:txBody>
      </p:sp>
      <p:cxnSp>
        <p:nvCxnSpPr>
          <p:cNvPr id="27" name="Connector 26"/>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219.5</a:t>
            </a:r>
          </a:p>
        </p:txBody>
      </p:sp>
      <p:cxnSp>
        <p:nvCxnSpPr>
          <p:cNvPr id="29" name="Connector 28"/>
          <p:cNvCxnSpPr/>
          <p:nvPr/>
        </p:nvCxnSpPr>
        <p:spPr>
          <a:xfrm>
            <a:off x="8077598"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23318" y="2290572"/>
            <a:ext cx="901064"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Trend khatam</a:t>
            </a:r>
          </a:p>
        </p:txBody>
      </p:sp>
      <p:cxnSp>
        <p:nvCxnSpPr>
          <p:cNvPr id="31" name="Connector 30"/>
          <p:cNvCxnSpPr/>
          <p:nvPr/>
        </p:nvCxnSpPr>
        <p:spPr>
          <a:xfrm>
            <a:off x="910576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51486" y="2290572"/>
            <a:ext cx="479421"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Cross 1</a:t>
            </a:r>
          </a:p>
        </p:txBody>
      </p:sp>
      <p:cxnSp>
        <p:nvCxnSpPr>
          <p:cNvPr id="33" name="Connector 32"/>
          <p:cNvCxnSpPr/>
          <p:nvPr/>
        </p:nvCxnSpPr>
        <p:spPr>
          <a:xfrm>
            <a:off x="981757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863295"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2</a:t>
            </a:r>
          </a:p>
        </p:txBody>
      </p:sp>
      <p:cxnSp>
        <p:nvCxnSpPr>
          <p:cNvPr id="35" name="Connector 34"/>
          <p:cNvCxnSpPr/>
          <p:nvPr/>
        </p:nvCxnSpPr>
        <p:spPr>
          <a:xfrm>
            <a:off x="1021302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58745"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3</a:t>
            </a:r>
          </a:p>
        </p:txBody>
      </p:sp>
      <p:cxnSp>
        <p:nvCxnSpPr>
          <p:cNvPr id="37" name="Connector 36"/>
          <p:cNvCxnSpPr/>
          <p:nvPr/>
        </p:nvCxnSpPr>
        <p:spPr>
          <a:xfrm>
            <a:off x="11162104"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207824"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4</a:t>
            </a:r>
          </a:p>
        </p:txBody>
      </p:sp>
      <p:sp>
        <p:nvSpPr>
          <p:cNvPr id="39" name="Freeform 38"/>
          <p:cNvSpPr/>
          <p:nvPr/>
        </p:nvSpPr>
        <p:spPr>
          <a:xfrm>
            <a:off x="6812159" y="2676512"/>
            <a:ext cx="4666304" cy="1852448"/>
          </a:xfrm>
          <a:custGeom>
            <a:avLst/>
            <a:gdLst/>
            <a:ahLst/>
            <a:cxnLst/>
            <a:rect l="l" t="t" r="r" b="b"/>
            <a:pathLst>
              <a:path w="4666304" h="1852448">
                <a:moveTo>
                  <a:pt x="0" y="1146421"/>
                </a:moveTo>
                <a:lnTo>
                  <a:pt x="79090" y="1027584"/>
                </a:lnTo>
                <a:lnTo>
                  <a:pt x="158180" y="915738"/>
                </a:lnTo>
                <a:lnTo>
                  <a:pt x="237270" y="831854"/>
                </a:lnTo>
                <a:lnTo>
                  <a:pt x="316360" y="768941"/>
                </a:lnTo>
                <a:lnTo>
                  <a:pt x="395450" y="733989"/>
                </a:lnTo>
                <a:lnTo>
                  <a:pt x="474540" y="713018"/>
                </a:lnTo>
                <a:lnTo>
                  <a:pt x="553630" y="692047"/>
                </a:lnTo>
                <a:lnTo>
                  <a:pt x="632720" y="664085"/>
                </a:lnTo>
                <a:lnTo>
                  <a:pt x="711809" y="622143"/>
                </a:lnTo>
                <a:lnTo>
                  <a:pt x="790899" y="545249"/>
                </a:lnTo>
                <a:lnTo>
                  <a:pt x="869989" y="454374"/>
                </a:lnTo>
                <a:lnTo>
                  <a:pt x="949079" y="335538"/>
                </a:lnTo>
                <a:lnTo>
                  <a:pt x="1028169" y="216701"/>
                </a:lnTo>
                <a:lnTo>
                  <a:pt x="1107259" y="97865"/>
                </a:lnTo>
                <a:lnTo>
                  <a:pt x="1186349" y="0"/>
                </a:lnTo>
                <a:lnTo>
                  <a:pt x="1265439" y="377480"/>
                </a:lnTo>
                <a:lnTo>
                  <a:pt x="1344529" y="503307"/>
                </a:lnTo>
                <a:lnTo>
                  <a:pt x="1423618" y="608162"/>
                </a:lnTo>
                <a:lnTo>
                  <a:pt x="1502708" y="775931"/>
                </a:lnTo>
                <a:lnTo>
                  <a:pt x="1581798" y="761950"/>
                </a:lnTo>
                <a:lnTo>
                  <a:pt x="1660888" y="678066"/>
                </a:lnTo>
                <a:lnTo>
                  <a:pt x="1739978" y="671075"/>
                </a:lnTo>
                <a:lnTo>
                  <a:pt x="1819068" y="859815"/>
                </a:lnTo>
                <a:lnTo>
                  <a:pt x="1898158" y="1174382"/>
                </a:lnTo>
                <a:lnTo>
                  <a:pt x="1977248" y="1419045"/>
                </a:lnTo>
                <a:lnTo>
                  <a:pt x="2056338" y="1509920"/>
                </a:lnTo>
                <a:lnTo>
                  <a:pt x="2135428" y="1565843"/>
                </a:lnTo>
                <a:lnTo>
                  <a:pt x="2214517" y="1691670"/>
                </a:lnTo>
                <a:lnTo>
                  <a:pt x="2293607" y="1831477"/>
                </a:lnTo>
                <a:lnTo>
                  <a:pt x="2372697" y="1817496"/>
                </a:lnTo>
                <a:lnTo>
                  <a:pt x="2451787" y="1593804"/>
                </a:lnTo>
                <a:lnTo>
                  <a:pt x="2530877" y="1321180"/>
                </a:lnTo>
                <a:lnTo>
                  <a:pt x="2609967" y="1153411"/>
                </a:lnTo>
                <a:lnTo>
                  <a:pt x="2689057" y="1076517"/>
                </a:lnTo>
                <a:lnTo>
                  <a:pt x="2768147" y="936710"/>
                </a:lnTo>
                <a:lnTo>
                  <a:pt x="2847237" y="713018"/>
                </a:lnTo>
                <a:lnTo>
                  <a:pt x="2926326" y="559230"/>
                </a:lnTo>
                <a:lnTo>
                  <a:pt x="3005416" y="615152"/>
                </a:lnTo>
                <a:lnTo>
                  <a:pt x="3084506" y="831854"/>
                </a:lnTo>
                <a:lnTo>
                  <a:pt x="3163596" y="1020594"/>
                </a:lnTo>
                <a:lnTo>
                  <a:pt x="3242686" y="1111469"/>
                </a:lnTo>
                <a:lnTo>
                  <a:pt x="3321776" y="1216324"/>
                </a:lnTo>
                <a:lnTo>
                  <a:pt x="3400866" y="1447007"/>
                </a:lnTo>
                <a:lnTo>
                  <a:pt x="3479956" y="1726621"/>
                </a:lnTo>
                <a:lnTo>
                  <a:pt x="3559046" y="1852448"/>
                </a:lnTo>
                <a:lnTo>
                  <a:pt x="3638136" y="1775554"/>
                </a:lnTo>
                <a:lnTo>
                  <a:pt x="3717225" y="1614776"/>
                </a:lnTo>
                <a:lnTo>
                  <a:pt x="3796315" y="1530891"/>
                </a:lnTo>
                <a:lnTo>
                  <a:pt x="3875405" y="1481958"/>
                </a:lnTo>
                <a:lnTo>
                  <a:pt x="3954495" y="1314190"/>
                </a:lnTo>
                <a:lnTo>
                  <a:pt x="4033585" y="1013604"/>
                </a:lnTo>
                <a:lnTo>
                  <a:pt x="4112675" y="740979"/>
                </a:lnTo>
                <a:lnTo>
                  <a:pt x="4191765" y="657095"/>
                </a:lnTo>
                <a:lnTo>
                  <a:pt x="4270855" y="720008"/>
                </a:lnTo>
                <a:lnTo>
                  <a:pt x="4349945" y="775931"/>
                </a:lnTo>
                <a:lnTo>
                  <a:pt x="4429035" y="768941"/>
                </a:lnTo>
                <a:lnTo>
                  <a:pt x="4508124" y="824864"/>
                </a:lnTo>
                <a:lnTo>
                  <a:pt x="4587214" y="1048555"/>
                </a:lnTo>
                <a:lnTo>
                  <a:pt x="4666304" y="1384093"/>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6812159" y="3277684"/>
            <a:ext cx="4666304" cy="726998"/>
          </a:xfrm>
          <a:custGeom>
            <a:avLst/>
            <a:gdLst/>
            <a:ahLst/>
            <a:cxnLst/>
            <a:rect l="l" t="t" r="r" b="b"/>
            <a:pathLst>
              <a:path w="4666304" h="726998">
                <a:moveTo>
                  <a:pt x="0" y="685056"/>
                </a:moveTo>
                <a:lnTo>
                  <a:pt x="79090" y="657095"/>
                </a:lnTo>
                <a:lnTo>
                  <a:pt x="158180" y="629133"/>
                </a:lnTo>
                <a:lnTo>
                  <a:pt x="237270" y="587191"/>
                </a:lnTo>
                <a:lnTo>
                  <a:pt x="316360" y="552239"/>
                </a:lnTo>
                <a:lnTo>
                  <a:pt x="395450" y="510297"/>
                </a:lnTo>
                <a:lnTo>
                  <a:pt x="474540" y="468355"/>
                </a:lnTo>
                <a:lnTo>
                  <a:pt x="553630" y="433403"/>
                </a:lnTo>
                <a:lnTo>
                  <a:pt x="632720" y="398451"/>
                </a:lnTo>
                <a:lnTo>
                  <a:pt x="711809" y="363499"/>
                </a:lnTo>
                <a:lnTo>
                  <a:pt x="790899" y="321557"/>
                </a:lnTo>
                <a:lnTo>
                  <a:pt x="869989" y="279615"/>
                </a:lnTo>
                <a:lnTo>
                  <a:pt x="949079" y="223692"/>
                </a:lnTo>
                <a:lnTo>
                  <a:pt x="1028169" y="167769"/>
                </a:lnTo>
                <a:lnTo>
                  <a:pt x="1107259" y="104855"/>
                </a:lnTo>
                <a:lnTo>
                  <a:pt x="1186349" y="34952"/>
                </a:lnTo>
                <a:lnTo>
                  <a:pt x="1265439" y="13980"/>
                </a:lnTo>
                <a:lnTo>
                  <a:pt x="1344529" y="0"/>
                </a:lnTo>
                <a:lnTo>
                  <a:pt x="1423618" y="0"/>
                </a:lnTo>
                <a:lnTo>
                  <a:pt x="1502708" y="20971"/>
                </a:lnTo>
                <a:lnTo>
                  <a:pt x="1581798" y="34952"/>
                </a:lnTo>
                <a:lnTo>
                  <a:pt x="1660888" y="34952"/>
                </a:lnTo>
                <a:lnTo>
                  <a:pt x="1739978" y="41942"/>
                </a:lnTo>
                <a:lnTo>
                  <a:pt x="1819068" y="62913"/>
                </a:lnTo>
                <a:lnTo>
                  <a:pt x="1898158" y="111846"/>
                </a:lnTo>
                <a:lnTo>
                  <a:pt x="1977248" y="174759"/>
                </a:lnTo>
                <a:lnTo>
                  <a:pt x="2056338" y="244663"/>
                </a:lnTo>
                <a:lnTo>
                  <a:pt x="2135428" y="314566"/>
                </a:lnTo>
                <a:lnTo>
                  <a:pt x="2214517" y="391461"/>
                </a:lnTo>
                <a:lnTo>
                  <a:pt x="2293607" y="468355"/>
                </a:lnTo>
                <a:lnTo>
                  <a:pt x="2372697" y="538258"/>
                </a:lnTo>
                <a:lnTo>
                  <a:pt x="2451787" y="580201"/>
                </a:lnTo>
                <a:lnTo>
                  <a:pt x="2530877" y="594181"/>
                </a:lnTo>
                <a:lnTo>
                  <a:pt x="2609967" y="594181"/>
                </a:lnTo>
                <a:lnTo>
                  <a:pt x="2689057" y="580201"/>
                </a:lnTo>
                <a:lnTo>
                  <a:pt x="2768147" y="559229"/>
                </a:lnTo>
                <a:lnTo>
                  <a:pt x="2847237" y="517287"/>
                </a:lnTo>
                <a:lnTo>
                  <a:pt x="2926326" y="461364"/>
                </a:lnTo>
                <a:lnTo>
                  <a:pt x="3005416" y="419422"/>
                </a:lnTo>
                <a:lnTo>
                  <a:pt x="3084506" y="398451"/>
                </a:lnTo>
                <a:lnTo>
                  <a:pt x="3163596" y="405441"/>
                </a:lnTo>
                <a:lnTo>
                  <a:pt x="3242686" y="412432"/>
                </a:lnTo>
                <a:lnTo>
                  <a:pt x="3321776" y="433403"/>
                </a:lnTo>
                <a:lnTo>
                  <a:pt x="3400866" y="475345"/>
                </a:lnTo>
                <a:lnTo>
                  <a:pt x="3479956" y="538258"/>
                </a:lnTo>
                <a:lnTo>
                  <a:pt x="3559046" y="601172"/>
                </a:lnTo>
                <a:lnTo>
                  <a:pt x="3638136" y="657095"/>
                </a:lnTo>
                <a:lnTo>
                  <a:pt x="3717225" y="692046"/>
                </a:lnTo>
                <a:lnTo>
                  <a:pt x="3796315" y="713018"/>
                </a:lnTo>
                <a:lnTo>
                  <a:pt x="3875405" y="726998"/>
                </a:lnTo>
                <a:lnTo>
                  <a:pt x="3954495" y="726998"/>
                </a:lnTo>
                <a:lnTo>
                  <a:pt x="4033585" y="699037"/>
                </a:lnTo>
                <a:lnTo>
                  <a:pt x="4112675" y="643114"/>
                </a:lnTo>
                <a:lnTo>
                  <a:pt x="4191765" y="587191"/>
                </a:lnTo>
                <a:lnTo>
                  <a:pt x="4270855" y="545249"/>
                </a:lnTo>
                <a:lnTo>
                  <a:pt x="4349945" y="510297"/>
                </a:lnTo>
                <a:lnTo>
                  <a:pt x="4429035" y="475345"/>
                </a:lnTo>
                <a:lnTo>
                  <a:pt x="4508124" y="454374"/>
                </a:lnTo>
                <a:lnTo>
                  <a:pt x="4587214" y="454374"/>
                </a:lnTo>
                <a:lnTo>
                  <a:pt x="4666304" y="482335"/>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6812159" y="3585260"/>
            <a:ext cx="4666304" cy="489326"/>
          </a:xfrm>
          <a:custGeom>
            <a:avLst/>
            <a:gdLst/>
            <a:ahLst/>
            <a:cxnLst/>
            <a:rect l="l" t="t" r="r" b="b"/>
            <a:pathLst>
              <a:path w="4666304" h="489326">
                <a:moveTo>
                  <a:pt x="0" y="489326"/>
                </a:moveTo>
                <a:lnTo>
                  <a:pt x="79090" y="475345"/>
                </a:lnTo>
                <a:lnTo>
                  <a:pt x="158180" y="454374"/>
                </a:lnTo>
                <a:lnTo>
                  <a:pt x="237270" y="433403"/>
                </a:lnTo>
                <a:lnTo>
                  <a:pt x="316360" y="412432"/>
                </a:lnTo>
                <a:lnTo>
                  <a:pt x="395450" y="391461"/>
                </a:lnTo>
                <a:lnTo>
                  <a:pt x="474540" y="370490"/>
                </a:lnTo>
                <a:lnTo>
                  <a:pt x="553630" y="342528"/>
                </a:lnTo>
                <a:lnTo>
                  <a:pt x="632720" y="321557"/>
                </a:lnTo>
                <a:lnTo>
                  <a:pt x="711809" y="300586"/>
                </a:lnTo>
                <a:lnTo>
                  <a:pt x="790899" y="272625"/>
                </a:lnTo>
                <a:lnTo>
                  <a:pt x="869989" y="244663"/>
                </a:lnTo>
                <a:lnTo>
                  <a:pt x="949079" y="209711"/>
                </a:lnTo>
                <a:lnTo>
                  <a:pt x="1028169" y="174759"/>
                </a:lnTo>
                <a:lnTo>
                  <a:pt x="1107259" y="139807"/>
                </a:lnTo>
                <a:lnTo>
                  <a:pt x="1186349" y="97865"/>
                </a:lnTo>
                <a:lnTo>
                  <a:pt x="1265439" y="69904"/>
                </a:lnTo>
                <a:lnTo>
                  <a:pt x="1344529" y="55923"/>
                </a:lnTo>
                <a:lnTo>
                  <a:pt x="1423618" y="41942"/>
                </a:lnTo>
                <a:lnTo>
                  <a:pt x="1502708" y="34952"/>
                </a:lnTo>
                <a:lnTo>
                  <a:pt x="1581798" y="27962"/>
                </a:lnTo>
                <a:lnTo>
                  <a:pt x="1660888" y="13981"/>
                </a:lnTo>
                <a:lnTo>
                  <a:pt x="1739978" y="6990"/>
                </a:lnTo>
                <a:lnTo>
                  <a:pt x="1819068" y="0"/>
                </a:lnTo>
                <a:lnTo>
                  <a:pt x="1898158" y="13981"/>
                </a:lnTo>
                <a:lnTo>
                  <a:pt x="1977248" y="34952"/>
                </a:lnTo>
                <a:lnTo>
                  <a:pt x="2056338" y="55923"/>
                </a:lnTo>
                <a:lnTo>
                  <a:pt x="2135428" y="76894"/>
                </a:lnTo>
                <a:lnTo>
                  <a:pt x="2214517" y="104856"/>
                </a:lnTo>
                <a:lnTo>
                  <a:pt x="2293607" y="139807"/>
                </a:lnTo>
                <a:lnTo>
                  <a:pt x="2372697" y="167769"/>
                </a:lnTo>
                <a:lnTo>
                  <a:pt x="2451787" y="188740"/>
                </a:lnTo>
                <a:lnTo>
                  <a:pt x="2530877" y="195730"/>
                </a:lnTo>
                <a:lnTo>
                  <a:pt x="2609967" y="202721"/>
                </a:lnTo>
                <a:lnTo>
                  <a:pt x="2689057" y="195730"/>
                </a:lnTo>
                <a:lnTo>
                  <a:pt x="2768147" y="188740"/>
                </a:lnTo>
                <a:lnTo>
                  <a:pt x="2847237" y="174759"/>
                </a:lnTo>
                <a:lnTo>
                  <a:pt x="2926326" y="153788"/>
                </a:lnTo>
                <a:lnTo>
                  <a:pt x="3005416" y="139807"/>
                </a:lnTo>
                <a:lnTo>
                  <a:pt x="3084506" y="132817"/>
                </a:lnTo>
                <a:lnTo>
                  <a:pt x="3163596" y="132817"/>
                </a:lnTo>
                <a:lnTo>
                  <a:pt x="3242686" y="132817"/>
                </a:lnTo>
                <a:lnTo>
                  <a:pt x="3321776" y="139807"/>
                </a:lnTo>
                <a:lnTo>
                  <a:pt x="3400866" y="153788"/>
                </a:lnTo>
                <a:lnTo>
                  <a:pt x="3479956" y="181750"/>
                </a:lnTo>
                <a:lnTo>
                  <a:pt x="3559046" y="209711"/>
                </a:lnTo>
                <a:lnTo>
                  <a:pt x="3638136" y="237673"/>
                </a:lnTo>
                <a:lnTo>
                  <a:pt x="3717225" y="251653"/>
                </a:lnTo>
                <a:lnTo>
                  <a:pt x="3796315" y="272625"/>
                </a:lnTo>
                <a:lnTo>
                  <a:pt x="3875405" y="279615"/>
                </a:lnTo>
                <a:lnTo>
                  <a:pt x="3954495" y="286605"/>
                </a:lnTo>
                <a:lnTo>
                  <a:pt x="4033585" y="279615"/>
                </a:lnTo>
                <a:lnTo>
                  <a:pt x="4112675" y="258644"/>
                </a:lnTo>
                <a:lnTo>
                  <a:pt x="4191765" y="244663"/>
                </a:lnTo>
                <a:lnTo>
                  <a:pt x="4270855" y="223692"/>
                </a:lnTo>
                <a:lnTo>
                  <a:pt x="4349945" y="209711"/>
                </a:lnTo>
                <a:lnTo>
                  <a:pt x="4429035" y="195730"/>
                </a:lnTo>
                <a:lnTo>
                  <a:pt x="4508124" y="188740"/>
                </a:lnTo>
                <a:lnTo>
                  <a:pt x="4587214" y="181750"/>
                </a:lnTo>
                <a:lnTo>
                  <a:pt x="4666304" y="19573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43" name="Rounded Rectangle 4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ounded Rectangle 4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5" name="TextBox 4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EMA 20 upar ho aur EMA 50 chadh raha ho, toh pata chalta hai kis taraf dekhna hai. Entry kab leni hai, yeh kabhi nahi batata.</a:t>
            </a:r>
          </a:p>
        </p:txBody>
      </p:sp>
      <p:pic>
        <p:nvPicPr>
          <p:cNvPr id="46" name="Picture 45" descr="logo.png"/>
          <p:cNvPicPr>
            <a:picLocks noChangeAspect="1"/>
          </p:cNvPicPr>
          <p:nvPr/>
        </p:nvPicPr>
        <p:blipFill>
          <a:blip r:embed="rId2"/>
          <a:stretch>
            <a:fillRect/>
          </a:stretch>
        </p:blipFill>
        <p:spPr>
          <a:xfrm>
            <a:off x="457200" y="6437376"/>
            <a:ext cx="237744" cy="237744"/>
          </a:xfrm>
          <a:prstGeom prst="rect">
            <a:avLst/>
          </a:prstGeom>
        </p:spPr>
      </p:pic>
      <p:sp>
        <p:nvSpPr>
          <p:cNvPr id="4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8" name="TextBox 4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RSI 14: speedometer hai, sell signal nahi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RSI (Relative Strength Index) momentum naapta hai, yaani price kitni taaqat se chal raha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70 ke upar ko aksar overbought aur 30 ke neeche ko oversold kehte hain, lekin yeh sirf naam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Overbought apne aap mein sell signal nahi hai.</a:t>
            </a:r>
          </a:p>
          <a:p>
            <a:pPr algn="l" marL="274320" indent="-274320">
              <a:lnSpc>
                <a:spcPct val="100000"/>
              </a:lnSpc>
              <a:buClr>
                <a:srgbClr val="134A9A"/>
              </a:buClr>
              <a:buFont typeface="Arial"/>
              <a:buChar char="•"/>
            </a:pPr>
            <a:r>
              <a:rPr sz="1600" b="0" i="0">
                <a:solidFill>
                  <a:srgbClr val="18232F"/>
                </a:solidFill>
                <a:latin typeface="Segoe UI"/>
              </a:rPr>
              <a:t>Mote taur par, uptrend mein RSI lagbhag 40 se 80 ke beech jhoolta hai, aur downtrend mein lagbhag 20 se 60 ke beech.</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Pichhle 14 dinon mein Kiran Foods Ltd 9 din chadha, kul Rs 36, aur 5 din gira, kul Rs 12. Dono totals ko 14 se divide karte hain, isliye 14 cancel ho jaata hai: gain aur loss ka ratio = 36 ÷ 12 = 3, aur RSI = 100 - 100 ÷ (1 + 3) = 100 - 25 = 75. (Kitabon mein is ratio ko RS kehte hain; yeh Day 11 wali NIFTY 50 ke muqable relative strength nahi hai. … Aman ne RSI 70 par bech kar speedometer ki reading ko stop sign samajh liya tha; neeche ka chart wahi sauda dobara dikhata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RSI 70 ke upar, price phir bhi chadhta raha</a:t>
            </a:r>
          </a:p>
        </p:txBody>
      </p:sp>
      <p:sp>
        <p:nvSpPr>
          <p:cNvPr id="11" name="TextBox 10"/>
          <p:cNvSpPr txBox="1"/>
          <p:nvPr/>
        </p:nvSpPr>
        <p:spPr>
          <a:xfrm>
            <a:off x="6397600" y="4762500"/>
            <a:ext cx="5154016" cy="74218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Aman ke Kiran Foods Ltd wale saude ka misaal ke liye banaya roop. Price ko badle hue scale par dikhaya gaya hai taaki woh RSI ke saath ek hi chart mein aa jaaye; iska shape dekhiye, rupaye ka level nahi. Jis din usne becha, us din RSI 14, 70 ke upar close hua aur lagbhag chaar hafte 70 ke upar hi raha; unmein se teen hafte price chadhta raha, lagbhag 8% upar. 'Overbought' ek label tha, top nahi.</a:t>
            </a:r>
          </a:p>
        </p:txBody>
      </p:sp>
      <p:sp>
        <p:nvSpPr>
          <p:cNvPr id="12" name="Rectangle 11"/>
          <p:cNvSpPr/>
          <p:nvPr/>
        </p:nvSpPr>
        <p:spPr>
          <a:xfrm>
            <a:off x="6747008"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076192" y="1796796"/>
            <a:ext cx="32669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Price</a:t>
            </a:r>
          </a:p>
        </p:txBody>
      </p:sp>
      <p:sp>
        <p:nvSpPr>
          <p:cNvPr id="14" name="Rectangle 13"/>
          <p:cNvSpPr/>
          <p:nvPr/>
        </p:nvSpPr>
        <p:spPr>
          <a:xfrm>
            <a:off x="7677212"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006396" y="1796796"/>
            <a:ext cx="40763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RSI 14</a:t>
            </a:r>
          </a:p>
        </p:txBody>
      </p:sp>
      <p:sp>
        <p:nvSpPr>
          <p:cNvPr id="16" name="Rectangle 15"/>
          <p:cNvSpPr/>
          <p:nvPr/>
        </p:nvSpPr>
        <p:spPr>
          <a:xfrm>
            <a:off x="8688353"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017537" y="1796796"/>
            <a:ext cx="783373"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RSI 70 ki line</a:t>
            </a:r>
          </a:p>
        </p:txBody>
      </p:sp>
      <p:sp>
        <p:nvSpPr>
          <p:cNvPr id="18" name="TextBox 17"/>
          <p:cNvSpPr txBox="1"/>
          <p:nvPr/>
        </p:nvSpPr>
        <p:spPr>
          <a:xfrm>
            <a:off x="6397600" y="2071116"/>
            <a:ext cx="263540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(scaled) / RSI</a:t>
            </a:r>
          </a:p>
        </p:txBody>
      </p:sp>
      <p:cxnSp>
        <p:nvCxnSpPr>
          <p:cNvPr id="19" name="Connector 18"/>
          <p:cNvCxnSpPr/>
          <p:nvPr/>
        </p:nvCxnSpPr>
        <p:spPr>
          <a:xfrm>
            <a:off x="6747008" y="443331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35102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50.7</a:t>
            </a:r>
          </a:p>
        </p:txBody>
      </p:sp>
      <p:cxnSp>
        <p:nvCxnSpPr>
          <p:cNvPr id="21" name="Connector 20"/>
          <p:cNvCxnSpPr/>
          <p:nvPr/>
        </p:nvCxnSpPr>
        <p:spPr>
          <a:xfrm>
            <a:off x="6747008" y="395706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87477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62.9</a:t>
            </a:r>
          </a:p>
        </p:txBody>
      </p:sp>
      <p:cxnSp>
        <p:nvCxnSpPr>
          <p:cNvPr id="23" name="Connector 22"/>
          <p:cNvCxnSpPr/>
          <p:nvPr/>
        </p:nvCxnSpPr>
        <p:spPr>
          <a:xfrm>
            <a:off x="6747008" y="348081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39852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75.2</a:t>
            </a:r>
          </a:p>
        </p:txBody>
      </p:sp>
      <p:cxnSp>
        <p:nvCxnSpPr>
          <p:cNvPr id="25" name="Connector 24"/>
          <p:cNvCxnSpPr/>
          <p:nvPr/>
        </p:nvCxnSpPr>
        <p:spPr>
          <a:xfrm>
            <a:off x="6747008" y="300456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2227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87.4</a:t>
            </a:r>
          </a:p>
        </p:txBody>
      </p:sp>
      <p:cxnSp>
        <p:nvCxnSpPr>
          <p:cNvPr id="27" name="Connector 26"/>
          <p:cNvCxnSpPr/>
          <p:nvPr/>
        </p:nvCxnSpPr>
        <p:spPr>
          <a:xfrm>
            <a:off x="6747008" y="252831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99.6</a:t>
            </a:r>
          </a:p>
        </p:txBody>
      </p:sp>
      <p:cxnSp>
        <p:nvCxnSpPr>
          <p:cNvPr id="29" name="Connector 28"/>
          <p:cNvCxnSpPr/>
          <p:nvPr/>
        </p:nvCxnSpPr>
        <p:spPr>
          <a:xfrm>
            <a:off x="8138613" y="2382012"/>
            <a:ext cx="0" cy="205130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84333" y="2290572"/>
            <a:ext cx="989405"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Aman ne becha</a:t>
            </a:r>
          </a:p>
        </p:txBody>
      </p:sp>
      <p:cxnSp>
        <p:nvCxnSpPr>
          <p:cNvPr id="31" name="Connector 30"/>
          <p:cNvCxnSpPr/>
          <p:nvPr/>
        </p:nvCxnSpPr>
        <p:spPr>
          <a:xfrm>
            <a:off x="10226019" y="2382012"/>
            <a:ext cx="0" cy="205130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271739" y="2290572"/>
            <a:ext cx="813063"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3 hafte baad</a:t>
            </a:r>
          </a:p>
        </p:txBody>
      </p:sp>
      <p:sp>
        <p:nvSpPr>
          <p:cNvPr id="33" name="Freeform 32"/>
          <p:cNvSpPr/>
          <p:nvPr/>
        </p:nvSpPr>
        <p:spPr>
          <a:xfrm>
            <a:off x="6747008" y="2659695"/>
            <a:ext cx="4731455" cy="475899"/>
          </a:xfrm>
          <a:custGeom>
            <a:avLst/>
            <a:gdLst/>
            <a:ahLst/>
            <a:cxnLst/>
            <a:rect l="l" t="t" r="r" b="b"/>
            <a:pathLst>
              <a:path w="4731455" h="475899">
                <a:moveTo>
                  <a:pt x="0" y="475899"/>
                </a:moveTo>
                <a:lnTo>
                  <a:pt x="139161" y="448594"/>
                </a:lnTo>
                <a:lnTo>
                  <a:pt x="278321" y="468098"/>
                </a:lnTo>
                <a:lnTo>
                  <a:pt x="417482" y="436891"/>
                </a:lnTo>
                <a:lnTo>
                  <a:pt x="556642" y="417387"/>
                </a:lnTo>
                <a:lnTo>
                  <a:pt x="695803" y="432990"/>
                </a:lnTo>
                <a:lnTo>
                  <a:pt x="834963" y="393982"/>
                </a:lnTo>
                <a:lnTo>
                  <a:pt x="974123" y="362776"/>
                </a:lnTo>
                <a:lnTo>
                  <a:pt x="1113284" y="370577"/>
                </a:lnTo>
                <a:lnTo>
                  <a:pt x="1252444" y="323768"/>
                </a:lnTo>
                <a:lnTo>
                  <a:pt x="1391605" y="280859"/>
                </a:lnTo>
                <a:lnTo>
                  <a:pt x="1530765" y="249652"/>
                </a:lnTo>
                <a:lnTo>
                  <a:pt x="1669926" y="269156"/>
                </a:lnTo>
                <a:lnTo>
                  <a:pt x="1809086" y="230148"/>
                </a:lnTo>
                <a:lnTo>
                  <a:pt x="1948246" y="198942"/>
                </a:lnTo>
                <a:lnTo>
                  <a:pt x="2087407" y="218446"/>
                </a:lnTo>
                <a:lnTo>
                  <a:pt x="2226567" y="183338"/>
                </a:lnTo>
                <a:lnTo>
                  <a:pt x="2365728" y="152132"/>
                </a:lnTo>
                <a:lnTo>
                  <a:pt x="2504888" y="124826"/>
                </a:lnTo>
                <a:lnTo>
                  <a:pt x="2644049" y="144330"/>
                </a:lnTo>
                <a:lnTo>
                  <a:pt x="2783209" y="105322"/>
                </a:lnTo>
                <a:lnTo>
                  <a:pt x="2922370" y="74116"/>
                </a:lnTo>
                <a:lnTo>
                  <a:pt x="3061530" y="93620"/>
                </a:lnTo>
                <a:lnTo>
                  <a:pt x="3200690" y="58512"/>
                </a:lnTo>
                <a:lnTo>
                  <a:pt x="3339851" y="31207"/>
                </a:lnTo>
                <a:lnTo>
                  <a:pt x="3479011" y="0"/>
                </a:lnTo>
                <a:lnTo>
                  <a:pt x="3618172" y="27306"/>
                </a:lnTo>
                <a:lnTo>
                  <a:pt x="3757332" y="19504"/>
                </a:lnTo>
                <a:lnTo>
                  <a:pt x="3896493" y="39008"/>
                </a:lnTo>
                <a:lnTo>
                  <a:pt x="4035653" y="70215"/>
                </a:lnTo>
                <a:lnTo>
                  <a:pt x="4174813" y="93620"/>
                </a:lnTo>
                <a:lnTo>
                  <a:pt x="4313974" y="81917"/>
                </a:lnTo>
                <a:lnTo>
                  <a:pt x="4453134" y="113124"/>
                </a:lnTo>
                <a:lnTo>
                  <a:pt x="4592295" y="105322"/>
                </a:lnTo>
                <a:lnTo>
                  <a:pt x="4731455" y="93620"/>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747008" y="3276023"/>
            <a:ext cx="4731455" cy="1025914"/>
          </a:xfrm>
          <a:custGeom>
            <a:avLst/>
            <a:gdLst/>
            <a:ahLst/>
            <a:cxnLst/>
            <a:rect l="l" t="t" r="r" b="b"/>
            <a:pathLst>
              <a:path w="4731455" h="1025914">
                <a:moveTo>
                  <a:pt x="0" y="1025914"/>
                </a:moveTo>
                <a:lnTo>
                  <a:pt x="139161" y="877683"/>
                </a:lnTo>
                <a:lnTo>
                  <a:pt x="278321" y="1014211"/>
                </a:lnTo>
                <a:lnTo>
                  <a:pt x="417482" y="846476"/>
                </a:lnTo>
                <a:lnTo>
                  <a:pt x="556642" y="748956"/>
                </a:lnTo>
                <a:lnTo>
                  <a:pt x="695803" y="865980"/>
                </a:lnTo>
                <a:lnTo>
                  <a:pt x="834963" y="678742"/>
                </a:lnTo>
                <a:lnTo>
                  <a:pt x="974123" y="546114"/>
                </a:lnTo>
                <a:lnTo>
                  <a:pt x="1113284" y="608527"/>
                </a:lnTo>
                <a:lnTo>
                  <a:pt x="1252444" y="425189"/>
                </a:lnTo>
                <a:lnTo>
                  <a:pt x="1391605" y="288660"/>
                </a:lnTo>
                <a:lnTo>
                  <a:pt x="1530765" y="198942"/>
                </a:lnTo>
                <a:lnTo>
                  <a:pt x="1669926" y="354974"/>
                </a:lnTo>
                <a:lnTo>
                  <a:pt x="1809086" y="241851"/>
                </a:lnTo>
                <a:lnTo>
                  <a:pt x="1948246" y="159934"/>
                </a:lnTo>
                <a:lnTo>
                  <a:pt x="2087407" y="312065"/>
                </a:lnTo>
                <a:lnTo>
                  <a:pt x="2226567" y="214545"/>
                </a:lnTo>
                <a:lnTo>
                  <a:pt x="2365728" y="136529"/>
                </a:lnTo>
                <a:lnTo>
                  <a:pt x="2504888" y="74116"/>
                </a:lnTo>
                <a:lnTo>
                  <a:pt x="2644049" y="230148"/>
                </a:lnTo>
                <a:lnTo>
                  <a:pt x="2783209" y="132628"/>
                </a:lnTo>
                <a:lnTo>
                  <a:pt x="2922370" y="58513"/>
                </a:lnTo>
                <a:lnTo>
                  <a:pt x="3061530" y="214545"/>
                </a:lnTo>
                <a:lnTo>
                  <a:pt x="3200690" y="128727"/>
                </a:lnTo>
                <a:lnTo>
                  <a:pt x="3339851" y="66314"/>
                </a:lnTo>
                <a:lnTo>
                  <a:pt x="3479011" y="0"/>
                </a:lnTo>
                <a:lnTo>
                  <a:pt x="3618172" y="218446"/>
                </a:lnTo>
                <a:lnTo>
                  <a:pt x="3757332" y="195041"/>
                </a:lnTo>
                <a:lnTo>
                  <a:pt x="3896493" y="354974"/>
                </a:lnTo>
                <a:lnTo>
                  <a:pt x="4035653" y="585122"/>
                </a:lnTo>
                <a:lnTo>
                  <a:pt x="4174813" y="748956"/>
                </a:lnTo>
                <a:lnTo>
                  <a:pt x="4313974" y="698246"/>
                </a:lnTo>
                <a:lnTo>
                  <a:pt x="4453134" y="908889"/>
                </a:lnTo>
                <a:lnTo>
                  <a:pt x="4592295" y="869881"/>
                </a:lnTo>
                <a:lnTo>
                  <a:pt x="4731455" y="81527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747008" y="3681708"/>
            <a:ext cx="4731455" cy="0"/>
          </a:xfrm>
          <a:custGeom>
            <a:avLst/>
            <a:gdLst/>
            <a:ahLst/>
            <a:cxnLst/>
            <a:rect l="l" t="t" r="r" b="b"/>
            <a:pathLst>
              <a:path w="4731455" h="0">
                <a:moveTo>
                  <a:pt x="0" y="0"/>
                </a:moveTo>
                <a:lnTo>
                  <a:pt x="139161" y="0"/>
                </a:lnTo>
                <a:lnTo>
                  <a:pt x="278321" y="0"/>
                </a:lnTo>
                <a:lnTo>
                  <a:pt x="417482" y="0"/>
                </a:lnTo>
                <a:lnTo>
                  <a:pt x="556642" y="0"/>
                </a:lnTo>
                <a:lnTo>
                  <a:pt x="695803" y="0"/>
                </a:lnTo>
                <a:lnTo>
                  <a:pt x="834963" y="0"/>
                </a:lnTo>
                <a:lnTo>
                  <a:pt x="974123" y="0"/>
                </a:lnTo>
                <a:lnTo>
                  <a:pt x="1113284" y="0"/>
                </a:lnTo>
                <a:lnTo>
                  <a:pt x="1252444" y="0"/>
                </a:lnTo>
                <a:lnTo>
                  <a:pt x="1391605" y="0"/>
                </a:lnTo>
                <a:lnTo>
                  <a:pt x="1530765" y="0"/>
                </a:lnTo>
                <a:lnTo>
                  <a:pt x="1669926" y="0"/>
                </a:lnTo>
                <a:lnTo>
                  <a:pt x="1809086" y="0"/>
                </a:lnTo>
                <a:lnTo>
                  <a:pt x="1948246" y="0"/>
                </a:lnTo>
                <a:lnTo>
                  <a:pt x="2087407" y="0"/>
                </a:lnTo>
                <a:lnTo>
                  <a:pt x="2226567" y="0"/>
                </a:lnTo>
                <a:lnTo>
                  <a:pt x="2365728" y="0"/>
                </a:lnTo>
                <a:lnTo>
                  <a:pt x="2504888" y="0"/>
                </a:lnTo>
                <a:lnTo>
                  <a:pt x="2644049" y="0"/>
                </a:lnTo>
                <a:lnTo>
                  <a:pt x="2783209" y="0"/>
                </a:lnTo>
                <a:lnTo>
                  <a:pt x="2922370" y="0"/>
                </a:lnTo>
                <a:lnTo>
                  <a:pt x="3061530" y="0"/>
                </a:lnTo>
                <a:lnTo>
                  <a:pt x="3200690" y="0"/>
                </a:lnTo>
                <a:lnTo>
                  <a:pt x="3339851" y="0"/>
                </a:lnTo>
                <a:lnTo>
                  <a:pt x="3479011" y="0"/>
                </a:lnTo>
                <a:lnTo>
                  <a:pt x="3618172" y="0"/>
                </a:lnTo>
                <a:lnTo>
                  <a:pt x="3757332" y="0"/>
                </a:lnTo>
                <a:lnTo>
                  <a:pt x="3896493" y="0"/>
                </a:lnTo>
                <a:lnTo>
                  <a:pt x="4035653" y="0"/>
                </a:lnTo>
                <a:lnTo>
                  <a:pt x="4174813" y="0"/>
                </a:lnTo>
                <a:lnTo>
                  <a:pt x="4313974" y="0"/>
                </a:lnTo>
                <a:lnTo>
                  <a:pt x="4453134" y="0"/>
                </a:lnTo>
                <a:lnTo>
                  <a:pt x="4592295" y="0"/>
                </a:lnTo>
                <a:lnTo>
                  <a:pt x="4731455" y="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47008" y="4469892"/>
            <a:ext cx="473145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9" name="TextBox 38"/>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High RSI ka matlab hai tez chaal, aane wali girawat nahi.</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ATR 14: normal hil-dul kitni badi hai</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ATR (Average True Range) naapta hai ki ek candle mein price aam taur par kitna chalta hai: size batata hai, direction kabhi nahi.</a:t>
            </a:r>
          </a:p>
          <a:p>
            <a:pPr algn="l" marL="274320" indent="-274320">
              <a:lnSpc>
                <a:spcPct val="100000"/>
              </a:lnSpc>
              <a:spcAft>
                <a:spcPts val="800"/>
              </a:spcAft>
              <a:buClr>
                <a:srgbClr val="134A9A"/>
              </a:buClr>
              <a:buFont typeface="Arial"/>
              <a:buChar char="•"/>
            </a:pPr>
            <a:r>
              <a:rPr sz="1600" b="0" i="0">
                <a:solidFill>
                  <a:srgbClr val="18232F"/>
                </a:solidFill>
                <a:latin typeface="Segoe UI"/>
              </a:rPr>
              <a:t>Har candle ki true range teen dooriyon mein se sabse badi hoti hai: high se low, pichhle close se high, aur pichhle close se low.</a:t>
            </a:r>
          </a:p>
          <a:p>
            <a:pPr algn="l" marL="274320" indent="-274320">
              <a:lnSpc>
                <a:spcPct val="100000"/>
              </a:lnSpc>
              <a:buClr>
                <a:srgbClr val="134A9A"/>
              </a:buClr>
              <a:buFont typeface="Arial"/>
              <a:buChar char="•"/>
            </a:pPr>
            <a:r>
              <a:rPr sz="1600" b="0" i="0">
                <a:solidFill>
                  <a:srgbClr val="18232F"/>
                </a:solidFill>
                <a:latin typeface="Segoe UI"/>
              </a:rPr>
              <a:t>Isliye gap bhi gina jaata hai: kal close Rs 100 par hua aur aaj price sirf Rs 105 se Rs 108 ke beech chala, toh high-low range Rs 3 hai, lekin true range Rs 8.</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daily chart par Rs 500 par hai aur uska ATR 14 Rs 12 hai, yaani ek aam din mein woh lagbhag Rs 12 hilta hai. Rs 495 ka stop, sirf Rs 5 door, isi roz ki hil-dul ke andar baitha hai. Course ka swing stop entry se 1.5 x Rs 12 = Rs 18 neeche hai: Rs 500 - Rs 18 = Rs 482. … Chauda stop hit hua toh loss bhi bada hoga, isiliye kal ka lesson position size isi ke hisaab se tay karega.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Stop: noise ke andar ya bahar</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Yahan ATR 14 Rs 12 hai. Entry, entry wali candle ke close par hai, isliye stop ki lines usi close ke baad se maayne rakhti hain. Agli hi normal dip ne Rs 495 wala tight stop hit kar diya; Rs 482 wala 1.5 x ATR stop chhua tak nahi gaya. Price Rs 482 tak girta bhi reh sakta tha.</a:t>
            </a:r>
          </a:p>
        </p:txBody>
      </p:sp>
      <p:cxnSp>
        <p:nvCxnSpPr>
          <p:cNvPr id="12" name="Connector 11"/>
          <p:cNvCxnSpPr/>
          <p:nvPr/>
        </p:nvCxnSpPr>
        <p:spPr>
          <a:xfrm>
            <a:off x="6812159" y="43616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2793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479.8</a:t>
            </a:r>
          </a:p>
        </p:txBody>
      </p:sp>
      <p:cxnSp>
        <p:nvCxnSpPr>
          <p:cNvPr id="14" name="Connector 13"/>
          <p:cNvCxnSpPr/>
          <p:nvPr/>
        </p:nvCxnSpPr>
        <p:spPr>
          <a:xfrm>
            <a:off x="6812159" y="36377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5554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490.3</a:t>
            </a:r>
          </a:p>
        </p:txBody>
      </p:sp>
      <p:cxnSp>
        <p:nvCxnSpPr>
          <p:cNvPr id="16" name="Connector 15"/>
          <p:cNvCxnSpPr/>
          <p:nvPr/>
        </p:nvCxnSpPr>
        <p:spPr>
          <a:xfrm>
            <a:off x="6812159" y="29138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315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500.7</a:t>
            </a:r>
          </a:p>
        </p:txBody>
      </p:sp>
      <p:cxnSp>
        <p:nvCxnSpPr>
          <p:cNvPr id="18" name="Connector 17"/>
          <p:cNvCxnSpPr/>
          <p:nvPr/>
        </p:nvCxnSpPr>
        <p:spPr>
          <a:xfrm>
            <a:off x="6812159" y="21899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511.2</a:t>
            </a:r>
          </a:p>
        </p:txBody>
      </p:sp>
      <p:cxnSp>
        <p:nvCxnSpPr>
          <p:cNvPr id="20" name="Connector 19"/>
          <p:cNvCxnSpPr/>
          <p:nvPr/>
        </p:nvCxnSpPr>
        <p:spPr>
          <a:xfrm>
            <a:off x="6812159" y="2963812"/>
            <a:ext cx="3732842" cy="0"/>
          </a:xfrm>
          <a:prstGeom prst="line">
            <a:avLst/>
          </a:prstGeom>
          <a:ln w="19050">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81577" y="2872372"/>
            <a:ext cx="970038"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500</a:t>
            </a:r>
          </a:p>
        </p:txBody>
      </p:sp>
      <p:cxnSp>
        <p:nvCxnSpPr>
          <p:cNvPr id="22" name="Connector 21"/>
          <p:cNvCxnSpPr/>
          <p:nvPr/>
        </p:nvCxnSpPr>
        <p:spPr>
          <a:xfrm>
            <a:off x="6812159" y="3310508"/>
            <a:ext cx="3732842"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81577" y="3219068"/>
            <a:ext cx="970038"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Tight stop 495</a:t>
            </a:r>
          </a:p>
        </p:txBody>
      </p:sp>
      <p:cxnSp>
        <p:nvCxnSpPr>
          <p:cNvPr id="24" name="Connector 23"/>
          <p:cNvCxnSpPr/>
          <p:nvPr/>
        </p:nvCxnSpPr>
        <p:spPr>
          <a:xfrm>
            <a:off x="6812159" y="4211916"/>
            <a:ext cx="373284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81577" y="4120476"/>
            <a:ext cx="970038"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ATR stop 482</a:t>
            </a:r>
          </a:p>
        </p:txBody>
      </p:sp>
      <p:cxnSp>
        <p:nvCxnSpPr>
          <p:cNvPr id="26" name="Connector 25"/>
          <p:cNvCxnSpPr/>
          <p:nvPr/>
        </p:nvCxnSpPr>
        <p:spPr>
          <a:xfrm>
            <a:off x="6996973" y="3033151"/>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86085" y="3241168"/>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366599" y="2894473"/>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255711" y="3241168"/>
            <a:ext cx="221776" cy="20801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736226" y="2963812"/>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625338" y="3102490"/>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105852" y="2755795"/>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994964" y="3102490"/>
            <a:ext cx="221776" cy="20801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475479" y="2686456"/>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364591" y="2963812"/>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845106" y="2755795"/>
            <a:ext cx="0" cy="90140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734218" y="2963812"/>
            <a:ext cx="221776" cy="4160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214732" y="2963812"/>
            <a:ext cx="0" cy="62405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103844" y="3102490"/>
            <a:ext cx="221776" cy="2773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584359" y="2547778"/>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473471" y="2755795"/>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953985" y="2409099"/>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843097" y="2755795"/>
            <a:ext cx="221776" cy="13867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10323612" y="2339760"/>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212724" y="2547778"/>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Isosceles Triangle 45"/>
          <p:cNvSpPr/>
          <p:nvPr/>
        </p:nvSpPr>
        <p:spPr>
          <a:xfrm rot="10800000">
            <a:off x="8420615" y="254929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8294945" y="233898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48" name="Isosceles Triangle 47"/>
          <p:cNvSpPr/>
          <p:nvPr/>
        </p:nvSpPr>
        <p:spPr>
          <a:xfrm>
            <a:off x="8790242" y="3702923"/>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TextBox 48"/>
          <p:cNvSpPr txBox="1"/>
          <p:nvPr/>
        </p:nvSpPr>
        <p:spPr>
          <a:xfrm>
            <a:off x="8407986" y="3812651"/>
            <a:ext cx="874239"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Tight stop hit</a:t>
            </a:r>
          </a:p>
        </p:txBody>
      </p:sp>
      <p:sp>
        <p:nvSpPr>
          <p:cNvPr id="50" name="Rounded Rectangle 4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Rounded Rectangle 5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2" name="TextBox 5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ATR batata hai price kitna ghoomta hai, kidhar jaayega yeh nahi. Stop ko normal hil-dul se bahar rakhiye.</a:t>
            </a:r>
          </a:p>
        </p:txBody>
      </p:sp>
      <p:pic>
        <p:nvPicPr>
          <p:cNvPr id="53" name="Picture 52" descr="logo.png"/>
          <p:cNvPicPr>
            <a:picLocks noChangeAspect="1"/>
          </p:cNvPicPr>
          <p:nvPr/>
        </p:nvPicPr>
        <p:blipFill>
          <a:blip r:embed="rId2"/>
          <a:stretch>
            <a:fillRect/>
          </a:stretch>
        </p:blipFill>
        <p:spPr>
          <a:xfrm>
            <a:off x="457200" y="6437376"/>
            <a:ext cx="237744" cy="237744"/>
          </a:xfrm>
          <a:prstGeom prst="rect">
            <a:avLst/>
          </a:prstGeom>
        </p:spPr>
      </p:pic>
      <p:sp>
        <p:nvSpPr>
          <p:cNvPr id="5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5" name="TextBox 5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VWAP: din ka volume-weighted average, sirf intraday ke liye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VWAP (volume-weighted average price) din ka woh average price hai jismein jis price par jitne zyada shares trade hue, us price ka utna hi zyada weight hota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Formula: 9:15 ke open se har trade ka (price x volume) jodiye, phir open se ab tak ke total volume se divide kar dijiye.</a:t>
            </a:r>
          </a:p>
          <a:p>
            <a:pPr algn="l" marL="274320" indent="-274320">
              <a:lnSpc>
                <a:spcPct val="100000"/>
              </a:lnSpc>
              <a:buClr>
                <a:srgbClr val="134A9A"/>
              </a:buClr>
              <a:buFont typeface="Arial"/>
              <a:buChar char="•"/>
            </a:pPr>
            <a:r>
              <a:rPr sz="1600" b="0" i="0">
                <a:solidFill>
                  <a:srgbClr val="18232F"/>
                </a:solidFill>
                <a:latin typeface="Segoe UI"/>
              </a:rPr>
              <a:t>Yeh har subah naye sire se shuru hota hai, yaani yeh intraday ka tool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Subah 10 baje ki sabzi mandi sochiye. Ek vyapari 10 kg tamatar Rs 20 kilo bechta hai, phir 30 kg Rs 22 kilo, phir 60 kg Rs 25 kilo. Teeno bhaav ka seedha average Rs 22.33 hai, lekin zyadatar tamatar Rs 25 mein bike. Volume-weighted average hai (200 + 660 + 1,500) / 100 kg = Rs 23.60 kilo. Charting sites yahi jod-bhaag 9:15 se candle dar candle karti hain, isliye unka VWAP kareeb-kareeb yahi hota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Pehle ghante ka VWAP</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Sharma Textiles Ltd ke made-up trades. Teeno prices ka seedha average Rs 202.33 hai; VWAP Rs 205 ki taraf jhukta hai, jahan sabse zyada shares ka len-den hua.</a:t>
            </a:r>
          </a:p>
        </p:txBody>
      </p:sp>
      <p:sp>
        <p:nvSpPr>
          <p:cNvPr id="11" name="TextBox 10"/>
          <p:cNvSpPr txBox="1"/>
          <p:nvPr/>
        </p:nvSpPr>
        <p:spPr>
          <a:xfrm>
            <a:off x="6397600" y="1805940"/>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x Rs 200</a:t>
            </a:r>
          </a:p>
        </p:txBody>
      </p:sp>
      <p:sp>
        <p:nvSpPr>
          <p:cNvPr id="13" name="TextBox 12"/>
          <p:cNvSpPr txBox="1"/>
          <p:nvPr/>
        </p:nvSpPr>
        <p:spPr>
          <a:xfrm>
            <a:off x="10240080" y="1805940"/>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20,000</a:t>
            </a:r>
          </a:p>
        </p:txBody>
      </p:sp>
      <p:cxnSp>
        <p:nvCxnSpPr>
          <p:cNvPr id="14" name="Connector 13"/>
          <p:cNvCxnSpPr/>
          <p:nvPr/>
        </p:nvCxnSpPr>
        <p:spPr>
          <a:xfrm>
            <a:off x="6397600" y="234010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40102"/>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40102"/>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300 shares x Rs 202</a:t>
            </a:r>
          </a:p>
        </p:txBody>
      </p:sp>
      <p:sp>
        <p:nvSpPr>
          <p:cNvPr id="17" name="TextBox 16"/>
          <p:cNvSpPr txBox="1"/>
          <p:nvPr/>
        </p:nvSpPr>
        <p:spPr>
          <a:xfrm>
            <a:off x="10240080" y="2340102"/>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60,600</a:t>
            </a:r>
          </a:p>
        </p:txBody>
      </p:sp>
      <p:cxnSp>
        <p:nvCxnSpPr>
          <p:cNvPr id="18" name="Connector 17"/>
          <p:cNvCxnSpPr/>
          <p:nvPr/>
        </p:nvCxnSpPr>
        <p:spPr>
          <a:xfrm>
            <a:off x="6397600" y="287426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7426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874264"/>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600 shares x Rs 205</a:t>
            </a:r>
          </a:p>
        </p:txBody>
      </p:sp>
      <p:sp>
        <p:nvSpPr>
          <p:cNvPr id="21" name="TextBox 20"/>
          <p:cNvSpPr txBox="1"/>
          <p:nvPr/>
        </p:nvSpPr>
        <p:spPr>
          <a:xfrm>
            <a:off x="10240080" y="2874264"/>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1,23,000</a:t>
            </a:r>
          </a:p>
        </p:txBody>
      </p:sp>
      <p:cxnSp>
        <p:nvCxnSpPr>
          <p:cNvPr id="22" name="Connector 21"/>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08426"/>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08426"/>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value</a:t>
            </a:r>
          </a:p>
        </p:txBody>
      </p:sp>
      <p:sp>
        <p:nvSpPr>
          <p:cNvPr id="25" name="TextBox 24"/>
          <p:cNvSpPr txBox="1"/>
          <p:nvPr/>
        </p:nvSpPr>
        <p:spPr>
          <a:xfrm>
            <a:off x="10240080" y="3408426"/>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2,03,600</a:t>
            </a:r>
          </a:p>
        </p:txBody>
      </p:sp>
      <p:cxnSp>
        <p:nvCxnSpPr>
          <p:cNvPr id="26" name="Connector 25"/>
          <p:cNvCxnSpPr/>
          <p:nvPr/>
        </p:nvCxnSpPr>
        <p:spPr>
          <a:xfrm>
            <a:off x="6397600" y="394258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942588"/>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3942588"/>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shares</a:t>
            </a:r>
          </a:p>
        </p:txBody>
      </p:sp>
      <p:sp>
        <p:nvSpPr>
          <p:cNvPr id="29" name="TextBox 28"/>
          <p:cNvSpPr txBox="1"/>
          <p:nvPr/>
        </p:nvSpPr>
        <p:spPr>
          <a:xfrm>
            <a:off x="10240080" y="3942588"/>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1,000</a:t>
            </a:r>
          </a:p>
        </p:txBody>
      </p:sp>
      <p:sp>
        <p:nvSpPr>
          <p:cNvPr id="30" name="Rounded Rectangle 29"/>
          <p:cNvSpPr/>
          <p:nvPr/>
        </p:nvSpPr>
        <p:spPr>
          <a:xfrm>
            <a:off x="6397600" y="4531614"/>
            <a:ext cx="5154016" cy="534162"/>
          </a:xfrm>
          <a:prstGeom prst="roundRect">
            <a:avLst>
              <a:gd name="adj" fmla="val 1369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53161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531614"/>
            <a:ext cx="3476721" cy="53416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VWAP</a:t>
            </a:r>
          </a:p>
        </p:txBody>
      </p:sp>
      <p:sp>
        <p:nvSpPr>
          <p:cNvPr id="33" name="TextBox 32"/>
          <p:cNvSpPr txBox="1"/>
          <p:nvPr/>
        </p:nvSpPr>
        <p:spPr>
          <a:xfrm>
            <a:off x="10240080" y="4531614"/>
            <a:ext cx="1238383" cy="53416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203.60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VWAP din ka volume se weighted average price hai. Har open par yeh naye sire se shuru hota hai, isliye ise sirf intraday charts par use kijiye.</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4-tools ka rule: kam meter, saaf nazar</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Indicator overload woh aadat hai jismein hum ek ke baad ek tool jodte jaate hain, is umeed mein ki agla tool saara doubt khatam kar dega.</a:t>
            </a:r>
          </a:p>
          <a:p>
            <a:pPr algn="l" marL="274320" indent="-274320">
              <a:lnSpc>
                <a:spcPct val="100000"/>
              </a:lnSpc>
              <a:spcAft>
                <a:spcPts val="800"/>
              </a:spcAft>
              <a:buClr>
                <a:srgbClr val="134A9A"/>
              </a:buClr>
              <a:buFont typeface="Arial"/>
              <a:buChar char="•"/>
            </a:pPr>
            <a:r>
              <a:rPr sz="1600" b="0" i="0">
                <a:solidFill>
                  <a:srgbClr val="18232F"/>
                </a:solidFill>
                <a:latin typeface="Segoe UI"/>
              </a:rPr>
              <a:t>Hota ulta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Har platform ki apni default settings hoti hain, isliye har tool ki settings kholkar yeh numbers khud daaliye.</a:t>
            </a:r>
          </a:p>
          <a:p>
            <a:pPr algn="l" marL="274320" indent="-274320">
              <a:lnSpc>
                <a:spcPct val="100000"/>
              </a:lnSpc>
              <a:buClr>
                <a:srgbClr val="134A9A"/>
              </a:buClr>
              <a:buFont typeface="Arial"/>
              <a:buChar char="•"/>
            </a:pPr>
            <a:r>
              <a:rPr sz="1600" b="0" i="0">
                <a:solidFill>
                  <a:srgbClr val="18232F"/>
                </a:solidFill>
                <a:latin typeface="Segoe UI"/>
              </a:rPr>
              <a:t>Har tool ke liye chaar line ka card likhiye: kya naapta hai, kab kaam aata hai, kab dhokha deta hai, aur course mein iska kya kaam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Car ka dashboard sochiye. Speedometer (RSI) batata hai aap kitni tez chal rahe hain, rear-view mirror (EMA ka joda) peeche ki sadak dikhata hai, aur sadak ke gaddhe (ATR) batate hain ki kitni jagah chhod kar chalna hai. Das aur meter laga dijiye, aur aapki nazar sadak se hat jaayegi. Aman ki 'saat green lights' asal mein ek hi closing price ko saat tareekon se padhna tha, isliye woh ek saath green hui, aur baad mein ek saath red bhi.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Diwali-lights chart vs saaf chart</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Yeh chaaron bhi price se hi bane hain (VWAP mein volume bhi judta hai). Farak yeh hai ki har ek alag sawaal ka jawab deta hai.</a:t>
            </a:r>
          </a:p>
        </p:txBody>
      </p:sp>
      <p:sp>
        <p:nvSpPr>
          <p:cNvPr id="11" name="Rounded Rectangle 10"/>
          <p:cNvSpPr/>
          <p:nvPr/>
        </p:nvSpPr>
        <p:spPr>
          <a:xfrm>
            <a:off x="6397600"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9547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2712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9547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9547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11 indicators</a:t>
            </a:r>
          </a:p>
        </p:txBody>
      </p:sp>
      <p:cxnSp>
        <p:nvCxnSpPr>
          <p:cNvPr id="16" name="Connector 15"/>
          <p:cNvCxnSpPr/>
          <p:nvPr/>
        </p:nvCxnSpPr>
        <p:spPr>
          <a:xfrm>
            <a:off x="6397600" y="235877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Zyadatar unhi closes se bane</a:t>
            </a:r>
          </a:p>
          <a:p>
            <a:pPr algn="l" marL="201168" indent="-201168">
              <a:lnSpc>
                <a:spcPct val="100000"/>
              </a:lnSpc>
              <a:spcAft>
                <a:spcPts val="750"/>
              </a:spcAft>
              <a:buClr>
                <a:srgbClr val="F0554E"/>
              </a:buClr>
              <a:buFont typeface="Arial"/>
              <a:buChar char="•"/>
            </a:pPr>
            <a:r>
              <a:rPr sz="1500" b="0" i="0">
                <a:solidFill>
                  <a:srgbClr val="18232F"/>
                </a:solidFill>
                <a:latin typeface="Segoe UI"/>
              </a:rPr>
              <a:t>Saath mein haan, saath mein fail</a:t>
            </a:r>
          </a:p>
          <a:p>
            <a:pPr algn="l" marL="201168" indent="-201168">
              <a:lnSpc>
                <a:spcPct val="100000"/>
              </a:lnSpc>
              <a:spcAft>
                <a:spcPts val="750"/>
              </a:spcAft>
              <a:buClr>
                <a:srgbClr val="F0554E"/>
              </a:buClr>
              <a:buFont typeface="Arial"/>
              <a:buChar char="•"/>
            </a:pPr>
            <a:r>
              <a:rPr sz="1500" b="0" i="0">
                <a:solidFill>
                  <a:srgbClr val="18232F"/>
                </a:solidFill>
                <a:latin typeface="Segoe UI"/>
              </a:rPr>
              <a:t>Takraate signals aapko rok dete hain</a:t>
            </a:r>
          </a:p>
          <a:p>
            <a:pPr algn="l" marL="201168" indent="-201168">
              <a:lnSpc>
                <a:spcPct val="100000"/>
              </a:lnSpc>
              <a:buClr>
                <a:srgbClr val="F0554E"/>
              </a:buClr>
              <a:buFont typeface="Arial"/>
              <a:buChar char="•"/>
            </a:pPr>
            <a:r>
              <a:rPr sz="1500" b="0" i="0">
                <a:solidFill>
                  <a:srgbClr val="18232F"/>
                </a:solidFill>
                <a:latin typeface="Segoe UI"/>
              </a:rPr>
              <a:t>Aap wahi chunte hain jo pasand aaye</a:t>
            </a:r>
          </a:p>
        </p:txBody>
      </p:sp>
      <p:sp>
        <p:nvSpPr>
          <p:cNvPr id="18" name="Rounded Rectangle 17"/>
          <p:cNvSpPr/>
          <p:nvPr/>
        </p:nvSpPr>
        <p:spPr>
          <a:xfrm>
            <a:off x="9056903"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9547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2712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9547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9547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4 tools</a:t>
            </a:r>
          </a:p>
        </p:txBody>
      </p:sp>
      <p:cxnSp>
        <p:nvCxnSpPr>
          <p:cNvPr id="23" name="Connector 22"/>
          <p:cNvCxnSpPr/>
          <p:nvPr/>
        </p:nvCxnSpPr>
        <p:spPr>
          <a:xfrm>
            <a:off x="9056903" y="235877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EMA 20/50: kis taraf dekhna hai</a:t>
            </a:r>
          </a:p>
          <a:p>
            <a:pPr algn="l" marL="201168" indent="-201168">
              <a:lnSpc>
                <a:spcPct val="100000"/>
              </a:lnSpc>
              <a:spcAft>
                <a:spcPts val="750"/>
              </a:spcAft>
              <a:buClr>
                <a:srgbClr val="16A34A"/>
              </a:buClr>
              <a:buFont typeface="Arial"/>
              <a:buChar char="•"/>
            </a:pPr>
            <a:r>
              <a:rPr sz="1500" b="0" i="0">
                <a:solidFill>
                  <a:srgbClr val="18232F"/>
                </a:solidFill>
                <a:latin typeface="Segoe UI"/>
              </a:rPr>
              <a:t>RSI 14: chaal mein kitna dum hai</a:t>
            </a:r>
          </a:p>
          <a:p>
            <a:pPr algn="l" marL="201168" indent="-201168">
              <a:lnSpc>
                <a:spcPct val="100000"/>
              </a:lnSpc>
              <a:spcAft>
                <a:spcPts val="750"/>
              </a:spcAft>
              <a:buClr>
                <a:srgbClr val="16A34A"/>
              </a:buClr>
              <a:buFont typeface="Arial"/>
              <a:buChar char="•"/>
            </a:pPr>
            <a:r>
              <a:rPr sz="1500" b="0" i="0">
                <a:solidFill>
                  <a:srgbClr val="18232F"/>
                </a:solidFill>
                <a:latin typeface="Segoe UI"/>
              </a:rPr>
              <a:t>ATR 14: kitni hil-dul hoti hai</a:t>
            </a:r>
          </a:p>
          <a:p>
            <a:pPr algn="l" marL="201168" indent="-201168">
              <a:lnSpc>
                <a:spcPct val="100000"/>
              </a:lnSpc>
              <a:buClr>
                <a:srgbClr val="16A34A"/>
              </a:buClr>
              <a:buFont typeface="Arial"/>
              <a:buChar char="•"/>
            </a:pPr>
            <a:r>
              <a:rPr sz="1500" b="0" i="0">
                <a:solidFill>
                  <a:srgbClr val="18232F"/>
                </a:solidFill>
                <a:latin typeface="Segoe UI"/>
              </a:rPr>
              <a:t>VWAP: din ka average, intraday</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Gyarah tools aankh band karke follow karne se achha hai, chaar aise tools jo aap sach mein samajhte hain.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Lag</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Har indicator mein chhupi deri, kyunki woh pehle trade ho chuke prices se banta hai.</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SMA aur EMA</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Haal ke closes ke moving averages. SMA har din ko barabar ginta hai; EMA haal ke dinon ko zyada weight deta hai, isliye jaldi mudta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Crossover aur whipsaw</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Crossover woh pal hai jab EMA 20, EMA 50 ko cross karta hai. Sideways market mein lines baar-baar cross karti hain, aur har jhoothi palti, jo ek chhota loss de jaati hai, whipsaw kehlaati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1711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RSI 14</a:t>
            </a:r>
          </a:p>
        </p:txBody>
      </p:sp>
      <p:sp>
        <p:nvSpPr>
          <p:cNvPr id="15" name="TextBox 14"/>
          <p:cNvSpPr txBox="1"/>
          <p:nvPr/>
        </p:nvSpPr>
        <p:spPr>
          <a:xfrm>
            <a:off x="6379312"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0-100 ka momentum meter, jo 14 candles ke average gain ko average loss se compare karta hai. High ka matlab sell nahi.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Overbought / oversold</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RSI 70 ke upar aur 30 ke neeche ke naam. Yeh tez chaal ka bayaan hain, signal nahi: strong trend mein RSI hafton tak 70 ke upar reh sakta hai.</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ATR 14 aur true range</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True range ek candle ki poori chaal hai, gap samet; ATR 14 pichhli 14 ka average hai. Yeh batata hai price kitna chalta hai, kis taraf nahi.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Noise</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Price ki roz ki normal hil-dul. Iske andar laga stop aam chaal se hi hit ho jaata hai, isliye course swing stop ko 1.5 x ATR door rakhta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6829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VWAP</a:t>
            </a:r>
          </a:p>
        </p:txBody>
      </p:sp>
      <p:sp>
        <p:nvSpPr>
          <p:cNvPr id="27" name="TextBox 26"/>
          <p:cNvSpPr txBox="1"/>
          <p:nvPr/>
        </p:nvSpPr>
        <p:spPr>
          <a:xfrm>
            <a:off x="6379312"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Open se ab tak ke (price x volume) ka total, total volume se divide kiya hua. Intraday average jo roz naye sire se shuru hota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076641"/>
            <a:ext cx="502920" cy="172726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56266"/>
            <a:ext cx="502920" cy="14763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24278"/>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7962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Chaar tools, limits ke saath</a:t>
            </a:r>
          </a:p>
        </p:txBody>
      </p:sp>
      <p:sp>
        <p:nvSpPr>
          <p:cNvPr id="11" name="Rounded Rectangle 10"/>
          <p:cNvSpPr/>
          <p:nvPr/>
        </p:nvSpPr>
        <p:spPr>
          <a:xfrm>
            <a:off x="640080" y="13691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Lag</a:t>
            </a:r>
          </a:p>
        </p:txBody>
      </p:sp>
      <p:sp>
        <p:nvSpPr>
          <p:cNvPr id="13" name="TextBox 12"/>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Pichhli candles se bana</a:t>
            </a:r>
          </a:p>
          <a:p>
            <a:pPr algn="l" marL="182880" indent="-182880">
              <a:lnSpc>
                <a:spcPct val="100000"/>
              </a:lnSpc>
              <a:spcAft>
                <a:spcPts val="464"/>
              </a:spcAft>
              <a:buClr>
                <a:srgbClr val="0093D6"/>
              </a:buClr>
              <a:buFont typeface="Arial"/>
              <a:buChar char="•"/>
            </a:pPr>
            <a:r>
              <a:rPr sz="1550" b="0" i="0">
                <a:solidFill>
                  <a:srgbClr val="18232F"/>
                </a:solidFill>
                <a:latin typeface="Segoe UI"/>
              </a:rPr>
              <a:t>SMA: barabar weight</a:t>
            </a:r>
          </a:p>
          <a:p>
            <a:pPr algn="l" marL="182880" indent="-182880">
              <a:lnSpc>
                <a:spcPct val="100000"/>
              </a:lnSpc>
              <a:buClr>
                <a:srgbClr val="0093D6"/>
              </a:buClr>
              <a:buFont typeface="Arial"/>
              <a:buChar char="•"/>
            </a:pPr>
            <a:r>
              <a:rPr sz="1550" b="0" i="0">
                <a:solidFill>
                  <a:srgbClr val="18232F"/>
                </a:solidFill>
                <a:latin typeface="Segoe UI"/>
              </a:rPr>
              <a:t>EMA: jaldi, phir bhi late</a:t>
            </a:r>
          </a:p>
        </p:txBody>
      </p:sp>
      <p:sp>
        <p:nvSpPr>
          <p:cNvPr id="14" name="Rounded Rectangle 13"/>
          <p:cNvSpPr/>
          <p:nvPr/>
        </p:nvSpPr>
        <p:spPr>
          <a:xfrm>
            <a:off x="640080" y="29487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EMA 20/50</a:t>
            </a:r>
          </a:p>
        </p:txBody>
      </p:sp>
      <p:sp>
        <p:nvSpPr>
          <p:cNvPr id="16" name="TextBox 15"/>
          <p:cNvSpPr txBox="1"/>
          <p:nvPr/>
        </p:nvSpPr>
        <p:spPr>
          <a:xfrm>
            <a:off x="786384" y="33907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Filter hai, entry nahi</a:t>
            </a:r>
          </a:p>
          <a:p>
            <a:pPr algn="l" marL="182880" indent="-182880">
              <a:lnSpc>
                <a:spcPct val="100000"/>
              </a:lnSpc>
              <a:spcAft>
                <a:spcPts val="464"/>
              </a:spcAft>
              <a:buClr>
                <a:srgbClr val="F5A524"/>
              </a:buClr>
              <a:buFont typeface="Arial"/>
              <a:buChar char="•"/>
            </a:pPr>
            <a:r>
              <a:rPr sz="1550" b="0" i="0">
                <a:solidFill>
                  <a:srgbClr val="18232F"/>
                </a:solidFill>
                <a:latin typeface="Segoe UI"/>
              </a:rPr>
              <a:t>Sideways = whipsaw</a:t>
            </a:r>
          </a:p>
          <a:p>
            <a:pPr algn="l" marL="182880" indent="-182880">
              <a:lnSpc>
                <a:spcPct val="100000"/>
              </a:lnSpc>
              <a:buClr>
                <a:srgbClr val="F5A524"/>
              </a:buClr>
              <a:buFont typeface="Arial"/>
              <a:buChar char="•"/>
            </a:pPr>
            <a:r>
              <a:rPr sz="1550" b="0" i="0">
                <a:solidFill>
                  <a:srgbClr val="18232F"/>
                </a:solidFill>
                <a:latin typeface="Segoe UI"/>
              </a:rPr>
              <a:t>Flat EMA 50 = saavdhaan</a:t>
            </a:r>
          </a:p>
        </p:txBody>
      </p:sp>
      <p:sp>
        <p:nvSpPr>
          <p:cNvPr id="17" name="Rounded Rectangle 16"/>
          <p:cNvSpPr/>
          <p:nvPr/>
        </p:nvSpPr>
        <p:spPr>
          <a:xfrm>
            <a:off x="640080" y="4528376"/>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638104"/>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RSI 14</a:t>
            </a:r>
          </a:p>
        </p:txBody>
      </p:sp>
      <p:sp>
        <p:nvSpPr>
          <p:cNvPr id="19" name="TextBox 18"/>
          <p:cNvSpPr txBox="1"/>
          <p:nvPr/>
        </p:nvSpPr>
        <p:spPr>
          <a:xfrm>
            <a:off x="786384" y="4970336"/>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Momentum, 0-100</a:t>
            </a:r>
          </a:p>
          <a:p>
            <a:pPr algn="l" marL="182880" indent="-182880">
              <a:lnSpc>
                <a:spcPct val="100000"/>
              </a:lnSpc>
              <a:spcAft>
                <a:spcPts val="464"/>
              </a:spcAft>
              <a:buClr>
                <a:srgbClr val="0093D6"/>
              </a:buClr>
              <a:buFont typeface="Arial"/>
              <a:buChar char="•"/>
            </a:pPr>
            <a:r>
              <a:rPr sz="1550" b="0" i="0">
                <a:solidFill>
                  <a:srgbClr val="18232F"/>
                </a:solidFill>
                <a:latin typeface="Segoe UI"/>
              </a:rPr>
              <a:t>70 ke upar matlab sell nahi</a:t>
            </a:r>
          </a:p>
          <a:p>
            <a:pPr algn="l" marL="182880" indent="-182880">
              <a:lnSpc>
                <a:spcPct val="100000"/>
              </a:lnSpc>
              <a:spcAft>
                <a:spcPts val="464"/>
              </a:spcAft>
              <a:buClr>
                <a:srgbClr val="0093D6"/>
              </a:buClr>
              <a:buFont typeface="Arial"/>
              <a:buChar char="•"/>
            </a:pPr>
            <a:r>
              <a:rPr sz="1550" b="0" i="0">
                <a:solidFill>
                  <a:srgbClr val="18232F"/>
                </a:solidFill>
                <a:latin typeface="Segoe UI"/>
              </a:rPr>
              <a:t>Uptrend: lagbhag 40-80</a:t>
            </a:r>
          </a:p>
          <a:p>
            <a:pPr algn="l" marL="182880" indent="-182880">
              <a:lnSpc>
                <a:spcPct val="100000"/>
              </a:lnSpc>
              <a:buClr>
                <a:srgbClr val="0093D6"/>
              </a:buClr>
              <a:buFont typeface="Arial"/>
              <a:buChar char="•"/>
            </a:pPr>
            <a:r>
              <a:rPr sz="1550" b="0" i="0">
                <a:solidFill>
                  <a:srgbClr val="18232F"/>
                </a:solidFill>
                <a:latin typeface="Segoe UI"/>
              </a:rPr>
              <a:t>Hafton tak upar reh sakta hai</a:t>
            </a:r>
          </a:p>
        </p:txBody>
      </p:sp>
      <p:sp>
        <p:nvSpPr>
          <p:cNvPr id="20" name="Rounded Rectangle 19"/>
          <p:cNvSpPr/>
          <p:nvPr/>
        </p:nvSpPr>
        <p:spPr>
          <a:xfrm>
            <a:off x="7833208" y="1516761"/>
            <a:ext cx="3718408" cy="1415034"/>
          </a:xfrm>
          <a:prstGeom prst="roundRect">
            <a:avLst>
              <a:gd name="adj" fmla="val 7754"/>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626489"/>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ATR 14</a:t>
            </a:r>
          </a:p>
        </p:txBody>
      </p:sp>
      <p:sp>
        <p:nvSpPr>
          <p:cNvPr id="22" name="TextBox 21"/>
          <p:cNvSpPr txBox="1"/>
          <p:nvPr/>
        </p:nvSpPr>
        <p:spPr>
          <a:xfrm>
            <a:off x="7979512" y="1958721"/>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Size, direction nahi</a:t>
            </a:r>
          </a:p>
          <a:p>
            <a:pPr algn="l" marL="182880" indent="-182880">
              <a:lnSpc>
                <a:spcPct val="100000"/>
              </a:lnSpc>
              <a:spcAft>
                <a:spcPts val="464"/>
              </a:spcAft>
              <a:buClr>
                <a:srgbClr val="16A34A"/>
              </a:buClr>
              <a:buFont typeface="Arial"/>
              <a:buChar char="•"/>
            </a:pPr>
            <a:r>
              <a:rPr sz="1550" b="0" i="0">
                <a:solidFill>
                  <a:srgbClr val="18232F"/>
                </a:solidFill>
                <a:latin typeface="Segoe UI"/>
              </a:rPr>
              <a:t>Gap bhi gina jaata hai</a:t>
            </a:r>
          </a:p>
          <a:p>
            <a:pPr algn="l" marL="182880" indent="-182880">
              <a:lnSpc>
                <a:spcPct val="100000"/>
              </a:lnSpc>
              <a:buClr>
                <a:srgbClr val="16A34A"/>
              </a:buClr>
              <a:buFont typeface="Arial"/>
              <a:buChar char="•"/>
            </a:pPr>
            <a:r>
              <a:rPr sz="1550" b="0" i="0">
                <a:solidFill>
                  <a:srgbClr val="18232F"/>
                </a:solidFill>
                <a:latin typeface="Segoe UI"/>
              </a:rPr>
              <a:t>Swing stop 1.5 x ATR</a:t>
            </a:r>
          </a:p>
        </p:txBody>
      </p:sp>
      <p:sp>
        <p:nvSpPr>
          <p:cNvPr id="23" name="Rounded Rectangle 22"/>
          <p:cNvSpPr/>
          <p:nvPr/>
        </p:nvSpPr>
        <p:spPr>
          <a:xfrm>
            <a:off x="7833208" y="3096387"/>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06115"/>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VWAP</a:t>
            </a:r>
          </a:p>
        </p:txBody>
      </p:sp>
      <p:sp>
        <p:nvSpPr>
          <p:cNvPr id="25" name="TextBox 24"/>
          <p:cNvSpPr txBox="1"/>
          <p:nvPr/>
        </p:nvSpPr>
        <p:spPr>
          <a:xfrm>
            <a:off x="7979512" y="3538347"/>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Volume se weighted</a:t>
            </a:r>
          </a:p>
          <a:p>
            <a:pPr algn="l" marL="182880" indent="-182880">
              <a:lnSpc>
                <a:spcPct val="100000"/>
              </a:lnSpc>
              <a:spcAft>
                <a:spcPts val="464"/>
              </a:spcAft>
              <a:buClr>
                <a:srgbClr val="F5A524"/>
              </a:buClr>
              <a:buFont typeface="Arial"/>
              <a:buChar char="•"/>
            </a:pPr>
            <a:r>
              <a:rPr sz="1550" b="0" i="0">
                <a:solidFill>
                  <a:srgbClr val="18232F"/>
                </a:solidFill>
                <a:latin typeface="Segoe UI"/>
              </a:rPr>
              <a:t>9:15 par naye sire se</a:t>
            </a:r>
          </a:p>
          <a:p>
            <a:pPr algn="l" marL="182880" indent="-182880">
              <a:lnSpc>
                <a:spcPct val="100000"/>
              </a:lnSpc>
              <a:buClr>
                <a:srgbClr val="F5A524"/>
              </a:buClr>
              <a:buFont typeface="Arial"/>
              <a:buChar char="•"/>
            </a:pPr>
            <a:r>
              <a:rPr sz="1550" b="0" i="0">
                <a:solidFill>
                  <a:srgbClr val="18232F"/>
                </a:solidFill>
                <a:latin typeface="Segoe UI"/>
              </a:rPr>
              <a:t>Sirf intraday charts</a:t>
            </a:r>
          </a:p>
        </p:txBody>
      </p:sp>
      <p:sp>
        <p:nvSpPr>
          <p:cNvPr id="26" name="Rounded Rectangle 25"/>
          <p:cNvSpPr/>
          <p:nvPr/>
        </p:nvSpPr>
        <p:spPr>
          <a:xfrm>
            <a:off x="7833208" y="4676013"/>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785741"/>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Aapka mann</a:t>
            </a:r>
          </a:p>
        </p:txBody>
      </p:sp>
      <p:sp>
        <p:nvSpPr>
          <p:cNvPr id="28" name="TextBox 27"/>
          <p:cNvSpPr txBox="1"/>
          <p:nvPr/>
        </p:nvSpPr>
        <p:spPr>
          <a:xfrm>
            <a:off x="7979512" y="5117973"/>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11 lines, ek raay</a:t>
            </a:r>
          </a:p>
          <a:p>
            <a:pPr algn="l" marL="182880" indent="-182880">
              <a:lnSpc>
                <a:spcPct val="100000"/>
              </a:lnSpc>
              <a:spcAft>
                <a:spcPts val="464"/>
              </a:spcAft>
              <a:buClr>
                <a:srgbClr val="F0554E"/>
              </a:buClr>
              <a:buFont typeface="Arial"/>
              <a:buChar char="•"/>
            </a:pPr>
            <a:r>
              <a:rPr sz="1550" b="0" i="0">
                <a:solidFill>
                  <a:srgbClr val="18232F"/>
                </a:solidFill>
                <a:latin typeface="Segoe UI"/>
              </a:rPr>
              <a:t>Likhiye kab dhokha deta hai</a:t>
            </a:r>
          </a:p>
          <a:p>
            <a:pPr algn="l" marL="182880" indent="-182880">
              <a:lnSpc>
                <a:spcPct val="100000"/>
              </a:lnSpc>
              <a:buClr>
                <a:srgbClr val="F0554E"/>
              </a:buClr>
              <a:buFont typeface="Arial"/>
              <a:buChar char="•"/>
            </a:pPr>
            <a:r>
              <a:rPr sz="1550" b="0" i="0">
                <a:solidFill>
                  <a:srgbClr val="18232F"/>
                </a:solidFill>
                <a:latin typeface="Segoe UI"/>
              </a:rPr>
              <a:t>Kam meter, saaf nazar</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Apne chart ko sirf chaar tools tak saaf kijiye aur har tool ke liye AI ka banaya 'kab dhokha deta hai' card check kijiye.</a:t>
            </a:r>
          </a:p>
        </p:txBody>
      </p:sp>
      <p:sp>
        <p:nvSpPr>
          <p:cNvPr id="6" name="Rounded Rectangle 5"/>
          <p:cNvSpPr/>
          <p:nvPr/>
        </p:nvSpPr>
        <p:spPr>
          <a:xfrm>
            <a:off x="457200" y="2036064"/>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09092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45792"/>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51888"/>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 par NIFTY 50 ka free daily chart kholiye, aur pehle se lage saare indicators hata dijiye.</a:t>
            </a:r>
          </a:p>
        </p:txBody>
      </p:sp>
      <p:sp>
        <p:nvSpPr>
          <p:cNvPr id="10" name="Rounded Rectangle 9"/>
          <p:cNvSpPr/>
          <p:nvPr/>
        </p:nvSpPr>
        <p:spPr>
          <a:xfrm>
            <a:off x="457200" y="260299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71272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70357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EMA 20, EMA 50, RSI 14 aur ATR 14 jodiye, har length khud type kijiye. Agar free plan itne indicators na lagane de, toh ek Moving Average Ribbon lagaiye: pehli do lines ka type EMA aur length 20 aur 50 kar dijiye, baaki do chhupa dijiye, aur RSI aur ATR baari-baari se lagaiye.</a:t>
            </a:r>
          </a:p>
        </p:txBody>
      </p:sp>
      <p:sp>
        <p:nvSpPr>
          <p:cNvPr id="14" name="Rounded Rectangle 13"/>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3684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Chart ko peeche scroll karke ek aisa sideways daur dhoondhiye jahan dono EMAs baar-baar cross hue, aur uske shuru aur khatam hone ki dates apne Chart notes (Aapka template) mein likhiye.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ATR ki sabse taaza value padhiye aur Chart notes ki dono ATR lines bhariye: NIFTY 50 ki din ki normal chaal points mein, aur uska 1.5 guna.</a:t>
            </a:r>
          </a:p>
        </p:txBody>
      </p:sp>
      <p:sp>
        <p:nvSpPr>
          <p:cNvPr id="9" name="Rounded Rectangle 8"/>
          <p:cNvSpPr/>
          <p:nvPr/>
        </p:nvSpPr>
        <p:spPr>
          <a:xfrm>
            <a:off x="457200" y="211531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Kisi bhi NIFTY 50 company ka 5-minute chart kholiye (index ka apna volume nahi hota, isliye uska VWAP nahi banta), free plan jagah na de toh RSI ya ATR hata dijiye, VWAP jodiye, aur peeche scroll karke dekhiye ki woh roz 9:15 par naye sire se kaise shuru hota hai.</a:t>
            </a:r>
          </a:p>
        </p:txBody>
      </p:sp>
      <p:sp>
        <p:nvSpPr>
          <p:cNvPr id="13" name="Rounded Rectangle 12"/>
          <p:cNvSpPr/>
          <p:nvPr/>
        </p:nvSpPr>
        <p:spPr>
          <a:xfrm>
            <a:off x="457200" y="31394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prompt 'Kab dhokha deta hai?' chalaiye, uske chaaron cards ko Aapka template wale model Tool Card se milaiye, aur jo Fact / Guess / Kachra label galat lage, badal dijiye.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samjha payenge ki har indicator late kyun hota hai, EMA 20/50, RSI 14 aur ATR 14 (intraday par VWAP bhi) set kar payenge, bata payenge ki har tool kya naapta hai aur kab dhokha deta hai, AI ke banaye tool card ko model card se check kar payenge, aur RSI, true range, VWAP aur 1.5 x ATR stop ki doori haath se nikaal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Tool Card: model jawab</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AI ke chaaron cards isi se milaiye. Koi paanchva tool jodne se pehle uske liye khaali row bhariye; 'Kab dhokha deta hai' na bhar sakein, toh woh chart par nahi aayega.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2"/>
        </p:xfrm>
        <a:graphic>
          <a:graphicData uri="http://schemas.openxmlformats.org/drawingml/2006/table">
            <a:tbl>
              <a:tblPr firstRow="1">
                <a:tableStyleId>{5C22544A-7EE6-4342-B048-85BDC9FD1C3A}</a:tableStyleId>
              </a:tblPr>
              <a:tblGrid>
                <a:gridCol w="763882"/>
                <a:gridCol w="1810198"/>
                <a:gridCol w="2905437"/>
                <a:gridCol w="3273637"/>
                <a:gridCol w="2158382"/>
              </a:tblGrid>
              <a:tr h="424282">
                <a:tc>
                  <a:txBody>
                    <a:bodyPr wrap="square"/>
                    <a:lstStyle/>
                    <a:p>
                      <a:pPr algn="l"/>
                      <a:r>
                        <a:rPr sz="1500" b="1" i="0">
                          <a:solidFill>
                            <a:srgbClr val="FFFFFF"/>
                          </a:solidFill>
                          <a:latin typeface="Segoe UI"/>
                        </a:rPr>
                        <a:t>Tool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naapta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Kab kaam aata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Kab dhokha deta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Course mein kaam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643738">
                <a:tc>
                  <a:txBody>
                    <a:bodyPr wrap="square"/>
                    <a:lstStyle/>
                    <a:p>
                      <a:pPr algn="ctr"/>
                      <a:r>
                        <a:rPr sz="1500" b="0" i="0">
                          <a:solidFill>
                            <a:srgbClr val="18232F"/>
                          </a:solidFill>
                          <a:latin typeface="Segoe UI"/>
                        </a:rPr>
                        <a:t>EMA 20/50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Trend ki disha, smooth aur late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Daily chart par saaf trend 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Sideways market: flat lines, whipsaw wale cross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Sirf filter: EMA 20 upar, EMA 50 chadhta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872338">
                <a:tc>
                  <a:txBody>
                    <a:bodyPr wrap="square"/>
                    <a:lstStyle/>
                    <a:p>
                      <a:pPr algn="ctr"/>
                      <a:r>
                        <a:rPr sz="1500" b="0" i="0">
                          <a:solidFill>
                            <a:srgbClr val="18232F"/>
                          </a:solidFill>
                          <a:latin typeface="Segoe UI"/>
                        </a:rPr>
                        <a:t>RSI 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Momentum: haal ke gain vs loss, 0-100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Uptrend ke andar dip pehchanna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Strong trend: hafton 70 ke upar, phir bhi sell signal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Day 11: uptrend mein lagbhag 40-50 tak dip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43738">
                <a:tc>
                  <a:txBody>
                    <a:bodyPr wrap="square"/>
                    <a:lstStyle/>
                    <a:p>
                      <a:pPr algn="ctr"/>
                      <a:r>
                        <a:rPr sz="1500" b="0" i="0">
                          <a:solidFill>
                            <a:srgbClr val="18232F"/>
                          </a:solidFill>
                          <a:latin typeface="Segoe UI"/>
                        </a:rPr>
                        <a:t>ATR 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Aam candle ka size, gap samet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ko noise se bahar rakhna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Ise direction samajhna; news ya gap ke baad uchhalta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Swing stop entry se 1.5 x ATR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872338">
                <a:tc>
                  <a:txBody>
                    <a:bodyPr wrap="square"/>
                    <a:lstStyle/>
                    <a:p>
                      <a:pPr algn="l"/>
                      <a:r>
                        <a:rPr sz="1500" b="0" i="0">
                          <a:solidFill>
                            <a:srgbClr val="18232F"/>
                          </a:solidFill>
                          <a:latin typeface="Segoe UI"/>
                        </a:rPr>
                        <a:t>VWAP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Din ka volume-weighted average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Intraday: price din ke average ke upar hai ya neeche?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Daily chart, index (volume nahi), shuru ke kuch minute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Sirf intraday: Day 13 ke ORB ka ek 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notes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Steps 1 se 5 karte-karte aakhri column bhariye. Wahi likhiye jo chart dikhata hai, woh nahi jo aap dekhna chahte hain.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2916936"/>
        </p:xfrm>
        <a:graphic>
          <a:graphicData uri="http://schemas.openxmlformats.org/drawingml/2006/table">
            <a:tbl>
              <a:tblPr firstRow="1">
                <a:tableStyleId>{5C22544A-7EE6-4342-B048-85BDC9FD1C3A}</a:tableStyleId>
              </a:tblPr>
              <a:tblGrid>
                <a:gridCol w="3028883"/>
                <a:gridCol w="6960492"/>
                <a:gridCol w="922160"/>
              </a:tblGrid>
              <a:tr h="493776">
                <a:tc>
                  <a:txBody>
                    <a:bodyPr wrap="square"/>
                    <a:lstStyle/>
                    <a:p>
                      <a:pPr algn="l"/>
                      <a:r>
                        <a:rPr sz="1500" b="1" i="0">
                          <a:solidFill>
                            <a:srgbClr val="FFFFFF"/>
                          </a:solidFill>
                          <a:latin typeface="Segoe UI"/>
                        </a:rPr>
                        <a:t>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Kya likhna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Mera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Hataayi gayi lines (step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Har hataaya gaya indicator, aur woh asal mein kya naapta tha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Sideways daur (step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Shuru aur khatam ki dates, aur kitne EMA cross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ATR 14 (step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NIFTY 50 aam taur par din mein lagbhag ___ points chalta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1.5 x ATR (step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Wahi ATR x 1.5 = ___ points: swing stop ki doori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VWAP (step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Kya VWAP roz 9:15 par naye sire se shuru hua? Haan /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Answer key: 'Mera hisaab check kijiye'</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AI Lab ka prompt 'Mera hisaab check kijiye' chalaiye, phir AI ke har jawab ko is key se milaiye. Farak ho, toh kisi par bharosa karne se pehle woh step dhoondhiye jo galat hua.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31336"/>
        </p:xfrm>
        <a:graphic>
          <a:graphicData uri="http://schemas.openxmlformats.org/drawingml/2006/table">
            <a:tbl>
              <a:tblPr firstRow="1">
                <a:tableStyleId>{5C22544A-7EE6-4342-B048-85BDC9FD1C3A}</a:tableStyleId>
              </a:tblPr>
              <a:tblGrid>
                <a:gridCol w="1138811"/>
                <a:gridCol w="8978136"/>
                <a:gridCol w="794588"/>
              </a:tblGrid>
              <a:tr h="493776">
                <a:tc>
                  <a:txBody>
                    <a:bodyPr wrap="square"/>
                    <a:lstStyle/>
                    <a:p>
                      <a:pPr algn="l"/>
                      <a:r>
                        <a:rPr sz="1500" b="1" i="0">
                          <a:solidFill>
                            <a:srgbClr val="FFFFFF"/>
                          </a:solidFill>
                          <a:latin typeface="Segoe UI"/>
                        </a:rPr>
                        <a:t>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Hisaab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Jawab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(a) SMA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(100 + 102 + 104 + 106 + 118) ÷ 5 = 530 ÷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(b) VWAP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2,03,600 ÷ 1,000 shares; seedha average (200 + 202 + 205) ÷ 3 = Rs 202.33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203.60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 RSI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36 ÷ 12 = 3; 100 - 100 ÷ (1 + 3) = 100 - 25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(d) Stop,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1.5 x Rs 12 = Rs 18; Rs 500 - Rs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482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(e) True range, gap wala din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Pichhla close 100, high 108, low 105. High - low = 3; high - pichhla close = 8; low - pichhla close = 5. Sabse bada lijiye.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Diwali Lights award</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Classmates apne sabse bhare hue purane chart ka screenshot, apne saaf chaar-tool chart ke saath share karte hain.</a:t>
            </a:r>
          </a:p>
          <a:p>
            <a:pPr algn="l">
              <a:lnSpc>
                <a:spcPct val="100000"/>
              </a:lnSpc>
              <a:spcAft>
                <a:spcPts val="700"/>
              </a:spcAft>
            </a:pPr>
            <a:r>
              <a:rPr sz="2000" b="0" i="0">
                <a:solidFill>
                  <a:srgbClr val="18232F"/>
                </a:solidFill>
                <a:latin typeface="Segoe UI"/>
              </a:rPr>
              <a:t>Sabse bhara 'before' chart award jeetta hai, aur uska maalik batata hai ki hataayi gayi har line asal mein kya naap rahi thi.</a:t>
            </a:r>
          </a:p>
          <a:p>
            <a:pPr algn="l">
              <a:lnSpc>
                <a:spcPct val="100000"/>
              </a:lnSpc>
              <a:spcAft>
                <a:spcPts val="700"/>
              </a:spcAft>
            </a:pPr>
            <a:r>
              <a:rPr sz="2000" b="0" i="0">
                <a:solidFill>
                  <a:srgbClr val="18232F"/>
                </a:solidFill>
                <a:latin typeface="Segoe UI"/>
              </a:rPr>
              <a:t>Dono screenshots NIFTY 50 chart ke hon, taaki group mein kisi stock ka chart na ghoome.</a:t>
            </a:r>
          </a:p>
          <a:p>
            <a:pPr algn="l">
              <a:lnSpc>
                <a:spcPct val="100000"/>
              </a:lnSpc>
            </a:pPr>
            <a:r>
              <a:rPr sz="2000" b="0" i="0">
                <a:solidFill>
                  <a:srgbClr val="18232F"/>
                </a:solidFill>
                <a:latin typeface="Segoe UI"/>
              </a:rPr>
              <a:t>Agar free plan zyada indicators lagane hi na de, toh 'before' screenshot ki jagah un lines ki list share kijiye jo aap pehle dekhte the.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'Kab dhokha deta hai?' cards: AI draft kare, aap check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Kab dhokha deta hai?</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“For each of these four tools, EMA 20 and EMA 50 used as one pair, RSI 14, ATR 14, and VWAP on intraday charts, write a four-line card: (1) what it measures, in one plain sentence; (2) when it tends to help; (3) three market conditions in which it misleads, such as sideways markets, gap days or big news days; (4) how a beginner course uses it: the EMA pair as a daily trend filter, RSI 14 as a momentum check, ATR 14 to place a stop 1.5 x ATR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Mera hisaab check kijiye</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careful maths tutor. Use only the numbers I give and show every step. (a) Five daily closes: 100, 102, 104, 106, 118.”</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Indicator myth buster</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beliefs that Indian beginners commonly hold about chart indicators, for example 'RSI above 70 means sell', 'more indicators mean more confirmation', 'an EMA crossover is a buy signal', 'VWAP works on a daily chart' and 'ATR shows direction'.”</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Maan lijiye aap daily chart dekhkar Gupta Cement Ltd mein Rs 300 par practice buy ka plan banate hain, aur ATR 14 Rs 8 hai. Is course ka swing stop kahan lagega?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292, yaani entry se Rs 8 neeche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284, yaani entry se Rs 16 neeche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288, yaani entry se Rs 12 neeche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312, yaani entry se Rs 12 upar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SAWAAL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Pehle ghante mein Kiran Foods Ltd ke 200 shares Rs 100 par aur 800 shares Rs 110 par trade hote hain. Ab tak ka VWAP kya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108: har price, us par trade hue shares ke hisaab se weighted</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102: Rs 100 plus Rs 10 ke farak ka 20%</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105: dono prices ke bilkul beech mein</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110: woh price jahan sabse zyada shares trade hue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stock strong uptrend mein hai, aur uska RSI 14 do hafte se 70 ke upar tika hai, jabki price naye higher highs bana raha hai. Yeh RSI reading akele kya batati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Trend khatam ho gaya hai aur top ban chuka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Girawat aane hi wali hai, isliye abhi nikal jaana chahiye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Buyers thak chuke hain aur sellers ne control le liya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Haal ke gains, haal ke losses se kaafi zyada rahe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SAWAAL 4/5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Chhe hafte tak ek daily chart sideways chalta hai, aur EMA 20 chaar baar EMA 50 ko cross karta hai. Peeche dekhne par Aman ko pata chalta hai ki har cross par trade karta toh zyadatar baar loss hota. Iski sabse sahi wajah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Confirm karne ke liye teen aur indicators chahiye the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Sideways market mein EMA ka joda whipsaw deta hai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EMA sirf intraday charts par kaam karte hain</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Lengths galat thi; 9 aur 21 se theek ho jaata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SAWAAL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 chart par 11 indicators hain, aur unmein se 7 ek hi din 'buy' dikhate hain. Yeh saboot jitna dikhta hai, utna mazboot kyun nahi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Indicators sirf weekly chart par chalte hain, daily par nahi</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Zyadatar unhi purane prices se bane hain</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Saat kam hain; saare gyarah ka haan chahiye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Signal tabhi maana jaata hai jab RSI bhi 30 ke neeche ho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Kaam ke indicators, aur unki limits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se pehle aap kis indicator par sabse zyada bharosa karte the, ya kiske baare mein sabse zyada suna tha, aur woh asal mein kya naapta hai? Ek aisi situation likhiye jismein woh aapko dhokha de deta.</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chart par lines badhayi nahi, ghataayi. Koi tool kya nahi bata sakta, yeh jaanna hi asli chart reading ki shuruaat hai.</a:t>
            </a:r>
          </a:p>
        </p:txBody>
      </p:sp>
      <p:sp>
        <p:nvSpPr>
          <p:cNvPr id="11" name="Rounded Rectangle 10"/>
          <p:cNvSpPr/>
          <p:nvPr/>
        </p:nvSpPr>
        <p:spPr>
          <a:xfrm>
            <a:off x="457200" y="5489448"/>
            <a:ext cx="447188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9 · Risk pehle: 1% rule aur position sizing</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09</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Risk pehle: 1% rule aur position sizing</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1% rule, position sizing aur woh limits jo aapko game mein tikaaye rakhti hain</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Sizing sheet banaiye; formulas AI se check karwaiye</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'Is baar bada lagata hoon'</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1% formula se kisi bhi trade ka size nikaal payenge, maximum entry par 25% cap laga payenge, samjha payenge ki stop-loss ke baad bhi loss 1R se zyada kyun ho sakta hai, check kar payenge ki koi do open trades ek hi sector mein na hon, aur paanch limits wala woh Risk Card likh payenge jis par aap Day 12 se chalenge.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Is baar bada</a:t>
            </a:r>
          </a:p>
        </p:txBody>
      </p:sp>
      <p:sp>
        <p:nvSpPr>
          <p:cNvPr id="4" name="Rounded Rectangle 3"/>
          <p:cNvSpPr/>
          <p:nvPr/>
        </p:nvSpPr>
        <p:spPr>
          <a:xfrm>
            <a:off x="457200" y="1426464"/>
            <a:ext cx="3649370" cy="3636264"/>
          </a:xfrm>
          <a:prstGeom prst="roundRect">
            <a:avLst>
              <a:gd name="adj" fmla="val 35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17906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subah 7:30. Pune mein subah ki chai ke saath Aman ko ek chart bahut pasand aa gaya hai, aur office nikalne se pehle woh mentor ko call kar deta hai. Priya Lucknow se notebook khol kar call par judti hai.</a:t>
            </a:r>
          </a:p>
        </p:txBody>
      </p:sp>
      <p:sp>
        <p:nvSpPr>
          <p:cNvPr id="7" name="Rounded Rectangle 6"/>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Rs 500 wala zone toot gaya tha, ab Bharat Pumps teen baar Rs 400 se bounce ho chuka hai. Paper trading shuru hote hi is baar bada lagata hoon: Rs 5 lakh, mere Rs 10 lakh ke practice capital ka aadha. Poore 1,250 shares.</a:t>
            </a:r>
          </a:p>
        </p:txBody>
      </p:sp>
      <p:sp>
        <p:nvSpPr>
          <p:cNvPr id="13" name="Rounded Rectangle 12"/>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Aur agar is baar Rs 400 toot gaya toh? Exit kahan hoga, aur usmein kitna jaayega?</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Is baar bada</a:t>
            </a:r>
          </a:p>
        </p:txBody>
      </p:sp>
      <p:sp>
        <p:nvSpPr>
          <p:cNvPr id="4" name="Rounded Rectangle 3"/>
          <p:cNvSpPr/>
          <p:nvPr/>
        </p:nvSpPr>
        <p:spPr>
          <a:xfrm>
            <a:off x="457200"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Stop-loss Rs 380 par lagaunga. Sirf Rs 20 per share. Chhota sa risk hai.</a:t>
            </a:r>
          </a:p>
        </p:txBody>
      </p:sp>
      <p:sp>
        <p:nvSpPr>
          <p:cNvPr id="10" name="Rounded Rectangle 9"/>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Pehle ek sawaal, Aman. 1,250 shares par Rs 20 kitna hua? Aur agar raat mein buri khabar aa gayi aur stock Rs 360 par khula, toh kya aapka stop Rs 380 par bech payega?</a:t>
            </a:r>
          </a:p>
        </p:txBody>
      </p:sp>
      <p:sp>
        <p:nvSpPr>
          <p:cNvPr id="16" name="Rounded Rectangle 15"/>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Stop chala toh Rs 25,000. Rs 360 par khula toh ek hi subah mein Rs 50,000.</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Chart batata hai exit kahan karna hai; kitna khareedna hai, yeh kabhi nahi batata. Woh formula se aata hai, aur size hi trade ka woh hissa hai jo poori tarah aapke haath mein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1% rule: trade se pehle loss tay kijiye</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Koi bhi trade lene se pehle tay kar lijiye ki galat nikle toh zyada se zyada kitna nuksaan uthayenge.</a:t>
            </a:r>
          </a:p>
          <a:p>
            <a:pPr algn="l" marL="274320" indent="-274320">
              <a:lnSpc>
                <a:spcPct val="100000"/>
              </a:lnSpc>
              <a:spcAft>
                <a:spcPts val="800"/>
              </a:spcAft>
              <a:buClr>
                <a:srgbClr val="134A9A"/>
              </a:buClr>
              <a:buFont typeface="Arial"/>
              <a:buChar char="•"/>
            </a:pPr>
            <a:r>
              <a:rPr sz="1600" b="0" i="0">
                <a:solidFill>
                  <a:srgbClr val="18232F"/>
                </a:solidFill>
                <a:latin typeface="Segoe UI"/>
              </a:rPr>
              <a:t>Is course mein yeh limit aapke capital ka 1%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Capital matlab woh paisa jo aapne trading ke liye alag rakha hai.</a:t>
            </a:r>
          </a:p>
          <a:p>
            <a:pPr algn="l" marL="274320" indent="-274320">
              <a:lnSpc>
                <a:spcPct val="100000"/>
              </a:lnSpc>
              <a:buClr>
                <a:srgbClr val="134A9A"/>
              </a:buClr>
              <a:buFont typeface="Arial"/>
              <a:buChar char="•"/>
            </a:pPr>
            <a:r>
              <a:rPr sz="1600" b="0" i="0">
                <a:solidFill>
                  <a:srgbClr val="18232F"/>
                </a:solidFill>
                <a:latin typeface="Segoe UI"/>
              </a:rPr>
              <a:t>Day 3 mein aapne 1R dekha tha, yaani stop hit hone par planned loss.</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Lucknow mein do chai-stall wale naye items try karne ke liye apne galle mein Rs 10,000 rakhte hain. Ramesh har naye idea par Rs 1,000 lagata hai, yaani shuruaati galle ka 10%; Salim sirf Rs 100, yaani 1%. Baarish ke do kharab hafton mein lagataar das idea flop ho gaye, Day 3 ke saat wale silsile se bhi lamba. Ramesh ka galla khaali ho gaya: gyarahva idea, jo shayad chal jaata, kabhi try hi nahi hua. Salim ke paas abhi bhi Rs 9,000 hain, aur wapas Rs 10,000 tak pahunchne ke liye use bas lagbhag 11% chahiye. Kismat dono ki ek jaisi kharab thi, aage ka raasta bilkul alag.</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Lagataar 10 loss</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Lagataar 10 loss ke baad kitna capital bachta hai, jab har loss shuru mein tay ki gayi ek fixed rakam ho, jaise course ka fixed 1R. Har trade par 5% ho toh aadha capital chala gaya aur wapas aane ke liye +100% chahiye; 10% par kuch nahi bachta.</a:t>
            </a:r>
          </a:p>
        </p:txBody>
      </p:sp>
      <p:sp>
        <p:nvSpPr>
          <p:cNvPr id="11" name="TextBox 10"/>
          <p:cNvSpPr txBox="1"/>
          <p:nvPr/>
        </p:nvSpPr>
        <p:spPr>
          <a:xfrm>
            <a:off x="6397600" y="1796796"/>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0.5%</a:t>
            </a:r>
          </a:p>
        </p:txBody>
      </p:sp>
      <p:sp>
        <p:nvSpPr>
          <p:cNvPr id="12" name="Rounded Rectangle 11"/>
          <p:cNvSpPr/>
          <p:nvPr/>
        </p:nvSpPr>
        <p:spPr>
          <a:xfrm>
            <a:off x="7604608" y="1953158"/>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53158"/>
            <a:ext cx="3374578"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623621"/>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95%</a:t>
            </a:r>
          </a:p>
        </p:txBody>
      </p:sp>
      <p:sp>
        <p:nvSpPr>
          <p:cNvPr id="15" name="TextBox 14"/>
          <p:cNvSpPr txBox="1"/>
          <p:nvPr/>
        </p:nvSpPr>
        <p:spPr>
          <a:xfrm>
            <a:off x="6397600" y="2420417"/>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1%</a:t>
            </a:r>
          </a:p>
        </p:txBody>
      </p:sp>
      <p:sp>
        <p:nvSpPr>
          <p:cNvPr id="16" name="Rounded Rectangle 15"/>
          <p:cNvSpPr/>
          <p:nvPr/>
        </p:nvSpPr>
        <p:spPr>
          <a:xfrm>
            <a:off x="7604608" y="2576779"/>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576779"/>
            <a:ext cx="3196969"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420417"/>
            <a:ext cx="508421" cy="623621"/>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90%</a:t>
            </a:r>
          </a:p>
        </p:txBody>
      </p:sp>
      <p:sp>
        <p:nvSpPr>
          <p:cNvPr id="19" name="TextBox 18"/>
          <p:cNvSpPr txBox="1"/>
          <p:nvPr/>
        </p:nvSpPr>
        <p:spPr>
          <a:xfrm>
            <a:off x="6397600" y="3044038"/>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2%</a:t>
            </a:r>
          </a:p>
        </p:txBody>
      </p:sp>
      <p:sp>
        <p:nvSpPr>
          <p:cNvPr id="20" name="Rounded Rectangle 19"/>
          <p:cNvSpPr/>
          <p:nvPr/>
        </p:nvSpPr>
        <p:spPr>
          <a:xfrm>
            <a:off x="7604608" y="3200400"/>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200400"/>
            <a:ext cx="2841750"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3044038"/>
            <a:ext cx="508421" cy="623621"/>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80%</a:t>
            </a:r>
          </a:p>
        </p:txBody>
      </p:sp>
      <p:sp>
        <p:nvSpPr>
          <p:cNvPr id="23" name="TextBox 22"/>
          <p:cNvSpPr txBox="1"/>
          <p:nvPr/>
        </p:nvSpPr>
        <p:spPr>
          <a:xfrm>
            <a:off x="6397600" y="3667658"/>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5%</a:t>
            </a:r>
          </a:p>
        </p:txBody>
      </p:sp>
      <p:sp>
        <p:nvSpPr>
          <p:cNvPr id="24" name="Rounded Rectangle 23"/>
          <p:cNvSpPr/>
          <p:nvPr/>
        </p:nvSpPr>
        <p:spPr>
          <a:xfrm>
            <a:off x="7604608" y="3824021"/>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824021"/>
            <a:ext cx="1776094"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667658"/>
            <a:ext cx="508421" cy="623621"/>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50%</a:t>
            </a:r>
          </a:p>
        </p:txBody>
      </p:sp>
      <p:sp>
        <p:nvSpPr>
          <p:cNvPr id="27" name="TextBox 26"/>
          <p:cNvSpPr txBox="1"/>
          <p:nvPr/>
        </p:nvSpPr>
        <p:spPr>
          <a:xfrm>
            <a:off x="6397600" y="4291279"/>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10%</a:t>
            </a:r>
          </a:p>
        </p:txBody>
      </p:sp>
      <p:sp>
        <p:nvSpPr>
          <p:cNvPr id="28" name="Rounded Rectangle 27"/>
          <p:cNvSpPr/>
          <p:nvPr/>
        </p:nvSpPr>
        <p:spPr>
          <a:xfrm>
            <a:off x="7604608" y="4447642"/>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447642"/>
            <a:ext cx="4572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4291279"/>
            <a:ext cx="508421" cy="623621"/>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0%</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3" name="TextBox 32"/>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1% woh zyada se zyada loss hai jo aap ek idea par plan karte hain, invest hone wali rakam nahi.</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Sizing formula: pehle stop, phir quantity</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Position size ka matlab hai aap kitne shares khareedenge, aur yeh teen chhote steps se nikalta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Pehla, risk budget = capital x 1%.</a:t>
            </a:r>
          </a:p>
          <a:p>
            <a:pPr algn="l" marL="274320" indent="-274320">
              <a:lnSpc>
                <a:spcPct val="100000"/>
              </a:lnSpc>
              <a:spcAft>
                <a:spcPts val="800"/>
              </a:spcAft>
              <a:buClr>
                <a:srgbClr val="134A9A"/>
              </a:buClr>
              <a:buFont typeface="Arial"/>
              <a:buChar char="•"/>
            </a:pPr>
            <a:r>
              <a:rPr sz="1600" b="0" i="0">
                <a:solidFill>
                  <a:srgbClr val="18232F"/>
                </a:solidFill>
                <a:latin typeface="Segoe UI"/>
              </a:rPr>
              <a:t>Doosra, risk per share = entry price aur stop-loss price ke beech ki doori.</a:t>
            </a:r>
          </a:p>
          <a:p>
            <a:pPr algn="l" marL="274320" indent="-274320">
              <a:lnSpc>
                <a:spcPct val="100000"/>
              </a:lnSpc>
              <a:buClr>
                <a:srgbClr val="134A9A"/>
              </a:buClr>
              <a:buFont typeface="Arial"/>
              <a:buChar char="•"/>
            </a:pPr>
            <a:r>
              <a:rPr sz="1600" b="0" i="0">
                <a:solidFill>
                  <a:srgbClr val="18232F"/>
                </a:solidFill>
                <a:latin typeface="Segoe UI"/>
              </a:rPr>
              <a:t>Teesra, quantity = risk budget ÷ risk per share, round down karke poore share tak, kyunki round up karne se 1% ki limit toot jaayegi.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Day 8 ke quiz mein Gupta Cement Ltd ka stop Rs 300 ki entry se Rs 12 neeche tha: Rs 10,000 ÷ 12 = 833.3, yaani 833 shares. Priya apne Rs 10 lakh ke virtual capital par Kiran Foods Ltd ka ek practice trade size karti hai: entry Rs 250, stop Rs 237. Risk per share Rs 13 hua. … Rs 1 lakh ke account par yahi trade Rs 1,000 ÷ 13 = 76 shares ka banta: formula aapke capital ke saath chhota-bada hota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 ka trade, sahi size ke saath</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500 shares x Rs 400 = Rs 2,00,000, yaani capital ka 20%. Aman ke 1,250 shares Rs 5,00,000 ke hote, yaani 50%: agle topic ke 25% cap ka dugna.</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Capital</a:t>
            </a:r>
          </a:p>
        </p:txBody>
      </p:sp>
      <p:sp>
        <p:nvSpPr>
          <p:cNvPr id="13" name="TextBox 12"/>
          <p:cNvSpPr txBox="1"/>
          <p:nvPr/>
        </p:nvSpPr>
        <p:spPr>
          <a:xfrm>
            <a:off x="10119003" y="1899666"/>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10,00,000</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16" name="TextBox 15"/>
          <p:cNvSpPr txBox="1"/>
          <p:nvPr/>
        </p:nvSpPr>
        <p:spPr>
          <a:xfrm>
            <a:off x="6726784" y="2503170"/>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Har trade ka risk</a:t>
            </a:r>
          </a:p>
        </p:txBody>
      </p:sp>
      <p:sp>
        <p:nvSpPr>
          <p:cNvPr id="17" name="TextBox 16"/>
          <p:cNvSpPr txBox="1"/>
          <p:nvPr/>
        </p:nvSpPr>
        <p:spPr>
          <a:xfrm>
            <a:off x="10119003" y="2503170"/>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budget (1R)</a:t>
            </a:r>
          </a:p>
        </p:txBody>
      </p:sp>
      <p:sp>
        <p:nvSpPr>
          <p:cNvPr id="21" name="TextBox 20"/>
          <p:cNvSpPr txBox="1"/>
          <p:nvPr/>
        </p:nvSpPr>
        <p:spPr>
          <a:xfrm>
            <a:off x="10119003" y="3106674"/>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 (400 - 380)</a:t>
            </a:r>
          </a:p>
        </p:txBody>
      </p:sp>
      <p:sp>
        <p:nvSpPr>
          <p:cNvPr id="25" name="TextBox 24"/>
          <p:cNvSpPr txBox="1"/>
          <p:nvPr/>
        </p:nvSpPr>
        <p:spPr>
          <a:xfrm>
            <a:off x="10119003" y="3710178"/>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355643"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Quantity (shares)</a:t>
            </a:r>
          </a:p>
        </p:txBody>
      </p:sp>
      <p:sp>
        <p:nvSpPr>
          <p:cNvPr id="29" name="TextBox 28"/>
          <p:cNvSpPr txBox="1"/>
          <p:nvPr/>
        </p:nvSpPr>
        <p:spPr>
          <a:xfrm>
            <a:off x="10119003" y="4368546"/>
            <a:ext cx="1359461"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500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Pehle stop, phir size. Kitne shares, yeh formula tay karta hai, aapka mood nahi.</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25% cap: jab tight stop bahut zyada maangta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Is formula mein ek kamzori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Jab stop entry ke bilkul paas ho, toh risk per share bahut chhota hota hai, aur formula bahut badi quantity maang leta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Isliye course ek doosri limit jodta hai: koi bhi ek position aapke capital ke 25% se zyada ki nahi hogi, yaani Rs 10 lakh par Rs 2.5 lakh.</a:t>
            </a:r>
          </a:p>
          <a:p>
            <a:pPr algn="l" marL="274320" indent="-274320">
              <a:lnSpc>
                <a:spcPct val="100000"/>
              </a:lnSpc>
              <a:buClr>
                <a:srgbClr val="134A9A"/>
              </a:buClr>
              <a:buFont typeface="Arial"/>
              <a:buChar char="•"/>
            </a:pPr>
            <a:r>
              <a:rPr sz="1600" b="0" i="0">
                <a:solidFill>
                  <a:srgbClr val="18232F"/>
                </a:solidFill>
                <a:latin typeface="Segoe UI"/>
              </a:rPr>
              <a:t>Position value = quantity x entry price.</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Sharma Textiles Ltd: maximum entry Rs 500, stop Rs 495, yaani risk per share sirf Rs 5. Formula kehta hai Rs 10,000 ÷ 5 = 2,000 shares, jinki value Rs 10 lakh hai: aapka poora capital ek hi stock mein. Cap sirf Rs 2,50,000 ÷ 500 = 500 shares ki ijazat deta hai, toh planned risk ghat ke 500 x Rs 5 = Rs 2,500 (0.25R) reh jaata hai. Ab maan lijiye buri khabar ke baad stock Rs 450 par khulta hai. … Cap ke saath yeh Rs 25,000 (2.5R) hai: dard hota hai, par aap game mein bane rehte hain.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Pehle formula, phir cap</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Sharma Textiles Ltd: Rs 5 ka stop safe lagta hai, lekin sirf formula ke bharose chalte toh poora capital ek hi stock mein chala jaata.</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Formula size</a:t>
            </a:r>
          </a:p>
          <a:p>
            <a:pPr algn="l">
              <a:lnSpc>
                <a:spcPct val="100000"/>
              </a:lnSpc>
            </a:pPr>
            <a:r>
              <a:rPr sz="1250" b="0" i="0">
                <a:solidFill>
                  <a:srgbClr val="47596B"/>
                </a:solidFill>
                <a:latin typeface="Segoe UI"/>
              </a:rPr>
              <a:t>10,000 ÷ 5 = 2,000 shares</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65248"/>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x Rs 500</a:t>
            </a:r>
          </a:p>
        </p:txBody>
      </p:sp>
      <p:sp>
        <p:nvSpPr>
          <p:cNvPr id="15" name="Rounded Rectangle 14"/>
          <p:cNvSpPr/>
          <p:nvPr/>
        </p:nvSpPr>
        <p:spPr>
          <a:xfrm>
            <a:off x="6397600" y="2700020"/>
            <a:ext cx="5154016" cy="568452"/>
          </a:xfrm>
          <a:prstGeom prst="roundRect">
            <a:avLst>
              <a:gd name="adj" fmla="val 1608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Position value</a:t>
            </a:r>
          </a:p>
          <a:p>
            <a:pPr algn="l">
              <a:lnSpc>
                <a:spcPct val="100000"/>
              </a:lnSpc>
            </a:pPr>
            <a:r>
              <a:rPr sz="1250" b="0" i="0">
                <a:solidFill>
                  <a:srgbClr val="47596B"/>
                </a:solidFill>
                <a:latin typeface="Segoe UI"/>
              </a:rPr>
              <a:t>Rs 10,00,000 = capital ka 100%</a:t>
            </a:r>
          </a:p>
        </p:txBody>
      </p:sp>
      <p:sp>
        <p:nvSpPr>
          <p:cNvPr id="17" name="Down Arrow 16"/>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268472"/>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bahut bada</a:t>
            </a:r>
          </a:p>
        </p:txBody>
      </p:sp>
      <p:sp>
        <p:nvSpPr>
          <p:cNvPr id="19" name="Rounded Rectangle 18"/>
          <p:cNvSpPr/>
          <p:nvPr/>
        </p:nvSpPr>
        <p:spPr>
          <a:xfrm>
            <a:off x="6397600" y="3603244"/>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25% cap</a:t>
            </a:r>
          </a:p>
          <a:p>
            <a:pPr algn="l">
              <a:lnSpc>
                <a:spcPct val="100000"/>
              </a:lnSpc>
            </a:pPr>
            <a:r>
              <a:rPr sz="1250" b="0" i="0">
                <a:solidFill>
                  <a:srgbClr val="47596B"/>
                </a:solidFill>
                <a:latin typeface="Segoe UI"/>
              </a:rPr>
              <a:t>Max Rs 2,50,000</a:t>
            </a:r>
          </a:p>
        </p:txBody>
      </p:sp>
      <p:sp>
        <p:nvSpPr>
          <p:cNvPr id="21" name="Down Arrow 20"/>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171696"/>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 Rs 500</a:t>
            </a:r>
          </a:p>
        </p:txBody>
      </p:sp>
      <p:sp>
        <p:nvSpPr>
          <p:cNvPr id="23" name="Rounded Rectangle 22"/>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Final size</a:t>
            </a:r>
          </a:p>
          <a:p>
            <a:pPr algn="l">
              <a:lnSpc>
                <a:spcPct val="100000"/>
              </a:lnSpc>
            </a:pPr>
            <a:r>
              <a:rPr sz="1250" b="0" i="0">
                <a:solidFill>
                  <a:srgbClr val="47596B"/>
                </a:solidFill>
                <a:latin typeface="Segoe UI"/>
              </a:rPr>
              <a:t>500 shares, risk 0.25R</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Pehle formula, phir 25% cap. Hamesha chhoti quantity lijiye.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Jab stop phisal jaaye: gap, circuit aur slippage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Stop-loss woh price hai jahan aap exit karna plan karte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is baat ka vaada nahi ki aapko wahi price milega (Day 2).</a:t>
            </a:r>
          </a:p>
          <a:p>
            <a:pPr algn="l" marL="274320" indent="-274320">
              <a:lnSpc>
                <a:spcPct val="100000"/>
              </a:lnSpc>
              <a:buClr>
                <a:srgbClr val="134A9A"/>
              </a:buClr>
              <a:buFont typeface="Arial"/>
              <a:buChar char="•"/>
            </a:pPr>
            <a:r>
              <a:rPr sz="1600" b="0" i="0">
                <a:solidFill>
                  <a:srgbClr val="18232F"/>
                </a:solidFill>
                <a:latin typeface="Segoe UI"/>
              </a:rPr>
              <a:t>Gap stop ke upar se kood sakta hai: buri khabar market band hone ke baad aati hai aur stock aapke stop se kaafi neeche khulta hai.</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Maan lijiye Aman sahi size wala trade paper par leta hai: Bharat Pumps Ltd ke 500 shares Rs 400 par, stop Rs 380, yaani 1R = Rs 10,000. Shaam ko kamzor results aate hain, aur agli subah pre-open mein opening price Rs 360 tay hota hai. Uska SL-M stop, jo woh har shaam AMO ki tarah lagata hai, exchange tak 9:15 par hi pahunchta hai, aur tab tak trigger pehle se hi price ke upar hai. Kai brokers aisa sell stop reject kar dete hain, tab use khud bechna padta hai; kuch systems use turant trigger kar dete hain (Day 2). … Uske pehle plan ke 1,250 shares ke saath yahi subah Rs 50,000 (5R) ki padti.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Gap stop ke upar se kood gaya</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Stop Rs 380 par tha, lekin khabar ke baad pehla price hi Rs 360 tha. Loss: 2R, 1R nahi.</a:t>
            </a:r>
          </a:p>
        </p:txBody>
      </p:sp>
      <p:cxnSp>
        <p:nvCxnSpPr>
          <p:cNvPr id="12" name="Connector 11"/>
          <p:cNvCxnSpPr/>
          <p:nvPr/>
        </p:nvCxnSpPr>
        <p:spPr>
          <a:xfrm>
            <a:off x="6935100" y="41330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0507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346.4</a:t>
            </a:r>
          </a:p>
        </p:txBody>
      </p:sp>
      <p:cxnSp>
        <p:nvCxnSpPr>
          <p:cNvPr id="14" name="Connector 13"/>
          <p:cNvCxnSpPr/>
          <p:nvPr/>
        </p:nvCxnSpPr>
        <p:spPr>
          <a:xfrm>
            <a:off x="6935100" y="34853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4030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373.5</a:t>
            </a:r>
          </a:p>
        </p:txBody>
      </p:sp>
      <p:cxnSp>
        <p:nvCxnSpPr>
          <p:cNvPr id="16" name="Connector 15"/>
          <p:cNvCxnSpPr/>
          <p:nvPr/>
        </p:nvCxnSpPr>
        <p:spPr>
          <a:xfrm>
            <a:off x="6935100" y="28376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553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400.5</a:t>
            </a:r>
          </a:p>
        </p:txBody>
      </p:sp>
      <p:cxnSp>
        <p:nvCxnSpPr>
          <p:cNvPr id="18" name="Connector 17"/>
          <p:cNvCxnSpPr/>
          <p:nvPr/>
        </p:nvCxnSpPr>
        <p:spPr>
          <a:xfrm>
            <a:off x="6935100" y="21899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427.6</a:t>
            </a:r>
          </a:p>
        </p:txBody>
      </p:sp>
      <p:cxnSp>
        <p:nvCxnSpPr>
          <p:cNvPr id="20" name="Connector 19"/>
          <p:cNvCxnSpPr/>
          <p:nvPr/>
        </p:nvCxnSpPr>
        <p:spPr>
          <a:xfrm>
            <a:off x="6935100" y="2850451"/>
            <a:ext cx="3919083"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759011"/>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400</a:t>
            </a:r>
          </a:p>
        </p:txBody>
      </p:sp>
      <p:cxnSp>
        <p:nvCxnSpPr>
          <p:cNvPr id="22" name="Connector 21"/>
          <p:cNvCxnSpPr/>
          <p:nvPr/>
        </p:nvCxnSpPr>
        <p:spPr>
          <a:xfrm>
            <a:off x="6935100" y="3329047"/>
            <a:ext cx="3919083" cy="0"/>
          </a:xfrm>
          <a:prstGeom prst="line">
            <a:avLst/>
          </a:prstGeom>
          <a:ln w="19050">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237607"/>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380</a:t>
            </a:r>
          </a:p>
        </p:txBody>
      </p:sp>
      <p:cxnSp>
        <p:nvCxnSpPr>
          <p:cNvPr id="24" name="Connector 23"/>
          <p:cNvCxnSpPr/>
          <p:nvPr/>
        </p:nvCxnSpPr>
        <p:spPr>
          <a:xfrm>
            <a:off x="7129225" y="2467574"/>
            <a:ext cx="0" cy="23929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12750" y="2515433"/>
            <a:ext cx="232950" cy="957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7012750" y="4904232"/>
            <a:ext cx="232950" cy="17068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517476" y="2371855"/>
            <a:ext cx="0" cy="21536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401001" y="2419714"/>
            <a:ext cx="232950" cy="957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401001" y="4918456"/>
            <a:ext cx="232950" cy="1564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905727" y="2323995"/>
            <a:ext cx="0" cy="2871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89251" y="2419714"/>
            <a:ext cx="232950" cy="1435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789251" y="4909922"/>
            <a:ext cx="232950" cy="16499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8293977" y="2515433"/>
            <a:ext cx="0" cy="2632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177502" y="2563293"/>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8177502" y="4898542"/>
            <a:ext cx="232950" cy="17637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682228" y="2659012"/>
            <a:ext cx="0" cy="52645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565753" y="2730802"/>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565753" y="4818888"/>
            <a:ext cx="232950"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9070479" y="2754731"/>
            <a:ext cx="0" cy="2153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954004" y="2826521"/>
            <a:ext cx="232950" cy="7178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954004" y="4875784"/>
            <a:ext cx="232950" cy="19913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458730" y="2730802"/>
            <a:ext cx="0" cy="21536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342254" y="2778661"/>
            <a:ext cx="232950" cy="478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9342254" y="4890008"/>
            <a:ext cx="232950" cy="18491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9846980" y="2635082"/>
            <a:ext cx="0" cy="2153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9730505" y="2706872"/>
            <a:ext cx="232950" cy="7178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9730505" y="4904232"/>
            <a:ext cx="232950" cy="17068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235231" y="2659012"/>
            <a:ext cx="0" cy="2632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118756" y="2706872"/>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10118756" y="4909922"/>
            <a:ext cx="232950" cy="16499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10623482" y="3664064"/>
            <a:ext cx="0" cy="33501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0507007" y="3807643"/>
            <a:ext cx="232950" cy="4786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10507007" y="4562856"/>
            <a:ext cx="232950" cy="5120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TextBox 53"/>
          <p:cNvSpPr txBox="1"/>
          <p:nvPr/>
        </p:nvSpPr>
        <p:spPr>
          <a:xfrm>
            <a:off x="6397600" y="47183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5" name="Isosceles Triangle 54"/>
          <p:cNvSpPr/>
          <p:nvPr/>
        </p:nvSpPr>
        <p:spPr>
          <a:xfrm>
            <a:off x="9403866" y="2991890"/>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TextBox 55"/>
          <p:cNvSpPr txBox="1"/>
          <p:nvPr/>
        </p:nvSpPr>
        <p:spPr>
          <a:xfrm>
            <a:off x="9322983" y="3101618"/>
            <a:ext cx="271493"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Buy</a:t>
            </a:r>
          </a:p>
        </p:txBody>
      </p:sp>
      <p:sp>
        <p:nvSpPr>
          <p:cNvPr id="57" name="Isosceles Triangle 56"/>
          <p:cNvSpPr/>
          <p:nvPr/>
        </p:nvSpPr>
        <p:spPr>
          <a:xfrm rot="10800000">
            <a:off x="10568618" y="3526904"/>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TextBox 57"/>
          <p:cNvSpPr txBox="1"/>
          <p:nvPr/>
        </p:nvSpPr>
        <p:spPr>
          <a:xfrm>
            <a:off x="10182419" y="3316592"/>
            <a:ext cx="882125"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360 par khula</a:t>
            </a:r>
          </a:p>
        </p:txBody>
      </p:sp>
      <p:sp>
        <p:nvSpPr>
          <p:cNvPr id="59" name="Rounded Rectangle 5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Rounded Rectangle 5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61" name="TextBox 6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Stop plan tay karta hai; gap aur circuit asli exit ko kahin aur le ja sakte hain. Size itna chhota rakhiye ki in dono ko jhel sakein.</a:t>
            </a:r>
          </a:p>
        </p:txBody>
      </p:sp>
      <p:pic>
        <p:nvPicPr>
          <p:cNvPr id="62" name="Picture 61" descr="logo.png"/>
          <p:cNvPicPr>
            <a:picLocks noChangeAspect="1"/>
          </p:cNvPicPr>
          <p:nvPr/>
        </p:nvPicPr>
        <p:blipFill>
          <a:blip r:embed="rId2"/>
          <a:stretch>
            <a:fillRect/>
          </a:stretch>
        </p:blipFill>
        <p:spPr>
          <a:xfrm>
            <a:off x="457200" y="6437376"/>
            <a:ext cx="237744" cy="237744"/>
          </a:xfrm>
          <a:prstGeom prst="rect">
            <a:avLst/>
          </a:prstGeom>
        </p:spPr>
      </p:pic>
      <p:sp>
        <p:nvSpPr>
          <p:cNvPr id="6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4" name="TextBox 6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Teen open trades, aur saath girne wale trades</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Do aur limits poore account ko bachati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Pehli, ek waqt mein zyada se zyada 3 trades open rakhiye, taaki ek saath 3R se zyada, yaani capital ke lagbhag 3% se zyada, planned risk na ho.</a:t>
            </a:r>
          </a:p>
          <a:p>
            <a:pPr algn="l" marL="274320" indent="-274320">
              <a:lnSpc>
                <a:spcPct val="100000"/>
              </a:lnSpc>
              <a:spcAft>
                <a:spcPts val="800"/>
              </a:spcAft>
              <a:buClr>
                <a:srgbClr val="134A9A"/>
              </a:buClr>
              <a:buFont typeface="Arial"/>
              <a:buChar char="•"/>
            </a:pPr>
            <a:r>
              <a:rPr sz="1600" b="0" i="0">
                <a:solidFill>
                  <a:srgbClr val="18232F"/>
                </a:solidFill>
                <a:latin typeface="Segoe UI"/>
              </a:rPr>
              <a:t>25% cap ke saath aapke capital ka kam se kam ek-chauthai hissa cash mein bhi rehta hai.</a:t>
            </a:r>
          </a:p>
          <a:p>
            <a:pPr algn="l" marL="274320" indent="-274320">
              <a:lnSpc>
                <a:spcPct val="100000"/>
              </a:lnSpc>
              <a:buClr>
                <a:srgbClr val="134A9A"/>
              </a:buClr>
              <a:buFont typeface="Arial"/>
              <a:buChar char="•"/>
            </a:pPr>
            <a:r>
              <a:rPr sz="1600" b="0" i="0">
                <a:solidFill>
                  <a:srgbClr val="18232F"/>
                </a:solidFill>
                <a:latin typeface="Segoe UI"/>
              </a:rPr>
              <a:t>Doosri, correlation par nazar rakhiye, yaani do shares kitna saath-saath chalte hain.</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paper trading ka pehla hafta sochiye: teen trades open hain, har ek 1R ka, aur teeno bank shares hain. Ek shaam poore banking sector par ek buri headline aa jaati hai. Agli subah pehle kuch minute mein hi teeno stops hit ho jaate hain: kam se kam 3R, yaani Rs 30,000, sochne se pehle hi chale gaye. Priya ke bhi teen trades hain: ek bank, ek cement company aur ek pump company. … Isiliye check sector ka hota hai, naam ka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Teen trades, ya ek bada daon?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Poore market ki giraavat teeno ko phir bhi maar sakti hai. Alag sectors mein baantne se yeh risk kam hota hai, khatam nahi.</a:t>
            </a:r>
          </a:p>
        </p:txBody>
      </p:sp>
      <p:sp>
        <p:nvSpPr>
          <p:cNvPr id="11" name="Rounded Rectangle 10"/>
          <p:cNvSpPr/>
          <p:nvPr/>
        </p:nvSpPr>
        <p:spPr>
          <a:xfrm>
            <a:off x="6397600" y="2286000"/>
            <a:ext cx="2494712" cy="2299716"/>
          </a:xfrm>
          <a:prstGeom prst="roundRect">
            <a:avLst>
              <a:gd name="adj" fmla="val 39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286000"/>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517648"/>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286000"/>
            <a:ext cx="2494712" cy="2299716"/>
          </a:xfrm>
          <a:prstGeom prst="roundRect">
            <a:avLst>
              <a:gd name="adj" fmla="val 3976"/>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286000"/>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3 bank trades</a:t>
            </a:r>
          </a:p>
        </p:txBody>
      </p:sp>
      <p:cxnSp>
        <p:nvCxnSpPr>
          <p:cNvPr id="16" name="Connector 15"/>
          <p:cNvCxnSpPr/>
          <p:nvPr/>
        </p:nvCxnSpPr>
        <p:spPr>
          <a:xfrm>
            <a:off x="6397600" y="2749296"/>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895600"/>
            <a:ext cx="2202104" cy="165354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Ek sector, ek khabar</a:t>
            </a:r>
          </a:p>
          <a:p>
            <a:pPr algn="l" marL="201168" indent="-201168">
              <a:lnSpc>
                <a:spcPct val="100000"/>
              </a:lnSpc>
              <a:spcAft>
                <a:spcPts val="750"/>
              </a:spcAft>
              <a:buClr>
                <a:srgbClr val="F0554E"/>
              </a:buClr>
              <a:buFont typeface="Arial"/>
              <a:buChar char="•"/>
            </a:pPr>
            <a:r>
              <a:rPr sz="1500" b="0" i="0">
                <a:solidFill>
                  <a:srgbClr val="18232F"/>
                </a:solidFill>
                <a:latin typeface="Segoe UI"/>
              </a:rPr>
              <a:t>Ek headline, teeno par chot</a:t>
            </a:r>
          </a:p>
          <a:p>
            <a:pPr algn="l" marL="201168" indent="-201168">
              <a:lnSpc>
                <a:spcPct val="100000"/>
              </a:lnSpc>
              <a:buClr>
                <a:srgbClr val="F0554E"/>
              </a:buClr>
              <a:buFont typeface="Arial"/>
              <a:buChar char="•"/>
            </a:pPr>
            <a:r>
              <a:rPr sz="1500" b="0" i="0">
                <a:solidFill>
                  <a:srgbClr val="18232F"/>
                </a:solidFill>
                <a:latin typeface="Segoe UI"/>
              </a:rPr>
              <a:t>Ek subah mein 3R ya zyada</a:t>
            </a:r>
          </a:p>
        </p:txBody>
      </p:sp>
      <p:sp>
        <p:nvSpPr>
          <p:cNvPr id="18" name="Rounded Rectangle 17"/>
          <p:cNvSpPr/>
          <p:nvPr/>
        </p:nvSpPr>
        <p:spPr>
          <a:xfrm>
            <a:off x="9056903" y="2286000"/>
            <a:ext cx="2494712" cy="2299716"/>
          </a:xfrm>
          <a:prstGeom prst="roundRect">
            <a:avLst>
              <a:gd name="adj" fmla="val 39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286000"/>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517648"/>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286000"/>
            <a:ext cx="2494712" cy="2299716"/>
          </a:xfrm>
          <a:prstGeom prst="roundRect">
            <a:avLst>
              <a:gd name="adj" fmla="val 3976"/>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286000"/>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3 alag sectors</a:t>
            </a:r>
          </a:p>
        </p:txBody>
      </p:sp>
      <p:cxnSp>
        <p:nvCxnSpPr>
          <p:cNvPr id="23" name="Connector 22"/>
          <p:cNvCxnSpPr/>
          <p:nvPr/>
        </p:nvCxnSpPr>
        <p:spPr>
          <a:xfrm>
            <a:off x="9056903" y="2749296"/>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895600"/>
            <a:ext cx="2202104" cy="165354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Bank, cement, pumps</a:t>
            </a:r>
          </a:p>
          <a:p>
            <a:pPr algn="l" marL="201168" indent="-201168">
              <a:lnSpc>
                <a:spcPct val="100000"/>
              </a:lnSpc>
              <a:spcAft>
                <a:spcPts val="750"/>
              </a:spcAft>
              <a:buClr>
                <a:srgbClr val="16A34A"/>
              </a:buClr>
              <a:buFont typeface="Arial"/>
              <a:buChar char="•"/>
            </a:pPr>
            <a:r>
              <a:rPr sz="1500" b="0" i="0">
                <a:solidFill>
                  <a:srgbClr val="18232F"/>
                </a:solidFill>
                <a:latin typeface="Segoe UI"/>
              </a:rPr>
              <a:t>Ek headline, ek trade par chot</a:t>
            </a:r>
          </a:p>
          <a:p>
            <a:pPr algn="l" marL="201168" indent="-201168">
              <a:lnSpc>
                <a:spcPct val="100000"/>
              </a:lnSpc>
              <a:buClr>
                <a:srgbClr val="16A34A"/>
              </a:buClr>
              <a:buFont typeface="Arial"/>
              <a:buChar char="•"/>
            </a:pPr>
            <a:r>
              <a:rPr sz="1500" b="0" i="0">
                <a:solidFill>
                  <a:srgbClr val="18232F"/>
                </a:solidFill>
                <a:latin typeface="Segoe UI"/>
              </a:rPr>
              <a:t>Aksar ek stop, teen nahi</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Jo trades ek hi khabar par girte hain, woh ek bada daon hain. Sector check kijiye, naam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Daily stop, aur 'is baar bada lagata hoon' wala mann</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'Is baar bada lagata hoon' wala mann aksar do mauko par aata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Dono waqt feeling sabse tez hoti hai aur samajh sabse kamzor, isliye size kabhi confidence ke hisaab se nahi badalta; sirf formula se aata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Course aapko ek emergency off switch bhi deta hai, jise hum kill-switch for humans kehte hain.</a:t>
            </a:r>
          </a:p>
          <a:p>
            <a:pPr algn="l" marL="274320" indent="-274320">
              <a:lnSpc>
                <a:spcPct val="100000"/>
              </a:lnSpc>
              <a:buClr>
                <a:srgbClr val="134A9A"/>
              </a:buClr>
              <a:buFont typeface="Arial"/>
              <a:buChar char="•"/>
            </a:pPr>
            <a:r>
              <a:rPr sz="1600" b="0" i="0">
                <a:solidFill>
                  <a:srgbClr val="18232F"/>
                </a:solidFill>
                <a:latin typeface="Segoe UI"/>
              </a:rPr>
              <a:t>Hafte mein -5R ho jaaye, toh ruk jaiye aur agle trade se pehle apna journal padhiye.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Challenge ka ek din sochiye, jab Aman ne office se chhutti li hai. Subah 11 baje tak Aman do poore trades haar chuka hai: -Rs 20,000, yaani -2R. Ek naya chart ekdum perfect lag raha hai, aur woh use double size par lena chahta hai, Rs 20,000 ke risk ke saath, 'sab wapas nikaalne ke liye'. … Kill-switch ke saath woh -2R, yaani capital ke 2% par app band kar deta hai, aur kal normal 1R size se nayi shuruaat karta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Loss ki seedhi</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Paanchon limits Aaj Ka Kaam mein aapke Risk Card par hain. Yeh seedhi dikhati hai ki har loss level par aapke baaki din aur hafte ka kya hoga; card market khulne se pehle, shaant mann se likhiye.</a:t>
            </a:r>
          </a:p>
        </p:txBody>
      </p:sp>
      <p:cxnSp>
        <p:nvCxnSpPr>
          <p:cNvPr id="11" name="Connector 10"/>
          <p:cNvCxnSpPr/>
          <p:nvPr/>
        </p:nvCxnSpPr>
        <p:spPr>
          <a:xfrm>
            <a:off x="6621532" y="217779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013204"/>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0R</a:t>
            </a:r>
          </a:p>
        </p:txBody>
      </p:sp>
      <p:sp>
        <p:nvSpPr>
          <p:cNvPr id="13" name="TextBox 12"/>
          <p:cNvSpPr txBox="1"/>
          <p:nvPr/>
        </p:nvSpPr>
        <p:spPr>
          <a:xfrm>
            <a:off x="7028345" y="2031492"/>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Market se pehle</a:t>
            </a:r>
          </a:p>
          <a:p>
            <a:pPr algn="l">
              <a:lnSpc>
                <a:spcPct val="100000"/>
              </a:lnSpc>
            </a:pPr>
            <a:r>
              <a:rPr sz="1250" b="0" i="0">
                <a:solidFill>
                  <a:srgbClr val="47596B"/>
                </a:solidFill>
                <a:latin typeface="Segoe UI"/>
              </a:rPr>
              <a:t>Limits aapke Risk Card par likhi hui</a:t>
            </a:r>
          </a:p>
        </p:txBody>
      </p:sp>
      <p:sp>
        <p:nvSpPr>
          <p:cNvPr id="14" name="Rounded Rectangle 13"/>
          <p:cNvSpPr/>
          <p:nvPr/>
        </p:nvSpPr>
        <p:spPr>
          <a:xfrm>
            <a:off x="6397600" y="2773680"/>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-1R</a:t>
            </a:r>
          </a:p>
        </p:txBody>
      </p:sp>
      <p:sp>
        <p:nvSpPr>
          <p:cNvPr id="15" name="TextBox 14"/>
          <p:cNvSpPr txBox="1"/>
          <p:nvPr/>
        </p:nvSpPr>
        <p:spPr>
          <a:xfrm>
            <a:off x="7028345" y="2791968"/>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Ek loss</a:t>
            </a:r>
          </a:p>
          <a:p>
            <a:pPr algn="l">
              <a:lnSpc>
                <a:spcPct val="100000"/>
              </a:lnSpc>
            </a:pPr>
            <a:r>
              <a:rPr sz="1250" b="0" i="0">
                <a:solidFill>
                  <a:srgbClr val="47596B"/>
                </a:solidFill>
                <a:latin typeface="Segoe UI"/>
              </a:rPr>
              <a:t>Journal mein likhiye, plan par chalte rahiye</a:t>
            </a:r>
          </a:p>
        </p:txBody>
      </p:sp>
      <p:sp>
        <p:nvSpPr>
          <p:cNvPr id="16" name="Rounded Rectangle 15"/>
          <p:cNvSpPr/>
          <p:nvPr/>
        </p:nvSpPr>
        <p:spPr>
          <a:xfrm>
            <a:off x="6397600" y="3534156"/>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-2R</a:t>
            </a:r>
          </a:p>
        </p:txBody>
      </p:sp>
      <p:sp>
        <p:nvSpPr>
          <p:cNvPr id="17" name="TextBox 16"/>
          <p:cNvSpPr txBox="1"/>
          <p:nvPr/>
        </p:nvSpPr>
        <p:spPr>
          <a:xfrm>
            <a:off x="7028345" y="3552444"/>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Aaj -2R</a:t>
            </a:r>
          </a:p>
          <a:p>
            <a:pPr algn="l">
              <a:lnSpc>
                <a:spcPct val="100000"/>
              </a:lnSpc>
            </a:pPr>
            <a:r>
              <a:rPr sz="1250" b="0" i="0">
                <a:solidFill>
                  <a:srgbClr val="47596B"/>
                </a:solidFill>
                <a:latin typeface="Segoe UI"/>
              </a:rPr>
              <a:t>Kal tak trading band</a:t>
            </a:r>
          </a:p>
        </p:txBody>
      </p:sp>
      <p:sp>
        <p:nvSpPr>
          <p:cNvPr id="18" name="Rounded Rectangle 17"/>
          <p:cNvSpPr/>
          <p:nvPr/>
        </p:nvSpPr>
        <p:spPr>
          <a:xfrm>
            <a:off x="6397600" y="4294632"/>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-5R</a:t>
            </a:r>
          </a:p>
        </p:txBody>
      </p:sp>
      <p:sp>
        <p:nvSpPr>
          <p:cNvPr id="19" name="TextBox 18"/>
          <p:cNvSpPr txBox="1"/>
          <p:nvPr/>
        </p:nvSpPr>
        <p:spPr>
          <a:xfrm>
            <a:off x="7028345" y="4312920"/>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Is hafte -5R</a:t>
            </a:r>
          </a:p>
          <a:p>
            <a:pPr algn="l">
              <a:lnSpc>
                <a:spcPct val="100000"/>
              </a:lnSpc>
            </a:pPr>
            <a:r>
              <a:rPr sz="1250" b="0" i="0">
                <a:solidFill>
                  <a:srgbClr val="47596B"/>
                </a:solidFill>
                <a:latin typeface="Segoe UI"/>
              </a:rPr>
              <a:t>Ruk kar journal review kijiye</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2" name="TextBox 2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Size formula se aata hai, is baat se kabhi nahi ki aap kitne sure feel kar rahe hain.</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18666"/>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1R (risk per trade)</a:t>
            </a:r>
          </a:p>
        </p:txBody>
      </p:sp>
      <p:sp>
        <p:nvSpPr>
          <p:cNvPr id="6" name="TextBox 5"/>
          <p:cNvSpPr txBox="1"/>
          <p:nvPr/>
        </p:nvSpPr>
        <p:spPr>
          <a:xfrm>
            <a:off x="658368"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Stop hit hone par ek trade ka planned loss: shuruaati capital ka 1%, yaani Rs 10 lakh par Rs 10,000, poore challenge mein fixed.</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610106"/>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Risk per share</a:t>
            </a:r>
          </a:p>
        </p:txBody>
      </p:sp>
      <p:sp>
        <p:nvSpPr>
          <p:cNvPr id="9" name="TextBox 8"/>
          <p:cNvSpPr txBox="1"/>
          <p:nvPr/>
        </p:nvSpPr>
        <p:spPr>
          <a:xfrm>
            <a:off x="6379312" y="1924050"/>
            <a:ext cx="5154016" cy="2651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Aapke entry price aur stop-loss price ke beech ki doori.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94254"/>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Position size</a:t>
            </a:r>
          </a:p>
        </p:txBody>
      </p:sp>
      <p:sp>
        <p:nvSpPr>
          <p:cNvPr id="12" name="TextBox 11"/>
          <p:cNvSpPr txBox="1"/>
          <p:nvPr/>
        </p:nvSpPr>
        <p:spPr>
          <a:xfrm>
            <a:off x="658368" y="3092958"/>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Aap kitne shares khareedte hain: risk budget ÷ risk per share, round down karke, aur zaroorat ho toh 25% cap tak kam karke.</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Exposure cap</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position ki zyada se zyada value: capital ka 25%, yaani Rs 10 lakh par Rs 2.5 lakh, ek shaam pehle maximum planned entry par check ki hui.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46982"/>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Correlation</a:t>
            </a:r>
          </a:p>
        </p:txBody>
      </p:sp>
      <p:sp>
        <p:nvSpPr>
          <p:cNvPr id="18" name="TextBox 17"/>
          <p:cNvSpPr txBox="1"/>
          <p:nvPr/>
        </p:nvSpPr>
        <p:spPr>
          <a:xfrm>
            <a:off x="658368"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Do shares kitna saath-saath chalte hain. Correlated trades ek bade daon ki tarah behave karte hain.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Sector</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Company kis tarah ka business karti hai, jaise cement, bank ya food products. NSE par har listed share ke quote page par yeh likha hota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22570"/>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Kill-switch for humans</a:t>
            </a:r>
          </a:p>
        </p:txBody>
      </p:sp>
      <p:sp>
        <p:nvSpPr>
          <p:cNvPr id="24" name="TextBox 23"/>
          <p:cNvSpPr txBox="1"/>
          <p:nvPr/>
        </p:nvSpPr>
        <p:spPr>
          <a:xfrm>
            <a:off x="658368" y="5636514"/>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Daily stop: ek din mein -2R (challenge capital par Rs 20,000) ke baad agle din tak koi trade nahi.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22570"/>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Weekly pause</a:t>
            </a:r>
          </a:p>
        </p:txBody>
      </p:sp>
      <p:sp>
        <p:nvSpPr>
          <p:cNvPr id="27" name="TextBox 26"/>
          <p:cNvSpPr txBox="1"/>
          <p:nvPr/>
        </p:nvSpPr>
        <p:spPr>
          <a:xfrm>
            <a:off x="6379312" y="5636514"/>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Ek hafte mein -5R (challenge capital par Rs 50,000) ke baad ruk jaiye aur agle trade se pehle apna journal padhiye.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776282"/>
            <a:ext cx="502920" cy="27622"/>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2153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44256"/>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Pehle risk, phir size</a:t>
            </a:r>
          </a:p>
        </p:txBody>
      </p:sp>
      <p:sp>
        <p:nvSpPr>
          <p:cNvPr id="11" name="Rounded Rectangle 10"/>
          <p:cNvSpPr/>
          <p:nvPr/>
        </p:nvSpPr>
        <p:spPr>
          <a:xfrm>
            <a:off x="640080" y="1371028"/>
            <a:ext cx="3718408" cy="1567434"/>
          </a:xfrm>
          <a:prstGeom prst="roundRect">
            <a:avLst>
              <a:gd name="adj" fmla="val 700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80757"/>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1% rule</a:t>
            </a:r>
          </a:p>
        </p:txBody>
      </p:sp>
      <p:sp>
        <p:nvSpPr>
          <p:cNvPr id="13" name="TextBox 12"/>
          <p:cNvSpPr txBox="1"/>
          <p:nvPr/>
        </p:nvSpPr>
        <p:spPr>
          <a:xfrm>
            <a:off x="786384" y="1797749"/>
            <a:ext cx="3425800" cy="114071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1R fixed: Rs 10 lakh par Rs 10,000</a:t>
            </a:r>
          </a:p>
          <a:p>
            <a:pPr algn="l" marL="182880" indent="-182880">
              <a:lnSpc>
                <a:spcPct val="100000"/>
              </a:lnSpc>
              <a:spcAft>
                <a:spcPts val="434"/>
              </a:spcAft>
              <a:buClr>
                <a:srgbClr val="0093D6"/>
              </a:buClr>
              <a:buFont typeface="Arial"/>
              <a:buChar char="•"/>
            </a:pPr>
            <a:r>
              <a:rPr sz="1450" b="0" i="0">
                <a:solidFill>
                  <a:srgbClr val="18232F"/>
                </a:solidFill>
                <a:latin typeface="Segoe UI"/>
              </a:rPr>
              <a:t>Planned loss ki limit, investment ki nahi</a:t>
            </a:r>
          </a:p>
          <a:p>
            <a:pPr algn="l" marL="182880" indent="-182880">
              <a:lnSpc>
                <a:spcPct val="100000"/>
              </a:lnSpc>
              <a:buClr>
                <a:srgbClr val="0093D6"/>
              </a:buClr>
              <a:buFont typeface="Arial"/>
              <a:buChar char="•"/>
            </a:pPr>
            <a:r>
              <a:rPr sz="1450" b="0" i="0">
                <a:solidFill>
                  <a:srgbClr val="18232F"/>
                </a:solidFill>
                <a:latin typeface="Segoe UI"/>
              </a:rPr>
              <a:t>Losing streak jhelne mein madad</a:t>
            </a:r>
          </a:p>
        </p:txBody>
      </p:sp>
      <p:sp>
        <p:nvSpPr>
          <p:cNvPr id="14" name="Rounded Rectangle 13"/>
          <p:cNvSpPr/>
          <p:nvPr/>
        </p:nvSpPr>
        <p:spPr>
          <a:xfrm>
            <a:off x="640080" y="3103054"/>
            <a:ext cx="3718408" cy="1346454"/>
          </a:xfrm>
          <a:prstGeom prst="roundRect">
            <a:avLst>
              <a:gd name="adj" fmla="val 814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12782"/>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Sizing formula</a:t>
            </a:r>
          </a:p>
        </p:txBody>
      </p:sp>
      <p:sp>
        <p:nvSpPr>
          <p:cNvPr id="16" name="TextBox 15"/>
          <p:cNvSpPr txBox="1"/>
          <p:nvPr/>
        </p:nvSpPr>
        <p:spPr>
          <a:xfrm>
            <a:off x="786384" y="3529774"/>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Budget = capital x 1%</a:t>
            </a:r>
          </a:p>
          <a:p>
            <a:pPr algn="l" marL="182880" indent="-182880">
              <a:lnSpc>
                <a:spcPct val="100000"/>
              </a:lnSpc>
              <a:spcAft>
                <a:spcPts val="434"/>
              </a:spcAft>
              <a:buClr>
                <a:srgbClr val="16A34A"/>
              </a:buClr>
              <a:buFont typeface="Arial"/>
              <a:buChar char="•"/>
            </a:pPr>
            <a:r>
              <a:rPr sz="1450" b="0" i="0">
                <a:solidFill>
                  <a:srgbClr val="18232F"/>
                </a:solidFill>
                <a:latin typeface="Segoe UI"/>
              </a:rPr>
              <a:t>÷ entry se stop ki doori</a:t>
            </a:r>
          </a:p>
          <a:p>
            <a:pPr algn="l" marL="182880" indent="-182880">
              <a:lnSpc>
                <a:spcPct val="100000"/>
              </a:lnSpc>
              <a:buClr>
                <a:srgbClr val="16A34A"/>
              </a:buClr>
              <a:buFont typeface="Arial"/>
              <a:buChar char="•"/>
            </a:pPr>
            <a:r>
              <a:rPr sz="1450" b="0" i="0">
                <a:solidFill>
                  <a:srgbClr val="18232F"/>
                </a:solidFill>
                <a:latin typeface="Segoe UI"/>
              </a:rPr>
              <a:t>Hamesha round down</a:t>
            </a:r>
          </a:p>
        </p:txBody>
      </p:sp>
      <p:sp>
        <p:nvSpPr>
          <p:cNvPr id="17" name="Rounded Rectangle 16"/>
          <p:cNvSpPr/>
          <p:nvPr/>
        </p:nvSpPr>
        <p:spPr>
          <a:xfrm>
            <a:off x="640080" y="4614100"/>
            <a:ext cx="3718408" cy="1622679"/>
          </a:xfrm>
          <a:prstGeom prst="roundRect">
            <a:avLst>
              <a:gd name="adj" fmla="val 676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23828"/>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25% cap</a:t>
            </a:r>
          </a:p>
        </p:txBody>
      </p:sp>
      <p:sp>
        <p:nvSpPr>
          <p:cNvPr id="19" name="TextBox 18"/>
          <p:cNvSpPr txBox="1"/>
          <p:nvPr/>
        </p:nvSpPr>
        <p:spPr>
          <a:xfrm>
            <a:off x="786384" y="5040820"/>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Ek position max Rs 2.5 lakh</a:t>
            </a:r>
          </a:p>
          <a:p>
            <a:pPr algn="l" marL="182880" indent="-182880">
              <a:lnSpc>
                <a:spcPct val="100000"/>
              </a:lnSpc>
              <a:spcAft>
                <a:spcPts val="434"/>
              </a:spcAft>
              <a:buClr>
                <a:srgbClr val="F5A524"/>
              </a:buClr>
              <a:buFont typeface="Arial"/>
              <a:buChar char="•"/>
            </a:pPr>
            <a:r>
              <a:rPr sz="1450" b="0" i="0">
                <a:solidFill>
                  <a:srgbClr val="18232F"/>
                </a:solidFill>
                <a:latin typeface="Segoe UI"/>
              </a:rPr>
              <a:t>Tight stop mein sabse zaroori</a:t>
            </a:r>
          </a:p>
          <a:p>
            <a:pPr algn="l" marL="182880" indent="-182880">
              <a:lnSpc>
                <a:spcPct val="100000"/>
              </a:lnSpc>
              <a:spcAft>
                <a:spcPts val="434"/>
              </a:spcAft>
              <a:buClr>
                <a:srgbClr val="F5A524"/>
              </a:buClr>
              <a:buFont typeface="Arial"/>
              <a:buChar char="•"/>
            </a:pPr>
            <a:r>
              <a:rPr sz="1450" b="0" i="0">
                <a:solidFill>
                  <a:srgbClr val="18232F"/>
                </a:solidFill>
                <a:latin typeface="Segoe UI"/>
              </a:rPr>
              <a:t>Chhoti quantity lijiye</a:t>
            </a:r>
          </a:p>
          <a:p>
            <a:pPr algn="l" marL="182880" indent="-182880">
              <a:lnSpc>
                <a:spcPct val="100000"/>
              </a:lnSpc>
              <a:buClr>
                <a:srgbClr val="F5A524"/>
              </a:buClr>
              <a:buFont typeface="Arial"/>
              <a:buChar char="•"/>
            </a:pPr>
            <a:r>
              <a:rPr sz="1450" b="0" i="0">
                <a:solidFill>
                  <a:srgbClr val="18232F"/>
                </a:solidFill>
                <a:latin typeface="Segoe UI"/>
              </a:rPr>
              <a:t>Max entry par check</a:t>
            </a:r>
          </a:p>
        </p:txBody>
      </p:sp>
      <p:sp>
        <p:nvSpPr>
          <p:cNvPr id="20" name="Rounded Rectangle 19"/>
          <p:cNvSpPr/>
          <p:nvPr/>
        </p:nvSpPr>
        <p:spPr>
          <a:xfrm>
            <a:off x="7833208" y="137102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80757"/>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Stop phisal sakta hai</a:t>
            </a:r>
          </a:p>
        </p:txBody>
      </p:sp>
      <p:sp>
        <p:nvSpPr>
          <p:cNvPr id="22" name="TextBox 21"/>
          <p:cNvSpPr txBox="1"/>
          <p:nvPr/>
        </p:nvSpPr>
        <p:spPr>
          <a:xfrm>
            <a:off x="7979512" y="179774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Gap stop ke upar se kood jaata hai</a:t>
            </a:r>
          </a:p>
          <a:p>
            <a:pPr algn="l" marL="182880" indent="-182880">
              <a:lnSpc>
                <a:spcPct val="100000"/>
              </a:lnSpc>
              <a:spcAft>
                <a:spcPts val="434"/>
              </a:spcAft>
              <a:buClr>
                <a:srgbClr val="F0554E"/>
              </a:buClr>
              <a:buFont typeface="Arial"/>
              <a:buChar char="•"/>
            </a:pPr>
            <a:r>
              <a:rPr sz="1450" b="0" i="0">
                <a:solidFill>
                  <a:srgbClr val="18232F"/>
                </a:solidFill>
                <a:latin typeface="Segoe UI"/>
              </a:rPr>
              <a:t>Circuit sellers ko phansata hai</a:t>
            </a:r>
          </a:p>
          <a:p>
            <a:pPr algn="l" marL="182880" indent="-182880">
              <a:lnSpc>
                <a:spcPct val="100000"/>
              </a:lnSpc>
              <a:buClr>
                <a:srgbClr val="F0554E"/>
              </a:buClr>
              <a:buFont typeface="Arial"/>
              <a:buChar char="•"/>
            </a:pPr>
            <a:r>
              <a:rPr sz="1450" b="0" i="0">
                <a:solidFill>
                  <a:srgbClr val="18232F"/>
                </a:solidFill>
                <a:latin typeface="Segoe UI"/>
              </a:rPr>
              <a:t>Loss 1R se zyada ho sakta hai</a:t>
            </a:r>
          </a:p>
        </p:txBody>
      </p:sp>
      <p:sp>
        <p:nvSpPr>
          <p:cNvPr id="23" name="Rounded Rectangle 22"/>
          <p:cNvSpPr/>
          <p:nvPr/>
        </p:nvSpPr>
        <p:spPr>
          <a:xfrm>
            <a:off x="7833208" y="2882074"/>
            <a:ext cx="3718408" cy="1843659"/>
          </a:xfrm>
          <a:prstGeom prst="roundRect">
            <a:avLst>
              <a:gd name="adj" fmla="val 595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2991802"/>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Account ki limits</a:t>
            </a:r>
          </a:p>
        </p:txBody>
      </p:sp>
      <p:sp>
        <p:nvSpPr>
          <p:cNvPr id="25" name="TextBox 24"/>
          <p:cNvSpPr txBox="1"/>
          <p:nvPr/>
        </p:nvSpPr>
        <p:spPr>
          <a:xfrm>
            <a:off x="7979512" y="3308794"/>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Max 3 open trades</a:t>
            </a:r>
          </a:p>
          <a:p>
            <a:pPr algn="l" marL="182880" indent="-182880">
              <a:lnSpc>
                <a:spcPct val="100000"/>
              </a:lnSpc>
              <a:spcAft>
                <a:spcPts val="434"/>
              </a:spcAft>
              <a:buClr>
                <a:srgbClr val="0093D6"/>
              </a:buClr>
              <a:buFont typeface="Arial"/>
              <a:buChar char="•"/>
            </a:pPr>
            <a:r>
              <a:rPr sz="1450" b="0" i="0">
                <a:solidFill>
                  <a:srgbClr val="18232F"/>
                </a:solidFill>
                <a:latin typeface="Segoe UI"/>
              </a:rPr>
              <a:t>Ek khabar wale trades = ek daon</a:t>
            </a:r>
          </a:p>
          <a:p>
            <a:pPr algn="l" marL="182880" indent="-182880">
              <a:lnSpc>
                <a:spcPct val="100000"/>
              </a:lnSpc>
              <a:spcAft>
                <a:spcPts val="434"/>
              </a:spcAft>
              <a:buClr>
                <a:srgbClr val="0093D6"/>
              </a:buClr>
              <a:buFont typeface="Arial"/>
              <a:buChar char="•"/>
            </a:pPr>
            <a:r>
              <a:rPr sz="1450" b="0" i="0">
                <a:solidFill>
                  <a:srgbClr val="18232F"/>
                </a:solidFill>
                <a:latin typeface="Segoe UI"/>
              </a:rPr>
              <a:t>-2R par din band, -5R par pause aur review</a:t>
            </a:r>
          </a:p>
          <a:p>
            <a:pPr algn="l" marL="182880" indent="-182880">
              <a:lnSpc>
                <a:spcPct val="100000"/>
              </a:lnSpc>
              <a:buClr>
                <a:srgbClr val="0093D6"/>
              </a:buClr>
              <a:buFont typeface="Arial"/>
              <a:buChar char="•"/>
            </a:pPr>
            <a:r>
              <a:rPr sz="1450" b="0" i="0">
                <a:solidFill>
                  <a:srgbClr val="18232F"/>
                </a:solidFill>
                <a:latin typeface="Segoe UI"/>
              </a:rPr>
              <a:t>Pehle sector check</a:t>
            </a:r>
          </a:p>
        </p:txBody>
      </p:sp>
      <p:sp>
        <p:nvSpPr>
          <p:cNvPr id="26" name="Rounded Rectangle 25"/>
          <p:cNvSpPr/>
          <p:nvPr/>
        </p:nvSpPr>
        <p:spPr>
          <a:xfrm>
            <a:off x="7833208" y="4890326"/>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00054"/>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Aapka mann</a:t>
            </a:r>
          </a:p>
        </p:txBody>
      </p:sp>
      <p:sp>
        <p:nvSpPr>
          <p:cNvPr id="28" name="TextBox 27"/>
          <p:cNvSpPr txBox="1"/>
          <p:nvPr/>
        </p:nvSpPr>
        <p:spPr>
          <a:xfrm>
            <a:off x="7979512"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Confidence size nahi hai</a:t>
            </a:r>
          </a:p>
          <a:p>
            <a:pPr algn="l" marL="182880" indent="-182880">
              <a:lnSpc>
                <a:spcPct val="100000"/>
              </a:lnSpc>
              <a:spcAft>
                <a:spcPts val="434"/>
              </a:spcAft>
              <a:buClr>
                <a:srgbClr val="F0554E"/>
              </a:buClr>
              <a:buFont typeface="Arial"/>
              <a:buChar char="•"/>
            </a:pPr>
            <a:r>
              <a:rPr sz="1450" b="0" i="0">
                <a:solidFill>
                  <a:srgbClr val="18232F"/>
                </a:solidFill>
                <a:latin typeface="Segoe UI"/>
              </a:rPr>
              <a:t>'Wapas nikaalo' trade nahi</a:t>
            </a:r>
          </a:p>
          <a:p>
            <a:pPr algn="l" marL="182880" indent="-182880">
              <a:lnSpc>
                <a:spcPct val="100000"/>
              </a:lnSpc>
              <a:buClr>
                <a:srgbClr val="F0554E"/>
              </a:buClr>
              <a:buFont typeface="Arial"/>
              <a:buChar char="•"/>
            </a:pPr>
            <a:r>
              <a:rPr sz="1450" b="0" i="0">
                <a:solidFill>
                  <a:srgbClr val="18232F"/>
                </a:solidFill>
                <a:latin typeface="Segoe UI"/>
              </a:rPr>
              <a:t>Rules sirf weekend par badlein</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Google Sheets mein apna sizing calculator banaiye, chaar practice trades par test kijiye aur apna Risk Card likhiye.</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Ek nayi Google Sheet kholiye. A1 se A4 mein likhiye Capital, Risk %, Max entry, Stop; aur B1 se B4 mein 1000000, 1%, 400, 380.</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A5 se A7 mein likhiye Risk budget, Risk per share, Quantity. B5 mein =B1*B2, B6 mein =ABS(B3-B4), B7 mein =ROUNDDOWN(B5/B6,0). Sheets mein * ka matlab guna hai.</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A8 se A10 mein likhiye Position value, Cap check, Final quantity. B8 mein =B7*B3, B9 mein =IF(B8&gt;0.25*B1,"OVERSIZED","OK"), B10 mein =MIN(B7,ROUNDDOWN(0.25*B1/B3,0)).</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Sirf Max entry aur Stop badal kar chaar trades test kijiye: 400/380, 250/237, 500/495 aur 300/288 (Day 8 ka 1.5 x ATR stop). Har number ko Aapka template ki 'Chaar test trades' table se milaiye: sirf 500/495 par OVERSIZED aata hai, aur uski Final quantity 500 hai.</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se Risk Card ko paper par ya apni sheet mein, apne haath se ya apne shabdon mein, utaariye, aur use chart ke paas rakhiye.</a:t>
            </a:r>
          </a:p>
        </p:txBody>
      </p:sp>
      <p:sp>
        <p:nvSpPr>
          <p:cNvPr id="13" name="Rounded Rectangle 12"/>
          <p:cNvSpPr/>
          <p:nvPr/>
        </p:nvSpPr>
        <p:spPr>
          <a:xfrm>
            <a:off x="457200" y="31394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'Meri sizing sheet check kijiye' prompt chalaiye, phir uska ek jawab khud phone calculator par dobara check kijiye.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1% formula se kisi bhi trade ka size nikaal payenge, maximum entry par 25% cap laga payenge, samjha payenge ki stop-loss ke baad bhi loss 1R se zyada kyun ho sakta hai, check kar payenge ki koi do open trades ek hi sector mein na hon, aur paanch limits wala woh Risk Card likh payenge jis par aap Day 12 se chalenge.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Risk Card</a:t>
            </a:r>
          </a:p>
        </p:txBody>
      </p:sp>
      <p:sp>
        <p:nvSpPr>
          <p:cNvPr id="4" name="TextBox 3"/>
          <p:cNvSpPr txBox="1"/>
          <p:nvPr/>
        </p:nvSpPr>
        <p:spPr>
          <a:xfrm>
            <a:off x="457200" y="1335024"/>
            <a:ext cx="11277295" cy="463296"/>
          </a:xfrm>
          <a:prstGeom prst="rect">
            <a:avLst/>
          </a:prstGeom>
          <a:noFill/>
        </p:spPr>
        <p:txBody>
          <a:bodyPr wrap="square" lIns="0" rIns="0" tIns="0" bIns="0" anchor="t">
            <a:noAutofit/>
          </a:bodyPr>
          <a:lstStyle/>
          <a:p>
            <a:pPr algn="l">
              <a:lnSpc>
                <a:spcPct val="100000"/>
              </a:lnSpc>
            </a:pPr>
            <a:r>
              <a:rPr sz="1400" b="0" i="1">
                <a:solidFill>
                  <a:srgbClr val="47596B"/>
                </a:solidFill>
                <a:latin typeface="Segoe UI"/>
              </a:rPr>
              <a:t>Paanch limits, shaant mann se likhi hui. Challenge poore Stage 1 mein Rs 10 lakh wala column use karta hai; Rs 1 lakh wala column dikhata hai ki har limit capital ke saath badalti hai. Kabhi alag rakam se shuru karein, toh pehle trade se pehle saare number dobara nikaaliye.</a:t>
            </a:r>
          </a:p>
        </p:txBody>
      </p:sp>
      <p:sp>
        <p:nvSpPr>
          <p:cNvPr id="5" name="Rounded Rectangle 4"/>
          <p:cNvSpPr/>
          <p:nvPr/>
        </p:nvSpPr>
        <p:spPr>
          <a:xfrm>
            <a:off x="457200" y="1944624"/>
            <a:ext cx="11277295" cy="4328160"/>
          </a:xfrm>
          <a:prstGeom prst="roundRect">
            <a:avLst>
              <a:gd name="adj" fmla="val 253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090928"/>
          <a:ext cx="10911535" cy="3401568"/>
        </p:xfrm>
        <a:graphic>
          <a:graphicData uri="http://schemas.openxmlformats.org/drawingml/2006/table">
            <a:tbl>
              <a:tblPr firstRow="1">
                <a:tableStyleId>{5C22544A-7EE6-4342-B048-85BDC9FD1C3A}</a:tableStyleId>
              </a:tblPr>
              <a:tblGrid>
                <a:gridCol w="2468401"/>
                <a:gridCol w="4918252"/>
                <a:gridCol w="1831013"/>
                <a:gridCol w="1693869"/>
              </a:tblGrid>
              <a:tr h="493776">
                <a:tc>
                  <a:txBody>
                    <a:bodyPr wrap="square"/>
                    <a:lstStyle/>
                    <a:p>
                      <a:pPr algn="l"/>
                      <a:r>
                        <a:rPr sz="1500" b="1" i="0">
                          <a:solidFill>
                            <a:srgbClr val="FFFFFF"/>
                          </a:solidFill>
                          <a:latin typeface="Segoe UI"/>
                        </a:rPr>
                        <a:t>Limit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Rs 10 lakh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Rs 1 lakh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Har trade ka risk (1R)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Shuruaati capital ka 1%, fixed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Ek position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Zyada se zyada 25%, max planned entry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Open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Zyada se zyada 3, har ek alag sector mein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3R = 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3R = Rs 3,000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-2R par us din trading band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-5R par ruk kar review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Signature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Aapka naam aur aaj ki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Chaar test trades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Rs 10 lakh aur 1% risk par aapki sheet mein bilkul yahi number aane chahiye. Khaali rows Size Sprint ke liye hain.</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59"/>
        </p:xfrm>
        <a:graphic>
          <a:graphicData uri="http://schemas.openxmlformats.org/drawingml/2006/table">
            <a:tbl>
              <a:tblPr firstRow="1">
                <a:tableStyleId>{5C22544A-7EE6-4342-B048-85BDC9FD1C3A}</a:tableStyleId>
              </a:tblPr>
              <a:tblGrid>
                <a:gridCol w="1468937"/>
                <a:gridCol w="987433"/>
                <a:gridCol w="1924428"/>
                <a:gridCol w="1701125"/>
                <a:gridCol w="2654866"/>
                <a:gridCol w="2174746"/>
              </a:tblGrid>
              <a:tr h="347472">
                <a:tc>
                  <a:txBody>
                    <a:bodyPr wrap="square"/>
                    <a:lstStyle/>
                    <a:p>
                      <a:pPr algn="l"/>
                      <a:r>
                        <a:rPr sz="1500" b="1" i="0">
                          <a:solidFill>
                            <a:srgbClr val="FFFFFF"/>
                          </a:solidFill>
                          <a:latin typeface="Segoe UI"/>
                        </a:rPr>
                        <a:t>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Risk per share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Formula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Max entry par value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Final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1,92,250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495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(OVERSIZED)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288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2,49,900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Open trades ka check</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Bhari hui rows ek model hafta hain. Day 12 se har naye paper trade se pehle ek row bhariye, sector stock ke NSE quote page se lekar. Woh sector pehle se open ho, ya 3 trades pehle se open hon, toh naya trade intezaar karega.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0"/>
        </p:xfrm>
        <a:graphic>
          <a:graphicData uri="http://schemas.openxmlformats.org/drawingml/2006/table">
            <a:tbl>
              <a:tblPr firstRow="1">
                <a:tableStyleId>{5C22544A-7EE6-4342-B048-85BDC9FD1C3A}</a:tableStyleId>
              </a:tblPr>
              <a:tblGrid>
                <a:gridCol w="2371707"/>
                <a:gridCol w="2830313"/>
                <a:gridCol w="1764493"/>
                <a:gridCol w="3945023"/>
              </a:tblGrid>
              <a:tr h="394716">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Planned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Faisla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85572">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Cement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Food products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Anand Snacks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Food products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 Kiran Foods wala hi 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Pumps (capital goods)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 teesra trade, naya 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Koi chautha 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Intezaar: 3 trades pehle se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Size Sprint</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Kisi dost ya ghar mein kisi se paanch entry aur stop prices bolne ko kahiye.</a:t>
            </a:r>
          </a:p>
          <a:p>
            <a:pPr algn="l">
              <a:lnSpc>
                <a:spcPct val="100000"/>
              </a:lnSpc>
              <a:spcAft>
                <a:spcPts val="700"/>
              </a:spcAft>
            </a:pPr>
            <a:r>
              <a:rPr sz="2000" b="0" i="0">
                <a:solidFill>
                  <a:srgbClr val="18232F"/>
                </a:solidFill>
                <a:latin typeface="Segoe UI"/>
              </a:rPr>
              <a:t>Har ek ka size phone calculator par 60 second mein nikaaliye aur 'Chaar test trades' ki khaali rows mein likhiye.</a:t>
            </a:r>
          </a:p>
          <a:p>
            <a:pPr algn="l">
              <a:lnSpc>
                <a:spcPct val="100000"/>
              </a:lnSpc>
            </a:pPr>
            <a:r>
              <a:rPr sz="2000" b="0" i="0">
                <a:solidFill>
                  <a:srgbClr val="18232F"/>
                </a:solidFill>
                <a:latin typeface="Segoe UI"/>
              </a:rPr>
              <a:t>Har sahi, round down ki hui quantity aur har pakde gaye OVERSIZED ka ek point; sirf speed ka koi point nahi.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Sizing sheet banaiye; formulas AI se check karwaiye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Meri sizing sheet check kijiye</a:t>
            </a:r>
          </a:p>
        </p:txBody>
      </p:sp>
      <p:sp>
        <p:nvSpPr>
          <p:cNvPr id="7" name="TextBox 6"/>
          <p:cNvSpPr txBox="1"/>
          <p:nvPr/>
        </p:nvSpPr>
        <p:spPr>
          <a:xfrm>
            <a:off x="658368"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the formulas from my Google Sheets sizing calculator. Inputs: capital, risk % per trade, maximum planned entry price, stop price.”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Mere stop ka stress-test</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risk teacher for Indian markets. On Rs 10,00,000 of virtual capital I plan a practice trade in a made-up NSE stock, 'Bharat Pumps Ltd': 500 shares at Rs 400 with a stop-loss at Rs 380, so 1R = Rs 10,000.”</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'Bada lagata hoon' wala mann</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the moments when I have wanted to increase my position size: after wins, after losses, or when a tip or a chart looked 'perfect'.”</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paas Rs 10,00,000 ka virtual capital hai aur woh har trade par 1% risk leti hai. Entry Rs 320 hai aur stop Rs 304. Use kitne shares khareedne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781 shares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3,125 shares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625 shares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 shares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SAWAAL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Entry Rs 800, stop Rs 796, capital Rs 10 lakh, risk 1%. Sizing formula 2,500 shares deta hai. Course ke rules ke hisaab se final size kitna hoga?</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 shares, budget ko price se divide karke</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2,500 shares, bilkul formula ke hisaab se</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1,250 shares, formula size ka aadha</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312 shares: 25% cap, Rs 2,50,000 ÷ Rs 800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Paper trading ke ek hafte baad aapka virtual account Rs 9,70,000 dikha raha hai. Aapke paas Kiran Foods Ltd ke 400 shares hain, Rs 250 par khareede, stop Rs 225 par. Buri khabar ke baad stock Rs 205 par khulta hai, aur aapka stop opening par bech deta hai. Loss kitne R ka hua?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1.8R: Rs 18,000 ÷ fixed Rs 10,000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 kyunki stop-loss ne loss rok diya</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Lagbhag 1.86R: Rs 18,000 ÷ Rs 9,700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0.8R: sirf stop ke neeche wala Rs 8,000 ka slip</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SAWAAL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ke teen swing trades open hain, har ek 1R ka: Gupta Cement Ltd aur do aur cement companies. Kaunsi baat sabse sahi hai?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Safe hai, kyunki har trade sirf 1R ka hai</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Correlation sirf intraday trades mein maayne rakhta hai</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Yeh asal mein cement shares par ek bada daon hai</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Uska risk teen stocks mein achhe se bant gaya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SAWAAL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Office se chhutti ke din Priya ka ek trade open hai. Stock uske stop ke neeche gap ke saath khulta hai, aur exit par use -2R ka loss hota hai. Dopahar 1:30 baje ek saaf setup aata hai jo uske saare rules par fit hai. Course ke rules kya kehte hain?</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Le lijiye, lekin sirf tight stop ke saath</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Aadhe size par lijiye, bas savdhaani ke liye</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Aaj ke liye band: -2R ki limit poori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Le lijiye: aaj usne sirf ek trade haara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Risk pehle: 1% rule aur position sizing</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Aakhri baar 'is baar bada lagata hoon' wala mann kab aaya tha, market mein ya kahin aur? Usse theek pehle aap kya feel kar rahe the? Woh ek line likhiye jo agli baar yeh mann aane par aap khud se kahenge.</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301904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Agla trade kaise khatam hoga, yeh aapke haath mein nahi. Uska size hamesha aapke haath mein hai.</a:t>
            </a:r>
          </a:p>
        </p:txBody>
      </p:sp>
      <p:sp>
        <p:nvSpPr>
          <p:cNvPr id="11" name="Rounded Rectangle 10"/>
          <p:cNvSpPr/>
          <p:nvPr/>
        </p:nvSpPr>
        <p:spPr>
          <a:xfrm>
            <a:off x="457200" y="5489448"/>
            <a:ext cx="436320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10 · Aapka style, aur investing ka raasta</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10</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Aapka style, aur investing ka raasta</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Holding time ke hisaab se trading styles, paise ka sahi order, aur investing ka raasta</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Style Fit interview: AI sawaal poochhe, faisla aapka</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Kisi aur ka style copy karna</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7" name="TextBox 16"/>
          <p:cNvSpPr txBox="1"/>
          <p:nvPr/>
        </p:nvSpPr>
        <p:spPr>
          <a:xfrm>
            <a:off x="4572000" y="4626864"/>
            <a:ext cx="7162495" cy="149961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chaaron styles (intraday, swing, positional, investing) ko holding period aur screen time se pehchaan payenge, Style Fit check se woh style chun payenge jo aapka asli din allow karta hai, apna paisa sahi order mein rakh payenge (pehle emergency fund, phir goals, phir risk capital), aur index fund, ETF, NAV, expense ratio, tracking error, SIP aur IPO ka process samjha payenge.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Meeting room mein five-minute charts</a:t>
            </a:r>
          </a:p>
        </p:txBody>
      </p:sp>
      <p:sp>
        <p:nvSpPr>
          <p:cNvPr id="4" name="Rounded Rectangle 3"/>
          <p:cNvSpPr/>
          <p:nvPr/>
        </p:nvSpPr>
        <p:spPr>
          <a:xfrm>
            <a:off x="457200" y="1426464"/>
            <a:ext cx="3649370" cy="415442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6972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ki shaam. Aman office ke kapdon mein hi Pune se mentor ko call karta hai. Priya Lucknow se jud jaati hai.</a:t>
            </a:r>
          </a:p>
        </p:txBody>
      </p:sp>
      <p:sp>
        <p:nvSpPr>
          <p:cNvPr id="7" name="Rounded Rectangle 6"/>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aaj maine YouTube wale full-time trader ko copy kiya: five-minute charts, jaldi andar, jaldi bahar, trades notebook mein likhe. Phir 11 baje ki meeting mein manager ne kuch pooch liya aur mere paas jawab hi nahi tha. Phone dekha toh price mere likhe stop-loss se kab ka neeche nikal chuka tha.</a:t>
            </a:r>
          </a:p>
        </p:txBody>
      </p:sp>
      <p:sp>
        <p:nvSpPr>
          <p:cNvPr id="13" name="Rounded Rectangle 12"/>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do sawaal. Woh kitne baje se kitne baje tak trade karta hai? Aur aap kitne baje se kitne baje tak kaam karte hain?</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Meeting room mein five-minute charts</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Woh ghar par teen screens ke saath baithta hai, 9:15 se 3:30 tak. Main 9:30 se 6:30 tak office mein hota hoon... Matlab style toh maine uska copy kar liya, par uska din mere paas hai hi nahi.</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mujhe dinner ke baad bas 20 minute milte hain. Papa kehte hain, trading chhodo, SIP shuru karo. Toh kya investing sirf unke liye hai jo trade nahi kar paate?</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Aap dono asli sawaal tak pahunch gaye hain. Aaj hum style aapke din ke hisaab se chunenge, kisi aur ke din ke hisaab se nahi. Aur Priya, investing apne aap mein ek poora raasta hai, majboori ka raasta nahi. Aur dono se pehle hum yeh dekhenge ki aapka paisa sahi order mein hai ya nahi.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Kisi aur ki zindagi se copy kiya hua style aapki zindagi mein toot jaata hai. Woh style chuniye jise aapka apna din sambhal sake.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Chaar styles, chaar ghadiyan</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Trading style zyadatar is baat par tika hai ki aap position kitni der hold karte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Ise holding period kehte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Styles chaar hain: intraday (usi din), swing (kuch din se kuch hafte), positional (hafton se mahinon tak) aur investing (saalon tak).</a:t>
            </a:r>
          </a:p>
          <a:p>
            <a:pPr algn="l" marL="274320" indent="-274320">
              <a:lnSpc>
                <a:spcPct val="100000"/>
              </a:lnSpc>
              <a:buClr>
                <a:srgbClr val="134A9A"/>
              </a:buClr>
              <a:buFont typeface="Arial"/>
              <a:buChar char="•"/>
            </a:pPr>
            <a:r>
              <a:rPr sz="1600" b="0" i="0">
                <a:solidFill>
                  <a:srgbClr val="18232F"/>
                </a:solidFill>
                <a:latin typeface="Segoe UI"/>
              </a:rPr>
              <a:t>Close ke paas jo intraday position khuli reh jaaye, use broker apne tay kiye cut-off time par khud square off kar deta hai (apne broker ka cut-off check kijiye; Day 2).</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Har round trip, yaani ek buy aur ek sell, ko ek toll booth samajhiye: trade jeete ya haare, charges aur slippage toh dene hi padte hain. … Har toll ek jaisa nahi hota, kyunki delivery aur intraday par charges alag lagte hain, lekin 80 guna zyada booth bhaari hi padte hain; asli amount aapka contract note batata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trading day ka screen time</a:t>
            </a:r>
          </a:p>
        </p:txBody>
      </p:sp>
      <p:sp>
        <p:nvSpPr>
          <p:cNvPr id="10" name="TextBox 9"/>
          <p:cNvSpPr txBox="1"/>
          <p:nvPr/>
        </p:nvSpPr>
        <p:spPr>
          <a:xfrm>
            <a:off x="6397600" y="4762500"/>
            <a:ext cx="5154016" cy="74218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Sirf samjhane ke liye: ek trading day mein kitne minute. Scalping poora 9:15 am-3:30 pm session le leta hai; ORB ko 9:15-11:00 am chahiye, plus dopahar 2:30 baje ek chhota check taaki khula trade band ho sake, kul lagbhag 110 minute; swing ka kaam shaam ko, close ke baad hota hai. Positional mein hafte ke lagbhag 30 minute lagte hain, investor ko mahine mein lagbhag ek ghanta. Scalping aur ORB, dono intraday hi hain.</a:t>
            </a:r>
          </a:p>
        </p:txBody>
      </p:sp>
      <p:sp>
        <p:nvSpPr>
          <p:cNvPr id="11" name="TextBox 10"/>
          <p:cNvSpPr txBox="1"/>
          <p:nvPr/>
        </p:nvSpPr>
        <p:spPr>
          <a:xfrm>
            <a:off x="6397600" y="1796796"/>
            <a:ext cx="1140873" cy="574853"/>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Scalping</a:t>
            </a:r>
          </a:p>
        </p:txBody>
      </p:sp>
      <p:sp>
        <p:nvSpPr>
          <p:cNvPr id="12" name="Rounded Rectangle 11"/>
          <p:cNvSpPr/>
          <p:nvPr/>
        </p:nvSpPr>
        <p:spPr>
          <a:xfrm>
            <a:off x="7648201" y="1940509"/>
            <a:ext cx="3001180" cy="28742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48201" y="1940509"/>
            <a:ext cx="3001180" cy="28742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40821" y="1796796"/>
            <a:ext cx="838226" cy="574853"/>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375 min</a:t>
            </a:r>
          </a:p>
        </p:txBody>
      </p:sp>
      <p:sp>
        <p:nvSpPr>
          <p:cNvPr id="15" name="TextBox 14"/>
          <p:cNvSpPr txBox="1"/>
          <p:nvPr/>
        </p:nvSpPr>
        <p:spPr>
          <a:xfrm>
            <a:off x="6397600" y="2371649"/>
            <a:ext cx="1140873" cy="574853"/>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ORB intraday</a:t>
            </a:r>
          </a:p>
        </p:txBody>
      </p:sp>
      <p:sp>
        <p:nvSpPr>
          <p:cNvPr id="16" name="Rounded Rectangle 15"/>
          <p:cNvSpPr/>
          <p:nvPr/>
        </p:nvSpPr>
        <p:spPr>
          <a:xfrm>
            <a:off x="7648201" y="2515362"/>
            <a:ext cx="3001180" cy="28742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48201" y="2515362"/>
            <a:ext cx="880346" cy="28742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40821" y="2371649"/>
            <a:ext cx="838226" cy="574853"/>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110 min</a:t>
            </a:r>
          </a:p>
        </p:txBody>
      </p:sp>
      <p:sp>
        <p:nvSpPr>
          <p:cNvPr id="19" name="TextBox 18"/>
          <p:cNvSpPr txBox="1"/>
          <p:nvPr/>
        </p:nvSpPr>
        <p:spPr>
          <a:xfrm>
            <a:off x="6397600" y="2946502"/>
            <a:ext cx="1140873" cy="574853"/>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Swing</a:t>
            </a:r>
          </a:p>
        </p:txBody>
      </p:sp>
      <p:sp>
        <p:nvSpPr>
          <p:cNvPr id="20" name="Rounded Rectangle 19"/>
          <p:cNvSpPr/>
          <p:nvPr/>
        </p:nvSpPr>
        <p:spPr>
          <a:xfrm>
            <a:off x="7648201" y="3090215"/>
            <a:ext cx="3001180" cy="28742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48201" y="3090215"/>
            <a:ext cx="160063" cy="287426"/>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40821" y="2946502"/>
            <a:ext cx="838226" cy="574853"/>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20 min</a:t>
            </a:r>
          </a:p>
        </p:txBody>
      </p:sp>
      <p:sp>
        <p:nvSpPr>
          <p:cNvPr id="23" name="TextBox 22"/>
          <p:cNvSpPr txBox="1"/>
          <p:nvPr/>
        </p:nvSpPr>
        <p:spPr>
          <a:xfrm>
            <a:off x="6397600" y="3521354"/>
            <a:ext cx="1140873" cy="574853"/>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Positional</a:t>
            </a:r>
          </a:p>
        </p:txBody>
      </p:sp>
      <p:sp>
        <p:nvSpPr>
          <p:cNvPr id="24" name="Rounded Rectangle 23"/>
          <p:cNvSpPr/>
          <p:nvPr/>
        </p:nvSpPr>
        <p:spPr>
          <a:xfrm>
            <a:off x="7648201" y="3665068"/>
            <a:ext cx="3001180" cy="28742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48201" y="3665068"/>
            <a:ext cx="48019" cy="28742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740821" y="3521354"/>
            <a:ext cx="838226" cy="574853"/>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6 min</a:t>
            </a:r>
          </a:p>
        </p:txBody>
      </p:sp>
      <p:sp>
        <p:nvSpPr>
          <p:cNvPr id="27" name="TextBox 26"/>
          <p:cNvSpPr txBox="1"/>
          <p:nvPr/>
        </p:nvSpPr>
        <p:spPr>
          <a:xfrm>
            <a:off x="6397600" y="4096207"/>
            <a:ext cx="1140873" cy="574853"/>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Investor</a:t>
            </a:r>
          </a:p>
        </p:txBody>
      </p:sp>
      <p:sp>
        <p:nvSpPr>
          <p:cNvPr id="28" name="Rounded Rectangle 27"/>
          <p:cNvSpPr/>
          <p:nvPr/>
        </p:nvSpPr>
        <p:spPr>
          <a:xfrm>
            <a:off x="7648201" y="4239920"/>
            <a:ext cx="3001180" cy="28742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48201" y="4239920"/>
            <a:ext cx="45720" cy="28742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0740821" y="4096207"/>
            <a:ext cx="838226" cy="574853"/>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 min</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3" name="TextBox 32"/>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Style us ghadi se chuniye jo sach mein aapke paas hai, us ghadi se nahi jiska aap bas sapna dekhte hain.</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Style Fit check: aapka din, unka nahi</a:t>
            </a:r>
          </a:p>
        </p:txBody>
      </p:sp>
      <p:sp>
        <p:nvSpPr>
          <p:cNvPr id="4" name="TextBox 3"/>
          <p:cNvSpPr txBox="1"/>
          <p:nvPr/>
        </p:nvSpPr>
        <p:spPr>
          <a:xfrm>
            <a:off x="457200" y="1335024"/>
            <a:ext cx="5519776" cy="1290320"/>
          </a:xfrm>
          <a:prstGeom prst="rect">
            <a:avLst/>
          </a:prstGeom>
          <a:noFill/>
        </p:spPr>
        <p:txBody>
          <a:bodyPr wrap="square" lIns="0" rIns="0" tIns="0" bIns="0" anchor="t">
            <a:noAutofit/>
          </a:bodyPr>
          <a:lstStyle/>
          <a:p>
            <a:pPr algn="l" marL="274320" indent="-274320">
              <a:lnSpc>
                <a:spcPct val="100000"/>
              </a:lnSpc>
              <a:spcAft>
                <a:spcPts val="700"/>
              </a:spcAft>
              <a:buClr>
                <a:srgbClr val="134A9A"/>
              </a:buClr>
              <a:buFont typeface="Arial"/>
              <a:buChar char="•"/>
            </a:pPr>
            <a:r>
              <a:rPr sz="1400" b="0" i="0">
                <a:solidFill>
                  <a:srgbClr val="18232F"/>
                </a:solidFill>
                <a:latin typeface="Segoe UI"/>
              </a:rPr>
              <a:t>Zyadatar beginners style chunte nahi, udhaar le lete hain: kisi dost se, kisi rishtedaar se, ya YouTube ke kisi trader se.</a:t>
            </a:r>
          </a:p>
          <a:p>
            <a:pPr algn="l" marL="274320" indent="-274320">
              <a:lnSpc>
                <a:spcPct val="100000"/>
              </a:lnSpc>
              <a:spcAft>
                <a:spcPts val="700"/>
              </a:spcAft>
              <a:buClr>
                <a:srgbClr val="134A9A"/>
              </a:buClr>
              <a:buFont typeface="Arial"/>
              <a:buChar char="•"/>
            </a:pPr>
            <a:r>
              <a:rPr sz="1400" b="0" i="0">
                <a:solidFill>
                  <a:srgbClr val="18232F"/>
                </a:solidFill>
                <a:latin typeface="Segoe UI"/>
              </a:rPr>
              <a:t>Aapko unki screen toh dikhti hai, lekin unke free ghante, unka capital aur unke bure mahine nahi dikhte.</a:t>
            </a:r>
          </a:p>
          <a:p>
            <a:pPr algn="l" marL="274320" indent="-274320">
              <a:lnSpc>
                <a:spcPct val="100000"/>
              </a:lnSpc>
              <a:buClr>
                <a:srgbClr val="134A9A"/>
              </a:buClr>
              <a:buFont typeface="Arial"/>
              <a:buChar char="•"/>
            </a:pPr>
            <a:r>
              <a:rPr sz="1400" b="0" i="0">
                <a:solidFill>
                  <a:srgbClr val="18232F"/>
                </a:solidFill>
                <a:latin typeface="Segoe UI"/>
              </a:rPr>
              <a:t>Aur awaaz bhi aksar unhi ki aati hai jo abhi jeet rahe hain.</a:t>
            </a:r>
          </a:p>
        </p:txBody>
      </p:sp>
      <p:sp>
        <p:nvSpPr>
          <p:cNvPr id="5" name="Rounded Rectangle 4"/>
          <p:cNvSpPr/>
          <p:nvPr/>
        </p:nvSpPr>
        <p:spPr>
          <a:xfrm>
            <a:off x="6214720" y="1335024"/>
            <a:ext cx="5519776" cy="1264920"/>
          </a:xfrm>
          <a:prstGeom prst="roundRect">
            <a:avLst>
              <a:gd name="adj" fmla="val 867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80772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jawab: office 9:30 se 6:30 tak, toh Q1 No, yaani intraday aur ORB bahar. … Ek baar style chun liya, toh usi par tike rahiye; har hafte badla hua style kuch nahi sikhata.</a:t>
            </a:r>
          </a:p>
        </p:txBody>
      </p:sp>
      <p:sp>
        <p:nvSpPr>
          <p:cNvPr id="8" name="Rounded Rectangle 7"/>
          <p:cNvSpPr/>
          <p:nvPr/>
        </p:nvSpPr>
        <p:spPr>
          <a:xfrm>
            <a:off x="457200" y="2764536"/>
            <a:ext cx="11277295" cy="2849880"/>
          </a:xfrm>
          <a:prstGeom prst="roundRect">
            <a:avLst>
              <a:gd name="adj" fmla="val 385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291084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Style Fit check: paanch sawaal</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Q1 se Q4 tak koi bhi No apne likhe styles ko bahar kar deta hai; Q5 ka No asli paise ko bahar rakhta hai. Agar saare trading styles bahar ho jaayein, toh investor ka raasta apne aap mein poora jawab hai, majboori ka raasta nahi. Jo bhi nikle, Stage 1 ka paper challenge sabke liye EMA Pullback Swing hi hai.</a:t>
            </a:r>
          </a:p>
        </p:txBody>
      </p:sp>
      <p:cxnSp>
        <p:nvCxnSpPr>
          <p:cNvPr id="11" name="Connector 10"/>
          <p:cNvCxnSpPr/>
          <p:nvPr/>
        </p:nvCxnSpPr>
        <p:spPr>
          <a:xfrm>
            <a:off x="1731234" y="339394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322935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Q1</a:t>
            </a:r>
          </a:p>
        </p:txBody>
      </p:sp>
      <p:sp>
        <p:nvSpPr>
          <p:cNvPr id="13" name="TextBox 12"/>
          <p:cNvSpPr txBox="1"/>
          <p:nvPr/>
        </p:nvSpPr>
        <p:spPr>
          <a:xfrm>
            <a:off x="713232" y="3686556"/>
            <a:ext cx="2036003" cy="143103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Weekdays mein 9:15 se 11:00 tak, aur 2:30 baje thodi der, free hain?</a:t>
            </a:r>
          </a:p>
          <a:p>
            <a:pPr algn="ctr">
              <a:lnSpc>
                <a:spcPct val="100000"/>
              </a:lnSpc>
            </a:pPr>
            <a:r>
              <a:rPr sz="1050" b="0" i="0">
                <a:solidFill>
                  <a:srgbClr val="47596B"/>
                </a:solidFill>
                <a:latin typeface="Segoe UI"/>
              </a:rPr>
              <a:t>No: intraday aur ORB bahar. ORB mein 2:30 baje khula trade band karna hota hai (Day 13); scalping ko toh poora session chahiye.</a:t>
            </a:r>
          </a:p>
        </p:txBody>
      </p:sp>
      <p:sp>
        <p:nvSpPr>
          <p:cNvPr id="14" name="Rounded Rectangle 13"/>
          <p:cNvSpPr/>
          <p:nvPr/>
        </p:nvSpPr>
        <p:spPr>
          <a:xfrm>
            <a:off x="3703229" y="322935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Q2</a:t>
            </a:r>
          </a:p>
        </p:txBody>
      </p:sp>
      <p:sp>
        <p:nvSpPr>
          <p:cNvPr id="15" name="TextBox 14"/>
          <p:cNvSpPr txBox="1"/>
          <p:nvPr/>
        </p:nvSpPr>
        <p:spPr>
          <a:xfrm>
            <a:off x="2895539" y="3686556"/>
            <a:ext cx="2036003" cy="143103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Zyadatar shaam ko, market band hone ke baad, lagbhag 20 minute nikal paate hain?</a:t>
            </a:r>
          </a:p>
          <a:p>
            <a:pPr algn="ctr">
              <a:lnSpc>
                <a:spcPct val="100000"/>
              </a:lnSpc>
            </a:pPr>
            <a:r>
              <a:rPr sz="1050" b="0" i="0">
                <a:solidFill>
                  <a:srgbClr val="47596B"/>
                </a:solidFill>
                <a:latin typeface="Segoe UI"/>
              </a:rPr>
              <a:t>No: swing bahar</a:t>
            </a:r>
          </a:p>
        </p:txBody>
      </p:sp>
      <p:sp>
        <p:nvSpPr>
          <p:cNvPr id="16" name="Rounded Rectangle 15"/>
          <p:cNvSpPr/>
          <p:nvPr/>
        </p:nvSpPr>
        <p:spPr>
          <a:xfrm>
            <a:off x="5885536" y="322935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Q3</a:t>
            </a:r>
          </a:p>
        </p:txBody>
      </p:sp>
      <p:sp>
        <p:nvSpPr>
          <p:cNvPr id="17" name="TextBox 16"/>
          <p:cNvSpPr txBox="1"/>
          <p:nvPr/>
        </p:nvSpPr>
        <p:spPr>
          <a:xfrm>
            <a:off x="5077846" y="3686556"/>
            <a:ext cx="2036003" cy="143103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Overnight aur weekend par position rakh kar bhi chain se so paate hain?</a:t>
            </a:r>
          </a:p>
          <a:p>
            <a:pPr algn="ctr">
              <a:lnSpc>
                <a:spcPct val="100000"/>
              </a:lnSpc>
            </a:pPr>
            <a:r>
              <a:rPr sz="1050" b="0" i="0">
                <a:solidFill>
                  <a:srgbClr val="47596B"/>
                </a:solidFill>
                <a:latin typeface="Segoe UI"/>
              </a:rPr>
              <a:t>No: swing aur positional bahar. Investing mein bhi girawat jhelni padti hai, par aap use roz raat nahi, mahine mein ek baar dekhte hain.</a:t>
            </a:r>
          </a:p>
        </p:txBody>
      </p:sp>
      <p:sp>
        <p:nvSpPr>
          <p:cNvPr id="18" name="Rounded Rectangle 17"/>
          <p:cNvSpPr/>
          <p:nvPr/>
        </p:nvSpPr>
        <p:spPr>
          <a:xfrm>
            <a:off x="8067843" y="322935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Q4</a:t>
            </a:r>
          </a:p>
        </p:txBody>
      </p:sp>
      <p:sp>
        <p:nvSpPr>
          <p:cNvPr id="19" name="TextBox 18"/>
          <p:cNvSpPr txBox="1"/>
          <p:nvPr/>
        </p:nvSpPr>
        <p:spPr>
          <a:xfrm>
            <a:off x="7260153" y="3686556"/>
            <a:ext cx="2036003" cy="143103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Likhe hue rules aur journal follow karna pasand hai?</a:t>
            </a:r>
          </a:p>
          <a:p>
            <a:pPr algn="ctr">
              <a:lnSpc>
                <a:spcPct val="100000"/>
              </a:lnSpc>
            </a:pPr>
            <a:r>
              <a:rPr sz="1050" b="0" i="0">
                <a:solidFill>
                  <a:srgbClr val="47596B"/>
                </a:solidFill>
                <a:latin typeface="Segoe UI"/>
              </a:rPr>
              <a:t>No: saare trading styles bahar</a:t>
            </a:r>
          </a:p>
        </p:txBody>
      </p:sp>
      <p:sp>
        <p:nvSpPr>
          <p:cNvPr id="20" name="Rounded Rectangle 19"/>
          <p:cNvSpPr/>
          <p:nvPr/>
        </p:nvSpPr>
        <p:spPr>
          <a:xfrm>
            <a:off x="10250150" y="322935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Q5</a:t>
            </a:r>
          </a:p>
        </p:txBody>
      </p:sp>
      <p:sp>
        <p:nvSpPr>
          <p:cNvPr id="21" name="TextBox 20"/>
          <p:cNvSpPr txBox="1"/>
          <p:nvPr/>
        </p:nvSpPr>
        <p:spPr>
          <a:xfrm>
            <a:off x="9442460" y="3686556"/>
            <a:ext cx="2036003" cy="1431036"/>
          </a:xfrm>
          <a:prstGeom prst="rect">
            <a:avLst/>
          </a:prstGeom>
          <a:noFill/>
        </p:spPr>
        <p:txBody>
          <a:bodyPr wrap="square" lIns="0" rIns="0" tIns="0" bIns="0" anchor="t">
            <a:noAutofit/>
          </a:bodyPr>
          <a:lstStyle/>
          <a:p>
            <a:pPr algn="ctr">
              <a:lnSpc>
                <a:spcPct val="100000"/>
              </a:lnSpc>
              <a:spcAft>
                <a:spcPts val="200"/>
              </a:spcAft>
            </a:pPr>
            <a:r>
              <a:rPr sz="1200" b="1" i="0">
                <a:solidFill>
                  <a:srgbClr val="18232F"/>
                </a:solidFill>
                <a:latin typeface="Segoe UI"/>
              </a:rPr>
              <a:t>Kam se kam 3 mahine ka emergency fund, aur trading ke liye udhaar ka ek bhi paisa nahi?</a:t>
            </a:r>
          </a:p>
          <a:p>
            <a:pPr algn="ctr">
              <a:lnSpc>
                <a:spcPct val="100000"/>
              </a:lnSpc>
            </a:pPr>
            <a:r>
              <a:rPr sz="1050" b="0" i="0">
                <a:solidFill>
                  <a:srgbClr val="47596B"/>
                </a:solidFill>
                <a:latin typeface="Segoe UI"/>
              </a:rPr>
              <a:t>No: Stage 1 ke baad bhi asli paisa nahi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Style aapka timetable chunta hai, kisi aur ki highlights nahi.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Paisa sahi order mein: pehle emergency fund</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Trading ke paise se pehle order sahi kar lijiye.</a:t>
            </a:r>
          </a:p>
          <a:p>
            <a:pPr algn="l" marL="274320" indent="-274320">
              <a:lnSpc>
                <a:spcPct val="100000"/>
              </a:lnSpc>
              <a:spcAft>
                <a:spcPts val="750"/>
              </a:spcAft>
              <a:buClr>
                <a:srgbClr val="134A9A"/>
              </a:buClr>
              <a:buFont typeface="Arial"/>
              <a:buChar char="•"/>
            </a:pPr>
            <a:r>
              <a:rPr sz="1500" b="0" i="0">
                <a:solidFill>
                  <a:srgbClr val="18232F"/>
                </a:solidFill>
                <a:latin typeface="Segoe UI"/>
              </a:rPr>
              <a:t>Sabse pehle har mahine ke zaroori kharche nikalte hain: rent, EMI, khaana aur fees.</a:t>
            </a:r>
          </a:p>
          <a:p>
            <a:pPr algn="l" marL="274320" indent="-274320">
              <a:lnSpc>
                <a:spcPct val="100000"/>
              </a:lnSpc>
              <a:spcAft>
                <a:spcPts val="750"/>
              </a:spcAft>
              <a:buClr>
                <a:srgbClr val="134A9A"/>
              </a:buClr>
              <a:buFont typeface="Arial"/>
              <a:buChar char="•"/>
            </a:pPr>
            <a:r>
              <a:rPr sz="1500" b="0" i="0">
                <a:solidFill>
                  <a:srgbClr val="18232F"/>
                </a:solidFill>
                <a:latin typeface="Segoe UI"/>
              </a:rPr>
              <a:t>Phir aata hai emergency fund: woh paisa jo naukri chhootne, hospital ke bill ya ghar ki kisi zaroorat ke liye alag rakha jaata hai.</a:t>
            </a:r>
          </a:p>
          <a:p>
            <a:pPr algn="l" marL="274320" indent="-274320">
              <a:lnSpc>
                <a:spcPct val="100000"/>
              </a:lnSpc>
              <a:buClr>
                <a:srgbClr val="134A9A"/>
              </a:buClr>
              <a:buFont typeface="Arial"/>
              <a:buChar char="•"/>
            </a:pPr>
            <a:r>
              <a:rPr sz="1500" b="0" i="0">
                <a:solidFill>
                  <a:srgbClr val="18232F"/>
                </a:solidFill>
                <a:latin typeface="Segoe UI"/>
              </a:rPr>
              <a:t>Kai planners 3 se 6 mahine ke zaroori kharche jitna rakhne ki salaah dete hain, kisi safe jagah par jahan se turant nikal sakein, jaise savings account.</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Aman ka zaroori kharcha Rs 30,000 mahina hai, toh 3 se 6 mahine ka emergency fund Rs 90,000 se Rs 1,80,000 banta hai; abhi uske paas Rs 60,000 hain, yaani sirf do mahine ka. Office ka ek saathi salaah deta hai: 'Rs 2 lakh ka personal loan le lo, trade karo aur profit se chuka dena.' Agar ek bura mahina uska 15% kha jaaye, yaani Rs 30,000, toh Aman ke paas Rs 1,70,000 bachte hain, lekin karz poore Rs 2,00,000 aur byaaj ka hai, aur EMI har mahine aayegi. Loss bhi uska, loan bhi uska. Stage 1 mein aapka trading ka paisa Rs 10 lakh ka virtual account hai, isliye seekhte waqt inmein se kuch bhi daav par nahi hai.</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Har rupaya pehle kahan jaaye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Udhaar ka paisa is chain mein kabhi nahi aata. Stage 1 mein aapka trading ka paisa Rs 10 lakh ka virtual account hai.</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Income</a:t>
            </a:r>
          </a:p>
          <a:p>
            <a:pPr algn="ctr">
              <a:lnSpc>
                <a:spcPct val="100000"/>
              </a:lnSpc>
            </a:pPr>
            <a:r>
              <a:rPr sz="1200" b="0" i="0">
                <a:solidFill>
                  <a:srgbClr val="47596B"/>
                </a:solidFill>
                <a:latin typeface="Segoe UI"/>
              </a:rPr>
              <a:t>Salary ya kamaai</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chukana</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Zaroori kharche</a:t>
            </a:r>
          </a:p>
          <a:p>
            <a:pPr algn="ctr">
              <a:lnSpc>
                <a:spcPct val="100000"/>
              </a:lnSpc>
            </a:pPr>
            <a:r>
              <a:rPr sz="1200" b="0" i="0">
                <a:solidFill>
                  <a:srgbClr val="47596B"/>
                </a:solidFill>
                <a:latin typeface="Segoe UI"/>
              </a:rPr>
              <a:t>Rent, EMI, khaana, fees</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384548"/>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phir bachana</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Emergency fund</a:t>
            </a:r>
          </a:p>
          <a:p>
            <a:pPr algn="ctr">
              <a:lnSpc>
                <a:spcPct val="100000"/>
              </a:lnSpc>
            </a:pPr>
            <a:r>
              <a:rPr sz="1200" b="0" i="0">
                <a:solidFill>
                  <a:srgbClr val="47596B"/>
                </a:solidFill>
                <a:latin typeface="Segoe UI"/>
              </a:rPr>
              <a:t>3-6 mahine, safe jagah</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384548"/>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phir invest karna</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Lambe goals</a:t>
            </a:r>
          </a:p>
          <a:p>
            <a:pPr algn="ctr">
              <a:lnSpc>
                <a:spcPct val="100000"/>
              </a:lnSpc>
            </a:pPr>
            <a:r>
              <a:rPr sz="1200" b="0" i="0">
                <a:solidFill>
                  <a:srgbClr val="47596B"/>
                </a:solidFill>
                <a:latin typeface="Segoe UI"/>
              </a:rPr>
              <a:t>Investing, dheere-dheere</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jo bache</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Risk capital</a:t>
            </a:r>
          </a:p>
          <a:p>
            <a:pPr algn="ctr">
              <a:lnSpc>
                <a:spcPct val="100000"/>
              </a:lnSpc>
            </a:pPr>
            <a:r>
              <a:rPr sz="1200" b="0" i="0">
                <a:solidFill>
                  <a:srgbClr val="47596B"/>
                </a:solidFill>
                <a:latin typeface="Segoe UI"/>
              </a:rPr>
              <a:t>Sirf jo bache</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Pehle emergency fund, aakhir mein risk capital, aur udhaar ka paisa kabhi nahi.</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Investor ka raasta: mutual funds, index funds aur ETFs</a:t>
            </a:r>
          </a:p>
        </p:txBody>
      </p:sp>
      <p:sp>
        <p:nvSpPr>
          <p:cNvPr id="4" name="TextBox 3"/>
          <p:cNvSpPr txBox="1"/>
          <p:nvPr/>
        </p:nvSpPr>
        <p:spPr>
          <a:xfrm>
            <a:off x="457200" y="1335024"/>
            <a:ext cx="5519776" cy="12839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Mutual fund bahut saare logon ka paisa ek jagah jodta hai, aur ek fund house, jise AMC (asset management company) kehte hain, use SEBI ke rules ke andar invest karta hai.</a:t>
            </a:r>
          </a:p>
          <a:p>
            <a:pPr algn="l" marL="274320" indent="-274320">
              <a:lnSpc>
                <a:spcPct val="100000"/>
              </a:lnSpc>
              <a:buClr>
                <a:srgbClr val="134A9A"/>
              </a:buClr>
              <a:buFont typeface="Arial"/>
              <a:buChar char="•"/>
            </a:pPr>
            <a:r>
              <a:rPr sz="1500" b="0" i="0">
                <a:solidFill>
                  <a:srgbClr val="18232F"/>
                </a:solidFill>
                <a:latin typeface="Segoe UI"/>
              </a:rPr>
              <a:t>Active fund mein ek manager stocks chunta hai aur index se aage nikalne ki koshish karta hai.</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paper par hisaab lagati hai ki Rs 5,000 se NIFTY 50 ko follow karne ke do tareeke kya hain. … Use yeh bhi pata chalta hai ki har fund ka ek direct plan aur ek regular plan hota hai; regular plan distributor ko commission deta hai, isliye uska expense ratio zyada hota hai.</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tokri rakhne ke teen tareeke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Sirf concepts. Har fund ka asli expense ratio uski factsheet mein padhiye. Mutual fund investments are subject to market risks.</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Active fund</a:t>
            </a:r>
          </a:p>
        </p:txBody>
      </p:sp>
      <p:cxnSp>
        <p:nvCxnSpPr>
          <p:cNvPr id="16" name="Connector 15"/>
          <p:cNvCxnSpPr/>
          <p:nvPr/>
        </p:nvCxnSpPr>
        <p:spPr>
          <a:xfrm>
            <a:off x="640080" y="3821049"/>
            <a:ext cx="3527450"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Manager stocks chunta hai</a:t>
            </a:r>
          </a:p>
          <a:p>
            <a:pPr algn="l" marL="201168" indent="-201168">
              <a:lnSpc>
                <a:spcPct val="100000"/>
              </a:lnSpc>
              <a:spcAft>
                <a:spcPts val="700"/>
              </a:spcAft>
              <a:buClr>
                <a:srgbClr val="F5A524"/>
              </a:buClr>
              <a:buFont typeface="Arial"/>
              <a:buChar char="•"/>
            </a:pPr>
            <a:r>
              <a:rPr sz="1400" b="0" i="0">
                <a:solidFill>
                  <a:srgbClr val="18232F"/>
                </a:solidFill>
                <a:latin typeface="Segoe UI"/>
              </a:rPr>
              <a:t>Index se aage nikalne ki koshish</a:t>
            </a:r>
          </a:p>
          <a:p>
            <a:pPr algn="l" marL="201168" indent="-201168">
              <a:lnSpc>
                <a:spcPct val="100000"/>
              </a:lnSpc>
              <a:spcAft>
                <a:spcPts val="700"/>
              </a:spcAft>
              <a:buClr>
                <a:srgbClr val="F5A524"/>
              </a:buClr>
              <a:buFont typeface="Arial"/>
              <a:buChar char="•"/>
            </a:pPr>
            <a:r>
              <a:rPr sz="1400" b="0" i="0">
                <a:solidFill>
                  <a:srgbClr val="18232F"/>
                </a:solidFill>
                <a:latin typeface="Segoe UI"/>
              </a:rPr>
              <a:t>Aam taur par zyada expense ratio</a:t>
            </a:r>
          </a:p>
          <a:p>
            <a:pPr algn="l" marL="201168" indent="-201168">
              <a:lnSpc>
                <a:spcPct val="100000"/>
              </a:lnSpc>
              <a:buClr>
                <a:srgbClr val="F5A524"/>
              </a:buClr>
              <a:buFont typeface="Arial"/>
              <a:buChar char="•"/>
            </a:pPr>
            <a:r>
              <a:rPr sz="1400" b="0" i="0">
                <a:solidFill>
                  <a:srgbClr val="18232F"/>
                </a:solidFill>
                <a:latin typeface="Segoe UI"/>
              </a:rPr>
              <a:t>Din ke NAV par milta hai</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095A90"/>
                </a:solidFill>
                <a:latin typeface="Segoe UI"/>
              </a:rPr>
              <a:t>Index fund</a:t>
            </a:r>
          </a:p>
        </p:txBody>
      </p:sp>
      <p:cxnSp>
        <p:nvCxnSpPr>
          <p:cNvPr id="23" name="Connector 22"/>
          <p:cNvCxnSpPr/>
          <p:nvPr/>
        </p:nvCxnSpPr>
        <p:spPr>
          <a:xfrm>
            <a:off x="4332122" y="3821049"/>
            <a:ext cx="3527451"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0093D6"/>
              </a:buClr>
              <a:buFont typeface="Arial"/>
              <a:buChar char="•"/>
            </a:pPr>
            <a:r>
              <a:rPr sz="1400" b="0" i="0">
                <a:solidFill>
                  <a:srgbClr val="18232F"/>
                </a:solidFill>
                <a:latin typeface="Segoe UI"/>
              </a:rPr>
              <a:t>Index copy karta hai, jaise NIFTY 50</a:t>
            </a:r>
          </a:p>
          <a:p>
            <a:pPr algn="l" marL="201168" indent="-201168">
              <a:lnSpc>
                <a:spcPct val="100000"/>
              </a:lnSpc>
              <a:spcAft>
                <a:spcPts val="700"/>
              </a:spcAft>
              <a:buClr>
                <a:srgbClr val="0093D6"/>
              </a:buClr>
              <a:buFont typeface="Arial"/>
              <a:buChar char="•"/>
            </a:pPr>
            <a:r>
              <a:rPr sz="1400" b="0" i="0">
                <a:solidFill>
                  <a:srgbClr val="18232F"/>
                </a:solidFill>
                <a:latin typeface="Segoe UI"/>
              </a:rPr>
              <a:t>Manager stocks nahi chunta</a:t>
            </a:r>
          </a:p>
          <a:p>
            <a:pPr algn="l" marL="201168" indent="-201168">
              <a:lnSpc>
                <a:spcPct val="100000"/>
              </a:lnSpc>
              <a:spcAft>
                <a:spcPts val="700"/>
              </a:spcAft>
              <a:buClr>
                <a:srgbClr val="0093D6"/>
              </a:buClr>
              <a:buFont typeface="Arial"/>
              <a:buChar char="•"/>
            </a:pPr>
            <a:r>
              <a:rPr sz="1400" b="0" i="0">
                <a:solidFill>
                  <a:srgbClr val="18232F"/>
                </a:solidFill>
                <a:latin typeface="Segoe UI"/>
              </a:rPr>
              <a:t>Aam taur par kam expense ratio</a:t>
            </a:r>
          </a:p>
          <a:p>
            <a:pPr algn="l" marL="201168" indent="-201168">
              <a:lnSpc>
                <a:spcPct val="100000"/>
              </a:lnSpc>
              <a:buClr>
                <a:srgbClr val="0093D6"/>
              </a:buClr>
              <a:buFont typeface="Arial"/>
              <a:buChar char="•"/>
            </a:pPr>
            <a:r>
              <a:rPr sz="1400" b="0" i="0">
                <a:solidFill>
                  <a:srgbClr val="18232F"/>
                </a:solidFill>
                <a:latin typeface="Segoe UI"/>
              </a:rPr>
              <a:t>Din ka NAV, demat zaroori nahi</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ETF</a:t>
            </a:r>
          </a:p>
        </p:txBody>
      </p:sp>
      <p:cxnSp>
        <p:nvCxnSpPr>
          <p:cNvPr id="30" name="Connector 29"/>
          <p:cNvCxnSpPr/>
          <p:nvPr/>
        </p:nvCxnSpPr>
        <p:spPr>
          <a:xfrm>
            <a:off x="8024165"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Aam taur par index copy karta hai</a:t>
            </a:r>
          </a:p>
          <a:p>
            <a:pPr algn="l" marL="201168" indent="-201168">
              <a:lnSpc>
                <a:spcPct val="100000"/>
              </a:lnSpc>
              <a:spcAft>
                <a:spcPts val="700"/>
              </a:spcAft>
              <a:buClr>
                <a:srgbClr val="16A34A"/>
              </a:buClr>
              <a:buFont typeface="Arial"/>
              <a:buChar char="•"/>
            </a:pPr>
            <a:r>
              <a:rPr sz="1400" b="0" i="0">
                <a:solidFill>
                  <a:srgbClr val="18232F"/>
                </a:solidFill>
                <a:latin typeface="Segoe UI"/>
              </a:rPr>
              <a:t>Exchange par share ki tarah trade</a:t>
            </a:r>
          </a:p>
          <a:p>
            <a:pPr algn="l" marL="201168" indent="-201168">
              <a:lnSpc>
                <a:spcPct val="100000"/>
              </a:lnSpc>
              <a:spcAft>
                <a:spcPts val="700"/>
              </a:spcAft>
              <a:buClr>
                <a:srgbClr val="16A34A"/>
              </a:buClr>
              <a:buFont typeface="Arial"/>
              <a:buChar char="•"/>
            </a:pPr>
            <a:r>
              <a:rPr sz="1400" b="0" i="0">
                <a:solidFill>
                  <a:srgbClr val="18232F"/>
                </a:solidFill>
                <a:latin typeface="Segoe UI"/>
              </a:rPr>
              <a:t>Live price; broker aur demat chahiye</a:t>
            </a:r>
          </a:p>
          <a:p>
            <a:pPr algn="l" marL="201168" indent="-201168">
              <a:lnSpc>
                <a:spcPct val="100000"/>
              </a:lnSpc>
              <a:buClr>
                <a:srgbClr val="16A34A"/>
              </a:buClr>
              <a:buFont typeface="Arial"/>
              <a:buChar char="•"/>
            </a:pPr>
            <a:r>
              <a:rPr sz="1400" b="0" i="0">
                <a:solidFill>
                  <a:srgbClr val="18232F"/>
                </a:solidFill>
                <a:latin typeface="Segoe UI"/>
              </a:rPr>
              <a:t>Spread aur volume zaroor dekhiye</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Index fund market ko copy karta hai. Woh na market se aage nikalne ka vada karta hai, na girawat se bachane ka.</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SIP: timetable se investing</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SIP (systematic investment plan) koi product nahi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mutual fund khareedne ka ek tareeka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Aap ek amount aur ek date fix kar dete hain, aur har mahine utna paisa us din ke NAV par units khareed leta hai.</a:t>
            </a:r>
          </a:p>
          <a:p>
            <a:pPr algn="l" marL="274320" indent="-274320">
              <a:lnSpc>
                <a:spcPct val="100000"/>
              </a:lnSpc>
              <a:buClr>
                <a:srgbClr val="134A9A"/>
              </a:buClr>
              <a:buFont typeface="Arial"/>
              <a:buChar char="•"/>
            </a:pPr>
            <a:r>
              <a:rPr sz="1600" b="0" i="0">
                <a:solidFill>
                  <a:srgbClr val="18232F"/>
                </a:solidFill>
                <a:latin typeface="Segoe UI"/>
              </a:rPr>
              <a:t>NAV kam ho toh utne hi paise mein zyada units milte hain, aur NAV zyada ho toh kam.</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Priya Google Sheets mein hisaab lagati hai: ek made-up index fund mein har mahine ki 5 taareekh ko Rs 5,000. Month 1 mein NAV Rs 50 hai, girawat ke baad month 2 mein Rs 40, aur month 3 mein Rs 62.50. Use 100, 125 aur 80 units milte hain: Rs 15,000 mein 305 units. Uski average cost lagbhag Rs 49.18 per unit aati hai, jo teeno NAV ke seedhe average, lagbhag Rs 50.83, se thodi kam hai, kyunki girawat wale mahine mein zyada units mil gaye. Yeh NAV sirf samjhane ke liye hain, koi forecast nahi.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Har mahine Rs 5,000, teen NAV</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Teeno NAV ka seedha average Rs 50.83 hai; kam NAV wale mahine ne zyada units dilaye. NAV illustrative hain, forecast nahi. Stamp duty hisaab mein nahi li gayi.</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1 ke units (Rs 5,000 ÷ NAV Rs 50)</a:t>
            </a:r>
          </a:p>
        </p:txBody>
      </p:sp>
      <p:sp>
        <p:nvSpPr>
          <p:cNvPr id="13" name="TextBox 12"/>
          <p:cNvSpPr txBox="1"/>
          <p:nvPr/>
        </p:nvSpPr>
        <p:spPr>
          <a:xfrm>
            <a:off x="10539090" y="1899666"/>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2 ke units (Rs 5,000 ÷ NAV Rs 40)</a:t>
            </a:r>
          </a:p>
        </p:txBody>
      </p:sp>
      <p:sp>
        <p:nvSpPr>
          <p:cNvPr id="17" name="TextBox 16"/>
          <p:cNvSpPr txBox="1"/>
          <p:nvPr/>
        </p:nvSpPr>
        <p:spPr>
          <a:xfrm>
            <a:off x="10539090" y="2503170"/>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125</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3 ke units (Rs 5,000 ÷ NAV Rs 62.50)</a:t>
            </a:r>
          </a:p>
        </p:txBody>
      </p:sp>
      <p:sp>
        <p:nvSpPr>
          <p:cNvPr id="21" name="TextBox 20"/>
          <p:cNvSpPr txBox="1"/>
          <p:nvPr/>
        </p:nvSpPr>
        <p:spPr>
          <a:xfrm>
            <a:off x="10539090" y="3106674"/>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80</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Rs 15,000 mein kul units</a:t>
            </a:r>
          </a:p>
        </p:txBody>
      </p:sp>
      <p:sp>
        <p:nvSpPr>
          <p:cNvPr id="25" name="TextBox 24"/>
          <p:cNvSpPr txBox="1"/>
          <p:nvPr/>
        </p:nvSpPr>
        <p:spPr>
          <a:xfrm>
            <a:off x="10539090" y="3710178"/>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305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775730"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Average cost per unit (Rs 15,000 ÷ 305)</a:t>
            </a:r>
          </a:p>
        </p:txBody>
      </p:sp>
      <p:sp>
        <p:nvSpPr>
          <p:cNvPr id="29" name="TextBox 28"/>
          <p:cNvSpPr txBox="1"/>
          <p:nvPr/>
        </p:nvSpPr>
        <p:spPr>
          <a:xfrm>
            <a:off x="10539090" y="4368546"/>
            <a:ext cx="939374"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49.18</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2" name="TextBox 31"/>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SIP aapki aadat fix karta hai, aapka result nahi.</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IPO basics: company ki pehli public sale</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IPO (initial public offering) ka matlab hai kisi company ke shares ki public ko pehli sale, jiske baad shares exchange par list hote hain.</a:t>
            </a:r>
          </a:p>
          <a:p>
            <a:pPr algn="l" marL="274320" indent="-274320">
              <a:lnSpc>
                <a:spcPct val="100000"/>
              </a:lnSpc>
              <a:spcAft>
                <a:spcPts val="750"/>
              </a:spcAft>
              <a:buClr>
                <a:srgbClr val="134A9A"/>
              </a:buClr>
              <a:buFont typeface="Arial"/>
              <a:buChar char="•"/>
            </a:pPr>
            <a:r>
              <a:rPr sz="1500" b="0" i="0">
                <a:solidFill>
                  <a:srgbClr val="18232F"/>
                </a:solidFill>
                <a:latin typeface="Segoe UI"/>
              </a:rPr>
              <a:t>Aap ASBA (application supported by blocked amount) ke through lots mein apply karte hain.</a:t>
            </a:r>
          </a:p>
          <a:p>
            <a:pPr algn="l" marL="274320" indent="-274320">
              <a:lnSpc>
                <a:spcPct val="100000"/>
              </a:lnSpc>
              <a:buClr>
                <a:srgbClr val="134A9A"/>
              </a:buClr>
              <a:buFont typeface="Arial"/>
              <a:buChar char="•"/>
            </a:pPr>
            <a:r>
              <a:rPr sz="1500" b="0" i="0">
                <a:solidFill>
                  <a:srgbClr val="18232F"/>
                </a:solidFill>
                <a:latin typeface="Segoe UI"/>
              </a:rPr>
              <a:t>Listing day par price issue price se upar ya neeche khul sakta hai.</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Ek made-up issue se samjhiye. Ek made-up company, jo abhi listed nahi hai, apne IPO ka price band Rs 95 se Rs 100 rakhti hai aur lot 150 shares ka, yaani band ke upar wale sire par ek lot Rs 15,000 ka. Maan lijiye Priya apply karti hai: uske bank account mein Rs 15,000 block ho jaate hain, abhi kuch debit nahi hua. Retail mein lots se kahin zyada log apply karte hain, lottery mein uska naam nahi aata, aur block hat jaata hai. Agar naam aa jaata, toh use ek lot milta, aur uska price Rs 100 se upar bhi khul sakta tha aur neeche bhi. … Dono ki cheer-phaad hum Day 14 mein karenge.</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IPO, step by step</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 woh din hai jab issue band hota hai; yahan din working days hain, SEBI ki abhi ki timeline ke hisaab se. Latest jaankari sebi.gov.in par dekhiye.</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445134"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Open</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Issue khulta hai</a:t>
            </a:r>
          </a:p>
          <a:p>
            <a:pPr algn="ctr">
              <a:lnSpc>
                <a:spcPct val="100000"/>
              </a:lnSpc>
            </a:pPr>
            <a:r>
              <a:rPr sz="1150" b="0" i="0">
                <a:solidFill>
                  <a:srgbClr val="47596B"/>
                </a:solidFill>
                <a:latin typeface="Segoe UI"/>
              </a:rPr>
              <a:t>Lots mein apply; paisa block, debit nahi</a:t>
            </a:r>
          </a:p>
        </p:txBody>
      </p:sp>
      <p:sp>
        <p:nvSpPr>
          <p:cNvPr id="14" name="Rounded Rectangle 13"/>
          <p:cNvSpPr/>
          <p:nvPr/>
        </p:nvSpPr>
        <p:spPr>
          <a:xfrm>
            <a:off x="3627441"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Issue band</a:t>
            </a:r>
          </a:p>
          <a:p>
            <a:pPr algn="ctr">
              <a:lnSpc>
                <a:spcPct val="100000"/>
              </a:lnSpc>
            </a:pPr>
            <a:r>
              <a:rPr sz="1150" b="0" i="0">
                <a:solidFill>
                  <a:srgbClr val="47596B"/>
                </a:solidFill>
                <a:latin typeface="Segoe UI"/>
              </a:rPr>
              <a:t>Bids band; demand gini jaati hai</a:t>
            </a:r>
          </a:p>
        </p:txBody>
      </p:sp>
      <p:sp>
        <p:nvSpPr>
          <p:cNvPr id="16" name="Rounded Rectangle 15"/>
          <p:cNvSpPr/>
          <p:nvPr/>
        </p:nvSpPr>
        <p:spPr>
          <a:xfrm>
            <a:off x="5809748"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Allotment</a:t>
            </a:r>
          </a:p>
          <a:p>
            <a:pPr algn="ctr">
              <a:lnSpc>
                <a:spcPct val="100000"/>
              </a:lnSpc>
            </a:pPr>
            <a:r>
              <a:rPr sz="1150" b="0" i="0">
                <a:solidFill>
                  <a:srgbClr val="47596B"/>
                </a:solidFill>
                <a:latin typeface="Segoe UI"/>
              </a:rPr>
              <a:t>Lots se zyada log apply karein toh lottery</a:t>
            </a:r>
          </a:p>
        </p:txBody>
      </p:sp>
      <p:sp>
        <p:nvSpPr>
          <p:cNvPr id="18" name="Rounded Rectangle 17"/>
          <p:cNvSpPr/>
          <p:nvPr/>
        </p:nvSpPr>
        <p:spPr>
          <a:xfrm>
            <a:off x="7992055"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T+2</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Shares ya unblock</a:t>
            </a:r>
          </a:p>
          <a:p>
            <a:pPr algn="ctr">
              <a:lnSpc>
                <a:spcPct val="100000"/>
              </a:lnSpc>
            </a:pPr>
            <a:r>
              <a:rPr sz="1150" b="0" i="0">
                <a:solidFill>
                  <a:srgbClr val="47596B"/>
                </a:solidFill>
                <a:latin typeface="Segoe UI"/>
              </a:rPr>
              <a:t>Shares demat mein, ya block hat jaata hai</a:t>
            </a:r>
          </a:p>
        </p:txBody>
      </p:sp>
      <p:sp>
        <p:nvSpPr>
          <p:cNvPr id="20" name="Rounded Rectangle 19"/>
          <p:cNvSpPr/>
          <p:nvPr/>
        </p:nvSpPr>
        <p:spPr>
          <a:xfrm>
            <a:off x="10174362"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T+3</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Listing day</a:t>
            </a:r>
          </a:p>
          <a:p>
            <a:pPr algn="ctr">
              <a:lnSpc>
                <a:spcPct val="100000"/>
              </a:lnSpc>
            </a:pPr>
            <a:r>
              <a:rPr sz="1150" b="0" i="0">
                <a:solidFill>
                  <a:srgbClr val="47596B"/>
                </a:solidFill>
                <a:latin typeface="Segoe UI"/>
              </a:rPr>
              <a:t>Price issue price se upar ya neeche khul sakta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IPO mein allotment tak paisa sirf block hota hai, kharch nahi. Listing day kisi bhi taraf ja sakta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Holding period</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Aap position kitni der khuli rakhte hain: kuch minute (scalping), ek din (intraday), din se hafte (swing), hafte se mahine (positional), saal (investing).</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Risk capital</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paisa jo poora doob jaaye toh bhi aapka rent, EMI ya neend na badle. Udhaar ka paisa isme kabhi nahi ginta.</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1711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NAV</a:t>
            </a:r>
          </a:p>
        </p:txBody>
      </p:sp>
      <p:sp>
        <p:nvSpPr>
          <p:cNvPr id="12" name="TextBox 11"/>
          <p:cNvSpPr txBox="1"/>
          <p:nvPr/>
        </p:nvSpPr>
        <p:spPr>
          <a:xfrm>
            <a:off x="658368"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Net asset value: mutual fund ki ek unit ki keemat, jo roz market band hone ke baad ek baar nikalti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31648"/>
          </a:xfrm>
          <a:prstGeom prst="rect">
            <a:avLst/>
          </a:prstGeom>
          <a:noFill/>
        </p:spPr>
        <p:txBody>
          <a:bodyPr wrap="square" lIns="0" rIns="0" tIns="0" bIns="0" anchor="t">
            <a:noAutofit/>
          </a:bodyPr>
          <a:lstStyle/>
          <a:p>
            <a:pPr algn="l">
              <a:lnSpc>
                <a:spcPct val="100000"/>
              </a:lnSpc>
            </a:pPr>
            <a:r>
              <a:rPr sz="1400" b="1" i="0">
                <a:solidFill>
                  <a:srgbClr val="134A9A"/>
                </a:solidFill>
                <a:latin typeface="Segoe UI"/>
              </a:rPr>
              <a:t>Expense ratio</a:t>
            </a:r>
          </a:p>
        </p:txBody>
      </p:sp>
      <p:sp>
        <p:nvSpPr>
          <p:cNvPr id="15" name="TextBox 14"/>
          <p:cNvSpPr txBox="1"/>
          <p:nvPr/>
        </p:nvSpPr>
        <p:spPr>
          <a:xfrm>
            <a:off x="6379312" y="3016758"/>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Fund ki saalana fee, jo fund mein se roz thodi-thodi katti rehti hai. Jo NAV aap dekhte hain, woh fee ke baad ka hai; asli figure factsheet mein milta hai. Documents mein aksar ise TER (total expense ratio) likha jaata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Index fund aur ETF</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Dono aam taur par index copy karte hain. Index fund din ke NAV par, bina demat ke milta hai; ETF exchange par live price par trade hota hai aur uske liye broker aur demat chahiye.</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08788"/>
          </a:xfrm>
          <a:prstGeom prst="rect">
            <a:avLst/>
          </a:prstGeom>
          <a:noFill/>
        </p:spPr>
        <p:txBody>
          <a:bodyPr wrap="square" lIns="0" rIns="0" tIns="0" bIns="0" anchor="t">
            <a:noAutofit/>
          </a:bodyPr>
          <a:lstStyle/>
          <a:p>
            <a:pPr algn="l">
              <a:lnSpc>
                <a:spcPct val="100000"/>
              </a:lnSpc>
            </a:pPr>
            <a:r>
              <a:rPr sz="1250" b="1" i="0">
                <a:solidFill>
                  <a:srgbClr val="134A9A"/>
                </a:solidFill>
                <a:latin typeface="Segoe UI"/>
              </a:rPr>
              <a:t>Tracking error</a:t>
            </a:r>
          </a:p>
        </p:txBody>
      </p:sp>
      <p:sp>
        <p:nvSpPr>
          <p:cNvPr id="21" name="TextBox 20"/>
          <p:cNvSpPr txBox="1"/>
          <p:nvPr/>
        </p:nvSpPr>
        <p:spPr>
          <a:xfrm>
            <a:off x="6379312" y="4259580"/>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Index fund ya ETF apne index ko kitni kareebi se follow karta hai. Fees, withdrawals ke liye rakha cash aur trading costs uske return ko thoda idhar-udhar kar dete hain; tracking error jitna chhota, copy utni kareebi. Fund house ki website par yeh number milta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SIP</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Systematic investment plan: ek fix amount, fix date par, aam taur par har mahine, us din ke NAV par mutual fund mein. Yeh ek aadat hai, profit ka vada nahi.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30190"/>
            <a:ext cx="5154016" cy="216408"/>
          </a:xfrm>
          <a:prstGeom prst="rect">
            <a:avLst/>
          </a:prstGeom>
          <a:noFill/>
        </p:spPr>
        <p:txBody>
          <a:bodyPr wrap="square" lIns="0" rIns="0" tIns="0" bIns="0" anchor="t">
            <a:noAutofit/>
          </a:bodyPr>
          <a:lstStyle/>
          <a:p>
            <a:pPr algn="l">
              <a:lnSpc>
                <a:spcPct val="100000"/>
              </a:lnSpc>
            </a:pPr>
            <a:r>
              <a:rPr sz="1300" b="1" i="0">
                <a:solidFill>
                  <a:srgbClr val="134A9A"/>
                </a:solidFill>
                <a:latin typeface="Segoe UI"/>
              </a:rPr>
              <a:t>ASBA</a:t>
            </a:r>
          </a:p>
        </p:txBody>
      </p:sp>
      <p:sp>
        <p:nvSpPr>
          <p:cNvPr id="27" name="TextBox 26"/>
          <p:cNvSpPr txBox="1"/>
          <p:nvPr/>
        </p:nvSpPr>
        <p:spPr>
          <a:xfrm>
            <a:off x="6379312" y="5583174"/>
            <a:ext cx="5154016" cy="539496"/>
          </a:xfrm>
          <a:prstGeom prst="rect">
            <a:avLst/>
          </a:prstGeom>
          <a:noFill/>
        </p:spPr>
        <p:txBody>
          <a:bodyPr wrap="square" lIns="0" rIns="0" tIns="0" bIns="0" anchor="t">
            <a:noAutofit/>
          </a:bodyPr>
          <a:lstStyle/>
          <a:p>
            <a:pPr algn="l">
              <a:lnSpc>
                <a:spcPct val="100000"/>
              </a:lnSpc>
            </a:pPr>
            <a:r>
              <a:rPr sz="1100" b="0" i="0">
                <a:solidFill>
                  <a:srgbClr val="18232F"/>
                </a:solidFill>
                <a:latin typeface="Segoe UI"/>
              </a:rPr>
              <a:t>Application supported by blocked amount: IPO mein apply karne ka tareeka. Aapka bank paisa block karta hai, net banking se ya aapke approve kiye UPI mandate se, aur debit tabhi karta hai jab shares milein; warna block hat jaata hai.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38112"/>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8727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30970"/>
            <a:ext cx="502920" cy="1372934"/>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386715"/>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Aapka style, aapka paisa</a:t>
            </a:r>
          </a:p>
        </p:txBody>
      </p:sp>
      <p:sp>
        <p:nvSpPr>
          <p:cNvPr id="11" name="Rounded Rectangle 10"/>
          <p:cNvSpPr/>
          <p:nvPr/>
        </p:nvSpPr>
        <p:spPr>
          <a:xfrm>
            <a:off x="640080" y="1343406"/>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5313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Chaar styles</a:t>
            </a:r>
          </a:p>
        </p:txBody>
      </p:sp>
      <p:sp>
        <p:nvSpPr>
          <p:cNvPr id="13" name="TextBox 12"/>
          <p:cNvSpPr txBox="1"/>
          <p:nvPr/>
        </p:nvSpPr>
        <p:spPr>
          <a:xfrm>
            <a:off x="786384" y="1770126"/>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Intraday: usi din</a:t>
            </a:r>
          </a:p>
          <a:p>
            <a:pPr algn="l" marL="182880" indent="-182880">
              <a:lnSpc>
                <a:spcPct val="100000"/>
              </a:lnSpc>
              <a:spcAft>
                <a:spcPts val="434"/>
              </a:spcAft>
              <a:buClr>
                <a:srgbClr val="0093D6"/>
              </a:buClr>
              <a:buFont typeface="Arial"/>
              <a:buChar char="•"/>
            </a:pPr>
            <a:r>
              <a:rPr sz="1450" b="0" i="0">
                <a:solidFill>
                  <a:srgbClr val="18232F"/>
                </a:solidFill>
                <a:latin typeface="Segoe UI"/>
              </a:rPr>
              <a:t>Swing: din se hafte</a:t>
            </a:r>
          </a:p>
          <a:p>
            <a:pPr algn="l" marL="182880" indent="-182880">
              <a:lnSpc>
                <a:spcPct val="100000"/>
              </a:lnSpc>
              <a:spcAft>
                <a:spcPts val="434"/>
              </a:spcAft>
              <a:buClr>
                <a:srgbClr val="0093D6"/>
              </a:buClr>
              <a:buFont typeface="Arial"/>
              <a:buChar char="•"/>
            </a:pPr>
            <a:r>
              <a:rPr sz="1450" b="0" i="0">
                <a:solidFill>
                  <a:srgbClr val="18232F"/>
                </a:solidFill>
                <a:latin typeface="Segoe UI"/>
              </a:rPr>
              <a:t>Positional: hafte se mahine</a:t>
            </a:r>
          </a:p>
          <a:p>
            <a:pPr algn="l" marL="182880" indent="-182880">
              <a:lnSpc>
                <a:spcPct val="100000"/>
              </a:lnSpc>
              <a:buClr>
                <a:srgbClr val="0093D6"/>
              </a:buClr>
              <a:buFont typeface="Arial"/>
              <a:buChar char="•"/>
            </a:pPr>
            <a:r>
              <a:rPr sz="1450" b="0" i="0">
                <a:solidFill>
                  <a:srgbClr val="18232F"/>
                </a:solidFill>
                <a:latin typeface="Segoe UI"/>
              </a:rPr>
              <a:t>Investor: saalon tak</a:t>
            </a:r>
          </a:p>
        </p:txBody>
      </p:sp>
      <p:sp>
        <p:nvSpPr>
          <p:cNvPr id="14" name="Rounded Rectangle 13"/>
          <p:cNvSpPr/>
          <p:nvPr/>
        </p:nvSpPr>
        <p:spPr>
          <a:xfrm>
            <a:off x="640080" y="3130677"/>
            <a:ext cx="3718408" cy="1622679"/>
          </a:xfrm>
          <a:prstGeom prst="roundRect">
            <a:avLst>
              <a:gd name="adj" fmla="val 676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40405"/>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Style Fit</a:t>
            </a:r>
          </a:p>
        </p:txBody>
      </p:sp>
      <p:sp>
        <p:nvSpPr>
          <p:cNvPr id="16" name="TextBox 15"/>
          <p:cNvSpPr txBox="1"/>
          <p:nvPr/>
        </p:nvSpPr>
        <p:spPr>
          <a:xfrm>
            <a:off x="786384" y="3557397"/>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Aapki ghadi, unki nahi</a:t>
            </a:r>
          </a:p>
          <a:p>
            <a:pPr algn="l" marL="182880" indent="-182880">
              <a:lnSpc>
                <a:spcPct val="100000"/>
              </a:lnSpc>
              <a:spcAft>
                <a:spcPts val="434"/>
              </a:spcAft>
              <a:buClr>
                <a:srgbClr val="F5A524"/>
              </a:buClr>
              <a:buFont typeface="Arial"/>
              <a:buChar char="•"/>
            </a:pPr>
            <a:r>
              <a:rPr sz="1450" b="0" i="0">
                <a:solidFill>
                  <a:srgbClr val="18232F"/>
                </a:solidFill>
                <a:latin typeface="Segoe UI"/>
              </a:rPr>
              <a:t>No aaya, toh woh style bahar</a:t>
            </a:r>
          </a:p>
          <a:p>
            <a:pPr algn="l" marL="182880" indent="-182880">
              <a:lnSpc>
                <a:spcPct val="100000"/>
              </a:lnSpc>
              <a:spcAft>
                <a:spcPts val="434"/>
              </a:spcAft>
              <a:buClr>
                <a:srgbClr val="F5A524"/>
              </a:buClr>
              <a:buFont typeface="Arial"/>
              <a:buChar char="•"/>
            </a:pPr>
            <a:r>
              <a:rPr sz="1450" b="0" i="0">
                <a:solidFill>
                  <a:srgbClr val="18232F"/>
                </a:solidFill>
                <a:latin typeface="Segoe UI"/>
              </a:rPr>
              <a:t>Ek style par tike rahiye</a:t>
            </a:r>
          </a:p>
          <a:p>
            <a:pPr algn="l" marL="182880" indent="-182880">
              <a:lnSpc>
                <a:spcPct val="100000"/>
              </a:lnSpc>
              <a:buClr>
                <a:srgbClr val="F5A524"/>
              </a:buClr>
              <a:buFont typeface="Arial"/>
              <a:buChar char="•"/>
            </a:pPr>
            <a:r>
              <a:rPr sz="1450" b="0" i="0">
                <a:solidFill>
                  <a:srgbClr val="18232F"/>
                </a:solidFill>
                <a:latin typeface="Segoe UI"/>
              </a:rPr>
              <a:t>Zyada trades, zyada toll</a:t>
            </a:r>
          </a:p>
        </p:txBody>
      </p:sp>
      <p:sp>
        <p:nvSpPr>
          <p:cNvPr id="17" name="Rounded Rectangle 16"/>
          <p:cNvSpPr/>
          <p:nvPr/>
        </p:nvSpPr>
        <p:spPr>
          <a:xfrm>
            <a:off x="640080" y="491794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5027676"/>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Paise ka order</a:t>
            </a:r>
          </a:p>
        </p:txBody>
      </p:sp>
      <p:sp>
        <p:nvSpPr>
          <p:cNvPr id="19" name="TextBox 18"/>
          <p:cNvSpPr txBox="1"/>
          <p:nvPr/>
        </p:nvSpPr>
        <p:spPr>
          <a:xfrm>
            <a:off x="786384" y="5344668"/>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Pehle emergency fund</a:t>
            </a:r>
          </a:p>
          <a:p>
            <a:pPr algn="l" marL="182880" indent="-182880">
              <a:lnSpc>
                <a:spcPct val="100000"/>
              </a:lnSpc>
              <a:spcAft>
                <a:spcPts val="434"/>
              </a:spcAft>
              <a:buClr>
                <a:srgbClr val="F0554E"/>
              </a:buClr>
              <a:buFont typeface="Arial"/>
              <a:buChar char="•"/>
            </a:pPr>
            <a:r>
              <a:rPr sz="1450" b="0" i="0">
                <a:solidFill>
                  <a:srgbClr val="18232F"/>
                </a:solidFill>
                <a:latin typeface="Segoe UI"/>
              </a:rPr>
              <a:t>Risk capital = sehne layak loss</a:t>
            </a:r>
          </a:p>
          <a:p>
            <a:pPr algn="l" marL="182880" indent="-182880">
              <a:lnSpc>
                <a:spcPct val="100000"/>
              </a:lnSpc>
              <a:buClr>
                <a:srgbClr val="F0554E"/>
              </a:buClr>
              <a:buFont typeface="Arial"/>
              <a:buChar char="•"/>
            </a:pPr>
            <a:r>
              <a:rPr sz="1450" b="0" i="0">
                <a:solidFill>
                  <a:srgbClr val="18232F"/>
                </a:solidFill>
                <a:latin typeface="Segoe UI"/>
              </a:rPr>
              <a:t>Udhaar ka paisa: kabhi nahi</a:t>
            </a:r>
          </a:p>
        </p:txBody>
      </p:sp>
      <p:sp>
        <p:nvSpPr>
          <p:cNvPr id="20" name="Rounded Rectangle 19"/>
          <p:cNvSpPr/>
          <p:nvPr/>
        </p:nvSpPr>
        <p:spPr>
          <a:xfrm>
            <a:off x="7833208" y="1509141"/>
            <a:ext cx="3718408" cy="1843659"/>
          </a:xfrm>
          <a:prstGeom prst="roundRect">
            <a:avLst>
              <a:gd name="adj" fmla="val 595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618869"/>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Investor ka raasta</a:t>
            </a:r>
          </a:p>
        </p:txBody>
      </p:sp>
      <p:sp>
        <p:nvSpPr>
          <p:cNvPr id="22" name="TextBox 21"/>
          <p:cNvSpPr txBox="1"/>
          <p:nvPr/>
        </p:nvSpPr>
        <p:spPr>
          <a:xfrm>
            <a:off x="7979512" y="1935861"/>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Index fund index copy karta hai</a:t>
            </a:r>
          </a:p>
          <a:p>
            <a:pPr algn="l" marL="182880" indent="-182880">
              <a:lnSpc>
                <a:spcPct val="100000"/>
              </a:lnSpc>
              <a:spcAft>
                <a:spcPts val="434"/>
              </a:spcAft>
              <a:buClr>
                <a:srgbClr val="16A34A"/>
              </a:buClr>
              <a:buFont typeface="Arial"/>
              <a:buChar char="•"/>
            </a:pPr>
            <a:r>
              <a:rPr sz="1450" b="0" i="0">
                <a:solidFill>
                  <a:srgbClr val="18232F"/>
                </a:solidFill>
                <a:latin typeface="Segoe UI"/>
              </a:rPr>
              <a:t>ETF share ki tarah trade hota hai</a:t>
            </a:r>
          </a:p>
          <a:p>
            <a:pPr algn="l" marL="182880" indent="-182880">
              <a:lnSpc>
                <a:spcPct val="100000"/>
              </a:lnSpc>
              <a:spcAft>
                <a:spcPts val="434"/>
              </a:spcAft>
              <a:buClr>
                <a:srgbClr val="16A34A"/>
              </a:buClr>
              <a:buFont typeface="Arial"/>
              <a:buChar char="•"/>
            </a:pPr>
            <a:r>
              <a:rPr sz="1450" b="0" i="0">
                <a:solidFill>
                  <a:srgbClr val="18232F"/>
                </a:solidFill>
                <a:latin typeface="Segoe UI"/>
              </a:rPr>
              <a:t>NAV aur expense ratio</a:t>
            </a:r>
          </a:p>
          <a:p>
            <a:pPr algn="l" marL="182880" indent="-182880">
              <a:lnSpc>
                <a:spcPct val="100000"/>
              </a:lnSpc>
              <a:buClr>
                <a:srgbClr val="16A34A"/>
              </a:buClr>
              <a:buFont typeface="Arial"/>
              <a:buChar char="•"/>
            </a:pPr>
            <a:r>
              <a:rPr sz="1450" b="0" i="0">
                <a:solidFill>
                  <a:srgbClr val="18232F"/>
                </a:solidFill>
                <a:latin typeface="Segoe UI"/>
              </a:rPr>
              <a:t>Apna plan: registered adviser se poochhein</a:t>
            </a:r>
          </a:p>
        </p:txBody>
      </p:sp>
      <p:sp>
        <p:nvSpPr>
          <p:cNvPr id="23" name="Rounded Rectangle 22"/>
          <p:cNvSpPr/>
          <p:nvPr/>
        </p:nvSpPr>
        <p:spPr>
          <a:xfrm>
            <a:off x="7833208" y="3517392"/>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627120"/>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SIP aur IPO</a:t>
            </a:r>
          </a:p>
        </p:txBody>
      </p:sp>
      <p:sp>
        <p:nvSpPr>
          <p:cNvPr id="25" name="TextBox 24"/>
          <p:cNvSpPr txBox="1"/>
          <p:nvPr/>
        </p:nvSpPr>
        <p:spPr>
          <a:xfrm>
            <a:off x="7979512" y="3944112"/>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SIP: fix amount, fix date</a:t>
            </a:r>
          </a:p>
          <a:p>
            <a:pPr algn="l" marL="182880" indent="-182880">
              <a:lnSpc>
                <a:spcPct val="100000"/>
              </a:lnSpc>
              <a:spcAft>
                <a:spcPts val="434"/>
              </a:spcAft>
              <a:buClr>
                <a:srgbClr val="0093D6"/>
              </a:buClr>
              <a:buFont typeface="Arial"/>
              <a:buChar char="•"/>
            </a:pPr>
            <a:r>
              <a:rPr sz="1450" b="0" i="0">
                <a:solidFill>
                  <a:srgbClr val="18232F"/>
                </a:solidFill>
                <a:latin typeface="Segoe UI"/>
              </a:rPr>
              <a:t>Profit ka koi vada nahi</a:t>
            </a:r>
          </a:p>
          <a:p>
            <a:pPr algn="l" marL="182880" indent="-182880">
              <a:lnSpc>
                <a:spcPct val="100000"/>
              </a:lnSpc>
              <a:buClr>
                <a:srgbClr val="0093D6"/>
              </a:buClr>
              <a:buFont typeface="Arial"/>
              <a:buChar char="•"/>
            </a:pPr>
            <a:r>
              <a:rPr sz="1450" b="0" i="0">
                <a:solidFill>
                  <a:srgbClr val="18232F"/>
                </a:solidFill>
                <a:latin typeface="Segoe UI"/>
              </a:rPr>
              <a:t>IPO: block, lottery, listing</a:t>
            </a:r>
          </a:p>
        </p:txBody>
      </p:sp>
      <p:sp>
        <p:nvSpPr>
          <p:cNvPr id="26" name="Rounded Rectangle 25"/>
          <p:cNvSpPr/>
          <p:nvPr/>
        </p:nvSpPr>
        <p:spPr>
          <a:xfrm>
            <a:off x="7833208" y="5028438"/>
            <a:ext cx="3718408" cy="1070229"/>
          </a:xfrm>
          <a:prstGeom prst="roundRect">
            <a:avLst>
              <a:gd name="adj" fmla="val 1025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138166"/>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Aapka mann</a:t>
            </a:r>
          </a:p>
        </p:txBody>
      </p:sp>
      <p:sp>
        <p:nvSpPr>
          <p:cNvPr id="28" name="TextBox 27"/>
          <p:cNvSpPr txBox="1"/>
          <p:nvPr/>
        </p:nvSpPr>
        <p:spPr>
          <a:xfrm>
            <a:off x="7979512" y="5455158"/>
            <a:ext cx="3425800" cy="64350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Style copy karna, zindagi udhaar lena</a:t>
            </a:r>
          </a:p>
          <a:p>
            <a:pPr algn="l" marL="182880" indent="-182880">
              <a:lnSpc>
                <a:spcPct val="100000"/>
              </a:lnSpc>
              <a:buClr>
                <a:srgbClr val="57687A"/>
              </a:buClr>
              <a:buFont typeface="Arial"/>
              <a:buChar char="•"/>
            </a:pPr>
            <a:r>
              <a:rPr sz="1450" b="0" i="0">
                <a:solidFill>
                  <a:srgbClr val="18232F"/>
                </a:solidFill>
                <a:latin typeface="Segoe UI"/>
              </a:rPr>
              <a:t>Josh nahi, fit dekhiye</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Dekhiye ki aapka asli din kaunsa style allow karta hai, apne paise ka order check kijiye, aur ek fund ka NAV aur expense ratio khud padhiye.</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Google Sheets mein ya paper par apna asli weekday timetable likhiye, subah uthne se raat sone tak, ghante-ghante ka, travel, meetings aur dinner samet.</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mein diye 'Style Fit card' mein paanch sawaalon ke jawab Yes ya No mein bhariye, aur jo style bach jaaye use ek line mein likh lijiye.</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'Emergency-fund worksheet' bhariye: apne zaroori mahine ke kharche jodiye, unhe 3 aur 6 se guna kijiye, aur note kijiye ki is range mein se kitna aapke paas pehle se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45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amfiindia.com, yaani AMFI (mutual fund industry ki sanstha) ki website par NAV section kholiye, ek fund house aur phir uska NIFTY 50 index fund chuniye, aur latest NAV aur uski date note kijiye.</a:t>
            </a:r>
          </a:p>
        </p:txBody>
      </p:sp>
      <p:sp>
        <p:nvSpPr>
          <p:cNvPr id="9" name="Rounded Rectangle 8"/>
          <p:cNvSpPr/>
          <p:nvPr/>
        </p:nvSpPr>
        <p:spPr>
          <a:xfrm>
            <a:off x="457200" y="21153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Fund house ki website par us fund ka page ya uski latest factsheet kholiye, aur direct plan aur regular plan ka TER (total expense ratio), aur agar diya ho toh tracking error, 'Fund reading notes' mein likhiye.</a:t>
            </a:r>
          </a:p>
        </p:txBody>
      </p:sp>
      <p:sp>
        <p:nvSpPr>
          <p:cNvPr id="13" name="Rounded Rectangle 12"/>
          <p:cNvSpPr/>
          <p:nvPr/>
        </p:nvSpPr>
        <p:spPr>
          <a:xfrm>
            <a:off x="457200" y="289560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0532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0236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299618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AI Lab ka 'Style Fit interview' prompt chalaiye aur uska jawab apne jawab se milaiye; jahan dono alag hon, wahan faisla aapka timetable karega.</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chaaron styles (intraday, swing, positional, investing) ko holding period aur screen time se pehchaan payenge, Style Fit check se woh style chun payenge jo aapka asli din allow karta hai, apna paisa sahi order mein rakh payenge (pehle emergency fund, phir goals, phir risk capital), aur index fund, ETF, NAV, expense ratio, tracking error, SIP aur IPO ka process samjha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Style Fit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Us weekday ke hisaab se jawab dijiye jo sach mein aapka hai. Jahan AI ka jawab aapse alag ho, wahan faisla aapka timetable karega.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736246"/>
                <a:gridCol w="4825288"/>
                <a:gridCol w="3395752"/>
                <a:gridCol w="1954249"/>
              </a:tblGrid>
              <a:tr h="455168">
                <a:tc>
                  <a:txBody>
                    <a:bodyPr wrap="square"/>
                    <a:lstStyle/>
                    <a:p>
                      <a:pPr algn="l"/>
                      <a:r>
                        <a:rPr sz="1500" b="1" i="0">
                          <a:solidFill>
                            <a:srgbClr val="FFFFFF"/>
                          </a:solidFill>
                          <a:latin typeface="Segoe UI"/>
                        </a:rPr>
                        <a:t>Q</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Aman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46024">
                <a:tc>
                  <a:txBody>
                    <a:bodyPr wrap="square"/>
                    <a:lstStyle/>
                    <a:p>
                      <a:pPr algn="ctr"/>
                      <a:r>
                        <a:rPr sz="1500" b="0" i="0">
                          <a:solidFill>
                            <a:srgbClr val="18232F"/>
                          </a:solidFill>
                          <a:latin typeface="Segoe UI"/>
                        </a:rPr>
                        <a:t>Q1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Weekdays mein 9:15-11:00 am aur 2:30 pm par free?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intraday aur ORB bahar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ctr"/>
                      <a:r>
                        <a:rPr sz="1500" b="0" i="0">
                          <a:solidFill>
                            <a:srgbClr val="18232F"/>
                          </a:solidFill>
                          <a:latin typeface="Segoe UI"/>
                        </a:rPr>
                        <a:t>Q2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Zyadatar shaam, close ke baad, lagbhag 20 minute?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ctr"/>
                      <a:r>
                        <a:rPr sz="1500" b="0" i="0">
                          <a:solidFill>
                            <a:srgbClr val="18232F"/>
                          </a:solidFill>
                          <a:latin typeface="Segoe UI"/>
                        </a:rPr>
                        <a:t>Q3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Overnight aur weekend par position rakh kar chain?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ctr"/>
                      <a:r>
                        <a:rPr sz="1500" b="0" i="0">
                          <a:solidFill>
                            <a:srgbClr val="18232F"/>
                          </a:solidFill>
                          <a:latin typeface="Segoe UI"/>
                        </a:rPr>
                        <a:t>Q4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Likhe rules aur journal follow karna pasand?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ctr"/>
                      <a:r>
                        <a:rPr sz="1500" b="0" i="0">
                          <a:solidFill>
                            <a:srgbClr val="18232F"/>
                          </a:solidFill>
                          <a:latin typeface="Segoe UI"/>
                        </a:rPr>
                        <a:t>Q5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 mahine ka emergency fund, aur udhaar bilkul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abhi sirf 2 mahine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l"/>
                      <a:r>
                        <a:rPr sz="1500" b="0" i="0">
                          <a:solidFill>
                            <a:srgbClr val="18232F"/>
                          </a:solidFill>
                          <a:latin typeface="Segoe UI"/>
                        </a:rPr>
                        <a:t>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Jo styles bache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Swing, positional, investor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l"/>
                      <a:r>
                        <a:rPr sz="1500" b="0" i="0">
                          <a:solidFill>
                            <a:srgbClr val="18232F"/>
                          </a:solidFill>
                          <a:latin typeface="Segoe UI"/>
                        </a:rPr>
                        <a:t>Paisa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Stage 1 ke baad asli paisa?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Jab tak fund 3 mahine ka na ho,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6024">
                <a:tc>
                  <a:txBody>
                    <a:bodyPr wrap="square"/>
                    <a:lstStyle/>
                    <a:p>
                      <a:pPr algn="l"/>
                      <a:r>
                        <a:rPr sz="1500" b="0" i="0">
                          <a:solidFill>
                            <a:srgbClr val="18232F"/>
                          </a:solidFill>
                          <a:latin typeface="Segoe UI"/>
                        </a:rPr>
                        <a:t>Abhi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Stage 1 paper challenge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EMA Pullback 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EMA Pullback 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Emergency-fund worksheet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Yeh fund kisi safe jagah rakhiye jahan se turant nikal sake, jaise savings account. Stage 1 mein iski zaroorat nahi: aapka trading ka paisa Rs 10 lakh ka virtual account hai.</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86200"/>
        </p:xfrm>
        <a:graphic>
          <a:graphicData uri="http://schemas.openxmlformats.org/drawingml/2006/table">
            <a:tbl>
              <a:tblPr firstRow="1">
                <a:tableStyleId>{5C22544A-7EE6-4342-B048-85BDC9FD1C3A}</a:tableStyleId>
              </a:tblPr>
              <a:tblGrid>
                <a:gridCol w="7585410"/>
                <a:gridCol w="2042508"/>
                <a:gridCol w="1283617"/>
              </a:tblGrid>
              <a:tr h="49377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Aman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Mahine ke zaroori kharche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x 3 mahine (kam se kam)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90,000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x 6 mahine (upar ki had)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Abhi tak jama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60,000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Kitne mahine cover (jama ÷ mahine ka kharcha)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3 mahine ke liye aur chahiye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Trading ke liye udhaar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Bilkul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Fund reading notes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Ek fund ke numbers padhna sirf practice hai, recommendation nahi. Aapke liye kaunsa fund theek hai, yeh SEBI-registered Investment Adviser se poochne ka sawaal hai.</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401568"/>
        </p:xfrm>
        <a:graphic>
          <a:graphicData uri="http://schemas.openxmlformats.org/drawingml/2006/table">
            <a:tbl>
              <a:tblPr firstRow="1">
                <a:tableStyleId>{5C22544A-7EE6-4342-B048-85BDC9FD1C3A}</a:tableStyleId>
              </a:tblPr>
              <a:tblGrid>
                <a:gridCol w="5438774"/>
                <a:gridCol w="3687440"/>
                <a:gridCol w="1785321"/>
              </a:tblGrid>
              <a:tr h="493776">
                <a:tc>
                  <a:txBody>
                    <a:bodyPr wrap="square"/>
                    <a:lstStyle/>
                    <a:p>
                      <a:pPr algn="l"/>
                      <a:r>
                        <a:rPr sz="1500" b="1" i="0">
                          <a:solidFill>
                            <a:srgbClr val="FFFFFF"/>
                          </a:solidFill>
                          <a:latin typeface="Segoe UI"/>
                        </a:rPr>
                        <a:t>Kya dhoondhna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Kahan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note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Fund house aur uska NIFTY 50 index fund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amfiindia.com, NAV section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Latest NAV aur uski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amfiindia.com, NAV section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TER, direct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page ya factsheet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TER, regular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page ya factsheet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Regular minus direct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Aapka apna hisaab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Tracking error, agar diya 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house ki website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Cricket-format game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Family ya classmates ke saath har koi bataye ki uska weekday asal mein kaunsa format allow karta hai: super over (scalping), T20 (intraday), Test match (swing), poori series (positional) ya poora career (investing).</a:t>
            </a:r>
          </a:p>
          <a:p>
            <a:pPr algn="l">
              <a:lnSpc>
                <a:spcPct val="100000"/>
              </a:lnSpc>
            </a:pPr>
            <a:r>
              <a:rPr sz="2000" b="0" i="0">
                <a:solidFill>
                  <a:srgbClr val="18232F"/>
                </a:solidFill>
                <a:latin typeface="Segoe UI"/>
              </a:rPr>
              <a:t>Phir har koi bataye ki aaj se pehle woh kaunsa format khelna chahta tha, aur dono alag kyun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Style Fit interview: AI sawaal poochhe, faisla aapka</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Style Fit interview</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“Act as a calm trading coach for a complete beginner in India. Interview me with 6 short questions, one at a time, to find a trading style that fits my real life: my weekday timetable from waking up to bedtime, my commute and meetings, how many minutes I can give in the evening after the market closes, how I feel holding a position overnight or over a weekend, whether I enjoy following written rules and keeping a journal, and whether my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Fund ke shabd: samjhiye aur check kijiye</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“Explain these terms to a beginner in India in plain words, one short paragraph each, with a made-up example: mutual fund, AMC, NAV, expense ratio, direct plan vs regular plan, index fund, ETF, tracking error, SIP.”</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IPO myth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common beliefs that Indian beginners hold about IPOs, for example 'my money is debited as soon as I apply', 'applying for more lots always raises my chance of allotment', 'the grey market premium is an official price' and 'a big subscription number means the listing price will rise'.”</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ka favourite YouTuber ghar se poore din five-minute charts par scalping karta hai. Aman subah 9:30 se shaam 6:30 tak office mein hota hai, dinner ke baad 20 minute free hai, aur overnight position khuli ho tab bhi chain se so leta hai. Aman ke din mein kaunsa style fit baithta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Opening Range Breakout, roz subah 9:15 se 11:00 tak</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YouTuber jaisi scalping, office ki desk se hi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Swing trading, shaam ko close ke baad plan karke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Office meetings ke beech-beech mein kiye intraday trades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ka SIP har mahine ki 5 taareekh ko ek fund mein Rs 6,000 daalta hai. Month 1 mein NAV Rs 60 hai, month 2 mein Rs 40 aur month 3 mein Rs 50. Teen mahine baad uske paas kitne units hain?</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370 units: 100, phir 150, phir 120</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300 units: Rs 18,000 ÷ Rs 60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360 units: Rs 18,000 ÷ Rs 50 ka average NAV</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450 units: Rs 18,000 ÷ Rs 40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ka zaroori kharcha Rs 30,000 mahina hai aur uska emergency fund abhi sirf do mahine ka hai. Ek dost kehta hai, 'Rs 1 lakh ka personal loan le lo, trading shuru karo aur profit se chuka dena.' Aman ke liye abhi sahi kadam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Pehle emergency fund poora karo, aur kisi bhi tarah ka loan nahi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Loan le lo, bas har trade chhota rakho</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Family se le lo, usmein byaaj toh lagta nahi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Loan chhodo, apni Rs 60,000 ki savings se trade karo</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SAWAAL 4/5</a:t>
            </a:r>
          </a:p>
        </p:txBody>
      </p:sp>
      <p:sp>
        <p:nvSpPr>
          <p:cNvPr id="3" name="TextBox 2"/>
          <p:cNvSpPr txBox="1"/>
          <p:nvPr/>
        </p:nvSpPr>
        <p:spPr>
          <a:xfrm>
            <a:off x="457200" y="640080"/>
            <a:ext cx="11277295" cy="41148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NIFTY 50 index fund aur NIFTY 50 ETF ke baare mein kaunsi baat sahi hai?</a:t>
            </a:r>
          </a:p>
        </p:txBody>
      </p:sp>
      <p:sp>
        <p:nvSpPr>
          <p:cNvPr id="4" name="Rounded Rectangle 3"/>
          <p:cNvSpPr/>
          <p:nvPr/>
        </p:nvSpPr>
        <p:spPr>
          <a:xfrm>
            <a:off x="457200" y="128016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3560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48437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ETF: exchange ka live price. Index fund: us din ka NAV.</a:t>
            </a:r>
          </a:p>
        </p:txBody>
      </p:sp>
      <p:sp>
        <p:nvSpPr>
          <p:cNvPr id="7" name="Rounded Rectangle 6"/>
          <p:cNvSpPr/>
          <p:nvPr/>
        </p:nvSpPr>
        <p:spPr>
          <a:xfrm>
            <a:off x="457200" y="212140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27685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32562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Dono ke liye demat chahiye, aur dono sirf lots mein milte hain</a:t>
            </a:r>
          </a:p>
        </p:txBody>
      </p:sp>
      <p:sp>
        <p:nvSpPr>
          <p:cNvPr id="10" name="Rounded Rectangle 9"/>
          <p:cNvSpPr/>
          <p:nvPr/>
        </p:nvSpPr>
        <p:spPr>
          <a:xfrm>
            <a:off x="457200" y="296265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11810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16687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Index fund: exchange ka live price. ETF: us din ka NAV.</a:t>
            </a:r>
          </a:p>
        </p:txBody>
      </p:sp>
      <p:sp>
        <p:nvSpPr>
          <p:cNvPr id="13" name="Rounded Rectangle 12"/>
          <p:cNvSpPr/>
          <p:nvPr/>
        </p:nvSpPr>
        <p:spPr>
          <a:xfrm>
            <a:off x="457200" y="380390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395935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00812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Dono NIFTY 50 copy karte hain, isliye costs ke baad use beat karenge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Maan lijiye Priya UPI se ek made-up IPO mein ek lot ke liye apply karti hai. Retail hissa kai guna oversubscribe hota hai aur lottery mein uska naam nahi aata. Uske paise ka kya hota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Agle IPO ke liye block hi pada rehta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Utne paise ka ek adhoora lot mil jaata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Block hat jaata hai; debit kabhi hua hi nahi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debit hota hai, listing ke baad refund milta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Aapka style, aur investing ka raasta</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se pehle aap chupchaap kiska style copy kar rahe the, aur aapka asli weekday timetable kya kehta hai? Jo style chuna, woh likhiye, woh ek sawaal bhi jisne faisla kiya, aur yeh bhi ki aapka emergency fund kam se kam 3 mahine ka hai ya nahi.</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Jo style aapka asli din sambhal sake, use chunna samjhauta nahi hai. Iska matlab hai aise rules chunna jinhe aap sach mein nibha sakein.</a:t>
            </a:r>
          </a:p>
        </p:txBody>
      </p:sp>
      <p:sp>
        <p:nvSpPr>
          <p:cNvPr id="11" name="Rounded Rectangle 10"/>
          <p:cNvSpPr/>
          <p:nvPr/>
        </p:nvSpPr>
        <p:spPr>
          <a:xfrm>
            <a:off x="457200" y="5344668"/>
            <a:ext cx="4183457"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11 · Strategy #1: EMA Pullback Swing</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90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Strategy #1: EMA Pullback Swing</a:t>
            </a:r>
          </a:p>
        </p:txBody>
      </p:sp>
      <p:sp>
        <p:nvSpPr>
          <p:cNvPr id="10" name="Rounded Rectangle 9"/>
          <p:cNvSpPr/>
          <p:nvPr/>
        </p:nvSpPr>
        <p:spPr>
          <a:xfrm>
            <a:off x="4572000" y="2386584"/>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71176" y="2377440"/>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EMA Pullback Swing: trend, pullback, strength, signal, entry, stop, size aur exit ke saaf rules</a:t>
            </a:r>
          </a:p>
        </p:txBody>
      </p:sp>
      <p:sp>
        <p:nvSpPr>
          <p:cNvPr id="12" name="Rounded Rectangle 11"/>
          <p:cNvSpPr/>
          <p:nvPr/>
        </p:nvSpPr>
        <p:spPr>
          <a:xfrm>
            <a:off x="4572000" y="3154680"/>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71176" y="3145536"/>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Screener condition writer: AI draft kare, aap charts par verify karein</a:t>
            </a:r>
          </a:p>
        </p:txBody>
      </p:sp>
      <p:sp>
        <p:nvSpPr>
          <p:cNvPr id="14" name="Rounded Rectangle 13"/>
          <p:cNvSpPr/>
          <p:nvPr/>
        </p:nvSpPr>
        <p:spPr>
          <a:xfrm>
            <a:off x="4572000" y="3922776"/>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71176" y="3922776"/>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Impatience: nikal chuki train ke peeche bhaagna</a:t>
            </a:r>
          </a:p>
        </p:txBody>
      </p:sp>
      <p:sp>
        <p:nvSpPr>
          <p:cNvPr id="16" name="Rounded Rectangle 15"/>
          <p:cNvSpPr/>
          <p:nvPr/>
        </p:nvSpPr>
        <p:spPr>
          <a:xfrm>
            <a:off x="4572000" y="4434840"/>
            <a:ext cx="816296" cy="292608"/>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FFFFFF"/>
                </a:solidFill>
                <a:latin typeface="Segoe UI"/>
              </a:rPr>
              <a:t>Strategy</a:t>
            </a:r>
          </a:p>
        </p:txBody>
      </p:sp>
      <p:sp>
        <p:nvSpPr>
          <p:cNvPr id="17" name="TextBox 16"/>
          <p:cNvSpPr txBox="1"/>
          <p:nvPr/>
        </p:nvSpPr>
        <p:spPr>
          <a:xfrm>
            <a:off x="5571176" y="4434840"/>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EMA Pullback Swing</a:t>
            </a:r>
          </a:p>
        </p:txBody>
      </p:sp>
      <p:sp>
        <p:nvSpPr>
          <p:cNvPr id="18" name="TextBox 17"/>
          <p:cNvSpPr txBox="1"/>
          <p:nvPr/>
        </p:nvSpPr>
        <p:spPr>
          <a:xfrm>
            <a:off x="4572000" y="5120640"/>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9" name="TextBox 18"/>
          <p:cNvSpPr txBox="1"/>
          <p:nvPr/>
        </p:nvSpPr>
        <p:spPr>
          <a:xfrm>
            <a:off x="4572000" y="5394960"/>
            <a:ext cx="7162495" cy="737616"/>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Aaj ke baad aap EMA Pullback Swing ke rules bilkul saaf bata payenge, kisi chart ko un par check kar payenge, relative-strength rule free screener mein ya haath se chala payenge, aisa plan card likh payenge jismein 1.5 x ATR stop, maximum entry par 25% cap se check ki hui quantity, 2.5R profit exit aur 15 din ka time exit ho, aur samjha payenge ki plan se aage ka gap skip kyun hota hai, chase kyun nahi.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Jo train nikal chuki</a:t>
            </a:r>
          </a:p>
        </p:txBody>
      </p:sp>
      <p:sp>
        <p:nvSpPr>
          <p:cNvPr id="4" name="Rounded Rectangle 3"/>
          <p:cNvSpPr/>
          <p:nvPr/>
        </p:nvSpPr>
        <p:spPr>
          <a:xfrm>
            <a:off x="457200"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Wednesday, raat 8:30. Aman abhi-abhi Pune mein office se lauta hai. Priya Lucknow se mentor ki video call par jud jaati hai.</a:t>
            </a:r>
          </a:p>
        </p:txBody>
      </p:sp>
      <p:sp>
        <p:nvSpPr>
          <p:cNvPr id="7" name="Rounded Rectangle 6"/>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Kiran Foods aaj 7% bhaag gaya, aur mujhe office ke baad pata chala. Kal 9:15 par jo bhi price ho, main le lunga, isse pehle ki woh aur bhaag jaye.</a:t>
            </a:r>
          </a:p>
        </p:txBody>
      </p:sp>
      <p:sp>
        <p:nvSpPr>
          <p:cNvPr id="13" name="Rounded Rectangle 12"/>
          <p:cNvSpPr/>
          <p:nvPr/>
        </p:nvSpPr>
        <p:spPr>
          <a:xfrm>
            <a:off x="8085125"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station par agar aapki train chal padi ho, toh aap kya karte hain?</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Jo train nikal chuki</a:t>
            </a:r>
          </a:p>
        </p:txBody>
      </p:sp>
      <p:sp>
        <p:nvSpPr>
          <p:cNvPr id="4" name="Rounded Rectangle 3"/>
          <p:cNvSpPr/>
          <p:nvPr/>
        </p:nvSpPr>
        <p:spPr>
          <a:xfrm>
            <a:off x="457200"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Daud ke chadh jaata hoon, sir... Pichhle mahine bhi aise hi khareeda tha. Agle hi hafte gir gaya, aur loss mein bechna pada.</a:t>
            </a:r>
          </a:p>
        </p:txBody>
      </p:sp>
      <p:sp>
        <p:nvSpPr>
          <p:cNvPr id="10" name="Rounded Rectangle 9"/>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kya usi trend ko pakadne ka koi shaant tareeka hai, jaise agle station par train pakadna?</a:t>
            </a:r>
          </a:p>
        </p:txBody>
      </p:sp>
      <p:sp>
        <p:nvSpPr>
          <p:cNvPr id="16" name="Rounded Rectangle 15"/>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Haan, hai Priya. Uptrend wale stocks aksar thoda rukte hain aur wapas apne EMA 20 ki taraf aate hain. Kabhi wahan se trend phir chal padta hai, kabhi nahi, isliye exit hum chadhne se pehle hi tay kar lete hain. Aur kuch hafte koi train rukti hi nahi. Intezaar bhi plan ka hissa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Bhaagte price ke peeche daudna impatience hai. Pullback plan mein price aapke paas aata hai, aur kuch din sahi trade yahi hota hai ki trade na karein.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Rukne par khareediye, bhaagne par nahi</a:t>
            </a:r>
          </a:p>
        </p:txBody>
      </p:sp>
      <p:sp>
        <p:nvSpPr>
          <p:cNvPr id="4" name="TextBox 3"/>
          <p:cNvSpPr txBox="1"/>
          <p:nvPr/>
        </p:nvSpPr>
        <p:spPr>
          <a:xfrm>
            <a:off x="457200" y="1335024"/>
            <a:ext cx="5519776" cy="1451610"/>
          </a:xfrm>
          <a:prstGeom prst="rect">
            <a:avLst/>
          </a:prstGeom>
          <a:noFill/>
        </p:spPr>
        <p:txBody>
          <a:bodyPr wrap="square" lIns="0" rIns="0" tIns="0" bIns="0" anchor="t">
            <a:noAutofit/>
          </a:bodyPr>
          <a:lstStyle/>
          <a:p>
            <a:pPr algn="l" marL="274320" indent="-274320">
              <a:lnSpc>
                <a:spcPct val="100000"/>
              </a:lnSpc>
              <a:spcAft>
                <a:spcPts val="675"/>
              </a:spcAft>
              <a:buClr>
                <a:srgbClr val="134A9A"/>
              </a:buClr>
              <a:buFont typeface="Arial"/>
              <a:buChar char="•"/>
            </a:pPr>
            <a:r>
              <a:rPr sz="1350" b="0" i="0">
                <a:solidFill>
                  <a:srgbClr val="18232F"/>
                </a:solidFill>
                <a:latin typeface="Segoe UI"/>
              </a:rPr>
              <a:t>Swing trade mein aap stock ko kuch din se kuch hafton tak rakhte hain, aur plan daily chart par banta hai.</a:t>
            </a:r>
          </a:p>
          <a:p>
            <a:pPr algn="l" marL="274320" indent="-274320">
              <a:lnSpc>
                <a:spcPct val="100000"/>
              </a:lnSpc>
              <a:spcAft>
                <a:spcPts val="675"/>
              </a:spcAft>
              <a:buClr>
                <a:srgbClr val="134A9A"/>
              </a:buClr>
              <a:buFont typeface="Arial"/>
              <a:buChar char="•"/>
            </a:pPr>
            <a:r>
              <a:rPr sz="1350" b="0" i="0">
                <a:solidFill>
                  <a:srgbClr val="18232F"/>
                </a:solidFill>
                <a:latin typeface="Segoe UI"/>
              </a:rPr>
              <a:t>EMA Pullback Swing aise stock ko khareedta hai jo pehle se uptrend mein hai, lekin tabhi jab woh thoda ruk kar apne EMA 20 ki taraf wapas aaye.</a:t>
            </a:r>
          </a:p>
          <a:p>
            <a:pPr algn="l" marL="274320" indent="-274320">
              <a:lnSpc>
                <a:spcPct val="100000"/>
              </a:lnSpc>
              <a:buClr>
                <a:srgbClr val="134A9A"/>
              </a:buClr>
              <a:buFont typeface="Arial"/>
              <a:buChar char="•"/>
            </a:pPr>
            <a:r>
              <a:rPr sz="1350" b="0" i="0">
                <a:solidFill>
                  <a:srgbClr val="18232F"/>
                </a:solidFill>
                <a:latin typeface="Segoe UI"/>
              </a:rPr>
              <a:t>Is wapsi ko pullback kehte hain.</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Diwali sale sochiye. Busy season mein achhi shirt par 20% off ek pullback jaisa hai: demand abhi bhi bani hui hai. … ATR(14) lagbhag Rs 16.70 hai, toh 1.5 x ATR stop entry se Rs 25 neeche lagega; lekin Rs 449 se EMA 20 tak ki ek aam wapsi hi Rs 33 ki hai, yaani pullback poora hone se pehle hi stop hit ho jaata.</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Khareedne ke teen tareeke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Sirf pehla setup hai. Baaki do mauke jaise dikhte hain, par asal mein jaldbaazi hai.</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32816"/>
          </a:xfrm>
          <a:prstGeom prst="roundRect">
            <a:avLst>
              <a:gd name="adj" fmla="val 2112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89401"/>
            <a:ext cx="3527450" cy="21640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32816"/>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Uptrend mein pullback</a:t>
            </a:r>
          </a:p>
        </p:txBody>
      </p:sp>
      <p:cxnSp>
        <p:nvCxnSpPr>
          <p:cNvPr id="16" name="Connector 15"/>
          <p:cNvCxnSpPr/>
          <p:nvPr/>
        </p:nvCxnSpPr>
        <p:spPr>
          <a:xfrm>
            <a:off x="640080" y="380580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16A34A"/>
              </a:buClr>
              <a:buFont typeface="Arial"/>
              <a:buChar char="•"/>
            </a:pPr>
            <a:r>
              <a:rPr sz="1300" b="0" i="0">
                <a:solidFill>
                  <a:srgbClr val="18232F"/>
                </a:solidFill>
                <a:latin typeface="Segoe UI"/>
              </a:rPr>
              <a:t>EMA 20, badhte EMA 50 ke upar</a:t>
            </a:r>
          </a:p>
          <a:p>
            <a:pPr algn="l" marL="201168" indent="-201168">
              <a:lnSpc>
                <a:spcPct val="100000"/>
              </a:lnSpc>
              <a:spcAft>
                <a:spcPts val="650"/>
              </a:spcAft>
              <a:buClr>
                <a:srgbClr val="16A34A"/>
              </a:buClr>
              <a:buFont typeface="Arial"/>
              <a:buChar char="•"/>
            </a:pPr>
            <a:r>
              <a:rPr sz="1300" b="0" i="0">
                <a:solidFill>
                  <a:srgbClr val="18232F"/>
                </a:solidFill>
                <a:latin typeface="Segoe UI"/>
              </a:rPr>
              <a:t>Price EMA 20 ke paas rukta hai</a:t>
            </a:r>
          </a:p>
          <a:p>
            <a:pPr algn="l" marL="201168" indent="-201168">
              <a:lnSpc>
                <a:spcPct val="100000"/>
              </a:lnSpc>
              <a:spcAft>
                <a:spcPts val="650"/>
              </a:spcAft>
              <a:buClr>
                <a:srgbClr val="16A34A"/>
              </a:buClr>
              <a:buFont typeface="Arial"/>
              <a:buChar char="•"/>
            </a:pPr>
            <a:r>
              <a:rPr sz="1300" b="0" i="0">
                <a:solidFill>
                  <a:srgbClr val="18232F"/>
                </a:solidFill>
                <a:latin typeface="Segoe UI"/>
              </a:rPr>
              <a:t>Exit entry se pehle likha hua</a:t>
            </a:r>
          </a:p>
          <a:p>
            <a:pPr algn="l" marL="201168" indent="-201168">
              <a:lnSpc>
                <a:spcPct val="100000"/>
              </a:lnSpc>
              <a:buClr>
                <a:srgbClr val="16A34A"/>
              </a:buClr>
              <a:buFont typeface="Arial"/>
              <a:buChar char="•"/>
            </a:pPr>
            <a:r>
              <a:rPr sz="1300" b="0" i="0">
                <a:solidFill>
                  <a:srgbClr val="18232F"/>
                </a:solidFill>
                <a:latin typeface="Segoe UI"/>
              </a:rPr>
              <a:t>Eligible</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32816"/>
          </a:xfrm>
          <a:prstGeom prst="roundRect">
            <a:avLst>
              <a:gd name="adj" fmla="val 2112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89401"/>
            <a:ext cx="3527450" cy="21640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32816"/>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Spike ke peeche bhaagna</a:t>
            </a:r>
          </a:p>
        </p:txBody>
      </p:sp>
      <p:cxnSp>
        <p:nvCxnSpPr>
          <p:cNvPr id="23" name="Connector 22"/>
          <p:cNvCxnSpPr/>
          <p:nvPr/>
        </p:nvCxnSpPr>
        <p:spPr>
          <a:xfrm>
            <a:off x="4332122" y="380580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F5A524"/>
              </a:buClr>
              <a:buFont typeface="Arial"/>
              <a:buChar char="•"/>
            </a:pPr>
            <a:r>
              <a:rPr sz="1300" b="0" i="0">
                <a:solidFill>
                  <a:srgbClr val="18232F"/>
                </a:solidFill>
                <a:latin typeface="Segoe UI"/>
              </a:rPr>
              <a:t>Bade jump ke turant baad khareeda</a:t>
            </a:r>
          </a:p>
          <a:p>
            <a:pPr algn="l" marL="201168" indent="-201168">
              <a:lnSpc>
                <a:spcPct val="100000"/>
              </a:lnSpc>
              <a:spcAft>
                <a:spcPts val="650"/>
              </a:spcAft>
              <a:buClr>
                <a:srgbClr val="F5A524"/>
              </a:buClr>
              <a:buFont typeface="Arial"/>
              <a:buChar char="•"/>
            </a:pPr>
            <a:r>
              <a:rPr sz="1300" b="0" i="0">
                <a:solidFill>
                  <a:srgbClr val="18232F"/>
                </a:solidFill>
                <a:latin typeface="Segoe UI"/>
              </a:rPr>
              <a:t>EMA 20 se kaafi upar</a:t>
            </a:r>
          </a:p>
          <a:p>
            <a:pPr algn="l" marL="201168" indent="-201168">
              <a:lnSpc>
                <a:spcPct val="100000"/>
              </a:lnSpc>
              <a:spcAft>
                <a:spcPts val="650"/>
              </a:spcAft>
              <a:buClr>
                <a:srgbClr val="F5A524"/>
              </a:buClr>
              <a:buFont typeface="Arial"/>
              <a:buChar char="•"/>
            </a:pPr>
            <a:r>
              <a:rPr sz="1300" b="0" i="0">
                <a:solidFill>
                  <a:srgbClr val="18232F"/>
                </a:solidFill>
                <a:latin typeface="Segoe UI"/>
              </a:rPr>
              <a:t>Normal girawat bhi stop hit kar sakti hai</a:t>
            </a:r>
          </a:p>
          <a:p>
            <a:pPr algn="l" marL="201168" indent="-201168">
              <a:lnSpc>
                <a:spcPct val="100000"/>
              </a:lnSpc>
              <a:buClr>
                <a:srgbClr val="F5A524"/>
              </a:buClr>
              <a:buFont typeface="Arial"/>
              <a:buChar char="•"/>
            </a:pPr>
            <a:r>
              <a:rPr sz="1300" b="0" i="0">
                <a:solidFill>
                  <a:srgbClr val="18232F"/>
                </a:solidFill>
                <a:latin typeface="Segoe UI"/>
              </a:rPr>
              <a:t>Eligible nahi</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32816"/>
          </a:xfrm>
          <a:prstGeom prst="roundRect">
            <a:avLst>
              <a:gd name="adj" fmla="val 2112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89401"/>
            <a:ext cx="3527450" cy="21640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32816"/>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Downtrend mein 'sasta'</a:t>
            </a:r>
          </a:p>
        </p:txBody>
      </p:sp>
      <p:cxnSp>
        <p:nvCxnSpPr>
          <p:cNvPr id="30" name="Connector 29"/>
          <p:cNvCxnSpPr/>
          <p:nvPr/>
        </p:nvCxnSpPr>
        <p:spPr>
          <a:xfrm>
            <a:off x="8024165" y="380580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52113"/>
            <a:ext cx="3234842" cy="1246251"/>
          </a:xfrm>
          <a:prstGeom prst="rect">
            <a:avLst/>
          </a:prstGeom>
          <a:noFill/>
        </p:spPr>
        <p:txBody>
          <a:bodyPr wrap="square" lIns="0" rIns="0" tIns="0" bIns="0" anchor="t">
            <a:noAutofit/>
          </a:bodyPr>
          <a:lstStyle/>
          <a:p>
            <a:pPr algn="l" marL="201168" indent="-201168">
              <a:lnSpc>
                <a:spcPct val="100000"/>
              </a:lnSpc>
              <a:spcAft>
                <a:spcPts val="650"/>
              </a:spcAft>
              <a:buClr>
                <a:srgbClr val="F0554E"/>
              </a:buClr>
              <a:buFont typeface="Arial"/>
              <a:buChar char="•"/>
            </a:pPr>
            <a:r>
              <a:rPr sz="1300" b="0" i="0">
                <a:solidFill>
                  <a:srgbClr val="18232F"/>
                </a:solidFill>
                <a:latin typeface="Segoe UI"/>
              </a:rPr>
              <a:t>EMA 20, EMA 50 ke neeche</a:t>
            </a:r>
          </a:p>
          <a:p>
            <a:pPr algn="l" marL="201168" indent="-201168">
              <a:lnSpc>
                <a:spcPct val="100000"/>
              </a:lnSpc>
              <a:spcAft>
                <a:spcPts val="650"/>
              </a:spcAft>
              <a:buClr>
                <a:srgbClr val="F0554E"/>
              </a:buClr>
              <a:buFont typeface="Arial"/>
              <a:buChar char="•"/>
            </a:pPr>
            <a:r>
              <a:rPr sz="1300" b="0" i="0">
                <a:solidFill>
                  <a:srgbClr val="18232F"/>
                </a:solidFill>
                <a:latin typeface="Segoe UI"/>
              </a:rPr>
              <a:t>Girne ki koi wajah hai</a:t>
            </a:r>
          </a:p>
          <a:p>
            <a:pPr algn="l" marL="201168" indent="-201168">
              <a:lnSpc>
                <a:spcPct val="100000"/>
              </a:lnSpc>
              <a:buClr>
                <a:srgbClr val="F0554E"/>
              </a:buClr>
              <a:buFont typeface="Arial"/>
              <a:buChar char="•"/>
            </a:pPr>
            <a:r>
              <a:rPr sz="1300" b="0" i="0">
                <a:solidFill>
                  <a:srgbClr val="18232F"/>
                </a:solidFill>
                <a:latin typeface="Segoe UI"/>
              </a:rPr>
              <a:t>Kitna bhi sasta ho, eligible nahi</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Pehle trend, phir rukne ka intezaar. Downtrend mein sasta dikhne wala stock pullback nahi hai.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Setup: trend, pullback, cool-down</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Teen rules aap daily chart par, Day 8 ke tools se check karte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Rule 1, trend: EMA 20, EMA 50 ke upar ho, aur EMA 50 ki value 10 trading days pehle se zyada ho, yaani woh badh raha ho.</a:t>
            </a:r>
          </a:p>
          <a:p>
            <a:pPr algn="l" marL="274320" indent="-274320">
              <a:lnSpc>
                <a:spcPct val="100000"/>
              </a:lnSpc>
              <a:spcAft>
                <a:spcPts val="800"/>
              </a:spcAft>
              <a:buClr>
                <a:srgbClr val="134A9A"/>
              </a:buClr>
              <a:buFont typeface="Arial"/>
              <a:buChar char="•"/>
            </a:pPr>
            <a:r>
              <a:rPr sz="1600" b="0" i="0">
                <a:solidFill>
                  <a:srgbClr val="18232F"/>
                </a:solidFill>
                <a:latin typeface="Segoe UI"/>
              </a:rPr>
              <a:t>Rule 2, pullback: close EMA 20 se 2% ke andar ho, upar ya neeche, aur phir bhi EMA 50 ke upar ho.</a:t>
            </a:r>
          </a:p>
          <a:p>
            <a:pPr algn="l" marL="274320" indent="-274320">
              <a:lnSpc>
                <a:spcPct val="100000"/>
              </a:lnSpc>
              <a:buClr>
                <a:srgbClr val="134A9A"/>
              </a:buClr>
              <a:buFont typeface="Arial"/>
              <a:buChar char="•"/>
            </a:pPr>
            <a:r>
              <a:rPr sz="1600" b="0" i="0">
                <a:solidFill>
                  <a:srgbClr val="18232F"/>
                </a:solidFill>
                <a:latin typeface="Segoe UI"/>
              </a:rPr>
              <a:t>Rule 3, cool-down: RSI(14) 40 aur 50 ke beech ho.</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Wednesday shaam, Gupta Cement Ltd Rs 393.50 par band hota hai. EMA 20 Rs 400.2 hai aur EMA 50 Rs 390.1; 10 trading days pehle EMA 50 Rs 383.4 tha, yaani woh badh raha hai. Close EMA 20 se lagbhag 1.7% neeche hai aur phir bhi EMA 50 ke upar, aur RSI(14) 45 hai. Teeno rules pass. Priya ki screen par ek aur stock ka RSI bhi 45 hai, lekin uska EMA 20, EMA 50 ke neeche hai, toh uski jaanch rule 1 par hi ruk jaati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Pehle trend, phir pullback</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Gupta Cement Ltd: price EMA 20 ki taraf wapas aata hai, aur EMA 20 badhte EMA 50 ke upar bana rehta hai. Aakhri teen points: Wednesday ka setup, Thursday ka signal aur Friday.</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36091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Close</a:t>
            </a:r>
          </a:p>
        </p:txBody>
      </p:sp>
      <p:sp>
        <p:nvSpPr>
          <p:cNvPr id="14" name="Rectangle 13"/>
          <p:cNvSpPr/>
          <p:nvPr/>
        </p:nvSpPr>
        <p:spPr>
          <a:xfrm>
            <a:off x="7776580"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105764"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20</a:t>
            </a:r>
          </a:p>
        </p:txBody>
      </p:sp>
      <p:sp>
        <p:nvSpPr>
          <p:cNvPr id="16" name="Rectangle 15"/>
          <p:cNvSpPr/>
          <p:nvPr/>
        </p:nvSpPr>
        <p:spPr>
          <a:xfrm>
            <a:off x="8873923"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203107"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50</a:t>
            </a:r>
          </a:p>
        </p:txBody>
      </p:sp>
      <p:sp>
        <p:nvSpPr>
          <p:cNvPr id="18" name="TextBox 17"/>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(Rs)</a:t>
            </a:r>
          </a:p>
        </p:txBody>
      </p:sp>
      <p:cxnSp>
        <p:nvCxnSpPr>
          <p:cNvPr id="19" name="Connector 18"/>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333.2</a:t>
            </a:r>
          </a:p>
        </p:txBody>
      </p:sp>
      <p:cxnSp>
        <p:nvCxnSpPr>
          <p:cNvPr id="21" name="Connector 20"/>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354.6</a:t>
            </a:r>
          </a:p>
        </p:txBody>
      </p:sp>
      <p:cxnSp>
        <p:nvCxnSpPr>
          <p:cNvPr id="23" name="Connector 22"/>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376.1</a:t>
            </a:r>
          </a:p>
        </p:txBody>
      </p:sp>
      <p:cxnSp>
        <p:nvCxnSpPr>
          <p:cNvPr id="25" name="Connector 24"/>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397.5</a:t>
            </a:r>
          </a:p>
        </p:txBody>
      </p:sp>
      <p:cxnSp>
        <p:nvCxnSpPr>
          <p:cNvPr id="27" name="Connector 26"/>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418.9</a:t>
            </a:r>
          </a:p>
        </p:txBody>
      </p:sp>
      <p:cxnSp>
        <p:nvCxnSpPr>
          <p:cNvPr id="29" name="Connector 28"/>
          <p:cNvCxnSpPr/>
          <p:nvPr/>
        </p:nvCxnSpPr>
        <p:spPr>
          <a:xfrm>
            <a:off x="1095998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276896" y="2290572"/>
            <a:ext cx="637369"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Dip shuru</a:t>
            </a:r>
          </a:p>
        </p:txBody>
      </p:sp>
      <p:sp>
        <p:nvSpPr>
          <p:cNvPr id="31" name="Freeform 30"/>
          <p:cNvSpPr/>
          <p:nvPr/>
        </p:nvSpPr>
        <p:spPr>
          <a:xfrm>
            <a:off x="6812159" y="2676512"/>
            <a:ext cx="4666304" cy="1080386"/>
          </a:xfrm>
          <a:custGeom>
            <a:avLst/>
            <a:gdLst/>
            <a:ahLst/>
            <a:cxnLst/>
            <a:rect l="l" t="t" r="r" b="b"/>
            <a:pathLst>
              <a:path w="4666304" h="1080386">
                <a:moveTo>
                  <a:pt x="0" y="1015212"/>
                </a:moveTo>
                <a:lnTo>
                  <a:pt x="86413" y="1080386"/>
                </a:lnTo>
                <a:lnTo>
                  <a:pt x="172826" y="972598"/>
                </a:lnTo>
                <a:lnTo>
                  <a:pt x="259239" y="977611"/>
                </a:lnTo>
                <a:lnTo>
                  <a:pt x="345652" y="837236"/>
                </a:lnTo>
                <a:lnTo>
                  <a:pt x="432066" y="829716"/>
                </a:lnTo>
                <a:lnTo>
                  <a:pt x="518479" y="794622"/>
                </a:lnTo>
                <a:lnTo>
                  <a:pt x="604892" y="812169"/>
                </a:lnTo>
                <a:lnTo>
                  <a:pt x="691305" y="802143"/>
                </a:lnTo>
                <a:lnTo>
                  <a:pt x="777718" y="661768"/>
                </a:lnTo>
                <a:lnTo>
                  <a:pt x="864131" y="426138"/>
                </a:lnTo>
                <a:lnTo>
                  <a:pt x="950544" y="516379"/>
                </a:lnTo>
                <a:lnTo>
                  <a:pt x="1036957" y="782089"/>
                </a:lnTo>
                <a:lnTo>
                  <a:pt x="1123370" y="889877"/>
                </a:lnTo>
                <a:lnTo>
                  <a:pt x="1209783" y="769556"/>
                </a:lnTo>
                <a:lnTo>
                  <a:pt x="1296196" y="784596"/>
                </a:lnTo>
                <a:lnTo>
                  <a:pt x="1382609" y="784596"/>
                </a:lnTo>
                <a:lnTo>
                  <a:pt x="1469022" y="704381"/>
                </a:lnTo>
                <a:lnTo>
                  <a:pt x="1555435" y="719422"/>
                </a:lnTo>
                <a:lnTo>
                  <a:pt x="1641848" y="726942"/>
                </a:lnTo>
                <a:lnTo>
                  <a:pt x="1728261" y="579047"/>
                </a:lnTo>
                <a:lnTo>
                  <a:pt x="1814674" y="601607"/>
                </a:lnTo>
                <a:lnTo>
                  <a:pt x="1901087" y="513873"/>
                </a:lnTo>
                <a:lnTo>
                  <a:pt x="1987500" y="165442"/>
                </a:lnTo>
                <a:lnTo>
                  <a:pt x="2073913" y="80214"/>
                </a:lnTo>
                <a:lnTo>
                  <a:pt x="2160326" y="235629"/>
                </a:lnTo>
                <a:lnTo>
                  <a:pt x="2246739" y="250669"/>
                </a:lnTo>
                <a:lnTo>
                  <a:pt x="2333152" y="280750"/>
                </a:lnTo>
                <a:lnTo>
                  <a:pt x="2419565" y="338404"/>
                </a:lnTo>
                <a:lnTo>
                  <a:pt x="2505978" y="290777"/>
                </a:lnTo>
                <a:lnTo>
                  <a:pt x="2592391" y="310830"/>
                </a:lnTo>
                <a:lnTo>
                  <a:pt x="2678804" y="310830"/>
                </a:lnTo>
                <a:lnTo>
                  <a:pt x="2765217" y="398565"/>
                </a:lnTo>
                <a:lnTo>
                  <a:pt x="2851630" y="408591"/>
                </a:lnTo>
                <a:lnTo>
                  <a:pt x="2938044" y="661768"/>
                </a:lnTo>
                <a:lnTo>
                  <a:pt x="3024457" y="438672"/>
                </a:lnTo>
                <a:lnTo>
                  <a:pt x="3110870" y="636701"/>
                </a:lnTo>
                <a:lnTo>
                  <a:pt x="3197283" y="569020"/>
                </a:lnTo>
                <a:lnTo>
                  <a:pt x="3283696" y="398565"/>
                </a:lnTo>
                <a:lnTo>
                  <a:pt x="3370109" y="358457"/>
                </a:lnTo>
                <a:lnTo>
                  <a:pt x="3456522" y="438672"/>
                </a:lnTo>
                <a:lnTo>
                  <a:pt x="3542935" y="416111"/>
                </a:lnTo>
                <a:lnTo>
                  <a:pt x="3629348" y="188002"/>
                </a:lnTo>
                <a:lnTo>
                  <a:pt x="3715761" y="245656"/>
                </a:lnTo>
                <a:lnTo>
                  <a:pt x="3802174" y="130348"/>
                </a:lnTo>
                <a:lnTo>
                  <a:pt x="3888587" y="200536"/>
                </a:lnTo>
                <a:lnTo>
                  <a:pt x="3975000" y="80214"/>
                </a:lnTo>
                <a:lnTo>
                  <a:pt x="4061413" y="0"/>
                </a:lnTo>
                <a:lnTo>
                  <a:pt x="4147826" y="75201"/>
                </a:lnTo>
                <a:lnTo>
                  <a:pt x="4234239" y="213069"/>
                </a:lnTo>
                <a:lnTo>
                  <a:pt x="4320652" y="350937"/>
                </a:lnTo>
                <a:lnTo>
                  <a:pt x="4407065" y="438672"/>
                </a:lnTo>
                <a:lnTo>
                  <a:pt x="4493478" y="488806"/>
                </a:lnTo>
                <a:lnTo>
                  <a:pt x="4579891" y="325870"/>
                </a:lnTo>
                <a:lnTo>
                  <a:pt x="4666304" y="250669"/>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12159" y="2959768"/>
            <a:ext cx="4666304" cy="1055319"/>
          </a:xfrm>
          <a:custGeom>
            <a:avLst/>
            <a:gdLst/>
            <a:ahLst/>
            <a:cxnLst/>
            <a:rect l="l" t="t" r="r" b="b"/>
            <a:pathLst>
              <a:path w="4666304" h="1055319">
                <a:moveTo>
                  <a:pt x="0" y="1055319"/>
                </a:moveTo>
                <a:lnTo>
                  <a:pt x="86413" y="1030253"/>
                </a:lnTo>
                <a:lnTo>
                  <a:pt x="172826" y="997665"/>
                </a:lnTo>
                <a:lnTo>
                  <a:pt x="259239" y="967585"/>
                </a:lnTo>
                <a:lnTo>
                  <a:pt x="345652" y="929985"/>
                </a:lnTo>
                <a:lnTo>
                  <a:pt x="432066" y="892384"/>
                </a:lnTo>
                <a:lnTo>
                  <a:pt x="518479" y="857291"/>
                </a:lnTo>
                <a:lnTo>
                  <a:pt x="604892" y="824703"/>
                </a:lnTo>
                <a:lnTo>
                  <a:pt x="691305" y="797130"/>
                </a:lnTo>
                <a:lnTo>
                  <a:pt x="777718" y="757023"/>
                </a:lnTo>
                <a:lnTo>
                  <a:pt x="864131" y="696862"/>
                </a:lnTo>
                <a:lnTo>
                  <a:pt x="950544" y="654248"/>
                </a:lnTo>
                <a:lnTo>
                  <a:pt x="1036957" y="639208"/>
                </a:lnTo>
                <a:lnTo>
                  <a:pt x="1123370" y="636701"/>
                </a:lnTo>
                <a:lnTo>
                  <a:pt x="1209783" y="621661"/>
                </a:lnTo>
                <a:lnTo>
                  <a:pt x="1296196" y="609128"/>
                </a:lnTo>
                <a:lnTo>
                  <a:pt x="1382609" y="599101"/>
                </a:lnTo>
                <a:lnTo>
                  <a:pt x="1469022" y="581554"/>
                </a:lnTo>
                <a:lnTo>
                  <a:pt x="1555435" y="569020"/>
                </a:lnTo>
                <a:lnTo>
                  <a:pt x="1641848" y="556487"/>
                </a:lnTo>
                <a:lnTo>
                  <a:pt x="1728261" y="531420"/>
                </a:lnTo>
                <a:lnTo>
                  <a:pt x="1814674" y="511366"/>
                </a:lnTo>
                <a:lnTo>
                  <a:pt x="1901087" y="483793"/>
                </a:lnTo>
                <a:lnTo>
                  <a:pt x="1987500" y="428645"/>
                </a:lnTo>
                <a:lnTo>
                  <a:pt x="2073913" y="368485"/>
                </a:lnTo>
                <a:lnTo>
                  <a:pt x="2160326" y="328378"/>
                </a:lnTo>
                <a:lnTo>
                  <a:pt x="2246739" y="293284"/>
                </a:lnTo>
                <a:lnTo>
                  <a:pt x="2333152" y="265710"/>
                </a:lnTo>
                <a:lnTo>
                  <a:pt x="2419565" y="245657"/>
                </a:lnTo>
                <a:lnTo>
                  <a:pt x="2505978" y="223096"/>
                </a:lnTo>
                <a:lnTo>
                  <a:pt x="2592391" y="203043"/>
                </a:lnTo>
                <a:lnTo>
                  <a:pt x="2678804" y="188003"/>
                </a:lnTo>
                <a:lnTo>
                  <a:pt x="2765217" y="180483"/>
                </a:lnTo>
                <a:lnTo>
                  <a:pt x="2851630" y="175469"/>
                </a:lnTo>
                <a:lnTo>
                  <a:pt x="2938044" y="195523"/>
                </a:lnTo>
                <a:lnTo>
                  <a:pt x="3024457" y="190509"/>
                </a:lnTo>
                <a:lnTo>
                  <a:pt x="3110870" y="205550"/>
                </a:lnTo>
                <a:lnTo>
                  <a:pt x="3197283" y="213070"/>
                </a:lnTo>
                <a:lnTo>
                  <a:pt x="3283696" y="205550"/>
                </a:lnTo>
                <a:lnTo>
                  <a:pt x="3370109" y="193016"/>
                </a:lnTo>
                <a:lnTo>
                  <a:pt x="3456522" y="188003"/>
                </a:lnTo>
                <a:lnTo>
                  <a:pt x="3542935" y="182989"/>
                </a:lnTo>
                <a:lnTo>
                  <a:pt x="3629348" y="157922"/>
                </a:lnTo>
                <a:lnTo>
                  <a:pt x="3715761" y="137869"/>
                </a:lnTo>
                <a:lnTo>
                  <a:pt x="3802174" y="110295"/>
                </a:lnTo>
                <a:lnTo>
                  <a:pt x="3888587" y="92748"/>
                </a:lnTo>
                <a:lnTo>
                  <a:pt x="3975000" y="65175"/>
                </a:lnTo>
                <a:lnTo>
                  <a:pt x="4061413" y="30081"/>
                </a:lnTo>
                <a:lnTo>
                  <a:pt x="4147826" y="7521"/>
                </a:lnTo>
                <a:lnTo>
                  <a:pt x="4234239" y="0"/>
                </a:lnTo>
                <a:lnTo>
                  <a:pt x="4320652" y="7521"/>
                </a:lnTo>
                <a:lnTo>
                  <a:pt x="4407065" y="20054"/>
                </a:lnTo>
                <a:lnTo>
                  <a:pt x="4493478" y="37601"/>
                </a:lnTo>
                <a:lnTo>
                  <a:pt x="4579891" y="40108"/>
                </a:lnTo>
                <a:lnTo>
                  <a:pt x="4666304" y="32588"/>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812159" y="3230492"/>
            <a:ext cx="4666304" cy="1298468"/>
          </a:xfrm>
          <a:custGeom>
            <a:avLst/>
            <a:gdLst/>
            <a:ahLst/>
            <a:cxnLst/>
            <a:rect l="l" t="t" r="r" b="b"/>
            <a:pathLst>
              <a:path w="4666304" h="1298468">
                <a:moveTo>
                  <a:pt x="0" y="1298468"/>
                </a:moveTo>
                <a:lnTo>
                  <a:pt x="86413" y="1268388"/>
                </a:lnTo>
                <a:lnTo>
                  <a:pt x="172826" y="1233294"/>
                </a:lnTo>
                <a:lnTo>
                  <a:pt x="259239" y="1203214"/>
                </a:lnTo>
                <a:lnTo>
                  <a:pt x="345652" y="1165613"/>
                </a:lnTo>
                <a:lnTo>
                  <a:pt x="432066" y="1130520"/>
                </a:lnTo>
                <a:lnTo>
                  <a:pt x="518479" y="1095426"/>
                </a:lnTo>
                <a:lnTo>
                  <a:pt x="604892" y="1062839"/>
                </a:lnTo>
                <a:lnTo>
                  <a:pt x="691305" y="1032758"/>
                </a:lnTo>
                <a:lnTo>
                  <a:pt x="777718" y="995158"/>
                </a:lnTo>
                <a:lnTo>
                  <a:pt x="864131" y="952544"/>
                </a:lnTo>
                <a:lnTo>
                  <a:pt x="950544" y="912437"/>
                </a:lnTo>
                <a:lnTo>
                  <a:pt x="1036957" y="884863"/>
                </a:lnTo>
                <a:lnTo>
                  <a:pt x="1123370" y="864810"/>
                </a:lnTo>
                <a:lnTo>
                  <a:pt x="1209783" y="839743"/>
                </a:lnTo>
                <a:lnTo>
                  <a:pt x="1296196" y="814676"/>
                </a:lnTo>
                <a:lnTo>
                  <a:pt x="1382609" y="792116"/>
                </a:lnTo>
                <a:lnTo>
                  <a:pt x="1469022" y="767049"/>
                </a:lnTo>
                <a:lnTo>
                  <a:pt x="1555435" y="741982"/>
                </a:lnTo>
                <a:lnTo>
                  <a:pt x="1641848" y="721928"/>
                </a:lnTo>
                <a:lnTo>
                  <a:pt x="1728261" y="694354"/>
                </a:lnTo>
                <a:lnTo>
                  <a:pt x="1814674" y="669287"/>
                </a:lnTo>
                <a:lnTo>
                  <a:pt x="1901087" y="641714"/>
                </a:lnTo>
                <a:lnTo>
                  <a:pt x="1987500" y="599100"/>
                </a:lnTo>
                <a:lnTo>
                  <a:pt x="2073913" y="558993"/>
                </a:lnTo>
                <a:lnTo>
                  <a:pt x="2160326" y="523899"/>
                </a:lnTo>
                <a:lnTo>
                  <a:pt x="2246739" y="491312"/>
                </a:lnTo>
                <a:lnTo>
                  <a:pt x="2333152" y="461232"/>
                </a:lnTo>
                <a:lnTo>
                  <a:pt x="2419565" y="433658"/>
                </a:lnTo>
                <a:lnTo>
                  <a:pt x="2505978" y="406084"/>
                </a:lnTo>
                <a:lnTo>
                  <a:pt x="2592391" y="381017"/>
                </a:lnTo>
                <a:lnTo>
                  <a:pt x="2678804" y="358457"/>
                </a:lnTo>
                <a:lnTo>
                  <a:pt x="2765217" y="338404"/>
                </a:lnTo>
                <a:lnTo>
                  <a:pt x="2851630" y="318350"/>
                </a:lnTo>
                <a:lnTo>
                  <a:pt x="2938044" y="310830"/>
                </a:lnTo>
                <a:lnTo>
                  <a:pt x="3024457" y="293283"/>
                </a:lnTo>
                <a:lnTo>
                  <a:pt x="3110870" y="285763"/>
                </a:lnTo>
                <a:lnTo>
                  <a:pt x="3197283" y="275736"/>
                </a:lnTo>
                <a:lnTo>
                  <a:pt x="3283696" y="258189"/>
                </a:lnTo>
                <a:lnTo>
                  <a:pt x="3370109" y="240642"/>
                </a:lnTo>
                <a:lnTo>
                  <a:pt x="3456522" y="225602"/>
                </a:lnTo>
                <a:lnTo>
                  <a:pt x="3542935" y="210562"/>
                </a:lnTo>
                <a:lnTo>
                  <a:pt x="3629348" y="188002"/>
                </a:lnTo>
                <a:lnTo>
                  <a:pt x="3715761" y="170455"/>
                </a:lnTo>
                <a:lnTo>
                  <a:pt x="3802174" y="145388"/>
                </a:lnTo>
                <a:lnTo>
                  <a:pt x="3888587" y="127841"/>
                </a:lnTo>
                <a:lnTo>
                  <a:pt x="3975000" y="102774"/>
                </a:lnTo>
                <a:lnTo>
                  <a:pt x="4061413" y="77707"/>
                </a:lnTo>
                <a:lnTo>
                  <a:pt x="4147826" y="55147"/>
                </a:lnTo>
                <a:lnTo>
                  <a:pt x="4234239" y="40107"/>
                </a:lnTo>
                <a:lnTo>
                  <a:pt x="4320652" y="30080"/>
                </a:lnTo>
                <a:lnTo>
                  <a:pt x="4407065" y="25067"/>
                </a:lnTo>
                <a:lnTo>
                  <a:pt x="4493478" y="20053"/>
                </a:lnTo>
                <a:lnTo>
                  <a:pt x="4579891" y="12533"/>
                </a:lnTo>
                <a:lnTo>
                  <a:pt x="4666304" y="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7" name="TextBox 3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Rule 1 ek darwaza hai: trend fail toh baaki sab bekaar, RSI kitna bhi achha dikhe.</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Relative strength: kya stock NIFTY 50 se aage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Relative strength, yaani RS, batata hai ki ek hi period mein stock market se kitna aage ya peeche chala.</a:t>
            </a:r>
          </a:p>
          <a:p>
            <a:pPr algn="l" marL="274320" indent="-274320">
              <a:lnSpc>
                <a:spcPct val="100000"/>
              </a:lnSpc>
              <a:spcAft>
                <a:spcPts val="800"/>
              </a:spcAft>
              <a:buClr>
                <a:srgbClr val="134A9A"/>
              </a:buClr>
              <a:buFont typeface="Arial"/>
              <a:buChar char="•"/>
            </a:pPr>
            <a:r>
              <a:rPr sz="1600" b="0" i="0">
                <a:solidFill>
                  <a:srgbClr val="18232F"/>
                </a:solidFill>
                <a:latin typeface="Segoe UI"/>
              </a:rPr>
              <a:t>Naam milta-julta hai, kyunki RSI ka poora naam Relative Strength Index hai, par dono alag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Yahan period 3 mahine ka hai, lagbhag 63 trading days, aur market matlab NIFTY 50.</a:t>
            </a:r>
          </a:p>
          <a:p>
            <a:pPr algn="l" marL="274320" indent="-274320">
              <a:lnSpc>
                <a:spcPct val="100000"/>
              </a:lnSpc>
              <a:buClr>
                <a:srgbClr val="134A9A"/>
              </a:buClr>
              <a:buFont typeface="Arial"/>
              <a:buChar char="•"/>
            </a:pPr>
            <a:r>
              <a:rPr sz="1600" b="0" i="0">
                <a:solidFill>
                  <a:srgbClr val="18232F"/>
                </a:solidFill>
                <a:latin typeface="Segoe UI"/>
              </a:rPr>
              <a:t>Rule 4, strength: RS = stock ka % change minus NIFTY 50 ka % change, aur yeh positive hona chahiye.</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Isi 3 mahine mein NIFTY 50, 25,000 se 26,000 gaya, yaani 4% upar. Gupta Cement Ltd Rs 348 se Rs 393.50 (Wednesday ka close) tak gaya, lagbhag 13% upar, toh uska RS lagbhag +9 points hai aur woh watchlist mein aa jaata hai. Sharma Textiles Ltd Rs 250 se Rs 255 gaya, 2% upar: chadha toh sahi, par RS -2 points hai, isliye skip. … TradingView ke free chart par stock ka symbol, phir slash, phir NIFTY type karne se RS ek line ban jaata hai: line upar ja rahi hai toh stock index se aage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3 mahine ka change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Dono stocks chadhe, par index se aage sirf ek raha. RS = stock ka change minus NIFTY 50 ka change.</a:t>
            </a:r>
          </a:p>
        </p:txBody>
      </p:sp>
      <p:sp>
        <p:nvSpPr>
          <p:cNvPr id="11" name="TextBox 10"/>
          <p:cNvSpPr txBox="1"/>
          <p:nvPr/>
        </p:nvSpPr>
        <p:spPr>
          <a:xfrm>
            <a:off x="6397600" y="2448306"/>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Gupta Cement</a:t>
            </a:r>
          </a:p>
        </p:txBody>
      </p:sp>
      <p:sp>
        <p:nvSpPr>
          <p:cNvPr id="12" name="Rounded Rectangle 11"/>
          <p:cNvSpPr/>
          <p:nvPr/>
        </p:nvSpPr>
        <p:spPr>
          <a:xfrm>
            <a:off x="7847808" y="2622042"/>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847808" y="2622042"/>
            <a:ext cx="3001482"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40731" y="2448306"/>
            <a:ext cx="638316"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+13%</a:t>
            </a:r>
          </a:p>
        </p:txBody>
      </p:sp>
      <p:sp>
        <p:nvSpPr>
          <p:cNvPr id="15" name="TextBox 14"/>
          <p:cNvSpPr txBox="1"/>
          <p:nvPr/>
        </p:nvSpPr>
        <p:spPr>
          <a:xfrm>
            <a:off x="6397600" y="3106674"/>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NIFTY 50</a:t>
            </a:r>
          </a:p>
        </p:txBody>
      </p:sp>
      <p:sp>
        <p:nvSpPr>
          <p:cNvPr id="16" name="Rounded Rectangle 15"/>
          <p:cNvSpPr/>
          <p:nvPr/>
        </p:nvSpPr>
        <p:spPr>
          <a:xfrm>
            <a:off x="7847808" y="3280410"/>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847808" y="3280410"/>
            <a:ext cx="923533"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40731" y="3106674"/>
            <a:ext cx="638316"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+4%</a:t>
            </a:r>
          </a:p>
        </p:txBody>
      </p:sp>
      <p:sp>
        <p:nvSpPr>
          <p:cNvPr id="19" name="TextBox 18"/>
          <p:cNvSpPr txBox="1"/>
          <p:nvPr/>
        </p:nvSpPr>
        <p:spPr>
          <a:xfrm>
            <a:off x="6397600" y="3765042"/>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Sharma Textiles</a:t>
            </a:r>
          </a:p>
        </p:txBody>
      </p:sp>
      <p:sp>
        <p:nvSpPr>
          <p:cNvPr id="20" name="Rounded Rectangle 19"/>
          <p:cNvSpPr/>
          <p:nvPr/>
        </p:nvSpPr>
        <p:spPr>
          <a:xfrm>
            <a:off x="7847808" y="3938778"/>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847808" y="3938778"/>
            <a:ext cx="461767"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40731" y="3765042"/>
            <a:ext cx="638316"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5" name="TextBox 2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Chadhna aur aage rehna ek baat nahi. Apni 3 jagah un stocks ko dijiye jo NIFTY 50 se aage hain.</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Signal, aur aisi entry jo peeche nahi bhaagti</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Watchlist wale stock ko ek signal day chahiye: ek candle jo pichhle din ke high ke upar close ho, aur rule 1 tab bhi pass ho.</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ishaara hai ki buyers wapas aa rahe hain.</a:t>
            </a:r>
          </a:p>
          <a:p>
            <a:pPr algn="l" marL="274320" indent="-274320">
              <a:lnSpc>
                <a:spcPct val="100000"/>
              </a:lnSpc>
              <a:buClr>
                <a:srgbClr val="134A9A"/>
              </a:buClr>
              <a:buFont typeface="Arial"/>
              <a:buChar char="•"/>
            </a:pPr>
            <a:r>
              <a:rPr sz="1600" b="0" i="0">
                <a:solidFill>
                  <a:srgbClr val="18232F"/>
                </a:solidFill>
                <a:latin typeface="Segoe UI"/>
              </a:rPr>
              <a:t>Jis shaam rule 1 fail ho, ya stock EMA 50 ke neeche close ho, ya 5 trading days tak signal na aaye, us stock ko watchlist se hata dijiye.</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paanch din ki girawat ke dauran Priya ki watchlist mein aaya. Thursday ko woh Rs 400 par band hua, jo Wednesday ke high Rs 398 se upar hai: yahi signal hai. Us shaam uska plan kehta hai: maximum entry Rs 400 + 0.5 x Rs 12 = Rs 406, aur agar Thursday ke low Rs 390 se neeche khule toh skip. Friday ko stock Rs 404 par khulta hai, dono limits ke andar, toh uski paper entry Rs 404 hai. Agar woh Rs 409 par khulta, toh Priya 'skipped: gap past plan' likh kar aage badh jaati, kyunki sirf Rs 400 tak wapas aane par hi uska aadha risk chala jaata.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Signal day, phir sabr wali entry</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Thursday ka close Wednesday ke high se upar hai. Friday Rs 404 par khulta hai, Rs 406 ki maximum se neeche, toh paper entry Rs 404 aur stop Rs 386.</a:t>
            </a:r>
          </a:p>
        </p:txBody>
      </p:sp>
      <p:cxnSp>
        <p:nvCxnSpPr>
          <p:cNvPr id="12" name="Connector 11"/>
          <p:cNvCxnSpPr/>
          <p:nvPr/>
        </p:nvCxnSpPr>
        <p:spPr>
          <a:xfrm>
            <a:off x="6812159" y="4681728"/>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383.5</a:t>
            </a:r>
          </a:p>
        </p:txBody>
      </p:sp>
      <p:cxnSp>
        <p:nvCxnSpPr>
          <p:cNvPr id="14" name="Connector 13"/>
          <p:cNvCxnSpPr/>
          <p:nvPr/>
        </p:nvCxnSpPr>
        <p:spPr>
          <a:xfrm>
            <a:off x="6812159" y="3915156"/>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32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395.4</a:t>
            </a:r>
          </a:p>
        </p:txBody>
      </p:sp>
      <p:cxnSp>
        <p:nvCxnSpPr>
          <p:cNvPr id="16" name="Connector 15"/>
          <p:cNvCxnSpPr/>
          <p:nvPr/>
        </p:nvCxnSpPr>
        <p:spPr>
          <a:xfrm>
            <a:off x="6812159" y="3148584"/>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6628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407.4</a:t>
            </a:r>
          </a:p>
        </p:txBody>
      </p:sp>
      <p:cxnSp>
        <p:nvCxnSpPr>
          <p:cNvPr id="18" name="Connector 17"/>
          <p:cNvCxnSpPr/>
          <p:nvPr/>
        </p:nvCxnSpPr>
        <p:spPr>
          <a:xfrm>
            <a:off x="6812159" y="2382012"/>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419.3</a:t>
            </a:r>
          </a:p>
        </p:txBody>
      </p:sp>
      <p:cxnSp>
        <p:nvCxnSpPr>
          <p:cNvPr id="20" name="Connector 19"/>
          <p:cNvCxnSpPr/>
          <p:nvPr/>
        </p:nvCxnSpPr>
        <p:spPr>
          <a:xfrm>
            <a:off x="6812159" y="3235780"/>
            <a:ext cx="3735382"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84117" y="3144340"/>
            <a:ext cx="967499"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Max entry 406</a:t>
            </a:r>
          </a:p>
        </p:txBody>
      </p:sp>
      <p:cxnSp>
        <p:nvCxnSpPr>
          <p:cNvPr id="22" name="Connector 21"/>
          <p:cNvCxnSpPr/>
          <p:nvPr/>
        </p:nvCxnSpPr>
        <p:spPr>
          <a:xfrm>
            <a:off x="6812159" y="4265658"/>
            <a:ext cx="3735382"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84117" y="4174218"/>
            <a:ext cx="967499"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Skip &lt; 390</a:t>
            </a:r>
          </a:p>
        </p:txBody>
      </p:sp>
      <p:cxnSp>
        <p:nvCxnSpPr>
          <p:cNvPr id="24" name="Connector 23"/>
          <p:cNvCxnSpPr/>
          <p:nvPr/>
        </p:nvCxnSpPr>
        <p:spPr>
          <a:xfrm>
            <a:off x="6812159" y="4523127"/>
            <a:ext cx="373538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84117" y="4431687"/>
            <a:ext cx="967499"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386</a:t>
            </a:r>
          </a:p>
        </p:txBody>
      </p:sp>
      <p:cxnSp>
        <p:nvCxnSpPr>
          <p:cNvPr id="26" name="Connector 25"/>
          <p:cNvCxnSpPr/>
          <p:nvPr/>
        </p:nvCxnSpPr>
        <p:spPr>
          <a:xfrm>
            <a:off x="6966276" y="3229344"/>
            <a:ext cx="0" cy="5278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73806" y="3416009"/>
            <a:ext cx="184940" cy="2574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274510" y="3119919"/>
            <a:ext cx="0" cy="4634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182040" y="3119919"/>
            <a:ext cx="184940" cy="21241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82744" y="2733715"/>
            <a:ext cx="0" cy="10556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490274" y="3100609"/>
            <a:ext cx="184940" cy="19953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890978" y="2701531"/>
            <a:ext cx="0" cy="8432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98507" y="2991184"/>
            <a:ext cx="184940" cy="37333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199211" y="2540613"/>
            <a:ext cx="0" cy="103631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106741" y="2785209"/>
            <a:ext cx="184940" cy="30252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507445" y="2559923"/>
            <a:ext cx="0" cy="67585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414975" y="2785209"/>
            <a:ext cx="184940" cy="19310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815679" y="2849576"/>
            <a:ext cx="0" cy="74022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723209" y="3010495"/>
            <a:ext cx="184940" cy="32183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123913" y="3171413"/>
            <a:ext cx="0" cy="70804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031443" y="3364515"/>
            <a:ext cx="184940" cy="32183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432146" y="3461066"/>
            <a:ext cx="0" cy="70804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339676" y="3621984"/>
            <a:ext cx="184940" cy="28965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740380" y="3750719"/>
            <a:ext cx="0" cy="64367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647910" y="3911637"/>
            <a:ext cx="184940" cy="1287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10048614" y="3525433"/>
            <a:ext cx="0" cy="74022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956144" y="3621984"/>
            <a:ext cx="184940" cy="45057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356848" y="3107046"/>
            <a:ext cx="0" cy="64367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264378" y="3364515"/>
            <a:ext cx="184940" cy="643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Isosceles Triangle 49"/>
          <p:cNvSpPr/>
          <p:nvPr/>
        </p:nvSpPr>
        <p:spPr>
          <a:xfrm>
            <a:off x="9685516" y="444011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TextBox 50"/>
          <p:cNvSpPr txBox="1"/>
          <p:nvPr/>
        </p:nvSpPr>
        <p:spPr>
          <a:xfrm>
            <a:off x="9459548" y="4549840"/>
            <a:ext cx="561664"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Pullback</a:t>
            </a:r>
          </a:p>
        </p:txBody>
      </p:sp>
      <p:sp>
        <p:nvSpPr>
          <p:cNvPr id="52" name="Isosceles Triangle 51"/>
          <p:cNvSpPr/>
          <p:nvPr/>
        </p:nvSpPr>
        <p:spPr>
          <a:xfrm rot="10800000">
            <a:off x="9993750" y="338827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TextBox 52"/>
          <p:cNvSpPr txBox="1"/>
          <p:nvPr/>
        </p:nvSpPr>
        <p:spPr>
          <a:xfrm>
            <a:off x="9839826" y="3177961"/>
            <a:ext cx="417576"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Signal</a:t>
            </a:r>
          </a:p>
        </p:txBody>
      </p:sp>
      <p:sp>
        <p:nvSpPr>
          <p:cNvPr id="54" name="Isosceles Triangle 53"/>
          <p:cNvSpPr/>
          <p:nvPr/>
        </p:nvSpPr>
        <p:spPr>
          <a:xfrm rot="10800000">
            <a:off x="10301984" y="296988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TextBox 54"/>
          <p:cNvSpPr txBox="1"/>
          <p:nvPr/>
        </p:nvSpPr>
        <p:spPr>
          <a:xfrm>
            <a:off x="10176314" y="2567550"/>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56" name="Rounded Rectangle 5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Rounded Rectangle 56"/>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8" name="TextBox 57"/>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Plan shaam ko, entry agle open par, aur sirf apni do limits ke andar. Paper par open agli shaam daily candle se padhiye.</a:t>
            </a:r>
          </a:p>
        </p:txBody>
      </p:sp>
      <p:pic>
        <p:nvPicPr>
          <p:cNvPr id="59" name="Picture 58" descr="logo.png"/>
          <p:cNvPicPr>
            <a:picLocks noChangeAspect="1"/>
          </p:cNvPicPr>
          <p:nvPr/>
        </p:nvPicPr>
        <p:blipFill>
          <a:blip r:embed="rId2"/>
          <a:stretch>
            <a:fillRect/>
          </a:stretch>
        </p:blipFill>
        <p:spPr>
          <a:xfrm>
            <a:off x="457200" y="6437376"/>
            <a:ext cx="237744" cy="237744"/>
          </a:xfrm>
          <a:prstGeom prst="rect">
            <a:avLst/>
          </a:prstGeom>
        </p:spPr>
      </p:pic>
      <p:sp>
        <p:nvSpPr>
          <p:cNvPr id="6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1" name="TextBox 6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Plan card: stop, size, exits</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Har trade ka plan card pichhli shaam hi ban jaata hai, aur uske numbers baad mein nahi badalte.</a:t>
            </a:r>
          </a:p>
          <a:p>
            <a:pPr algn="l" marL="274320" indent="-274320">
              <a:lnSpc>
                <a:spcPct val="100000"/>
              </a:lnSpc>
              <a:spcAft>
                <a:spcPts val="800"/>
              </a:spcAft>
              <a:buClr>
                <a:srgbClr val="134A9A"/>
              </a:buClr>
              <a:buFont typeface="Arial"/>
              <a:buChar char="•"/>
            </a:pPr>
            <a:r>
              <a:rPr sz="1600" b="0" i="0">
                <a:solidFill>
                  <a:srgbClr val="18232F"/>
                </a:solidFill>
                <a:latin typeface="Segoe UI"/>
              </a:rPr>
              <a:t>Stop: entry minus 1.5 x ATR(14), taaki roz ka normal utaar-chadhaav aapko aasaani se bahar na kar de.</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doori pichhli shaam hi pata hoti hai, isliye size bhi.</a:t>
            </a:r>
          </a:p>
          <a:p>
            <a:pPr algn="l" marL="274320" indent="-274320">
              <a:lnSpc>
                <a:spcPct val="100000"/>
              </a:lnSpc>
              <a:spcAft>
                <a:spcPts val="800"/>
              </a:spcAft>
              <a:buClr>
                <a:srgbClr val="134A9A"/>
              </a:buClr>
              <a:buFont typeface="Arial"/>
              <a:buChar char="•"/>
            </a:pPr>
            <a:r>
              <a:rPr sz="1600" b="0" i="0">
                <a:solidFill>
                  <a:srgbClr val="18232F"/>
                </a:solidFill>
                <a:latin typeface="Segoe UI"/>
              </a:rPr>
              <a:t>Size: quantity = Rs 10,000 ÷ stop ki doori, neeche round karke.</a:t>
            </a:r>
          </a:p>
          <a:p>
            <a:pPr algn="l" marL="274320" indent="-274320">
              <a:lnSpc>
                <a:spcPct val="100000"/>
              </a:lnSpc>
              <a:buClr>
                <a:srgbClr val="134A9A"/>
              </a:buClr>
              <a:buFont typeface="Arial"/>
              <a:buChar char="•"/>
            </a:pPr>
            <a:r>
              <a:rPr sz="1600" b="0" i="0">
                <a:solidFill>
                  <a:srgbClr val="18232F"/>
                </a:solidFill>
                <a:latin typeface="Segoe UI"/>
              </a:rPr>
              <a:t>Rs 10,000 aapke Rs 10 lakh virtual capital ka 1% hai.</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ke liye Priya apna card Thursday shaam likhti hai, signal close Rs 400 aur ATR(14) Rs 12 se: maximum entry Rs 406, stop ki doori Rs 18, 555 shares. … Normal order sirf ek din chalta hai, isliye real broker par hafton tak rukne wale stop-loss ya profit-exit sell ke liye GTT (Day 2) chahiye, ya har subah order dobara lagana padta; paper par aap bas har shaam daily candle se dono levels check karte hain.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 ka plan card</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Thursday shaam likha gaya. 25% cap Rs 406 ki maximum entry par check hua, Friday ke open par nahi. Stop ke paar gap aaye, toh loss phir bhi 1R se zyada ho sakta hai.</a:t>
            </a:r>
          </a:p>
        </p:txBody>
      </p:sp>
      <p:sp>
        <p:nvSpPr>
          <p:cNvPr id="11" name="TextBox 10"/>
          <p:cNvSpPr txBox="1"/>
          <p:nvPr/>
        </p:nvSpPr>
        <p:spPr>
          <a:xfrm>
            <a:off x="6397600" y="1805940"/>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12" name="TextBox 11"/>
          <p:cNvSpPr txBox="1"/>
          <p:nvPr/>
        </p:nvSpPr>
        <p:spPr>
          <a:xfrm>
            <a:off x="6726784" y="1805940"/>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Maximum entry: Rs 400 + 0.5 x ATR Rs 12</a:t>
            </a:r>
          </a:p>
        </p:txBody>
      </p:sp>
      <p:sp>
        <p:nvSpPr>
          <p:cNvPr id="13" name="TextBox 12"/>
          <p:cNvSpPr txBox="1"/>
          <p:nvPr/>
        </p:nvSpPr>
        <p:spPr>
          <a:xfrm>
            <a:off x="9788737" y="1805940"/>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406</a:t>
            </a:r>
          </a:p>
        </p:txBody>
      </p:sp>
      <p:cxnSp>
        <p:nvCxnSpPr>
          <p:cNvPr id="14" name="Connector 13"/>
          <p:cNvCxnSpPr/>
          <p:nvPr/>
        </p:nvCxnSpPr>
        <p:spPr>
          <a:xfrm>
            <a:off x="6397600" y="220656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206562"/>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16" name="TextBox 15"/>
          <p:cNvSpPr txBox="1"/>
          <p:nvPr/>
        </p:nvSpPr>
        <p:spPr>
          <a:xfrm>
            <a:off x="6726784" y="2206562"/>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Stop ki doori: 1.5 x ATR Rs 12</a:t>
            </a:r>
          </a:p>
        </p:txBody>
      </p:sp>
      <p:sp>
        <p:nvSpPr>
          <p:cNvPr id="17" name="TextBox 16"/>
          <p:cNvSpPr txBox="1"/>
          <p:nvPr/>
        </p:nvSpPr>
        <p:spPr>
          <a:xfrm>
            <a:off x="9788737" y="2206562"/>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18</a:t>
            </a:r>
          </a:p>
        </p:txBody>
      </p:sp>
      <p:cxnSp>
        <p:nvCxnSpPr>
          <p:cNvPr id="18" name="Connector 17"/>
          <p:cNvCxnSpPr/>
          <p:nvPr/>
        </p:nvCxnSpPr>
        <p:spPr>
          <a:xfrm>
            <a:off x="6397600" y="260718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607183"/>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0" name="TextBox 19"/>
          <p:cNvSpPr txBox="1"/>
          <p:nvPr/>
        </p:nvSpPr>
        <p:spPr>
          <a:xfrm>
            <a:off x="6726784" y="2607183"/>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Quantity: Rs 10,000 ÷ Rs 18, neeche round</a:t>
            </a:r>
          </a:p>
        </p:txBody>
      </p:sp>
      <p:sp>
        <p:nvSpPr>
          <p:cNvPr id="21" name="TextBox 20"/>
          <p:cNvSpPr txBox="1"/>
          <p:nvPr/>
        </p:nvSpPr>
        <p:spPr>
          <a:xfrm>
            <a:off x="9788737" y="2607183"/>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555</a:t>
            </a:r>
          </a:p>
        </p:txBody>
      </p:sp>
      <p:cxnSp>
        <p:nvCxnSpPr>
          <p:cNvPr id="22" name="Connector 21"/>
          <p:cNvCxnSpPr/>
          <p:nvPr/>
        </p:nvCxnSpPr>
        <p:spPr>
          <a:xfrm>
            <a:off x="6397600" y="30078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007804"/>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4" name="TextBox 23"/>
          <p:cNvSpPr txBox="1"/>
          <p:nvPr/>
        </p:nvSpPr>
        <p:spPr>
          <a:xfrm>
            <a:off x="6726784" y="3007804"/>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25% cap check: 555 x Rs 406</a:t>
            </a:r>
          </a:p>
        </p:txBody>
      </p:sp>
      <p:sp>
        <p:nvSpPr>
          <p:cNvPr id="25" name="TextBox 24"/>
          <p:cNvSpPr txBox="1"/>
          <p:nvPr/>
        </p:nvSpPr>
        <p:spPr>
          <a:xfrm>
            <a:off x="9788737" y="3007804"/>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2,25,330 (22.5%)</a:t>
            </a:r>
          </a:p>
        </p:txBody>
      </p:sp>
      <p:cxnSp>
        <p:nvCxnSpPr>
          <p:cNvPr id="26" name="Connector 25"/>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408426"/>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8" name="TextBox 27"/>
          <p:cNvSpPr txBox="1"/>
          <p:nvPr/>
        </p:nvSpPr>
        <p:spPr>
          <a:xfrm>
            <a:off x="6726784" y="3408426"/>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Entry: Friday ka open</a:t>
            </a:r>
          </a:p>
        </p:txBody>
      </p:sp>
      <p:sp>
        <p:nvSpPr>
          <p:cNvPr id="29" name="TextBox 28"/>
          <p:cNvSpPr txBox="1"/>
          <p:nvPr/>
        </p:nvSpPr>
        <p:spPr>
          <a:xfrm>
            <a:off x="9788737" y="3408426"/>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404</a:t>
            </a:r>
          </a:p>
        </p:txBody>
      </p:sp>
      <p:cxnSp>
        <p:nvCxnSpPr>
          <p:cNvPr id="30" name="Connector 29"/>
          <p:cNvCxnSpPr/>
          <p:nvPr/>
        </p:nvCxnSpPr>
        <p:spPr>
          <a:xfrm>
            <a:off x="6397600" y="380904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97600" y="3809047"/>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32" name="TextBox 31"/>
          <p:cNvSpPr txBox="1"/>
          <p:nvPr/>
        </p:nvSpPr>
        <p:spPr>
          <a:xfrm>
            <a:off x="6726784" y="3809047"/>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Stop price: Rs 404 - Rs 18</a:t>
            </a:r>
          </a:p>
        </p:txBody>
      </p:sp>
      <p:sp>
        <p:nvSpPr>
          <p:cNvPr id="33" name="TextBox 32"/>
          <p:cNvSpPr txBox="1"/>
          <p:nvPr/>
        </p:nvSpPr>
        <p:spPr>
          <a:xfrm>
            <a:off x="9788737" y="3809047"/>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386</a:t>
            </a:r>
          </a:p>
        </p:txBody>
      </p:sp>
      <p:cxnSp>
        <p:nvCxnSpPr>
          <p:cNvPr id="34" name="Connector 33"/>
          <p:cNvCxnSpPr/>
          <p:nvPr/>
        </p:nvCxnSpPr>
        <p:spPr>
          <a:xfrm>
            <a:off x="6397600" y="4209669"/>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97600" y="4209669"/>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36" name="TextBox 35"/>
          <p:cNvSpPr txBox="1"/>
          <p:nvPr/>
        </p:nvSpPr>
        <p:spPr>
          <a:xfrm>
            <a:off x="6726784" y="4209669"/>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Profit exit: Rs 404 + 2.5 x Rs 18</a:t>
            </a:r>
          </a:p>
        </p:txBody>
      </p:sp>
      <p:sp>
        <p:nvSpPr>
          <p:cNvPr id="37" name="TextBox 36"/>
          <p:cNvSpPr txBox="1"/>
          <p:nvPr/>
        </p:nvSpPr>
        <p:spPr>
          <a:xfrm>
            <a:off x="9788737" y="4209669"/>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449</a:t>
            </a:r>
          </a:p>
        </p:txBody>
      </p:sp>
      <p:sp>
        <p:nvSpPr>
          <p:cNvPr id="38" name="Rounded Rectangle 37"/>
          <p:cNvSpPr/>
          <p:nvPr/>
        </p:nvSpPr>
        <p:spPr>
          <a:xfrm>
            <a:off x="6397600" y="4665154"/>
            <a:ext cx="5154016" cy="400622"/>
          </a:xfrm>
          <a:prstGeom prst="roundRect">
            <a:avLst>
              <a:gd name="adj" fmla="val 18259"/>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TextBox 38"/>
          <p:cNvSpPr txBox="1"/>
          <p:nvPr/>
        </p:nvSpPr>
        <p:spPr>
          <a:xfrm>
            <a:off x="6397600" y="4665154"/>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a:t>
            </a:r>
          </a:p>
        </p:txBody>
      </p:sp>
      <p:sp>
        <p:nvSpPr>
          <p:cNvPr id="40" name="TextBox 39"/>
          <p:cNvSpPr txBox="1"/>
          <p:nvPr/>
        </p:nvSpPr>
        <p:spPr>
          <a:xfrm>
            <a:off x="6726784" y="4665154"/>
            <a:ext cx="3025377" cy="400622"/>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Stop hit hone par loss: 555 x Rs 18</a:t>
            </a:r>
          </a:p>
        </p:txBody>
      </p:sp>
      <p:sp>
        <p:nvSpPr>
          <p:cNvPr id="41" name="TextBox 40"/>
          <p:cNvSpPr txBox="1"/>
          <p:nvPr/>
        </p:nvSpPr>
        <p:spPr>
          <a:xfrm>
            <a:off x="9788737" y="4665154"/>
            <a:ext cx="1689726" cy="400622"/>
          </a:xfrm>
          <a:prstGeom prst="rect">
            <a:avLst/>
          </a:prstGeom>
          <a:noFill/>
        </p:spPr>
        <p:txBody>
          <a:bodyPr wrap="square" lIns="0" rIns="0" tIns="0" bIns="0" anchor="ctr">
            <a:noAutofit/>
          </a:bodyPr>
          <a:lstStyle/>
          <a:p>
            <a:pPr algn="r">
              <a:lnSpc>
                <a:spcPct val="100000"/>
              </a:lnSpc>
            </a:pPr>
            <a:r>
              <a:rPr sz="1350" b="1" i="0">
                <a:solidFill>
                  <a:srgbClr val="095A90"/>
                </a:solidFill>
                <a:latin typeface="Segoe UI"/>
              </a:rPr>
              <a:t>Rs 9,990 ≈ 1R</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4" name="TextBox 4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 size aur dono exits entry se pehle likhiye. Entry ke baad card follow hota hai, edit nahi.</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Screener dhoondhta hai, faisla aap karte hain</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Screener ek website tool hai jo aapke rules se sainkdon stocks filter kar deta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TradingView ke stock screener aur Chartink, dono ke free versions hain, aur hamara kisi se koi tie-up nahi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Shuruaat NIFTY 500 se kijiye, yaani Bharat ki 500 badi listed companies ka index.</a:t>
            </a:r>
          </a:p>
          <a:p>
            <a:pPr algn="l" marL="274320" indent="-274320">
              <a:lnSpc>
                <a:spcPct val="100000"/>
              </a:lnSpc>
              <a:buClr>
                <a:srgbClr val="134A9A"/>
              </a:buClr>
              <a:buFont typeface="Arial"/>
              <a:buChar char="•"/>
            </a:pPr>
            <a:r>
              <a:rPr sz="1500" b="0" i="0">
                <a:solidFill>
                  <a:srgbClr val="18232F"/>
                </a:solidFill>
                <a:latin typeface="Segoe UI"/>
              </a:rPr>
              <a:t>Sirf woh stocks rakhiye jinka pichhle 20 din ka average turnover roz kam se kam Rs 10 crore ho (turnover = price x kitne shares trade hue)</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Aman ek free data site par Bharat Pumps Ltd dekhta hai: 'aaj 50% down', RSI 15 ke aas-paas, aur ATR Rs 15 se Rs 36 ho gaya. Woh kehta hai, sasta mil raha hai. Priya NSE ka corporate actions page check karti hai: us din ka 1:1 bonus likha hai, toh price lagbhag Rs 600 se Rs 300 ho gaya, par har holder ko har share par ek extra share milna hai. Site ne data adjust nahi kiya tha, isliye gap ko lagbhag Rs 300 ki true range gin liya gaya. Adjusted data par kuch nahi gira, aur ATR lagbhag Rs 7.50 hai; Rs 36 wale ATR se bana stop Rs 54 door hota, lagbhag Rs 11 ki jagah. Bonus aur split ko Day 15 mein theek se samjhenge.</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500 stocks se ek plan tak</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Screener sirf list chhoti karta hai. Aapki aankhein, aapke checks aur ek signal day hi use plan banate hain.</a:t>
            </a:r>
          </a:p>
        </p:txBody>
      </p:sp>
      <p:sp>
        <p:nvSpPr>
          <p:cNvPr id="11" name="Rounded Rectangle 10"/>
          <p:cNvSpPr/>
          <p:nvPr/>
        </p:nvSpPr>
        <p:spPr>
          <a:xfrm>
            <a:off x="640080" y="4375404"/>
            <a:ext cx="1498549" cy="822960"/>
          </a:xfrm>
          <a:prstGeom prst="roundRect">
            <a:avLst>
              <a:gd name="adj" fmla="val 1111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NIFTY 500</a:t>
            </a:r>
          </a:p>
          <a:p>
            <a:pPr algn="ctr">
              <a:lnSpc>
                <a:spcPct val="100000"/>
              </a:lnSpc>
            </a:pPr>
            <a:r>
              <a:rPr sz="1150" b="0" i="0">
                <a:solidFill>
                  <a:srgbClr val="47596B"/>
                </a:solidFill>
                <a:latin typeface="Segoe UI"/>
              </a:rPr>
              <a:t>Min turnover</a:t>
            </a:r>
          </a:p>
        </p:txBody>
      </p:sp>
      <p:sp>
        <p:nvSpPr>
          <p:cNvPr id="13" name="Right Arrow 12"/>
          <p:cNvSpPr/>
          <p:nvPr/>
        </p:nvSpPr>
        <p:spPr>
          <a:xfrm>
            <a:off x="219349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522677"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2632405"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Rules 1-3</a:t>
            </a:r>
          </a:p>
          <a:p>
            <a:pPr algn="ctr">
              <a:lnSpc>
                <a:spcPct val="100000"/>
              </a:lnSpc>
            </a:pPr>
            <a:r>
              <a:rPr sz="1150" b="0" i="0">
                <a:solidFill>
                  <a:srgbClr val="47596B"/>
                </a:solidFill>
                <a:latin typeface="Segoe UI"/>
              </a:rPr>
              <a:t>Trend, pullback, RSI</a:t>
            </a:r>
          </a:p>
        </p:txBody>
      </p:sp>
      <p:sp>
        <p:nvSpPr>
          <p:cNvPr id="16" name="Right Arrow 15"/>
          <p:cNvSpPr/>
          <p:nvPr/>
        </p:nvSpPr>
        <p:spPr>
          <a:xfrm>
            <a:off x="4076090"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405274"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515002"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Rule 4</a:t>
            </a:r>
          </a:p>
          <a:p>
            <a:pPr algn="ctr">
              <a:lnSpc>
                <a:spcPct val="100000"/>
              </a:lnSpc>
            </a:pPr>
            <a:r>
              <a:rPr sz="1150" b="0" i="0">
                <a:solidFill>
                  <a:srgbClr val="47596B"/>
                </a:solidFill>
                <a:latin typeface="Segoe UI"/>
              </a:rPr>
              <a:t>RS, NIFTY 50 se aage</a:t>
            </a:r>
          </a:p>
        </p:txBody>
      </p:sp>
      <p:sp>
        <p:nvSpPr>
          <p:cNvPr id="19" name="Right Arrow 18"/>
          <p:cNvSpPr/>
          <p:nvPr/>
        </p:nvSpPr>
        <p:spPr>
          <a:xfrm>
            <a:off x="595868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287872" y="4375404"/>
            <a:ext cx="149854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397600"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Aapki aankhein</a:t>
            </a:r>
          </a:p>
          <a:p>
            <a:pPr algn="ctr">
              <a:lnSpc>
                <a:spcPct val="100000"/>
              </a:lnSpc>
            </a:pPr>
            <a:r>
              <a:rPr sz="1150" b="0" i="0">
                <a:solidFill>
                  <a:srgbClr val="47596B"/>
                </a:solidFill>
                <a:latin typeface="Segoe UI"/>
              </a:rPr>
              <a:t>Results date, bonus, split</a:t>
            </a:r>
          </a:p>
        </p:txBody>
      </p:sp>
      <p:sp>
        <p:nvSpPr>
          <p:cNvPr id="22" name="Right Arrow 21"/>
          <p:cNvSpPr/>
          <p:nvPr/>
        </p:nvSpPr>
        <p:spPr>
          <a:xfrm>
            <a:off x="7841285"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8170469"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8280197"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Watchlist</a:t>
            </a:r>
          </a:p>
          <a:p>
            <a:pPr algn="ctr">
              <a:lnSpc>
                <a:spcPct val="100000"/>
              </a:lnSpc>
            </a:pPr>
            <a:r>
              <a:rPr sz="1150" b="0" i="0">
                <a:solidFill>
                  <a:srgbClr val="47596B"/>
                </a:solidFill>
                <a:latin typeface="Segoe UI"/>
              </a:rPr>
              <a:t>Signal day ka intezaar</a:t>
            </a:r>
          </a:p>
        </p:txBody>
      </p:sp>
      <p:sp>
        <p:nvSpPr>
          <p:cNvPr id="25" name="Right Arrow 24"/>
          <p:cNvSpPr/>
          <p:nvPr/>
        </p:nvSpPr>
        <p:spPr>
          <a:xfrm>
            <a:off x="9723882"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10053066" y="4375404"/>
            <a:ext cx="1498549"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10162794" y="4375404"/>
            <a:ext cx="1279093" cy="822960"/>
          </a:xfrm>
          <a:prstGeom prst="rect">
            <a:avLst/>
          </a:prstGeom>
          <a:noFill/>
        </p:spPr>
        <p:txBody>
          <a:bodyPr wrap="square" lIns="0" rIns="0" tIns="0" bIns="0" anchor="ctr">
            <a:noAutofit/>
          </a:bodyPr>
          <a:lstStyle/>
          <a:p>
            <a:pPr algn="ctr">
              <a:lnSpc>
                <a:spcPct val="100000"/>
              </a:lnSpc>
            </a:pPr>
            <a:r>
              <a:rPr sz="1300" b="1" i="0">
                <a:solidFill>
                  <a:srgbClr val="18232F"/>
                </a:solidFill>
                <a:latin typeface="Segoe UI"/>
              </a:rPr>
              <a:t>Plan card</a:t>
            </a:r>
          </a:p>
          <a:p>
            <a:pPr algn="ctr">
              <a:lnSpc>
                <a:spcPct val="100000"/>
              </a:lnSpc>
            </a:pPr>
            <a:r>
              <a:rPr sz="1150" b="0" i="0">
                <a:solidFill>
                  <a:srgbClr val="47596B"/>
                </a:solidFill>
                <a:latin typeface="Segoe UI"/>
              </a:rPr>
              <a:t>Entry, stop, size, exits</a:t>
            </a:r>
          </a:p>
        </p:txBody>
      </p:sp>
      <p:sp>
        <p:nvSpPr>
          <p:cNvPr id="28" name="Rounded Rectangle 2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0" name="TextBox 2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Screener = aankhein, trigger = aap. Kisi shaam list khaali aaye, toh yeh rule ka kaam hai; market aapko ignore nahi kar raha.</a:t>
            </a:r>
          </a:p>
        </p:txBody>
      </p:sp>
      <p:pic>
        <p:nvPicPr>
          <p:cNvPr id="31" name="Picture 30" descr="logo.png"/>
          <p:cNvPicPr>
            <a:picLocks noChangeAspect="1"/>
          </p:cNvPicPr>
          <p:nvPr/>
        </p:nvPicPr>
        <p:blipFill>
          <a:blip r:embed="rId2"/>
          <a:stretch>
            <a:fillRect/>
          </a:stretch>
        </p:blipFill>
        <p:spPr>
          <a:xfrm>
            <a:off x="457200" y="6437376"/>
            <a:ext cx="237744" cy="237744"/>
          </a:xfrm>
          <a:prstGeom prst="rect">
            <a:avLst/>
          </a:prstGeom>
        </p:spPr>
      </p:pic>
      <p:sp>
        <p:nvSpPr>
          <p:cNvPr id="3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3" name="TextBox 3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Pullback</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Uptrend ke andar ek chhoti si girawat, EMA 20 jaise moving average ki taraf, jab trend abhi bhi bana hua ho.</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Swing trade</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Kuch din se kuch hafton tak rakha jaane wala trade, jiska plan daily chart par banta hai aur din mein ek baar check hota hai.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63774"/>
            <a:ext cx="5154016" cy="224028"/>
          </a:xfrm>
          <a:prstGeom prst="rect">
            <a:avLst/>
          </a:prstGeom>
          <a:noFill/>
        </p:spPr>
        <p:txBody>
          <a:bodyPr wrap="square" lIns="0" rIns="0" tIns="0" bIns="0" anchor="t">
            <a:noAutofit/>
          </a:bodyPr>
          <a:lstStyle/>
          <a:p>
            <a:pPr algn="l">
              <a:lnSpc>
                <a:spcPct val="100000"/>
              </a:lnSpc>
            </a:pPr>
            <a:r>
              <a:rPr sz="1350" b="1" i="0">
                <a:solidFill>
                  <a:srgbClr val="134A9A"/>
                </a:solidFill>
                <a:latin typeface="Segoe UI"/>
              </a:rPr>
              <a:t>Watchlist</a:t>
            </a:r>
          </a:p>
        </p:txBody>
      </p:sp>
      <p:sp>
        <p:nvSpPr>
          <p:cNvPr id="12" name="TextBox 11"/>
          <p:cNvSpPr txBox="1"/>
          <p:nvPr/>
        </p:nvSpPr>
        <p:spPr>
          <a:xfrm>
            <a:off x="658368" y="3024378"/>
            <a:ext cx="5154016" cy="562356"/>
          </a:xfrm>
          <a:prstGeom prst="rect">
            <a:avLst/>
          </a:prstGeom>
          <a:noFill/>
        </p:spPr>
        <p:txBody>
          <a:bodyPr wrap="square" lIns="0" rIns="0" tIns="0" bIns="0" anchor="t">
            <a:noAutofit/>
          </a:bodyPr>
          <a:lstStyle/>
          <a:p>
            <a:pPr algn="l">
              <a:lnSpc>
                <a:spcPct val="100000"/>
              </a:lnSpc>
            </a:pPr>
            <a:r>
              <a:rPr sz="1150" b="0" i="0">
                <a:solidFill>
                  <a:srgbClr val="18232F"/>
                </a:solidFill>
                <a:latin typeface="Segoe UI"/>
              </a:rPr>
              <a:t>Un stocks ki chhoti list jo rules 1 se 4 pass kar chuke hain aur ab signal day ka intezaar kar rahe hain. Jis shaam rule 1 fail ho, stock EMA 50 ke neeche close ho, ya 5 trading days bina signal ke nikal jaayein, stock list se bahar.</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Signal day</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din jab watchlist wala stock pichhle din ke high ke upar close kare aur trend rule tab bhi pass ho. Plan usi shaam likhte hain, entry agle open par.</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Maximum entry</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Sabse ooncha open jo aap maanenge: signal close + 0.5 x ATR(14), pichhli shaam likha hua. 25% cap isi price par check hota hai; open isse upar ho toh skip.</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Relative strength (RS)</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Ek hi dauran mein stock ka % change minus NIFTY 50 ka % change. Positive ka matlab stock index se aage raha. Yeh RSI nahi hai.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Screener</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Aisa tool jo aapke rules se bahut saare stocks filter karke ek list deta hai. Yeh na order lagata hai, na aapki apni jaanch ki jagah leta hai.</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Time exit</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Tay waqt ke baad trade se nikalna, jab na stop hit hua ho na profit exit. Yahan: entry wala din day 1 giniye; day 15 ke close tak kuch na ho, toh agle open par exit.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04263"/>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3082671"/>
            <a:ext cx="502920" cy="721233"/>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84982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EMA Pullback Swing</a:t>
            </a:r>
          </a:p>
        </p:txBody>
      </p:sp>
      <p:sp>
        <p:nvSpPr>
          <p:cNvPr id="10" name="Rounded Rectangle 9"/>
          <p:cNvSpPr/>
          <p:nvPr/>
        </p:nvSpPr>
        <p:spPr>
          <a:xfrm>
            <a:off x="640080" y="1336738"/>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Setup</a:t>
            </a:r>
          </a:p>
        </p:txBody>
      </p:sp>
      <p:sp>
        <p:nvSpPr>
          <p:cNvPr id="12" name="TextBox 11"/>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EMA 20, badhte EMA 50 ke upar</a:t>
            </a:r>
          </a:p>
          <a:p>
            <a:pPr algn="l" marL="182880" indent="-182880">
              <a:lnSpc>
                <a:spcPct val="100000"/>
              </a:lnSpc>
              <a:spcAft>
                <a:spcPts val="405"/>
              </a:spcAft>
              <a:buClr>
                <a:srgbClr val="0093D6"/>
              </a:buClr>
              <a:buFont typeface="Arial"/>
              <a:buChar char="•"/>
            </a:pPr>
            <a:r>
              <a:rPr sz="1350" b="0" i="0">
                <a:solidFill>
                  <a:srgbClr val="18232F"/>
                </a:solidFill>
                <a:latin typeface="Segoe UI"/>
              </a:rPr>
              <a:t>Close EMA 20 se 2% ke andar</a:t>
            </a:r>
          </a:p>
          <a:p>
            <a:pPr algn="l" marL="182880" indent="-182880">
              <a:lnSpc>
                <a:spcPct val="100000"/>
              </a:lnSpc>
              <a:spcAft>
                <a:spcPts val="405"/>
              </a:spcAft>
              <a:buClr>
                <a:srgbClr val="0093D6"/>
              </a:buClr>
              <a:buFont typeface="Arial"/>
              <a:buChar char="•"/>
            </a:pPr>
            <a:r>
              <a:rPr sz="1350" b="0" i="0">
                <a:solidFill>
                  <a:srgbClr val="18232F"/>
                </a:solidFill>
                <a:latin typeface="Segoe UI"/>
              </a:rPr>
              <a:t>RSI(14) 40-50</a:t>
            </a:r>
          </a:p>
          <a:p>
            <a:pPr algn="l" marL="182880" indent="-182880">
              <a:lnSpc>
                <a:spcPct val="100000"/>
              </a:lnSpc>
              <a:buClr>
                <a:srgbClr val="0093D6"/>
              </a:buClr>
              <a:buFont typeface="Arial"/>
              <a:buChar char="•"/>
            </a:pPr>
            <a:r>
              <a:rPr sz="1350" b="0" i="0">
                <a:solidFill>
                  <a:srgbClr val="18232F"/>
                </a:solidFill>
                <a:latin typeface="Segoe UI"/>
              </a:rPr>
              <a:t>RS, NIFTY 50 se aage</a:t>
            </a:r>
          </a:p>
        </p:txBody>
      </p:sp>
      <p:sp>
        <p:nvSpPr>
          <p:cNvPr id="13" name="Rounded Rectangle 12"/>
          <p:cNvSpPr/>
          <p:nvPr/>
        </p:nvSpPr>
        <p:spPr>
          <a:xfrm>
            <a:off x="640080" y="3036379"/>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Entry</a:t>
            </a:r>
          </a:p>
        </p:txBody>
      </p:sp>
      <p:sp>
        <p:nvSpPr>
          <p:cNvPr id="15" name="TextBox 14"/>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Signal: pichhle high ke upar close</a:t>
            </a:r>
          </a:p>
          <a:p>
            <a:pPr algn="l" marL="182880" indent="-182880">
              <a:lnSpc>
                <a:spcPct val="100000"/>
              </a:lnSpc>
              <a:spcAft>
                <a:spcPts val="405"/>
              </a:spcAft>
              <a:buClr>
                <a:srgbClr val="16A34A"/>
              </a:buClr>
              <a:buFont typeface="Arial"/>
              <a:buChar char="•"/>
            </a:pPr>
            <a:r>
              <a:rPr sz="1350" b="0" i="0">
                <a:solidFill>
                  <a:srgbClr val="18232F"/>
                </a:solidFill>
                <a:latin typeface="Segoe UI"/>
              </a:rPr>
              <a:t>Entry agle open par</a:t>
            </a:r>
          </a:p>
          <a:p>
            <a:pPr algn="l" marL="182880" indent="-182880">
              <a:lnSpc>
                <a:spcPct val="100000"/>
              </a:lnSpc>
              <a:spcAft>
                <a:spcPts val="405"/>
              </a:spcAft>
              <a:buClr>
                <a:srgbClr val="16A34A"/>
              </a:buClr>
              <a:buFont typeface="Arial"/>
              <a:buChar char="•"/>
            </a:pPr>
            <a:r>
              <a:rPr sz="1350" b="0" i="0">
                <a:solidFill>
                  <a:srgbClr val="18232F"/>
                </a:solidFill>
                <a:latin typeface="Segoe UI"/>
              </a:rPr>
              <a:t>Max entry = close + 0.5 x ATR</a:t>
            </a:r>
          </a:p>
          <a:p>
            <a:pPr algn="l" marL="182880" indent="-182880">
              <a:lnSpc>
                <a:spcPct val="100000"/>
              </a:lnSpc>
              <a:buClr>
                <a:srgbClr val="16A34A"/>
              </a:buClr>
              <a:buFont typeface="Arial"/>
              <a:buChar char="•"/>
            </a:pPr>
            <a:r>
              <a:rPr sz="1350" b="0" i="0">
                <a:solidFill>
                  <a:srgbClr val="18232F"/>
                </a:solidFill>
                <a:latin typeface="Segoe UI"/>
              </a:rPr>
              <a:t>Plan se aage gap = skip</a:t>
            </a:r>
          </a:p>
        </p:txBody>
      </p:sp>
      <p:sp>
        <p:nvSpPr>
          <p:cNvPr id="16" name="Rounded Rectangle 15"/>
          <p:cNvSpPr/>
          <p:nvPr/>
        </p:nvSpPr>
        <p:spPr>
          <a:xfrm>
            <a:off x="640080" y="4736020"/>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Plan card</a:t>
            </a:r>
          </a:p>
        </p:txBody>
      </p:sp>
      <p:sp>
        <p:nvSpPr>
          <p:cNvPr id="18" name="TextBox 17"/>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Stop = entry - 1.5 x ATR</a:t>
            </a:r>
          </a:p>
          <a:p>
            <a:pPr algn="l" marL="182880" indent="-182880">
              <a:lnSpc>
                <a:spcPct val="100000"/>
              </a:lnSpc>
              <a:spcAft>
                <a:spcPts val="405"/>
              </a:spcAft>
              <a:buClr>
                <a:srgbClr val="F5A524"/>
              </a:buClr>
              <a:buFont typeface="Arial"/>
              <a:buChar char="•"/>
            </a:pPr>
            <a:r>
              <a:rPr sz="1350" b="0" i="0">
                <a:solidFill>
                  <a:srgbClr val="18232F"/>
                </a:solidFill>
                <a:latin typeface="Segoe UI"/>
              </a:rPr>
              <a:t>Qty = Rs 10,000 ÷ stop distance</a:t>
            </a:r>
          </a:p>
          <a:p>
            <a:pPr algn="l" marL="182880" indent="-182880">
              <a:lnSpc>
                <a:spcPct val="100000"/>
              </a:lnSpc>
              <a:spcAft>
                <a:spcPts val="405"/>
              </a:spcAft>
              <a:buClr>
                <a:srgbClr val="F5A524"/>
              </a:buClr>
              <a:buFont typeface="Arial"/>
              <a:buChar char="•"/>
            </a:pPr>
            <a:r>
              <a:rPr sz="1350" b="0" i="0">
                <a:solidFill>
                  <a:srgbClr val="18232F"/>
                </a:solidFill>
                <a:latin typeface="Segoe UI"/>
              </a:rPr>
              <a:t>Profit exit 2.5R; time exit day 15</a:t>
            </a:r>
          </a:p>
          <a:p>
            <a:pPr algn="l" marL="182880" indent="-182880">
              <a:lnSpc>
                <a:spcPct val="100000"/>
              </a:lnSpc>
              <a:buClr>
                <a:srgbClr val="F5A524"/>
              </a:buClr>
              <a:buFont typeface="Arial"/>
              <a:buChar char="•"/>
            </a:pPr>
            <a:r>
              <a:rPr sz="1350" b="0" i="0">
                <a:solidFill>
                  <a:srgbClr val="18232F"/>
                </a:solidFill>
                <a:latin typeface="Segoe UI"/>
              </a:rPr>
              <a:t>Max 3 trades; cap max entry par</a:t>
            </a:r>
          </a:p>
        </p:txBody>
      </p:sp>
      <p:sp>
        <p:nvSpPr>
          <p:cNvPr id="19" name="Rounded Rectangle 18"/>
          <p:cNvSpPr/>
          <p:nvPr/>
        </p:nvSpPr>
        <p:spPr>
          <a:xfrm>
            <a:off x="7833208" y="2315147"/>
            <a:ext cx="3718408" cy="1535049"/>
          </a:xfrm>
          <a:prstGeom prst="roundRect">
            <a:avLst>
              <a:gd name="adj" fmla="val 7148"/>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424875"/>
            <a:ext cx="3425800" cy="246888"/>
          </a:xfrm>
          <a:prstGeom prst="rect">
            <a:avLst/>
          </a:prstGeom>
          <a:noFill/>
        </p:spPr>
        <p:txBody>
          <a:bodyPr wrap="square" lIns="0" rIns="0" tIns="0" bIns="0" anchor="t">
            <a:noAutofit/>
          </a:bodyPr>
          <a:lstStyle/>
          <a:p>
            <a:pPr algn="l">
              <a:lnSpc>
                <a:spcPct val="100000"/>
              </a:lnSpc>
            </a:pPr>
            <a:r>
              <a:rPr sz="1500" b="1" i="0">
                <a:solidFill>
                  <a:srgbClr val="47596B"/>
                </a:solidFill>
                <a:latin typeface="Segoe UI"/>
              </a:rPr>
              <a:t>Screener</a:t>
            </a:r>
          </a:p>
        </p:txBody>
      </p:sp>
      <p:sp>
        <p:nvSpPr>
          <p:cNvPr id="21" name="TextBox 20"/>
          <p:cNvSpPr txBox="1"/>
          <p:nvPr/>
        </p:nvSpPr>
        <p:spPr>
          <a:xfrm>
            <a:off x="7979512" y="2726627"/>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57687A"/>
              </a:buClr>
              <a:buFont typeface="Arial"/>
              <a:buChar char="•"/>
            </a:pPr>
            <a:r>
              <a:rPr sz="1350" b="0" i="0">
                <a:solidFill>
                  <a:srgbClr val="18232F"/>
                </a:solidFill>
                <a:latin typeface="Segoe UI"/>
              </a:rPr>
              <a:t>Dhoondhta hai, faisla nahi karta</a:t>
            </a:r>
          </a:p>
          <a:p>
            <a:pPr algn="l" marL="182880" indent="-182880">
              <a:lnSpc>
                <a:spcPct val="100000"/>
              </a:lnSpc>
              <a:spcAft>
                <a:spcPts val="405"/>
              </a:spcAft>
              <a:buClr>
                <a:srgbClr val="57687A"/>
              </a:buClr>
              <a:buFont typeface="Arial"/>
              <a:buChar char="•"/>
            </a:pPr>
            <a:r>
              <a:rPr sz="1350" b="0" i="0">
                <a:solidFill>
                  <a:srgbClr val="18232F"/>
                </a:solidFill>
                <a:latin typeface="Segoe UI"/>
              </a:rPr>
              <a:t>Har result aankh se check</a:t>
            </a:r>
          </a:p>
          <a:p>
            <a:pPr algn="l" marL="182880" indent="-182880">
              <a:lnSpc>
                <a:spcPct val="100000"/>
              </a:lnSpc>
              <a:spcAft>
                <a:spcPts val="405"/>
              </a:spcAft>
              <a:buClr>
                <a:srgbClr val="57687A"/>
              </a:buClr>
              <a:buFont typeface="Arial"/>
              <a:buChar char="•"/>
            </a:pPr>
            <a:r>
              <a:rPr sz="1350" b="0" i="0">
                <a:solidFill>
                  <a:srgbClr val="18232F"/>
                </a:solidFill>
                <a:latin typeface="Segoe UI"/>
              </a:rPr>
              <a:t>Agle 15 din mein results = skip</a:t>
            </a:r>
          </a:p>
          <a:p>
            <a:pPr algn="l" marL="182880" indent="-182880">
              <a:lnSpc>
                <a:spcPct val="100000"/>
              </a:lnSpc>
              <a:buClr>
                <a:srgbClr val="57687A"/>
              </a:buClr>
              <a:buFont typeface="Arial"/>
              <a:buChar char="•"/>
            </a:pPr>
            <a:r>
              <a:rPr sz="1350" b="0" i="0">
                <a:solidFill>
                  <a:srgbClr val="18232F"/>
                </a:solidFill>
                <a:latin typeface="Segoe UI"/>
              </a:rPr>
              <a:t>Bonus nakli crash dikha sakta hai</a:t>
            </a:r>
          </a:p>
        </p:txBody>
      </p:sp>
      <p:sp>
        <p:nvSpPr>
          <p:cNvPr id="22" name="Rounded Rectangle 21"/>
          <p:cNvSpPr/>
          <p:nvPr/>
        </p:nvSpPr>
        <p:spPr>
          <a:xfrm>
            <a:off x="7833208" y="4014788"/>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124516"/>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Aapka mann</a:t>
            </a:r>
          </a:p>
        </p:txBody>
      </p:sp>
      <p:sp>
        <p:nvSpPr>
          <p:cNvPr id="24" name="TextBox 23"/>
          <p:cNvSpPr txBox="1"/>
          <p:nvPr/>
        </p:nvSpPr>
        <p:spPr>
          <a:xfrm>
            <a:off x="7979512" y="4426268"/>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Impatience bhaagti hai; rules rukte hain</a:t>
            </a:r>
          </a:p>
          <a:p>
            <a:pPr algn="l" marL="182880" indent="-182880">
              <a:lnSpc>
                <a:spcPct val="100000"/>
              </a:lnSpc>
              <a:spcAft>
                <a:spcPts val="405"/>
              </a:spcAft>
              <a:buClr>
                <a:srgbClr val="F0554E"/>
              </a:buClr>
              <a:buFont typeface="Arial"/>
              <a:buChar char="•"/>
            </a:pPr>
            <a:r>
              <a:rPr sz="1350" b="0" i="0">
                <a:solidFill>
                  <a:srgbClr val="18232F"/>
                </a:solidFill>
                <a:latin typeface="Segoe UI"/>
              </a:rPr>
              <a:t>Chhoote trade se capital nahi jaata</a:t>
            </a:r>
          </a:p>
          <a:p>
            <a:pPr algn="l" marL="182880" indent="-182880">
              <a:lnSpc>
                <a:spcPct val="100000"/>
              </a:lnSpc>
              <a:buClr>
                <a:srgbClr val="F0554E"/>
              </a:buClr>
              <a:buFont typeface="Arial"/>
              <a:buChar char="•"/>
            </a:pPr>
            <a:r>
              <a:rPr sz="1350" b="0" i="0">
                <a:solidFill>
                  <a:srgbClr val="18232F"/>
                </a:solidFill>
                <a:latin typeface="Segoe UI"/>
              </a:rPr>
              <a:t>Khaali list = rule kaam kar raha</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TextBox 4"/>
          <p:cNvSpPr txBox="1"/>
          <p:nvPr/>
        </p:nvSpPr>
        <p:spPr>
          <a:xfrm>
            <a:off x="457200" y="1335024"/>
            <a:ext cx="11277295" cy="699516"/>
          </a:xfrm>
          <a:prstGeom prst="rect">
            <a:avLst/>
          </a:prstGeom>
          <a:noFill/>
        </p:spPr>
        <p:txBody>
          <a:bodyPr wrap="square" lIns="0" rIns="0" tIns="0" bIns="0" anchor="t">
            <a:noAutofit/>
          </a:bodyPr>
          <a:lstStyle/>
          <a:p>
            <a:pPr algn="l">
              <a:lnSpc>
                <a:spcPct val="100000"/>
              </a:lnSpc>
            </a:pPr>
            <a:r>
              <a:rPr sz="1450" b="1" i="0">
                <a:solidFill>
                  <a:srgbClr val="18232F"/>
                </a:solidFill>
                <a:latin typeface="Segoe UI"/>
              </a:rPr>
              <a:t>Model EMA Pullback rule card ko apne shabdon mein copy kijiye, usse screener banaiye jismein rule 4 ke liye aaj raat ka NIFTY 50 number ho, results aankh se check kijiye, aur ek practice plan card bhariye. Aaj koi trade nahi; paper trading kal se shuru hogi. Pehli baar mein lagbhag 55 minute lagenge; laptop par screener aasaan rehta hai, par phone par bhi ho jaata hai.</a:t>
            </a:r>
          </a:p>
        </p:txBody>
      </p:sp>
      <p:sp>
        <p:nvSpPr>
          <p:cNvPr id="6" name="Rounded Rectangle 5"/>
          <p:cNvSpPr/>
          <p:nvPr/>
        </p:nvSpPr>
        <p:spPr>
          <a:xfrm>
            <a:off x="457200" y="218084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29057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30886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28142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'Aapka template' se 'EMA Pullback rule card' ko Google Sheets ya notebook mein copy kijiye, har hisse ki ek line, apne shabdon mein. Kal se paper trades isi card se chalenge.</a:t>
            </a:r>
          </a:p>
        </p:txBody>
      </p:sp>
      <p:sp>
        <p:nvSpPr>
          <p:cNvPr id="10" name="Rounded Rectangle 9"/>
          <p:cNvSpPr/>
          <p:nvPr/>
        </p:nvSpPr>
        <p:spPr>
          <a:xfrm>
            <a:off x="457200" y="296113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07086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30891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06171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Apne screener ke liye AI Lab ka 'Screener condition writer' prompt chalaiye, aur rules 1 se 4 aur minimum turnover ki jo conditions woh de, unhe copy kar lijiye.</a:t>
            </a:r>
          </a:p>
        </p:txBody>
      </p:sp>
      <p:sp>
        <p:nvSpPr>
          <p:cNvPr id="14" name="Rounded Rectangle 13"/>
          <p:cNvSpPr/>
          <p:nvPr/>
        </p:nvSpPr>
        <p:spPr>
          <a:xfrm>
            <a:off x="457200" y="374142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85114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8694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84200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TradingView ke free chart par NIFTY 50 ka 3 mahine ka % change note kijiye (aaj ka close ÷ lagbhag 63 trading days pehle ka close, minus 1). Phir ek free screener kholiye, TradingView ka stock screener ya Chartink (broker account ki zaroorat nahi), conditions daaliye, rule 4 mein yahi number, aur latest daily close par chalaiye. Jo rule screener mein na bane, use note kar lijiye; woh aankh se check hoga.</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Results mein se 5 charts kholiye aur rules 1 se 4 ke hisaab se har ek ko aankh se Eligible ya Not eligible mark kijiye; agar koi rule todne wala stock aa gaya, toh woh condition theek karke screener dobara chalaiye. List khaali ho, toh 5 NIFTY 50 stocks haath se check kijiye. Yeh naam sirf checking drill hain, buy list nahi; inhe tips ki tarah share mat kijiye.</a:t>
            </a:r>
          </a:p>
        </p:txBody>
      </p:sp>
      <p:sp>
        <p:nvSpPr>
          <p:cNvPr id="9" name="Rounded Rectangle 8"/>
          <p:cNvSpPr/>
          <p:nvPr/>
        </p:nvSpPr>
        <p:spPr>
          <a:xfrm>
            <a:off x="457200" y="260299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'2-minute RS check' template mein unmein se 3 stocks ka RS nikaliye: har stock ka 3 mahine ka % change minus usi dauran NIFTY 50 ka. Sirf positive wale rakhiye.</a:t>
            </a:r>
          </a:p>
        </p:txBody>
      </p:sp>
      <p:sp>
        <p:nvSpPr>
          <p:cNvPr id="13" name="Rounded Rectangle 12"/>
          <p:cNvSpPr/>
          <p:nvPr/>
        </p:nvSpPr>
        <p:spPr>
          <a:xfrm>
            <a:off x="457200" y="33832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4930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5112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4838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'Plan card' template ka khaali 'Aapka case' column bhariye: signal close Rs 520, signal-day low Rs 508, ATR Rs 16, agla open Rs 526. Milaiye: maximum entry Rs 528, stop ki doori Rs 24, 416 shares, cap check 416 x Rs 528 = Rs 2,19,648 (22.0%, andar), entry lijiye, stop Rs 502, profit exit Rs 586.</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EMA Pullback Swing ke rules bilkul saaf bata payenge, kisi chart ko un par check kar payenge, relative-strength rule free screener mein ya haath se chala payenge, aisa plan card likh payenge jismein 1.5 x ATR stop, maximum entry par 25% cap se check ki hui quantity, 2.5R profit exit aur 15 din ka time exit ho, aur samjha payenge ki plan se aage ka gap skip kyun hota hai, chase kyun nahi.</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EMA Pullback rule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Ise apne shabdon mein copy kijiye, har hisse ki ek line. Day 12 se paper trades isi card se chalenge, aur Day 16 mein yeh haan/na steps banega.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4"/>
        </p:xfrm>
        <a:graphic>
          <a:graphicData uri="http://schemas.openxmlformats.org/drawingml/2006/table">
            <a:tbl>
              <a:tblPr firstRow="1">
                <a:tableStyleId>{5C22544A-7EE6-4342-B048-85BDC9FD1C3A}</a:tableStyleId>
              </a:tblPr>
              <a:tblGrid>
                <a:gridCol w="1476548"/>
                <a:gridCol w="9434988"/>
              </a:tblGrid>
              <a:tr h="295874">
                <a:tc>
                  <a:txBody>
                    <a:bodyPr wrap="square"/>
                    <a:lstStyle/>
                    <a:p>
                      <a:pPr algn="l"/>
                      <a:r>
                        <a:rPr sz="115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Likha hua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6730">
                <a:tc>
                  <a:txBody>
                    <a:bodyPr wrap="square"/>
                    <a:lstStyle/>
                    <a:p>
                      <a:pPr algn="l"/>
                      <a:r>
                        <a:rPr sz="1150" b="0" i="0">
                          <a:solidFill>
                            <a:srgbClr val="18232F"/>
                          </a:solidFill>
                          <a:latin typeface="Segoe UI"/>
                        </a:rPr>
                        <a:t>Universe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NIFTY 500 ke stocks, jinka 20 din ka average turnover roz kam se kam Rs 10 crore 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Rule 1: 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EMA 20, EMA 50 ke upar, aur EMA 50 10 trading days pehle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Rule 2: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Close EMA 20 se 2% ke andar, upar ya neeche, aur EMA 50 ke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Rule 3: Cool-down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RSI(14) 40 aur 50 ke beech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Rule 4: Strength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3 mahine ka % change NIFTY 50 se zyada; NIFTY 50 ka number har shaam type kijiye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Watchlist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Jis shaam rule 1 fail ho, stock EMA 50 ke neeche close ho, ya 5 trading days tak signal na aaye, use hata dijiye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Signal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Official close pichhle din ke high ke upar, aur rule 1 tab bhi sahi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Agle din ka open. Signal close + 0.5 x ATR se upar, ya signal-day low se neeche khule toh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Entry - 1.5 x ATR(14); din ka low chhoote hi gina jaata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Rs 10,000 ÷ stop ki doori, neeche round; 25% cap pichhli shaam maximum entry par check; jo chhota ho wahi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Exits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Profit exit entry + 2.5 x stop ki doori par, fill tabhi jab price uske upar trade kare; time exit day 15 ke baad agle open 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Skip 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Agle 15 trading days mein results date; NSE ke corporate actions page par bonus ya split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House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Zyada se zyada 3 open trades, har ek alag sector mein (Day 9); -2R ke baad us din ke liye stop; hafte mein -5R ke baad ruk kar review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Plan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Pichhli shaam likha jaata hai; entry ke baad ismein kuch nahi badalta. 'Aapka case' ke khaali khaane bhariye aur task ke aakhri step se milaiye.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4"/>
        </p:xfrm>
        <a:graphic>
          <a:graphicData uri="http://schemas.openxmlformats.org/drawingml/2006/table">
            <a:tbl>
              <a:tblPr firstRow="1">
                <a:tableStyleId>{5C22544A-7EE6-4342-B048-85BDC9FD1C3A}</a:tableStyleId>
              </a:tblPr>
              <a:tblGrid>
                <a:gridCol w="6262028"/>
                <a:gridCol w="3083162"/>
                <a:gridCol w="1566345"/>
              </a:tblGrid>
              <a:tr h="295874">
                <a:tc>
                  <a:txBody>
                    <a:bodyPr wrap="square"/>
                    <a:lstStyle/>
                    <a:p>
                      <a:pPr algn="l"/>
                      <a:r>
                        <a:rPr sz="115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Priya: 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150" b="1" i="0">
                          <a:solidFill>
                            <a:srgbClr val="FFFFFF"/>
                          </a:solidFill>
                          <a:latin typeface="Segoe UI"/>
                        </a:rPr>
                        <a:t>Aapka case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6730">
                <a:tc>
                  <a:txBody>
                    <a:bodyPr wrap="square"/>
                    <a:lstStyle/>
                    <a:p>
                      <a:pPr algn="l"/>
                      <a:r>
                        <a:rPr sz="1150" b="0" i="0">
                          <a:solidFill>
                            <a:srgbClr val="18232F"/>
                          </a:solidFill>
                          <a:latin typeface="Segoe UI"/>
                        </a:rPr>
                        <a:t>Signal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Signal-day low (iske neeche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390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508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ATR(14)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Maximum entry = close + 0.5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406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Stop ki doori =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Quantity = Rs 10,000 ÷ stop ki doori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555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Cap check: quantity x maximum entry (limit 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2,25,330 (22.5%)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Agle din ka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404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526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Entry ya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Stop = entry - stop ki doori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Profit exit = entry + 2.5 x stop ki doori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Stop hit hone par loss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Rs 9,990 (1R)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150" b="0" i="0">
                          <a:solidFill>
                            <a:srgbClr val="18232F"/>
                          </a:solidFill>
                          <a:latin typeface="Segoe UI"/>
                        </a:rPr>
                        <a:t>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150" b="0" i="0">
                          <a:solidFill>
                            <a:srgbClr val="18232F"/>
                          </a:solidFill>
                          <a:latin typeface="Segoe UI"/>
                        </a:rPr>
                        <a:t>Day 15 ke baad agla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1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2-minute RS check</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Har change same dates par nikaliye: aaj ka close ÷ lagbhag 63 trading days pehle ka close, minus 1. Sirf positive RS rakhiye; khaali jagah se zyada setups hon, toh sabse zyada RS wala pehle.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2759728"/>
                <a:gridCol w="2447421"/>
                <a:gridCol w="3125827"/>
                <a:gridCol w="1078820"/>
                <a:gridCol w="1499739"/>
              </a:tblGrid>
              <a:tr h="402336">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 3 mahine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NIFTY 50, wahi dates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Rakhein?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93192">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Rakhein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3192">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'Screener Race', ek process game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Jodi mein screener lists badal lijiye. Partner ki list mein har rule todne wale stock par aapko ek point, aur jab partner woh condition theek kar de jisse woh stock aaya, toh ek point usko.</a:t>
            </a:r>
          </a:p>
          <a:p>
            <a:pPr algn="l">
              <a:lnSpc>
                <a:spcPct val="100000"/>
              </a:lnSpc>
              <a:spcAft>
                <a:spcPts val="700"/>
              </a:spcAft>
            </a:pPr>
            <a:r>
              <a:rPr sz="2000" b="0" i="0">
                <a:solidFill>
                  <a:srgbClr val="18232F"/>
                </a:solidFill>
                <a:latin typeface="Segoe UI"/>
              </a:rPr>
              <a:t>Point kabhi list ke stocks se nahi milte, aur kisi stock ki buy ya sell ke roop mein baat nahi hoti.</a:t>
            </a:r>
          </a:p>
          <a:p>
            <a:pPr algn="l">
              <a:lnSpc>
                <a:spcPct val="100000"/>
              </a:lnSpc>
              <a:spcAft>
                <a:spcPts val="700"/>
              </a:spcAft>
            </a:pPr>
            <a:r>
              <a:rPr sz="2000" b="0" i="0">
                <a:solidFill>
                  <a:srgbClr val="18232F"/>
                </a:solidFill>
                <a:latin typeface="Segoe UI"/>
              </a:rPr>
              <a:t>Akele khelna ho toh 'Chase ya Pause': 5 random daily charts kholiye, har chart ko 60 second dijiye aur boliye Pause (card mein fit hone wala pullback), Chase (Aman ke Kiran Foods ki tarah EMA 20 se kaafi upar) ya Sasta jaal (downtrend); phir rule card se khud ko score kijiye.</a:t>
            </a:r>
          </a:p>
          <a:p>
            <a:pPr algn="l">
              <a:lnSpc>
                <a:spcPct val="100000"/>
              </a:lnSpc>
            </a:pPr>
            <a:r>
              <a:rPr sz="2000" b="0" i="0">
                <a:solidFill>
                  <a:srgbClr val="18232F"/>
                </a:solidFill>
                <a:latin typeface="Segoe UI"/>
              </a:rPr>
              <a:t>Pehli shaam 5 mein se 4 achha score hai.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Screener condition writer: AI draft kare, aap charts par verify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Screener condition writer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“I will tell you which platform I use (TradingView stock screener or Chartink). Turn these rules into screener conditions: (1) EMA 20 above EMA 50, and EMA 50 higher than it was 10 trading days ago; (2) close within 2% of EMA 20, above or below, and above EMA 50; (3) RSI(14) between 40 and 50; (4) 3-month (about 63 trading day) % change greater than NIFTY 50's 3-month % change; a screener cannot look up NIFTY 50 by itself, so I will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Rule card ki ambiguity pakadiye</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strict examiner of trading rule cards. I will paste my EMA Pullback Swing rule card below. Find every word or rule that two people could read differently (for example 'near', 'rising', 'strong', or 'close above what?') and ask me one short question about each.”</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Plan card ka hisaab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“Check the arithmetic of my plan card for a virtual paper trade. I will type: capital (Rs 10,00,000), risk per trade (1%), the signal day's close and low, ATR(14), the next day's open, plus my own answers.”</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stock ka EMA 20 uske EMA 50 ke neeche hai. Price abhi EMA 20 tak aaya hai aur RSI(14) 45 hai. EMA Pullback Swing ke rules ke hisaab se aap kya karenge?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Khareedein: pullback aur RSI dono fit hain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trend wala rule pehle hi fail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RSI 30 ke neeche aaye, tab khareedein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Aadha khareedein, teen mein se do rules pass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Shaam ka plan: signal close Rs 247 aur ATR(14) Rs 6, isliye maximum entry Rs 250. Virtual capital Rs 10 lakh, har trade par risk 1%, aur koi position capital ke 25% se zyada ki nahi ho sakti. Plan card par kya likha jaayega?</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ki doori Rs 9; 1,012 shares, Rs 247 par cap</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ki doori Rs 6; 1,000 shares, Rs 250 par cap</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ki doori Rs 9; 1% rule se 1,111 shares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ki doori Rs 9; 1,000 shares, Rs 250 par cap</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Gupta Cement Ltd ke liye Priya ka plan: signal close Rs 400, signal day ka low Rs 390, ATR(14) Rs 12. Agli subah stock Rs 409 par khulta hai. Rule card kya kehta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400 tak dip ka intezaar, phir khareedein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par aadhe shares khareedein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 par khareedein, stop Rs 391</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stock max entry se upar khula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Pichhle 3 mahine mein NIFTY 50, 4% chadha. Stock A 9% chadha, Stock B 3% aur Stock C 1%. Teeno rules 1 se 3 pass karte hain. Relative-strength rule kaun pass karta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aur B, jo sabse zyada chadhe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A, akela stock jo NIFTY 50 ke 4% se aage raha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Sirf C, usme chadhne ki jagah zyada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Teeno, kyunki teeno chadhe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free data site par Bharat Pumps Ltd aaj 50% down dikh raha hai, RSI 15 ke aas-paas aur ATR do guna se zyada. NSE ke corporate actions page ke mutabik aaj 1:1 bonus laagu hua hai. Sahi matlab kya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Asli crash: holders ka aadha paisa aaj doob gaya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Zyadatar bonus ka asar; chart adjusted data par dobara dekhein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RSI 15 ke paas oversold hai, toh yeh pullback buy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Site kharab hai, toh indicators use karna band karein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Strategy #1: EMA Pullback Swing</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Ek aisa mauka yaad kijiye jab aap kisi aisi cheez ke peeche bhaage jo pehle hi nikal chuki thi: sale, train, stock ya trend. Us chase ki kya keemat chukani padi? Ab aaj ke rule card ki woh ek line likhiye jo aapko rukne par majboor karti.</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aapne aise rules likhe jo zyadatar batate hain ki kab nahi khareedna. Zyadatar shaamon ko aap yahi rules use karenge.</a:t>
            </a:r>
          </a:p>
        </p:txBody>
      </p:sp>
      <p:sp>
        <p:nvSpPr>
          <p:cNvPr id="11" name="Rounded Rectangle 10"/>
          <p:cNvSpPr/>
          <p:nvPr/>
        </p:nvSpPr>
        <p:spPr>
          <a:xfrm>
            <a:off x="457200" y="5489448"/>
            <a:ext cx="527764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12 · Paper trading ka pehla din aur AI trade journal</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12</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Paper trading ka pehla din aur AI trade journal</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Imaandaar paper trading: fills, gaps, costs R mein, journal aur adherence score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Journal detective: AI pattern dhoondhe, faisla aap karein</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'Paper hai, chalta hai'</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Aaj ke baad aap aise fills ke saath paper trade kar payenge jo sach mein mil sakte the, stop ke paar gap ko imaandaari se record kar payenge, har row mein ek emotion shabd ke saath das columns ka journal rakh payenge, apna adherence score points ÷ decisions se khud nikaal payenge, aur saat hisson wali Portfolio row shuru kar payenge jise mentor grade kar sakein.</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hi toh hai?</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Shaam ka waqt, paper trading ka pehla din. Aman, Priya aur mentor video call par hain.</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pehle hi din Rs 18,000 ka profit. Maine Kiran Foods ke 1,000 shares le liye, wahi jo kal uchhla tha. Entry Rs 446 likhi, din ka low, aur woh Rs 464 par band hua. Formula 400 shares bol raha tha, lekin paisa toh paper ka hai. Paper hai, chalta hai.</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Mere screener mein aaj koi setup aaya hi nahi, toh meri sheet mein bas ek row hai: 'No setup'. Sir, kya maine pehla din bekaar kar diya?</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hi toh hai?</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do sawaal. Aaj subah 9:15 par kya aapko pata tha ki Rs 446 hi low banega? Aur asli paisa hota, toh kya aap 1,000 shares lete, jab formula 400 keh raha tha?</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Nahi sir. Low maine 3:30 baje chuna, poora din dekhne ke baad. Aur size... bas real nahi lag raha tha.</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Toh aapke Rs 18,000 ek kahani hain, record nahi. Priya ki ek imaandaar row usse zyada keemti hai. Aaj hum seekhenge ki paper trading sach kaise bole, aur aisa journal kaise rakhein jo rules follow karne ko score kare, profit ko nahi.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Paper ka paisa asli nahi hota. Uske saath bani aadatein asli hoti hain.</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trading: asli prices, virtual paisa, asli rules</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Paper trading ka matlab hai asli market prices par apni strategy follow karna, lekin virtual paise se.</a:t>
            </a:r>
          </a:p>
          <a:p>
            <a:pPr algn="l" marL="274320" indent="-274320">
              <a:lnSpc>
                <a:spcPct val="100000"/>
              </a:lnSpc>
              <a:spcAft>
                <a:spcPts val="750"/>
              </a:spcAft>
              <a:buClr>
                <a:srgbClr val="134A9A"/>
              </a:buClr>
              <a:buFont typeface="Arial"/>
              <a:buChar char="•"/>
            </a:pPr>
            <a:r>
              <a:rPr sz="1500" b="0" i="0">
                <a:solidFill>
                  <a:srgbClr val="18232F"/>
                </a:solidFill>
                <a:latin typeface="Segoe UI"/>
              </a:rPr>
              <a:t>Koi order exchange tak jaata hi nahi.</a:t>
            </a:r>
          </a:p>
          <a:p>
            <a:pPr algn="l" marL="274320" indent="-274320">
              <a:lnSpc>
                <a:spcPct val="100000"/>
              </a:lnSpc>
              <a:spcAft>
                <a:spcPts val="750"/>
              </a:spcAft>
              <a:buClr>
                <a:srgbClr val="134A9A"/>
              </a:buClr>
              <a:buFont typeface="Arial"/>
              <a:buChar char="•"/>
            </a:pPr>
            <a:r>
              <a:rPr sz="1500" b="0" i="0">
                <a:solidFill>
                  <a:srgbClr val="18232F"/>
                </a:solidFill>
                <a:latin typeface="Segoe UI"/>
              </a:rPr>
              <a:t>Paper trading yeh test nahi karti ki aap paisa bana sakte hain ya nahi.</a:t>
            </a:r>
          </a:p>
          <a:p>
            <a:pPr algn="l" marL="274320" indent="-274320">
              <a:lnSpc>
                <a:spcPct val="100000"/>
              </a:lnSpc>
              <a:buClr>
                <a:srgbClr val="134A9A"/>
              </a:buClr>
              <a:buFont typeface="Arial"/>
              <a:buChar char="•"/>
            </a:pPr>
            <a:r>
              <a:rPr sz="1500" b="0" i="0">
                <a:solidFill>
                  <a:srgbClr val="18232F"/>
                </a:solidFill>
                <a:latin typeface="Segoe UI"/>
              </a:rPr>
              <a:t>Yeh test karti hai ki price hilne par bhi aap apne rules follow karte hain ya nahi.</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Lucknow ke ek office mein shaam 6 baje tak kaam karti hai. Raat 8 baje woh Day 11 wala screener chalati hai, naye naam watchlist mein jodti hai, aur har watchlist stock ko TradingView ke free daily chart par signal day ke liye check karti hai. Signal mile tabhi woh Google Sheet mein kal ka plan likhti hai: stock, maximum entry, woh low jiske neeche khulne par skip, stop ki doori aur quantity. 9:15 ka open woh kabhi dekhti hi nahi. Agli shaam woh daily candle dekhti hai: stock dono limits ke andar khula toh open hi uski entry hai; nahi toh 'Skipped: gap' likh deti hai. Sheet ki version history dikhati hai ki plan market khulne se pehle likha gaya tha, isliye baad mein kiya koi bhi badlaav usmein dikh jaayega.</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Naukri karne walon ka paper day</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Swing strategy ke liye office time mein screen dekhne ki zaroorat nahi.</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Shaam ka scan</a:t>
            </a:r>
          </a:p>
          <a:p>
            <a:pPr algn="ctr">
              <a:lnSpc>
                <a:spcPct val="100000"/>
              </a:lnSpc>
            </a:pPr>
            <a:r>
              <a:rPr sz="1100" b="0" i="0">
                <a:solidFill>
                  <a:srgbClr val="47596B"/>
                </a:solidFill>
                <a:latin typeface="Segoe UI"/>
              </a:rPr>
              <a:t>3:30 ke close ke baad</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usi raat</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Likha hua plan</a:t>
            </a:r>
          </a:p>
          <a:p>
            <a:pPr algn="ctr">
              <a:lnSpc>
                <a:spcPct val="100000"/>
              </a:lnSpc>
            </a:pPr>
            <a:r>
              <a:rPr sz="1100" b="0" i="0">
                <a:solidFill>
                  <a:srgbClr val="47596B"/>
                </a:solidFill>
                <a:latin typeface="Segoe UI"/>
              </a:rPr>
              <a:t>Limits, stop ki doori, qty</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agle din</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Agla din</a:t>
            </a:r>
          </a:p>
          <a:p>
            <a:pPr algn="ctr">
              <a:lnSpc>
                <a:spcPct val="100000"/>
              </a:lnSpc>
            </a:pPr>
            <a:r>
              <a:rPr sz="1100" b="0" i="0">
                <a:solidFill>
                  <a:srgbClr val="47596B"/>
                </a:solidFill>
                <a:latin typeface="Segoe UI"/>
              </a:rPr>
              <a:t>Open par entry, ya skip</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usi shaam</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Journal row</a:t>
            </a:r>
          </a:p>
          <a:p>
            <a:pPr algn="ctr">
              <a:lnSpc>
                <a:spcPct val="100000"/>
              </a:lnSpc>
            </a:pPr>
            <a:r>
              <a:rPr sz="1100" b="0" i="0">
                <a:solidFill>
                  <a:srgbClr val="47596B"/>
                </a:solidFill>
                <a:latin typeface="Segoe UI"/>
              </a:rPr>
              <a:t>R result, rule, emotion</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har weekend</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Weekly review</a:t>
            </a:r>
          </a:p>
          <a:p>
            <a:pPr algn="ctr">
              <a:lnSpc>
                <a:spcPct val="100000"/>
              </a:lnSpc>
            </a:pPr>
            <a:r>
              <a:rPr sz="1100" b="0" i="0">
                <a:solidFill>
                  <a:srgbClr val="47596B"/>
                </a:solidFill>
                <a:latin typeface="Segoe UI"/>
              </a:rPr>
              <a:t>AI pattern dhoondhe, faisla aapka</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Paisa virtual hai, aadatein asli: paper par jo chhoot aap dete hain, wahi aadat aap khud ko sikha rahe hain.</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fills jo aapko jhooti shaabashi na dein</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Fill woh price hai jis par order sach mein execute hota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Paper par yeh aap khud tay karte hain, isliye woh price likh dena aasaan hai jo din khatam hone ke baad dikha.</a:t>
            </a:r>
          </a:p>
          <a:p>
            <a:pPr algn="l" marL="274320" indent="-274320">
              <a:lnSpc>
                <a:spcPct val="100000"/>
              </a:lnSpc>
              <a:spcAft>
                <a:spcPts val="800"/>
              </a:spcAft>
              <a:buClr>
                <a:srgbClr val="134A9A"/>
              </a:buClr>
              <a:buFont typeface="Arial"/>
              <a:buChar char="•"/>
            </a:pPr>
            <a:r>
              <a:rPr sz="1600" b="0" i="0">
                <a:solidFill>
                  <a:srgbClr val="18232F"/>
                </a:solidFill>
                <a:latin typeface="Segoe UI"/>
              </a:rPr>
              <a:t>Shuruaat teen house rules se.</a:t>
            </a:r>
          </a:p>
          <a:p>
            <a:pPr algn="l" marL="274320" indent="-274320">
              <a:lnSpc>
                <a:spcPct val="100000"/>
              </a:lnSpc>
              <a:buClr>
                <a:srgbClr val="134A9A"/>
              </a:buClr>
              <a:buFont typeface="Arial"/>
              <a:buChar char="•"/>
            </a:pPr>
            <a:r>
              <a:rPr sz="1600" b="0" i="0">
                <a:solidFill>
                  <a:srgbClr val="18232F"/>
                </a:solidFill>
                <a:latin typeface="Segoe UI"/>
              </a:rPr>
              <a:t>Ek: entry agle din ka open hai, aur woh bhi tabhi jab stock aapke plan ki dono limits ke andar khule (Day 11), din ka low kabhi nahi.</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Wapas chaliye Day 11 ke Gupta Cement Ltd wale plan par: signal close Rs 400, maximum entry Rs 406, Rs 390 se neeche khule toh skip, stop ki doori Rs 18, 555 shares. Friday Rs 404 par khula, dono limits ke andar, isliye entry Rs 404, stop Rs 386 aur profit exit Rs 449. … Imaandaar result 2.4R hai, challenge capital par lagbhag Rs 24,000, aur bahut se trades itni safai se khatam nahi honge.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 ka trade, imaandaari se likha hua</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Aman ka baad mein dekh kar chuna gaya version, Friday ke low se baad ke high tak aur bina costs, har share par Rs 54 dikhata tha. Pehle se likha koi plan use yeh prices nahi de sakta tha.</a:t>
            </a:r>
          </a:p>
        </p:txBody>
      </p:sp>
      <p:sp>
        <p:nvSpPr>
          <p:cNvPr id="11" name="TextBox 10"/>
          <p:cNvSpPr txBox="1"/>
          <p:nvPr/>
        </p:nvSpPr>
        <p:spPr>
          <a:xfrm>
            <a:off x="6397600" y="1805940"/>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Exit: profit exit, upar trade hua</a:t>
            </a:r>
          </a:p>
        </p:txBody>
      </p:sp>
      <p:sp>
        <p:nvSpPr>
          <p:cNvPr id="13" name="TextBox 12"/>
          <p:cNvSpPr txBox="1"/>
          <p:nvPr/>
        </p:nvSpPr>
        <p:spPr>
          <a:xfrm>
            <a:off x="10717021" y="1805940"/>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449</a:t>
            </a:r>
          </a:p>
        </p:txBody>
      </p:sp>
      <p:cxnSp>
        <p:nvCxnSpPr>
          <p:cNvPr id="14" name="Connector 13"/>
          <p:cNvCxnSpPr/>
          <p:nvPr/>
        </p:nvCxnSpPr>
        <p:spPr>
          <a:xfrm>
            <a:off x="6397600" y="224093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240933"/>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240933"/>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Entry: Friday ka open</a:t>
            </a:r>
          </a:p>
        </p:txBody>
      </p:sp>
      <p:sp>
        <p:nvSpPr>
          <p:cNvPr id="17" name="TextBox 16"/>
          <p:cNvSpPr txBox="1"/>
          <p:nvPr/>
        </p:nvSpPr>
        <p:spPr>
          <a:xfrm>
            <a:off x="10717021" y="2240933"/>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404</a:t>
            </a:r>
          </a:p>
        </p:txBody>
      </p:sp>
      <p:cxnSp>
        <p:nvCxnSpPr>
          <p:cNvPr id="18" name="Connector 17"/>
          <p:cNvCxnSpPr/>
          <p:nvPr/>
        </p:nvCxnSpPr>
        <p:spPr>
          <a:xfrm>
            <a:off x="6397600" y="26759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675926"/>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675926"/>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Har share par gain</a:t>
            </a:r>
          </a:p>
        </p:txBody>
      </p:sp>
      <p:sp>
        <p:nvSpPr>
          <p:cNvPr id="21" name="TextBox 20"/>
          <p:cNvSpPr txBox="1"/>
          <p:nvPr/>
        </p:nvSpPr>
        <p:spPr>
          <a:xfrm>
            <a:off x="10717021" y="2675926"/>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45</a:t>
            </a:r>
          </a:p>
        </p:txBody>
      </p:sp>
      <p:cxnSp>
        <p:nvCxnSpPr>
          <p:cNvPr id="22" name="Connector 21"/>
          <p:cNvCxnSpPr/>
          <p:nvPr/>
        </p:nvCxnSpPr>
        <p:spPr>
          <a:xfrm>
            <a:off x="6397600" y="3110919"/>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110919"/>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110919"/>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Har share ka risk (1.5 x ATR Rs 12)</a:t>
            </a:r>
          </a:p>
        </p:txBody>
      </p:sp>
      <p:sp>
        <p:nvSpPr>
          <p:cNvPr id="25" name="TextBox 24"/>
          <p:cNvSpPr txBox="1"/>
          <p:nvPr/>
        </p:nvSpPr>
        <p:spPr>
          <a:xfrm>
            <a:off x="10717021" y="3110919"/>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18</a:t>
            </a:r>
          </a:p>
        </p:txBody>
      </p:sp>
      <p:cxnSp>
        <p:nvCxnSpPr>
          <p:cNvPr id="26" name="Connector 25"/>
          <p:cNvCxnSpPr/>
          <p:nvPr/>
        </p:nvCxnSpPr>
        <p:spPr>
          <a:xfrm>
            <a:off x="6397600" y="354591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545913"/>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3545913"/>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se pehle result</a:t>
            </a:r>
          </a:p>
        </p:txBody>
      </p:sp>
      <p:sp>
        <p:nvSpPr>
          <p:cNvPr id="29" name="TextBox 28"/>
          <p:cNvSpPr txBox="1"/>
          <p:nvPr/>
        </p:nvSpPr>
        <p:spPr>
          <a:xfrm>
            <a:off x="10717021" y="3545913"/>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2.5R</a:t>
            </a:r>
          </a:p>
        </p:txBody>
      </p:sp>
      <p:cxnSp>
        <p:nvCxnSpPr>
          <p:cNvPr id="30" name="Connector 29"/>
          <p:cNvCxnSpPr/>
          <p:nvPr/>
        </p:nvCxnSpPr>
        <p:spPr>
          <a:xfrm>
            <a:off x="6397600" y="398090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97600" y="3980906"/>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3980906"/>
            <a:ext cx="3953662" cy="43499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aur slippage allowance</a:t>
            </a:r>
          </a:p>
        </p:txBody>
      </p:sp>
      <p:sp>
        <p:nvSpPr>
          <p:cNvPr id="33" name="TextBox 32"/>
          <p:cNvSpPr txBox="1"/>
          <p:nvPr/>
        </p:nvSpPr>
        <p:spPr>
          <a:xfrm>
            <a:off x="10717021" y="3980906"/>
            <a:ext cx="761442" cy="43499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0.1R</a:t>
            </a:r>
          </a:p>
        </p:txBody>
      </p:sp>
      <p:sp>
        <p:nvSpPr>
          <p:cNvPr id="34" name="Rounded Rectangle 33"/>
          <p:cNvSpPr/>
          <p:nvPr/>
        </p:nvSpPr>
        <p:spPr>
          <a:xfrm>
            <a:off x="6397600" y="4470763"/>
            <a:ext cx="5154016" cy="434993"/>
          </a:xfrm>
          <a:prstGeom prst="roundRect">
            <a:avLst>
              <a:gd name="adj" fmla="val 1681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TextBox 34"/>
          <p:cNvSpPr txBox="1"/>
          <p:nvPr/>
        </p:nvSpPr>
        <p:spPr>
          <a:xfrm>
            <a:off x="6397600" y="4470763"/>
            <a:ext cx="329184" cy="43499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6" name="TextBox 35"/>
          <p:cNvSpPr txBox="1"/>
          <p:nvPr/>
        </p:nvSpPr>
        <p:spPr>
          <a:xfrm>
            <a:off x="6726784" y="4470763"/>
            <a:ext cx="3953662" cy="434993"/>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Imaandaar paper result</a:t>
            </a:r>
          </a:p>
        </p:txBody>
      </p:sp>
      <p:sp>
        <p:nvSpPr>
          <p:cNvPr id="37" name="TextBox 36"/>
          <p:cNvSpPr txBox="1"/>
          <p:nvPr/>
        </p:nvSpPr>
        <p:spPr>
          <a:xfrm>
            <a:off x="10717021" y="4470763"/>
            <a:ext cx="761442" cy="434993"/>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2.4R</a:t>
            </a:r>
          </a:p>
        </p:txBody>
      </p:sp>
      <p:sp>
        <p:nvSpPr>
          <p:cNvPr id="38" name="Rounded Rectangle 3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ounded Rectangle 3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40" name="TextBox 3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Jis price par aap trade kar hi nahi sakte the, woh journal mein nahi jaata.</a:t>
            </a:r>
          </a:p>
        </p:txBody>
      </p:sp>
      <p:pic>
        <p:nvPicPr>
          <p:cNvPr id="41" name="Picture 40" descr="logo.png"/>
          <p:cNvPicPr>
            <a:picLocks noChangeAspect="1"/>
          </p:cNvPicPr>
          <p:nvPr/>
        </p:nvPicPr>
        <p:blipFill>
          <a:blip r:embed="rId2"/>
          <a:stretch>
            <a:fillRect/>
          </a:stretch>
        </p:blipFill>
        <p:spPr>
          <a:xfrm>
            <a:off x="457200" y="6437376"/>
            <a:ext cx="237744" cy="237744"/>
          </a:xfrm>
          <a:prstGeom prst="rect">
            <a:avLst/>
          </a:prstGeom>
        </p:spPr>
      </p:pic>
      <p:sp>
        <p:nvSpPr>
          <p:cNvPr id="4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3" name="TextBox 4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Jab price aapke stop ke upar se kood jaaye</a:t>
            </a:r>
          </a:p>
        </p:txBody>
      </p:sp>
      <p:sp>
        <p:nvSpPr>
          <p:cNvPr id="4" name="TextBox 3"/>
          <p:cNvSpPr txBox="1"/>
          <p:nvPr/>
        </p:nvSpPr>
        <p:spPr>
          <a:xfrm>
            <a:off x="457200" y="1335024"/>
            <a:ext cx="5519776" cy="21590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Stop-loss ek plan hai, exit price ka vada nahi.</a:t>
            </a:r>
          </a:p>
          <a:p>
            <a:pPr algn="l" marL="274320" indent="-274320">
              <a:lnSpc>
                <a:spcPct val="100000"/>
              </a:lnSpc>
              <a:spcAft>
                <a:spcPts val="800"/>
              </a:spcAft>
              <a:buClr>
                <a:srgbClr val="134A9A"/>
              </a:buClr>
              <a:buFont typeface="Arial"/>
              <a:buChar char="•"/>
            </a:pPr>
            <a:r>
              <a:rPr sz="1600" b="0" i="0">
                <a:solidFill>
                  <a:srgbClr val="18232F"/>
                </a:solidFill>
                <a:latin typeface="Segoe UI"/>
              </a:rPr>
              <a:t>Yeh humne Day 2 mein dekha tha.</a:t>
            </a:r>
          </a:p>
          <a:p>
            <a:pPr algn="l" marL="274320" indent="-274320">
              <a:lnSpc>
                <a:spcPct val="100000"/>
              </a:lnSpc>
              <a:spcAft>
                <a:spcPts val="800"/>
              </a:spcAft>
              <a:buClr>
                <a:srgbClr val="134A9A"/>
              </a:buClr>
              <a:buFont typeface="Arial"/>
              <a:buChar char="•"/>
            </a:pPr>
            <a:r>
              <a:rPr sz="1600" b="0" i="0">
                <a:solidFill>
                  <a:srgbClr val="18232F"/>
                </a:solidFill>
                <a:latin typeface="Segoe UI"/>
              </a:rPr>
              <a:t>Agar din ke beech price aapke stop tak aa jaaye, toh exit stop par likhiye.</a:t>
            </a:r>
          </a:p>
          <a:p>
            <a:pPr algn="l" marL="274320" indent="-274320">
              <a:lnSpc>
                <a:spcPct val="100000"/>
              </a:lnSpc>
              <a:spcAft>
                <a:spcPts val="800"/>
              </a:spcAft>
              <a:buClr>
                <a:srgbClr val="134A9A"/>
              </a:buClr>
              <a:buFont typeface="Arial"/>
              <a:buChar char="•"/>
            </a:pPr>
            <a:r>
              <a:rPr sz="1600" b="0" i="0">
                <a:solidFill>
                  <a:srgbClr val="18232F"/>
                </a:solidFill>
                <a:latin typeface="Segoe UI"/>
              </a:rPr>
              <a:t>Lekin agar close ke baad koi buri khabar aa jaaye, toh agla din aapke stop se kaafi neeche khul sakta hai.</a:t>
            </a:r>
          </a:p>
          <a:p>
            <a:pPr algn="l" marL="274320" indent="-274320">
              <a:lnSpc>
                <a:spcPct val="100000"/>
              </a:lnSpc>
              <a:buClr>
                <a:srgbClr val="134A9A"/>
              </a:buClr>
              <a:buFont typeface="Arial"/>
              <a:buChar char="•"/>
            </a:pPr>
            <a:r>
              <a:rPr sz="1600" b="0" i="0">
                <a:solidFill>
                  <a:srgbClr val="18232F"/>
                </a:solidFill>
                <a:latin typeface="Segoe UI"/>
              </a:rPr>
              <a:t>Price ki is chhalaang ko gap kehte hain.</a:t>
            </a:r>
          </a:p>
        </p:txBody>
      </p:sp>
      <p:sp>
        <p:nvSpPr>
          <p:cNvPr id="5" name="Rounded Rectangle 4"/>
          <p:cNvSpPr/>
          <p:nvPr/>
        </p:nvSpPr>
        <p:spPr>
          <a:xfrm>
            <a:off x="457200" y="3649472"/>
            <a:ext cx="5519776" cy="1964944"/>
          </a:xfrm>
          <a:prstGeom prst="roundRect">
            <a:avLst>
              <a:gd name="adj" fmla="val 5584"/>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7774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33520"/>
            <a:ext cx="5154016" cy="15077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Ab usi Gupta Cement trade ko ek alag ending dete hain: entry Rs 404, stop Rs 386. Agle Wednesday close ke baad khabar aati hai ki company ke main plant mein aag lag gayi, aur Thursday Rs 377 par khulta hai, stop se neeche. Priya ka paper exit Rs 377 hai, Rs 386 nahi. Loss har share par Rs 27 hai, yaani 27 ÷ 18 = 1.5R, aur 0.1R allowance ke baad 1.6R: plan kiye Rs 10,000 ki jagah lagbhag Rs 16,000. Aman Rs 386 likhna chahta tha, 'kyunki mera stop wahi tha'. Priya ka journal wahi likhta hai jo sach mein hua.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Gap stop ke paar kood gaya</a:t>
            </a:r>
          </a:p>
        </p:txBody>
      </p:sp>
      <p:sp>
        <p:nvSpPr>
          <p:cNvPr id="11" name="TextBox 10"/>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Thursday ko Rs 386 par koi trade hua hi nahi. Imaandaar exit Rs 377 ka open hai.</a:t>
            </a:r>
          </a:p>
        </p:txBody>
      </p:sp>
      <p:cxnSp>
        <p:nvCxnSpPr>
          <p:cNvPr id="12" name="Connector 11"/>
          <p:cNvCxnSpPr/>
          <p:nvPr/>
        </p:nvCxnSpPr>
        <p:spPr>
          <a:xfrm>
            <a:off x="6812159" y="484174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7594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364.6</a:t>
            </a:r>
          </a:p>
        </p:txBody>
      </p:sp>
      <p:cxnSp>
        <p:nvCxnSpPr>
          <p:cNvPr id="14" name="Connector 13"/>
          <p:cNvCxnSpPr/>
          <p:nvPr/>
        </p:nvCxnSpPr>
        <p:spPr>
          <a:xfrm>
            <a:off x="6812159" y="395782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755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381.2</a:t>
            </a:r>
          </a:p>
        </p:txBody>
      </p:sp>
      <p:cxnSp>
        <p:nvCxnSpPr>
          <p:cNvPr id="16" name="Connector 15"/>
          <p:cNvCxnSpPr/>
          <p:nvPr/>
        </p:nvCxnSpPr>
        <p:spPr>
          <a:xfrm>
            <a:off x="6812159" y="307390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9161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397.8</a:t>
            </a:r>
          </a:p>
        </p:txBody>
      </p:sp>
      <p:cxnSp>
        <p:nvCxnSpPr>
          <p:cNvPr id="18" name="Connector 17"/>
          <p:cNvCxnSpPr/>
          <p:nvPr/>
        </p:nvCxnSpPr>
        <p:spPr>
          <a:xfrm>
            <a:off x="6812159" y="218998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414.4</a:t>
            </a:r>
          </a:p>
        </p:txBody>
      </p:sp>
      <p:cxnSp>
        <p:nvCxnSpPr>
          <p:cNvPr id="20" name="Connector 19"/>
          <p:cNvCxnSpPr/>
          <p:nvPr/>
        </p:nvCxnSpPr>
        <p:spPr>
          <a:xfrm>
            <a:off x="6812159" y="2745008"/>
            <a:ext cx="4042024"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653568"/>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404</a:t>
            </a:r>
          </a:p>
        </p:txBody>
      </p:sp>
      <p:cxnSp>
        <p:nvCxnSpPr>
          <p:cNvPr id="22" name="Connector 21"/>
          <p:cNvCxnSpPr/>
          <p:nvPr/>
        </p:nvCxnSpPr>
        <p:spPr>
          <a:xfrm>
            <a:off x="6812159" y="3701938"/>
            <a:ext cx="4042024"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610498"/>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386</a:t>
            </a:r>
          </a:p>
        </p:txBody>
      </p:sp>
      <p:cxnSp>
        <p:nvCxnSpPr>
          <p:cNvPr id="24" name="Connector 23"/>
          <p:cNvCxnSpPr/>
          <p:nvPr/>
        </p:nvCxnSpPr>
        <p:spPr>
          <a:xfrm>
            <a:off x="7034684" y="2824752"/>
            <a:ext cx="0" cy="5847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01169" y="2957659"/>
            <a:ext cx="267030" cy="23923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479734" y="3063984"/>
            <a:ext cx="0" cy="5316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6219" y="3196891"/>
            <a:ext cx="267030" cy="10632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924784" y="2877915"/>
            <a:ext cx="0" cy="61137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791269" y="2957659"/>
            <a:ext cx="267030" cy="3721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369834" y="2532356"/>
            <a:ext cx="0" cy="5316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236319" y="2745008"/>
            <a:ext cx="267030" cy="5316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814883" y="2426031"/>
            <a:ext cx="0" cy="47846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681368" y="2532356"/>
            <a:ext cx="267030" cy="2658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259933" y="2372868"/>
            <a:ext cx="0" cy="6379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126418" y="2532356"/>
            <a:ext cx="267030" cy="3721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704983" y="2745008"/>
            <a:ext cx="0" cy="6379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571468" y="2904496"/>
            <a:ext cx="267030" cy="3721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150033" y="3967752"/>
            <a:ext cx="0" cy="5847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016518" y="4180403"/>
            <a:ext cx="267030" cy="1594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0595082" y="4074077"/>
            <a:ext cx="0" cy="5847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461567" y="4233566"/>
            <a:ext cx="267030" cy="10632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rot="10800000">
            <a:off x="7869920" y="2740755"/>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7715996" y="2530443"/>
            <a:ext cx="417576"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Signal</a:t>
            </a:r>
          </a:p>
        </p:txBody>
      </p:sp>
      <p:sp>
        <p:nvSpPr>
          <p:cNvPr id="44" name="Isosceles Triangle 43"/>
          <p:cNvSpPr/>
          <p:nvPr/>
        </p:nvSpPr>
        <p:spPr>
          <a:xfrm rot="10800000">
            <a:off x="8314970" y="239519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189300" y="218488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46" name="Isosceles Triangle 45"/>
          <p:cNvSpPr/>
          <p:nvPr/>
        </p:nvSpPr>
        <p:spPr>
          <a:xfrm>
            <a:off x="10095169" y="459826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833985" y="4707990"/>
            <a:ext cx="632094"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Open 377</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50" name="TextBox 49"/>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 aapka plan hai; journal wahi likhta hai jo asal mein hua.</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Aapka journal: das columns. Aapki Portfolio row: saat hisse</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Trade journal ek logbook hai jismein har decision har baar ek hi tareeke se likha jaata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Hamare journal mein das columns hain: date, stock, setup, entry, stop, quantity, exit aur R result, aur do honesty columns, 'Rule broken?' aur 'Emotion'</a:t>
            </a:r>
          </a:p>
          <a:p>
            <a:pPr algn="l" marL="274320" indent="-274320">
              <a:lnSpc>
                <a:spcPct val="100000"/>
              </a:lnSpc>
              <a:buClr>
                <a:srgbClr val="134A9A"/>
              </a:buClr>
              <a:buFont typeface="Arial"/>
              <a:buChar char="•"/>
            </a:pPr>
            <a:r>
              <a:rPr sz="1500" b="0" i="0">
                <a:solidFill>
                  <a:srgbClr val="18232F"/>
                </a:solidFill>
                <a:latin typeface="Segoe UI"/>
              </a:rPr>
              <a:t>Har column mein kya likhna hai, yeh Aaj Ka Kaam wala template dikhata hai.</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ki sheet ki do rows. Row 1: No setup, koi trade nahi, emotion 'bore'. Row 2, trade band hone par poori hui: Gupta Cement Ltd, EMA Pullback, entry Rs 404, stop Rs 386, 555 shares, exit Rs 449, R result +2.4R, Rule broken? 'none', emotion 'calm'. Cricket ke scorer ki tarah woh har ball likhti hai, dot balls bhi. … Full Why 1, yaani business ka reason, Day 15 ke health check tak rukta hai; tab tak page row ko Adhoori dikhata hai, kyunki row tabhi ginti hai jab saaton hisse bhare hon.</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Journal ki ek row kaise bharein</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Google Sheet mein das columns. Kisi fancy tool ki zaroorat nahi.</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Open se pehle</a:t>
            </a:r>
          </a:p>
          <a:p>
            <a:pPr algn="ctr">
              <a:lnSpc>
                <a:spcPct val="100000"/>
              </a:lnSpc>
            </a:pPr>
            <a:r>
              <a:rPr sz="1150" b="0" i="0">
                <a:solidFill>
                  <a:srgbClr val="47596B"/>
                </a:solidFill>
                <a:latin typeface="Segoe UI"/>
              </a:rPr>
              <a:t>Date, stock, setup, max entry, stop ki doori, qty</a:t>
            </a:r>
          </a:p>
        </p:txBody>
      </p:sp>
      <p:sp>
        <p:nvSpPr>
          <p:cNvPr id="14" name="Rounded Rectangle 13"/>
          <p:cNvSpPr/>
          <p:nvPr/>
        </p:nvSpPr>
        <p:spPr>
          <a:xfrm>
            <a:off x="3703229"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Agli shaam</a:t>
            </a:r>
          </a:p>
          <a:p>
            <a:pPr algn="ctr">
              <a:lnSpc>
                <a:spcPct val="100000"/>
              </a:lnSpc>
            </a:pPr>
            <a:r>
              <a:rPr sz="1150" b="0" i="0">
                <a:solidFill>
                  <a:srgbClr val="47596B"/>
                </a:solidFill>
                <a:latin typeface="Segoe UI"/>
              </a:rPr>
              <a:t>Open par entry, ya 'Skipped: gap'</a:t>
            </a:r>
          </a:p>
        </p:txBody>
      </p:sp>
      <p:sp>
        <p:nvSpPr>
          <p:cNvPr id="16" name="Rounded Rectangle 15"/>
          <p:cNvSpPr/>
          <p:nvPr/>
        </p:nvSpPr>
        <p:spPr>
          <a:xfrm>
            <a:off x="5885536"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Exit ke baad</a:t>
            </a:r>
          </a:p>
          <a:p>
            <a:pPr algn="ctr">
              <a:lnSpc>
                <a:spcPct val="100000"/>
              </a:lnSpc>
            </a:pPr>
            <a:r>
              <a:rPr sz="1150" b="0" i="0">
                <a:solidFill>
                  <a:srgbClr val="47596B"/>
                </a:solidFill>
                <a:latin typeface="Segoe UI"/>
              </a:rPr>
              <a:t>Exit price aur R result, 0.1R ghata kar</a:t>
            </a:r>
          </a:p>
        </p:txBody>
      </p:sp>
      <p:sp>
        <p:nvSpPr>
          <p:cNvPr id="18" name="Rounded Rectangle 17"/>
          <p:cNvSpPr/>
          <p:nvPr/>
        </p:nvSpPr>
        <p:spPr>
          <a:xfrm>
            <a:off x="8067843"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Honesty check</a:t>
            </a:r>
          </a:p>
          <a:p>
            <a:pPr algn="ctr">
              <a:lnSpc>
                <a:spcPct val="100000"/>
              </a:lnSpc>
            </a:pPr>
            <a:r>
              <a:rPr sz="1150" b="0" i="0">
                <a:solidFill>
                  <a:srgbClr val="47596B"/>
                </a:solidFill>
                <a:latin typeface="Segoe UI"/>
              </a:rPr>
              <a:t>Rule broken? Kaunsa. Ek emotion shabd</a:t>
            </a:r>
          </a:p>
        </p:txBody>
      </p:sp>
      <p:sp>
        <p:nvSpPr>
          <p:cNvPr id="20" name="Rounded Rectangle 19"/>
          <p:cNvSpPr/>
          <p:nvPr/>
        </p:nvSpPr>
        <p:spPr>
          <a:xfrm>
            <a:off x="10250150"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Aaj setup nahi aaya?</a:t>
            </a:r>
          </a:p>
          <a:p>
            <a:pPr algn="ctr">
              <a:lnSpc>
                <a:spcPct val="100000"/>
              </a:lnSpc>
            </a:pPr>
            <a:r>
              <a:rPr sz="1150" b="0" i="0">
                <a:solidFill>
                  <a:srgbClr val="47596B"/>
                </a:solidFill>
                <a:latin typeface="Segoe UI"/>
              </a:rPr>
              <a:t>Phir bhi ek row: 'No setup'</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Har decision ki journal row banti hai, kuch na karne ke decision ki bhi. Jis stock ko aap poori tarah sochte hain, uski saat hisson wali Portfolio row bhi banti hai, zyada se zyada paanch.</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Adherence score: sahi chhodi gayi ball bhi ginti hai</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Adherence ka matlab hai wahi karna jo aapka rule card kehta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Har decision ko 1 ya 0 milta hai: jo trade entry se exit tak har rule follow kare, use 1.</a:t>
            </a:r>
          </a:p>
          <a:p>
            <a:pPr algn="l" marL="274320" indent="-274320">
              <a:lnSpc>
                <a:spcPct val="100000"/>
              </a:lnSpc>
              <a:spcAft>
                <a:spcPts val="800"/>
              </a:spcAft>
              <a:buClr>
                <a:srgbClr val="134A9A"/>
              </a:buClr>
              <a:buFont typeface="Arial"/>
              <a:buChar char="•"/>
            </a:pPr>
            <a:r>
              <a:rPr sz="1600" b="0" i="0">
                <a:solidFill>
                  <a:srgbClr val="18232F"/>
                </a:solidFill>
                <a:latin typeface="Segoe UI"/>
              </a:rPr>
              <a:t>Jo setup aap kisi likhe hue rule ki wajah se chhod dein, use 1.</a:t>
            </a:r>
          </a:p>
          <a:p>
            <a:pPr algn="l" marL="274320" indent="-274320">
              <a:lnSpc>
                <a:spcPct val="100000"/>
              </a:lnSpc>
              <a:buClr>
                <a:srgbClr val="134A9A"/>
              </a:buClr>
              <a:buFont typeface="Arial"/>
              <a:buChar char="•"/>
            </a:pPr>
            <a:r>
              <a:rPr sz="1600" b="0" i="0">
                <a:solidFill>
                  <a:srgbClr val="18232F"/>
                </a:solidFill>
                <a:latin typeface="Segoe UI"/>
              </a:rPr>
              <a:t>Aur jis din setup na aaye aur aap bahar rahein, us din ko bhi 1.</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 ke pehle paanch paper dinon mein chhe decisions the. Paper day 1: Kiran Foods wala trade, na setup, na likha hua plan, entry price close ke baad chuna gaya, size formula se 2.5 guna aur 25% cap se bhi upar (0). Paper day 2: koi setup nahi, woh bahar raha (1). Paper day 3: ek setup, liya aur exit tak saare rules follow kiye (1). … Us hafte ka paper profit ya loss is score mein kahin nahi aata.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Har decision, ek point</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Score = points ÷ decisions. No-setup wala din ek decision hai.</a:t>
            </a:r>
          </a:p>
        </p:txBody>
      </p:sp>
      <p:sp>
        <p:nvSpPr>
          <p:cNvPr id="11" name="Rounded Rectangle 10"/>
          <p:cNvSpPr/>
          <p:nvPr/>
        </p:nvSpPr>
        <p:spPr>
          <a:xfrm>
            <a:off x="6397600" y="2204085"/>
            <a:ext cx="2494712" cy="26235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204085"/>
            <a:ext cx="2494712"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435733"/>
            <a:ext cx="2494712"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204085"/>
            <a:ext cx="2494712" cy="2623566"/>
          </a:xfrm>
          <a:prstGeom prst="roundRect">
            <a:avLst>
              <a:gd name="adj" fmla="val 3665"/>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204085"/>
            <a:ext cx="2202104"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Setup aaya</a:t>
            </a:r>
          </a:p>
        </p:txBody>
      </p:sp>
      <p:cxnSp>
        <p:nvCxnSpPr>
          <p:cNvPr id="16" name="Connector 15"/>
          <p:cNvCxnSpPr/>
          <p:nvPr/>
        </p:nvCxnSpPr>
        <p:spPr>
          <a:xfrm>
            <a:off x="6397600" y="2667381"/>
            <a:ext cx="2494711"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813685"/>
            <a:ext cx="2202104" cy="197739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Liya, har rule follow kiya: 1</a:t>
            </a:r>
          </a:p>
          <a:p>
            <a:pPr algn="l" marL="201168" indent="-201168">
              <a:lnSpc>
                <a:spcPct val="100000"/>
              </a:lnSpc>
              <a:spcAft>
                <a:spcPts val="750"/>
              </a:spcAft>
              <a:buClr>
                <a:srgbClr val="0093D6"/>
              </a:buClr>
              <a:buFont typeface="Arial"/>
              <a:buChar char="•"/>
            </a:pPr>
            <a:r>
              <a:rPr sz="1500" b="0" i="0">
                <a:solidFill>
                  <a:srgbClr val="18232F"/>
                </a:solidFill>
                <a:latin typeface="Segoe UI"/>
              </a:rPr>
              <a:t>Likhe hue rule se chhoda: 1</a:t>
            </a:r>
          </a:p>
          <a:p>
            <a:pPr algn="l" marL="201168" indent="-201168">
              <a:lnSpc>
                <a:spcPct val="100000"/>
              </a:lnSpc>
              <a:spcAft>
                <a:spcPts val="750"/>
              </a:spcAft>
              <a:buClr>
                <a:srgbClr val="0093D6"/>
              </a:buClr>
              <a:buFont typeface="Arial"/>
              <a:buChar char="•"/>
            </a:pPr>
            <a:r>
              <a:rPr sz="1500" b="0" i="0">
                <a:solidFill>
                  <a:srgbClr val="18232F"/>
                </a:solidFill>
                <a:latin typeface="Segoe UI"/>
              </a:rPr>
              <a:t>Darr se chhoda: 0</a:t>
            </a:r>
          </a:p>
          <a:p>
            <a:pPr algn="l" marL="201168" indent="-201168">
              <a:lnSpc>
                <a:spcPct val="100000"/>
              </a:lnSpc>
              <a:buClr>
                <a:srgbClr val="0093D6"/>
              </a:buClr>
              <a:buFont typeface="Arial"/>
              <a:buChar char="•"/>
            </a:pPr>
            <a:r>
              <a:rPr sz="1500" b="0" i="0">
                <a:solidFill>
                  <a:srgbClr val="18232F"/>
                </a:solidFill>
                <a:latin typeface="Segoe UI"/>
              </a:rPr>
              <a:t>Koi bhi rule toda: 0</a:t>
            </a:r>
          </a:p>
        </p:txBody>
      </p:sp>
      <p:sp>
        <p:nvSpPr>
          <p:cNvPr id="18" name="Rounded Rectangle 17"/>
          <p:cNvSpPr/>
          <p:nvPr/>
        </p:nvSpPr>
        <p:spPr>
          <a:xfrm>
            <a:off x="9056903" y="2204085"/>
            <a:ext cx="2494712" cy="26235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204085"/>
            <a:ext cx="2494712"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435733"/>
            <a:ext cx="2494712"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204085"/>
            <a:ext cx="2494712" cy="2623566"/>
          </a:xfrm>
          <a:prstGeom prst="roundRect">
            <a:avLst>
              <a:gd name="adj" fmla="val 3665"/>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204085"/>
            <a:ext cx="2202104"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Aaj setup nahi</a:t>
            </a:r>
          </a:p>
        </p:txBody>
      </p:sp>
      <p:cxnSp>
        <p:nvCxnSpPr>
          <p:cNvPr id="23" name="Connector 22"/>
          <p:cNvCxnSpPr/>
          <p:nvPr/>
        </p:nvCxnSpPr>
        <p:spPr>
          <a:xfrm>
            <a:off x="9056903" y="2667381"/>
            <a:ext cx="2494712"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813685"/>
            <a:ext cx="2202104" cy="197739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Bahar rahe: 1</a:t>
            </a:r>
          </a:p>
          <a:p>
            <a:pPr algn="l" marL="201168" indent="-201168">
              <a:lnSpc>
                <a:spcPct val="100000"/>
              </a:lnSpc>
              <a:buClr>
                <a:srgbClr val="F5A524"/>
              </a:buClr>
              <a:buFont typeface="Arial"/>
              <a:buChar char="•"/>
            </a:pPr>
            <a:r>
              <a:rPr sz="1500" b="0" i="0">
                <a:solidFill>
                  <a:srgbClr val="18232F"/>
                </a:solidFill>
                <a:latin typeface="Segoe UI"/>
              </a:rPr>
              <a:t>Phir bhi trade kiya: 0</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Score = points ÷ decisions. Profit ismein kabhi nahi aata.</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AI journal padhe, faisla aap karein</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Ek-do hafte baad aapki rows mein patterns chhupe hote hain, aur table mein pattern dhoondhne mein AI achha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Kisi bhi AI chat mein sirf das columns copy kijiye.</a:t>
            </a:r>
          </a:p>
          <a:p>
            <a:pPr algn="l" marL="274320" indent="-274320">
              <a:lnSpc>
                <a:spcPct val="100000"/>
              </a:lnSpc>
              <a:spcAft>
                <a:spcPts val="800"/>
              </a:spcAft>
              <a:buClr>
                <a:srgbClr val="134A9A"/>
              </a:buClr>
              <a:buFont typeface="Arial"/>
              <a:buChar char="•"/>
            </a:pPr>
            <a:r>
              <a:rPr sz="1600" b="0" i="0">
                <a:solidFill>
                  <a:srgbClr val="18232F"/>
                </a:solidFill>
                <a:latin typeface="Segoe UI"/>
              </a:rPr>
              <a:t>Apna naam, PAN, client ID, account number ya contract note kabhi paste mat kijiye.</a:t>
            </a:r>
          </a:p>
          <a:p>
            <a:pPr algn="l" marL="274320" indent="-274320">
              <a:lnSpc>
                <a:spcPct val="100000"/>
              </a:lnSpc>
              <a:buClr>
                <a:srgbClr val="134A9A"/>
              </a:buClr>
              <a:buFont typeface="Arial"/>
              <a:buChar char="•"/>
            </a:pPr>
            <a:r>
              <a:rPr sz="1600" b="0" i="0">
                <a:solidFill>
                  <a:srgbClr val="18232F"/>
                </a:solidFill>
                <a:latin typeface="Segoe UI"/>
              </a:rPr>
              <a:t>Usse poochhiye ki kaunse rules sabse zyada toote, kaunse emotion shabd toote rules ke saath dikhte hain, aur kin dinon.</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Do hafte baad ek classmate apni 14 rows paste karta hai. AI ka summary: 14 mein se 7 decisions mein rule toota, yaani adherence score 50%. Un saat mein se teen par tag tha FOMO aur do par 'bore'; 'calm' wala ek bhi nahi. … Woh ek hi badlaav karta hai, aur woh aadat ka hai, strategy ka nahi: jab FOMO ho, khaas kar jeet ke baad, idea sheet mein likh do aur shaam ke scan ka intezaar karo.</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classmate ke toote rules, emotion ke hisaab se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Do hafte ke ek-shabd wale tags. Rules sabse zyada FOMO wale dinon mein toote, aur calm rehne par kabhi nahi.</a:t>
            </a:r>
          </a:p>
        </p:txBody>
      </p:sp>
      <p:sp>
        <p:nvSpPr>
          <p:cNvPr id="11" name="TextBox 10"/>
          <p:cNvSpPr txBox="1"/>
          <p:nvPr/>
        </p:nvSpPr>
        <p:spPr>
          <a:xfrm>
            <a:off x="6397600" y="1796796"/>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FOMO</a:t>
            </a:r>
          </a:p>
        </p:txBody>
      </p:sp>
      <p:sp>
        <p:nvSpPr>
          <p:cNvPr id="12" name="Rounded Rectangle 11"/>
          <p:cNvSpPr/>
          <p:nvPr/>
        </p:nvSpPr>
        <p:spPr>
          <a:xfrm>
            <a:off x="7604608" y="196916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69160"/>
            <a:ext cx="3639897"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35944" y="1796796"/>
            <a:ext cx="243103" cy="655625"/>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a:t>
            </a:r>
          </a:p>
        </p:txBody>
      </p:sp>
      <p:sp>
        <p:nvSpPr>
          <p:cNvPr id="15" name="TextBox 14"/>
          <p:cNvSpPr txBox="1"/>
          <p:nvPr/>
        </p:nvSpPr>
        <p:spPr>
          <a:xfrm>
            <a:off x="6397600" y="2452421"/>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Bore</a:t>
            </a:r>
          </a:p>
        </p:txBody>
      </p:sp>
      <p:sp>
        <p:nvSpPr>
          <p:cNvPr id="16" name="Rounded Rectangle 15"/>
          <p:cNvSpPr/>
          <p:nvPr/>
        </p:nvSpPr>
        <p:spPr>
          <a:xfrm>
            <a:off x="7604608" y="2624785"/>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624785"/>
            <a:ext cx="2426598"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335944" y="2452421"/>
            <a:ext cx="243103" cy="655625"/>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2</a:t>
            </a:r>
          </a:p>
        </p:txBody>
      </p:sp>
      <p:sp>
        <p:nvSpPr>
          <p:cNvPr id="19" name="TextBox 18"/>
          <p:cNvSpPr txBox="1"/>
          <p:nvPr/>
        </p:nvSpPr>
        <p:spPr>
          <a:xfrm>
            <a:off x="6397600" y="3108046"/>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Gussa</a:t>
            </a:r>
          </a:p>
        </p:txBody>
      </p:sp>
      <p:sp>
        <p:nvSpPr>
          <p:cNvPr id="20" name="Rounded Rectangle 19"/>
          <p:cNvSpPr/>
          <p:nvPr/>
        </p:nvSpPr>
        <p:spPr>
          <a:xfrm>
            <a:off x="7604608" y="328041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280410"/>
            <a:ext cx="1213299"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335944" y="3108046"/>
            <a:ext cx="243103" cy="655625"/>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a:t>
            </a:r>
          </a:p>
        </p:txBody>
      </p:sp>
      <p:sp>
        <p:nvSpPr>
          <p:cNvPr id="23" name="TextBox 22"/>
          <p:cNvSpPr txBox="1"/>
          <p:nvPr/>
        </p:nvSpPr>
        <p:spPr>
          <a:xfrm>
            <a:off x="6397600" y="3763670"/>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Darr</a:t>
            </a:r>
          </a:p>
        </p:txBody>
      </p:sp>
      <p:sp>
        <p:nvSpPr>
          <p:cNvPr id="24" name="Rounded Rectangle 23"/>
          <p:cNvSpPr/>
          <p:nvPr/>
        </p:nvSpPr>
        <p:spPr>
          <a:xfrm>
            <a:off x="7604608" y="3936035"/>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936035"/>
            <a:ext cx="121329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335944" y="3763670"/>
            <a:ext cx="243103" cy="655625"/>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a:t>
            </a:r>
          </a:p>
        </p:txBody>
      </p:sp>
      <p:sp>
        <p:nvSpPr>
          <p:cNvPr id="27" name="TextBox 26"/>
          <p:cNvSpPr txBox="1"/>
          <p:nvPr/>
        </p:nvSpPr>
        <p:spPr>
          <a:xfrm>
            <a:off x="6397600" y="4419295"/>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Calm</a:t>
            </a:r>
          </a:p>
        </p:txBody>
      </p:sp>
      <p:sp>
        <p:nvSpPr>
          <p:cNvPr id="28" name="Rounded Rectangle 27"/>
          <p:cNvSpPr/>
          <p:nvPr/>
        </p:nvSpPr>
        <p:spPr>
          <a:xfrm>
            <a:off x="7604608" y="459166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591660"/>
            <a:ext cx="45720"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335944" y="4419295"/>
            <a:ext cx="243103" cy="655625"/>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0</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3" name="TextBox 32"/>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AI pattern dhoondhta hai. Uska matlab aap tay karte hain.</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5806"/>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Paper trading</a:t>
            </a:r>
          </a:p>
        </p:txBody>
      </p:sp>
      <p:sp>
        <p:nvSpPr>
          <p:cNvPr id="6" name="TextBox 5"/>
          <p:cNvSpPr txBox="1"/>
          <p:nvPr/>
        </p:nvSpPr>
        <p:spPr>
          <a:xfrm>
            <a:off x="658368" y="1809750"/>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Asli prices par virtual paise se apni strategy chalana. Koi order exchange tak nahi jaata.</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Fill</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price jis par order sach mein execute hota hai. Paper par entry agle din ka open hai, plan ki limits ke andar; profit exit wali sell tabhi fill hoti hai jab price uske upar trade kare.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Stop ke paar gap</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Jab din aapke stop se neeche khule. Exit wahi opening price hota hai, isliye loss 1R se zyada ho sakta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71394"/>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0.1R allowance</a:t>
            </a:r>
          </a:p>
        </p:txBody>
      </p:sp>
      <p:sp>
        <p:nvSpPr>
          <p:cNvPr id="15" name="TextBox 14"/>
          <p:cNvSpPr txBox="1"/>
          <p:nvPr/>
        </p:nvSpPr>
        <p:spPr>
          <a:xfrm>
            <a:off x="6379312"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Har band paper trade se costs aur slippage ke liye seedha 0.1R kaatna. Yeh practice number hai, asli rate nahi.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46982"/>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Trade journal</a:t>
            </a:r>
          </a:p>
        </p:txBody>
      </p:sp>
      <p:sp>
        <p:nvSpPr>
          <p:cNvPr id="18" name="TextBox 17"/>
          <p:cNvSpPr txBox="1"/>
          <p:nvPr/>
        </p:nvSpPr>
        <p:spPr>
          <a:xfrm>
            <a:off x="658368"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Das columns ka log, har decision ki ek row, bina setup wale din bhi.</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46982"/>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Adherence score</a:t>
            </a:r>
          </a:p>
        </p:txBody>
      </p:sp>
      <p:sp>
        <p:nvSpPr>
          <p:cNvPr id="21" name="TextBox 20"/>
          <p:cNvSpPr txBox="1"/>
          <p:nvPr/>
        </p:nvSpPr>
        <p:spPr>
          <a:xfrm>
            <a:off x="6379312"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Points ÷ decisions: rule card follow karne wale har decision ko 1, rule tootne par 0. Profit kabhi nahi gina jaata.</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08788"/>
          </a:xfrm>
          <a:prstGeom prst="rect">
            <a:avLst/>
          </a:prstGeom>
          <a:noFill/>
        </p:spPr>
        <p:txBody>
          <a:bodyPr wrap="square" lIns="0" rIns="0" tIns="0" bIns="0" anchor="t">
            <a:noAutofit/>
          </a:bodyPr>
          <a:lstStyle/>
          <a:p>
            <a:pPr algn="l">
              <a:lnSpc>
                <a:spcPct val="100000"/>
              </a:lnSpc>
            </a:pPr>
            <a:r>
              <a:rPr sz="1250" b="1" i="0">
                <a:solidFill>
                  <a:srgbClr val="134A9A"/>
                </a:solidFill>
                <a:latin typeface="Segoe UI"/>
              </a:rPr>
              <a:t>Portfolio row</a:t>
            </a:r>
          </a:p>
        </p:txBody>
      </p:sp>
      <p:sp>
        <p:nvSpPr>
          <p:cNvPr id="24" name="TextBox 23"/>
          <p:cNvSpPr txBox="1"/>
          <p:nvPr/>
        </p:nvSpPr>
        <p:spPr>
          <a:xfrm>
            <a:off x="658368"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App ke Portfolio page par ek poori tarah soche gaye stock (paper trade ya watchlist stock) ka saat hisson wala record: do Full Why, sabse bada risk aur aapka jawab, price-stop, Why-stop aur review point. C ya behtar grade wali paanch rows certificate ka ek check hain.</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Why-stop</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fact jo aapke reason ko galat sabit kar de, entry se pehle likha hua: 'idea galat sabit hoga agar...'. Price-stop price par nazar rakhta hai; Why-stop aapke reason par.</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258568"/>
            <a:ext cx="502920" cy="154533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4533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58568"/>
            <a:ext cx="502920" cy="154533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42875"/>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8821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Imaandaar paper trading</a:t>
            </a:r>
          </a:p>
        </p:txBody>
      </p:sp>
      <p:sp>
        <p:nvSpPr>
          <p:cNvPr id="11" name="Rounded Rectangle 10"/>
          <p:cNvSpPr/>
          <p:nvPr/>
        </p:nvSpPr>
        <p:spPr>
          <a:xfrm>
            <a:off x="640080" y="1568196"/>
            <a:ext cx="3718408" cy="1380744"/>
          </a:xfrm>
          <a:prstGeom prst="roundRect">
            <a:avLst>
              <a:gd name="adj" fmla="val 794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677924"/>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Paper, par asli</a:t>
            </a:r>
          </a:p>
        </p:txBody>
      </p:sp>
      <p:sp>
        <p:nvSpPr>
          <p:cNvPr id="13" name="TextBox 12"/>
          <p:cNvSpPr txBox="1"/>
          <p:nvPr/>
        </p:nvSpPr>
        <p:spPr>
          <a:xfrm>
            <a:off x="786384" y="2002536"/>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Asli prices, virtual paisa</a:t>
            </a:r>
          </a:p>
          <a:p>
            <a:pPr algn="l" marL="182880" indent="-182880">
              <a:lnSpc>
                <a:spcPct val="100000"/>
              </a:lnSpc>
              <a:spcAft>
                <a:spcPts val="450"/>
              </a:spcAft>
              <a:buClr>
                <a:srgbClr val="0093D6"/>
              </a:buClr>
              <a:buFont typeface="Arial"/>
              <a:buChar char="•"/>
            </a:pPr>
            <a:r>
              <a:rPr sz="1500" b="0" i="0">
                <a:solidFill>
                  <a:srgbClr val="18232F"/>
                </a:solidFill>
                <a:latin typeface="Segoe UI"/>
              </a:rPr>
              <a:t>EMA Pullback, 1R = Rs 10,000</a:t>
            </a:r>
          </a:p>
          <a:p>
            <a:pPr algn="l" marL="182880" indent="-182880">
              <a:lnSpc>
                <a:spcPct val="100000"/>
              </a:lnSpc>
              <a:buClr>
                <a:srgbClr val="0093D6"/>
              </a:buClr>
              <a:buFont typeface="Arial"/>
              <a:buChar char="•"/>
            </a:pPr>
            <a:r>
              <a:rPr sz="1500" b="0" i="0">
                <a:solidFill>
                  <a:srgbClr val="18232F"/>
                </a:solidFill>
                <a:latin typeface="Segoe UI"/>
              </a:rPr>
              <a:t>Swing office walon ke liye sahi</a:t>
            </a:r>
          </a:p>
        </p:txBody>
      </p:sp>
      <p:sp>
        <p:nvSpPr>
          <p:cNvPr id="14" name="Rounded Rectangle 13"/>
          <p:cNvSpPr/>
          <p:nvPr/>
        </p:nvSpPr>
        <p:spPr>
          <a:xfrm>
            <a:off x="640080" y="3113532"/>
            <a:ext cx="3718408" cy="1380744"/>
          </a:xfrm>
          <a:prstGeom prst="roundRect">
            <a:avLst>
              <a:gd name="adj" fmla="val 794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23260"/>
            <a:ext cx="3425800"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Imaandaar fills</a:t>
            </a:r>
          </a:p>
        </p:txBody>
      </p:sp>
      <p:sp>
        <p:nvSpPr>
          <p:cNvPr id="16" name="TextBox 15"/>
          <p:cNvSpPr txBox="1"/>
          <p:nvPr/>
        </p:nvSpPr>
        <p:spPr>
          <a:xfrm>
            <a:off x="786384" y="3547872"/>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5A524"/>
              </a:buClr>
              <a:buFont typeface="Arial"/>
              <a:buChar char="•"/>
            </a:pPr>
            <a:r>
              <a:rPr sz="1500" b="0" i="0">
                <a:solidFill>
                  <a:srgbClr val="18232F"/>
                </a:solidFill>
                <a:latin typeface="Segoe UI"/>
              </a:rPr>
              <a:t>Entry = agla open</a:t>
            </a:r>
          </a:p>
          <a:p>
            <a:pPr algn="l" marL="182880" indent="-182880">
              <a:lnSpc>
                <a:spcPct val="100000"/>
              </a:lnSpc>
              <a:spcAft>
                <a:spcPts val="450"/>
              </a:spcAft>
              <a:buClr>
                <a:srgbClr val="F5A524"/>
              </a:buClr>
              <a:buFont typeface="Arial"/>
              <a:buChar char="•"/>
            </a:pPr>
            <a:r>
              <a:rPr sz="1500" b="0" i="0">
                <a:solidFill>
                  <a:srgbClr val="18232F"/>
                </a:solidFill>
                <a:latin typeface="Segoe UI"/>
              </a:rPr>
              <a:t>Profit exit: upar trade zaroori</a:t>
            </a:r>
          </a:p>
          <a:p>
            <a:pPr algn="l" marL="182880" indent="-182880">
              <a:lnSpc>
                <a:spcPct val="100000"/>
              </a:lnSpc>
              <a:buClr>
                <a:srgbClr val="F5A524"/>
              </a:buClr>
              <a:buFont typeface="Arial"/>
              <a:buChar char="•"/>
            </a:pPr>
            <a:r>
              <a:rPr sz="1500" b="0" i="0">
                <a:solidFill>
                  <a:srgbClr val="18232F"/>
                </a:solidFill>
                <a:latin typeface="Segoe UI"/>
              </a:rPr>
              <a:t>Costs ke liye 0.1R kam</a:t>
            </a:r>
          </a:p>
        </p:txBody>
      </p:sp>
      <p:sp>
        <p:nvSpPr>
          <p:cNvPr id="17" name="Rounded Rectangle 16"/>
          <p:cNvSpPr/>
          <p:nvPr/>
        </p:nvSpPr>
        <p:spPr>
          <a:xfrm>
            <a:off x="640080" y="4658868"/>
            <a:ext cx="3718408" cy="1380744"/>
          </a:xfrm>
          <a:prstGeom prst="roundRect">
            <a:avLst>
              <a:gd name="adj" fmla="val 7947"/>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68596"/>
            <a:ext cx="3425800" cy="269748"/>
          </a:xfrm>
          <a:prstGeom prst="rect">
            <a:avLst/>
          </a:prstGeom>
          <a:noFill/>
        </p:spPr>
        <p:txBody>
          <a:bodyPr wrap="square" lIns="0" rIns="0" tIns="0" bIns="0" anchor="t">
            <a:noAutofit/>
          </a:bodyPr>
          <a:lstStyle/>
          <a:p>
            <a:pPr algn="l">
              <a:lnSpc>
                <a:spcPct val="100000"/>
              </a:lnSpc>
            </a:pPr>
            <a:r>
              <a:rPr sz="1650" b="1" i="0">
                <a:solidFill>
                  <a:srgbClr val="991B1B"/>
                </a:solidFill>
                <a:latin typeface="Segoe UI"/>
              </a:rPr>
              <a:t>Gaps</a:t>
            </a:r>
          </a:p>
        </p:txBody>
      </p:sp>
      <p:sp>
        <p:nvSpPr>
          <p:cNvPr id="19" name="TextBox 18"/>
          <p:cNvSpPr txBox="1"/>
          <p:nvPr/>
        </p:nvSpPr>
        <p:spPr>
          <a:xfrm>
            <a:off x="786384" y="5093208"/>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0554E"/>
              </a:buClr>
              <a:buFont typeface="Arial"/>
              <a:buChar char="•"/>
            </a:pPr>
            <a:r>
              <a:rPr sz="1500" b="0" i="0">
                <a:solidFill>
                  <a:srgbClr val="18232F"/>
                </a:solidFill>
                <a:latin typeface="Segoe UI"/>
              </a:rPr>
              <a:t>Stop ek plan hai</a:t>
            </a:r>
          </a:p>
          <a:p>
            <a:pPr algn="l" marL="182880" indent="-182880">
              <a:lnSpc>
                <a:spcPct val="100000"/>
              </a:lnSpc>
              <a:spcAft>
                <a:spcPts val="450"/>
              </a:spcAft>
              <a:buClr>
                <a:srgbClr val="F0554E"/>
              </a:buClr>
              <a:buFont typeface="Arial"/>
              <a:buChar char="•"/>
            </a:pPr>
            <a:r>
              <a:rPr sz="1500" b="0" i="0">
                <a:solidFill>
                  <a:srgbClr val="18232F"/>
                </a:solidFill>
                <a:latin typeface="Segoe UI"/>
              </a:rPr>
              <a:t>Stop chhua: exit stop par</a:t>
            </a:r>
          </a:p>
          <a:p>
            <a:pPr algn="l" marL="182880" indent="-182880">
              <a:lnSpc>
                <a:spcPct val="100000"/>
              </a:lnSpc>
              <a:buClr>
                <a:srgbClr val="F0554E"/>
              </a:buClr>
              <a:buFont typeface="Arial"/>
              <a:buChar char="•"/>
            </a:pPr>
            <a:r>
              <a:rPr sz="1500" b="0" i="0">
                <a:solidFill>
                  <a:srgbClr val="18232F"/>
                </a:solidFill>
                <a:latin typeface="Segoe UI"/>
              </a:rPr>
              <a:t>Stop ke paar gap: exit open par</a:t>
            </a:r>
          </a:p>
        </p:txBody>
      </p:sp>
      <p:sp>
        <p:nvSpPr>
          <p:cNvPr id="20" name="Rounded Rectangle 19"/>
          <p:cNvSpPr/>
          <p:nvPr/>
        </p:nvSpPr>
        <p:spPr>
          <a:xfrm>
            <a:off x="7833208" y="1425321"/>
            <a:ext cx="3718408" cy="1666494"/>
          </a:xfrm>
          <a:prstGeom prst="roundRect">
            <a:avLst>
              <a:gd name="adj" fmla="val 6584"/>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535049"/>
            <a:ext cx="3425800" cy="269748"/>
          </a:xfrm>
          <a:prstGeom prst="rect">
            <a:avLst/>
          </a:prstGeom>
          <a:noFill/>
        </p:spPr>
        <p:txBody>
          <a:bodyPr wrap="square" lIns="0" rIns="0" tIns="0" bIns="0" anchor="t">
            <a:noAutofit/>
          </a:bodyPr>
          <a:lstStyle/>
          <a:p>
            <a:pPr algn="l">
              <a:lnSpc>
                <a:spcPct val="100000"/>
              </a:lnSpc>
            </a:pPr>
            <a:r>
              <a:rPr sz="1650" b="1" i="0">
                <a:solidFill>
                  <a:srgbClr val="166534"/>
                </a:solidFill>
                <a:latin typeface="Segoe UI"/>
              </a:rPr>
              <a:t>Journal</a:t>
            </a:r>
          </a:p>
        </p:txBody>
      </p:sp>
      <p:sp>
        <p:nvSpPr>
          <p:cNvPr id="22" name="TextBox 21"/>
          <p:cNvSpPr txBox="1"/>
          <p:nvPr/>
        </p:nvSpPr>
        <p:spPr>
          <a:xfrm>
            <a:off x="7979512" y="1859661"/>
            <a:ext cx="3425800" cy="1232154"/>
          </a:xfrm>
          <a:prstGeom prst="rect">
            <a:avLst/>
          </a:prstGeom>
          <a:noFill/>
        </p:spPr>
        <p:txBody>
          <a:bodyPr wrap="square" lIns="0" rIns="0" tIns="0" bIns="0" anchor="t">
            <a:noAutofit/>
          </a:bodyPr>
          <a:lstStyle/>
          <a:p>
            <a:pPr algn="l" marL="182880" indent="-182880">
              <a:lnSpc>
                <a:spcPct val="100000"/>
              </a:lnSpc>
              <a:spcAft>
                <a:spcPts val="450"/>
              </a:spcAft>
              <a:buClr>
                <a:srgbClr val="16A34A"/>
              </a:buClr>
              <a:buFont typeface="Arial"/>
              <a:buChar char="•"/>
            </a:pPr>
            <a:r>
              <a:rPr sz="1500" b="0" i="0">
                <a:solidFill>
                  <a:srgbClr val="18232F"/>
                </a:solidFill>
                <a:latin typeface="Segoe UI"/>
              </a:rPr>
              <a:t>Das columns, har decision ki row</a:t>
            </a:r>
          </a:p>
          <a:p>
            <a:pPr algn="l" marL="182880" indent="-182880">
              <a:lnSpc>
                <a:spcPct val="100000"/>
              </a:lnSpc>
              <a:spcAft>
                <a:spcPts val="450"/>
              </a:spcAft>
              <a:buClr>
                <a:srgbClr val="16A34A"/>
              </a:buClr>
              <a:buFont typeface="Arial"/>
              <a:buChar char="•"/>
            </a:pPr>
            <a:r>
              <a:rPr sz="1500" b="0" i="0">
                <a:solidFill>
                  <a:srgbClr val="18232F"/>
                </a:solidFill>
                <a:latin typeface="Segoe UI"/>
              </a:rPr>
              <a:t>'No setup' bhi ek row hai</a:t>
            </a:r>
          </a:p>
          <a:p>
            <a:pPr algn="l" marL="182880" indent="-182880">
              <a:lnSpc>
                <a:spcPct val="100000"/>
              </a:lnSpc>
              <a:spcAft>
                <a:spcPts val="450"/>
              </a:spcAft>
              <a:buClr>
                <a:srgbClr val="16A34A"/>
              </a:buClr>
              <a:buFont typeface="Arial"/>
              <a:buChar char="•"/>
            </a:pPr>
            <a:r>
              <a:rPr sz="1500" b="0" i="0">
                <a:solidFill>
                  <a:srgbClr val="18232F"/>
                </a:solidFill>
                <a:latin typeface="Segoe UI"/>
              </a:rPr>
              <a:t>Ek emotion shabd</a:t>
            </a:r>
          </a:p>
          <a:p>
            <a:pPr algn="l" marL="182880" indent="-182880">
              <a:lnSpc>
                <a:spcPct val="100000"/>
              </a:lnSpc>
              <a:buClr>
                <a:srgbClr val="16A34A"/>
              </a:buClr>
              <a:buFont typeface="Arial"/>
              <a:buChar char="•"/>
            </a:pPr>
            <a:r>
              <a:rPr sz="1500" b="0" i="0">
                <a:solidFill>
                  <a:srgbClr val="18232F"/>
                </a:solidFill>
                <a:latin typeface="Segoe UI"/>
              </a:rPr>
              <a:t>Portfolio row: 7 hisse, grade milta hai</a:t>
            </a:r>
          </a:p>
        </p:txBody>
      </p:sp>
      <p:sp>
        <p:nvSpPr>
          <p:cNvPr id="23" name="Rounded Rectangle 22"/>
          <p:cNvSpPr/>
          <p:nvPr/>
        </p:nvSpPr>
        <p:spPr>
          <a:xfrm>
            <a:off x="7833208" y="3256407"/>
            <a:ext cx="3718408" cy="1380744"/>
          </a:xfrm>
          <a:prstGeom prst="roundRect">
            <a:avLst>
              <a:gd name="adj" fmla="val 7947"/>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366135"/>
            <a:ext cx="3425800" cy="269748"/>
          </a:xfrm>
          <a:prstGeom prst="rect">
            <a:avLst/>
          </a:prstGeom>
          <a:noFill/>
        </p:spPr>
        <p:txBody>
          <a:bodyPr wrap="square" lIns="0" rIns="0" tIns="0" bIns="0" anchor="t">
            <a:noAutofit/>
          </a:bodyPr>
          <a:lstStyle/>
          <a:p>
            <a:pPr algn="l">
              <a:lnSpc>
                <a:spcPct val="100000"/>
              </a:lnSpc>
            </a:pPr>
            <a:r>
              <a:rPr sz="1650" b="1" i="0">
                <a:solidFill>
                  <a:srgbClr val="095A90"/>
                </a:solidFill>
                <a:latin typeface="Segoe UI"/>
              </a:rPr>
              <a:t>Adherence</a:t>
            </a:r>
          </a:p>
        </p:txBody>
      </p:sp>
      <p:sp>
        <p:nvSpPr>
          <p:cNvPr id="25" name="TextBox 24"/>
          <p:cNvSpPr txBox="1"/>
          <p:nvPr/>
        </p:nvSpPr>
        <p:spPr>
          <a:xfrm>
            <a:off x="7979512" y="3690747"/>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0093D6"/>
              </a:buClr>
              <a:buFont typeface="Arial"/>
              <a:buChar char="•"/>
            </a:pPr>
            <a:r>
              <a:rPr sz="1500" b="0" i="0">
                <a:solidFill>
                  <a:srgbClr val="18232F"/>
                </a:solidFill>
                <a:latin typeface="Segoe UI"/>
              </a:rPr>
              <a:t>Points ÷ decisions</a:t>
            </a:r>
          </a:p>
          <a:p>
            <a:pPr algn="l" marL="182880" indent="-182880">
              <a:lnSpc>
                <a:spcPct val="100000"/>
              </a:lnSpc>
              <a:spcAft>
                <a:spcPts val="450"/>
              </a:spcAft>
              <a:buClr>
                <a:srgbClr val="0093D6"/>
              </a:buClr>
              <a:buFont typeface="Arial"/>
              <a:buChar char="•"/>
            </a:pPr>
            <a:r>
              <a:rPr sz="1500" b="0" i="0">
                <a:solidFill>
                  <a:srgbClr val="18232F"/>
                </a:solidFill>
                <a:latin typeface="Segoe UI"/>
              </a:rPr>
              <a:t>Rule se skip = 1</a:t>
            </a:r>
          </a:p>
          <a:p>
            <a:pPr algn="l" marL="182880" indent="-182880">
              <a:lnSpc>
                <a:spcPct val="100000"/>
              </a:lnSpc>
              <a:buClr>
                <a:srgbClr val="0093D6"/>
              </a:buClr>
              <a:buFont typeface="Arial"/>
              <a:buChar char="•"/>
            </a:pPr>
            <a:r>
              <a:rPr sz="1500" b="0" i="0">
                <a:solidFill>
                  <a:srgbClr val="18232F"/>
                </a:solidFill>
                <a:latin typeface="Segoe UI"/>
              </a:rPr>
              <a:t>Profit kabhi nahi ginta</a:t>
            </a:r>
          </a:p>
        </p:txBody>
      </p:sp>
      <p:sp>
        <p:nvSpPr>
          <p:cNvPr id="26" name="Rounded Rectangle 25"/>
          <p:cNvSpPr/>
          <p:nvPr/>
        </p:nvSpPr>
        <p:spPr>
          <a:xfrm>
            <a:off x="7833208" y="4801743"/>
            <a:ext cx="3718408" cy="1380744"/>
          </a:xfrm>
          <a:prstGeom prst="roundRect">
            <a:avLst>
              <a:gd name="adj" fmla="val 7947"/>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11471"/>
            <a:ext cx="3425800" cy="269748"/>
          </a:xfrm>
          <a:prstGeom prst="rect">
            <a:avLst/>
          </a:prstGeom>
          <a:noFill/>
        </p:spPr>
        <p:txBody>
          <a:bodyPr wrap="square" lIns="0" rIns="0" tIns="0" bIns="0" anchor="t">
            <a:noAutofit/>
          </a:bodyPr>
          <a:lstStyle/>
          <a:p>
            <a:pPr algn="l">
              <a:lnSpc>
                <a:spcPct val="100000"/>
              </a:lnSpc>
            </a:pPr>
            <a:r>
              <a:rPr sz="1650" b="1" i="0">
                <a:solidFill>
                  <a:srgbClr val="92400E"/>
                </a:solidFill>
                <a:latin typeface="Segoe UI"/>
              </a:rPr>
              <a:t>AI review</a:t>
            </a:r>
          </a:p>
        </p:txBody>
      </p:sp>
      <p:sp>
        <p:nvSpPr>
          <p:cNvPr id="28" name="TextBox 27"/>
          <p:cNvSpPr txBox="1"/>
          <p:nvPr/>
        </p:nvSpPr>
        <p:spPr>
          <a:xfrm>
            <a:off x="7979512" y="5236083"/>
            <a:ext cx="3425800" cy="946404"/>
          </a:xfrm>
          <a:prstGeom prst="rect">
            <a:avLst/>
          </a:prstGeom>
          <a:noFill/>
        </p:spPr>
        <p:txBody>
          <a:bodyPr wrap="square" lIns="0" rIns="0" tIns="0" bIns="0" anchor="t">
            <a:noAutofit/>
          </a:bodyPr>
          <a:lstStyle/>
          <a:p>
            <a:pPr algn="l" marL="182880" indent="-182880">
              <a:lnSpc>
                <a:spcPct val="100000"/>
              </a:lnSpc>
              <a:spcAft>
                <a:spcPts val="450"/>
              </a:spcAft>
              <a:buClr>
                <a:srgbClr val="F5A524"/>
              </a:buClr>
              <a:buFont typeface="Arial"/>
              <a:buChar char="•"/>
            </a:pPr>
            <a:r>
              <a:rPr sz="1500" b="0" i="0">
                <a:solidFill>
                  <a:srgbClr val="18232F"/>
                </a:solidFill>
                <a:latin typeface="Segoe UI"/>
              </a:rPr>
              <a:t>Sirf rows, personal data nahi</a:t>
            </a:r>
          </a:p>
          <a:p>
            <a:pPr algn="l" marL="182880" indent="-182880">
              <a:lnSpc>
                <a:spcPct val="100000"/>
              </a:lnSpc>
              <a:spcAft>
                <a:spcPts val="450"/>
              </a:spcAft>
              <a:buClr>
                <a:srgbClr val="F5A524"/>
              </a:buClr>
              <a:buFont typeface="Arial"/>
              <a:buChar char="•"/>
            </a:pPr>
            <a:r>
              <a:rPr sz="1500" b="0" i="0">
                <a:solidFill>
                  <a:srgbClr val="18232F"/>
                </a:solidFill>
                <a:latin typeface="Segoe UI"/>
              </a:rPr>
              <a:t>Fact / Guess / Kachra</a:t>
            </a:r>
          </a:p>
          <a:p>
            <a:pPr algn="l" marL="182880" indent="-182880">
              <a:lnSpc>
                <a:spcPct val="100000"/>
              </a:lnSpc>
              <a:buClr>
                <a:srgbClr val="F5A524"/>
              </a:buClr>
              <a:buFont typeface="Arial"/>
              <a:buChar char="•"/>
            </a:pPr>
            <a:r>
              <a:rPr sz="1500" b="0" i="0">
                <a:solidFill>
                  <a:srgbClr val="18232F"/>
                </a:solidFill>
                <a:latin typeface="Segoe UI"/>
              </a:rPr>
              <a:t>30 trades se pehle rule change nahi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Apna imaandaar paper journal banaiye, pehla decision log kijiye aur pehli saat hisson wali Portfolio row shuru kijiye: aaj lagbhag 35 minute, phir har shaam scan aur row ke liye lagbhag 20 minute.</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Google Sheets mein neeche diye template ke das headers wali sheet banaiye: Date, Stock, Setup, Entry, Stop, Qty, Exit, R result, Rule broken?, Emotion. Sheets nahi? Notebook mein yahi das columns bana lijiye.</a:t>
            </a:r>
          </a:p>
        </p:txBody>
      </p:sp>
      <p:sp>
        <p:nvSpPr>
          <p:cNvPr id="10" name="Rounded Rectangle 9"/>
          <p:cNvSpPr/>
          <p:nvPr/>
        </p:nvSpPr>
        <p:spPr>
          <a:xfrm>
            <a:off x="457200" y="28163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3:30 ke close ke baad Day 11 wala screener chalaiye, results ko watchlist mein daaliye, aur TradingView ke free daily chart par dekhiye ki pichhle 5 trading dinon mein jude kisi watchlist stock ne signal day banaya ya nahi: close pichhle din ke high ke upar.</a:t>
            </a:r>
          </a:p>
        </p:txBody>
      </p:sp>
      <p:sp>
        <p:nvSpPr>
          <p:cNvPr id="14" name="Rounded Rectangle 13"/>
          <p:cNvSpPr/>
          <p:nvPr/>
        </p:nvSpPr>
        <p:spPr>
          <a:xfrm>
            <a:off x="457200" y="384048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Aaj shaam hi kal ke liye ek row likhiye: signal ho toh plan (stock; maximum entry = signal close + 0.5 x ATR; signal-day ke low se neeche khule toh skip; stop ki doori 1.5 x ATR; quantity = Rs 10,000 ÷ stop ki doori aur Rs 2,50,000 ÷ maximum entry mein se jo chhoti ho, dono round down karke; 2.5R par profit exit; day 15 par time exit), warna 'No setup'.</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Kal shaam daily candle dekhiye aur row poori kijiye. Agar woh dono limits ke andar khula, toh entry wahi open hai, stop = open minus 1.5 x ATR aur profit exit = open plus 2.5 x stop ki doori; nahi toh 'Skipped: gap' likhiye, iska bhi point milta hai. Phir 'Rule broken?' aur ek emotion shabd bhariye.</a:t>
            </a:r>
          </a:p>
        </p:txBody>
      </p:sp>
      <p:sp>
        <p:nvSpPr>
          <p:cNvPr id="9" name="Rounded Rectangle 8"/>
          <p:cNvSpPr/>
          <p:nvPr/>
        </p:nvSpPr>
        <p:spPr>
          <a:xfrm>
            <a:off x="457200" y="23591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Jis din aapka pehla paper trade enter ho, app ka Portfolio page kholiye aur uski row virtual paise mein jodiye (symbol, entry date, quantity, entry price), phir woh hisse jo aaj bhar sakte hain: price-stop, Full Why 2, sabse bada risk, us risk ka jawab, Why-stop aur review point, neeche Priya ke model ki tarah. Full Why 1, yaani business ka reason, Day 15 ke baad jodiye.</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paanch rows ke baad (15 minute): sirf das columns 'Journal detective' prompt ke saath kisi bhi AI mein paste kijiye, aur har Fact ko apni sheet se milaiye.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aise fills ke saath paper trade kar payenge jo sach mein mil sakte the, stop ke paar gap ko imaandaari se record kar payenge, har row mein ek emotion shabd ke saath das columns ka journal rakh payenge, apna adherence score points ÷ decisions se khud nikaal payenge, aur saat hisson wali Portfolio row shuru kar payenge jise mentor grade kar sakein.</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Trade journal template: das columns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Google Sheets ki pehli row mein yeh das column naam likhiye; phir har decision ki neeche ek row. 'Rule broken?' mein 'none' = 1 point, kuch aur = 0.</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1"/>
        </p:xfrm>
        <a:graphic>
          <a:graphicData uri="http://schemas.openxmlformats.org/drawingml/2006/table">
            <a:tbl>
              <a:tblPr firstRow="1">
                <a:tableStyleId>{5C22544A-7EE6-4342-B048-85BDC9FD1C3A}</a:tableStyleId>
              </a:tblPr>
              <a:tblGrid>
                <a:gridCol w="796760"/>
                <a:gridCol w="5632060"/>
                <a:gridCol w="3500064"/>
                <a:gridCol w="982651"/>
              </a:tblGrid>
              <a:tr h="490451">
                <a:tc>
                  <a:txBody>
                    <a:bodyPr wrap="square"/>
                    <a:lstStyle/>
                    <a:p>
                      <a:pPr algn="l"/>
                      <a:r>
                        <a:rPr sz="1200" b="1" i="0">
                          <a:solidFill>
                            <a:srgbClr val="FFFFFF"/>
                          </a:solidFill>
                          <a:latin typeface="Segoe UI"/>
                        </a:rPr>
                        <a:t>Column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Kya likhein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Priya: ek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Priya: 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8427">
                <a:tc>
                  <a:txBody>
                    <a:bodyPr wrap="square"/>
                    <a:lstStyle/>
                    <a:p>
                      <a:pPr algn="l"/>
                      <a:r>
                        <a:rPr sz="1200" b="0" i="0">
                          <a:solidFill>
                            <a:srgbClr val="18232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Jis shaam plan likha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03-09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02-09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Share ka naam; no-setup din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Strategy aur plan ki limits, ya 'No setup' / 'Skipped: &lt;rule&gt;'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EMA Pullback, max 406, 390 se neeche skip, exit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Agle din ka open, sirf dono limits ke andar ho toh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404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Entry minus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Rs 10,000 ÷ stop ki doori aur Rs 2,50,000 ÷ max entry mein se chhota, round 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555 (cap 615 tak deta)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Jo price sach mein mila: stop, profit exit, gap wala open ya 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R 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Rupaye ÷ Rs 10,000, minus 0.1R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Rule broken?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 ya toote rule ka naam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Emotion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Ek shabd: calm, FOMO, darr, bore, gussa, over-confident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bore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Portfolio row: Priya ka model, virtual paise mein</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Page par 5 rows tak rehti hain, liye gaye trades ki ya poori tarah plan kiye watchlist stocks ki; row khula trade nahi hai, aur ek saath 3 se zyada trades khule kabhi nahi. Row tabhi ginti hai jab saaton hisse bhare hon; Full Why 1 Day 15 ke baad jodiye.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59"/>
        </p:xfrm>
        <a:graphic>
          <a:graphicData uri="http://schemas.openxmlformats.org/drawingml/2006/table">
            <a:tbl>
              <a:tblPr firstRow="1">
                <a:tableStyleId>{5C22544A-7EE6-4342-B048-85BDC9FD1C3A}</a:tableStyleId>
              </a:tblPr>
              <a:tblGrid>
                <a:gridCol w="2050912"/>
                <a:gridCol w="2879990"/>
                <a:gridCol w="5980633"/>
              </a:tblGrid>
              <a:tr h="372809">
                <a:tc>
                  <a:txBody>
                    <a:bodyPr wrap="square"/>
                    <a:lstStyle/>
                    <a:p>
                      <a:pPr algn="l"/>
                      <a:r>
                        <a:rPr sz="1450" b="1" i="0">
                          <a:solidFill>
                            <a:srgbClr val="FFFFFF"/>
                          </a:solidFill>
                          <a:latin typeface="Segoe UI"/>
                        </a:rPr>
                        <a:t>Hissa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Kaunsa 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Priya ki row: 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584644">
                <a:tc>
                  <a:txBody>
                    <a:bodyPr wrap="square"/>
                    <a:lstStyle/>
                    <a:p>
                      <a:pPr algn="l"/>
                      <a:r>
                        <a:rPr sz="1450" b="0" i="0">
                          <a:solidFill>
                            <a:srgbClr val="18232F"/>
                          </a:solidFill>
                          <a:latin typeface="Segoe UI"/>
                        </a:rPr>
                        <a:t>Full Why 1 (business ka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Yeh business kyun?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Teen saal lagatar sales aur profit badhe; karz kam hai (uska Day 15 health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4644">
                <a:tc>
                  <a:txBody>
                    <a:bodyPr wrap="square"/>
                    <a:lstStyle/>
                    <a:p>
                      <a:pPr algn="l"/>
                      <a:r>
                        <a:rPr sz="1450" b="0" i="0">
                          <a:solidFill>
                            <a:srgbClr val="18232F"/>
                          </a:solidFill>
                          <a:latin typeface="Segoe UI"/>
                        </a:rPr>
                        <a:t>Full Why 2 (doosra, alag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Business ke alawa aur kya haan kehta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Uptrend mein EMA Pullback signal; 3 mahine mein NIFTY 50 se mazboot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4644">
                <a:tc>
                  <a:txBody>
                    <a:bodyPr wrap="square"/>
                    <a:lstStyle/>
                    <a:p>
                      <a:pPr algn="l"/>
                      <a:r>
                        <a:rPr sz="1450" b="0" i="0">
                          <a:solidFill>
                            <a:srgbClr val="18232F"/>
                          </a:solidFill>
                          <a:latin typeface="Segoe UI"/>
                        </a:rPr>
                        <a:t>Sabse bada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Sabse zyada nuksaan kya kar sakta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Raat ki buri khabar ise stop ke neeche gap kar 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3665">
                <a:tc>
                  <a:txBody>
                    <a:bodyPr wrap="square"/>
                    <a:lstStyle/>
                    <a:p>
                      <a:pPr algn="l"/>
                      <a:r>
                        <a:rPr sz="1450" b="0" i="0">
                          <a:solidFill>
                            <a:srgbClr val="18232F"/>
                          </a:solidFill>
                          <a:latin typeface="Segoe UI"/>
                        </a:rPr>
                        <a:t>Us risk ka aapka jawab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Aap uske liye kya karenge?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Size aisa ki 1.5R ka gap bhi lagbhag Rs 15,000; asli exit hi likhna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4644">
                <a:tc>
                  <a:txBody>
                    <a:bodyPr wrap="square"/>
                    <a:lstStyle/>
                    <a:p>
                      <a:pPr algn="l"/>
                      <a:r>
                        <a:rPr sz="1450" b="0" i="0">
                          <a:solidFill>
                            <a:srgbClr val="18232F"/>
                          </a:solidFill>
                          <a:latin typeface="Segoe UI"/>
                        </a:rPr>
                        <a:t>Price-stop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Price kahan bolta hai ki aap galat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Rs 386, plan card se (404 - 18)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4644">
                <a:tc>
                  <a:txBody>
                    <a:bodyPr wrap="square"/>
                    <a:lstStyle/>
                    <a:p>
                      <a:pPr algn="l"/>
                      <a:r>
                        <a:rPr sz="1450" b="0" i="0">
                          <a:solidFill>
                            <a:srgbClr val="18232F"/>
                          </a:solidFill>
                          <a:latin typeface="Segoe UI"/>
                        </a:rPr>
                        <a:t>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Kaunsa fact idea ko galat sabit karega?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Lagatar do quarter sales giri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3665">
                <a:tc>
                  <a:txBody>
                    <a:bodyPr wrap="square"/>
                    <a:lstStyle/>
                    <a:p>
                      <a:pPr algn="l"/>
                      <a:r>
                        <a:rPr sz="1450" b="0" i="0">
                          <a:solidFill>
                            <a:srgbClr val="18232F"/>
                          </a:solidFill>
                          <a:latin typeface="Segoe UI"/>
                        </a:rPr>
                        <a:t>Review point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Dobara kab dekhenge?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Agli results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Mentor row ko kaise grade karte hain: A, C aur 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 A aur C ke beech hai, aur grade A se F tak hote hain: D ya usse neeche wali row abhi ginti mein nahi aati. Yahi guide Day 21 par phir aayegi, aur profit se grade kabhi nahi badalta.</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319272"/>
        </p:xfrm>
        <a:graphic>
          <a:graphicData uri="http://schemas.openxmlformats.org/drawingml/2006/table">
            <a:tbl>
              <a:tblPr firstRow="1">
                <a:tableStyleId>{5C22544A-7EE6-4342-B048-85BDC9FD1C3A}</a:tableStyleId>
              </a:tblPr>
              <a:tblGrid>
                <a:gridCol w="737600"/>
                <a:gridCol w="7953150"/>
                <a:gridCol w="2220785"/>
              </a:tblGrid>
              <a:tr h="493776">
                <a:tc>
                  <a:txBody>
                    <a:bodyPr wrap="square"/>
                    <a:lstStyle/>
                    <a:p>
                      <a:pPr algn="l"/>
                      <a:r>
                        <a:rPr sz="1500" b="1" i="0">
                          <a:solidFill>
                            <a:srgbClr val="FFFFFF"/>
                          </a:solidFill>
                          <a:latin typeface="Segoe UI"/>
                        </a:rPr>
                        <a:t>Grade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Row mein kya dikhta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Certificate mein ginti?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13232">
                <a:tc>
                  <a:txBody>
                    <a:bodyPr wrap="square"/>
                    <a:lstStyle/>
                    <a:p>
                      <a:pPr algn="l"/>
                      <a:r>
                        <a:rPr sz="150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Saaton hisse. Do saaf Why jo ek-doosre par tike na hon, rupees mein price-stop, test ho sakne wala Why-stop, aur review ki date ya trigger.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Saaton hisse bhare, par ek dhundhla: Why 2 Why 1 ko hi dohraata hai, Why-stop test nahi ho sakta, ya review point mein bas 'baad mein' likha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Haan; agli baar dhundhla hissa saaf kijiye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1170432">
                <a:tc>
                  <a:txBody>
                    <a:bodyPr wrap="square"/>
                    <a:lstStyle/>
                    <a:p>
                      <a:pPr algn="l"/>
                      <a:r>
                        <a:rPr sz="150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Koi hissa gayab ya copy kiya hua, tip ya 'sab khareed rahe hain' ko Why banaya, ya Why-stop hai hi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Abhi nahi: kamzor hissa theek kijiye aur mentor se dobara grade karne ko kahiye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Scorebook swap</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Pehle hafte ke baad kisi classmate ke saath journal sheet badal lijiye (sirf das columns, koi naam ya personal detail nahi) aur profit-loss dekhe bina ek-doosre ka adherence score nikaaliye.</a:t>
            </a:r>
          </a:p>
          <a:p>
            <a:pPr algn="l">
              <a:lnSpc>
                <a:spcPct val="100000"/>
              </a:lnSpc>
              <a:spcAft>
                <a:spcPts val="700"/>
              </a:spcAft>
            </a:pPr>
            <a:r>
              <a:rPr sz="2000" b="0" i="0">
                <a:solidFill>
                  <a:srgbClr val="18232F"/>
                </a:solidFill>
                <a:latin typeface="Segoe UI"/>
              </a:rPr>
              <a:t>Agar aapka apne liye score unke diye score se zyada hai, toh woh row dhoondhiye jahan aapne khud par narmi barti.</a:t>
            </a:r>
          </a:p>
          <a:p>
            <a:pPr algn="l">
              <a:lnSpc>
                <a:spcPct val="100000"/>
              </a:lnSpc>
              <a:spcAft>
                <a:spcPts val="700"/>
              </a:spcAft>
            </a:pPr>
            <a:r>
              <a:rPr sz="2000" b="0" i="0">
                <a:solidFill>
                  <a:srgbClr val="18232F"/>
                </a:solidFill>
                <a:latin typeface="Segoe UI"/>
              </a:rPr>
              <a:t>Sheet ke stock names sirf record hain, tips nahi: na un par trade kijiye, na aage forward kijiye.</a:t>
            </a:r>
          </a:p>
          <a:p>
            <a:pPr algn="l">
              <a:lnSpc>
                <a:spcPct val="100000"/>
              </a:lnSpc>
            </a:pPr>
            <a:r>
              <a:rPr sz="2000" b="0" i="0">
                <a:solidFill>
                  <a:srgbClr val="18232F"/>
                </a:solidFill>
                <a:latin typeface="Segoe UI"/>
              </a:rPr>
              <a:t>Phir partner ke saath ek Portfolio row badliye aur Aaj Ka Kaam wali guide se use A, C ya D grade dijiye; unhe woh ek hissa bataiye jo row ko ek grade upar le jaaye.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Journal detective: AI pattern dhoondhe, faisla aap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Journal detective</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rows from my paper-trade journal with ten columns: Date, Stock, Setup, Entry, Stop, Qty, Exit, R result, Rule broken?, Emotion.”</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Honest fill check</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250" b="0" i="1">
                <a:solidFill>
                  <a:srgbClr val="47596B"/>
                </a:solidFill>
                <a:latin typeface="Segoe UI"/>
              </a:rPr>
              <a:t>“Act as a strict paper-trading auditor for a beginner who uses virtual money only. I will describe one paper trade: the plan I wrote the evening before (signal close, signal-day low, ATR(14), maximum entry, stop distance, quantity), the daily candles (open, high, low, close) of the following days, the entry and exit I recorded, and my virtual capital of Rs 10,00,000 with 1R = Rs 10,000.”</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Portfolio row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one row from my practice portfolio with seven parts: Full Why 1 (a business reason), Full Why 2 (a second, independent reason), the top risk, my answer to that risk, a price-stop, a Why-stop (the fact that would prove the idea wrong) and a review point (a date or trigger to look again).”</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Bharat Pumps Ltd ke liye Priya ka plan card: signal close Rs 250, signal-day low Rs 244, ATR(14) Rs 8, isliye maximum entry Rs 254. Agle din stock Rs 247 par khulta hai aur Rs 242 se Rs 256 ke beech trade karta hai. Course ke paper rules ke hisaab se journal mein kaunsi entry jaayegi?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Rs 244 se neeche trade hua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242, din ka low</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250, signal close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247, din ka open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SAWAAL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paper trade mein entry Rs 300 hai aur stop Rs 285. Close ke baad buri khabar aati hai, aur agla din Rs 279 par khulta hai, stop se neeche. Course ke rules se (exit open par, phir 0.1R allowance), uske journal mein kya R result jaayega?</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-1.1R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-1.4R</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-1.0R</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-1.5R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hafte mein Priya paanch decisions log karti hai. Do no-setup dinon par woh bahar rahi, ek trade liya jisne har rule follow kiya, ek setup chhoda kyunki uski results date agle 15 trading dinon ke andar thi, aur ek trade bina plan likhe le liya. Uska adherence score kya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skip ko 0 dekar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40%, 5 mein se 2 decisions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80%, 5 mein se 4 decisions</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50%, 2 trades mein se 1</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do hafte ki journal rows, bina kisi personal detail ke, ek AI chat mein paste karta hai. Kaunsi request is course ke AI use karne ke tareeke mein fit baithti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Meri list ka kaunsa stock main agle hafte khareedun?</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Jin dinon rule toota, un dinon kaunse emotion shabd dikhte hain?</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Aise hi chalta raha toh kitne profit ki umeed rakhun?</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Kya main kal se koi nayi strategy par shift ho jaun?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Paper par Aman apna stop aur door khiska deta hai, 'kyunki yeh toh paper ka paisa hai'. Phir trade wapas sambhal jaata hai aur +1.2R par band hota hai. Ise journal mein kaise likhna chahiye?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toota, 0 point, result chahe jo ho</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follow hua, 1 point, kyunki profit mein band hua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Log nahi karna, paisa toh paper ka tha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 point, kyunki woh trade mein dheeraj se ruka raha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Paper trading ka pehla din aur AI trade journal</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Aaj ki row likhiye, chahe usmein 'No setup' hi ho. Aaj ke liye kaunsa ek emotion shabd sahi baithta hai? Kya koi pal aaya jab laga 'paper hai, chalta hai'? Uske baad aapne kya kiya?</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Aaj aapke journal ki pehli row likhi gayi. Un dinon bhi ise imaandaar rakhiye jab koi check karne wala na ho; sabse zyada wahi rows sikhayengi.</a:t>
            </a:r>
          </a:p>
        </p:txBody>
      </p:sp>
      <p:sp>
        <p:nvSpPr>
          <p:cNvPr id="11" name="Rounded Rectangle 10"/>
          <p:cNvSpPr/>
          <p:nvPr/>
        </p:nvSpPr>
        <p:spPr>
          <a:xfrm>
            <a:off x="457200" y="5489448"/>
            <a:ext cx="541443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13 · Strategy #2: Opening Range Breakout (optional)</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13</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Strategy #2: Opening Range Breakout (optional)</a:t>
            </a:r>
          </a:p>
        </p:txBody>
      </p:sp>
      <p:sp>
        <p:nvSpPr>
          <p:cNvPr id="10" name="Rounded Rectangle 9"/>
          <p:cNvSpPr/>
          <p:nvPr/>
        </p:nvSpPr>
        <p:spPr>
          <a:xfrm>
            <a:off x="4572000" y="2386584"/>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71176" y="2377440"/>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Opening Range Breakout: ek optional intraday strategy, rules mein likhi hui</a:t>
            </a:r>
          </a:p>
        </p:txBody>
      </p:sp>
      <p:sp>
        <p:nvSpPr>
          <p:cNvPr id="12" name="Rounded Rectangle 11"/>
          <p:cNvSpPr/>
          <p:nvPr/>
        </p:nvSpPr>
        <p:spPr>
          <a:xfrm>
            <a:off x="4572000" y="3154680"/>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71176" y="3145536"/>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ORB rule-card audit: AI kamzor jagah dhoondhe, aap unhe theek karein</a:t>
            </a:r>
          </a:p>
        </p:txBody>
      </p:sp>
      <p:sp>
        <p:nvSpPr>
          <p:cNvPr id="14" name="Rounded Rectangle 13"/>
          <p:cNvSpPr/>
          <p:nvPr/>
        </p:nvSpPr>
        <p:spPr>
          <a:xfrm>
            <a:off x="4572000" y="3922776"/>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71176" y="3922776"/>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Breakout ka FOMO</a:t>
            </a:r>
          </a:p>
        </p:txBody>
      </p:sp>
      <p:sp>
        <p:nvSpPr>
          <p:cNvPr id="16" name="Rounded Rectangle 15"/>
          <p:cNvSpPr/>
          <p:nvPr/>
        </p:nvSpPr>
        <p:spPr>
          <a:xfrm>
            <a:off x="4572000" y="4434840"/>
            <a:ext cx="816296" cy="292608"/>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FFFFFF"/>
                </a:solidFill>
                <a:latin typeface="Segoe UI"/>
              </a:rPr>
              <a:t>Strategy</a:t>
            </a:r>
          </a:p>
        </p:txBody>
      </p:sp>
      <p:sp>
        <p:nvSpPr>
          <p:cNvPr id="17" name="TextBox 16"/>
          <p:cNvSpPr txBox="1"/>
          <p:nvPr/>
        </p:nvSpPr>
        <p:spPr>
          <a:xfrm>
            <a:off x="5571176" y="4434840"/>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Opening Range Breakout (ORB)</a:t>
            </a:r>
          </a:p>
        </p:txBody>
      </p:sp>
      <p:sp>
        <p:nvSpPr>
          <p:cNvPr id="18" name="TextBox 17"/>
          <p:cNvSpPr txBox="1"/>
          <p:nvPr/>
        </p:nvSpPr>
        <p:spPr>
          <a:xfrm>
            <a:off x="4572000" y="5120640"/>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9" name="TextBox 18"/>
          <p:cNvSpPr txBox="1"/>
          <p:nvPr/>
        </p:nvSpPr>
        <p:spPr>
          <a:xfrm>
            <a:off x="4572000" y="5394960"/>
            <a:ext cx="7162495" cy="798576"/>
          </a:xfrm>
          <a:prstGeom prst="rect">
            <a:avLst/>
          </a:prstGeom>
          <a:noFill/>
        </p:spPr>
        <p:txBody>
          <a:bodyPr wrap="square" lIns="0" rIns="0" tIns="0" bIns="0" anchor="t">
            <a:noAutofit/>
          </a:bodyPr>
          <a:lstStyle/>
          <a:p>
            <a:pPr algn="l">
              <a:lnSpc>
                <a:spcPct val="100000"/>
              </a:lnSpc>
            </a:pPr>
            <a:r>
              <a:rPr sz="1250" b="0" i="0">
                <a:solidFill>
                  <a:srgbClr val="47596B"/>
                </a:solidFill>
                <a:latin typeface="Segoe UI"/>
              </a:rPr>
              <a:t>Aaj ke baad aap opening range mark kar payenge, breakout close aur sirf bahar jhaankti wick mein farak kar payenge, ORB paper trade ka stop, 2R profit exit, time exit aur size plan kar payenge, cash segment mein short selling ke rules aur risk samjha payenge, bata payenge ki kin dinon ORB bilkul nahi karna chahiye, aur ek purani subah ka haath se kiya replay log kar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breakout jo tha hi nahi</a:t>
            </a:r>
          </a:p>
        </p:txBody>
      </p:sp>
      <p:sp>
        <p:nvSpPr>
          <p:cNvPr id="4" name="Rounded Rectangle 3"/>
          <p:cNvSpPr/>
          <p:nvPr/>
        </p:nvSpPr>
        <p:spPr>
          <a:xfrm>
            <a:off x="457200"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Ek working day, subah 9:22. Aman Pune mein office cab mein baitha hai, phone par 5-minute chart khula hai. Priya Lucknow se call par hai.</a:t>
            </a:r>
          </a:p>
        </p:txBody>
      </p:sp>
      <p:sp>
        <p:nvSpPr>
          <p:cNvPr id="7" name="Rounded Rectangle 6"/>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Kiran Foods open se Rs 12 upar hai. Breakout ho raha hai. Maine abhi paper par Rs 476 par 2,000 shares le liye, isse pehle ki yeh bhaag jaaye.</a:t>
            </a:r>
          </a:p>
        </p:txBody>
      </p:sp>
      <p:sp>
        <p:nvSpPr>
          <p:cNvPr id="13" name="Rounded Rectangle 12"/>
          <p:cNvSpPr/>
          <p:nvPr/>
        </p:nvSpPr>
        <p:spPr>
          <a:xfrm>
            <a:off x="8085125"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3</a:t>
            </a:r>
          </a:p>
        </p:txBody>
      </p:sp>
      <p:sp>
        <p:nvSpPr>
          <p:cNvPr id="15" name="TextBox 14"/>
          <p:cNvSpPr txBox="1"/>
          <p:nvPr/>
        </p:nvSpPr>
        <p:spPr>
          <a:xfrm>
            <a:off x="8286293"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Subah 9:40. Kiran Foods wapas Rs 464 par aa gaya. Aman paper par Rs 24,000 ke loss mein hai. Stop toh usne lagaya hi nahi tha. Aur Rs 9.52 lakh ki position 25% cap se lagbhag chaar guna thi.</a:t>
            </a:r>
          </a:p>
        </p:txBody>
      </p:sp>
      <p:pic>
        <p:nvPicPr>
          <p:cNvPr id="16" name="Picture 15" descr="logo.png"/>
          <p:cNvPicPr>
            <a:picLocks noChangeAspect="1"/>
          </p:cNvPicPr>
          <p:nvPr/>
        </p:nvPicPr>
        <p:blipFill>
          <a:blip r:embed="rId2"/>
          <a:stretch>
            <a:fillRect/>
          </a:stretch>
        </p:blipFill>
        <p:spPr>
          <a:xfrm>
            <a:off x="457200" y="6437376"/>
            <a:ext cx="237744" cy="237744"/>
          </a:xfrm>
          <a:prstGeom prst="rect">
            <a:avLst/>
          </a:prstGeom>
        </p:spPr>
      </p:pic>
      <p:sp>
        <p:nvSpPr>
          <p:cNvPr id="1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8" name="TextBox 1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breakout jo tha hi nahi</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335024"/>
          </a:xfrm>
          <a:prstGeom prst="wedgeRoundRectCallout">
            <a:avLst>
              <a:gd name="adj1" fmla="val -41915"/>
              <a:gd name="adj2" fmla="val -63698"/>
              <a:gd name="adj3" fmla="val 821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104241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Aman, breakout kis cheez se? 9:22 par toh pehle 15 minute bhi poore nahi hue the. Aur stop kahan tha?</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335024"/>
          </a:xfrm>
          <a:prstGeom prst="wedgeRoundRectCallout">
            <a:avLst>
              <a:gd name="adj1" fmla="val -41915"/>
              <a:gd name="adj2" fmla="val -63698"/>
              <a:gd name="adj3" fmla="val 821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104241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Stop tha hi nahi. Rs 24,000 matlab 2.4R, meri poori daily limit 2R se bhi zyada. Aur 9:30 se toh main desk par hota hoon.</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346704"/>
          </a:xfrm>
          <a:prstGeom prst="wedgeRoundRectCallout">
            <a:avLst>
              <a:gd name="adj1" fmla="val -41915"/>
              <a:gd name="adj2" fmla="val -55464"/>
              <a:gd name="adj3" fmla="val 327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3054096"/>
          </a:xfrm>
          <a:prstGeom prst="rect">
            <a:avLst/>
          </a:prstGeom>
          <a:noFill/>
        </p:spPr>
        <p:txBody>
          <a:bodyPr wrap="square" lIns="0" rIns="0" tIns="0" bIns="0" anchor="t">
            <a:noAutofit/>
          </a:bodyPr>
          <a:lstStyle/>
          <a:p>
            <a:pPr algn="l">
              <a:lnSpc>
                <a:spcPct val="100000"/>
              </a:lnSpc>
            </a:pPr>
            <a:r>
              <a:rPr sz="1650" b="0" i="0">
                <a:solidFill>
                  <a:srgbClr val="18232F"/>
                </a:solidFill>
                <a:latin typeface="Segoe UI"/>
              </a:rPr>
              <a:t>Toh 10:30 par, jab aap meeting mein honge, yeh trade kaun dekhega? Aman, problem idea mein nahi thi, jaldbaazi mein thi. Aaj hum ORB ko rules mein likhenge: kab rukna hai, kab entry leni hai, kahan exit karna hai aur kab trade karna hi nahi hai. Day 10 mein aapke apne jawabon se hi intraday aapke liye bahar ho gaya tha; aaj aap dekhenge ki kyun.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Jis breakout ke peeche aap bhaagte hain, woh ek feeling hai. Mark ki hui range ke bahar close, likhe hue rules ke saath, woh setup hai.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ek line mein, aur yeh kiske liye hai</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9:15 ke baad ke pehle kuch minute din ke sabse shor wale hote hain: raat ki news, pending orders aur emotions, sab ek saath market par toot padte hain.</a:t>
            </a:r>
          </a:p>
          <a:p>
            <a:pPr algn="l" marL="274320" indent="-274320">
              <a:lnSpc>
                <a:spcPct val="100000"/>
              </a:lnSpc>
              <a:spcAft>
                <a:spcPts val="750"/>
              </a:spcAft>
              <a:buClr>
                <a:srgbClr val="134A9A"/>
              </a:buClr>
              <a:buFont typeface="Arial"/>
              <a:buChar char="•"/>
            </a:pPr>
            <a:r>
              <a:rPr sz="1500" b="0" i="0">
                <a:solidFill>
                  <a:srgbClr val="18232F"/>
                </a:solidFill>
                <a:latin typeface="Segoe UI"/>
              </a:rPr>
              <a:t>Opening Range Breakout, yaani ORB, is shor ke thamne ka intezaar karta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Aap pehle 15 minute, 9:15 se 9:30, ka sabse ooncha aur sabse neecha price mark karte hain.</a:t>
            </a:r>
          </a:p>
          <a:p>
            <a:pPr algn="l" marL="274320" indent="-274320">
              <a:lnSpc>
                <a:spcPct val="100000"/>
              </a:lnSpc>
              <a:buClr>
                <a:srgbClr val="134A9A"/>
              </a:buClr>
              <a:buFont typeface="Arial"/>
              <a:buChar char="•"/>
            </a:pPr>
            <a:r>
              <a:rPr sz="1500" b="0" i="0">
                <a:solidFill>
                  <a:srgbClr val="18232F"/>
                </a:solidFill>
                <a:latin typeface="Segoe UI"/>
              </a:rPr>
              <a:t>Yahi box opening range (OR) hai.</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ke office hours mein live ORB mumkin nahi, isliye Sunday ko woh pichhle Tuesday ka Bharat Pumps Ltd ka 5-minute chart peeche scroll karke dekhti hai. (Naam made-up hai; ise ek badi, khoob trade hone wali company maaniye. Stock Rs 1,003 par khula aur pehle 15 minute mein Rs 1,000 aur Rs 1,010 ke beech jhoolta raha, toh woh notebook mein 'OR 1,000-1,010' likh leti hai aur baaki chart dhak deti hai. … NIFTY 50 index khud koi share nahi hai aur uska apna volume nahi hota, isliye na use share ki tarah khareed sakte hain, na us par VWAP ban sakta hai.</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ORB wali subah</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Time IST mein hai, NSE ke trading days par. Chhuttiyan aur timing mein koi badlav nseindia.com par check kijiye.</a:t>
            </a:r>
          </a:p>
        </p:txBody>
      </p:sp>
      <p:cxnSp>
        <p:nvCxnSpPr>
          <p:cNvPr id="11" name="Connector 10"/>
          <p:cNvCxnSpPr/>
          <p:nvPr/>
        </p:nvCxnSpPr>
        <p:spPr>
          <a:xfrm>
            <a:off x="1549375" y="4365498"/>
            <a:ext cx="9092946"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60132"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a:t>
            </a:r>
          </a:p>
        </p:txBody>
      </p:sp>
      <p:sp>
        <p:nvSpPr>
          <p:cNvPr id="13" name="TextBox 12"/>
          <p:cNvSpPr txBox="1"/>
          <p:nvPr/>
        </p:nvSpPr>
        <p:spPr>
          <a:xfrm>
            <a:off x="713232"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Pre-open</a:t>
            </a:r>
          </a:p>
          <a:p>
            <a:pPr algn="ctr">
              <a:lnSpc>
                <a:spcPct val="100000"/>
              </a:lnSpc>
            </a:pPr>
            <a:r>
              <a:rPr sz="1100" b="0" i="0">
                <a:solidFill>
                  <a:srgbClr val="47596B"/>
                </a:solidFill>
                <a:latin typeface="Segoe UI"/>
              </a:rPr>
              <a:t>Ek opening price tay hota hai</a:t>
            </a:r>
          </a:p>
        </p:txBody>
      </p:sp>
      <p:sp>
        <p:nvSpPr>
          <p:cNvPr id="14" name="Rounded Rectangle 13"/>
          <p:cNvSpPr/>
          <p:nvPr/>
        </p:nvSpPr>
        <p:spPr>
          <a:xfrm>
            <a:off x="3078721"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a:t>
            </a:r>
          </a:p>
        </p:txBody>
      </p:sp>
      <p:sp>
        <p:nvSpPr>
          <p:cNvPr id="15" name="TextBox 14"/>
          <p:cNvSpPr txBox="1"/>
          <p:nvPr/>
        </p:nvSpPr>
        <p:spPr>
          <a:xfrm>
            <a:off x="2531821"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Range shuru</a:t>
            </a:r>
          </a:p>
          <a:p>
            <a:pPr algn="ctr">
              <a:lnSpc>
                <a:spcPct val="100000"/>
              </a:lnSpc>
            </a:pPr>
            <a:r>
              <a:rPr sz="1100" b="0" i="0">
                <a:solidFill>
                  <a:srgbClr val="47596B"/>
                </a:solidFill>
                <a:latin typeface="Segoe UI"/>
              </a:rPr>
              <a:t>Sirf dekhiye, trade nahi</a:t>
            </a:r>
          </a:p>
        </p:txBody>
      </p:sp>
      <p:sp>
        <p:nvSpPr>
          <p:cNvPr id="16" name="Rounded Rectangle 15"/>
          <p:cNvSpPr/>
          <p:nvPr/>
        </p:nvSpPr>
        <p:spPr>
          <a:xfrm>
            <a:off x="4897310"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9:30</a:t>
            </a:r>
          </a:p>
        </p:txBody>
      </p:sp>
      <p:sp>
        <p:nvSpPr>
          <p:cNvPr id="17" name="TextBox 16"/>
          <p:cNvSpPr txBox="1"/>
          <p:nvPr/>
        </p:nvSpPr>
        <p:spPr>
          <a:xfrm>
            <a:off x="4350410"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Range poori</a:t>
            </a:r>
          </a:p>
          <a:p>
            <a:pPr algn="ctr">
              <a:lnSpc>
                <a:spcPct val="100000"/>
              </a:lnSpc>
            </a:pPr>
            <a:r>
              <a:rPr sz="1100" b="0" i="0">
                <a:solidFill>
                  <a:srgbClr val="47596B"/>
                </a:solidFill>
                <a:latin typeface="Segoe UI"/>
              </a:rPr>
              <a:t>OR high aur OR low mark kijiye</a:t>
            </a:r>
          </a:p>
        </p:txBody>
      </p:sp>
      <p:sp>
        <p:nvSpPr>
          <p:cNvPr id="18" name="Rounded Rectangle 17"/>
          <p:cNvSpPr/>
          <p:nvPr/>
        </p:nvSpPr>
        <p:spPr>
          <a:xfrm>
            <a:off x="6715900"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9:35</a:t>
            </a:r>
          </a:p>
        </p:txBody>
      </p:sp>
      <p:sp>
        <p:nvSpPr>
          <p:cNvPr id="19" name="TextBox 18"/>
          <p:cNvSpPr txBox="1"/>
          <p:nvPr/>
        </p:nvSpPr>
        <p:spPr>
          <a:xfrm>
            <a:off x="6169000"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Pehla mumkin signal</a:t>
            </a:r>
          </a:p>
          <a:p>
            <a:pPr algn="ctr">
              <a:lnSpc>
                <a:spcPct val="100000"/>
              </a:lnSpc>
            </a:pPr>
            <a:r>
              <a:rPr sz="1100" b="0" i="0">
                <a:solidFill>
                  <a:srgbClr val="47596B"/>
                </a:solidFill>
                <a:latin typeface="Segoe UI"/>
              </a:rPr>
              <a:t>Bahar pehla 5-minute close yahin ho sakta hai</a:t>
            </a:r>
          </a:p>
        </p:txBody>
      </p:sp>
      <p:sp>
        <p:nvSpPr>
          <p:cNvPr id="20" name="Rounded Rectangle 19"/>
          <p:cNvSpPr/>
          <p:nvPr/>
        </p:nvSpPr>
        <p:spPr>
          <a:xfrm>
            <a:off x="8534489"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11:00</a:t>
            </a:r>
          </a:p>
        </p:txBody>
      </p:sp>
      <p:sp>
        <p:nvSpPr>
          <p:cNvPr id="21" name="TextBox 20"/>
          <p:cNvSpPr txBox="1"/>
          <p:nvPr/>
        </p:nvSpPr>
        <p:spPr>
          <a:xfrm>
            <a:off x="7987589"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Nayi entry nahi</a:t>
            </a:r>
          </a:p>
          <a:p>
            <a:pPr algn="ctr">
              <a:lnSpc>
                <a:spcPct val="100000"/>
              </a:lnSpc>
            </a:pPr>
            <a:r>
              <a:rPr sz="1100" b="0" i="0">
                <a:solidFill>
                  <a:srgbClr val="47596B"/>
                </a:solidFill>
                <a:latin typeface="Segoe UI"/>
              </a:rPr>
              <a:t>11:00 ke baad entry nahi</a:t>
            </a:r>
          </a:p>
        </p:txBody>
      </p:sp>
      <p:sp>
        <p:nvSpPr>
          <p:cNvPr id="22" name="Rounded Rectangle 21"/>
          <p:cNvSpPr/>
          <p:nvPr/>
        </p:nvSpPr>
        <p:spPr>
          <a:xfrm>
            <a:off x="10353078" y="420090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14:30</a:t>
            </a:r>
          </a:p>
        </p:txBody>
      </p:sp>
      <p:sp>
        <p:nvSpPr>
          <p:cNvPr id="23" name="TextBox 22"/>
          <p:cNvSpPr txBox="1"/>
          <p:nvPr/>
        </p:nvSpPr>
        <p:spPr>
          <a:xfrm>
            <a:off x="9806178" y="4658106"/>
            <a:ext cx="1672285"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Time exit</a:t>
            </a:r>
          </a:p>
          <a:p>
            <a:pPr algn="ctr">
              <a:lnSpc>
                <a:spcPct val="100000"/>
              </a:lnSpc>
            </a:pPr>
            <a:r>
              <a:rPr sz="1100" b="0" i="0">
                <a:solidFill>
                  <a:srgbClr val="47596B"/>
                </a:solidFill>
                <a:latin typeface="Segoe UI"/>
              </a:rPr>
              <a:t>Jo bhi khula hai, band kijiye</a:t>
            </a:r>
          </a:p>
        </p:txBody>
      </p:sp>
      <p:sp>
        <p:nvSpPr>
          <p:cNvPr id="24" name="Rounded Rectangle 2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6" name="TextBox 2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ORB = pehle 15 minute mark kijiye, phir bahar close ka intezaar. 9:15 se 11:00 tak aur phir 14:30 par screen ka waqt nahi, toh ORB nahi.</a:t>
            </a:r>
          </a:p>
        </p:txBody>
      </p:sp>
      <p:pic>
        <p:nvPicPr>
          <p:cNvPr id="27" name="Picture 26" descr="logo.png"/>
          <p:cNvPicPr>
            <a:picLocks noChangeAspect="1"/>
          </p:cNvPicPr>
          <p:nvPr/>
        </p:nvPicPr>
        <p:blipFill>
          <a:blip r:embed="rId2"/>
          <a:stretch>
            <a:fillRect/>
          </a:stretch>
        </p:blipFill>
        <p:spPr>
          <a:xfrm>
            <a:off x="457200" y="6437376"/>
            <a:ext cx="237744" cy="237744"/>
          </a:xfrm>
          <a:prstGeom prst="rect">
            <a:avLst/>
          </a:prstGeom>
        </p:spPr>
      </p:pic>
      <p:sp>
        <p:nvSpPr>
          <p:cNvPr id="2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9" name="TextBox 2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Entry: bahar close chahiye, wick nahi</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Wick candle ki patli line hoti hai: price wahan gaya toh, par tik nahi paya.</a:t>
            </a:r>
          </a:p>
          <a:p>
            <a:pPr algn="l" marL="274320" indent="-274320">
              <a:lnSpc>
                <a:spcPct val="100000"/>
              </a:lnSpc>
              <a:spcAft>
                <a:spcPts val="800"/>
              </a:spcAft>
              <a:buClr>
                <a:srgbClr val="134A9A"/>
              </a:buClr>
              <a:buFont typeface="Arial"/>
              <a:buChar char="•"/>
            </a:pPr>
            <a:r>
              <a:rPr sz="1600" b="0" i="0">
                <a:solidFill>
                  <a:srgbClr val="18232F"/>
                </a:solidFill>
                <a:latin typeface="Segoe UI"/>
              </a:rPr>
              <a:t>Close woh jagah hai jahan paanch minute ki khareed-bikri ke baad candle khatam hui, isliye ORB tabhi kuch karta hai jab koi 5-minute candle range ke bahar close ho.</a:t>
            </a:r>
          </a:p>
          <a:p>
            <a:pPr algn="l" marL="274320" indent="-274320">
              <a:lnSpc>
                <a:spcPct val="100000"/>
              </a:lnSpc>
              <a:buClr>
                <a:srgbClr val="134A9A"/>
              </a:buClr>
              <a:buFont typeface="Arial"/>
              <a:buChar char="•"/>
            </a:pPr>
            <a:r>
              <a:rPr sz="1600" b="0" i="0">
                <a:solidFill>
                  <a:srgbClr val="18232F"/>
                </a:solidFill>
                <a:latin typeface="Segoe UI"/>
              </a:rPr>
              <a:t>Chart candle ko uske shuru hone ke time se naam deta hai: 9:30 wali candle 9:35 par close hoti hai, yahi sabse pehla mumkin signal hai.</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Neeche chart mein Bharat Pumps ki range Rs 1,000-1,010 hai. 9:35-9:40 wali candle kam volume par Rs 1,013 tak uchhalti hai, lekin Rs 1,007 par, range ke andar hi close hoti hai: entry nahi, chahe kitni bhi exciting lagi ho. … Paper entry agli candle ka open hai: Rs 1,012.</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Wick vs close</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9:15 se 5-minute candles. Pehli teen se range banti hai. 9:35-9:40 wali candle ne sirf bahar jhaanka; 9:45-9:50 wali candle strong volume ke saath, VWAP ke upar, bahar close hui.</a:t>
            </a:r>
          </a:p>
        </p:txBody>
      </p:sp>
      <p:cxnSp>
        <p:nvCxnSpPr>
          <p:cNvPr id="12" name="Connector 11"/>
          <p:cNvCxnSpPr/>
          <p:nvPr/>
        </p:nvCxnSpPr>
        <p:spPr>
          <a:xfrm>
            <a:off x="6935100" y="3973068"/>
            <a:ext cx="353655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89077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997.1</a:t>
            </a:r>
          </a:p>
        </p:txBody>
      </p:sp>
      <p:cxnSp>
        <p:nvCxnSpPr>
          <p:cNvPr id="14" name="Connector 13"/>
          <p:cNvCxnSpPr/>
          <p:nvPr/>
        </p:nvCxnSpPr>
        <p:spPr>
          <a:xfrm>
            <a:off x="6935100" y="3378708"/>
            <a:ext cx="353655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29641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1,011</a:t>
            </a:r>
          </a:p>
        </p:txBody>
      </p:sp>
      <p:cxnSp>
        <p:nvCxnSpPr>
          <p:cNvPr id="16" name="Connector 15"/>
          <p:cNvCxnSpPr/>
          <p:nvPr/>
        </p:nvCxnSpPr>
        <p:spPr>
          <a:xfrm>
            <a:off x="6935100" y="2784348"/>
            <a:ext cx="353655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0205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1,025</a:t>
            </a:r>
          </a:p>
        </p:txBody>
      </p:sp>
      <p:cxnSp>
        <p:nvCxnSpPr>
          <p:cNvPr id="18" name="Connector 17"/>
          <p:cNvCxnSpPr/>
          <p:nvPr/>
        </p:nvCxnSpPr>
        <p:spPr>
          <a:xfrm>
            <a:off x="6935100" y="2189988"/>
            <a:ext cx="353655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1,039</a:t>
            </a:r>
          </a:p>
        </p:txBody>
      </p:sp>
      <p:cxnSp>
        <p:nvCxnSpPr>
          <p:cNvPr id="20" name="Connector 19"/>
          <p:cNvCxnSpPr/>
          <p:nvPr/>
        </p:nvCxnSpPr>
        <p:spPr>
          <a:xfrm>
            <a:off x="6935100" y="2312959"/>
            <a:ext cx="3573134"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44810" y="2221519"/>
            <a:ext cx="1006806"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 exit</a:t>
            </a:r>
          </a:p>
        </p:txBody>
      </p:sp>
      <p:cxnSp>
        <p:nvCxnSpPr>
          <p:cNvPr id="22" name="Connector 21"/>
          <p:cNvCxnSpPr/>
          <p:nvPr/>
        </p:nvCxnSpPr>
        <p:spPr>
          <a:xfrm>
            <a:off x="6935100" y="3423114"/>
            <a:ext cx="3573134"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44810" y="3331674"/>
            <a:ext cx="1006806"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OR high</a:t>
            </a:r>
          </a:p>
        </p:txBody>
      </p:sp>
      <p:cxnSp>
        <p:nvCxnSpPr>
          <p:cNvPr id="24" name="Connector 23"/>
          <p:cNvCxnSpPr/>
          <p:nvPr/>
        </p:nvCxnSpPr>
        <p:spPr>
          <a:xfrm>
            <a:off x="6935100" y="3593907"/>
            <a:ext cx="3573134"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44810" y="3514554"/>
            <a:ext cx="1006806"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VWAP 9:50 par</a:t>
            </a:r>
          </a:p>
        </p:txBody>
      </p:sp>
      <p:cxnSp>
        <p:nvCxnSpPr>
          <p:cNvPr id="26" name="Connector 25"/>
          <p:cNvCxnSpPr/>
          <p:nvPr/>
        </p:nvCxnSpPr>
        <p:spPr>
          <a:xfrm>
            <a:off x="6935100" y="3850097"/>
            <a:ext cx="3573134"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544810" y="3758657"/>
            <a:ext cx="100680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OR low</a:t>
            </a:r>
          </a:p>
        </p:txBody>
      </p:sp>
      <p:cxnSp>
        <p:nvCxnSpPr>
          <p:cNvPr id="28" name="Connector 27"/>
          <p:cNvCxnSpPr/>
          <p:nvPr/>
        </p:nvCxnSpPr>
        <p:spPr>
          <a:xfrm>
            <a:off x="7082456" y="3508511"/>
            <a:ext cx="0" cy="34158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994042" y="3593907"/>
            <a:ext cx="176828" cy="1280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ectangle 29"/>
          <p:cNvSpPr/>
          <p:nvPr/>
        </p:nvSpPr>
        <p:spPr>
          <a:xfrm>
            <a:off x="6994042" y="4402836"/>
            <a:ext cx="176828"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1" name="Connector 30"/>
          <p:cNvCxnSpPr/>
          <p:nvPr/>
        </p:nvCxnSpPr>
        <p:spPr>
          <a:xfrm>
            <a:off x="7377170" y="3423114"/>
            <a:ext cx="0" cy="34158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288756" y="3593907"/>
            <a:ext cx="176828" cy="8539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ectangle 32"/>
          <p:cNvSpPr/>
          <p:nvPr/>
        </p:nvSpPr>
        <p:spPr>
          <a:xfrm>
            <a:off x="7288756" y="4516628"/>
            <a:ext cx="176828" cy="39827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7671883" y="3551209"/>
            <a:ext cx="0" cy="2561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583469" y="3636606"/>
            <a:ext cx="176828" cy="4269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ectangle 35"/>
          <p:cNvSpPr/>
          <p:nvPr/>
        </p:nvSpPr>
        <p:spPr>
          <a:xfrm>
            <a:off x="7583469" y="4601972"/>
            <a:ext cx="176828" cy="31292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7" name="Connector 36"/>
          <p:cNvCxnSpPr/>
          <p:nvPr/>
        </p:nvCxnSpPr>
        <p:spPr>
          <a:xfrm>
            <a:off x="7966596" y="3465812"/>
            <a:ext cx="0" cy="2561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878182" y="3508511"/>
            <a:ext cx="176828" cy="1280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ectangle 38"/>
          <p:cNvSpPr/>
          <p:nvPr/>
        </p:nvSpPr>
        <p:spPr>
          <a:xfrm>
            <a:off x="7878182" y="4687316"/>
            <a:ext cx="176828" cy="227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261309" y="3295019"/>
            <a:ext cx="0" cy="29888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172895" y="3508511"/>
            <a:ext cx="176828" cy="4269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Rectangle 41"/>
          <p:cNvSpPr/>
          <p:nvPr/>
        </p:nvSpPr>
        <p:spPr>
          <a:xfrm>
            <a:off x="8172895" y="4744212"/>
            <a:ext cx="176828" cy="17068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3" name="Connector 42"/>
          <p:cNvCxnSpPr/>
          <p:nvPr/>
        </p:nvCxnSpPr>
        <p:spPr>
          <a:xfrm>
            <a:off x="8556022" y="3465812"/>
            <a:ext cx="0" cy="21349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8467608" y="3551209"/>
            <a:ext cx="176828" cy="4269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Rectangle 44"/>
          <p:cNvSpPr/>
          <p:nvPr/>
        </p:nvSpPr>
        <p:spPr>
          <a:xfrm>
            <a:off x="8467608" y="4755591"/>
            <a:ext cx="176828" cy="15930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8850735" y="3295019"/>
            <a:ext cx="0" cy="34158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762321" y="3337718"/>
            <a:ext cx="176828" cy="2561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8" name="Rectangle 47"/>
          <p:cNvSpPr/>
          <p:nvPr/>
        </p:nvSpPr>
        <p:spPr>
          <a:xfrm>
            <a:off x="8762321" y="4488180"/>
            <a:ext cx="176828" cy="42672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9" name="Connector 48"/>
          <p:cNvCxnSpPr/>
          <p:nvPr/>
        </p:nvCxnSpPr>
        <p:spPr>
          <a:xfrm>
            <a:off x="9145448" y="3124226"/>
            <a:ext cx="0" cy="2561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9057034" y="3166925"/>
            <a:ext cx="176828" cy="1707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Rectangle 50"/>
          <p:cNvSpPr/>
          <p:nvPr/>
        </p:nvSpPr>
        <p:spPr>
          <a:xfrm>
            <a:off x="9057034" y="4573524"/>
            <a:ext cx="176828" cy="34137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440162" y="2996131"/>
            <a:ext cx="0" cy="2561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351748" y="3038830"/>
            <a:ext cx="176828" cy="1280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Rectangle 53"/>
          <p:cNvSpPr/>
          <p:nvPr/>
        </p:nvSpPr>
        <p:spPr>
          <a:xfrm>
            <a:off x="9351748" y="4658868"/>
            <a:ext cx="176828" cy="25603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5" name="Connector 54"/>
          <p:cNvCxnSpPr/>
          <p:nvPr/>
        </p:nvCxnSpPr>
        <p:spPr>
          <a:xfrm>
            <a:off x="9734875" y="2953433"/>
            <a:ext cx="0" cy="2561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9646461" y="3038830"/>
            <a:ext cx="176828" cy="8539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Rectangle 56"/>
          <p:cNvSpPr/>
          <p:nvPr/>
        </p:nvSpPr>
        <p:spPr>
          <a:xfrm>
            <a:off x="9646461" y="4715764"/>
            <a:ext cx="176828" cy="19913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029588" y="2868037"/>
            <a:ext cx="0" cy="29888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941174" y="2910735"/>
            <a:ext cx="176828" cy="2134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Rectangle 59"/>
          <p:cNvSpPr/>
          <p:nvPr/>
        </p:nvSpPr>
        <p:spPr>
          <a:xfrm>
            <a:off x="9941174" y="4687316"/>
            <a:ext cx="176828" cy="227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1" name="Connector 60"/>
          <p:cNvCxnSpPr/>
          <p:nvPr/>
        </p:nvCxnSpPr>
        <p:spPr>
          <a:xfrm>
            <a:off x="10324301" y="2782640"/>
            <a:ext cx="0" cy="25619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0235887" y="2825338"/>
            <a:ext cx="176828" cy="8539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Rectangle 62"/>
          <p:cNvSpPr/>
          <p:nvPr/>
        </p:nvSpPr>
        <p:spPr>
          <a:xfrm>
            <a:off x="10235887" y="4698695"/>
            <a:ext cx="176828" cy="216205"/>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TextBox 63"/>
          <p:cNvSpPr txBox="1"/>
          <p:nvPr/>
        </p:nvSpPr>
        <p:spPr>
          <a:xfrm>
            <a:off x="6397600" y="455828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65" name="Isosceles Triangle 64"/>
          <p:cNvSpPr/>
          <p:nvPr/>
        </p:nvSpPr>
        <p:spPr>
          <a:xfrm rot="10800000">
            <a:off x="8206445" y="3157859"/>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6" name="TextBox 65"/>
          <p:cNvSpPr txBox="1"/>
          <p:nvPr/>
        </p:nvSpPr>
        <p:spPr>
          <a:xfrm>
            <a:off x="7978138" y="2947547"/>
            <a:ext cx="566342"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Sirf wick</a:t>
            </a:r>
          </a:p>
        </p:txBody>
      </p:sp>
      <p:sp>
        <p:nvSpPr>
          <p:cNvPr id="67" name="Isosceles Triangle 66"/>
          <p:cNvSpPr/>
          <p:nvPr/>
        </p:nvSpPr>
        <p:spPr>
          <a:xfrm>
            <a:off x="8795871" y="3682326"/>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TextBox 67"/>
          <p:cNvSpPr txBox="1"/>
          <p:nvPr/>
        </p:nvSpPr>
        <p:spPr>
          <a:xfrm>
            <a:off x="8480401" y="3792054"/>
            <a:ext cx="740669"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Bahar close</a:t>
            </a:r>
          </a:p>
        </p:txBody>
      </p:sp>
      <p:sp>
        <p:nvSpPr>
          <p:cNvPr id="69" name="Rounded Rectangle 6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Rounded Rectangle 6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71" name="TextBox 7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Wick sirf ek chakkar hai; close ek faisla hai. ORB sirf close par trade karta hai.</a:t>
            </a:r>
          </a:p>
        </p:txBody>
      </p:sp>
      <p:pic>
        <p:nvPicPr>
          <p:cNvPr id="72" name="Picture 71" descr="logo.png"/>
          <p:cNvPicPr>
            <a:picLocks noChangeAspect="1"/>
          </p:cNvPicPr>
          <p:nvPr/>
        </p:nvPicPr>
        <p:blipFill>
          <a:blip r:embed="rId2"/>
          <a:stretch>
            <a:fillRect/>
          </a:stretch>
        </p:blipFill>
        <p:spPr>
          <a:xfrm>
            <a:off x="457200" y="6437376"/>
            <a:ext cx="237744" cy="237744"/>
          </a:xfrm>
          <a:prstGeom prst="rect">
            <a:avLst/>
          </a:prstGeom>
        </p:spPr>
      </p:pic>
      <p:sp>
        <p:nvSpPr>
          <p:cNvPr id="7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4" name="TextBox 7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Stop, profit exit, time exit aur size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Har ORB trade ke teen exit entry se pehle likh liye jaate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Stop range ki doosri taraf hota hai: long mein range low, short mein range high.</a:t>
            </a:r>
          </a:p>
          <a:p>
            <a:pPr algn="l" marL="274320" indent="-274320">
              <a:lnSpc>
                <a:spcPct val="100000"/>
              </a:lnSpc>
              <a:buClr>
                <a:srgbClr val="134A9A"/>
              </a:buClr>
              <a:buFont typeface="Arial"/>
              <a:buChar char="•"/>
            </a:pPr>
            <a:r>
              <a:rPr sz="1600" b="0" i="0">
                <a:solidFill>
                  <a:srgbClr val="18232F"/>
                </a:solidFill>
                <a:latin typeface="Segoe UI"/>
              </a:rPr>
              <a:t>Profit exit 2R par hai, yaani per share risk ka do guna, aur 14:30 par jo bhi khula ho, use band kar dijiye, broker ke square-off se kaafi pehle.</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entry Rs 1,012, stop Rs 1,000, yaani risk Rs 12 per share. Sirf 1% rule se 833 shares bante hain, lekin woh lagbhag Rs 8.4 lakh ke shares ho jaate hain, 25% cap yaani Rs 2.5 lakh se bahut zyada. Isliye Priya ke paper test mein 247 shares hain, aur risk Rs 2,964 hai, 1% se kam; 1% ek chhat hai, manzil nahi. Phir woh baaki din ka chart kholti hai aur jo pehle hua woh likhti hai: stop, profit exit ya 14:30. … Agar har jeet poore 2R tak pahunche, toh costs se pehle breakeven win-rate 1 ÷ (1 + 2), yaani lagbhag 33% hoga; 14:30 wale exit aur costs ise aur upar le jaate hain.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ORB trade ka size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Is trade ka risk: 247 x Rs 12 = Rs 2,964. 2R par profit exit: Rs 1,012 + Rs 24 = Rs 1,036.</a:t>
            </a:r>
          </a:p>
        </p:txBody>
      </p:sp>
      <p:sp>
        <p:nvSpPr>
          <p:cNvPr id="11" name="TextBox 10"/>
          <p:cNvSpPr txBox="1"/>
          <p:nvPr/>
        </p:nvSpPr>
        <p:spPr>
          <a:xfrm>
            <a:off x="6397600" y="1805940"/>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Entry (agla open)</a:t>
            </a:r>
          </a:p>
        </p:txBody>
      </p:sp>
      <p:sp>
        <p:nvSpPr>
          <p:cNvPr id="13" name="TextBox 12"/>
          <p:cNvSpPr txBox="1"/>
          <p:nvPr/>
        </p:nvSpPr>
        <p:spPr>
          <a:xfrm>
            <a:off x="10539090" y="1805940"/>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1,012</a:t>
            </a:r>
          </a:p>
        </p:txBody>
      </p:sp>
      <p:cxnSp>
        <p:nvCxnSpPr>
          <p:cNvPr id="14" name="Connector 13"/>
          <p:cNvCxnSpPr/>
          <p:nvPr/>
        </p:nvCxnSpPr>
        <p:spPr>
          <a:xfrm>
            <a:off x="6397600" y="234010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40102"/>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40102"/>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Stop (range low)</a:t>
            </a:r>
          </a:p>
        </p:txBody>
      </p:sp>
      <p:sp>
        <p:nvSpPr>
          <p:cNvPr id="17" name="TextBox 16"/>
          <p:cNvSpPr txBox="1"/>
          <p:nvPr/>
        </p:nvSpPr>
        <p:spPr>
          <a:xfrm>
            <a:off x="10539090" y="2340102"/>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a:t>
            </a:r>
          </a:p>
        </p:txBody>
      </p:sp>
      <p:cxnSp>
        <p:nvCxnSpPr>
          <p:cNvPr id="18" name="Connector 17"/>
          <p:cNvCxnSpPr/>
          <p:nvPr/>
        </p:nvCxnSpPr>
        <p:spPr>
          <a:xfrm>
            <a:off x="6397600" y="287426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7426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874264"/>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Per share risk</a:t>
            </a:r>
          </a:p>
        </p:txBody>
      </p:sp>
      <p:sp>
        <p:nvSpPr>
          <p:cNvPr id="21" name="TextBox 20"/>
          <p:cNvSpPr txBox="1"/>
          <p:nvPr/>
        </p:nvSpPr>
        <p:spPr>
          <a:xfrm>
            <a:off x="10539090" y="2874264"/>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a:t>
            </a:r>
          </a:p>
        </p:txBody>
      </p:sp>
      <p:cxnSp>
        <p:nvCxnSpPr>
          <p:cNvPr id="22" name="Connector 21"/>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08426"/>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4" name="TextBox 23"/>
          <p:cNvSpPr txBox="1"/>
          <p:nvPr/>
        </p:nvSpPr>
        <p:spPr>
          <a:xfrm>
            <a:off x="6726784" y="3408426"/>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 rule: Rs 10,000 ÷ 12</a:t>
            </a:r>
          </a:p>
        </p:txBody>
      </p:sp>
      <p:sp>
        <p:nvSpPr>
          <p:cNvPr id="25" name="TextBox 24"/>
          <p:cNvSpPr txBox="1"/>
          <p:nvPr/>
        </p:nvSpPr>
        <p:spPr>
          <a:xfrm>
            <a:off x="10539090" y="3408426"/>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833</a:t>
            </a:r>
          </a:p>
        </p:txBody>
      </p:sp>
      <p:cxnSp>
        <p:nvCxnSpPr>
          <p:cNvPr id="26" name="Connector 25"/>
          <p:cNvCxnSpPr/>
          <p:nvPr/>
        </p:nvCxnSpPr>
        <p:spPr>
          <a:xfrm>
            <a:off x="6397600" y="394258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942588"/>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8" name="TextBox 27"/>
          <p:cNvSpPr txBox="1"/>
          <p:nvPr/>
        </p:nvSpPr>
        <p:spPr>
          <a:xfrm>
            <a:off x="6726784" y="3942588"/>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25% cap: Rs 2,50,000 ÷ 1,012</a:t>
            </a:r>
          </a:p>
        </p:txBody>
      </p:sp>
      <p:sp>
        <p:nvSpPr>
          <p:cNvPr id="29" name="TextBox 28"/>
          <p:cNvSpPr txBox="1"/>
          <p:nvPr/>
        </p:nvSpPr>
        <p:spPr>
          <a:xfrm>
            <a:off x="10539090" y="3942588"/>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247</a:t>
            </a:r>
          </a:p>
        </p:txBody>
      </p:sp>
      <p:sp>
        <p:nvSpPr>
          <p:cNvPr id="30" name="Rounded Rectangle 29"/>
          <p:cNvSpPr/>
          <p:nvPr/>
        </p:nvSpPr>
        <p:spPr>
          <a:xfrm>
            <a:off x="6397600" y="4531614"/>
            <a:ext cx="5154016" cy="534162"/>
          </a:xfrm>
          <a:prstGeom prst="roundRect">
            <a:avLst>
              <a:gd name="adj" fmla="val 1369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53161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531614"/>
            <a:ext cx="3775730" cy="53416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Kharidne wale shares (chhota number)</a:t>
            </a:r>
          </a:p>
        </p:txBody>
      </p:sp>
      <p:sp>
        <p:nvSpPr>
          <p:cNvPr id="33" name="TextBox 32"/>
          <p:cNvSpPr txBox="1"/>
          <p:nvPr/>
        </p:nvSpPr>
        <p:spPr>
          <a:xfrm>
            <a:off x="10539090" y="4531614"/>
            <a:ext cx="939374" cy="53416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247</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 range ki doosri taraf, profit exit 2R, 14:30 tak bahar. Size = 1% rule aur 25% cap mein jo chhota ho.</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Cash mein short selling: trade se pehle rules samajhiye</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Short selling ka matlab hai woh shares bechna jo aapke paas hain hi nahi, is ummeed mein ki baad mein saste mein khareed lenge.</a:t>
            </a:r>
          </a:p>
          <a:p>
            <a:pPr algn="l" marL="274320" indent="-274320">
              <a:lnSpc>
                <a:spcPct val="100000"/>
              </a:lnSpc>
              <a:spcAft>
                <a:spcPts val="800"/>
              </a:spcAft>
              <a:buClr>
                <a:srgbClr val="134A9A"/>
              </a:buClr>
              <a:buFont typeface="Arial"/>
              <a:buChar char="•"/>
            </a:pPr>
            <a:r>
              <a:rPr sz="1600" b="0" i="0">
                <a:solidFill>
                  <a:srgbClr val="18232F"/>
                </a:solidFill>
                <a:latin typeface="Segoe UI"/>
              </a:rPr>
              <a:t>Cash segment mein normal trading account wala retail trader yeh sirf usi din ke andar kar sakta hai.</a:t>
            </a:r>
          </a:p>
          <a:p>
            <a:pPr algn="l" marL="274320" indent="-274320">
              <a:lnSpc>
                <a:spcPct val="100000"/>
              </a:lnSpc>
              <a:buClr>
                <a:srgbClr val="134A9A"/>
              </a:buClr>
              <a:buFont typeface="Arial"/>
              <a:buChar char="•"/>
            </a:pPr>
            <a:r>
              <a:rPr sz="1600" b="0" i="0">
                <a:solidFill>
                  <a:srgbClr val="18232F"/>
                </a:solidFill>
                <a:latin typeface="Segoe UI"/>
              </a:rPr>
              <a:t>(Short ko raat bhar rakhne ke liye alag securities lending scheme se udhaar shares chahiye, jo is course ke bahar hai.</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jis doosri purani subah tak peeche scroll karti hai, usmein Gupta Cement Ltd ki range Rs 497-505 hai. 9:50-9:55 wali candle Rs 495 par close hoti hai: range ke neeche, VWAP ke neeche, aur average se zyada volume ke saath. Priya ka paper short: agle open par Rs 495 par entry, stop range high Rs 505 par, risk Rs 10 per share. 1% rule 1,000 shares deta hai aur 25% cap 505, toh woh 505 shares short karti hai aur Rs 5,050 ka risk leti hai; uska 2R profit exit Rs 475 hai, aur 14:30 par jo bacha ho woh wapas khareed leti hai. … Auction ka bill aise hi banta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42976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Gupta Cement Ltd mein Priya ka paper short</a:t>
            </a:r>
          </a:p>
        </p:txBody>
      </p:sp>
      <p:sp>
        <p:nvSpPr>
          <p:cNvPr id="11" name="TextBox 10"/>
          <p:cNvSpPr txBox="1"/>
          <p:nvPr/>
        </p:nvSpPr>
        <p:spPr>
          <a:xfrm>
            <a:off x="6397600" y="4907280"/>
            <a:ext cx="5154016" cy="59740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9:15 se 5-minute candles. 9:35 wali candle range ke neeche sirf jhaank kar laut aayi; 9:50 wali candle strong volume ke saath range ke neeche close hui, VWAP (lagbhag Rs 499) ke neeche. Agle open par Rs 495 par entry, stop range high par. Baad mein price Rs 475 ke neeche trade hua, isliye buy-back Rs 475 par fill hoti hai. Stage 1: sirf paper, sirf cash shares.</a:t>
            </a:r>
          </a:p>
        </p:txBody>
      </p:sp>
      <p:cxnSp>
        <p:nvCxnSpPr>
          <p:cNvPr id="12" name="Connector 11"/>
          <p:cNvCxnSpPr/>
          <p:nvPr/>
        </p:nvCxnSpPr>
        <p:spPr>
          <a:xfrm>
            <a:off x="6935100" y="3681984"/>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59968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471.5</a:t>
            </a:r>
          </a:p>
        </p:txBody>
      </p:sp>
      <p:cxnSp>
        <p:nvCxnSpPr>
          <p:cNvPr id="14" name="Connector 13"/>
          <p:cNvCxnSpPr/>
          <p:nvPr/>
        </p:nvCxnSpPr>
        <p:spPr>
          <a:xfrm>
            <a:off x="6935100" y="3253232"/>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17093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483.5</a:t>
            </a:r>
          </a:p>
        </p:txBody>
      </p:sp>
      <p:cxnSp>
        <p:nvCxnSpPr>
          <p:cNvPr id="16" name="Connector 15"/>
          <p:cNvCxnSpPr/>
          <p:nvPr/>
        </p:nvCxnSpPr>
        <p:spPr>
          <a:xfrm>
            <a:off x="6935100" y="2824480"/>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4218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495.5</a:t>
            </a:r>
          </a:p>
        </p:txBody>
      </p:sp>
      <p:cxnSp>
        <p:nvCxnSpPr>
          <p:cNvPr id="18" name="Connector 17"/>
          <p:cNvCxnSpPr/>
          <p:nvPr/>
        </p:nvCxnSpPr>
        <p:spPr>
          <a:xfrm>
            <a:off x="6935100" y="2395728"/>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31343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507.5</a:t>
            </a:r>
          </a:p>
        </p:txBody>
      </p:sp>
      <p:cxnSp>
        <p:nvCxnSpPr>
          <p:cNvPr id="20" name="Connector 19"/>
          <p:cNvCxnSpPr/>
          <p:nvPr/>
        </p:nvCxnSpPr>
        <p:spPr>
          <a:xfrm>
            <a:off x="6935100" y="2484435"/>
            <a:ext cx="3648776"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20452" y="2392995"/>
            <a:ext cx="931163"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OR high</a:t>
            </a:r>
          </a:p>
        </p:txBody>
      </p:sp>
      <p:cxnSp>
        <p:nvCxnSpPr>
          <p:cNvPr id="22" name="Connector 21"/>
          <p:cNvCxnSpPr/>
          <p:nvPr/>
        </p:nvCxnSpPr>
        <p:spPr>
          <a:xfrm>
            <a:off x="6935100" y="2770588"/>
            <a:ext cx="3648776"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620452" y="2679148"/>
            <a:ext cx="931163"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OR low</a:t>
            </a:r>
          </a:p>
        </p:txBody>
      </p:sp>
      <p:cxnSp>
        <p:nvCxnSpPr>
          <p:cNvPr id="24" name="Connector 23"/>
          <p:cNvCxnSpPr/>
          <p:nvPr/>
        </p:nvCxnSpPr>
        <p:spPr>
          <a:xfrm>
            <a:off x="6935100" y="3557508"/>
            <a:ext cx="3648776"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620452" y="3466068"/>
            <a:ext cx="931163"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 exit</a:t>
            </a:r>
          </a:p>
        </p:txBody>
      </p:sp>
      <p:cxnSp>
        <p:nvCxnSpPr>
          <p:cNvPr id="26" name="Connector 25"/>
          <p:cNvCxnSpPr/>
          <p:nvPr/>
        </p:nvCxnSpPr>
        <p:spPr>
          <a:xfrm>
            <a:off x="7035439" y="2484435"/>
            <a:ext cx="0" cy="21461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975235" y="2591743"/>
            <a:ext cx="120407" cy="3576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6975235" y="4303776"/>
            <a:ext cx="120407"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9" name="Connector 28"/>
          <p:cNvCxnSpPr/>
          <p:nvPr/>
        </p:nvCxnSpPr>
        <p:spPr>
          <a:xfrm>
            <a:off x="7236117" y="2520204"/>
            <a:ext cx="0" cy="25038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175913" y="2591743"/>
            <a:ext cx="120407" cy="10730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7175913" y="4431792"/>
            <a:ext cx="120407" cy="38404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436794" y="2555973"/>
            <a:ext cx="0" cy="17884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376591" y="2663281"/>
            <a:ext cx="120407" cy="3576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ectangle 33"/>
          <p:cNvSpPr/>
          <p:nvPr/>
        </p:nvSpPr>
        <p:spPr>
          <a:xfrm>
            <a:off x="7376591" y="4495800"/>
            <a:ext cx="120407" cy="32004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5" name="Connector 34"/>
          <p:cNvCxnSpPr/>
          <p:nvPr/>
        </p:nvCxnSpPr>
        <p:spPr>
          <a:xfrm>
            <a:off x="7637472" y="2591743"/>
            <a:ext cx="0" cy="16096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577269" y="2663281"/>
            <a:ext cx="120407" cy="7153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Rectangle 36"/>
          <p:cNvSpPr/>
          <p:nvPr/>
        </p:nvSpPr>
        <p:spPr>
          <a:xfrm>
            <a:off x="7577269" y="4591812"/>
            <a:ext cx="120407" cy="22402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7838150" y="2663281"/>
            <a:ext cx="0" cy="14307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777947" y="2734819"/>
            <a:ext cx="120407" cy="182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Rectangle 39"/>
          <p:cNvSpPr/>
          <p:nvPr/>
        </p:nvSpPr>
        <p:spPr>
          <a:xfrm>
            <a:off x="7777947" y="4623816"/>
            <a:ext cx="120407" cy="19202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1" name="Connector 40"/>
          <p:cNvCxnSpPr/>
          <p:nvPr/>
        </p:nvCxnSpPr>
        <p:spPr>
          <a:xfrm>
            <a:off x="8038828" y="2663281"/>
            <a:ext cx="0" cy="107307"/>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978624" y="2699050"/>
            <a:ext cx="120407" cy="5365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ectangle 42"/>
          <p:cNvSpPr/>
          <p:nvPr/>
        </p:nvSpPr>
        <p:spPr>
          <a:xfrm>
            <a:off x="7978624" y="4636618"/>
            <a:ext cx="120407" cy="1792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8239506" y="2663281"/>
            <a:ext cx="0" cy="8942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179302" y="2699050"/>
            <a:ext cx="120407" cy="3576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Rectangle 45"/>
          <p:cNvSpPr/>
          <p:nvPr/>
        </p:nvSpPr>
        <p:spPr>
          <a:xfrm>
            <a:off x="8179302" y="4649419"/>
            <a:ext cx="120407" cy="166421"/>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7" name="Connector 46"/>
          <p:cNvCxnSpPr/>
          <p:nvPr/>
        </p:nvCxnSpPr>
        <p:spPr>
          <a:xfrm>
            <a:off x="8440183" y="2716934"/>
            <a:ext cx="0" cy="16096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379980" y="2734819"/>
            <a:ext cx="120407" cy="10730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ectangle 48"/>
          <p:cNvSpPr/>
          <p:nvPr/>
        </p:nvSpPr>
        <p:spPr>
          <a:xfrm>
            <a:off x="8379980" y="4367784"/>
            <a:ext cx="120407" cy="44805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8640861" y="2770588"/>
            <a:ext cx="0" cy="17884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580658" y="2842126"/>
            <a:ext cx="120407" cy="7153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2" name="Rectangle 51"/>
          <p:cNvSpPr/>
          <p:nvPr/>
        </p:nvSpPr>
        <p:spPr>
          <a:xfrm>
            <a:off x="8580658" y="4463796"/>
            <a:ext cx="120407" cy="35204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3" name="Connector 52"/>
          <p:cNvCxnSpPr/>
          <p:nvPr/>
        </p:nvCxnSpPr>
        <p:spPr>
          <a:xfrm>
            <a:off x="8841539" y="2806357"/>
            <a:ext cx="0" cy="1788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8781336" y="2842126"/>
            <a:ext cx="120407" cy="7153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Rectangle 54"/>
          <p:cNvSpPr/>
          <p:nvPr/>
        </p:nvSpPr>
        <p:spPr>
          <a:xfrm>
            <a:off x="8781336" y="4559808"/>
            <a:ext cx="120407" cy="25603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9042217" y="2734819"/>
            <a:ext cx="0" cy="1430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8982013" y="2788472"/>
            <a:ext cx="120407" cy="5365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Rectangle 57"/>
          <p:cNvSpPr/>
          <p:nvPr/>
        </p:nvSpPr>
        <p:spPr>
          <a:xfrm>
            <a:off x="8982013" y="4591812"/>
            <a:ext cx="120407" cy="22402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9" name="Connector 58"/>
          <p:cNvCxnSpPr/>
          <p:nvPr/>
        </p:nvCxnSpPr>
        <p:spPr>
          <a:xfrm>
            <a:off x="9242895" y="2752703"/>
            <a:ext cx="0" cy="19673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9182691" y="2788472"/>
            <a:ext cx="120407" cy="12519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Rectangle 60"/>
          <p:cNvSpPr/>
          <p:nvPr/>
        </p:nvSpPr>
        <p:spPr>
          <a:xfrm>
            <a:off x="9182691" y="4527804"/>
            <a:ext cx="120407" cy="28803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9443572" y="2877895"/>
            <a:ext cx="0" cy="21461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383369" y="2913664"/>
            <a:ext cx="120407" cy="14307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Rectangle 63"/>
          <p:cNvSpPr/>
          <p:nvPr/>
        </p:nvSpPr>
        <p:spPr>
          <a:xfrm>
            <a:off x="9383369" y="4495800"/>
            <a:ext cx="120407" cy="32004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5" name="Connector 64"/>
          <p:cNvCxnSpPr/>
          <p:nvPr/>
        </p:nvCxnSpPr>
        <p:spPr>
          <a:xfrm>
            <a:off x="9644250" y="2985202"/>
            <a:ext cx="0" cy="21461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9584047" y="3056741"/>
            <a:ext cx="120407" cy="10730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Rectangle 66"/>
          <p:cNvSpPr/>
          <p:nvPr/>
        </p:nvSpPr>
        <p:spPr>
          <a:xfrm>
            <a:off x="9584047" y="4559808"/>
            <a:ext cx="120407"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8" name="Connector 67"/>
          <p:cNvCxnSpPr/>
          <p:nvPr/>
        </p:nvCxnSpPr>
        <p:spPr>
          <a:xfrm>
            <a:off x="9844928" y="3056741"/>
            <a:ext cx="0" cy="1788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784725" y="3092510"/>
            <a:ext cx="120407" cy="7153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Rectangle 69"/>
          <p:cNvSpPr/>
          <p:nvPr/>
        </p:nvSpPr>
        <p:spPr>
          <a:xfrm>
            <a:off x="9784725" y="4623816"/>
            <a:ext cx="120407" cy="19202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1" name="Connector 70"/>
          <p:cNvCxnSpPr/>
          <p:nvPr/>
        </p:nvCxnSpPr>
        <p:spPr>
          <a:xfrm>
            <a:off x="10045606" y="3056741"/>
            <a:ext cx="0" cy="28615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9985402" y="3092510"/>
            <a:ext cx="120407" cy="21461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3" name="Rectangle 72"/>
          <p:cNvSpPr/>
          <p:nvPr/>
        </p:nvSpPr>
        <p:spPr>
          <a:xfrm>
            <a:off x="9985402" y="4572610"/>
            <a:ext cx="120407" cy="24323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4" name="Connector 73"/>
          <p:cNvCxnSpPr/>
          <p:nvPr/>
        </p:nvCxnSpPr>
        <p:spPr>
          <a:xfrm>
            <a:off x="10246284" y="3235586"/>
            <a:ext cx="0" cy="25038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0186080" y="3307124"/>
            <a:ext cx="120407" cy="14307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6" name="Rectangle 75"/>
          <p:cNvSpPr/>
          <p:nvPr/>
        </p:nvSpPr>
        <p:spPr>
          <a:xfrm>
            <a:off x="10186080" y="4547006"/>
            <a:ext cx="120407" cy="26883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7" name="Connector 76"/>
          <p:cNvCxnSpPr/>
          <p:nvPr/>
        </p:nvCxnSpPr>
        <p:spPr>
          <a:xfrm>
            <a:off x="10446961" y="3378662"/>
            <a:ext cx="0" cy="21461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0386758" y="3450200"/>
            <a:ext cx="120407" cy="7153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Rectangle 78"/>
          <p:cNvSpPr/>
          <p:nvPr/>
        </p:nvSpPr>
        <p:spPr>
          <a:xfrm>
            <a:off x="10386758" y="4508602"/>
            <a:ext cx="120407" cy="30723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0" name="TextBox 79"/>
          <p:cNvSpPr txBox="1"/>
          <p:nvPr/>
        </p:nvSpPr>
        <p:spPr>
          <a:xfrm>
            <a:off x="6397600" y="445922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81" name="Isosceles Triangle 80"/>
          <p:cNvSpPr/>
          <p:nvPr/>
        </p:nvSpPr>
        <p:spPr>
          <a:xfrm>
            <a:off x="7783286" y="2852077"/>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2" name="TextBox 81"/>
          <p:cNvSpPr txBox="1"/>
          <p:nvPr/>
        </p:nvSpPr>
        <p:spPr>
          <a:xfrm>
            <a:off x="7554979" y="2961805"/>
            <a:ext cx="566342"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Sirf wick</a:t>
            </a:r>
          </a:p>
        </p:txBody>
      </p:sp>
      <p:sp>
        <p:nvSpPr>
          <p:cNvPr id="83" name="Isosceles Triangle 82"/>
          <p:cNvSpPr/>
          <p:nvPr/>
        </p:nvSpPr>
        <p:spPr>
          <a:xfrm>
            <a:off x="8385319" y="2923615"/>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4" name="TextBox 83"/>
          <p:cNvSpPr txBox="1"/>
          <p:nvPr/>
        </p:nvSpPr>
        <p:spPr>
          <a:xfrm>
            <a:off x="8019180" y="3225367"/>
            <a:ext cx="842006"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Neeche close</a:t>
            </a:r>
          </a:p>
        </p:txBody>
      </p:sp>
      <p:sp>
        <p:nvSpPr>
          <p:cNvPr id="85" name="Isosceles Triangle 84"/>
          <p:cNvSpPr/>
          <p:nvPr/>
        </p:nvSpPr>
        <p:spPr>
          <a:xfrm rot="10800000">
            <a:off x="8585997" y="2633428"/>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6" name="TextBox 85"/>
          <p:cNvSpPr txBox="1"/>
          <p:nvPr/>
        </p:nvSpPr>
        <p:spPr>
          <a:xfrm>
            <a:off x="8328721" y="2423116"/>
            <a:ext cx="624280"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 495</a:t>
            </a:r>
          </a:p>
        </p:txBody>
      </p:sp>
      <p:sp>
        <p:nvSpPr>
          <p:cNvPr id="87" name="Isosceles Triangle 86"/>
          <p:cNvSpPr/>
          <p:nvPr/>
        </p:nvSpPr>
        <p:spPr>
          <a:xfrm>
            <a:off x="10392097" y="3638997"/>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8" name="TextBox 87"/>
          <p:cNvSpPr txBox="1"/>
          <p:nvPr/>
        </p:nvSpPr>
        <p:spPr>
          <a:xfrm>
            <a:off x="10139808" y="3748725"/>
            <a:ext cx="614307"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Buy-back</a:t>
            </a:r>
          </a:p>
        </p:txBody>
      </p:sp>
      <p:sp>
        <p:nvSpPr>
          <p:cNvPr id="89" name="Rounded Rectangle 8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0" name="Rounded Rectangle 8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91" name="TextBox 9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Cash ka short sirf ek din ka hota hai. Har baar 14:30 tak wapas khareed lijiye.</a:t>
            </a:r>
          </a:p>
        </p:txBody>
      </p:sp>
      <p:pic>
        <p:nvPicPr>
          <p:cNvPr id="92" name="Picture 91" descr="logo.png"/>
          <p:cNvPicPr>
            <a:picLocks noChangeAspect="1"/>
          </p:cNvPicPr>
          <p:nvPr/>
        </p:nvPicPr>
        <p:blipFill>
          <a:blip r:embed="rId2"/>
          <a:stretch>
            <a:fillRect/>
          </a:stretch>
        </p:blipFill>
        <p:spPr>
          <a:xfrm>
            <a:off x="457200" y="6437376"/>
            <a:ext cx="237744" cy="237744"/>
          </a:xfrm>
          <a:prstGeom prst="rect">
            <a:avLst/>
          </a:prstGeom>
        </p:spPr>
      </p:pic>
      <p:sp>
        <p:nvSpPr>
          <p:cNvPr id="9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4" name="TextBox 9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Gap days aur aapki starter no-trade list</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Kai baar subah ka sabse achha ORB trade yahi hota hai ki trade hi na karein.</a:t>
            </a:r>
          </a:p>
          <a:p>
            <a:pPr algn="l" marL="274320" indent="-274320">
              <a:lnSpc>
                <a:spcPct val="100000"/>
              </a:lnSpc>
              <a:spcAft>
                <a:spcPts val="750"/>
              </a:spcAft>
              <a:buClr>
                <a:srgbClr val="134A9A"/>
              </a:buClr>
              <a:buFont typeface="Arial"/>
              <a:buChar char="•"/>
            </a:pPr>
            <a:r>
              <a:rPr sz="1500" b="0" i="0">
                <a:solidFill>
                  <a:srgbClr val="18232F"/>
                </a:solidFill>
                <a:latin typeface="Segoe UI"/>
              </a:rPr>
              <a:t>Gap day woh din hai jab stock kal ke high se upar ya kal ke low se neeche khulta hai, aksar raat ki kisi news par.</a:t>
            </a:r>
          </a:p>
          <a:p>
            <a:pPr algn="l" marL="274320" indent="-274320">
              <a:lnSpc>
                <a:spcPct val="100000"/>
              </a:lnSpc>
              <a:spcAft>
                <a:spcPts val="750"/>
              </a:spcAft>
              <a:buClr>
                <a:srgbClr val="134A9A"/>
              </a:buClr>
              <a:buFont typeface="Arial"/>
              <a:buChar char="•"/>
            </a:pPr>
            <a:r>
              <a:rPr sz="1500" b="0" i="0">
                <a:solidFill>
                  <a:srgbClr val="18232F"/>
                </a:solidFill>
                <a:latin typeface="Segoe UI"/>
              </a:rPr>
              <a:t>Aise din pehle 15 minute aksar bahut uthal-puthal bhare hote hain, range bahut chaudi ho sakti hai, aur range banne se pehle hi move ka ek hissa nikal chuka ho sakta hai.</a:t>
            </a:r>
          </a:p>
          <a:p>
            <a:pPr algn="l" marL="274320" indent="-274320">
              <a:lnSpc>
                <a:spcPct val="100000"/>
              </a:lnSpc>
              <a:buClr>
                <a:srgbClr val="134A9A"/>
              </a:buClr>
              <a:buFont typeface="Arial"/>
              <a:buChar char="•"/>
            </a:pPr>
            <a:r>
              <a:rPr sz="1500" b="0" i="0">
                <a:solidFill>
                  <a:srgbClr val="18232F"/>
                </a:solidFill>
                <a:latin typeface="Segoe UI"/>
              </a:rPr>
              <a:t>Kisi stock ke gap day par us mein ORB mat kijiye.</a:t>
            </a:r>
          </a:p>
        </p:txBody>
      </p:sp>
      <p:sp>
        <p:nvSpPr>
          <p:cNvPr id="5" name="Rounded Rectangle 4"/>
          <p:cNvSpPr/>
          <p:nvPr/>
        </p:nvSpPr>
        <p:spPr>
          <a:xfrm>
            <a:off x="6214720" y="1335024"/>
            <a:ext cx="5519776" cy="2162556"/>
          </a:xfrm>
          <a:prstGeom prst="roundRect">
            <a:avLst>
              <a:gd name="adj" fmla="val 50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053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Sunday ko purane charts ki practice mein, Sharma Textiles Ltd pichhle din Rs 290 aur Rs 300 ke beech trade hua tha, phir raat ki news ke baad Rs 318 par khula, pichhle din ke high ke upar: gap day. Call par Aman is 'strength' ko khareedna chahta hai. Priya apna card dekhti hai, 'gap day: skip' padhti hai, aur journal mein 'Skipped: gap day' likh deti hai. Day 12 ke adherence score mein yeh bhi rules follow karna hi gina jaata hai.</a:t>
            </a:r>
          </a:p>
        </p:txBody>
      </p:sp>
      <p:sp>
        <p:nvSpPr>
          <p:cNvPr id="8" name="Rounded Rectangle 7"/>
          <p:cNvSpPr/>
          <p:nvPr/>
        </p:nvSpPr>
        <p:spPr>
          <a:xfrm>
            <a:off x="457200" y="3662172"/>
            <a:ext cx="11277295" cy="1952244"/>
          </a:xfrm>
          <a:prstGeom prst="roundRect">
            <a:avLst>
              <a:gd name="adj" fmla="val 56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084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Pre-trade gate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Kahin bhi ek 'nahi' ka matlab: aaj us stock mein ORB trade nahi.</a:t>
            </a:r>
          </a:p>
        </p:txBody>
      </p:sp>
      <p:sp>
        <p:nvSpPr>
          <p:cNvPr id="11" name="Rounded Rectangle 10"/>
          <p:cNvSpPr/>
          <p:nvPr/>
        </p:nvSpPr>
        <p:spPr>
          <a:xfrm>
            <a:off x="640080" y="4165854"/>
            <a:ext cx="1224229" cy="1027176"/>
          </a:xfrm>
          <a:prstGeom prst="roundRect">
            <a:avLst>
              <a:gd name="adj" fmla="val 890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NIFTY 50 stock?</a:t>
            </a:r>
          </a:p>
          <a:p>
            <a:pPr algn="ctr">
              <a:lnSpc>
                <a:spcPct val="100000"/>
              </a:lnSpc>
            </a:pPr>
            <a:r>
              <a:rPr sz="1000" b="0" i="0">
                <a:solidFill>
                  <a:srgbClr val="47596B"/>
                </a:solidFill>
                <a:latin typeface="Segoe UI"/>
              </a:rPr>
              <a:t>Liquid, kam spread</a:t>
            </a:r>
          </a:p>
        </p:txBody>
      </p:sp>
      <p:sp>
        <p:nvSpPr>
          <p:cNvPr id="13" name="Right Arrow 12"/>
          <p:cNvSpPr/>
          <p:nvPr/>
        </p:nvSpPr>
        <p:spPr>
          <a:xfrm>
            <a:off x="2083765"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haan</a:t>
            </a:r>
          </a:p>
        </p:txBody>
      </p:sp>
      <p:sp>
        <p:nvSpPr>
          <p:cNvPr id="15" name="Rounded Rectangle 14"/>
          <p:cNvSpPr/>
          <p:nvPr/>
        </p:nvSpPr>
        <p:spPr>
          <a:xfrm>
            <a:off x="2577541" y="4165854"/>
            <a:ext cx="1224229" cy="1027176"/>
          </a:xfrm>
          <a:prstGeom prst="roundRect">
            <a:avLst>
              <a:gd name="adj" fmla="val 890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Aaj gap nahi?</a:t>
            </a:r>
          </a:p>
          <a:p>
            <a:pPr algn="ctr">
              <a:lnSpc>
                <a:spcPct val="100000"/>
              </a:lnSpc>
            </a:pPr>
            <a:r>
              <a:rPr sz="1000" b="0" i="0">
                <a:solidFill>
                  <a:srgbClr val="47596B"/>
                </a:solidFill>
                <a:latin typeface="Segoe UI"/>
              </a:rPr>
              <a:t>Kal ki range ke andar khula</a:t>
            </a:r>
          </a:p>
        </p:txBody>
      </p:sp>
      <p:sp>
        <p:nvSpPr>
          <p:cNvPr id="17" name="Right Arrow 16"/>
          <p:cNvSpPr/>
          <p:nvPr/>
        </p:nvSpPr>
        <p:spPr>
          <a:xfrm>
            <a:off x="4021226"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haan</a:t>
            </a:r>
          </a:p>
        </p:txBody>
      </p:sp>
      <p:sp>
        <p:nvSpPr>
          <p:cNvPr id="19" name="Rounded Rectangle 18"/>
          <p:cNvSpPr/>
          <p:nvPr/>
        </p:nvSpPr>
        <p:spPr>
          <a:xfrm>
            <a:off x="4515002" y="4165854"/>
            <a:ext cx="1224229" cy="1027176"/>
          </a:xfrm>
          <a:prstGeom prst="roundRect">
            <a:avLst>
              <a:gd name="adj" fmla="val 890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Results ya news nahi?</a:t>
            </a:r>
          </a:p>
          <a:p>
            <a:pPr algn="ctr">
              <a:lnSpc>
                <a:spcPct val="100000"/>
              </a:lnSpc>
            </a:pPr>
            <a:r>
              <a:rPr sz="1000" b="0" i="0">
                <a:solidFill>
                  <a:srgbClr val="47596B"/>
                </a:solidFill>
                <a:latin typeface="Segoe UI"/>
              </a:rPr>
              <a:t>Exchange announcements check kijiye</a:t>
            </a:r>
          </a:p>
        </p:txBody>
      </p:sp>
      <p:sp>
        <p:nvSpPr>
          <p:cNvPr id="21" name="Right Arrow 20"/>
          <p:cNvSpPr/>
          <p:nvPr/>
        </p:nvSpPr>
        <p:spPr>
          <a:xfrm>
            <a:off x="5958688"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haan</a:t>
            </a:r>
          </a:p>
        </p:txBody>
      </p:sp>
      <p:sp>
        <p:nvSpPr>
          <p:cNvPr id="23" name="Rounded Rectangle 22"/>
          <p:cNvSpPr/>
          <p:nvPr/>
        </p:nvSpPr>
        <p:spPr>
          <a:xfrm>
            <a:off x="6452464" y="4165854"/>
            <a:ext cx="1224229" cy="1027176"/>
          </a:xfrm>
          <a:prstGeom prst="roundRect">
            <a:avLst>
              <a:gd name="adj" fmla="val 890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Price band se door?</a:t>
            </a:r>
          </a:p>
          <a:p>
            <a:pPr algn="ctr">
              <a:lnSpc>
                <a:spcPct val="100000"/>
              </a:lnSpc>
            </a:pPr>
            <a:r>
              <a:rPr sz="1000" b="0" i="0">
                <a:solidFill>
                  <a:srgbClr val="47596B"/>
                </a:solidFill>
                <a:latin typeface="Segoe UI"/>
              </a:rPr>
              <a:t>NSE quote page par dekhiye</a:t>
            </a:r>
          </a:p>
        </p:txBody>
      </p:sp>
      <p:sp>
        <p:nvSpPr>
          <p:cNvPr id="25" name="Right Arrow 24"/>
          <p:cNvSpPr/>
          <p:nvPr/>
        </p:nvSpPr>
        <p:spPr>
          <a:xfrm>
            <a:off x="7896149"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haan</a:t>
            </a:r>
          </a:p>
        </p:txBody>
      </p:sp>
      <p:sp>
        <p:nvSpPr>
          <p:cNvPr id="27" name="Rounded Rectangle 26"/>
          <p:cNvSpPr/>
          <p:nvPr/>
        </p:nvSpPr>
        <p:spPr>
          <a:xfrm>
            <a:off x="8389925" y="4165854"/>
            <a:ext cx="1224229" cy="1027176"/>
          </a:xfrm>
          <a:prstGeom prst="roundRect">
            <a:avLst>
              <a:gd name="adj" fmla="val 890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Aaj gunjaaish baaki?</a:t>
            </a:r>
          </a:p>
          <a:p>
            <a:pPr algn="ctr">
              <a:lnSpc>
                <a:spcPct val="100000"/>
              </a:lnSpc>
            </a:pPr>
            <a:r>
              <a:rPr sz="1000" b="0" i="0">
                <a:solidFill>
                  <a:srgbClr val="47596B"/>
                </a:solidFill>
                <a:latin typeface="Segoe UI"/>
              </a:rPr>
              <a:t>-2R se upar, 2 se kam stop-out, 3 se kam khule</a:t>
            </a:r>
          </a:p>
        </p:txBody>
      </p:sp>
      <p:sp>
        <p:nvSpPr>
          <p:cNvPr id="29" name="Right Arrow 28"/>
          <p:cNvSpPr/>
          <p:nvPr/>
        </p:nvSpPr>
        <p:spPr>
          <a:xfrm>
            <a:off x="9833610" y="45880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4142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haan</a:t>
            </a:r>
          </a:p>
        </p:txBody>
      </p:sp>
      <p:sp>
        <p:nvSpPr>
          <p:cNvPr id="31" name="Rounded Rectangle 30"/>
          <p:cNvSpPr/>
          <p:nvPr/>
        </p:nvSpPr>
        <p:spPr>
          <a:xfrm>
            <a:off x="10327386" y="4165854"/>
            <a:ext cx="1224229" cy="1027176"/>
          </a:xfrm>
          <a:prstGeom prst="roundRect">
            <a:avLst>
              <a:gd name="adj" fmla="val 890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4165854"/>
            <a:ext cx="1004773" cy="1027176"/>
          </a:xfrm>
          <a:prstGeom prst="rect">
            <a:avLst/>
          </a:prstGeom>
          <a:noFill/>
        </p:spPr>
        <p:txBody>
          <a:bodyPr wrap="square" lIns="0" rIns="0" tIns="0" bIns="0" anchor="ctr">
            <a:noAutofit/>
          </a:bodyPr>
          <a:lstStyle/>
          <a:p>
            <a:pPr algn="ctr">
              <a:lnSpc>
                <a:spcPct val="100000"/>
              </a:lnSpc>
            </a:pPr>
            <a:r>
              <a:rPr sz="1150" b="1" i="0">
                <a:solidFill>
                  <a:srgbClr val="18232F"/>
                </a:solidFill>
                <a:latin typeface="Segoe UI"/>
              </a:rPr>
              <a:t>Range mark kijiye</a:t>
            </a:r>
          </a:p>
          <a:p>
            <a:pPr algn="ctr">
              <a:lnSpc>
                <a:spcPct val="100000"/>
              </a:lnSpc>
            </a:pPr>
            <a:r>
              <a:rPr sz="1000" b="0" i="0">
                <a:solidFill>
                  <a:srgbClr val="47596B"/>
                </a:solidFill>
                <a:latin typeface="Segoe UI"/>
              </a:rPr>
              <a:t>Phir close ka intezaar</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5" name="TextBox 3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No-trade day ek faisla hai, chhoota hua mauka nahi, aur yeh bhi rules follow karna hi gina jaata hai.</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Breakout FOMO: jis trade ke peeche aap bhaagte hain</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FOMO, yaani fear of missing out, woh khinchaav hai jo tab mehsoos hota hai jab price bhaag raha ho aur lage ki sab log andar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ORB mein yeh teen tarah se dikhta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Fakeout, yaani nakli breakout jo wapas range ke andar aa jaata hai, aksar teeno ko sazaa deta hai.</a:t>
            </a:r>
          </a:p>
          <a:p>
            <a:pPr algn="l" marL="274320" indent="-274320">
              <a:lnSpc>
                <a:spcPct val="100000"/>
              </a:lnSpc>
              <a:buClr>
                <a:srgbClr val="134A9A"/>
              </a:buClr>
              <a:buFont typeface="Arial"/>
              <a:buChar char="•"/>
            </a:pPr>
            <a:r>
              <a:rPr sz="1600" b="0" i="0">
                <a:solidFill>
                  <a:srgbClr val="18232F"/>
                </a:solidFill>
                <a:latin typeface="Segoe UI"/>
              </a:rPr>
              <a:t>Rule seedha hai: entry sirf us pehle bahar close ke baad wale open par, jo dono checks paas kare, aur woh open 11:00 tak aana chahiye.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ke chart mein signal 9:45-9:50 wali candle thi aur entry Rs 1,012 par thi. Usi subah 10:30 par Aman desk par phone dekhta hai, stock Rs 1,028 par hai, aur woh andar ghusna chahta hai. Uska stop ab bhi range low Rs 1,000 hi hoga, toh per share risk Rs 12 se Rs 28 ho jaata hai, aur 2R profit exit Rs 1,036 se khisak kar Rs 1,084 par chala jaata hai. 25% cap ke andar rehkar bhi uska rupee risk do guna se zyada ho jaata hai.</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Peeche bhaagne par rupee risk</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Wahi stop Rs 1,000, size 25% cap par (247, 245, 243 shares). 2R profit exit Rs 1,036 se Rs 1,060 aur phir Rs 1,084 tak khisak jaata hai.</a:t>
            </a:r>
          </a:p>
        </p:txBody>
      </p:sp>
      <p:sp>
        <p:nvSpPr>
          <p:cNvPr id="11" name="TextBox 10"/>
          <p:cNvSpPr txBox="1"/>
          <p:nvPr/>
        </p:nvSpPr>
        <p:spPr>
          <a:xfrm>
            <a:off x="6397600" y="2448306"/>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1,012</a:t>
            </a:r>
          </a:p>
        </p:txBody>
      </p:sp>
      <p:sp>
        <p:nvSpPr>
          <p:cNvPr id="12" name="Rounded Rectangle 11"/>
          <p:cNvSpPr/>
          <p:nvPr/>
        </p:nvSpPr>
        <p:spPr>
          <a:xfrm>
            <a:off x="7722015" y="2622042"/>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722015" y="2622042"/>
            <a:ext cx="1264401"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15947" y="2448306"/>
            <a:ext cx="863100"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Rs 2,964</a:t>
            </a:r>
          </a:p>
        </p:txBody>
      </p:sp>
      <p:sp>
        <p:nvSpPr>
          <p:cNvPr id="15" name="TextBox 14"/>
          <p:cNvSpPr txBox="1"/>
          <p:nvPr/>
        </p:nvSpPr>
        <p:spPr>
          <a:xfrm>
            <a:off x="6397600" y="3106674"/>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1,020</a:t>
            </a:r>
          </a:p>
        </p:txBody>
      </p:sp>
      <p:sp>
        <p:nvSpPr>
          <p:cNvPr id="16" name="Rounded Rectangle 15"/>
          <p:cNvSpPr/>
          <p:nvPr/>
        </p:nvSpPr>
        <p:spPr>
          <a:xfrm>
            <a:off x="7722015" y="3280410"/>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722015" y="3280410"/>
            <a:ext cx="2090272"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15947" y="3106674"/>
            <a:ext cx="86310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4,900</a:t>
            </a:r>
          </a:p>
        </p:txBody>
      </p:sp>
      <p:sp>
        <p:nvSpPr>
          <p:cNvPr id="19" name="TextBox 18"/>
          <p:cNvSpPr txBox="1"/>
          <p:nvPr/>
        </p:nvSpPr>
        <p:spPr>
          <a:xfrm>
            <a:off x="6397600" y="3765042"/>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1,028</a:t>
            </a:r>
          </a:p>
        </p:txBody>
      </p:sp>
      <p:sp>
        <p:nvSpPr>
          <p:cNvPr id="20" name="Rounded Rectangle 19"/>
          <p:cNvSpPr/>
          <p:nvPr/>
        </p:nvSpPr>
        <p:spPr>
          <a:xfrm>
            <a:off x="7722015" y="3938778"/>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722015" y="3938778"/>
            <a:ext cx="2902492"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15947" y="3765042"/>
            <a:ext cx="86310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6,804</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5" name="TextBox 24"/>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Chhoota hua trade nuksaan nahi hai. Agle setup ka intezaar muft hai.</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Opening range (OR)</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Trading ke pehle 15 minute, 9:15 se 9:30, ka high aur low. ORB iske bahar close ka intezaar karta hai.</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Breakout close</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5-minute candle jo opening range ke bahar close ho. Sirf bahar jhaankti wick nahi ginti.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63774"/>
            <a:ext cx="5154016" cy="224028"/>
          </a:xfrm>
          <a:prstGeom prst="rect">
            <a:avLst/>
          </a:prstGeom>
          <a:noFill/>
        </p:spPr>
        <p:txBody>
          <a:bodyPr wrap="square" lIns="0" rIns="0" tIns="0" bIns="0" anchor="t">
            <a:noAutofit/>
          </a:bodyPr>
          <a:lstStyle/>
          <a:p>
            <a:pPr algn="l">
              <a:lnSpc>
                <a:spcPct val="100000"/>
              </a:lnSpc>
            </a:pPr>
            <a:r>
              <a:rPr sz="1350" b="1" i="0">
                <a:solidFill>
                  <a:srgbClr val="134A9A"/>
                </a:solidFill>
                <a:latin typeface="Segoe UI"/>
              </a:rPr>
              <a:t>Fakeout</a:t>
            </a:r>
          </a:p>
        </p:txBody>
      </p:sp>
      <p:sp>
        <p:nvSpPr>
          <p:cNvPr id="12" name="TextBox 11"/>
          <p:cNvSpPr txBox="1"/>
          <p:nvPr/>
        </p:nvSpPr>
        <p:spPr>
          <a:xfrm>
            <a:off x="658368" y="3024378"/>
            <a:ext cx="5154016" cy="562356"/>
          </a:xfrm>
          <a:prstGeom prst="rect">
            <a:avLst/>
          </a:prstGeom>
          <a:noFill/>
        </p:spPr>
        <p:txBody>
          <a:bodyPr wrap="square" lIns="0" rIns="0" tIns="0" bIns="0" anchor="t">
            <a:noAutofit/>
          </a:bodyPr>
          <a:lstStyle/>
          <a:p>
            <a:pPr algn="l">
              <a:lnSpc>
                <a:spcPct val="100000"/>
              </a:lnSpc>
            </a:pPr>
            <a:r>
              <a:rPr sz="1150" b="0" i="0">
                <a:solidFill>
                  <a:srgbClr val="18232F"/>
                </a:solidFill>
                <a:latin typeface="Segoe UI"/>
              </a:rPr>
              <a:t>Nakli breakout: price range ke bahar jaata hai, kabhi bahar close bhi ho jaata hai, phir wapas andar aa jaata hai. Close ka intezaar sirf-wick wale fakeouts se bachata hai; baaki mein doosri taraf ka stop nuksaan chhota rakhta hai.</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Short selling (cash)</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Jo shares aapke paas nahi, unhe bechna aur baad mein wapas khareedna. Normal trading account se cash segment mein retail short sirf intraday hota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Square-off</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Khuli intraday position ko din khatam hone se pehle band karna. Broker close ke paas yeh kar sakta hai; ORB mein aap khud 14:30 tak karte hain.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Short delivery auction</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Agar short wapas nahi khareeda gaya aur shares deliver nahi hue, toh exchange auction mein unhe khareedta hai, bechne wale ke kharche par, upar se penalty.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Gap day</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Woh din jab stock kal ke high se upar ya kal ke low se neeche khule, aksar raat ki kisi khabar par. Us din us stock mein ORB skip kijiye.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4915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44256"/>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ORB, likhe hue rules se</a:t>
            </a:r>
          </a:p>
        </p:txBody>
      </p:sp>
      <p:sp>
        <p:nvSpPr>
          <p:cNvPr id="11" name="Rounded Rectangle 10"/>
          <p:cNvSpPr/>
          <p:nvPr/>
        </p:nvSpPr>
        <p:spPr>
          <a:xfrm>
            <a:off x="640080" y="1481519"/>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91247"/>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Range</a:t>
            </a:r>
          </a:p>
        </p:txBody>
      </p:sp>
      <p:sp>
        <p:nvSpPr>
          <p:cNvPr id="13" name="TextBox 12"/>
          <p:cNvSpPr txBox="1"/>
          <p:nvPr/>
        </p:nvSpPr>
        <p:spPr>
          <a:xfrm>
            <a:off x="786384" y="190823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9:15-9:30 ka high aur low</a:t>
            </a:r>
          </a:p>
          <a:p>
            <a:pPr algn="l" marL="182880" indent="-182880">
              <a:lnSpc>
                <a:spcPct val="100000"/>
              </a:lnSpc>
              <a:spcAft>
                <a:spcPts val="434"/>
              </a:spcAft>
              <a:buClr>
                <a:srgbClr val="0093D6"/>
              </a:buClr>
              <a:buFont typeface="Arial"/>
              <a:buChar char="•"/>
            </a:pPr>
            <a:r>
              <a:rPr sz="1450" b="0" i="0">
                <a:solidFill>
                  <a:srgbClr val="18232F"/>
                </a:solidFill>
                <a:latin typeface="Segoe UI"/>
              </a:rPr>
              <a:t>Sirf NIFTY 50 ke cash stocks</a:t>
            </a:r>
          </a:p>
          <a:p>
            <a:pPr algn="l" marL="182880" indent="-182880">
              <a:lnSpc>
                <a:spcPct val="100000"/>
              </a:lnSpc>
              <a:buClr>
                <a:srgbClr val="0093D6"/>
              </a:buClr>
              <a:buFont typeface="Arial"/>
              <a:buChar char="•"/>
            </a:pPr>
            <a:r>
              <a:rPr sz="1450" b="0" i="0">
                <a:solidFill>
                  <a:srgbClr val="18232F"/>
                </a:solidFill>
                <a:latin typeface="Segoe UI"/>
              </a:rPr>
              <a:t>Optional: 9:15-11:00 ka waqt chahiye</a:t>
            </a:r>
          </a:p>
        </p:txBody>
      </p:sp>
      <p:sp>
        <p:nvSpPr>
          <p:cNvPr id="14" name="Rounded Rectangle 13"/>
          <p:cNvSpPr/>
          <p:nvPr/>
        </p:nvSpPr>
        <p:spPr>
          <a:xfrm>
            <a:off x="640080" y="2992564"/>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02293"/>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Entry</a:t>
            </a:r>
          </a:p>
        </p:txBody>
      </p:sp>
      <p:sp>
        <p:nvSpPr>
          <p:cNvPr id="16" name="TextBox 15"/>
          <p:cNvSpPr txBox="1"/>
          <p:nvPr/>
        </p:nvSpPr>
        <p:spPr>
          <a:xfrm>
            <a:off x="786384" y="3419285"/>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Bahar 5-min close, wick nahi</a:t>
            </a:r>
          </a:p>
          <a:p>
            <a:pPr algn="l" marL="182880" indent="-182880">
              <a:lnSpc>
                <a:spcPct val="100000"/>
              </a:lnSpc>
              <a:spcAft>
                <a:spcPts val="434"/>
              </a:spcAft>
              <a:buClr>
                <a:srgbClr val="16A34A"/>
              </a:buClr>
              <a:buFont typeface="Arial"/>
              <a:buChar char="•"/>
            </a:pPr>
            <a:r>
              <a:rPr sz="1450" b="0" i="0">
                <a:solidFill>
                  <a:srgbClr val="18232F"/>
                </a:solidFill>
                <a:latin typeface="Segoe UI"/>
              </a:rPr>
              <a:t>VWAP aur volume saath</a:t>
            </a:r>
          </a:p>
          <a:p>
            <a:pPr algn="l" marL="182880" indent="-182880">
              <a:lnSpc>
                <a:spcPct val="100000"/>
              </a:lnSpc>
              <a:spcAft>
                <a:spcPts val="434"/>
              </a:spcAft>
              <a:buClr>
                <a:srgbClr val="16A34A"/>
              </a:buClr>
              <a:buFont typeface="Arial"/>
              <a:buChar char="•"/>
            </a:pPr>
            <a:r>
              <a:rPr sz="1450" b="0" i="0">
                <a:solidFill>
                  <a:srgbClr val="18232F"/>
                </a:solidFill>
                <a:latin typeface="Segoe UI"/>
              </a:rPr>
              <a:t>Fill agli candle ke open par</a:t>
            </a:r>
          </a:p>
          <a:p>
            <a:pPr algn="l" marL="182880" indent="-182880">
              <a:lnSpc>
                <a:spcPct val="100000"/>
              </a:lnSpc>
              <a:buClr>
                <a:srgbClr val="16A34A"/>
              </a:buClr>
              <a:buFont typeface="Arial"/>
              <a:buChar char="•"/>
            </a:pPr>
            <a:r>
              <a:rPr sz="1450" b="0" i="0">
                <a:solidFill>
                  <a:srgbClr val="18232F"/>
                </a:solidFill>
                <a:latin typeface="Segoe UI"/>
              </a:rPr>
              <a:t>11:00 ke baad nayi entry nahi</a:t>
            </a:r>
          </a:p>
        </p:txBody>
      </p:sp>
      <p:sp>
        <p:nvSpPr>
          <p:cNvPr id="17" name="Rounded Rectangle 16"/>
          <p:cNvSpPr/>
          <p:nvPr/>
        </p:nvSpPr>
        <p:spPr>
          <a:xfrm>
            <a:off x="640080" y="4779836"/>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89564"/>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Exit aur size</a:t>
            </a:r>
          </a:p>
        </p:txBody>
      </p:sp>
      <p:sp>
        <p:nvSpPr>
          <p:cNvPr id="19" name="TextBox 18"/>
          <p:cNvSpPr txBox="1"/>
          <p:nvPr/>
        </p:nvSpPr>
        <p:spPr>
          <a:xfrm>
            <a:off x="786384" y="520655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Stop: range ki doosri taraf</a:t>
            </a:r>
          </a:p>
          <a:p>
            <a:pPr algn="l" marL="182880" indent="-182880">
              <a:lnSpc>
                <a:spcPct val="100000"/>
              </a:lnSpc>
              <a:spcAft>
                <a:spcPts val="434"/>
              </a:spcAft>
              <a:buClr>
                <a:srgbClr val="F5A524"/>
              </a:buClr>
              <a:buFont typeface="Arial"/>
              <a:buChar char="•"/>
            </a:pPr>
            <a:r>
              <a:rPr sz="1450" b="0" i="0">
                <a:solidFill>
                  <a:srgbClr val="18232F"/>
                </a:solidFill>
                <a:latin typeface="Segoe UI"/>
              </a:rPr>
              <a:t>2R profit exit, 14:30 tak bahar</a:t>
            </a:r>
          </a:p>
          <a:p>
            <a:pPr algn="l" marL="182880" indent="-182880">
              <a:lnSpc>
                <a:spcPct val="100000"/>
              </a:lnSpc>
              <a:buClr>
                <a:srgbClr val="F5A524"/>
              </a:buClr>
              <a:buFont typeface="Arial"/>
              <a:buChar char="•"/>
            </a:pPr>
            <a:r>
              <a:rPr sz="1450" b="0" i="0">
                <a:solidFill>
                  <a:srgbClr val="18232F"/>
                </a:solidFill>
                <a:latin typeface="Segoe UI"/>
              </a:rPr>
              <a:t>1% rule aur 25% cap mein chhota</a:t>
            </a:r>
          </a:p>
        </p:txBody>
      </p:sp>
      <p:sp>
        <p:nvSpPr>
          <p:cNvPr id="20" name="Rounded Rectangle 19"/>
          <p:cNvSpPr/>
          <p:nvPr/>
        </p:nvSpPr>
        <p:spPr>
          <a:xfrm>
            <a:off x="7833208" y="137102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80757"/>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Cash mein short</a:t>
            </a:r>
          </a:p>
        </p:txBody>
      </p:sp>
      <p:sp>
        <p:nvSpPr>
          <p:cNvPr id="22" name="TextBox 21"/>
          <p:cNvSpPr txBox="1"/>
          <p:nvPr/>
        </p:nvSpPr>
        <p:spPr>
          <a:xfrm>
            <a:off x="7979512" y="179774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Sirf intraday (normal account)</a:t>
            </a:r>
          </a:p>
          <a:p>
            <a:pPr algn="l" marL="182880" indent="-182880">
              <a:lnSpc>
                <a:spcPct val="100000"/>
              </a:lnSpc>
              <a:spcAft>
                <a:spcPts val="434"/>
              </a:spcAft>
              <a:buClr>
                <a:srgbClr val="F0554E"/>
              </a:buClr>
              <a:buFont typeface="Arial"/>
              <a:buChar char="•"/>
            </a:pPr>
            <a:r>
              <a:rPr sz="1450" b="0" i="0">
                <a:solidFill>
                  <a:srgbClr val="18232F"/>
                </a:solidFill>
                <a:latin typeface="Segoe UI"/>
              </a:rPr>
              <a:t>Usi din wapas khareedna</a:t>
            </a:r>
          </a:p>
          <a:p>
            <a:pPr algn="l" marL="182880" indent="-182880">
              <a:lnSpc>
                <a:spcPct val="100000"/>
              </a:lnSpc>
              <a:buClr>
                <a:srgbClr val="F0554E"/>
              </a:buClr>
              <a:buFont typeface="Arial"/>
              <a:buChar char="•"/>
            </a:pPr>
            <a:r>
              <a:rPr sz="1450" b="0" i="0">
                <a:solidFill>
                  <a:srgbClr val="18232F"/>
                </a:solidFill>
                <a:latin typeface="Segoe UI"/>
              </a:rPr>
              <a:t>Nahi khareeda: auction + penalty</a:t>
            </a:r>
          </a:p>
        </p:txBody>
      </p:sp>
      <p:sp>
        <p:nvSpPr>
          <p:cNvPr id="23" name="Rounded Rectangle 22"/>
          <p:cNvSpPr/>
          <p:nvPr/>
        </p:nvSpPr>
        <p:spPr>
          <a:xfrm>
            <a:off x="7833208" y="2882074"/>
            <a:ext cx="3718408" cy="1843659"/>
          </a:xfrm>
          <a:prstGeom prst="roundRect">
            <a:avLst>
              <a:gd name="adj" fmla="val 595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2991802"/>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No-trade list</a:t>
            </a:r>
          </a:p>
        </p:txBody>
      </p:sp>
      <p:sp>
        <p:nvSpPr>
          <p:cNvPr id="25" name="TextBox 24"/>
          <p:cNvSpPr txBox="1"/>
          <p:nvPr/>
        </p:nvSpPr>
        <p:spPr>
          <a:xfrm>
            <a:off x="7979512" y="3308794"/>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Gap days</a:t>
            </a:r>
          </a:p>
          <a:p>
            <a:pPr algn="l" marL="182880" indent="-182880">
              <a:lnSpc>
                <a:spcPct val="100000"/>
              </a:lnSpc>
              <a:spcAft>
                <a:spcPts val="434"/>
              </a:spcAft>
              <a:buClr>
                <a:srgbClr val="57687A"/>
              </a:buClr>
              <a:buFont typeface="Arial"/>
              <a:buChar char="•"/>
            </a:pPr>
            <a:r>
              <a:rPr sz="1450" b="0" i="0">
                <a:solidFill>
                  <a:srgbClr val="18232F"/>
                </a:solidFill>
                <a:latin typeface="Segoe UI"/>
              </a:rPr>
              <a:t>Results ya badi news</a:t>
            </a:r>
          </a:p>
          <a:p>
            <a:pPr algn="l" marL="182880" indent="-182880">
              <a:lnSpc>
                <a:spcPct val="100000"/>
              </a:lnSpc>
              <a:spcAft>
                <a:spcPts val="434"/>
              </a:spcAft>
              <a:buClr>
                <a:srgbClr val="57687A"/>
              </a:buClr>
              <a:buFont typeface="Arial"/>
              <a:buChar char="•"/>
            </a:pPr>
            <a:r>
              <a:rPr sz="1450" b="0" i="0">
                <a:solidFill>
                  <a:srgbClr val="18232F"/>
                </a:solidFill>
                <a:latin typeface="Segoe UI"/>
              </a:rPr>
              <a:t>Price band ke paas</a:t>
            </a:r>
          </a:p>
          <a:p>
            <a:pPr algn="l" marL="182880" indent="-182880">
              <a:lnSpc>
                <a:spcPct val="100000"/>
              </a:lnSpc>
              <a:buClr>
                <a:srgbClr val="57687A"/>
              </a:buClr>
              <a:buFont typeface="Arial"/>
              <a:buChar char="•"/>
            </a:pPr>
            <a:r>
              <a:rPr sz="1450" b="0" i="0">
                <a:solidFill>
                  <a:srgbClr val="18232F"/>
                </a:solidFill>
                <a:latin typeface="Segoe UI"/>
              </a:rPr>
              <a:t>-2R par, 2 stop-out ke baad ya 3 khule hon</a:t>
            </a:r>
          </a:p>
        </p:txBody>
      </p:sp>
      <p:sp>
        <p:nvSpPr>
          <p:cNvPr id="26" name="Rounded Rectangle 25"/>
          <p:cNvSpPr/>
          <p:nvPr/>
        </p:nvSpPr>
        <p:spPr>
          <a:xfrm>
            <a:off x="7833208" y="4890326"/>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0005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Aapka mann</a:t>
            </a:r>
          </a:p>
        </p:txBody>
      </p:sp>
      <p:sp>
        <p:nvSpPr>
          <p:cNvPr id="28" name="TextBox 27"/>
          <p:cNvSpPr txBox="1"/>
          <p:nvPr/>
        </p:nvSpPr>
        <p:spPr>
          <a:xfrm>
            <a:off x="7979512"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Chhoota matlab nuksaan nahi</a:t>
            </a:r>
          </a:p>
          <a:p>
            <a:pPr algn="l" marL="182880" indent="-182880">
              <a:lnSpc>
                <a:spcPct val="100000"/>
              </a:lnSpc>
              <a:spcAft>
                <a:spcPts val="434"/>
              </a:spcAft>
              <a:buClr>
                <a:srgbClr val="0093D6"/>
              </a:buClr>
              <a:buFont typeface="Arial"/>
              <a:buChar char="•"/>
            </a:pPr>
            <a:r>
              <a:rPr sz="1450" b="0" i="0">
                <a:solidFill>
                  <a:srgbClr val="18232F"/>
                </a:solidFill>
                <a:latin typeface="Segoe UI"/>
              </a:rPr>
              <a:t>Ek stock, ek din, ek ORB trade</a:t>
            </a:r>
          </a:p>
          <a:p>
            <a:pPr algn="l" marL="182880" indent="-182880">
              <a:lnSpc>
                <a:spcPct val="100000"/>
              </a:lnSpc>
              <a:buClr>
                <a:srgbClr val="0093D6"/>
              </a:buClr>
              <a:buFont typeface="Arial"/>
              <a:buChar char="•"/>
            </a:pPr>
            <a:r>
              <a:rPr sz="1450" b="0" i="0">
                <a:solidFill>
                  <a:srgbClr val="18232F"/>
                </a:solidFill>
                <a:latin typeface="Segoe UI"/>
              </a:rPr>
              <a:t>30 trades ke baad parakhiye</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50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Neeche diye model se apna ORB rule card likhiye, phir kisi NIFTY 50 stock ki ek purani subah par haath se test karke replay log mein likhiye. Chahe aapki strategy EMA Pullback hi rahe, yeh ek baar zaroor kijiye. Stretch (lagbhag 30 minute aur): is hafte chaar aur purani subahon par dohraiye.</a:t>
            </a:r>
          </a:p>
        </p:txBody>
      </p:sp>
      <p:sp>
        <p:nvSpPr>
          <p:cNvPr id="6" name="Rounded Rectangle 5"/>
          <p:cNvSpPr/>
          <p:nvPr/>
        </p:nvSpPr>
        <p:spPr>
          <a:xfrm>
            <a:off x="457200" y="22494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Google Sheets mein ya kaagaz par neeche diya model ORB rule card apne shabdon mein likhiye: setup, entry, stop, 2R profit exit, 14:30 time exit, size (1% rule aur 25% cap), aapki starter no-trade list, aur ek stock mein ek din mein sirf ek ORB trade.</a:t>
            </a:r>
          </a:p>
        </p:txBody>
      </p:sp>
      <p:sp>
        <p:nvSpPr>
          <p:cNvPr id="10" name="Rounded Rectangle 9"/>
          <p:cNvSpPr/>
          <p:nvPr/>
        </p:nvSpPr>
        <p:spPr>
          <a:xfrm>
            <a:off x="457200" y="32735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832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3401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741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NIFTY 50 list ke kisi bhi stock ka free TradingView chart kholiye, 5-minute timeframe lagaiye, VWAP aur Volume jodiye, aur Volume ki settings mein moving average ho toh use 20 par kijiye. Phir kisi purane trading day par scroll kijiye.</a:t>
            </a:r>
          </a:p>
        </p:txBody>
      </p:sp>
      <p:sp>
        <p:nvSpPr>
          <p:cNvPr id="14" name="Rounded Rectangle 13"/>
          <p:cNvSpPr/>
          <p:nvPr/>
        </p:nvSpPr>
        <p:spPr>
          <a:xfrm>
            <a:off x="457200" y="42976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074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44256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3982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Pehle gate check kijiye: agar us din stock pichhle din ke high se upar ya low se neeche khula, toh 'Skipped: gap day' likhiye aur koi doosra din chuniye. Warna 9:15, 9:20 aur 9:25 wali candles ke high aur low par do horizontal lines kheenchiye: yahi aapki opening range hai.</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Chart ko aise scroll kijiye ki range ki aakhri candle, 9:25 wali, screen ke right edge par ho (ya baaki ko sticky note se dhak dijiye), phir 11:00 tak ek-ek candle aage badhiye, aur har candle se pehle likhiye: 'entry' ya 'no entry'. Entry mili ho, toh stop, profit exit ya 14:30 tak aage chalte rahiye.</a:t>
            </a:r>
          </a:p>
        </p:txBody>
      </p:sp>
      <p:sp>
        <p:nvSpPr>
          <p:cNvPr id="9" name="Rounded Rectangle 8"/>
          <p:cNvSpPr/>
          <p:nvPr/>
        </p:nvSpPr>
        <p:spPr>
          <a:xfrm>
            <a:off x="457200" y="23591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Ise neeche diye ORB replay log ki ek row mein likhiye (long aur short dono wahin): range, pehla valid close, agle open par entry, stop, 2R profit exit, pehle kya hua (stop, profit exit ya 14:30) aur Day 12 ke tareeke se R result. 11:00 tak entry nahi mili? 'No setup' likhiye. Replay practice hai, Day 17 ke haath wale backtest jaisa, isliye yeh aapke Day 12 paper journal mein nahi jaata.</a:t>
            </a:r>
          </a:p>
        </p:txBody>
      </p:sp>
      <p:sp>
        <p:nvSpPr>
          <p:cNvPr id="13" name="Rounded Rectangle 12"/>
          <p:cNvSpPr/>
          <p:nvPr/>
        </p:nvSpPr>
        <p:spPr>
          <a:xfrm>
            <a:off x="457200" y="362712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73684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75513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2770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Apna rule card AI Lab ke prompt 'ORB rule-card audit' mein paste kijiye, aur jo bhi rule woh unclear bataye, use dobara likhiye.</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opening range mark kar payenge, breakout close aur sirf bahar jhaankti wick mein farak kar payenge, ORB paper trade ka stop, 2R profit exit, time exit aur size plan kar payenge, cash segment mein short selling ke rules aur risk samjha payenge, bata payenge ki kin dinon ORB bilkul nahi karna chahiye, aur ek purani subah ka haath se kiya replay log kar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rule card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Ise apne shabdon mein likhiye, phir AI Lab ke prompt 'ORB rule-card audit' se check karwaiye. Samay IST mein, NSE trading dinon ke hain; holidays aur timing ke badlaav nseindia.com par dekhiye.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0"/>
        </p:xfrm>
        <a:graphic>
          <a:graphicData uri="http://schemas.openxmlformats.org/drawingml/2006/table">
            <a:tbl>
              <a:tblPr firstRow="1">
                <a:tableStyleId>{5C22544A-7EE6-4342-B048-85BDC9FD1C3A}</a:tableStyleId>
              </a:tblPr>
              <a:tblGrid>
                <a:gridCol w="970283"/>
                <a:gridCol w="5521445"/>
                <a:gridCol w="4419808"/>
              </a:tblGrid>
              <a:tr h="596646">
                <a:tc>
                  <a:txBody>
                    <a:bodyPr wrap="square"/>
                    <a:lstStyle/>
                    <a:p>
                      <a:pPr algn="l"/>
                      <a:r>
                        <a:rPr sz="1500" b="1" i="0">
                          <a:solidFill>
                            <a:srgbClr val="FFFFFF"/>
                          </a:solidFill>
                          <a:latin typeface="Segoe UI"/>
                        </a:rPr>
                        <a:t>Card ki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Long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Short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587502">
                <a:tc>
                  <a:txBody>
                    <a:bodyPr wrap="square"/>
                    <a:lstStyle/>
                    <a:p>
                      <a:pPr algn="l"/>
                      <a:r>
                        <a:rPr sz="1500" b="0" i="0">
                          <a:solidFill>
                            <a:srgbClr val="18232F"/>
                          </a:solidFill>
                          <a:latin typeface="Segoe UI"/>
                        </a:rPr>
                        <a:t>Kiske liye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Sirf tab, jab 9:15-11:00 screen dekh sakein aur 14:30 par phir action le sakein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7502">
                <a:tc>
                  <a:txBody>
                    <a:bodyPr wrap="square"/>
                    <a:lstStyle/>
                    <a:p>
                      <a:pPr algn="l"/>
                      <a:r>
                        <a:rPr sz="1500" b="0" i="0">
                          <a:solidFill>
                            <a:srgbClr val="18232F"/>
                          </a:solidFill>
                          <a:latin typeface="Segoe UI"/>
                        </a:rPr>
                        <a:t>Stocks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Sirf NIFTY 50 ke cash shares; F&amp;O kabhi nahi, paper par bhi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 sirf intraday, usi din wapas khareedna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7502">
                <a:tc>
                  <a:txBody>
                    <a:bodyPr wrap="square"/>
                    <a:lstStyle/>
                    <a:p>
                      <a:pPr algn="l"/>
                      <a:r>
                        <a:rPr sz="1500" b="0" i="0">
                          <a:solidFill>
                            <a:srgbClr val="18232F"/>
                          </a:solidFill>
                          <a:latin typeface="Segoe UI"/>
                        </a:rPr>
                        <a:t>Opening 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9:15, 9:20 aur 9:25 wali candles ka high aur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8902">
                <a:tc>
                  <a:txBody>
                    <a:bodyPr wrap="square"/>
                    <a:lstStyle/>
                    <a:p>
                      <a:pPr algn="l"/>
                      <a:r>
                        <a:rPr sz="1500" b="0" i="0">
                          <a:solidFill>
                            <a:srgbClr val="18232F"/>
                          </a:solidFill>
                          <a:latin typeface="Segoe UI"/>
                        </a:rPr>
                        <a:t>Signal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Range high ke upar pehla 5-minute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Range low ke neeche pehla 5-minute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87502">
                <a:tc>
                  <a:txBody>
                    <a:bodyPr wrap="square"/>
                    <a:lstStyle/>
                    <a:p>
                      <a:pPr algn="l"/>
                      <a:r>
                        <a:rPr sz="1500" b="0" i="0">
                          <a:solidFill>
                            <a:srgbClr val="18232F"/>
                          </a:solidFill>
                          <a:latin typeface="Segoe UI"/>
                        </a:rPr>
                        <a:t>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Price VWAP ke upar; volume apne 20-candle average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Price VWAP ke neeche; volume apne 20-candle average se upar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8902">
                <a:tc>
                  <a:txBody>
                    <a:bodyPr wrap="square"/>
                    <a:lstStyle/>
                    <a:p>
                      <a:pPr algn="l"/>
                      <a:r>
                        <a:rPr sz="15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Agli candle ka open, sirf agar 11:00 tak aaye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58902">
                <a:tc>
                  <a:txBody>
                    <a:bodyPr wrap="square"/>
                    <a:lstStyle/>
                    <a:p>
                      <a:pPr algn="l"/>
                      <a:r>
                        <a:rPr sz="15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Range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Range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AAPKA TEMPLATE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rule card (model)</a:t>
            </a:r>
          </a:p>
        </p:txBody>
      </p:sp>
      <p:sp>
        <p:nvSpPr>
          <p:cNvPr id="4" name="Rounded Rectangle 3"/>
          <p:cNvSpPr/>
          <p:nvPr/>
        </p:nvSpPr>
        <p:spPr>
          <a:xfrm>
            <a:off x="457200" y="1335024"/>
            <a:ext cx="11277295" cy="4937760"/>
          </a:xfrm>
          <a:prstGeom prst="roundRect">
            <a:avLst>
              <a:gd name="adj" fmla="val 222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5" name="Table 4"/>
          <p:cNvGraphicFramePr>
            <a:graphicFrameLocks noGrp="1"/>
          </p:cNvGraphicFramePr>
          <p:nvPr/>
        </p:nvGraphicFramePr>
        <p:xfrm>
          <a:off x="640080" y="1481328"/>
          <a:ext cx="10911536" cy="4663443"/>
        </p:xfrm>
        <a:graphic>
          <a:graphicData uri="http://schemas.openxmlformats.org/drawingml/2006/table">
            <a:tbl>
              <a:tblPr firstRow="1">
                <a:tableStyleId>{5C22544A-7EE6-4342-B048-85BDC9FD1C3A}</a:tableStyleId>
              </a:tblPr>
              <a:tblGrid>
                <a:gridCol w="1257029"/>
                <a:gridCol w="7194299"/>
                <a:gridCol w="2460208"/>
              </a:tblGrid>
              <a:tr h="478101">
                <a:tc>
                  <a:txBody>
                    <a:bodyPr wrap="square"/>
                    <a:lstStyle/>
                    <a:p>
                      <a:pPr algn="l"/>
                      <a:r>
                        <a:rPr sz="1500" b="1" i="0">
                          <a:solidFill>
                            <a:srgbClr val="FFFFFF"/>
                          </a:solidFill>
                          <a:latin typeface="Segoe UI"/>
                        </a:rPr>
                        <a:t>Card ki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Long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Short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68957">
                <a:tc>
                  <a:txBody>
                    <a:bodyPr wrap="square"/>
                    <a:lstStyle/>
                    <a:p>
                      <a:pPr algn="l"/>
                      <a:r>
                        <a:rPr sz="1500" b="0" i="0">
                          <a:solidFill>
                            <a:srgbClr val="18232F"/>
                          </a:solidFill>
                          <a:latin typeface="Segoe UI"/>
                        </a:rPr>
                        <a:t>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Entry + 2 x (entry -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Entry - 2 x (stop -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97557">
                <a:tc>
                  <a:txBody>
                    <a:bodyPr wrap="square"/>
                    <a:lstStyle/>
                    <a:p>
                      <a:pPr algn="l"/>
                      <a:r>
                        <a:rPr sz="1500" b="0" i="0">
                          <a:solidFill>
                            <a:srgbClr val="18232F"/>
                          </a:solidFill>
                          <a:latin typeface="Segoe UI"/>
                        </a:rPr>
                        <a:t>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14:30 par jo khula ho, bech dijiye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14:30 par jo khula ho, wapas khareed lijiye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97557">
                <a:tc>
                  <a:txBody>
                    <a:bodyPr wrap="square"/>
                    <a:lstStyle/>
                    <a:p>
                      <a:pPr algn="l"/>
                      <a:r>
                        <a:rPr sz="1500" b="0" i="0">
                          <a:solidFill>
                            <a:srgbClr val="18232F"/>
                          </a:solidFill>
                          <a:latin typeface="Segoe UI"/>
                        </a:rPr>
                        <a:t>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10,000 ÷ (entry - stop) aur Rs 2,50,000 ÷ entry mein se chhota, breakout close par nikaala hua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 risk per share = (stop -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26157">
                <a:tc>
                  <a:txBody>
                    <a:bodyPr wrap="square"/>
                    <a:lstStyle/>
                    <a:p>
                      <a:pPr algn="l"/>
                      <a:r>
                        <a:rPr sz="1500" b="0" i="0">
                          <a:solidFill>
                            <a:srgbClr val="18232F"/>
                          </a:solidFill>
                          <a:latin typeface="Segoe UI"/>
                        </a:rPr>
                        <a:t>Stop aur exit ek candle mein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hi giniye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97557">
                <a:tc>
                  <a:txBody>
                    <a:bodyPr wrap="square"/>
                    <a:lstStyle/>
                    <a:p>
                      <a:pPr algn="l"/>
                      <a:r>
                        <a:rPr sz="1500" b="0" i="0">
                          <a:solidFill>
                            <a:srgbClr val="18232F"/>
                          </a:solidFill>
                          <a:latin typeface="Segoe UI"/>
                        </a:rPr>
                        <a:t>Din ki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Ek stock mein ek ORB trade; -2R ya do stop-out par din khatam; zyada se zyada 3 khule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97557">
                <a:tc>
                  <a:txBody>
                    <a:bodyPr wrap="square"/>
                    <a:lstStyle/>
                    <a:p>
                      <a:pPr algn="l"/>
                      <a:r>
                        <a:rPr sz="1500" b="0" i="0">
                          <a:solidFill>
                            <a:srgbClr val="18232F"/>
                          </a:solidFill>
                          <a:latin typeface="Segoe UI"/>
                        </a:rPr>
                        <a:t>Aaj stock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Gap day, results ya badi news, price band ke paas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6" name="Picture 5" descr="logo.png"/>
          <p:cNvPicPr>
            <a:picLocks noChangeAspect="1"/>
          </p:cNvPicPr>
          <p:nvPr/>
        </p:nvPicPr>
        <p:blipFill>
          <a:blip r:embed="rId2"/>
          <a:stretch>
            <a:fillRect/>
          </a:stretch>
        </p:blipFill>
        <p:spPr>
          <a:xfrm>
            <a:off x="457200" y="6437376"/>
            <a:ext cx="237744" cy="237744"/>
          </a:xfrm>
          <a:prstGeom prst="rect">
            <a:avLst/>
          </a:prstGeom>
        </p:spPr>
      </p:pic>
      <p:sp>
        <p:nvSpPr>
          <p:cNvPr id="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8" name="TextBox 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replay log (practice, paper journal nahi)</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Priya ke teen replays format dikhate hain; apne replays khaali rows mein likhiye. Market khula rehte liye gaye live ORB paper trades Day 12 journal mein jaate hain.</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1"/>
        </p:xfrm>
        <a:graphic>
          <a:graphicData uri="http://schemas.openxmlformats.org/drawingml/2006/table">
            <a:tbl>
              <a:tblPr firstRow="1">
                <a:tableStyleId>{5C22544A-7EE6-4342-B048-85BDC9FD1C3A}</a:tableStyleId>
              </a:tblPr>
              <a:tblGrid>
                <a:gridCol w="1271529"/>
                <a:gridCol w="1900738"/>
                <a:gridCol w="1218408"/>
                <a:gridCol w="1740843"/>
                <a:gridCol w="2147903"/>
                <a:gridCol w="2632115"/>
              </a:tblGrid>
              <a:tr h="347472">
                <a:tc>
                  <a:txBody>
                    <a:bodyPr wrap="square"/>
                    <a:lstStyle/>
                    <a:p>
                      <a:pPr algn="l"/>
                      <a:r>
                        <a:rPr sz="1500" b="1" i="0">
                          <a:solidFill>
                            <a:srgbClr val="FFFFFF"/>
                          </a:solidFill>
                          <a:latin typeface="Segoe UI"/>
                        </a:rPr>
                        <a:t>Purani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Pehla valid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2R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Kaise khatam hua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01-09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1,000-1,010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9:45 candle, long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1,012 / 1,000 / 1,036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14:30 exit 1,027 par: +0.27R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12-05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497-505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9:50 candle, short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495 / 505 / 475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475 par buy-back: +0.91R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14-05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Koi nahi: gap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Skipped: gap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'Valid ya nahi?' rapid-fire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Koi ek saathi kaagaz par range aur kuch 5-minute candles banata hai, baaki log paanch second mein 'entry', 'no entry' ya 'no-trade day' bolte hain, phir wajah samjhate hain.</a:t>
            </a:r>
          </a:p>
          <a:p>
            <a:pPr algn="l">
              <a:lnSpc>
                <a:spcPct val="100000"/>
              </a:lnSpc>
              <a:spcAft>
                <a:spcPts val="700"/>
              </a:spcAft>
            </a:pPr>
            <a:r>
              <a:rPr sz="2000" b="0" i="0">
                <a:solidFill>
                  <a:srgbClr val="18232F"/>
                </a:solidFill>
                <a:latin typeface="Segoe UI"/>
              </a:rPr>
              <a:t>Phir partner ke saath rule card badliye aur aisi ek situation dhoondhiye jiska jawab card mein nahi hai.</a:t>
            </a:r>
          </a:p>
          <a:p>
            <a:pPr algn="l">
              <a:lnSpc>
                <a:spcPct val="100000"/>
              </a:lnSpc>
            </a:pPr>
            <a:r>
              <a:rPr sz="2000" b="0" i="0">
                <a:solidFill>
                  <a:srgbClr val="18232F"/>
                </a:solidFill>
                <a:latin typeface="Segoe UI"/>
              </a:rPr>
              <a:t>Har kami milne par likhne wala apna card dobara likhega; koi saza nahi.</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550" b="1" i="0">
                <a:solidFill>
                  <a:srgbClr val="18232F"/>
                </a:solidFill>
                <a:latin typeface="Segoe UI"/>
              </a:rPr>
              <a:t>ORB rule-card audit: AI kamzor jagah dhoondhe, aap unhe theek karein</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ORB rule-card audit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my one-page Opening Range Breakout (ORB) rule card for liquid NSE cash-segment stocks. First, list every rule that is ambiguous, meaning two honest people could read it differently, and suggest stricter wording.”</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Short selling ka reality check</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“Explain to a complete beginner how intraday short selling works for a retail trader in the Indian cash (equity) segment: why a short must be squared off the same day, what a broker's auto square-off is and why a trader should not rely on it, what happens in concept if a short is not bought back and the shares are not delivered at settlement (the exchange …”</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Valid ya nahi? drill</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8 short practice scenarios for the Opening Range Breakout rules below, using made-up NSE cash stocks only (for example 'Bharat Pumps Ltd').”</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SAWAAL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 ki opening range Rs 300 se Rs 306 hai. 9:40-9:45 wali candle Rs 308 tak jaati hai lekin Rs 305 par close hoti hai, aur VWAP Rs 303 hai. Aaj ke rules ke hisaab se aap kya karenge?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khareediye, price Rs 306 ke upar ja chuka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Entry nahi: candle wapas range ke andar hi close hui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Turant short kijiye, kyunki breakout fail ho gaya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308 par khareediye, us 5-minute candle ka high</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Capital Rs 10,00,000 hai. Kiran Foods Ltd mein ek paper ORB short: entry Rs 400, stop range high Rs 408 par. 1% rule aur 25% cap dono lagakar aap kitne shares short karenge?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 shares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1,250 shares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625 shares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nahi: cash mein short allowed nahi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SAWAAL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Office se chhutti wale din Aman paper par 10:00 baje cash segment mein Gupta Cement Ltd ke 300 shares intraday short sell karta hai. Kaunsi baat sahi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Woh ise normal delivery trade banakar raat bhar rakh sakta hai</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aaj market band hone se pehle hi shares wapas khareedne honge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Woh short ko ek hafte tak khula rakh sakta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Uske paas T+1 settlement tak wapas khareedne ka time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Kal Bharat Pumps Ltd Rs 980 aur Rs 1,000 ke beech trade hua. Raat ki news ke baad aaj woh Rs 1,030 par khulta hai. Aapki starter no-trade list kya kehti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Kal ki range ko hi aaj ki opening range maan lijiye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Bada size lijiye, kyunki gap strength dikhata hai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Aaj is stock mein ORB skip kijiye, kyunki yeh gap day hai</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Range banne se pehle hi 9:15 par khareed lijiye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SAWAAL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Range ke upar pehla close jo dono checks paas karta tha, 9:50 par aaya aur aap chook gaye. 10:30 par stock range high se Rs 18 upar hai, aur office group keh raha hai ki abhi bhi time hai. Aapka rule card kya kehta hai?</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Pullback ka intezaar kijiye, phir 11:00 ke baad entry</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Chhod dijiye: entry 9:50 ke baad wale open par hi thi</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entry lijiye, par aam se aadhi quantity ke saath</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entry lijiye, aam se tight stop ke saath</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Strategy #2: Opening Range Breakout (optional)</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Aakhri baar kab aapne sirf isliye kuch kiya kyunki 'sab log ghus rahe hain', kisi sale, line, tip ya trade mein? Uski keemat kya padi? Aur aapke ORB rule card ki kaunsi ek line Aman ko 9:22 par rok leti?</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Jo rule aap ek boring subah bhi nibha sakein, woh kisi exciting subah ke pasandida setup se zyada keemti hai. Aaj aapne aisa ek rule likh liya.</a:t>
            </a:r>
          </a:p>
        </p:txBody>
      </p:sp>
      <p:sp>
        <p:nvSpPr>
          <p:cNvPr id="11" name="Rounded Rectangle 10"/>
          <p:cNvSpPr/>
          <p:nvPr/>
        </p:nvSpPr>
        <p:spPr>
          <a:xfrm>
            <a:off x="457200" y="5344668"/>
            <a:ext cx="7013989"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14 · Week 2 ka review aur Shortcut Trap #2: jab result bahut achha dikhe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14</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pehle, strategy baad mein</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645920"/>
          </a:xfrm>
          <a:prstGeom prst="rect">
            <a:avLst/>
          </a:prstGeom>
          <a:noFill/>
        </p:spPr>
        <p:txBody>
          <a:bodyPr wrap="square" lIns="0" rIns="0" tIns="0" bIns="0" anchor="t">
            <a:noAutofit/>
          </a:bodyPr>
          <a:lstStyle/>
          <a:p>
            <a:pPr algn="l">
              <a:lnSpc>
                <a:spcPct val="100000"/>
              </a:lnSpc>
            </a:pPr>
            <a:r>
              <a:rPr sz="3500" b="1" i="0">
                <a:solidFill>
                  <a:srgbClr val="18232F"/>
                </a:solidFill>
                <a:latin typeface="Segoe UI"/>
              </a:rPr>
              <a:t>Week 2 ka review aur Shortcut Trap #2: jab result bahut achha dikhe</a:t>
            </a:r>
          </a:p>
        </p:txBody>
      </p:sp>
      <p:sp>
        <p:nvSpPr>
          <p:cNvPr id="11" name="Rounded Rectangle 10"/>
          <p:cNvSpPr/>
          <p:nvPr/>
        </p:nvSpPr>
        <p:spPr>
          <a:xfrm>
            <a:off x="4572000" y="288950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88036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Process review, aur performance ke daawe padhna: backtests, paid groups, IPO offers</a:t>
            </a:r>
          </a:p>
        </p:txBody>
      </p:sp>
      <p:sp>
        <p:nvSpPr>
          <p:cNvPr id="13" name="Rounded Rectangle 12"/>
          <p:cNvSpPr/>
          <p:nvPr/>
        </p:nvSpPr>
        <p:spPr>
          <a:xfrm>
            <a:off x="4572000" y="365760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65760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Backtest page reader: Present, Missing ya Unclear</a:t>
            </a:r>
          </a:p>
        </p:txBody>
      </p:sp>
      <p:sp>
        <p:nvSpPr>
          <p:cNvPr id="15" name="Rounded Rectangle 14"/>
          <p:cNvSpPr/>
          <p:nvPr/>
        </p:nvSpPr>
        <p:spPr>
          <a:xfrm>
            <a:off x="4572000" y="416966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416966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'Too good' result ka lalach</a:t>
            </a:r>
          </a:p>
        </p:txBody>
      </p:sp>
      <p:sp>
        <p:nvSpPr>
          <p:cNvPr id="17" name="TextBox 16"/>
          <p:cNvSpPr txBox="1"/>
          <p:nvPr/>
        </p:nvSpPr>
        <p:spPr>
          <a:xfrm>
            <a:off x="4572000" y="485546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AAJ KE BAAD</a:t>
            </a:r>
          </a:p>
        </p:txBody>
      </p:sp>
      <p:sp>
        <p:nvSpPr>
          <p:cNvPr id="18" name="TextBox 17"/>
          <p:cNvSpPr txBox="1"/>
          <p:nvPr/>
        </p:nvSpPr>
        <p:spPr>
          <a:xfrm>
            <a:off x="4572000" y="5129784"/>
            <a:ext cx="7162495" cy="1065276"/>
          </a:xfrm>
          <a:prstGeom prst="rect">
            <a:avLst/>
          </a:prstGeom>
          <a:noFill/>
        </p:spPr>
        <p:txBody>
          <a:bodyPr wrap="square" lIns="0" rIns="0" tIns="0" bIns="0" anchor="t">
            <a:noAutofit/>
          </a:bodyPr>
          <a:lstStyle/>
          <a:p>
            <a:pPr algn="l">
              <a:lnSpc>
                <a:spcPct val="100000"/>
              </a:lnSpc>
            </a:pPr>
            <a:r>
              <a:rPr sz="1350" b="0" i="0">
                <a:solidFill>
                  <a:srgbClr val="47596B"/>
                </a:solidFill>
                <a:latin typeface="Segoe UI"/>
              </a:rPr>
              <a:t>Aaj ke baad aap ek paper trade ko poore Week 2 ke toolkit se guzaar payenge, trades ko profit ki jagah process par grade karke apni rows ka weekly review save kar payenge, kisi bhi backtest page ko paanch checks se parakh payenge, kuch tip groups ki perfect-record wali chaal samjha payenge, aur IPO ke 'GMP / assured allotment' scam ko pehchaan payenge.</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KAHANI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curve jo kabhi girta nahi</a:t>
            </a:r>
          </a:p>
        </p:txBody>
      </p:sp>
      <p:sp>
        <p:nvSpPr>
          <p:cNvPr id="4" name="Rounded Rectangle 3"/>
          <p:cNvSpPr/>
          <p:nvPr/>
        </p:nvSpPr>
        <p:spPr>
          <a:xfrm>
            <a:off x="457200" y="1426464"/>
            <a:ext cx="3649370" cy="3377184"/>
          </a:xfrm>
          <a:prstGeom prst="roundRect">
            <a:avLst>
              <a:gd name="adj" fmla="val 37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91998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shaam. Weekend call par Aman, Priya aur mentor ke saath ek screenshot share karta hai.</a:t>
            </a:r>
          </a:p>
        </p:txBody>
      </p:sp>
      <p:sp>
        <p:nvSpPr>
          <p:cNvPr id="7" name="Rounded Rectangle 6"/>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VIP Premium Group, sirf Rs 2,999 mahina. Humare bot ka backtest: 92% accuracy, ek saal mein 310%. Saath mein humare special quota se assured IPO allotment. Sirf 7 seats bachi hain.</a:t>
            </a:r>
          </a:p>
        </p:txBody>
      </p:sp>
      <p:sp>
        <p:nvSpPr>
          <p:cNvPr id="13" name="Rounded Rectangle 12"/>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yeh curve dekhiye. Bas upar hi ja raha hai. Is hafte mere paper trades red mein band hue, aur yeh bot toh jaise haarta hi nahi. 310% ke saamne Rs 2,999 kuch bhi nahi hai.</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KAHANI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Woh curve jo kabhi girta nahi</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Paise dene se pehle, Aman, teen sawaal. Is curve mein losing trades kahan hain? Yeh kitne trades par bana hai? Aur kya costs ghataye gaye hain?</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Aur sir, Day 10 mein padha tha na ki jab retail mein jitne lots hain usse zyada log apply kar dete hain, toh allotment lottery se hota hai. Phir koi ise assure kaise kar sakta hai?</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Sahi pakda, Priya. Aaj pehle aapke apne paper week ka review karenge, losses ke saath. Phir isi imaandari se is page ko bhi parkhenge. Jo result apne losses, costs aur trade count chhupaye, woh result nahi hai. Woh advertisement hai.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6429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Seekh</a:t>
            </a:r>
          </a:p>
        </p:txBody>
      </p:sp>
      <p:sp>
        <p:nvSpPr>
          <p:cNvPr id="24" name="TextBox 23"/>
          <p:cNvSpPr txBox="1"/>
          <p:nvPr/>
        </p:nvSpPr>
        <p:spPr>
          <a:xfrm>
            <a:off x="1411050" y="5760720"/>
            <a:ext cx="1014056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Result jitna perfect dikhe, use utne hi zyada sawaalon ka jawab dena padega.</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2, ek trade mein</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Is hafte aapne poora toolkit bana liya.</a:t>
            </a:r>
          </a:p>
          <a:p>
            <a:pPr algn="l" marL="274320" indent="-274320">
              <a:lnSpc>
                <a:spcPct val="100000"/>
              </a:lnSpc>
              <a:spcAft>
                <a:spcPts val="800"/>
              </a:spcAft>
              <a:buClr>
                <a:srgbClr val="134A9A"/>
              </a:buClr>
              <a:buFont typeface="Arial"/>
              <a:buChar char="•"/>
            </a:pPr>
            <a:r>
              <a:rPr sz="1600" b="0" i="0">
                <a:solidFill>
                  <a:srgbClr val="18232F"/>
                </a:solidFill>
                <a:latin typeface="Segoe UI"/>
              </a:rPr>
              <a:t>Neeche yeh usi order mein hai jismein aap ise use karte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Example mein ek paper trade isse guzarta hai.</a:t>
            </a:r>
          </a:p>
          <a:p>
            <a:pPr algn="l" marL="274320" indent="-274320">
              <a:lnSpc>
                <a:spcPct val="100000"/>
              </a:lnSpc>
              <a:buClr>
                <a:srgbClr val="134A9A"/>
              </a:buClr>
              <a:buFont typeface="Arial"/>
              <a:buChar char="•"/>
            </a:pPr>
            <a:r>
              <a:rPr sz="1600" b="0" i="0">
                <a:solidFill>
                  <a:srgbClr val="18232F"/>
                </a:solidFill>
                <a:latin typeface="Segoe UI"/>
              </a:rPr>
              <a:t>Sabse pehle style (Day 10): naukri ke saath swing trading fit baithti hai, isliye default strategy EMA Pullback Swing hai (Day 11).</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Day 11 ke chaaron rules pass karta hai: EMA 20 badhte hue EMA 50 ke upar hai, close EMA 20 ke paas hai, RSI 14 thanda hokar 46 par aa gaya hai, aur 3 mahine mein yeh NIFTY 50 se aage hai. Uski signal candle Rs 494 par, pichhle din ke high ke upar close hoti hai, aur us din ka low Rs 486 hai. ATR 14 Rs 12 hai, toh usi shaam plan likhiye: agle din ke open par entry, lekin open Rs 500 (Rs 494 + 0.5 x 12) se upar ho ya Rs 486 se neeche, toh skip. … Cap jeet ko bhi chhota karta hai: 500 x Rs 45 = Rs 22,500, yaani allowance se pehle +2.25R.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Ek trade ka size, Week 2 ke tareeke se</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Size pichhli shaam hi tay hota hai: pehla number risk se aata hai, aur maximum entry par check hua 25% cap use kaat sakta hai. Tab asli risk 1R se kam ho jaata hai, aur yeh bilkul theek hai.</a:t>
            </a:r>
          </a:p>
        </p:txBody>
      </p:sp>
      <p:sp>
        <p:nvSpPr>
          <p:cNvPr id="11" name="TextBox 10"/>
          <p:cNvSpPr txBox="1"/>
          <p:nvPr/>
        </p:nvSpPr>
        <p:spPr>
          <a:xfrm>
            <a:off x="6397600" y="1805940"/>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12" name="TextBox 11"/>
          <p:cNvSpPr txBox="1"/>
          <p:nvPr/>
        </p:nvSpPr>
        <p:spPr>
          <a:xfrm>
            <a:off x="6726784" y="1805940"/>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1R = Rs 10,00,000 ka 1%</a:t>
            </a:r>
          </a:p>
        </p:txBody>
      </p:sp>
      <p:sp>
        <p:nvSpPr>
          <p:cNvPr id="13" name="TextBox 12"/>
          <p:cNvSpPr txBox="1"/>
          <p:nvPr/>
        </p:nvSpPr>
        <p:spPr>
          <a:xfrm>
            <a:off x="10345892" y="1805940"/>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10,000</a:t>
            </a:r>
          </a:p>
        </p:txBody>
      </p:sp>
      <p:cxnSp>
        <p:nvCxnSpPr>
          <p:cNvPr id="14" name="Connector 13"/>
          <p:cNvCxnSpPr/>
          <p:nvPr/>
        </p:nvCxnSpPr>
        <p:spPr>
          <a:xfrm>
            <a:off x="6397600" y="231343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13432"/>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16" name="TextBox 15"/>
          <p:cNvSpPr txBox="1"/>
          <p:nvPr/>
        </p:nvSpPr>
        <p:spPr>
          <a:xfrm>
            <a:off x="6726784" y="2313432"/>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Stop ki doori: 1.5 x ATR (Rs 12)</a:t>
            </a:r>
          </a:p>
        </p:txBody>
      </p:sp>
      <p:sp>
        <p:nvSpPr>
          <p:cNvPr id="17" name="TextBox 16"/>
          <p:cNvSpPr txBox="1"/>
          <p:nvPr/>
        </p:nvSpPr>
        <p:spPr>
          <a:xfrm>
            <a:off x="10345892" y="2313432"/>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18</a:t>
            </a:r>
          </a:p>
        </p:txBody>
      </p:sp>
      <p:cxnSp>
        <p:nvCxnSpPr>
          <p:cNvPr id="18" name="Connector 17"/>
          <p:cNvCxnSpPr/>
          <p:nvPr/>
        </p:nvCxnSpPr>
        <p:spPr>
          <a:xfrm>
            <a:off x="6397600" y="282092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20924"/>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20" name="TextBox 19"/>
          <p:cNvSpPr txBox="1"/>
          <p:nvPr/>
        </p:nvSpPr>
        <p:spPr>
          <a:xfrm>
            <a:off x="6726784" y="2820924"/>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Risk se size, neeche round (555.6)</a:t>
            </a:r>
          </a:p>
        </p:txBody>
      </p:sp>
      <p:sp>
        <p:nvSpPr>
          <p:cNvPr id="21" name="TextBox 20"/>
          <p:cNvSpPr txBox="1"/>
          <p:nvPr/>
        </p:nvSpPr>
        <p:spPr>
          <a:xfrm>
            <a:off x="10345892" y="2820924"/>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555</a:t>
            </a:r>
          </a:p>
        </p:txBody>
      </p:sp>
      <p:cxnSp>
        <p:nvCxnSpPr>
          <p:cNvPr id="22" name="Connector 21"/>
          <p:cNvCxnSpPr/>
          <p:nvPr/>
        </p:nvCxnSpPr>
        <p:spPr>
          <a:xfrm>
            <a:off x="6397600" y="332841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328416"/>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24" name="TextBox 23"/>
          <p:cNvSpPr txBox="1"/>
          <p:nvPr/>
        </p:nvSpPr>
        <p:spPr>
          <a:xfrm>
            <a:off x="6726784" y="3328416"/>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Maximum entry par check: 555 x Rs 500, Rs 2,50,000 cap se zyada</a:t>
            </a:r>
          </a:p>
        </p:txBody>
      </p:sp>
      <p:sp>
        <p:nvSpPr>
          <p:cNvPr id="25" name="TextBox 24"/>
          <p:cNvSpPr txBox="1"/>
          <p:nvPr/>
        </p:nvSpPr>
        <p:spPr>
          <a:xfrm>
            <a:off x="10345892" y="3328416"/>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2,77,500</a:t>
            </a:r>
          </a:p>
        </p:txBody>
      </p:sp>
      <p:cxnSp>
        <p:nvCxnSpPr>
          <p:cNvPr id="26" name="Connector 25"/>
          <p:cNvCxnSpPr/>
          <p:nvPr/>
        </p:nvCxnSpPr>
        <p:spPr>
          <a:xfrm>
            <a:off x="6397600" y="383590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835908"/>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28" name="TextBox 27"/>
          <p:cNvSpPr txBox="1"/>
          <p:nvPr/>
        </p:nvSpPr>
        <p:spPr>
          <a:xfrm>
            <a:off x="6726784" y="3835908"/>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Cap: Rs 2,50,000 ÷ Rs 500 maximum entry, shares mein</a:t>
            </a:r>
          </a:p>
        </p:txBody>
      </p:sp>
      <p:sp>
        <p:nvSpPr>
          <p:cNvPr id="29" name="TextBox 28"/>
          <p:cNvSpPr txBox="1"/>
          <p:nvPr/>
        </p:nvSpPr>
        <p:spPr>
          <a:xfrm>
            <a:off x="10345892" y="3835908"/>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500</a:t>
            </a:r>
          </a:p>
        </p:txBody>
      </p:sp>
      <p:sp>
        <p:nvSpPr>
          <p:cNvPr id="30" name="Rounded Rectangle 29"/>
          <p:cNvSpPr/>
          <p:nvPr/>
        </p:nvSpPr>
        <p:spPr>
          <a:xfrm>
            <a:off x="6397600" y="4398264"/>
            <a:ext cx="5154016" cy="507492"/>
          </a:xfrm>
          <a:prstGeom prst="roundRect">
            <a:avLst>
              <a:gd name="adj" fmla="val 1441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398264"/>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32" name="TextBox 31"/>
          <p:cNvSpPr txBox="1"/>
          <p:nvPr/>
        </p:nvSpPr>
        <p:spPr>
          <a:xfrm>
            <a:off x="6726784" y="4398264"/>
            <a:ext cx="3582532" cy="507492"/>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Final size, shares mein (risk Rs 9,000 = 0.9R)</a:t>
            </a:r>
          </a:p>
        </p:txBody>
      </p:sp>
      <p:sp>
        <p:nvSpPr>
          <p:cNvPr id="33" name="TextBox 32"/>
          <p:cNvSpPr txBox="1"/>
          <p:nvPr/>
        </p:nvSpPr>
        <p:spPr>
          <a:xfrm>
            <a:off x="10345892" y="4398264"/>
            <a:ext cx="1132572" cy="507492"/>
          </a:xfrm>
          <a:prstGeom prst="rect">
            <a:avLst/>
          </a:prstGeom>
          <a:noFill/>
        </p:spPr>
        <p:txBody>
          <a:bodyPr wrap="square" lIns="0" rIns="0" tIns="0" bIns="0" anchor="ctr">
            <a:noAutofit/>
          </a:bodyPr>
          <a:lstStyle/>
          <a:p>
            <a:pPr algn="r">
              <a:lnSpc>
                <a:spcPct val="100000"/>
              </a:lnSpc>
            </a:pPr>
            <a:r>
              <a:rPr sz="1500" b="1" i="0">
                <a:solidFill>
                  <a:srgbClr val="095A90"/>
                </a:solidFill>
                <a:latin typeface="Segoe UI"/>
              </a:rPr>
              <a:t>500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6" name="TextBox 35"/>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Size stop aur cap se tay hota hai, is baat se nahi ki aap kitna sure feel kar rahe hain.</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Apne paper week ka review, ek coach ki tarah</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Achha review yeh dekhta hai ki aapne trade kaise kiya, yeh nahi ki kitna kamaya.</a:t>
            </a:r>
          </a:p>
          <a:p>
            <a:pPr algn="l" marL="274320" indent="-274320">
              <a:lnSpc>
                <a:spcPct val="100000"/>
              </a:lnSpc>
              <a:spcAft>
                <a:spcPts val="800"/>
              </a:spcAft>
              <a:buClr>
                <a:srgbClr val="134A9A"/>
              </a:buClr>
              <a:buFont typeface="Arial"/>
              <a:buChar char="•"/>
            </a:pPr>
            <a:r>
              <a:rPr sz="1600" b="0" i="0">
                <a:solidFill>
                  <a:srgbClr val="18232F"/>
                </a:solidFill>
                <a:latin typeface="Segoe UI"/>
              </a:rPr>
              <a:t>Apna Day 12 wala journal kholiye aur har trade se chaar sawaal poochhiye.</a:t>
            </a:r>
          </a:p>
          <a:p>
            <a:pPr algn="l" marL="274320" indent="-274320">
              <a:lnSpc>
                <a:spcPct val="100000"/>
              </a:lnSpc>
              <a:spcAft>
                <a:spcPts val="800"/>
              </a:spcAft>
              <a:buClr>
                <a:srgbClr val="134A9A"/>
              </a:buClr>
              <a:buFont typeface="Arial"/>
              <a:buChar char="•"/>
            </a:pPr>
            <a:r>
              <a:rPr sz="1600" b="0" i="0">
                <a:solidFill>
                  <a:srgbClr val="18232F"/>
                </a:solidFill>
                <a:latin typeface="Segoe UI"/>
              </a:rPr>
              <a:t>Jo loss har rule follow karke hua, woh sahi trade hai, business ka normal kharcha.</a:t>
            </a:r>
          </a:p>
          <a:p>
            <a:pPr algn="l" marL="274320" indent="-274320">
              <a:lnSpc>
                <a:spcPct val="100000"/>
              </a:lnSpc>
              <a:buClr>
                <a:srgbClr val="134A9A"/>
              </a:buClr>
              <a:buFont typeface="Arial"/>
              <a:buChar char="•"/>
            </a:pPr>
            <a:r>
              <a:rPr sz="1600" b="0" i="0">
                <a:solidFill>
                  <a:srgbClr val="18232F"/>
                </a:solidFill>
                <a:latin typeface="Segoe UI"/>
              </a:rPr>
              <a:t>Jo jeet rule todkar aayi, woh hafte ka sabse khatarnak trade hai, kyunki woh sikhati hai ki rule todna faayde ka sauda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Maan lijiye, kuch hafton baad Priya ke journal se saat decisions lete hain; aapke paas abhi shayad do-teen rows hi hon. Paanch closed trades hain aur do no-setup din. … In rows ka total -0.4R hai, lekin uska review zyada batata hai: 7 mein se 5 decisions rule par, yaani adherence 71%, aur agle hafte ke liye ek fix: 'mera stop kabhi neeche nahi khiskega'.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Process vs result</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Rule todkar mili jeet sabse achhi lagti hai, aur sabse buri aadat banati hai.</a:t>
            </a:r>
          </a:p>
        </p:txBody>
      </p:sp>
      <p:sp>
        <p:nvSpPr>
          <p:cNvPr id="11" name="Rounded Rectangle 10"/>
          <p:cNvSpPr/>
          <p:nvPr/>
        </p:nvSpPr>
        <p:spPr>
          <a:xfrm>
            <a:off x="6397600" y="2527935"/>
            <a:ext cx="2494712" cy="1975866"/>
          </a:xfrm>
          <a:prstGeom prst="roundRect">
            <a:avLst>
              <a:gd name="adj" fmla="val 462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52793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75958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527935"/>
            <a:ext cx="2494712" cy="1975866"/>
          </a:xfrm>
          <a:prstGeom prst="roundRect">
            <a:avLst>
              <a:gd name="adj" fmla="val 4627"/>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52793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Rules follow hue</a:t>
            </a:r>
          </a:p>
        </p:txBody>
      </p:sp>
      <p:cxnSp>
        <p:nvCxnSpPr>
          <p:cNvPr id="16" name="Connector 15"/>
          <p:cNvCxnSpPr/>
          <p:nvPr/>
        </p:nvCxnSpPr>
        <p:spPr>
          <a:xfrm>
            <a:off x="6397600" y="2991231"/>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3137535"/>
            <a:ext cx="2202104" cy="13296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Jeet: kamayi hui, process dohraiye</a:t>
            </a:r>
          </a:p>
          <a:p>
            <a:pPr algn="l" marL="201168" indent="-201168">
              <a:lnSpc>
                <a:spcPct val="100000"/>
              </a:lnSpc>
              <a:buClr>
                <a:srgbClr val="16A34A"/>
              </a:buClr>
              <a:buFont typeface="Arial"/>
              <a:buChar char="•"/>
            </a:pPr>
            <a:r>
              <a:rPr sz="1500" b="0" i="0">
                <a:solidFill>
                  <a:srgbClr val="18232F"/>
                </a:solidFill>
                <a:latin typeface="Segoe UI"/>
              </a:rPr>
              <a:t>Loss: sahi trade, ise accept kijiye</a:t>
            </a:r>
          </a:p>
        </p:txBody>
      </p:sp>
      <p:sp>
        <p:nvSpPr>
          <p:cNvPr id="18" name="Rounded Rectangle 17"/>
          <p:cNvSpPr/>
          <p:nvPr/>
        </p:nvSpPr>
        <p:spPr>
          <a:xfrm>
            <a:off x="9056903" y="2527935"/>
            <a:ext cx="2494712" cy="1975866"/>
          </a:xfrm>
          <a:prstGeom prst="roundRect">
            <a:avLst>
              <a:gd name="adj" fmla="val 462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52793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75958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527935"/>
            <a:ext cx="2494712" cy="1975866"/>
          </a:xfrm>
          <a:prstGeom prst="roundRect">
            <a:avLst>
              <a:gd name="adj" fmla="val 4627"/>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52793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Rule toota</a:t>
            </a:r>
          </a:p>
        </p:txBody>
      </p:sp>
      <p:cxnSp>
        <p:nvCxnSpPr>
          <p:cNvPr id="23" name="Connector 22"/>
          <p:cNvCxnSpPr/>
          <p:nvPr/>
        </p:nvCxnSpPr>
        <p:spPr>
          <a:xfrm>
            <a:off x="9056903" y="2991231"/>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3137535"/>
            <a:ext cx="2202104" cy="13296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Jeet: khatarnak luck, aadat sudhariye</a:t>
            </a:r>
          </a:p>
          <a:p>
            <a:pPr algn="l" marL="201168" indent="-201168">
              <a:lnSpc>
                <a:spcPct val="100000"/>
              </a:lnSpc>
              <a:buClr>
                <a:srgbClr val="F0554E"/>
              </a:buClr>
              <a:buFont typeface="Arial"/>
              <a:buChar char="•"/>
            </a:pPr>
            <a:r>
              <a:rPr sz="1500" b="0" i="0">
                <a:solidFill>
                  <a:srgbClr val="18232F"/>
                </a:solidFill>
                <a:latin typeface="Segoe UI"/>
              </a:rPr>
              <a:t>Loss: ek sabak, fix likhiye</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7" name="TextBox 2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Faisle ko grade kijiye, result ko nahi.</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#2: backtest ya brochure?</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Backtest ka matlab hai ek fixed rule ko purane prices par chala kar dekhna ki woh kaisa chalta.</a:t>
            </a:r>
          </a:p>
          <a:p>
            <a:pPr algn="l" marL="274320" indent="-274320">
              <a:lnSpc>
                <a:spcPct val="100000"/>
              </a:lnSpc>
              <a:spcAft>
                <a:spcPts val="750"/>
              </a:spcAft>
              <a:buClr>
                <a:srgbClr val="134A9A"/>
              </a:buClr>
              <a:buFont typeface="Arial"/>
              <a:buChar char="•"/>
            </a:pPr>
            <a:r>
              <a:rPr sz="1500" b="0" i="0">
                <a:solidFill>
                  <a:srgbClr val="18232F"/>
                </a:solidFill>
                <a:latin typeface="Segoe UI"/>
              </a:rPr>
              <a:t>Bot bechne wale aur paid groups backtest ko saboot ki tarah dikhate hain, isliye pehle chaar terms samajh lijiye.</a:t>
            </a:r>
          </a:p>
          <a:p>
            <a:pPr algn="l" marL="274320" indent="-274320">
              <a:lnSpc>
                <a:spcPct val="100000"/>
              </a:lnSpc>
              <a:spcAft>
                <a:spcPts val="750"/>
              </a:spcAft>
              <a:buClr>
                <a:srgbClr val="134A9A"/>
              </a:buClr>
              <a:buFont typeface="Arial"/>
              <a:buChar char="•"/>
            </a:pPr>
            <a:r>
              <a:rPr sz="1500" b="0" i="0">
                <a:solidFill>
                  <a:srgbClr val="18232F"/>
                </a:solidFill>
                <a:latin typeface="Segoe UI"/>
              </a:rPr>
              <a:t>Equity curve account ka chalta hua total hai, trade dar trade.</a:t>
            </a:r>
          </a:p>
          <a:p>
            <a:pPr algn="l" marL="274320" indent="-274320">
              <a:lnSpc>
                <a:spcPct val="100000"/>
              </a:lnSpc>
              <a:buClr>
                <a:srgbClr val="134A9A"/>
              </a:buClr>
              <a:buFont typeface="Arial"/>
              <a:buChar char="•"/>
            </a:pPr>
            <a:r>
              <a:rPr sz="1500" b="0" i="0">
                <a:solidFill>
                  <a:srgbClr val="18232F"/>
                </a:solidFill>
                <a:latin typeface="Segoe UI"/>
              </a:rPr>
              <a:t>Drawdown (Day 3) yeh hai ki curve apne high se kitna gira, naya high banne se pehle.</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Aman ke screenshot par checks chalaiye. Costs: koi zikr nahi. Drawdown: dikhaya hi nahi. Trade count: 25, chhote akshar mein. Data: ek hi chadhta hua saal. Out-of-sample: kuch nahi, aur settings 'optimised' hain, yaani usi saal par tune ki gayi. Paanchon checks fail: teen missing, aur do bahut kamzor. Yeh builder ka woh brochure hai jo balcony se dhalta suraj toh dikhata hai, par bagal wala naala chhod deta hai.</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Backtest par bharosa karne se pehle paanch checks</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Ek bhi missing ya fail? Page ko advertisement hi maaniye.</a:t>
            </a:r>
          </a:p>
        </p:txBody>
      </p:sp>
      <p:cxnSp>
        <p:nvCxnSpPr>
          <p:cNvPr id="11" name="Connector 10"/>
          <p:cNvCxnSpPr/>
          <p:nvPr/>
        </p:nvCxnSpPr>
        <p:spPr>
          <a:xfrm>
            <a:off x="1731234" y="436549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2009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Costs aur slippage</a:t>
            </a:r>
          </a:p>
          <a:p>
            <a:pPr algn="ctr">
              <a:lnSpc>
                <a:spcPct val="100000"/>
              </a:lnSpc>
            </a:pPr>
            <a:r>
              <a:rPr sz="1100" b="0" i="0">
                <a:solidFill>
                  <a:srgbClr val="47596B"/>
                </a:solidFill>
                <a:latin typeface="Segoe UI"/>
              </a:rPr>
              <a:t>Har trade se charges aur slippage ghataye gaye</a:t>
            </a:r>
          </a:p>
        </p:txBody>
      </p:sp>
      <p:sp>
        <p:nvSpPr>
          <p:cNvPr id="14" name="Rounded Rectangle 13"/>
          <p:cNvSpPr/>
          <p:nvPr/>
        </p:nvSpPr>
        <p:spPr>
          <a:xfrm>
            <a:off x="3703229" y="42009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Maximum drawdown</a:t>
            </a:r>
          </a:p>
          <a:p>
            <a:pPr algn="ctr">
              <a:lnSpc>
                <a:spcPct val="100000"/>
              </a:lnSpc>
            </a:pPr>
            <a:r>
              <a:rPr sz="1100" b="0" i="0">
                <a:solidFill>
                  <a:srgbClr val="47596B"/>
                </a:solidFill>
                <a:latin typeface="Segoe UI"/>
              </a:rPr>
              <a:t>Sabse gehri giravat, aur woh kitni lambi chali</a:t>
            </a:r>
          </a:p>
        </p:txBody>
      </p:sp>
      <p:sp>
        <p:nvSpPr>
          <p:cNvPr id="16" name="Rounded Rectangle 15"/>
          <p:cNvSpPr/>
          <p:nvPr/>
        </p:nvSpPr>
        <p:spPr>
          <a:xfrm>
            <a:off x="5885536" y="42009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Trade count</a:t>
            </a:r>
          </a:p>
          <a:p>
            <a:pPr algn="ctr">
              <a:lnSpc>
                <a:spcPct val="100000"/>
              </a:lnSpc>
            </a:pPr>
            <a:r>
              <a:rPr sz="1100" b="0" i="0">
                <a:solidFill>
                  <a:srgbClr val="47596B"/>
                </a:solidFill>
                <a:latin typeface="Segoe UI"/>
              </a:rPr>
              <a:t>30 se kam: bahut kam. 30-100: shuruaat. 100+: zyada bharosa</a:t>
            </a:r>
          </a:p>
        </p:txBody>
      </p:sp>
      <p:sp>
        <p:nvSpPr>
          <p:cNvPr id="18" name="Rounded Rectangle 17"/>
          <p:cNvSpPr/>
          <p:nvPr/>
        </p:nvSpPr>
        <p:spPr>
          <a:xfrm>
            <a:off x="8067843" y="42009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Girta market bhi</a:t>
            </a:r>
          </a:p>
          <a:p>
            <a:pPr algn="ctr">
              <a:lnSpc>
                <a:spcPct val="100000"/>
              </a:lnSpc>
            </a:pPr>
            <a:r>
              <a:rPr sz="1100" b="0" i="0">
                <a:solidFill>
                  <a:srgbClr val="47596B"/>
                </a:solidFill>
                <a:latin typeface="Segoe UI"/>
              </a:rPr>
              <a:t>Data mein kam se kam ek bura daur ho, sirf chadhta saal nahi</a:t>
            </a:r>
          </a:p>
        </p:txBody>
      </p:sp>
      <p:sp>
        <p:nvSpPr>
          <p:cNvPr id="20" name="Rounded Rectangle 19"/>
          <p:cNvSpPr/>
          <p:nvPr/>
        </p:nvSpPr>
        <p:spPr>
          <a:xfrm>
            <a:off x="10250150" y="420090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658106"/>
            <a:ext cx="2036003" cy="608076"/>
          </a:xfrm>
          <a:prstGeom prst="rect">
            <a:avLst/>
          </a:prstGeom>
          <a:noFill/>
        </p:spPr>
        <p:txBody>
          <a:bodyPr wrap="square" lIns="0" rIns="0" tIns="0" bIns="0" anchor="t">
            <a:noAutofit/>
          </a:bodyPr>
          <a:lstStyle/>
          <a:p>
            <a:pPr algn="ctr">
              <a:lnSpc>
                <a:spcPct val="100000"/>
              </a:lnSpc>
              <a:spcAft>
                <a:spcPts val="200"/>
              </a:spcAft>
            </a:pPr>
            <a:r>
              <a:rPr sz="1250" b="1" i="0">
                <a:solidFill>
                  <a:srgbClr val="18232F"/>
                </a:solidFill>
                <a:latin typeface="Segoe UI"/>
              </a:rPr>
              <a:t>Out-of-sample test</a:t>
            </a:r>
          </a:p>
          <a:p>
            <a:pPr algn="ctr">
              <a:lnSpc>
                <a:spcPct val="100000"/>
              </a:lnSpc>
            </a:pPr>
            <a:r>
              <a:rPr sz="1100" b="0" i="0">
                <a:solidFill>
                  <a:srgbClr val="47596B"/>
                </a:solidFill>
                <a:latin typeface="Segoe UI"/>
              </a:rPr>
              <a:t>Us data par test jis par settings tune nahi hui thi</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24" name="TextBox 2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Na costs, na drawdown, na trade count: toh bharosa bhi nahi.</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Perfect curves kyun bikhar jaate hain: costs aur naya data</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Do cheezein zyadatar advertised curves ko chupchaap flat kar deti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Doosri cheez hai naya data: curve-fit kiya hua rule un saalon par shaandaar dikhta hai jin par use tune kiya gaya, aur agle saal mamooli.</a:t>
            </a:r>
          </a:p>
          <a:p>
            <a:pPr algn="l" marL="274320" indent="-274320">
              <a:lnSpc>
                <a:spcPct val="100000"/>
              </a:lnSpc>
              <a:spcAft>
                <a:spcPts val="800"/>
              </a:spcAft>
              <a:buClr>
                <a:srgbClr val="134A9A"/>
              </a:buClr>
              <a:buFont typeface="Arial"/>
              <a:buChar char="•"/>
            </a:pPr>
            <a:r>
              <a:rPr sz="1600" b="0" i="0">
                <a:solidFill>
                  <a:srgbClr val="18232F"/>
                </a:solidFill>
                <a:latin typeface="Segoe UI"/>
              </a:rPr>
              <a:t>Aur ek khinchaav humare andar bhi hai.</a:t>
            </a:r>
          </a:p>
          <a:p>
            <a:pPr algn="l" marL="274320" indent="-274320">
              <a:lnSpc>
                <a:spcPct val="100000"/>
              </a:lnSpc>
              <a:buClr>
                <a:srgbClr val="134A9A"/>
              </a:buClr>
              <a:buFont typeface="Arial"/>
              <a:buChar char="•"/>
            </a:pPr>
            <a:r>
              <a:rPr sz="1600" b="0" i="0">
                <a:solidFill>
                  <a:srgbClr val="18232F"/>
                </a:solidFill>
                <a:latin typeface="Segoe UI"/>
              </a:rPr>
              <a:t>Chhote-chhote imaandaar losses wale hafte ke baad, bina dip wali smooth line raahat jaisi lagti hai, aur seller asal mein yahi feeling bech raha hota hai.</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Ek page 40 trades aur +11R dikhata hai. Maan lijiye charges aur slippage har trade par 0.2R padte hain. Yeh sirf samjhaane ke liye figure hai, aapke Day 12 allowance ka dugna. Tight stop ya kam trade hone wale stocks mein aisa ho sakta hai: tight stop ka matlab hai usi 1R ke liye zyada shares, aur zyada shares par charges bhi zyada lagte hain. … Aur sabse gehra drawdown 4R se badh kar 6R ho jaata hai, chart dekhiye.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172014" y="1490472"/>
            <a:ext cx="1364825"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Sirf samjhane ke liye</a:t>
            </a:r>
          </a:p>
        </p:txBody>
      </p:sp>
      <p:sp>
        <p:nvSpPr>
          <p:cNvPr id="10" name="TextBox 9"/>
          <p:cNvSpPr txBox="1"/>
          <p:nvPr/>
        </p:nvSpPr>
        <p:spPr>
          <a:xfrm>
            <a:off x="6397600" y="1481328"/>
            <a:ext cx="363725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Wahi trades, costs ke saath aur bina</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40 trades, har trade par 0.2R cost. Har trade ke saath gap badhta jaata hai, aur dips gehre ho jaate hain.</a:t>
            </a:r>
          </a:p>
        </p:txBody>
      </p:sp>
      <p:sp>
        <p:nvSpPr>
          <p:cNvPr id="12" name="Rectangle 11"/>
          <p:cNvSpPr/>
          <p:nvPr/>
        </p:nvSpPr>
        <p:spPr>
          <a:xfrm>
            <a:off x="6795268"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24452" y="1796796"/>
            <a:ext cx="560208"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Page par</a:t>
            </a:r>
          </a:p>
        </p:txBody>
      </p:sp>
      <p:sp>
        <p:nvSpPr>
          <p:cNvPr id="14" name="Rectangle 13"/>
          <p:cNvSpPr/>
          <p:nvPr/>
        </p:nvSpPr>
        <p:spPr>
          <a:xfrm>
            <a:off x="7958980"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88164" y="1796796"/>
            <a:ext cx="857000"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Costs ke baad</a:t>
            </a:r>
          </a:p>
        </p:txBody>
      </p:sp>
      <p:sp>
        <p:nvSpPr>
          <p:cNvPr id="16" name="TextBox 15"/>
          <p:cNvSpPr txBox="1"/>
          <p:nvPr/>
        </p:nvSpPr>
        <p:spPr>
          <a:xfrm>
            <a:off x="6397600" y="2071116"/>
            <a:ext cx="268366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Total R</a:t>
            </a:r>
          </a:p>
        </p:txBody>
      </p:sp>
      <p:cxnSp>
        <p:nvCxnSpPr>
          <p:cNvPr id="17" name="Connector 16"/>
          <p:cNvCxnSpPr/>
          <p:nvPr/>
        </p:nvCxnSpPr>
        <p:spPr>
          <a:xfrm>
            <a:off x="6795268" y="483717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75488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-4.12</a:t>
            </a:r>
          </a:p>
        </p:txBody>
      </p:sp>
      <p:cxnSp>
        <p:nvCxnSpPr>
          <p:cNvPr id="19" name="Connector 18"/>
          <p:cNvCxnSpPr/>
          <p:nvPr/>
        </p:nvCxnSpPr>
        <p:spPr>
          <a:xfrm>
            <a:off x="6795268" y="4259961"/>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177665"/>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-0.06</a:t>
            </a:r>
          </a:p>
        </p:txBody>
      </p:sp>
      <p:cxnSp>
        <p:nvCxnSpPr>
          <p:cNvPr id="21" name="Connector 20"/>
          <p:cNvCxnSpPr/>
          <p:nvPr/>
        </p:nvCxnSpPr>
        <p:spPr>
          <a:xfrm>
            <a:off x="6795268" y="368274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60045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4.00</a:t>
            </a:r>
          </a:p>
        </p:txBody>
      </p:sp>
      <p:cxnSp>
        <p:nvCxnSpPr>
          <p:cNvPr id="23" name="Connector 22"/>
          <p:cNvCxnSpPr/>
          <p:nvPr/>
        </p:nvCxnSpPr>
        <p:spPr>
          <a:xfrm>
            <a:off x="6795268" y="3105531"/>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023235"/>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8.06</a:t>
            </a:r>
          </a:p>
        </p:txBody>
      </p:sp>
      <p:cxnSp>
        <p:nvCxnSpPr>
          <p:cNvPr id="25" name="Connector 24"/>
          <p:cNvCxnSpPr/>
          <p:nvPr/>
        </p:nvCxnSpPr>
        <p:spPr>
          <a:xfrm>
            <a:off x="6795268" y="252831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12.1</a:t>
            </a:r>
          </a:p>
        </p:txBody>
      </p:sp>
      <p:cxnSp>
        <p:nvCxnSpPr>
          <p:cNvPr id="27" name="Connector 26"/>
          <p:cNvCxnSpPr/>
          <p:nvPr/>
        </p:nvCxnSpPr>
        <p:spPr>
          <a:xfrm>
            <a:off x="9136866" y="2382012"/>
            <a:ext cx="0" cy="245516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82586" y="2290572"/>
            <a:ext cx="1147281"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Costs ke baad low</a:t>
            </a:r>
          </a:p>
        </p:txBody>
      </p:sp>
      <p:sp>
        <p:nvSpPr>
          <p:cNvPr id="29" name="Freeform 28"/>
          <p:cNvSpPr/>
          <p:nvPr/>
        </p:nvSpPr>
        <p:spPr>
          <a:xfrm>
            <a:off x="6795268" y="2687548"/>
            <a:ext cx="4683195" cy="1706054"/>
          </a:xfrm>
          <a:custGeom>
            <a:avLst/>
            <a:gdLst/>
            <a:ahLst/>
            <a:cxnLst/>
            <a:rect l="l" t="t" r="r" b="b"/>
            <a:pathLst>
              <a:path w="4683195" h="1706054">
                <a:moveTo>
                  <a:pt x="0" y="1563883"/>
                </a:moveTo>
                <a:lnTo>
                  <a:pt x="117080" y="1706054"/>
                </a:lnTo>
                <a:lnTo>
                  <a:pt x="234160" y="1421712"/>
                </a:lnTo>
                <a:lnTo>
                  <a:pt x="351240" y="1563883"/>
                </a:lnTo>
                <a:lnTo>
                  <a:pt x="468320" y="1279540"/>
                </a:lnTo>
                <a:lnTo>
                  <a:pt x="585400" y="995198"/>
                </a:lnTo>
                <a:lnTo>
                  <a:pt x="702480" y="1137369"/>
                </a:lnTo>
                <a:lnTo>
                  <a:pt x="819559" y="1279540"/>
                </a:lnTo>
                <a:lnTo>
                  <a:pt x="936639" y="995198"/>
                </a:lnTo>
                <a:lnTo>
                  <a:pt x="1053719" y="1137369"/>
                </a:lnTo>
                <a:lnTo>
                  <a:pt x="1170799" y="853027"/>
                </a:lnTo>
                <a:lnTo>
                  <a:pt x="1287879" y="995198"/>
                </a:lnTo>
                <a:lnTo>
                  <a:pt x="1404959" y="1137369"/>
                </a:lnTo>
                <a:lnTo>
                  <a:pt x="1522039" y="1279540"/>
                </a:lnTo>
                <a:lnTo>
                  <a:pt x="1639119" y="1421712"/>
                </a:lnTo>
                <a:lnTo>
                  <a:pt x="1756198" y="1137369"/>
                </a:lnTo>
                <a:lnTo>
                  <a:pt x="1873278" y="1279540"/>
                </a:lnTo>
                <a:lnTo>
                  <a:pt x="1990358" y="1421712"/>
                </a:lnTo>
                <a:lnTo>
                  <a:pt x="2107438" y="1137369"/>
                </a:lnTo>
                <a:lnTo>
                  <a:pt x="2224518" y="1279540"/>
                </a:lnTo>
                <a:lnTo>
                  <a:pt x="2341598" y="1421712"/>
                </a:lnTo>
                <a:lnTo>
                  <a:pt x="2458678" y="1137369"/>
                </a:lnTo>
                <a:lnTo>
                  <a:pt x="2575758" y="853027"/>
                </a:lnTo>
                <a:lnTo>
                  <a:pt x="2692837" y="995198"/>
                </a:lnTo>
                <a:lnTo>
                  <a:pt x="2809917" y="710856"/>
                </a:lnTo>
                <a:lnTo>
                  <a:pt x="2926997" y="853027"/>
                </a:lnTo>
                <a:lnTo>
                  <a:pt x="3044077" y="995198"/>
                </a:lnTo>
                <a:lnTo>
                  <a:pt x="3161157" y="710856"/>
                </a:lnTo>
                <a:lnTo>
                  <a:pt x="3278237" y="853027"/>
                </a:lnTo>
                <a:lnTo>
                  <a:pt x="3395317" y="568684"/>
                </a:lnTo>
                <a:lnTo>
                  <a:pt x="3512396" y="710856"/>
                </a:lnTo>
                <a:lnTo>
                  <a:pt x="3629476" y="426513"/>
                </a:lnTo>
                <a:lnTo>
                  <a:pt x="3746556" y="568684"/>
                </a:lnTo>
                <a:lnTo>
                  <a:pt x="3863636" y="710856"/>
                </a:lnTo>
                <a:lnTo>
                  <a:pt x="3980716" y="426513"/>
                </a:lnTo>
                <a:lnTo>
                  <a:pt x="4097796" y="142171"/>
                </a:lnTo>
                <a:lnTo>
                  <a:pt x="4214876" y="284342"/>
                </a:lnTo>
                <a:lnTo>
                  <a:pt x="4331956" y="0"/>
                </a:lnTo>
                <a:lnTo>
                  <a:pt x="4449035" y="142171"/>
                </a:lnTo>
                <a:lnTo>
                  <a:pt x="4566115" y="284342"/>
                </a:lnTo>
                <a:lnTo>
                  <a:pt x="4683195"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795268" y="3739614"/>
            <a:ext cx="4683195" cy="938330"/>
          </a:xfrm>
          <a:custGeom>
            <a:avLst/>
            <a:gdLst/>
            <a:ahLst/>
            <a:cxnLst/>
            <a:rect l="l" t="t" r="r" b="b"/>
            <a:pathLst>
              <a:path w="4683195" h="938330">
                <a:moveTo>
                  <a:pt x="0" y="511817"/>
                </a:moveTo>
                <a:lnTo>
                  <a:pt x="117080" y="682422"/>
                </a:lnTo>
                <a:lnTo>
                  <a:pt x="234160" y="426514"/>
                </a:lnTo>
                <a:lnTo>
                  <a:pt x="351240" y="597119"/>
                </a:lnTo>
                <a:lnTo>
                  <a:pt x="468320" y="341211"/>
                </a:lnTo>
                <a:lnTo>
                  <a:pt x="585400" y="85303"/>
                </a:lnTo>
                <a:lnTo>
                  <a:pt x="702480" y="255909"/>
                </a:lnTo>
                <a:lnTo>
                  <a:pt x="819559" y="426514"/>
                </a:lnTo>
                <a:lnTo>
                  <a:pt x="936639" y="170606"/>
                </a:lnTo>
                <a:lnTo>
                  <a:pt x="1053719" y="341211"/>
                </a:lnTo>
                <a:lnTo>
                  <a:pt x="1170799" y="85303"/>
                </a:lnTo>
                <a:lnTo>
                  <a:pt x="1287879" y="255909"/>
                </a:lnTo>
                <a:lnTo>
                  <a:pt x="1404959" y="426514"/>
                </a:lnTo>
                <a:lnTo>
                  <a:pt x="1522039" y="597119"/>
                </a:lnTo>
                <a:lnTo>
                  <a:pt x="1639119" y="767725"/>
                </a:lnTo>
                <a:lnTo>
                  <a:pt x="1756198" y="511817"/>
                </a:lnTo>
                <a:lnTo>
                  <a:pt x="1873278" y="682422"/>
                </a:lnTo>
                <a:lnTo>
                  <a:pt x="1990358" y="853028"/>
                </a:lnTo>
                <a:lnTo>
                  <a:pt x="2107438" y="597119"/>
                </a:lnTo>
                <a:lnTo>
                  <a:pt x="2224518" y="767725"/>
                </a:lnTo>
                <a:lnTo>
                  <a:pt x="2341598" y="938330"/>
                </a:lnTo>
                <a:lnTo>
                  <a:pt x="2458678" y="682422"/>
                </a:lnTo>
                <a:lnTo>
                  <a:pt x="2575758" y="426514"/>
                </a:lnTo>
                <a:lnTo>
                  <a:pt x="2692837" y="597119"/>
                </a:lnTo>
                <a:lnTo>
                  <a:pt x="2809917" y="341211"/>
                </a:lnTo>
                <a:lnTo>
                  <a:pt x="2926997" y="511817"/>
                </a:lnTo>
                <a:lnTo>
                  <a:pt x="3044077" y="682422"/>
                </a:lnTo>
                <a:lnTo>
                  <a:pt x="3161157" y="426514"/>
                </a:lnTo>
                <a:lnTo>
                  <a:pt x="3278237" y="597119"/>
                </a:lnTo>
                <a:lnTo>
                  <a:pt x="3395317" y="341211"/>
                </a:lnTo>
                <a:lnTo>
                  <a:pt x="3512396" y="511817"/>
                </a:lnTo>
                <a:lnTo>
                  <a:pt x="3629476" y="255909"/>
                </a:lnTo>
                <a:lnTo>
                  <a:pt x="3746556" y="426514"/>
                </a:lnTo>
                <a:lnTo>
                  <a:pt x="3863636" y="597119"/>
                </a:lnTo>
                <a:lnTo>
                  <a:pt x="3980716" y="341211"/>
                </a:lnTo>
                <a:lnTo>
                  <a:pt x="4097796" y="85303"/>
                </a:lnTo>
                <a:lnTo>
                  <a:pt x="4214876" y="255909"/>
                </a:lnTo>
                <a:lnTo>
                  <a:pt x="4331956" y="0"/>
                </a:lnTo>
                <a:lnTo>
                  <a:pt x="4449035" y="170606"/>
                </a:lnTo>
                <a:lnTo>
                  <a:pt x="4566115" y="341211"/>
                </a:lnTo>
                <a:lnTo>
                  <a:pt x="4683195" y="85303"/>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5268" y="4873752"/>
            <a:ext cx="468319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Trades</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4" name="TextBox 33"/>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Har trade apne costs bharta hai, jeet ho ya haar. Unke bina bana curve sirf kahaani hai.</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Tip groups aur finfluencers: perfect record ki chaal</a:t>
            </a:r>
          </a:p>
        </p:txBody>
      </p:sp>
      <p:sp>
        <p:nvSpPr>
          <p:cNvPr id="4" name="TextBox 3"/>
          <p:cNvSpPr txBox="1"/>
          <p:nvPr/>
        </p:nvSpPr>
        <p:spPr>
          <a:xfrm>
            <a:off x="457200" y="1335024"/>
            <a:ext cx="5519776" cy="191516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Finfluencer social media ka woh chehra hai jo paise ki baatein karta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Kuch sikhate hain, kuch bechte hain.</a:t>
            </a:r>
          </a:p>
          <a:p>
            <a:pPr algn="l" marL="274320" indent="-274320">
              <a:lnSpc>
                <a:spcPct val="100000"/>
              </a:lnSpc>
              <a:spcAft>
                <a:spcPts val="800"/>
              </a:spcAft>
              <a:buClr>
                <a:srgbClr val="134A9A"/>
              </a:buClr>
              <a:buFont typeface="Arial"/>
              <a:buChar char="•"/>
            </a:pPr>
            <a:r>
              <a:rPr sz="1600" b="0" i="0">
                <a:solidFill>
                  <a:srgbClr val="18232F"/>
                </a:solidFill>
                <a:latin typeface="Segoe UI"/>
              </a:rPr>
              <a:t>Paid group 'calls' ke liye monthly fee leta hai.</a:t>
            </a:r>
          </a:p>
          <a:p>
            <a:pPr algn="l" marL="274320" indent="-274320">
              <a:lnSpc>
                <a:spcPct val="100000"/>
              </a:lnSpc>
              <a:spcAft>
                <a:spcPts val="800"/>
              </a:spcAft>
              <a:buClr>
                <a:srgbClr val="134A9A"/>
              </a:buClr>
              <a:buFont typeface="Arial"/>
              <a:buChar char="•"/>
            </a:pPr>
            <a:r>
              <a:rPr sz="1600" b="0" i="0">
                <a:solidFill>
                  <a:srgbClr val="18232F"/>
                </a:solidFill>
                <a:latin typeface="Segoe UI"/>
              </a:rPr>
              <a:t>Registration sirf pehla check hai, skill ka saboot nahi.</a:t>
            </a:r>
          </a:p>
          <a:p>
            <a:pPr algn="l" marL="274320" indent="-274320">
              <a:lnSpc>
                <a:spcPct val="100000"/>
              </a:lnSpc>
              <a:buClr>
                <a:srgbClr val="134A9A"/>
              </a:buClr>
              <a:buFont typeface="Arial"/>
              <a:buChar char="•"/>
            </a:pPr>
            <a:r>
              <a:rPr sz="1600" b="0" i="0">
                <a:solidFill>
                  <a:srgbClr val="18232F"/>
                </a:solidFill>
                <a:latin typeface="Segoe UI"/>
              </a:rPr>
              <a:t>Latest rules SEBI ki site par dekhiye.</a:t>
            </a:r>
          </a:p>
        </p:txBody>
      </p:sp>
      <p:sp>
        <p:nvSpPr>
          <p:cNvPr id="5" name="Rounded Rectangle 4"/>
          <p:cNvSpPr/>
          <p:nvPr/>
        </p:nvSpPr>
        <p:spPr>
          <a:xfrm>
            <a:off x="457200" y="3405632"/>
            <a:ext cx="5519776" cy="2208784"/>
          </a:xfrm>
          <a:prstGeom prst="roundRect">
            <a:avLst>
              <a:gd name="adj" fmla="val 496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3364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40080" y="3789680"/>
            <a:ext cx="5154016" cy="175158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tipster 1,024 anjaan logon ko NIFTY 50 par message bhejta hai: aadhe logon ko 'kal upar', aadhon ko 'kal neeche'. Jo bhi ho, 512 logon ne sahi call dekh li. Phir woh sirf un 512 ke saath yahi karta hai, phir 256, aur aise hi aage. Paanch round ke baad 32 logon ne lagaataar paanch sahi calls dekh li hain. Unmein se kuch ko lagta hai koi genius mil gaya, aur woh Rs 2,999 mahina dene lagte hain. Tipster ne bas unhi logon ko likhna jaari rakha jinki call ko market ne ittefaq se sahi saabit kar diya.</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'Perfect record' wali list kaise chhoti hoti hai</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32 logon ke liye paanch calls ka perfect record, skill se nahi, chhantai se bana.</a:t>
            </a:r>
          </a:p>
        </p:txBody>
      </p:sp>
      <p:sp>
        <p:nvSpPr>
          <p:cNvPr id="11" name="TextBox 10"/>
          <p:cNvSpPr txBox="1"/>
          <p:nvPr/>
        </p:nvSpPr>
        <p:spPr>
          <a:xfrm>
            <a:off x="6397600" y="1796796"/>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Shuru mein</a:t>
            </a:r>
          </a:p>
        </p:txBody>
      </p:sp>
      <p:sp>
        <p:nvSpPr>
          <p:cNvPr id="12" name="Rounded Rectangle 11"/>
          <p:cNvSpPr/>
          <p:nvPr/>
        </p:nvSpPr>
        <p:spPr>
          <a:xfrm>
            <a:off x="7721800" y="1940052"/>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721800" y="1940052"/>
            <a:ext cx="3155128"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68368" y="1796796"/>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1,024</a:t>
            </a:r>
          </a:p>
        </p:txBody>
      </p:sp>
      <p:sp>
        <p:nvSpPr>
          <p:cNvPr id="15" name="TextBox 14"/>
          <p:cNvSpPr txBox="1"/>
          <p:nvPr/>
        </p:nvSpPr>
        <p:spPr>
          <a:xfrm>
            <a:off x="6397600" y="2369820"/>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 1 ke baad</a:t>
            </a:r>
          </a:p>
        </p:txBody>
      </p:sp>
      <p:sp>
        <p:nvSpPr>
          <p:cNvPr id="16" name="Rounded Rectangle 15"/>
          <p:cNvSpPr/>
          <p:nvPr/>
        </p:nvSpPr>
        <p:spPr>
          <a:xfrm>
            <a:off x="7721800" y="2513076"/>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721800" y="2513076"/>
            <a:ext cx="1577564"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68368" y="2369820"/>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512</a:t>
            </a:r>
          </a:p>
        </p:txBody>
      </p:sp>
      <p:sp>
        <p:nvSpPr>
          <p:cNvPr id="19" name="TextBox 18"/>
          <p:cNvSpPr txBox="1"/>
          <p:nvPr/>
        </p:nvSpPr>
        <p:spPr>
          <a:xfrm>
            <a:off x="6397600" y="2942844"/>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 2 ke baad</a:t>
            </a:r>
          </a:p>
        </p:txBody>
      </p:sp>
      <p:sp>
        <p:nvSpPr>
          <p:cNvPr id="20" name="Rounded Rectangle 19"/>
          <p:cNvSpPr/>
          <p:nvPr/>
        </p:nvSpPr>
        <p:spPr>
          <a:xfrm>
            <a:off x="7721800" y="3086100"/>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721800" y="3086100"/>
            <a:ext cx="788782"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68368" y="2942844"/>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256</a:t>
            </a:r>
          </a:p>
        </p:txBody>
      </p:sp>
      <p:sp>
        <p:nvSpPr>
          <p:cNvPr id="23" name="TextBox 22"/>
          <p:cNvSpPr txBox="1"/>
          <p:nvPr/>
        </p:nvSpPr>
        <p:spPr>
          <a:xfrm>
            <a:off x="6397600" y="3515868"/>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 3 ke baad</a:t>
            </a:r>
          </a:p>
        </p:txBody>
      </p:sp>
      <p:sp>
        <p:nvSpPr>
          <p:cNvPr id="24" name="Rounded Rectangle 23"/>
          <p:cNvSpPr/>
          <p:nvPr/>
        </p:nvSpPr>
        <p:spPr>
          <a:xfrm>
            <a:off x="7721800" y="3659124"/>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721800" y="3659124"/>
            <a:ext cx="394391"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968368" y="3515868"/>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128</a:t>
            </a:r>
          </a:p>
        </p:txBody>
      </p:sp>
      <p:sp>
        <p:nvSpPr>
          <p:cNvPr id="27" name="TextBox 26"/>
          <p:cNvSpPr txBox="1"/>
          <p:nvPr/>
        </p:nvSpPr>
        <p:spPr>
          <a:xfrm>
            <a:off x="6397600" y="4088892"/>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 4 ke baad</a:t>
            </a:r>
          </a:p>
        </p:txBody>
      </p:sp>
      <p:sp>
        <p:nvSpPr>
          <p:cNvPr id="28" name="Rounded Rectangle 27"/>
          <p:cNvSpPr/>
          <p:nvPr/>
        </p:nvSpPr>
        <p:spPr>
          <a:xfrm>
            <a:off x="7721800" y="4232148"/>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721800" y="4232148"/>
            <a:ext cx="197196"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0968368" y="4088892"/>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64</a:t>
            </a:r>
          </a:p>
        </p:txBody>
      </p:sp>
      <p:sp>
        <p:nvSpPr>
          <p:cNvPr id="31" name="TextBox 30"/>
          <p:cNvSpPr txBox="1"/>
          <p:nvPr/>
        </p:nvSpPr>
        <p:spPr>
          <a:xfrm>
            <a:off x="6397600" y="4661916"/>
            <a:ext cx="1214472"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Call 5 ke baad</a:t>
            </a:r>
          </a:p>
        </p:txBody>
      </p:sp>
      <p:sp>
        <p:nvSpPr>
          <p:cNvPr id="32" name="Rounded Rectangle 31"/>
          <p:cNvSpPr/>
          <p:nvPr/>
        </p:nvSpPr>
        <p:spPr>
          <a:xfrm>
            <a:off x="7721800" y="4805172"/>
            <a:ext cx="3155128"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721800" y="4805172"/>
            <a:ext cx="98598" cy="286512"/>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0968368" y="4661916"/>
            <a:ext cx="610679" cy="57302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32</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7" name="TextBox 36"/>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Jo record aap check na kar sakein, aur jiska naam sebi.gov.in par na mile, woh record nahi hai.</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IPO scams: 'GMP' aur 'assured allotment'</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Day 10 mein humne dekha tha ki asli IPO application kaise hoti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Aap ASBA ke through apply karte hain, net banking se ya bank/broker app mein UPI mandate se, aur paisa sirf aapke apne bank account mein block hota hai.</a:t>
            </a:r>
          </a:p>
          <a:p>
            <a:pPr algn="l" marL="274320" indent="-274320">
              <a:lnSpc>
                <a:spcPct val="100000"/>
              </a:lnSpc>
              <a:spcAft>
                <a:spcPts val="750"/>
              </a:spcAft>
              <a:buClr>
                <a:srgbClr val="134A9A"/>
              </a:buClr>
              <a:buFont typeface="Arial"/>
              <a:buChar char="•"/>
            </a:pPr>
            <a:r>
              <a:rPr sz="1500" b="0" i="0">
                <a:solidFill>
                  <a:srgbClr val="18232F"/>
                </a:solidFill>
                <a:latin typeface="Segoe UI"/>
              </a:rPr>
              <a:t>GMP yaani grey market premium ek unofficial, unregulated number hai jo exchange ke bahar bola jaata hai.</a:t>
            </a:r>
          </a:p>
          <a:p>
            <a:pPr algn="l" marL="274320" indent="-274320">
              <a:lnSpc>
                <a:spcPct val="100000"/>
              </a:lnSpc>
              <a:buClr>
                <a:srgbClr val="134A9A"/>
              </a:buClr>
              <a:buFont typeface="Arial"/>
              <a:buChar char="•"/>
            </a:pPr>
            <a:r>
              <a:rPr sz="1500" b="0" i="0">
                <a:solidFill>
                  <a:srgbClr val="18232F"/>
                </a:solidFill>
                <a:latin typeface="Segoe UI"/>
              </a:rPr>
              <a:t>Yeh tezi se badalta hai aur aasaani se fake kiya ja sakta hai.</a:t>
            </a:r>
          </a:p>
        </p:txBody>
      </p:sp>
      <p:sp>
        <p:nvSpPr>
          <p:cNvPr id="5" name="Rounded Rectangle 4"/>
          <p:cNvSpPr/>
          <p:nvPr/>
        </p:nvSpPr>
        <p:spPr>
          <a:xfrm>
            <a:off x="6214720" y="1335024"/>
            <a:ext cx="5519776" cy="2314956"/>
          </a:xfrm>
          <a:prstGeom prst="roundRect">
            <a:avLst>
              <a:gd name="adj" fmla="val 473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UDAHARAN</a:t>
            </a:r>
          </a:p>
        </p:txBody>
      </p:sp>
      <p:sp>
        <p:nvSpPr>
          <p:cNvPr id="7" name="TextBox 6"/>
          <p:cNvSpPr txBox="1"/>
          <p:nvPr/>
        </p:nvSpPr>
        <p:spPr>
          <a:xfrm>
            <a:off x="6397600" y="1719072"/>
            <a:ext cx="5154016" cy="185775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Ek made-up company ka IPO khabron mein hai, 'GMP Rs 80' ke saath. Ek Telegram group Aman ko offer deta hai: 'aaj raat tak Rs 30,000 humare account mein bhejo, 2 lots assured'. Ise asli raaste se milaiye: asli application mein allotment se pehle paisa aapke account se bahar jaata hi nahi, aur allotment lottery se hota hai. Offer dono baaton par fail hai. Agar paisa chala gaya ho, toh turant cybercrime helpline 1930 par call kijiye, cybercrime.gov.in par report kijiye, aur bank ko bataiye.</a:t>
            </a:r>
          </a:p>
        </p:txBody>
      </p:sp>
      <p:sp>
        <p:nvSpPr>
          <p:cNvPr id="8" name="Rounded Rectangle 7"/>
          <p:cNvSpPr/>
          <p:nvPr/>
        </p:nvSpPr>
        <p:spPr>
          <a:xfrm>
            <a:off x="457200" y="3814572"/>
            <a:ext cx="11277295" cy="1799844"/>
          </a:xfrm>
          <a:prstGeom prst="roundRect">
            <a:avLst>
              <a:gd name="adj" fmla="val 609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9608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Asli IPO ka raasta</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Kisi bhi step par kisi insaan ya group ko paisa nahi dena hota. Process SEBI ya exchange ki website par check kijiye.</a:t>
            </a:r>
          </a:p>
        </p:txBody>
      </p:sp>
      <p:sp>
        <p:nvSpPr>
          <p:cNvPr id="11" name="Rounded Rectangle 10"/>
          <p:cNvSpPr/>
          <p:nvPr/>
        </p:nvSpPr>
        <p:spPr>
          <a:xfrm>
            <a:off x="640080"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Aap apply karte hain</a:t>
            </a:r>
          </a:p>
          <a:p>
            <a:pPr algn="ctr">
              <a:lnSpc>
                <a:spcPct val="100000"/>
              </a:lnSpc>
            </a:pPr>
            <a:r>
              <a:rPr sz="1100" b="0" i="0">
                <a:solidFill>
                  <a:srgbClr val="47596B"/>
                </a:solidFill>
                <a:latin typeface="Segoe UI"/>
              </a:rPr>
              <a:t>ASBA: net banking ya UPI</a:t>
            </a:r>
          </a:p>
        </p:txBody>
      </p:sp>
      <p:sp>
        <p:nvSpPr>
          <p:cNvPr id="13" name="Right Arrow 12"/>
          <p:cNvSpPr/>
          <p:nvPr/>
        </p:nvSpPr>
        <p:spPr>
          <a:xfrm>
            <a:off x="2471257"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353306"/>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mandate approve</a:t>
            </a:r>
          </a:p>
        </p:txBody>
      </p:sp>
      <p:sp>
        <p:nvSpPr>
          <p:cNvPr id="15" name="Rounded Rectangle 14"/>
          <p:cNvSpPr/>
          <p:nvPr/>
        </p:nvSpPr>
        <p:spPr>
          <a:xfrm>
            <a:off x="2965033"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Paisa block</a:t>
            </a:r>
          </a:p>
          <a:p>
            <a:pPr algn="ctr">
              <a:lnSpc>
                <a:spcPct val="100000"/>
              </a:lnSpc>
            </a:pPr>
            <a:r>
              <a:rPr sz="1100" b="0" i="0">
                <a:solidFill>
                  <a:srgbClr val="47596B"/>
                </a:solidFill>
                <a:latin typeface="Segoe UI"/>
              </a:rPr>
              <a:t>Aapke apne account mein hi</a:t>
            </a:r>
          </a:p>
        </p:txBody>
      </p:sp>
      <p:sp>
        <p:nvSpPr>
          <p:cNvPr id="17" name="Right Arrow 16"/>
          <p:cNvSpPr/>
          <p:nvPr/>
        </p:nvSpPr>
        <p:spPr>
          <a:xfrm>
            <a:off x="4796211"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issue band</a:t>
            </a:r>
          </a:p>
        </p:txBody>
      </p:sp>
      <p:sp>
        <p:nvSpPr>
          <p:cNvPr id="19" name="Rounded Rectangle 18"/>
          <p:cNvSpPr/>
          <p:nvPr/>
        </p:nvSpPr>
        <p:spPr>
          <a:xfrm>
            <a:off x="5289987" y="4287774"/>
            <a:ext cx="1611721" cy="935736"/>
          </a:xfrm>
          <a:prstGeom prst="roundRect">
            <a:avLst>
              <a:gd name="adj" fmla="val 977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Lottery</a:t>
            </a:r>
          </a:p>
          <a:p>
            <a:pPr algn="ctr">
              <a:lnSpc>
                <a:spcPct val="100000"/>
              </a:lnSpc>
            </a:pPr>
            <a:r>
              <a:rPr sz="1100" b="0" i="0">
                <a:solidFill>
                  <a:srgbClr val="47596B"/>
                </a:solidFill>
                <a:latin typeface="Segoe UI"/>
              </a:rPr>
              <a:t>Agar log lots se zyada hon</a:t>
            </a:r>
          </a:p>
        </p:txBody>
      </p:sp>
      <p:sp>
        <p:nvSpPr>
          <p:cNvPr id="21" name="Right Arrow 20"/>
          <p:cNvSpPr/>
          <p:nvPr/>
        </p:nvSpPr>
        <p:spPr>
          <a:xfrm>
            <a:off x="7121164"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result</a:t>
            </a:r>
          </a:p>
        </p:txBody>
      </p:sp>
      <p:sp>
        <p:nvSpPr>
          <p:cNvPr id="23" name="Rounded Rectangle 22"/>
          <p:cNvSpPr/>
          <p:nvPr/>
        </p:nvSpPr>
        <p:spPr>
          <a:xfrm>
            <a:off x="7614940"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Allotment ya unblock</a:t>
            </a:r>
          </a:p>
          <a:p>
            <a:pPr algn="ctr">
              <a:lnSpc>
                <a:spcPct val="100000"/>
              </a:lnSpc>
            </a:pPr>
            <a:r>
              <a:rPr sz="1100" b="0" i="0">
                <a:solidFill>
                  <a:srgbClr val="47596B"/>
                </a:solidFill>
                <a:latin typeface="Segoe UI"/>
              </a:rPr>
              <a:t>Shares demat mein, ya paisa free</a:t>
            </a:r>
          </a:p>
        </p:txBody>
      </p:sp>
      <p:sp>
        <p:nvSpPr>
          <p:cNvPr id="25" name="Right Arrow 24"/>
          <p:cNvSpPr/>
          <p:nvPr/>
        </p:nvSpPr>
        <p:spPr>
          <a:xfrm>
            <a:off x="9446118"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listing</a:t>
            </a:r>
          </a:p>
        </p:txBody>
      </p:sp>
      <p:sp>
        <p:nvSpPr>
          <p:cNvPr id="27" name="Rounded Rectangle 26"/>
          <p:cNvSpPr/>
          <p:nvPr/>
        </p:nvSpPr>
        <p:spPr>
          <a:xfrm>
            <a:off x="9939894" y="4287774"/>
            <a:ext cx="1611721" cy="935736"/>
          </a:xfrm>
          <a:prstGeom prst="roundRect">
            <a:avLst>
              <a:gd name="adj" fmla="val 977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Listing day</a:t>
            </a:r>
          </a:p>
          <a:p>
            <a:pPr algn="ctr">
              <a:lnSpc>
                <a:spcPct val="100000"/>
              </a:lnSpc>
            </a:pPr>
            <a:r>
              <a:rPr sz="1100" b="0" i="0">
                <a:solidFill>
                  <a:srgbClr val="47596B"/>
                </a:solidFill>
                <a:latin typeface="Segoe UI"/>
              </a:rPr>
              <a:t>Exchange par trading shuru</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109115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Yaad rakhiye</a:t>
            </a:r>
          </a:p>
        </p:txBody>
      </p:sp>
      <p:sp>
        <p:nvSpPr>
          <p:cNvPr id="31" name="TextBox 30"/>
          <p:cNvSpPr txBox="1"/>
          <p:nvPr/>
        </p:nvSpPr>
        <p:spPr>
          <a:xfrm>
            <a:off x="1859250" y="5760720"/>
            <a:ext cx="9692366"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Har shortcut se teen sawaal: Kya bechne wala sebi.gov.in par hai? Losses aur costs kahan hain? Mera paisa mere account se bahar kyun jaaye?</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ke naye shabd</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5806"/>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Equity curve</a:t>
            </a:r>
          </a:p>
        </p:txBody>
      </p:sp>
      <p:sp>
        <p:nvSpPr>
          <p:cNvPr id="6" name="TextBox 5"/>
          <p:cNvSpPr txBox="1"/>
          <p:nvPr/>
        </p:nvSpPr>
        <p:spPr>
          <a:xfrm>
            <a:off x="658368" y="1809750"/>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Ek line jo har trade ke baad account ka chalta hua total dikhati hai.</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95806"/>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Backtest</a:t>
            </a:r>
          </a:p>
        </p:txBody>
      </p:sp>
      <p:sp>
        <p:nvSpPr>
          <p:cNvPr id="9" name="TextBox 8"/>
          <p:cNvSpPr txBox="1"/>
          <p:nvPr/>
        </p:nvSpPr>
        <p:spPr>
          <a:xfrm>
            <a:off x="6379312" y="1809750"/>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Ek fixed rule ko purane prices par chala kar dekhna ki woh kaisa chalta. Yeh past ka test hai, future ka andaaza nahi.</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71394"/>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Out-of-sample test</a:t>
            </a:r>
          </a:p>
        </p:txBody>
      </p:sp>
      <p:sp>
        <p:nvSpPr>
          <p:cNvPr id="12" name="TextBox 11"/>
          <p:cNvSpPr txBox="1"/>
          <p:nvPr/>
        </p:nvSpPr>
        <p:spPr>
          <a:xfrm>
            <a:off x="658368" y="3085338"/>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Rule ko us data par test karna jis par woh bana ya tune nahi hua. Backtest ke sabse imaandaar checks mein se ek.</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805684"/>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Curve-fitting</a:t>
            </a:r>
          </a:p>
        </p:txBody>
      </p:sp>
      <p:sp>
        <p:nvSpPr>
          <p:cNvPr id="15" name="TextBox 14"/>
          <p:cNvSpPr txBox="1"/>
          <p:nvPr/>
        </p:nvSpPr>
        <p:spPr>
          <a:xfrm>
            <a:off x="6379312" y="3096768"/>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Rule ki settings ko tab tak ghumana jab tak woh purane data par perfect fit na ho jaayein. Naye data par aksar kamzor nikalta hai.</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46982"/>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Finfluencer</a:t>
            </a:r>
          </a:p>
        </p:txBody>
      </p:sp>
      <p:sp>
        <p:nvSpPr>
          <p:cNvPr id="18" name="TextBox 17"/>
          <p:cNvSpPr txBox="1"/>
          <p:nvPr/>
        </p:nvSpPr>
        <p:spPr>
          <a:xfrm>
            <a:off x="658368"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Social media par paise ki baat karne wala. Paise lekar buy ya sell advice dene ke liye SEBI registration chahiye.</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46982"/>
            <a:ext cx="5154016" cy="277368"/>
          </a:xfrm>
          <a:prstGeom prst="rect">
            <a:avLst/>
          </a:prstGeom>
          <a:noFill/>
        </p:spPr>
        <p:txBody>
          <a:bodyPr wrap="square" lIns="0" rIns="0" tIns="0" bIns="0" anchor="t">
            <a:noAutofit/>
          </a:bodyPr>
          <a:lstStyle/>
          <a:p>
            <a:pPr algn="l">
              <a:lnSpc>
                <a:spcPct val="100000"/>
              </a:lnSpc>
            </a:pPr>
            <a:r>
              <a:rPr sz="1700" b="1" i="0">
                <a:solidFill>
                  <a:srgbClr val="134A9A"/>
                </a:solidFill>
                <a:latin typeface="Segoe UI"/>
              </a:rPr>
              <a:t>GMP (grey market premium)</a:t>
            </a:r>
          </a:p>
        </p:txBody>
      </p:sp>
      <p:sp>
        <p:nvSpPr>
          <p:cNvPr id="21" name="TextBox 20"/>
          <p:cNvSpPr txBox="1"/>
          <p:nvPr/>
        </p:nvSpPr>
        <p:spPr>
          <a:xfrm>
            <a:off x="6379312" y="4360926"/>
            <a:ext cx="5154016" cy="493776"/>
          </a:xfrm>
          <a:prstGeom prst="rect">
            <a:avLst/>
          </a:prstGeom>
          <a:noFill/>
        </p:spPr>
        <p:txBody>
          <a:bodyPr wrap="square" lIns="0" rIns="0" tIns="0" bIns="0" anchor="t">
            <a:noAutofit/>
          </a:bodyPr>
          <a:lstStyle/>
          <a:p>
            <a:pPr algn="l">
              <a:lnSpc>
                <a:spcPct val="100000"/>
              </a:lnSpc>
            </a:pPr>
            <a:r>
              <a:rPr sz="1500" b="0" i="0">
                <a:solidFill>
                  <a:srgbClr val="18232F"/>
                </a:solidFill>
                <a:latin typeface="Segoe UI"/>
              </a:rPr>
              <a:t>Listing se pehle IPO ke baare mein unofficial, unregulated price ki baat. Exchange ka price nahi, aur aasaani se fake.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Weekly review</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Weekend par hafte ki rows ko process par parakhna, profit par nahi. Journal tab mein Entry type 'Weekly review' chun kar save kiya review certificate mein ginta hai (3 mein se 2 hafte).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saar, ek page par</a:t>
            </a:r>
          </a:p>
        </p:txBody>
      </p:sp>
      <p:cxnSp>
        <p:nvCxnSpPr>
          <p:cNvPr id="4" name="Connector 3"/>
          <p:cNvCxnSpPr/>
          <p:nvPr/>
        </p:nvCxnSpPr>
        <p:spPr>
          <a:xfrm flipH="1" flipV="1">
            <a:off x="4358488" y="2104263"/>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90026"/>
            <a:ext cx="502920" cy="131387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2858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Week 2 review + Trap #2</a:t>
            </a:r>
          </a:p>
        </p:txBody>
      </p:sp>
      <p:sp>
        <p:nvSpPr>
          <p:cNvPr id="11" name="Rounded Rectangle 10"/>
          <p:cNvSpPr/>
          <p:nvPr/>
        </p:nvSpPr>
        <p:spPr>
          <a:xfrm>
            <a:off x="640080" y="1336738"/>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Ek trade</a:t>
            </a:r>
          </a:p>
        </p:txBody>
      </p:sp>
      <p:sp>
        <p:nvSpPr>
          <p:cNvPr id="13" name="TextBox 12"/>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Pehle style, phir EMA 20/50</a:t>
            </a:r>
          </a:p>
          <a:p>
            <a:pPr algn="l" marL="182880" indent="-182880">
              <a:lnSpc>
                <a:spcPct val="100000"/>
              </a:lnSpc>
              <a:spcAft>
                <a:spcPts val="405"/>
              </a:spcAft>
              <a:buClr>
                <a:srgbClr val="0093D6"/>
              </a:buClr>
              <a:buFont typeface="Arial"/>
              <a:buChar char="•"/>
            </a:pPr>
            <a:r>
              <a:rPr sz="1350" b="0" i="0">
                <a:solidFill>
                  <a:srgbClr val="18232F"/>
                </a:solidFill>
                <a:latin typeface="Segoe UI"/>
              </a:rPr>
              <a:t>Stop 1.5 x ATR, exit 2.5R</a:t>
            </a:r>
          </a:p>
          <a:p>
            <a:pPr algn="l" marL="182880" indent="-182880">
              <a:lnSpc>
                <a:spcPct val="100000"/>
              </a:lnSpc>
              <a:spcAft>
                <a:spcPts val="405"/>
              </a:spcAft>
              <a:buClr>
                <a:srgbClr val="0093D6"/>
              </a:buClr>
              <a:buFont typeface="Arial"/>
              <a:buChar char="•"/>
            </a:pPr>
            <a:r>
              <a:rPr sz="1350" b="0" i="0">
                <a:solidFill>
                  <a:srgbClr val="18232F"/>
                </a:solidFill>
                <a:latin typeface="Segoe UI"/>
              </a:rPr>
              <a:t>1% risk, 25% cap, 3 trades</a:t>
            </a:r>
          </a:p>
          <a:p>
            <a:pPr algn="l" marL="182880" indent="-182880">
              <a:lnSpc>
                <a:spcPct val="100000"/>
              </a:lnSpc>
              <a:buClr>
                <a:srgbClr val="0093D6"/>
              </a:buClr>
              <a:buFont typeface="Arial"/>
              <a:buChar char="•"/>
            </a:pPr>
            <a:r>
              <a:rPr sz="1350" b="0" i="0">
                <a:solidFill>
                  <a:srgbClr val="18232F"/>
                </a:solidFill>
                <a:latin typeface="Segoe UI"/>
              </a:rPr>
              <a:t>-2R din ka stop, -5R hafte ka pause</a:t>
            </a:r>
          </a:p>
        </p:txBody>
      </p:sp>
      <p:sp>
        <p:nvSpPr>
          <p:cNvPr id="14" name="Rounded Rectangle 13"/>
          <p:cNvSpPr/>
          <p:nvPr/>
        </p:nvSpPr>
        <p:spPr>
          <a:xfrm>
            <a:off x="640080" y="3036379"/>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Aapka review</a:t>
            </a:r>
          </a:p>
        </p:txBody>
      </p:sp>
      <p:sp>
        <p:nvSpPr>
          <p:cNvPr id="16" name="TextBox 15"/>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Process ko grade, P&amp;L ko nahi</a:t>
            </a:r>
          </a:p>
          <a:p>
            <a:pPr algn="l" marL="182880" indent="-182880">
              <a:lnSpc>
                <a:spcPct val="100000"/>
              </a:lnSpc>
              <a:spcAft>
                <a:spcPts val="405"/>
              </a:spcAft>
              <a:buClr>
                <a:srgbClr val="16A34A"/>
              </a:buClr>
              <a:buFont typeface="Arial"/>
              <a:buChar char="•"/>
            </a:pPr>
            <a:r>
              <a:rPr sz="1350" b="0" i="0">
                <a:solidFill>
                  <a:srgbClr val="18232F"/>
                </a:solidFill>
                <a:latin typeface="Segoe UI"/>
              </a:rPr>
              <a:t>Rule todkar jeet = warning</a:t>
            </a:r>
          </a:p>
          <a:p>
            <a:pPr algn="l" marL="182880" indent="-182880">
              <a:lnSpc>
                <a:spcPct val="100000"/>
              </a:lnSpc>
              <a:spcAft>
                <a:spcPts val="405"/>
              </a:spcAft>
              <a:buClr>
                <a:srgbClr val="16A34A"/>
              </a:buClr>
              <a:buFont typeface="Arial"/>
              <a:buChar char="•"/>
            </a:pPr>
            <a:r>
              <a:rPr sz="1350" b="0" i="0">
                <a:solidFill>
                  <a:srgbClr val="18232F"/>
                </a:solidFill>
                <a:latin typeface="Segoe UI"/>
              </a:rPr>
              <a:t>No-trade din bhi ginte hain</a:t>
            </a:r>
          </a:p>
          <a:p>
            <a:pPr algn="l" marL="182880" indent="-182880">
              <a:lnSpc>
                <a:spcPct val="100000"/>
              </a:lnSpc>
              <a:buClr>
                <a:srgbClr val="16A34A"/>
              </a:buClr>
              <a:buFont typeface="Arial"/>
              <a:buChar char="•"/>
            </a:pPr>
            <a:r>
              <a:rPr sz="1350" b="0" i="0">
                <a:solidFill>
                  <a:srgbClr val="18232F"/>
                </a:solidFill>
                <a:latin typeface="Segoe UI"/>
              </a:rPr>
              <a:t>'Weekly review' ki tarah save</a:t>
            </a:r>
          </a:p>
        </p:txBody>
      </p:sp>
      <p:sp>
        <p:nvSpPr>
          <p:cNvPr id="17" name="Rounded Rectangle 16"/>
          <p:cNvSpPr/>
          <p:nvPr/>
        </p:nvSpPr>
        <p:spPr>
          <a:xfrm>
            <a:off x="640080" y="4736020"/>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Backtest checks</a:t>
            </a:r>
          </a:p>
        </p:txBody>
      </p:sp>
      <p:sp>
        <p:nvSpPr>
          <p:cNvPr id="19" name="TextBox 18"/>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Costs aur slippage</a:t>
            </a:r>
          </a:p>
          <a:p>
            <a:pPr algn="l" marL="182880" indent="-182880">
              <a:lnSpc>
                <a:spcPct val="100000"/>
              </a:lnSpc>
              <a:spcAft>
                <a:spcPts val="405"/>
              </a:spcAft>
              <a:buClr>
                <a:srgbClr val="F5A524"/>
              </a:buClr>
              <a:buFont typeface="Arial"/>
              <a:buChar char="•"/>
            </a:pPr>
            <a:r>
              <a:rPr sz="1350" b="0" i="0">
                <a:solidFill>
                  <a:srgbClr val="18232F"/>
                </a:solidFill>
                <a:latin typeface="Segoe UI"/>
              </a:rPr>
              <a:t>Max drawdown</a:t>
            </a:r>
          </a:p>
          <a:p>
            <a:pPr algn="l" marL="182880" indent="-182880">
              <a:lnSpc>
                <a:spcPct val="100000"/>
              </a:lnSpc>
              <a:spcAft>
                <a:spcPts val="405"/>
              </a:spcAft>
              <a:buClr>
                <a:srgbClr val="F5A524"/>
              </a:buClr>
              <a:buFont typeface="Arial"/>
              <a:buChar char="•"/>
            </a:pPr>
            <a:r>
              <a:rPr sz="1350" b="0" i="0">
                <a:solidFill>
                  <a:srgbClr val="18232F"/>
                </a:solidFill>
                <a:latin typeface="Segoe UI"/>
              </a:rPr>
              <a:t>30+ trades, girta market bhi</a:t>
            </a:r>
          </a:p>
          <a:p>
            <a:pPr algn="l" marL="182880" indent="-182880">
              <a:lnSpc>
                <a:spcPct val="100000"/>
              </a:lnSpc>
              <a:buClr>
                <a:srgbClr val="F5A524"/>
              </a:buClr>
              <a:buFont typeface="Arial"/>
              <a:buChar char="•"/>
            </a:pPr>
            <a:r>
              <a:rPr sz="1350" b="0" i="0">
                <a:solidFill>
                  <a:srgbClr val="18232F"/>
                </a:solidFill>
                <a:latin typeface="Segoe UI"/>
              </a:rPr>
              <a:t>Out-of-sample test</a:t>
            </a:r>
          </a:p>
        </p:txBody>
      </p:sp>
      <p:sp>
        <p:nvSpPr>
          <p:cNvPr id="20" name="Rounded Rectangle 19"/>
          <p:cNvSpPr/>
          <p:nvPr/>
        </p:nvSpPr>
        <p:spPr>
          <a:xfrm>
            <a:off x="7833208" y="1851088"/>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960817"/>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Tip groups</a:t>
            </a:r>
          </a:p>
        </p:txBody>
      </p:sp>
      <p:sp>
        <p:nvSpPr>
          <p:cNvPr id="22" name="TextBox 21"/>
          <p:cNvSpPr txBox="1"/>
          <p:nvPr/>
        </p:nvSpPr>
        <p:spPr>
          <a:xfrm>
            <a:off x="7979512" y="2262568"/>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sebi.gov.in par search</a:t>
            </a:r>
          </a:p>
          <a:p>
            <a:pPr algn="l" marL="182880" indent="-182880">
              <a:lnSpc>
                <a:spcPct val="100000"/>
              </a:lnSpc>
              <a:spcAft>
                <a:spcPts val="405"/>
              </a:spcAft>
              <a:buClr>
                <a:srgbClr val="F0554E"/>
              </a:buClr>
              <a:buFont typeface="Arial"/>
              <a:buChar char="•"/>
            </a:pPr>
            <a:r>
              <a:rPr sz="1350" b="0" i="0">
                <a:solidFill>
                  <a:srgbClr val="18232F"/>
                </a:solidFill>
                <a:latin typeface="Segoe UI"/>
              </a:rPr>
              <a:t>Screenshots kuch saabit nahi karte</a:t>
            </a:r>
          </a:p>
          <a:p>
            <a:pPr algn="l" marL="182880" indent="-182880">
              <a:lnSpc>
                <a:spcPct val="100000"/>
              </a:lnSpc>
              <a:buClr>
                <a:srgbClr val="F0554E"/>
              </a:buClr>
              <a:buFont typeface="Arial"/>
              <a:buChar char="•"/>
            </a:pPr>
            <a:r>
              <a:rPr sz="1350" b="0" i="0">
                <a:solidFill>
                  <a:srgbClr val="18232F"/>
                </a:solidFill>
                <a:latin typeface="Segoe UI"/>
              </a:rPr>
              <a:t>1,024 se 32: skill zero</a:t>
            </a:r>
          </a:p>
        </p:txBody>
      </p:sp>
      <p:sp>
        <p:nvSpPr>
          <p:cNvPr id="23" name="Rounded Rectangle 22"/>
          <p:cNvSpPr/>
          <p:nvPr/>
        </p:nvSpPr>
        <p:spPr>
          <a:xfrm>
            <a:off x="7833208" y="3293554"/>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403282"/>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IPO scams</a:t>
            </a:r>
          </a:p>
        </p:txBody>
      </p:sp>
      <p:sp>
        <p:nvSpPr>
          <p:cNvPr id="25" name="TextBox 24"/>
          <p:cNvSpPr txBox="1"/>
          <p:nvPr/>
        </p:nvSpPr>
        <p:spPr>
          <a:xfrm>
            <a:off x="7979512"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GMP unofficial hai</a:t>
            </a:r>
          </a:p>
          <a:p>
            <a:pPr algn="l" marL="182880" indent="-182880">
              <a:lnSpc>
                <a:spcPct val="100000"/>
              </a:lnSpc>
              <a:spcAft>
                <a:spcPts val="405"/>
              </a:spcAft>
              <a:buClr>
                <a:srgbClr val="F0554E"/>
              </a:buClr>
              <a:buFont typeface="Arial"/>
              <a:buChar char="•"/>
            </a:pPr>
            <a:r>
              <a:rPr sz="1350" b="0" i="0">
                <a:solidFill>
                  <a:srgbClr val="18232F"/>
                </a:solidFill>
                <a:latin typeface="Segoe UI"/>
              </a:rPr>
              <a:t>Allotment lottery se hota hai</a:t>
            </a:r>
          </a:p>
          <a:p>
            <a:pPr algn="l" marL="182880" indent="-182880">
              <a:lnSpc>
                <a:spcPct val="100000"/>
              </a:lnSpc>
              <a:buClr>
                <a:srgbClr val="F0554E"/>
              </a:buClr>
              <a:buFont typeface="Arial"/>
              <a:buChar char="•"/>
            </a:pPr>
            <a:r>
              <a:rPr sz="1350" b="0" i="0">
                <a:solidFill>
                  <a:srgbClr val="18232F"/>
                </a:solidFill>
                <a:latin typeface="Segoe UI"/>
              </a:rPr>
              <a:t>Paisa aapke account mein hi</a:t>
            </a:r>
          </a:p>
        </p:txBody>
      </p:sp>
      <p:sp>
        <p:nvSpPr>
          <p:cNvPr id="26" name="Rounded Rectangle 25"/>
          <p:cNvSpPr/>
          <p:nvPr/>
        </p:nvSpPr>
        <p:spPr>
          <a:xfrm>
            <a:off x="7833208" y="4736020"/>
            <a:ext cx="3718408" cy="1020699"/>
          </a:xfrm>
          <a:prstGeom prst="roundRect">
            <a:avLst>
              <a:gd name="adj" fmla="val 1075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Aapka mann</a:t>
            </a:r>
          </a:p>
        </p:txBody>
      </p:sp>
      <p:sp>
        <p:nvSpPr>
          <p:cNvPr id="28" name="TextBox 27"/>
          <p:cNvSpPr txBox="1"/>
          <p:nvPr/>
        </p:nvSpPr>
        <p:spPr>
          <a:xfrm>
            <a:off x="7979512" y="5147500"/>
            <a:ext cx="3425800" cy="60921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Jitna perfect, utne sawaal</a:t>
            </a:r>
          </a:p>
          <a:p>
            <a:pPr algn="l" marL="182880" indent="-182880">
              <a:lnSpc>
                <a:spcPct val="100000"/>
              </a:lnSpc>
              <a:buClr>
                <a:srgbClr val="0093D6"/>
              </a:buClr>
              <a:buFont typeface="Arial"/>
              <a:buChar char="•"/>
            </a:pPr>
            <a:r>
              <a:rPr sz="1350" b="0" i="0">
                <a:solidFill>
                  <a:srgbClr val="18232F"/>
                </a:solidFill>
                <a:latin typeface="Segoe UI"/>
              </a:rPr>
              <a:t>Smooth line raahat bechti hai</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AAJ KA KAAM</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Mentor ke 10 rows wale journal par process review ka abhyaas kijiye, apni rows ka review karke use Weekly review ki tarah save kijiye, ek made-up backtest page ka audit kijiye, sebi.gov.in par ek naam check kijiye, aur Quiz Game 2 kheliye.</a:t>
            </a:r>
          </a:p>
        </p:txBody>
      </p:sp>
      <p:sp>
        <p:nvSpPr>
          <p:cNvPr id="6" name="Rounded Rectangle 5"/>
          <p:cNvSpPr/>
          <p:nvPr/>
        </p:nvSpPr>
        <p:spPr>
          <a:xfrm>
            <a:off x="457200" y="22494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Pehle abhyaas: neeche diye 10 rows ke practice journal ka Point column bhariye, adherence score nikaaliye aur har toota rule pehchaaniye, phir Weekly review card ki key se khud ko check kijiye.</a:t>
            </a:r>
          </a:p>
        </p:txBody>
      </p:sp>
      <p:sp>
        <p:nvSpPr>
          <p:cNvPr id="10" name="Rounded Rectangle 9"/>
          <p:cNvSpPr/>
          <p:nvPr/>
        </p:nvSpPr>
        <p:spPr>
          <a:xfrm>
            <a:off x="457200" y="302971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394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31577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3029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Ab apni rows: apna Day 12 journal kholiye aur review card ka 'Aapka hafta' column bhariye: points ÷ decisions ('No setup' rows giniye; open trades ko plan, size aur stop par grade kijiye), har toota rule aur uska ek line ka fix, aur hafte ka total R. -5R ya usse bura ho toh agle trade se pehle ruk kar review kijiye.</a:t>
            </a:r>
          </a:p>
        </p:txBody>
      </p:sp>
      <p:sp>
        <p:nvSpPr>
          <p:cNvPr id="14" name="Rounded Rectangle 13"/>
          <p:cNvSpPr/>
          <p:nvPr/>
        </p:nvSpPr>
        <p:spPr>
          <a:xfrm>
            <a:off x="457200" y="40538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1635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41818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1544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Is lesson ke Journal tab mein Entry type 'Weekly review' hi rehne dijiye aur teen lines mein review likhiye: aapka score, sabse zyada toota rule (ya 'none') aur ek fix. Yeh entry certificate mein ginti hai, jise 3 mein se 2 hafton ke weekly review chahiye.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AAJ KA KAAM · AAGE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Aaj ka kaam</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Rounded Rectangle 4"/>
          <p:cNvSpPr/>
          <p:nvPr/>
        </p:nvSpPr>
        <p:spPr>
          <a:xfrm>
            <a:off x="457200" y="1335024"/>
            <a:ext cx="11277295" cy="1085088"/>
          </a:xfrm>
          <a:prstGeom prst="roundRect">
            <a:avLst>
              <a:gd name="adj" fmla="val 842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92049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Mentor ke banaye is practice page ka audit kijiye (asli bot ya tips pages mat kholiye): 'TrendRider Bot. 88% winning trades. Ek strong saal ki 1 Jan se 31 Dec tak ke 34 trades. Brokerage included. Settings is data par best result ke liye optimised.' Paanchon checks ke aage Present, Missing ya Unclear likhiye, phir key se milaiye: costs Unclear (sirf brokerage), drawdown Missing, trade count Present (34 bas shuruaat hai), girta market Missing, out-of-sample Missing.</a:t>
            </a:r>
          </a:p>
        </p:txBody>
      </p:sp>
      <p:sp>
        <p:nvSpPr>
          <p:cNvPr id="9" name="Rounded Rectangle 8"/>
          <p:cNvSpPr/>
          <p:nvPr/>
        </p:nvSpPr>
        <p:spPr>
          <a:xfrm>
            <a:off x="457200" y="2511552"/>
            <a:ext cx="11277295" cy="1306068"/>
          </a:xfrm>
          <a:prstGeom prst="roundRect">
            <a:avLst>
              <a:gd name="adj" fmla="val 7001"/>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6212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639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612136"/>
            <a:ext cx="10042855" cy="114147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sebi.gov.in par kisi ek finfluencer ya paid group ko check kijiye jo aapne dekha ho (koi na ho toh is lesson ke end mein chhapa INH000020004): unka dikhaya hua INH ya INA number Research Analyst ya Investment Adviser list mein search kijiye, aur note kijiye ki naam, number aur SEBI record ke contact details (email, phone) unke page se match karte hain ya nahi. Agar koi INH ya INA number dikhaya hi nahi, toh naam se search kijiye; kuch match na ho toh unhe unregistered maaniye. Unhe join mat kijiye, paisa mat dijiye, message bhi mat kijiye.</a:t>
            </a:r>
          </a:p>
        </p:txBody>
      </p:sp>
      <p:sp>
        <p:nvSpPr>
          <p:cNvPr id="13" name="Rounded Rectangle 12"/>
          <p:cNvSpPr/>
          <p:nvPr/>
        </p:nvSpPr>
        <p:spPr>
          <a:xfrm>
            <a:off x="457200" y="3909060"/>
            <a:ext cx="11277295" cy="864108"/>
          </a:xfrm>
          <a:prstGeom prst="roundRect">
            <a:avLst>
              <a:gd name="adj" fmla="val 1058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401878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40370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4009644"/>
            <a:ext cx="10042855" cy="699516"/>
          </a:xfrm>
          <a:prstGeom prst="rect">
            <a:avLst/>
          </a:prstGeom>
          <a:noFill/>
        </p:spPr>
        <p:txBody>
          <a:bodyPr wrap="square" lIns="0" rIns="0" tIns="0" bIns="0" anchor="t">
            <a:noAutofit/>
          </a:bodyPr>
          <a:lstStyle/>
          <a:p>
            <a:pPr algn="l">
              <a:lnSpc>
                <a:spcPct val="100000"/>
              </a:lnSpc>
            </a:pPr>
            <a:r>
              <a:rPr sz="1450" b="0" i="0">
                <a:solidFill>
                  <a:srgbClr val="18232F"/>
                </a:solidFill>
                <a:latin typeface="Segoe UI"/>
              </a:rPr>
              <a:t>Aakhir mein Quiz Game 2 dijiye, Week 2 ka 15 sawaalon wala exam; yeh upar ke 55 minute mein shaamil nahi hai. Jin topics mein galti hui unhe note kijiye. Teenon weekly Quiz Games dena certificate ke chhe checks mein se ek hai (Day 21).</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AAJ KE BAAD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Aaj ke baad aap ek paper trade ko poore Week 2 ke toolkit se guzaar payenge, trades ko profit ki jagah process par grade karke apni rows ka weekly review save kar payenge, kisi bhi backtest page ko paanch checks se parakh payenge, kuch tip groups ki perfect-record wali chaal samjha payenge, aur IPO ke 'GMP / assured allotment' scam ko pehchaan payenge.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journal: review ke liye 10 decisions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Mentor ne practice ke liye banaya hai; stock names tips nahi hain. Point column (1 ya 0) bhariye, phir neeche Weekly review card ki key se khud ko check kijiye.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3"/>
        </p:xfrm>
        <a:graphic>
          <a:graphicData uri="http://schemas.openxmlformats.org/drawingml/2006/table">
            <a:tbl>
              <a:tblPr firstRow="1">
                <a:tableStyleId>{5C22544A-7EE6-4342-B048-85BDC9FD1C3A}</a:tableStyleId>
              </a:tblPr>
              <a:tblGrid>
                <a:gridCol w="731520"/>
                <a:gridCol w="4247441"/>
                <a:gridCol w="820415"/>
                <a:gridCol w="1906460"/>
                <a:gridCol w="1384901"/>
                <a:gridCol w="1820799"/>
              </a:tblGrid>
              <a:tr h="374073">
                <a:tc>
                  <a:txBody>
                    <a:bodyPr wrap="square"/>
                    <a:lstStyle/>
                    <a:p>
                      <a:pPr algn="l"/>
                      <a:r>
                        <a:rPr sz="140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Stock aur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R 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Rule broken?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Emotion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00" b="1" i="0">
                          <a:solidFill>
                            <a:srgbClr val="FFFFFF"/>
                          </a:solidFill>
                          <a:latin typeface="Segoe UI"/>
                        </a:rPr>
                        <a:t>Point (aap bhariye)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ctr"/>
                      <a:r>
                        <a:rPr sz="14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bore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Gupta Cement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Kiran Foods Ltd, tip par khareeda, likha plan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Likha plan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Bharat Pumps Ltd, Skipped: max entry se upar gap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Desai Power Ltd, EMA Pullback, stop ke paar gap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-1.6R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Anand Snacks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Stop neeche khiskaya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darr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bore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Sharma Textiles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+2.4R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Bharat Pumps Ltd, chautha khula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-1.1R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4th open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over-confident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0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Kiran Foods Ltd, EMA Pullback, 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+0.6R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Weekly review card: pehle key, phir aapka hafta</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Daayan column apni rows se bhariye, chahe do-teen hi hon, phir Journal tab mein Entry type 'Weekly review' chun kar likhiye.</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60"/>
        </p:xfrm>
        <a:graphic>
          <a:graphicData uri="http://schemas.openxmlformats.org/drawingml/2006/table">
            <a:tbl>
              <a:tblPr firstRow="1">
                <a:tableStyleId>{5C22544A-7EE6-4342-B048-85BDC9FD1C3A}</a:tableStyleId>
              </a:tblPr>
              <a:tblGrid>
                <a:gridCol w="2312104"/>
                <a:gridCol w="7398618"/>
                <a:gridCol w="1200813"/>
              </a:tblGrid>
              <a:tr h="682371">
                <a:tc>
                  <a:txBody>
                    <a:bodyPr wrap="square"/>
                    <a:lstStyle/>
                    <a:p>
                      <a:pPr algn="l"/>
                      <a:r>
                        <a:rPr sz="1500" b="1" i="0">
                          <a:solidFill>
                            <a:srgbClr val="FFFFFF"/>
                          </a:solidFill>
                          <a:latin typeface="Segoe UI"/>
                        </a:rPr>
                        <a:t>Sawaal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Practice journal (key)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Aapka hafta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44627">
                <a:tc>
                  <a:txBody>
                    <a:bodyPr wrap="square"/>
                    <a:lstStyle/>
                    <a:p>
                      <a:pPr algn="l"/>
                      <a:r>
                        <a:rPr sz="1500" b="0" i="0">
                          <a:solidFill>
                            <a:srgbClr val="18232F"/>
                          </a:solidFill>
                          <a:latin typeface="Segoe UI"/>
                        </a:rPr>
                        <a:t>Points ÷ decisions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7 ÷ 10 = 70% (points 1,1,0,1,1,0,1,1,0,1)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Kaunse rules toote?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Likha plan nahi (row 3), stop neeche khiskaya (row 6), chautha khula trade (row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Rule todkar koi jeet?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Row 3, +1.4R: dason mein sabse khatarnak 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73227">
                <a:tc>
                  <a:txBody>
                    <a:bodyPr wrap="square"/>
                    <a:lstStyle/>
                    <a:p>
                      <a:pPr algn="l"/>
                      <a:r>
                        <a:rPr sz="1500" b="0" i="0">
                          <a:solidFill>
                            <a:srgbClr val="18232F"/>
                          </a:solidFill>
                          <a:latin typeface="Segoe UI"/>
                        </a:rPr>
                        <a:t>Toote rows par emotion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FOMO, darr, over-confident; calm kabhi nahi. Row 9 +2.4R ki jeet ke theek baad aayi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73227">
                <a:tc>
                  <a:txBody>
                    <a:bodyPr wrap="square"/>
                    <a:lstStyle/>
                    <a:p>
                      <a:pPr algn="l"/>
                      <a:r>
                        <a:rPr sz="1500" b="0" i="0">
                          <a:solidFill>
                            <a:srgbClr val="18232F"/>
                          </a:solidFill>
                          <a:latin typeface="Segoe UI"/>
                        </a:rPr>
                        <a:t>Har rule ke saath hue loss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Row 2 aur 5: sahi trades. Row 5 ka 1.6R loss gap se hua, rule todne 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Total R; -5R wala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-1.1R: rule wale trades +0.3R, toote rules -1.4R; pause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44627">
                <a:tc>
                  <a:txBody>
                    <a:bodyPr wrap="square"/>
                    <a:lstStyle/>
                    <a:p>
                      <a:pPr algn="l"/>
                      <a:r>
                        <a:rPr sz="1500" b="0" i="0">
                          <a:solidFill>
                            <a:srgbClr val="18232F"/>
                          </a:solidFill>
                          <a:latin typeface="Segoe UI"/>
                        </a:rPr>
                        <a:t>Agle hafte ka ek fix</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Pichhli shaam likhe plan ke bina koi entry nahi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AAPKA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Fun round ka practice page: 'SteadyLine Bot' (made-up)</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Aakhri row dhak dijiye, do minute ka timer lagaiye aur paanchon checks mark kijiye: line quote kijiye, ya 'page par nahi hai' likhiye. Phir key kholiye.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731520"/>
                <a:gridCol w="10180015"/>
              </a:tblGrid>
              <a:tr h="48234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Page kya kehta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7320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SteadyLine Bot: 71% winning trades, 2019 se 2023 tak 180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2020 ke crash aur do sideways saalon mein bhi test kiya gaya.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Saare results brokerage, taxes aur baaki charges se pehle ke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Sabse bura ek mahina: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Settings 2019-2023 par sabse smooth curve ke liye fine-tune ki gayi. Live results jald aa rahe hain.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5,000 khush members se judiye. Rs 1,999 mahina.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01802">
                <a:tc>
                  <a:txBody>
                    <a:bodyPr wrap="square"/>
                    <a:lstStyle/>
                    <a:p>
                      <a:pPr algn="l"/>
                      <a:r>
                        <a:rPr sz="1500" b="0" i="0">
                          <a:solidFill>
                            <a:srgbClr val="18232F"/>
                          </a:solidFill>
                          <a:latin typeface="Segoe UI"/>
                        </a:rPr>
                        <a:t>Key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Costs Missing (line 3 charges se pehle ki hai), drawdown Unclear (sabse bura mahina sabse gehri girawat nahi hai), trade count Present (180), girta market Present (line 2), out-of-sample Missing (line 5). Ab bhi advertisement hi hai.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Swap-and-audit, sirf apni marzi se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Classmates, dost ya family ke saath kheliye. Score process ka, paise ka nahi.</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Is hafte ka journal kisi classmate ke saath badliye, naam hata kar, aur ek-doosre ko sirf process par grade kijiye: rule follow hua, size formula se tha, stop apni jagah raha.</a:t>
            </a:r>
          </a:p>
          <a:p>
            <a:pPr algn="l">
              <a:lnSpc>
                <a:spcPct val="100000"/>
              </a:lnSpc>
              <a:spcAft>
                <a:spcPts val="700"/>
              </a:spcAft>
            </a:pPr>
            <a:r>
              <a:rPr sz="2000" b="0" i="0">
                <a:solidFill>
                  <a:srgbClr val="18232F"/>
                </a:solidFill>
                <a:latin typeface="Segoe UI"/>
              </a:rPr>
              <a:t>Journal mein likhe stock names record hain, tips nahi: na un par trade kijiye, na unhe aage forward kijiye.</a:t>
            </a:r>
          </a:p>
          <a:p>
            <a:pPr algn="l">
              <a:lnSpc>
                <a:spcPct val="100000"/>
              </a:lnSpc>
              <a:spcAft>
                <a:spcPts val="700"/>
              </a:spcAft>
            </a:pPr>
            <a:r>
              <a:rPr sz="2000" b="0" i="0">
                <a:solidFill>
                  <a:srgbClr val="18232F"/>
                </a:solidFill>
                <a:latin typeface="Segoe UI"/>
              </a:rPr>
              <a:t>Phir Aaj Ka Kaam mein diye 'SteadyLine Bot' practice page par race lagaiye: key dhak dijiye, do minute ka timer lagaiye, aur paanchon checks mark kijiye, line quote karke ya 'page par nahi hai' likh kar.</a:t>
            </a:r>
          </a:p>
          <a:p>
            <a:pPr algn="l">
              <a:lnSpc>
                <a:spcPct val="100000"/>
              </a:lnSpc>
              <a:spcAft>
                <a:spcPts val="700"/>
              </a:spcAft>
            </a:pPr>
            <a:r>
              <a:rPr sz="2000" b="0" i="0">
                <a:solidFill>
                  <a:srgbClr val="18232F"/>
                </a:solidFill>
                <a:latin typeface="Segoe UI"/>
              </a:rPr>
              <a:t>Sabse pehle poori sahi sheet wala jeeta.</a:t>
            </a:r>
          </a:p>
          <a:p>
            <a:pPr algn="l">
              <a:lnSpc>
                <a:spcPct val="100000"/>
              </a:lnSpc>
            </a:pPr>
            <a:r>
              <a:rPr sz="2000" b="0" i="0">
                <a:solidFill>
                  <a:srgbClr val="18232F"/>
                </a:solidFill>
                <a:latin typeface="Segoe UI"/>
              </a:rPr>
              <a:t>Akele padh rahe hain? Timer ko haraiye, phir 'Practice brochure' prompt se naya page banwa kar dobara race lagaiye.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page reader: Present, Missing ya Unclear</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Backtest page reader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“You are a careful reviewer who teaches Indian beginners to read performance claims. I will paste the text of a backtest or performance page for a trading strategy, bot or paid group.”</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Practice brochure</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a short, made-up advertisement page for a fictional trading bot called 'RocketAlgo X' so I can practise spotting a weak backtest.”</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IPO offer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KI SHURUAAT (ENGLISH MEIN)</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 message offers me 'assured allotment' in an upcoming IPO through a special quota if I transfer money to an account today, and it quotes a high grey market premium (GMP).”</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App se prompt copy kijiye</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Kisi bhi AI chat mein paste kijiye</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Har Fact khud check kijiye</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analyst hai, faisla aap karte hain. Kisi bhi AI mein PAN, client ID, password, OTP ya API key kabhi paste mat kijiye, aur AI ka jawab kabhi buy ya sell call bana kar aage mat bhejiye.</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Poora prompt: speaker notes mein, aur app ke AI Lab tab mein.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SAWAAL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bot page kehta hai: '2018 se 2023 tak 220 trades, saare charges ke baad ke results, 2020 ke crash mein bhi test kiya, 2024 ke us data par dobara test kiya jo settings ne kabhi dekha nahi, sabse bura ek mahina -4%.' Paanch checks mein se kaunsa abhi bhi khula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Out-of-sample: ek saal ka naya data kuch bhi saabit nahi karta</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count: chhe saal mein 220 trades bharose ke liye bahut kam hain</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Drawdown: sabse bura mahina, peak se sabse gehri girawat nahi hai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Koi nahi: har check ka jawab hai, isliye page asli saboot hai</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SAWAAL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ke paper trade mein har rule follow hua: entry likhe hue rule se, size formula se, stop ko chhua tak nahi. Stop hit hua: Day 12 ke allowance ke baad -1.1R. Uska weekly review ise kaise grade kare?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Saboot ki strategy ne kaam karna band kar diya</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Ishara ki uske stops aur door hone chahiye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Sahi trade; loss pehle se plan mein tha</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Galat trade, kyunki paisa doob gaya</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SAWAAL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strategy page 150 trades, costs ke saath, aur -12R ka maximum drawdown dikhata hai. Lekin saare trades ek hi lagaataar chadhte saal ke hain, aur settings bhi usi saal par optimise ki gayi thi. Isse sabse sahi baat kya nikalti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Fake, kyunki -12R drawdown ka matlab fail</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Abhi saabit nahi: chadhta saal, naya data nahi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Bharosemand, kyunki costs aur drawdown dono dikhe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Robust, kyunki 100 se zyada trades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SAWAAL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tipster 2,048 logon ke do hisson ko NIFTY 50 par ulti predictions bhejta hai, phir roz sirf us aadhe hisse ke saath yahi dohraata hai jise sahi call mili. 4 round ke baad kitne logon ne lagaataar 4 sahi calls dekhi hain?</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1,024 log</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256 log</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512 log</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128 log</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SAWAAL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Ek WhatsApp group aane wale IPO ka GMP Rs 120 bata raha hai. Woh Priya ke cousin ko special quota se '1 lot, confirmed' offer karta hai, agar woh aaj hi Rs 15,000 kisi insaan ki UPI ID par bhej de. Kaunsa fact is scam ko sabse saaf pakadta hai?</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Asli IPO mein paisa sirf aapke apne bank account mein block hota hai</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120 ka GMP itna kam hai ki fee dene ka koi fayda hi nahi</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UPI ki jagah bank transfer se payment karna chahiye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Special quota wale shares listing day ke baad hi allot hote hain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Pehle sochiye, phir haath uthaiye: A, B, C ya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AAJ RAAT KA JOURNAL</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Week 2 ka review aur Shortcut Trap #2: jab result bahut achha dikhe</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AAJ RAAT KA JOURNAL</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050" b="0" i="0">
                <a:solidFill>
                  <a:srgbClr val="18232F"/>
                </a:solidFill>
                <a:latin typeface="Segoe UI"/>
              </a:rPr>
              <a:t>Entry type mein 'Weekly review' chuniye. Apna adherence score, sabse zyada toota rule (ya 'none') aur agle hafte ka ek fix likhiye. Phir: is hafte ka kaunsa trade aap reviewer se sabse zyada chhupana chahenge, aur kyun? Aakhir mein, is mahine ka koi ek result yaad kijiye jis par aapne bharosa kiya aur jisne apne losses kabhi nahi dikhaye: kaunsa sawaal uski pol khol deta?</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Is hafte aapne ek aisa record rakha jo apne losses bhi dikhata hai. Aapko jo bhi becha jaayega, usmein se zyadatar apne losses kabhi nahi dikhata.</a:t>
            </a:r>
          </a:p>
        </p:txBody>
      </p:sp>
      <p:sp>
        <p:nvSpPr>
          <p:cNvPr id="11" name="Rounded Rectangle 10"/>
          <p:cNvSpPr/>
          <p:nvPr/>
        </p:nvSpPr>
        <p:spPr>
          <a:xfrm>
            <a:off x="457200" y="5344668"/>
            <a:ext cx="6351330"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Agla: Day 15 · AI ke saath fundamental health check, aur corporate actions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Padhaai ki samagri. Is deck mein kuch bhi investment ki salaah ya recommendation nahi hai. Company ke naam aur chart ke prices sirf samjhane ke liye banaye gaye hain.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2   171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
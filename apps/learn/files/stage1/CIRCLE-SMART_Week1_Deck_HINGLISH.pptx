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CIRCLE S.M.A.R.T · Stage 1 · Week 1: Market kaise chalta hai, aur price ki bhasha</a:t>
            </a:r>
          </a:p>
          <a:p/>
          <a:p>
            <a:r>
              <a:t>Class ke liye week deck. Har din ka kram: divider, kahani, har topic ki ek slide, naye shabd, recap map, aaj ka kaam, template, class activity, AI Lab, 5 sawaalon ka quiz aur journal. Har slide ka talk track in notes mein hai. Quiz ke jawab is file mein nahi hain: learner app mein jawab dete hain, aur submit ke baad wahin explanation dikhta hai.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Indian share market asal mein kaise chalta hai — Market ka structure: kaun chalata hai, aur Buy dabane ke baad kya hota hai</a:t>
            </a:r>
          </a:p>
          <a:p>
            <a:r>
              <a:t>Day 2: Orders, liquidity aur trade ka asli kharcha — Order types, order book aur kharche: screen ke price aur aapke price ka fark</a:t>
            </a:r>
          </a:p>
          <a:p>
            <a:r>
              <a:t>Day 3: Trader vs gambler: woh maths jo zyadatar beginners skip kar dete hain — Expectancy, R-multiple, breakeven win-rate aur drawdown</a:t>
            </a:r>
          </a:p>
          <a:p>
            <a:r>
              <a:t>Day 4: AI aapka co-pilot, aur aapka scam radar — AI = analyst, aap = trigger: har claim ko Fact, Guess ya Kachra mein baantiye</a:t>
            </a:r>
          </a:p>
          <a:p>
            <a:r>
              <a:t>Day 5: Chart padhna: candles, timeframes aur volume — Charts, timeframes, candles aur volume</a:t>
            </a:r>
          </a:p>
          <a:p>
            <a:r>
              <a:t>Day 6: Trend, zones aur gaps: price ka structure padhna — Price structure: trend, support aur resistance zones, breakouts aur gaps</a:t>
            </a:r>
          </a:p>
          <a:p>
            <a:r>
              <a:t>Day 7: Week 1 review aur Shortcut Trap #1: tips ka audit — Week 1 review, tips ka audit, aur scams se khud ko bachana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Indian share market asal mein kaise chalta hai</a:t>
            </a:r>
          </a:p>
          <a:p/>
          <a:p>
            <a:r>
              <a:t>Concept: Market ka structure: kaun chalata hai, aur Buy dabane ke baad kya hota hai</a:t>
            </a:r>
          </a:p>
          <a:p>
            <a:r>
              <a:t>AI Lab: Follow my order: AI samjhaye, aap verify karein</a:t>
            </a:r>
          </a:p>
          <a:p>
            <a:r>
              <a:t>Mindset: Beginner ka overconfidence</a:t>
            </a:r>
          </a:p>
          <a:p/>
          <a:p>
            <a:r>
              <a:t>Aaj ke baad: Aaj ke baad aap samjha payenge ki Indian market kaun chalata hai aur ek din ka FII/DII flow signal kyun nahi hai, index ka weight kaise banta hai, demat account, DP aur KYC kya hain, Buy dabane se T+1 tak kya hota hai, market kab khula rehta hai aur price band kab rok sakta hai, aur shuru ki teen jeet skill kyun saabit nahi karti.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Mere shares gaye kahan?</a:t>
            </a:r>
          </a:p>
          <a:p/>
          <a:p>
            <a:r>
              <a:t>(Saturday, subah 10 baje. Aman Pune se mentor ko call karta hai. Priya bhi call par hai.)</a:t>
            </a:r>
          </a:p>
          <a:p>
            <a:r>
              <a:t>Aman: Sir, Friday ko maine Sharma Textiles Ltd ke 20 shares khareede. Demat mein dikh hi nahi rahe, aur app par price subah se hila tak nahi. Kuch gadbad toh nahi ho gayi?</a:t>
            </a:r>
          </a:p>
          <a:p>
            <a:r>
              <a:t>Mentor: Aman, ghabraiye mat. Pehle do sawaal. Kya Saturday ko market khulta hai? Aur Buy dabane ke baad shares ko demat tak pahunchne mein kitne din lagte hain?</a:t>
            </a:r>
          </a:p>
          <a:p>
            <a:r>
              <a:t>Aman: Umm... maine socha Buy dabaya aur shares seedha aa gaye. Is hafte teeno trade mein profit hua, toh laga main sab samajh gaya hoon.</a:t>
            </a:r>
          </a:p>
          <a:p>
            <a:r>
              <a:t>Priya: Sir, matlab us ek Buy button ke peeche poori ek chain hai, jo hum kabhi dekhte hi nahi?</a:t>
            </a:r>
          </a:p>
          <a:p>
            <a:r>
              <a:t>Mentor: Bilkul. Aaj hum ek order ka poora safar dekhenge, phone se demat tak. Aur Aman, ek achhe hafte ki teen jeet se kuch khaas saabit nahi hota. Samajh pehle aati hai.</a:t>
            </a:r>
          </a:p>
          <a:p/>
          <a:p>
            <a:r>
              <a:t>Seekh: Buy dabane mein do second lagte hain. Uske peeche kya hota hai, yeh samajhna hi asli pehla kadam hai.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Referee, ground aur players</a:t>
            </a:r>
          </a:p>
          <a:p/>
          <a:p>
            <a:r>
              <a:t>Share yaani kisi company mein ek chhota sa hissa: Sharma Textiles Ltd ka ek share aapke paas hai, toh us business ka ek chhota tukda aapka hai. Market ko ek cricket match ki tarah samjhiye. SEBI (Securities and Exchange Board of India) referee hai: rules banata hai, brokers aur advisers ko register karta hai, aur complaints par action leta hai. NSE aur BSE do main ground hain, jinhe stock exchange kehte hain, jahan buy aur sell orders milte hain. Players teen tarah ke hain: FII/FPI yaani videshi investors jaise overseas funds, DII yaani desi institutions jaise mutual funds aur insurance companies, aur retail yaani aap aur hum jaise individuals. Har trading day ki shaam NSE provisional figures daalta hai ki us din FII/FPI aur DII ne kitne ke shares khareede aur kitne beche; khareed minus bikri ko unka net flow kehte hain. Registration kaise check karein aur complaint kahan karein, yeh Day 7 mein seekhenge.</a:t>
            </a:r>
          </a:p>
          <a:p/>
          <a:p>
            <a:r>
              <a:t>Udaharan: Subah ki sabzi mandi mein ek hotel wala 500 kilo tamatar utha leta hai aur ek parivaar 1 kilo; bada order bhav hila deta hai. Market mein bhi yahi hota hai: ek fund ek din mein Rs 500 crore ke shares khareed sakta hai, ek retail buyer Rs 5,000 ke. Ek shaam NSE ke figures kehte hain: FII/FPI net -Rs 1,240 crore, DII net +Rs 1,610 crore, aur NIFTY 50 lagbhag flat band hua tha. Aman ek headline padhta hai, 'FIIs ne shares bech daale', aur kal sab kuch bechna chahta hai. Priya dono numbers apne log mein likhti hai aur kuch nahi karti: figures provisional hain, close ke baad aate hain, aur koi fund nahi batata ki usne kyun khareeda ya becha. Aur yaad rakhiye, jab aap khareedte hain toh koi aapko bech bhi raha hota hai; ho sakta hai us seller ko aapse zyada pata ho.</a:t>
            </a:r>
          </a:p>
          <a:p/>
          <a:p>
            <a:r>
              <a:t>Yaad rakhiye: SEBI registration ka matlab hai rules maanna aur complaint ki jagah, profit bilkul nahi. Ek din ka FII/DII flow khabar hai, buy ya sell ka signal nahi.</a:t>
            </a:r>
          </a:p>
          <a:p/>
          <a:p>
            <a:r>
              <a:t>Slide par: Market mein kaun kya hai · Bade players bada paisa lagate hain, lekin koi ek player market control nahi karta.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poore market ka ek number</a:t>
            </a:r>
          </a:p>
          <a:p/>
          <a:p>
            <a:r>
              <a:t>Index shares ki ek tokri hai, jiska haal ek number mein dikhta hai — ise market ka thermometer samajh lijiye. NIFTY 50 NSE par listed 50 badi companies ko track karta hai, SENSEX BSE ki 30 badi companies ko, aur NIFTY Bank sirf banking shares ko. Companies size aur trading activity ke rules se chuni jaati hain, aur badi company ka weight zyada hota hai. Yeh weight free-float market capitalisation se aata hai: sirf un shares ki market value jo trading ke liye khule hain; promoters (company ke founders ya controlling group) aur doosre strategic holders ke shares isse bahar rehte hain. Isliye ek heavyweight gir jaye toh index neeche aa sakta hai, chahe us din zyadatar shares upar gaye hon. Index ko seedha nahi khareed sakte; index funds aur ETFs use copy karte hain, inki baat Day 10 mein karenge.</a:t>
            </a:r>
          </a:p>
          <a:p/>
          <a:p>
            <a:r>
              <a:t>Udaharan: Ek class average sochiye jismein toppers ke marks zyada gine jaate hain. Ek mini-index mein Big Co ka weight 50%, Mid Co ka 30% aur Small Co ka 20% hai. Big Co 4% gir jaata hai, baaki dono chadh jaate hain. Phir bhi index neeche band hota hai — calculation dekhiye. Aur weight mein sirf free float gina jaata hai: Rs 1,00,000 crore ki company, jismein promoters ke paas 60% hai, index mein Rs 40,000 crore ki hi gini jaati hai.</a:t>
            </a:r>
          </a:p>
          <a:p/>
          <a:p>
            <a:r>
              <a:t>Yaad rakhiye: Index ek number mein market ka mood batata hai, lekin heavyweights ki awaaz sabse unchi hoti hai.</a:t>
            </a:r>
          </a:p>
          <a:p/>
          <a:p>
            <a:r>
              <a:t>Slide par: Weight index ko kaise hilata hai · Teen mein se do shares chadhe, phir bhi index gira. Ginti se zyada weight maayne rakhta hai.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Aapke teen account aur ek KYC</a:t>
            </a:r>
          </a:p>
          <a:p/>
          <a:p>
            <a:r>
              <a:t>Trading ke liye teen jude hue accounts chahiye. Bank account mein aapka paisa rehta hai. Trading account broker ke paas khulta hai, aur yahin se aap buy-sell orders lagate hain. Demat account mein aapke shares electronic form mein rehte hain — depository yaani NSDL ya CDSL ke paas, aapke apne naam par. Yeh account ek depository participant (DP) ke through khulta hai, jo depository ka agent hai aur SEBI mein registered hota hai; aam taur par aapka broker hi aapka DP hota hai, lekin shares broker ke nahi hote. KYC (Know Your Customer) identity check hai: PAN, address proof, photo aur ek live ya video verification. Yeh ek hi baar hota hai: record ek KYC Registration Agency (KRA) ke paas rehta hai, aur koi doosri SEBI-registered firm, jaise doosra broker ya mutual fund, wahin se use le sakti hai, sab dobara shuru karne ki zaroorat nahi. Koi bhi asli broker, exchange ya SEBI ka official aapse password, OTP ya TPIN (woh PIN jisse demat se shares bechne ki approval di jaati hai) kabhi nahi maangega.</a:t>
            </a:r>
          </a:p>
          <a:p/>
          <a:p>
            <a:r>
              <a:t>Udaharan: Priya ise apne tareeke se samjhati hai: bank account uska purse hai, trading account dukaan ka counter jahan woh order deti hai, aur demat account uska bank locker. Jab woh Gupta Cement Ltd ke 10 shares Rs 450 par khareedti hai, toh Rs 4,500 aur thode charges (Day 2) trading balance se nikal jaate hain, aur agle trading day (T+1, agle topic mein samjhenge) 10 shares uske naam se locker mein aa jaate hain. Bank locker ki tarah demat account bhi kehta hai ki ya toh nominee ka naam dijiye, yaani woh vyakti jo aapke saath kuch ho jaye toh shares claim kar sake, ya likhit mein opt out kijiye. Nominee zaroor dijiye: uske bina family ko shares paane ke liye lambi kaagazi karwai karni padti hai. Stage 1 mein aapko inmein se koi account nahi chahiye: app ke Portfolio page par Rs 10 lakh ka virtual paisa hai, aur uspar paper trading Day 12 se shuru hogi.</a:t>
            </a:r>
          </a:p>
          <a:p/>
          <a:p>
            <a:r>
              <a:t>Yaad rakhiye: Paisa bank mein, orders broker se, shares aapke demat mein, aur OTP sirf aapke paas.</a:t>
            </a:r>
          </a:p>
          <a:p/>
          <a:p>
            <a:r>
              <a:t>Slide par: Teen accounts, ek KYC · Aapke shares aapke apne demat mein rehte hain. KYC ek baar hota hai aur KRA ke paas rehta hai. Koi asli broker ya official aapka OTP, password ya TPIN nahi maangta.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order ka safar: phone se demat tak</a:t>
            </a:r>
          </a:p>
          <a:p/>
          <a:p>
            <a:r>
              <a:t>Jab aap Buy dabate hain, order pehle broker ke paas jaata hai, jo check karta hai ki aapke paas poora paisa hai ya nahi. Broker order ko exchange bhejta hai, jahan ek computer saare buy aur sell orders line mein lagata hai: best price pehle, aur same price par jo pehle aaya woh pehle. Jaise hi buyer ka price seller ke price se milta hai, trade ho jaata hai. Phir clearing corporation dono ke beech khadi ho jaati hai — har seller ke liye buyer aur har buyer ke liye seller ban jaati hai — taaki kisi ko anjaan party par bharosa na karna pade. T+1 yaani agle trading day par shares depository ke through buyer ke demat mein pahunch jaate hain, aur paisa seller ke broker tak.</a:t>
            </a:r>
          </a:p>
          <a:p/>
          <a:p>
            <a:r>
              <a:t>Udaharan: Aman ka Friday yaad hai? Usne subah 11 baje Sharma Textiles Ltd ke 20 shares Rs 250 par khareede — Rs 5,000 ka order. Saturday aur Sunday trading days nahi hote, isliye T+1 Monday tha. Kuch khoya nahi tha; shares bas raaste mein the. Kuch chune hue stocks ke liye ek optional same-day cycle bhi hai — apne broker se confirm kar lijiye.</a:t>
            </a:r>
          </a:p>
          <a:p/>
          <a:p>
            <a:r>
              <a:t>Yaad rakhiye: T+1 trading days ginta hai, calendar days nahi. Friday ko khareediye, toh shares aam taur par Monday ko aayenge.</a:t>
            </a:r>
          </a:p>
          <a:p/>
          <a:p>
            <a:r>
              <a:t>Slide par: Ek order ka safar · Paisa ulti disha mein chalta hai: buyer ke broker se, clearing ke through, seller tak.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ki ghadi, aur jab price ruk jaata hai</a:t>
            </a:r>
          </a:p>
          <a:p/>
          <a:p>
            <a:r>
              <a:t>NSE ka normal session trading days par subah 9:15 se dopahar 3:30 tak chalta hai. Usse theek pehle 9:00 se 9:15 tak pre-open session hota hai, jismein orders ikatthe hote hain aur ek opening price tay hota hai. 3 August 2026 se din ka ant do tarah se hota hai. Jin stocks ke F&amp;O contracts hain, unmein continuous trading 3:15 par ruk jaati hai, aur lagbhag 3:15 se 3:35 tak ek chhota closing auction ek closing price tay karta hai. Baaki stocks mein trading 3:30 tak chalti hai, aur unka closing price lagbhag aakhri 30 minute ka volume-weighted average hota hai. Weekends aur exchange holidays par market band rehta hai; kabhi-kabhaar exchange special session announce karta hai, jaise Diwali par Muhurat trading, ya Budget weekend par pade toh ek session. Price band ko aam bol-chaal mein circuit kehte hain. Yeh exchange ki daily limit hai ki zyadatar stocks ek din mein kitna upar-neeche ja sakte hain; kuch bade, zyada trade hone wale stocks ki limit flexible hoti hai. Lower band par aksar sellers bahut hote hain aur buyers na ke barabar. Agar index kisi bhi taraf bahut tezi se hile, toh market-wide circuit breaker saari trading kuch der ke liye rok sakta hai. Timings aur bands badal sakte hain, isliye latest jaankari NSE ki website par check kijiye.</a:t>
            </a:r>
          </a:p>
          <a:p/>
          <a:p>
            <a:r>
              <a:t>Udaharan: Ek buri khabar ke baad Kiran Foods Ltd girta hai aur apne lower price band Rs 180 par pahunch jaata hai — yeh aaj ke liye exchange ki tay ki hui neeche ki limit hai; har stock ka band nseindia.com par uske quote page par dikhta hai. Aman 50 shares bechna chahta hai, us price par Rs 9,000 ke, lekin lakhon shares pehle se bikne ki line mein hain aur buyers gine-chune hain. Uska order bas line mein khada rehta hai; ho sakta hai aaj fill hi na ho. Stop-loss bhi exit price ka vada kyun nahi kar sakta, yeh Day 2 mein dekhenge.</a:t>
            </a:r>
          </a:p>
          <a:p/>
          <a:p>
            <a:r>
              <a:t>Yaad rakhiye: Price band aapko bechne se rok sakta hai. Khareedne se pehle yeh jaan lena bhi risk samajhne ka hissa hai.</a:t>
            </a:r>
          </a:p>
          <a:p/>
          <a:p>
            <a:r>
              <a:t>Slide par: Ek trading day, phir T+1 · Weekends aur exchange holidays par market band rehta hai. Timings badal sakti hain: latest timings aur holiday list nseindia.com par dekhiye.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Beginner ka overconfidence: teen jeet skill nahi hai</a:t>
            </a:r>
          </a:p>
          <a:p/>
          <a:p>
            <a:r>
              <a:t>Overconfidence ka matlab hai khud ko asliyat se zyada samajhdaar maan lena. Yeh sabse zyada tab pakadta hai jab shuru ke kuch trades mein jeet mil jaati hai. Chadhte market mein bahut saare shares saath-saath chadh jaate hain, toh achhe hafte ki teen jeet market ki lehar bhi ho sakti hai, aapki skill nahi. Skill bahut saare trades aur alag-alag market conditions mein hi dikhti hai; yeh course kisi bhi rule ko judge karne se pehle kam se kam 30 trades maangta hai. Isiliye Stage 1 mein sirf virtual paisa hai: Portfolio page par Rs 10 lakh ka practice account, Day 12 se paper trading, aur score rules follow karne par milta hai, profit par nahi.</a:t>
            </a:r>
          </a:p>
          <a:p/>
          <a:p>
            <a:r>
              <a:t>Udaharan: Aman ke jeet wale hafte mein NIFTY 50 khud lagbhag 3% chadha tha, aur uske teen trades ne Rs 1,800 kamaye. Priya ne bas ek sawaal poocha: 'Agar us hafte market gira hota, toh kya yeh trades tab bhi chalte?' Aman ke paas jawab nahi tha. Har jeet ke baad yahi sawaal poochna overconfidence ka sabse seedha ilaaj hai.</a:t>
            </a:r>
          </a:p>
          <a:p/>
          <a:p>
            <a:r>
              <a:t>Yaad rakhiye: Kisi tareeke ko 30 trades ke baad judge kijiye, teen ke baad kabhi nahi.</a:t>
            </a:r>
          </a:p>
          <a:p/>
          <a:p>
            <a:r>
              <a:t>Slide par: Lehar par sawaari · Dono lines 100 se shuru hoti hain. Jeet wale hafte mein Aman ke stocks NIFTY 50 se tez chadhe; is 'what if' mein lehar palatte hi woh aur tezi se girte hain. Teen jeet se pata hi nahi chalta ki lehar thi ya skill.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Kisi company mein ek chhota sa hissa.</a:t>
            </a:r>
          </a:p>
          <a:p>
            <a:r>
              <a:t>Index: Shares ki tokri jo ek number mein dikhti hai, jaise NIFTY 50 ya SENSEX. Badi companies ka weight zyada hota hai.</a:t>
            </a:r>
          </a:p>
          <a:p>
            <a:r>
              <a:t>Free-float market cap: Sirf un shares ki market value jo trading ke liye khule hain; promoter aur doosri strategic holdings isse bahar. NIFTY 50 aur SENSEX companies ka weight isi se tay karte hain.</a:t>
            </a:r>
          </a:p>
          <a:p>
            <a:r>
              <a:t>FII/FPI aur DII: Videshi investors (ab official naam FPI hai) aur desi institutions, jaise mutual funds aur insurance companies. NSE har trading day ki shaam unki provisional net kharid ya bikri daalta hai; ek din ka figure signal nahi hai.</a:t>
            </a:r>
          </a:p>
          <a:p>
            <a:r>
              <a:t>Demat account aur DP: Demat account mein aapke shares electronic form mein, aapke naam par, NSDL ya CDSL ke paas rehte hain. Yeh depository participant (DP) ke through khulta hai, aam taur par aapka broker; lekin shares broker ke nahi hote.</a:t>
            </a:r>
          </a:p>
          <a:p>
            <a:r>
              <a:t>KYC aur KRA: KYC: ek baar ka identity check (PAN, address proof, photo, live verification). KRA: KYC Registration Agency jo yeh record rakhti hai, taaki doosri SEBI-registered firms wahin se le sakein.</a:t>
            </a:r>
          </a:p>
          <a:p>
            <a:r>
              <a:t>T+1 settlement: Trade ka din plus ek trading day: jab shares buyer tak aur paisa seller tak pahunchta hai.</a:t>
            </a:r>
          </a:p>
          <a:p>
            <a:r>
              <a:t>Price band (circuit): Exchange ki set ki hui daily limit ki zyadatar stocks kitna upar-neeche ja sakte hain. Band par aapka order shayad fill na ho.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kaise chalta hai</a:t>
            </a:r>
          </a:p>
          <a:p>
            <a:r>
              <a:t>Kaun kya hai: SEBI = referee; NSE, BSE = ground; FII/FPI, DII, retail = players; Registration profit ka vada nahi</a:t>
            </a:r>
          </a:p>
          <a:p>
            <a:r>
              <a:t>Scoreboard: NIFTY 50, SENSEX, NIFTY Bank; Weight = free-float market cap; Heavyweights sabse zyada hilaate hain; FII/DII flow: khabar, signal nahi</a:t>
            </a:r>
          </a:p>
          <a:p>
            <a:r>
              <a:t>Aapke accounts: Bank = paisa, trading = orders; Demat = shares aapke naam par, DP ke through; KYC ek baar, KRA ke through; nominee dijiye; OTP ya TPIN kabhi share nahi</a:t>
            </a:r>
          </a:p>
          <a:p>
            <a:r>
              <a:t>Order ka safar: App, broker, exchange; Clearing, depository, demat; T+1 = agla trading day</a:t>
            </a:r>
          </a:p>
          <a:p>
            <a:r>
              <a:t>Market ki ghadi: Pre-open 9:00-9:15; Normal session 9:15 am-3:30 pm; F&amp;O stocks: 3:15 se closing auction; Price band exit rok sakta hai</a:t>
            </a:r>
          </a:p>
          <a:p>
            <a:r>
              <a:t>Aapka mann: Teen jeet skill nahi; 30 trades ke baad judge karein; Stage 1 mein sirf virtual paisa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ke peeche ka system khud dekhiye: kaun kya karta hai likhiye, yaad se ek order ka safar banaiye, aur paanch shaamon ka FII/DII flow log shuru kijiye.</a:t>
            </a:r>
          </a:p>
          <a:p/>
          <a:p>
            <a:r>
              <a:t>1. Neeche 'Kaun kya karta hai' template mein, bina dekhe, ek-ek line likhiye ki NSE/BSE, broker, NSDL/CDSL aur clearing corporation kya karte hain. Phir har line ko aaj ke lesson se milakar tick kijiye.</a:t>
            </a:r>
          </a:p>
          <a:p>
            <a:r>
              <a:t>2. 'Chhe stops' template yaad se bhariye, app se demat tak, phir aaj ke order-journey flow se milaiye.</a:t>
            </a:r>
          </a:p>
          <a:p>
            <a:r>
              <a:t>3. nseindia.com par is saal ki trading holidays list dhoondhiye aur agli market holiday likh lijiye.</a:t>
            </a:r>
          </a:p>
          <a:p>
            <a:r>
              <a:t>4. Kisi trading day ki shaam nseindia.com par 'FII/DII trading activity' search kijiye aur FII/FPI aur DII ke net figures (Rs crore) apne flow log ki pehli khaali row mein likhiye. Chhutti ya weekend ho toh pichhle trading day ke figures lijiye. Buy ya sell ka koi nateeja mat likhiye.</a:t>
            </a:r>
          </a:p>
          <a:p>
            <a:r>
              <a:t>5. TradingView par NIFTY 50 ka free chart kholiye aur usi din ka % change apne flow log ki usi row mein likhiye.</a:t>
            </a:r>
          </a:p>
          <a:p>
            <a:r>
              <a:t>6. AI Lab ka 'Follow my order' prompt chalaiye, aur jo line aap SEBI ya NSE ki website par confirm na kar payein, use 'Not sure' mark kijiye. Kisi bhi AI mein apna PAN, OTP ya account details kabhi mat daaliye.</a:t>
            </a:r>
          </a:p>
          <a:p/>
          <a:p>
            <a:r>
              <a:t>Aaj ke baad: Aaj ke baad aap samjha payenge ki Indian market kaun chalata hai aur ek din ka FII/DII flow signal kyun nahi hai, index ka weight kaise banta hai, demat account, DP aur KYC kya hain, Buy dabane se T+1 tak kya hota hai, market kab khula rehta hai aur price band kab rok sakta hai, aur shuru ki teen jeet skill kyun saabit nahi karti.</a:t>
            </a:r>
          </a:p>
          <a:p/>
          <a:p>
            <a:r>
              <a:t>Tools: SEBI website (sebi.gov.in); NSE website (nseindia.com); TradingView free chart; Paper ya Google Sheets; Koi bhi AI chat</a:t>
            </a:r>
          </a:p>
          <a:p/>
          <a:p>
            <a:r>
              <a:t>Educational content only, not investment advice.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ke peeche ka system khud dekhiye: kaun kya karta hai likhiye, yaad se ek order ka safar banaiye, aur paanch shaamon ka FII/DII flow log shuru kijiye.</a:t>
            </a:r>
          </a:p>
          <a:p/>
          <a:p>
            <a:r>
              <a:t>1. Neeche 'Kaun kya karta hai' template mein, bina dekhe, ek-ek line likhiye ki NSE/BSE, broker, NSDL/CDSL aur clearing corporation kya karte hain. Phir har line ko aaj ke lesson se milakar tick kijiye.</a:t>
            </a:r>
          </a:p>
          <a:p>
            <a:r>
              <a:t>2. 'Chhe stops' template yaad se bhariye, app se demat tak, phir aaj ke order-journey flow se milaiye.</a:t>
            </a:r>
          </a:p>
          <a:p>
            <a:r>
              <a:t>3. nseindia.com par is saal ki trading holidays list dhoondhiye aur agli market holiday likh lijiye.</a:t>
            </a:r>
          </a:p>
          <a:p>
            <a:r>
              <a:t>4. Kisi trading day ki shaam nseindia.com par 'FII/DII trading activity' search kijiye aur FII/FPI aur DII ke net figures (Rs crore) apne flow log ki pehli khaali row mein likhiye. Chhutti ya weekend ho toh pichhle trading day ke figures lijiye. Buy ya sell ka koi nateeja mat likhiye.</a:t>
            </a:r>
          </a:p>
          <a:p>
            <a:r>
              <a:t>5. TradingView par NIFTY 50 ka free chart kholiye aur usi din ka % change apne flow log ki usi row mein likhiye.</a:t>
            </a:r>
          </a:p>
          <a:p>
            <a:r>
              <a:t>6. AI Lab ka 'Follow my order' prompt chalaiye, aur jo line aap SEBI ya NSE ki website par confirm na kar payein, use 'Not sure' mark kijiye. Kisi bhi AI mein apna PAN, OTP ya account details kabhi mat daaliye.</a:t>
            </a:r>
          </a:p>
          <a:p/>
          <a:p>
            <a:r>
              <a:t>Aaj ke baad: Aaj ke baad aap samjha payenge ki Indian market kaun chalata hai aur ek din ka FII/DII flow signal kyun nahi hai, index ka weight kaise banta hai, demat account, DP aur KYC kya hain, Buy dabane se T+1 tak kya hota hai, market kab khula rehta hai aur price band kab rok sakta hai, aur shuru ki teen jeet skill kyun saabit nahi karti.</a:t>
            </a:r>
          </a:p>
          <a:p/>
          <a:p>
            <a:r>
              <a:t>Tools: SEBI website (sebi.gov.in); NSE website (nseindia.com); TradingView free chart; Paper ya Google Sheets; Koi bhi AI chat</a:t>
            </a:r>
          </a:p>
          <a:p/>
          <a:p>
            <a:r>
              <a:t>Educational content only, not investment advice.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Kaun kya karta hai</a:t>
            </a:r>
          </a:p>
          <a:p/>
          <a:p>
            <a:r>
              <a:t>SEBI wali row model jawab hai. Baaki chaar yaad se bhariye, phir har ek ko lesson se milakar tick kijiye.</a:t>
            </a:r>
          </a:p>
          <a:p/>
          <a:p>
            <a:r>
              <a:t>Kaun | Unka kaam, mere shabdon mein | Check kiya?</a:t>
            </a:r>
          </a:p>
          <a:p>
            <a:r>
              <a:t>SEBI | Rules banata hai, brokers aur advisers ko register karta hai, complaints par action leta hai | Haan</a:t>
            </a:r>
          </a:p>
          <a:p>
            <a:r>
              <a:t>NSE / BSE |  | </a:t>
            </a:r>
          </a:p>
          <a:p>
            <a:r>
              <a:t>Mera broker (mera DP) |  | </a:t>
            </a:r>
          </a:p>
          <a:p>
            <a:r>
              <a:t>NSDL / CDSL |  | </a:t>
            </a:r>
          </a:p>
          <a:p>
            <a:r>
              <a:t>Clearing corporation |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order ke chhe stops</a:t>
            </a:r>
          </a:p>
          <a:p/>
          <a:p>
            <a:r>
              <a:t>Stop 1 aapke liye bhar diya hai. Stop 2 se 6 yaad se bhariye, phir lesson ke 'Ek order ka safar' flow se milaiye.</a:t>
            </a:r>
          </a:p>
          <a:p/>
          <a:p>
            <a:r>
              <a:t>Stop | Kaun | Yahan kya hota hai</a:t>
            </a:r>
          </a:p>
          <a:p>
            <a:r>
              <a:t>1 | Aapka app | Aap Buy dabate hain aur order phone se nikalta hai</a:t>
            </a:r>
          </a:p>
          <a:p>
            <a:r>
              <a:t>2 |  | </a:t>
            </a:r>
          </a:p>
          <a:p>
            <a:r>
              <a:t>3 |  | </a:t>
            </a:r>
          </a:p>
          <a:p>
            <a:r>
              <a:t>4 |  | </a:t>
            </a:r>
          </a:p>
          <a:p>
            <a:r>
              <a:t>5 |  | </a:t>
            </a:r>
          </a:p>
          <a:p>
            <a:r>
              <a:t>6 |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FII/DII flow log, paanch shaamein</a:t>
            </a:r>
          </a:p>
          <a:p/>
          <a:p>
            <a:r>
              <a:t>Example wali row banawati hai. Is hafte har trading day ki shaam ek row bhariye. Day 7 par paanchon rows ek saath padhiye aur khud se poochhiye: kya kisi ek shaam ke flow ne bataya ki agle din kya hoga?</a:t>
            </a:r>
          </a:p>
          <a:p/>
          <a:p>
            <a:r>
              <a:t>Date | FII/FPI net (Rs cr) | DII net (Rs cr) | NIFTY 50 change | Maine kya dekha</a:t>
            </a:r>
          </a:p>
          <a:p>
            <a:r>
              <a:t>Example | -1,240 | +1,610 | +0.1% | FPI ne becha, DII ne khareeda; index lagbhag flat</a:t>
            </a:r>
          </a:p>
          <a:p>
            <a:r>
              <a:t>+ 5 ___</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'Follow my order': classmates ya family ke saath chhe log app, broker, exchange, clearing corporation, depository aur demat bante hain, aur ek kaagaz ka order aage badhate hain. Jo apna kaam bhool jaye, woh use dobara samjhaye. Beech safar mein koi 'Saturday' card utha deta hai: sabko batana hai ki order kahan ruka hai aur dobara kab chalega. Akele hain? Chhe parchiyon par naam likhiye, sahi order mein rakhiye aur har ek ka kaam bol kar samjhaiye.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Follow my order</a:t>
            </a:r>
          </a:p>
          <a:p>
            <a:r>
              <a:t>You are a patient teacher of the Indian stock market, talking to a complete beginner. Explain, in short numbered steps, what happens after I tap Buy for 10 shares of a made-up NSE-listed company, 'Gupta Cement Ltd', through a broker app at 11:00 am on a Friday: the broker's checks, the exchange order book and matching, the clearing corporation, the depository (NSDL or CDSL), my demat account, and when the shares arrive under T+1 settlement given the weekend. Label every statement as Checkable (I can confirm it on the SEBI, NSE, BSE, NSDL or CDSL website) or Not sure (you are not certain, or it may have changed). End with a list of the facts I should re-check on official websites because they can change. Do not recommend any stock, do not give buy or sell advice, and do not mention targets or expected returns.</a:t>
            </a:r>
          </a:p>
          <a:p/>
          <a:p>
            <a:r>
              <a:t>Prompt 2: Myth ya fact: market basics</a:t>
            </a:r>
          </a:p>
          <a:p>
            <a:r>
              <a:t>List 8 common beliefs that Indian beginners hold about how the stock market works, for example 'my broker owns my demat account', 'the market is open on Saturday', 'SEBI registration means profits', 'the index is just the average of its shares' and 'FIIs sold today, so the market must fall tomorrow'. For each belief, label it True, False or Not sure, give a one-line correction in simple words, and name the official website (SEBI, NSE, BSE, NSDL or CDSL) where I can check it. Do not recommend any stock, do not give buy or sell advice, and do not mention targets or expected returns.</a:t>
            </a:r>
          </a:p>
          <a:p/>
          <a:p>
            <a:r>
              <a:t>Prompt 3: Overconfidence check</a:t>
            </a:r>
          </a:p>
          <a:p>
            <a:r>
              <a:t>Act as a calm trading-psychology coach. Ask me 6 short questions, one at a time, to find out whether I am overconfident about trading: how I explain my past wins, how many trades I look at before trusting a method, what I did after a winning streak, and how I would react to three losses in a row. After my answers, give me a plain summary: where I may be overconfident, one habit to reduce it, and one question to ask myself after every win. Do not ask for any personal or financial details, do not suggest any stock or strategy,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Friday ko Gupta Cement Ltd ke 10 shares khareedti hai. Monday normal trading day hai. T+1 settlement mein shares uske demat mein kab aane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practice index mein teen companies hain. A ka weight 60% hai aur woh 3% girta hai. B ka weight 25% hai aur woh 2% chadhta hai. C ka weight 15% hai aur woh bhi 2% chadhta hai. Index lagbhag kitna move karega?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ne apna demat account apne broker ke through khola, jo uska depository participant (DP) hai. Settlement ke baad uske khareede hue shares asal mein kahan rakhe hote hain?</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Kiran Foods Ltd apne lower price band par atka hua hai. Lakhon shares bikne ki line mein hain aur buyers bahut kam hain. Aman band price par sell order lagata hai. Sabse zyada chance kis baat ka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Jis hafte NIFTY 50 lagbhag 3% chadha, us hafte Aman ke 3 mein se 3 trades profit mein rahe. Sabse samajhdaar nateeja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Aaj order ke safar ka kaunsa stop aapko sabse zyada surprising laga? Aur ek aisa mauka yaad kijiye jab aapne luck ko skill samajh liya ho — market, cricket ya exam mein. Us jeet ki asli wajah kya thi?</a:t>
            </a:r>
          </a:p>
          <a:p/>
          <a:p>
            <a:r>
              <a:t>Aaj aapne market ka naksha dekha. Naksha khud manzil tak nahi le jaata, lekin uske bina har raasta sirf andaaza hota hai.</a:t>
            </a:r>
          </a:p>
          <a:p/>
          <a:p>
            <a:r>
              <a:t>Agla: Day 2 · Orders, liquidity aur trade ka asli kharcha</a:t>
            </a:r>
          </a:p>
          <a:p/>
          <a:p>
            <a:r>
              <a:t>Educational content only, not investment advice.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 Orders, liquidity aur trade ka asli kharcha</a:t>
            </a:r>
          </a:p>
          <a:p/>
          <a:p>
            <a:r>
              <a:t>Concept: Order types, order book aur kharche: screen ke price aur aapke price ka fark</a:t>
            </a:r>
          </a:p>
          <a:p>
            <a:r>
              <a:t>AI Lab: Order-type drill: AI scene banaye, order aap chunein</a:t>
            </a:r>
          </a:p>
          <a:p>
            <a:r>
              <a:t>Mindset: Abhi ke abhi kuch karne ki jaldi</a:t>
            </a:r>
          </a:p>
          <a:p/>
          <a:p>
            <a:r>
              <a:t>Aaj ke baad: Aaj ke baad aap bid, ask, spread aur depth padh payenge, practice order book se bhi; market, limit, SL aur SL-M mein se chun payenge aur jaanenge ki har ek ki keemat kya ho sakti hai; samjha payenge ki stop-loss vada kyun nahi hai aur AMO ki tarah lagaye stop ka kya hota hai; delivery aur intraday ka, aur GTT aur exchange order ka fark bata payenge; aur contract note ko line-by-line, net amount tak, padh payenge.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Mujhe Rs 101 kyun nahi mila?</a:t>
            </a:r>
          </a:p>
          <a:p/>
          <a:p>
            <a:r>
              <a:t>(Monday ki shaam. Aman pareshaan hokar mentor ko call karta hai. Priya bhi call par aa jaati hai.)</a:t>
            </a:r>
          </a:p>
          <a:p>
            <a:r>
              <a:t>Aman: Sir, aaj subah 9:20 par alert aaya ki Joshi Pipes Ltd ko ek bada contract mila hai. Screen par Rs 101 dikh raha tha, toh maine market order se 300 shares le liye. Average Rs 102.33 aaya. Do second mein Rs 400 zyada chale gaye. Kya app ne mujhe thag liya?</a:t>
            </a:r>
          </a:p>
          <a:p>
            <a:r>
              <a:t>Mentor: Pehle ek sawaal. Market order hi kyun, aur theek usi second mein kyun?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Mujhe Rs 101 kyun nahi mila?</a:t>
            </a:r>
          </a:p>
          <a:p/>
          <a:p>
            <a:r>
              <a:t>Aman: Laga ki ek minute bhi ruka toh mauka nikal jayega. Sach kahun toh maine kuch socha hi nahi.</a:t>
            </a:r>
          </a:p>
          <a:p>
            <a:r>
              <a:t>Priya: Sir, agar woh Rs 101 ka limit order lagata, toh kya use saare 300 shares Rs 101 par mil jaate?</a:t>
            </a:r>
          </a:p>
          <a:p>
            <a:r>
              <a:t>Mentor: Saare nahi. Screen sirf last trade dikhati hai; yeh nahi dikhati ki us price par kitne shares bikne ke liye hain. Rs 101 par sirf 100 shares the; agle sellers Rs 102 aur Rs 104 maang rahe the. Limit order se woh 100 mil jaate, aur baaki order line mein wait karta. Aman, kisi ne aapko nahi thaga. Aapne speed chuni thi, aur aaj hum dekhenge ki speed ki keemat kya hoti hai.</a:t>
            </a:r>
          </a:p>
          <a:p/>
          <a:p>
            <a:r>
              <a:t>Seekh: Screen last trade dikhati hai, aapka price nahi. Buy dabane se pehle tay kijiye ki aaj kya zyada zaroori hai: speed ya price.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Bid, ask aur spread: har share ke do price hote hain</a:t>
            </a:r>
          </a:p>
          <a:p/>
          <a:p>
            <a:r>
              <a:t>Screen par jo price dikhta hai, woh last traded price (LTP) hai: sabse aakhri deal ka price, koi aisa price nahi jo abhi aapko offer ho raha ho. Har pal do live price chal rahe hote hain. Bid woh sabse ooncha price hai jo koi buyer dene ko taiyaar hai; ask, jise offer bhi kehte hain, woh sabse neecha price hai jis par koi seller bechne ko raazi hai. Dono ke beech ke fark ko spread kehte hain. Har price par line mein khade orders ko market depth kehte hain, aur NSE dono taraf ke best paanch price dikhata hai. Jis stock ka spread patla ho aur line lambi ho, use liquid kehte hain: usmein aap price ko zyada hilaye bina khareed-bech sakte hain.</a:t>
            </a:r>
          </a:p>
          <a:p/>
          <a:p>
            <a:r>
              <a:t>Udaharan: Sabzi mandi mein tamatar wala Rs 40 kilo bolta hai aur aap Rs 36 lagate hain. Rs 40 ask hai, Rs 36 bid, aur Rs 4 ka fark spread; jab tak ek taraf wala apna price nahi badalta, sauda nahi hota. NIFTY 50 ki kisi busy company mein bid Rs 1,500.00 aur ask Rs 1,500.10 dikh sakta hai, yaani sirf 10 paise ka spread. Joshi Pipes Ltd ek chhoti company hai jismein trading kam hoti hai; wahan bid Rs 100 aur ask Rs 101 hai: Rs 1 ka spread, yaani price ka lagbhag 1%, trade shuru hone se pehle hi.</a:t>
            </a:r>
          </a:p>
          <a:p/>
          <a:p>
            <a:r>
              <a:t>Yaad rakhiye: Screen last deal dikhati hai. Market buy ask par hota hai, market sell bid par.</a:t>
            </a:r>
          </a:p>
          <a:p/>
          <a:p>
            <a:r>
              <a:t>Slide par: Joshi Pipes order book, 9:20 par · Har price par wait kar rahe shares: upar sellers (laal), neeche buyers (hare). Spread = Rs 101 - Rs 100 = Rs 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ya limit: speed chahiye ya price</a:t>
            </a:r>
          </a:p>
          <a:p/>
          <a:p>
            <a:r>
              <a:t>Order 'fill' hona yaani saamne wale order se match hokar sauda sach mein ho jaana. Market order ka matlab hai: mera order abhi fill karo, sellers jo bhi price maang rahe hon. Yeh tez hai, lekin patli order book mein yeh kai price levels kha jaata hai. Limit order ka matlab hai: mera order sirf is price ya isse behtar par fill karo; yaani Rs 101 ka limit buy Rs 101 ya usse kam par hi fill hoga, zyada par kabhi nahi. Yahan risk ulat jaata hai: limit order aapka price bachata hai, lekin ho sakta hai order aadha hi fill ho ya bilkul na ho; aur order aam taur par sirf usi din ke liye hota hai (ise 'day order' kehte hain), isliye close tak jo fill nahi hua, woh cancel ho jaata hai. Jo price aapne socha tha aur jo asal mein mila, unke fark ko slippage kehte hain.</a:t>
            </a:r>
          </a:p>
          <a:p/>
          <a:p>
            <a:r>
              <a:t>Udaharan: Aman ne Joshi Pipes Ltd ke 300 shares ka market buy lagaya. Rs 101 par sirf 100 shares the, isliye order ne 100 shares Rs 102 par aur 100 shares Rs 104 par bhi utha liye. Usne Rs 30,300 ki jagah Rs 30,700 diye, yaani average lagbhag Rs 102.33. Rs 101 ka limit buy hota toh 100 shares fill ho jaate aur 200 line mein wait karte. NIFTY 50 ki kisi liquid company mein yahi order aam taur par best ask par, ya usse 10-20 paise ke andar fill ho jaata. Kuch brokers market order par ek limit bhi lagate hain ki woh kitna door tak ja sakta hai; apne broker ka rule check kar lijiye.</a:t>
            </a:r>
          </a:p>
          <a:p/>
          <a:p>
            <a:r>
              <a:t>Yaad rakhiye: Market order: speed aapki, price market ka. Limit order: price aapka, par intezaar bhi aapko hi karna padega, aur ho sakta hai fill hi na ho.</a:t>
            </a:r>
          </a:p>
          <a:p/>
          <a:p>
            <a:r>
              <a:t>Slide par: Aman ke market order ka asli hisaab · 300 shares ke liye Rs 30,700 gaye: har share lagbhag Rs 102.33 ka, Rs 101 ka nahi.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Stop-loss order: trigger hai, vada nahi</a:t>
            </a:r>
          </a:p>
          <a:p/>
          <a:p>
            <a:r>
              <a:t>Stop-loss woh exit hai jo aap trade bigadne se pehle hi tay kar lete hain. Ise aap stop-loss order ki tarah lagate hain, jismein ek trigger price hota hai: jab tak price trigger tak pahunch na jaye ya use paar na kar le, order soya rehta hai. Iske do type hain: SL order (stop-loss limit) mein ek limit price bhi hota hai, isliye trigger ke baad woh sirf us limit ya behtar price par bechta hai; SL-M order (stop-loss market) mein koi limit nahi hoti, woh agle available price par bech deta hai. Exchange ke baaki orders ki tarah dono sirf us din ke liye hote hain, isliye jo shares aap raat bhar rakhte hain unka stop roz dobara lagaiye, ya use broker ke GTT mein rakhiye (agla topic). Market band hone par, shaam ko ya subah-subah, lagaya gaya order AMO (after-market order) kehlata hai: broker use apne paas rakhta hai aur trading khulne par bhejta hai; stop order 9:15 par hi jaata hai, kyunki 9:00-9:15 ka pre-open stop orders nahi leta. Dono mein se koi bhi stop aapke exit price ka vada nahi karta. Chaar cheezein aapke asli exit ko plan se neeche le ja sakti hain: open par gap (stock kal ke close se kaafi neeche khulta hai, beech ke price chhod kar), tez girawat mein slippage, price band (Day 1), ya aisa SL order jiska limit price kabhi aaye hi nahi.</a:t>
            </a:r>
          </a:p>
          <a:p/>
          <a:p>
            <a:r>
              <a:t>Udaharan: Priya Gupta Cement Ltd ke 50 shares Rs 450 par delivery mein khareedti hai. Uska exit Rs 430 hai, yaani plan ke hisaab se loss 50 x Rs 20 = Rs 1,000. Woh har shaam Rs 430 trigger wala SL-M sell AMO ki tarah laga deti hai. Ek raat buri khabar aati hai, aur pre-open mein opening price Rs 410 tay hota hai. 9:15 par uska stop exchange tak pahunchta hai, lekin trigger pehle se hi price ke upar hai. Kai brokers aisa sell stop reject kar dete hain, tab use khud bechna padta hai; kuch systems use turant trigger kar dete hain. Dono haalat mein woh lagbhag Rs 410 par bechti hai, ya girawat jaari rahe toh usse bhi neeche: loss lagbhag 50 x Rs 40 = Rs 2,000, plan ka do guna. Agar usne Rs 430 trigger aur Rs 428 limit wala SL order lagaya hota, toh woh Rs 428 se neeche kabhi bech hi nahi sakta tha; kuch nahi bikta, aur girte price ke saath shares uske paas hi pade rehte. Stops ke rules har broker ke alag hote hain, aur kuch brokers har tarah ke trade mein SL-M nahi dete; apna broker check kar lijiye.</a:t>
            </a:r>
          </a:p>
          <a:p/>
          <a:p>
            <a:r>
              <a:t>Yaad rakhiye: Stop-loss tay karta hai ki exit order kab jaayega. Gap wale din price market tay karta hai.</a:t>
            </a:r>
          </a:p>
          <a:p/>
          <a:p>
            <a:r>
              <a:t>Slide par: Stop ke paar gap · Plan wala exit: Rs 430. Stock seedha Rs 410 par khula, trigger se bhi neeche. Broker ne stop chalaya ho ya reject karke Priya ne khud becha ho, exit lagbhag Rs 410 par hua, Rs 430 par nahi. Har candle ek trading day hai; inhe padhna Day 5 mein seekhenge.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ya intraday, aur intezaar karne wale orders</a:t>
            </a:r>
          </a:p>
          <a:p/>
          <a:p>
            <a:r>
              <a:t>Har buy ke saath ek product tag lagta hai. Delivery (aksar CNC likha hota hai) ka matlab hai shares aap rakhenge; woh T+1 par aapke demat mein aa jaate hain aur tab tak rehte hain jab tak aap bech na dein. Intraday (aksar MIS likha hota hai) ka matlab hai position usi din band karni hai. Agar aapne band nahi ki, toh broker din ke aakhir mein apne tay kiye cut-off time par khud band kar deta hai; ise auto square-off kehte hain, aur har broker ka cut-off alag hota hai, isliye apna check kar lijiye. GTT (Good Till Triggered) alag cheez hai: yeh broker ki di hui facility hai, exchange ka order type nahi. Broker aapka instruction apne paas rakhta hai, aksar mahino tak, aur exchange ko order tabhi bhejta hai jab price aapka trigger hit kare; aur woh order bhi miss ho sakta hai. Isiliye kai log apne rakhe hue shares ka stop roz dobara lagane ki jagah GTT mein rakhte hain.</a:t>
            </a:r>
          </a:p>
          <a:p/>
          <a:p>
            <a:r>
              <a:t>Udaharan: Aman Sharma Textiles Ltd ke 40 shares Rs 250 par intraday mein khareedta hai, yaani Rs 10,000 ki position, aur phir office ki lambi meeting mein phans jaata hai. Woh bechta hi nahi. Close ke kareeb broker ka system saare 40 shares us waqt ke price par bech deta hai, aur kuch brokers iske liye fee bhi lete hain. Agar usne buy ko delivery tag kiya hota, toh shares seedha T+1 par uske demat mein aa jaate. Udhar Priya ke paas Kiran Foods Ltd ke shares hain jo usne delivery mein Rs 200 par khareede the; usne GTT set kiya hai ki price Rs 185 tak gire toh shares bik jayein, yahi uska stop hai. Jab tak aisa nahi hota, yeh instruction uske broker ke paas pada hai, exchange par nahi.</a:t>
            </a:r>
          </a:p>
          <a:p/>
          <a:p>
            <a:r>
              <a:t>Yaad rakhiye: Intraday aaj hi khatam hota hai, band aap karein ya broker. GTT broker ke paas wait karta hai, exchange par nahi.</a:t>
            </a:r>
          </a:p>
          <a:p/>
          <a:p>
            <a:r>
              <a:t>Slide par: Ek GTT ka safar · Validity aur rules har broker ke alag hote hain. GTT par bharosa karne se pehle apne broker ke rules dekh lijiye.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Kharche, contract note aur tax ke heads</a:t>
            </a:r>
          </a:p>
          <a:p/>
          <a:p>
            <a:r>
              <a:t>Share ke price ke alawa har trade par kuch charges lagte hain. Main charges hain: brokerage (broker ki fees), STT (Securities Transaction Tax, share trades par sarkar ka tax), exchange transaction charges, SEBI fees, GST aur stamp duty; kuch buy aur sell dono par lagte hain, kuch sirf ek taraf. Brokerage har broker ka alag hota hai; baaki charges sarkar, SEBI ya exchange tay karte hain aur samay-samay par badalte rehte hain, isliye yeh course koi bhi rate print nahi karta. Aapka contract note, yaani woh official record jo broker har trade ke ek din ke andar bhejta hai, har charge rupaye mein dikhata hai aur aakhir mein net amount batata hai: saare charges ke baad buy par aapne kitna diya, ya sell par aapko kitna mila. Aaj ke task ka contract-note reader har line aur uski side batata hai. Kuch kharche, jaise delivery shares bechne par lagne wale DP (depository) charges, contract note mein nahi balki broker ke account statement mein dikhte hain. Munafe par tax alag baat hai: woh kis head (income ki category) mein aayega, yeh trade ke type par depend karta hai, jaisa chart mein dikh raha hai.</a:t>
            </a:r>
          </a:p>
          <a:p/>
          <a:p>
            <a:r>
              <a:t>Udaharan: Day 1 wale Aman ke 20 shares yaad hain? Sharma Textiles Ltd, Rs 250 par (Rs 5,000). Baad mein woh unhe Rs 254.50 par bech deta hai (Rs 5,090). Screen ke hisaab se Rs 90 ka profit hua. Lekin uske buy note ka net amount hai Rs 5,000 plus buy side ke charges, aur sell note ka net amount hai Rs 5,090 minus sell side ke charges. Asli profit in dono net amounts ka fark hai, aur usmein se account statement wala DP charge bhi ghatega. Chhote trade mein charges bada hissa kha sakte hain, aur jo trader din mein das baar khareed-bech ka chakkar lagata hai, woh bees orders par charges bharta hai. Har contract note sambhaal kar rakhiye: income tax return file karte waqt inki zaroorat padegi.</a:t>
            </a:r>
          </a:p>
          <a:p/>
          <a:p>
            <a:r>
              <a:t>Yaad rakhiye: Asli profit woh hai jo contract note aur account statement bataye, woh nahi jo screen ne dikhaya.</a:t>
            </a:r>
          </a:p>
          <a:p/>
          <a:p>
            <a:r>
              <a:t>Slide par: Tax heads: sirf concept · Yahan rates jaan-boojhkar nahi diye. Return time par file kijiye taaki loss aage carry forward ho sake (aage ke saalon ke kuch munafe se adjust ho sake), aur current rules ke liye CA se poochhiye.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Abhi ke abhi kuch karne ki jaldi</a:t>
            </a:r>
          </a:p>
          <a:p/>
          <a:p>
            <a:r>
              <a:t>Price har second hilta hai, aur bhaagta hua price dimaag ko yeh ehsaas dilata hai ki rukna matlab haarna. Isi ehsaas ko kehte hain 'abhi ke abhi' wali jaldi: Buy isliye dabana kyunki kuch hil raha hai, isliye nahi ki aapke paas plan hai. Yahi jaldi seedha aaj ke jaalon mein le jaati hai: patle stock mein market order, stop-loss nahi, galat product tag, aur bina gine charges. Ilaaj yeh nahi ki aap har kaam dheere karein. Ilaaj hai har order se pehle ek chhota, fixed pause, Day 12 se shuru hone wale paper trades mein bhi. Hamara pause hai bees second aur paanch sawaal: order type, price, exit, product aur cost.</a:t>
            </a:r>
          </a:p>
          <a:p/>
          <a:p>
            <a:r>
              <a:t>Udaharan: Diwali flash sale mein timer chalta hai: 'Sirf 10 minute baaki'. Yeh timer isliye hai taaki aap kahin aur price check na kar payein. Trading app par news alert aur ek bada green candle yahi kaam karte hain. Aman ki do second ki jaldi ki keemat thi Rs 400 ka slippage. Bees second order book padhne mein lagata, toh tap karne se pehle hi patli line dikh jaati.</a:t>
            </a:r>
          </a:p>
          <a:p/>
          <a:p>
            <a:r>
              <a:t>Yaad rakhiye: Agar paanch sawaalon ke jawab nahi hain, toh abhi tap karne ka waqt nahi aaya.</a:t>
            </a:r>
          </a:p>
          <a:p/>
          <a:p>
            <a:r>
              <a:t>Slide par: 20 second ka pause · Har order se pehle paanchon ke jawab dijiye, paper trade mein bhi.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Bid, ask aur spread: Bid: abhi koi buyer jo sabse ooncha price dene ko taiyaar hai. Ask: sabse neecha price jis par seller bechne ko raazi hai. Spread: dono ka fark.</a:t>
            </a:r>
          </a:p>
          <a:p>
            <a:r>
              <a:t>Limit order: Aisa order jo sirf aapke price ya usse behtar par fill hota hai. Price bachata hai, lekin ho sakta hai aadha fill ho ya bilkul na ho.</a:t>
            </a:r>
          </a:p>
          <a:p>
            <a:r>
              <a:t>Trigger price: Woh price jo SL, SL-M ya GTT ko jagata hai. Wahan pahunchte hi aapka order market mein chala jaata hai; lekin aapka exit price isse tay nahi hota.</a:t>
            </a:r>
          </a:p>
          <a:p>
            <a:r>
              <a:t>AMO (after-market order): Market band hone par lagaya gaya order. Broker use apne paas rakhta hai aur trading khulne par bhejta hai; stop order 9:15 par hi jaata hai, kyunki pre-open stop nahi leta. AMO ka time har broker ka alag hota hai.</a:t>
            </a:r>
          </a:p>
          <a:p>
            <a:r>
              <a:t>Slippage: Jo price aapne socha tha aur jo asal mein mila, unka fark.</a:t>
            </a:r>
          </a:p>
          <a:p>
            <a:r>
              <a:t>GTT (Good Till Triggered): Broker ki facility, exchange ka order type nahi. Broker instruction apne paas rakhta hai aur trigger hit hone par hi order bhejta hai.</a:t>
            </a:r>
          </a:p>
          <a:p>
            <a:r>
              <a:t>Contract note: Aapke trades ka official record jo broker ek din ke andar bhejta hai, har charge rupaye mein.</a:t>
            </a:r>
          </a:p>
          <a:p>
            <a:r>
              <a:t>Net amount: Contract note ki aakhri line: buy par trade value plus saare charges (jo aap dete hain), sell par trade value minus charges (jo aapko milta hai).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Orders, liquidity, kharche</a:t>
            </a:r>
          </a:p>
          <a:p>
            <a:r>
              <a:t>Order book: Bid = buyers, ask = sellers; Spread = ask minus bid; LTP = aakhri deal; Liquid = patla spread, lambi line</a:t>
            </a:r>
          </a:p>
          <a:p>
            <a:r>
              <a:t>Order types: Market = speed, slippage ka risk; Limit = price, shayad fill na ho; SL aur SL-M trigger par jaagte hain</a:t>
            </a:r>
          </a:p>
          <a:p>
            <a:r>
              <a:t>Stop bhi fisal sakta hai: Gap trigger ke paar kood jaata hai; SL (limit) order shayad kabhi fill na ho; Price band exit rok sakta hai</a:t>
            </a:r>
          </a:p>
          <a:p>
            <a:r>
              <a:t>Time: Day order close par khatam; Shaam ke orders AMO banke wait karte hain; GTT broker ke paas wait karta hai; Intraday: auto square-off</a:t>
            </a:r>
          </a:p>
          <a:p>
            <a:r>
              <a:t>Kharche aur tax: Har order par charges; Net amount = jo asal mein diya; Tax head trade type se; CA se poochhiye</a:t>
            </a:r>
          </a:p>
          <a:p>
            <a:r>
              <a:t>Aapka mann: Abhi ke abhi wali jaldi pehchaniye; 20 second ka pause; Har tap se pehle paanch sawaal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order book padhiye (NSE ki website par live, ya market band ho toh practice wali), sheet mein ek market order ka slippage nikaaliye, contract note ki har line pehchaniye, aur apna paanch sawaalon wala pause card likhiye.</a:t>
            </a:r>
          </a:p>
          <a:p/>
          <a:p>
            <a:r>
              <a:t>1. Continuous trading ke dauraan (trading day par subah 9:15 se dopahar 3:15; NIFTY 50 companies ke F&amp;O contracts hain, isliye 3:15 ke baad woh closing auction mein hoti hain), nseindia.com par NIFTY 50 ki kisi bhi company ka quote page kholiye aur uska best bid, best ask aur spread note kijiye. Market band hai ya aap office mein hain? Practice order book ke note mein diye Anand Snacks Ltd ke price lijiye. Aap sirf padh rahe hain, khareedne ke liye stock nahi chun rahe.</a:t>
            </a:r>
          </a:p>
          <a:p>
            <a:r>
              <a:t>2. Yahi kaam NIFTY Smallcap 250 list (chhoti companies ka index) ki ek company ke liye kijiye, ya practice order book mein Mehta Solar Ltd lijiye. Dono ka spread price ke % mein nikaaliye (spread ÷ ask x 100) aur note kijiye ki kaunsa stock zyada liquid lagta hai. Practice ka jawab: lagbhag 0.02% aur 1.5%.</a:t>
            </a:r>
          </a:p>
          <a:p>
            <a:r>
              <a:t>3. Google Sheets mein practice order book se Mehta Solar Ltd ke 1,000 shares ke market buy ka average price nikaaliye. Buy ke liye sirf ask side dekhni hai: =(300*80+400*80.4+300*80.9)/1000. Jawab Rs 80.43 aana chahiye, yaani 1,000 x Rs 80 ke muqable Rs 430 ka slippage.</a:t>
            </a:r>
          </a:p>
          <a:p>
            <a:r>
              <a:t>4. Contract-note reader ka aakhri column bhariye: broker account hai toh apne kisi contract note se har line ki rupaye wali raqam likhiye. Account nahi hai? AI Lab ka 'Contract note padhna seekhiye (sample)' prompt chalaiye aur uska sample utaariye: trade value (10 x Rs 450 = Rs 4,500) aur har charge ke aage 'X'. Phir har woh line tick kijiye jahan AI ki batayi buy/sell side 'Buy, sell ya dono' column se match kare. Asli contract note kabhi kisi AI mein paste mat kijiye.</a:t>
            </a:r>
          </a:p>
          <a:p>
            <a:r>
              <a:t>5. Paanch sawaalon wala pause card kaagaz par ya phone ke notes mein utaariye, ek banawati paper order ke liye ek baar bhariye, aur use aisi jagah rakhiye jahan har order se pehle nazar pade.</a:t>
            </a:r>
          </a:p>
          <a:p>
            <a:r>
              <a:t>6. AI Lab ka 'Order-type drill' prompt chalaiye aur kam se kam paanch scenarios ke jawab dijiye. AI jo rule 'broker ke hisaab se alag' bataye, use tab tak 'Not sure' mark kijiye jab tak aap khud check na kar lein.</a:t>
            </a:r>
          </a:p>
          <a:p/>
          <a:p>
            <a:r>
              <a:t>Aaj ke baad: Aaj ke baad aap bid, ask, spread aur depth padh payenge, practice order book se bhi; market, limit, SL aur SL-M mein se chun payenge aur jaanenge ki har ek ki keemat kya ho sakti hai; samjha payenge ki stop-loss vada kyun nahi hai aur AMO ki tarah lagaye stop ka kya hota hai; delivery aur intraday ka, aur GTT aur exchange order ka fark bata payenge; aur contract note ko line-by-line, net amount tak, padh payenge.</a:t>
            </a:r>
          </a:p>
          <a:p/>
          <a:p>
            <a:r>
              <a:t>Tools: NSE website (nseindia.com); Google Sheets; Apna contract note, ya AI Lab ka sample; Paper ya phone ke notes; Koi bhi AI chat</a:t>
            </a:r>
          </a:p>
          <a:p/>
          <a:p>
            <a:r>
              <a:t>Educational content only, not investment advice. Stage 1 uses virtual money only. Charge and tax rates are never printed: read your own contract note and ask a CA.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order book padhiye (NSE ki website par live, ya market band ho toh practice wali), sheet mein ek market order ka slippage nikaaliye, contract note ki har line pehchaniye, aur apna paanch sawaalon wala pause card likhiye.</a:t>
            </a:r>
          </a:p>
          <a:p/>
          <a:p>
            <a:r>
              <a:t>1. Continuous trading ke dauraan (trading day par subah 9:15 se dopahar 3:15; NIFTY 50 companies ke F&amp;O contracts hain, isliye 3:15 ke baad woh closing auction mein hoti hain), nseindia.com par NIFTY 50 ki kisi bhi company ka quote page kholiye aur uska best bid, best ask aur spread note kijiye. Market band hai ya aap office mein hain? Practice order book ke note mein diye Anand Snacks Ltd ke price lijiye. Aap sirf padh rahe hain, khareedne ke liye stock nahi chun rahe.</a:t>
            </a:r>
          </a:p>
          <a:p>
            <a:r>
              <a:t>2. Yahi kaam NIFTY Smallcap 250 list (chhoti companies ka index) ki ek company ke liye kijiye, ya practice order book mein Mehta Solar Ltd lijiye. Dono ka spread price ke % mein nikaaliye (spread ÷ ask x 100) aur note kijiye ki kaunsa stock zyada liquid lagta hai. Practice ka jawab: lagbhag 0.02% aur 1.5%.</a:t>
            </a:r>
          </a:p>
          <a:p>
            <a:r>
              <a:t>3. Google Sheets mein practice order book se Mehta Solar Ltd ke 1,000 shares ke market buy ka average price nikaaliye. Buy ke liye sirf ask side dekhni hai: =(300*80+400*80.4+300*80.9)/1000. Jawab Rs 80.43 aana chahiye, yaani 1,000 x Rs 80 ke muqable Rs 430 ka slippage.</a:t>
            </a:r>
          </a:p>
          <a:p>
            <a:r>
              <a:t>4. Contract-note reader ka aakhri column bhariye: broker account hai toh apne kisi contract note se har line ki rupaye wali raqam likhiye. Account nahi hai? AI Lab ka 'Contract note padhna seekhiye (sample)' prompt chalaiye aur uska sample utaariye: trade value (10 x Rs 450 = Rs 4,500) aur har charge ke aage 'X'. Phir har woh line tick kijiye jahan AI ki batayi buy/sell side 'Buy, sell ya dono' column se match kare. Asli contract note kabhi kisi AI mein paste mat kijiye.</a:t>
            </a:r>
          </a:p>
          <a:p>
            <a:r>
              <a:t>5. Paanch sawaalon wala pause card kaagaz par ya phone ke notes mein utaariye, ek banawati paper order ke liye ek baar bhariye, aur use aisi jagah rakhiye jahan har order se pehle nazar pade.</a:t>
            </a:r>
          </a:p>
          <a:p>
            <a:r>
              <a:t>6. AI Lab ka 'Order-type drill' prompt chalaiye aur kam se kam paanch scenarios ke jawab dijiye. AI jo rule 'broker ke hisaab se alag' bataye, use tab tak 'Not sure' mark kijiye jab tak aap khud check na kar lein.</a:t>
            </a:r>
          </a:p>
          <a:p/>
          <a:p>
            <a:r>
              <a:t>Aaj ke baad: Aaj ke baad aap bid, ask, spread aur depth padh payenge, practice order book se bhi; market, limit, SL aur SL-M mein se chun payenge aur jaanenge ki har ek ki keemat kya ho sakti hai; samjha payenge ki stop-loss vada kyun nahi hai aur AMO ki tarah lagaye stop ka kya hota hai; delivery aur intraday ka, aur GTT aur exchange order ka fark bata payenge; aur contract note ko line-by-line, net amount tak, padh payenge.</a:t>
            </a:r>
          </a:p>
          <a:p/>
          <a:p>
            <a:r>
              <a:t>Tools: NSE website (nseindia.com); Google Sheets; Apna contract note, ya AI Lab ka sample; Paper ya phone ke notes; Koi bhi AI chat</a:t>
            </a:r>
          </a:p>
          <a:p/>
          <a:p>
            <a:r>
              <a:t>Educational content only, not investment advice. Stage 1 uses virtual money only. Charge and tax rates are never printed: read your own contract note and ask a CA.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order book: Mehta Solar Ltd, 11:05 am</a:t>
            </a:r>
          </a:p>
          <a:p/>
          <a:p>
            <a:r>
              <a:t>Banawati numbers, NSE quote page ki depth table jaise: baayein buyers, daayein sellers, sabse upar ki row mein best price. Liquid stock se milaane ke liye, usi minute Anand Snacks Ltd: best bid Rs 612.40, best ask Rs 612.55.</a:t>
            </a:r>
          </a:p>
          <a:p/>
          <a:p>
            <a:r>
              <a:t>Bid qty | Bid (Rs) | Ask (Rs) | Ask qty</a:t>
            </a:r>
          </a:p>
          <a:p>
            <a:r>
              <a:t>1,200 | 78.80 | 80.00 | 300</a:t>
            </a:r>
          </a:p>
          <a:p>
            <a:r>
              <a:t>2,500 | 78.60 | 80.40 | 400</a:t>
            </a:r>
          </a:p>
          <a:p>
            <a:r>
              <a:t>900 | 78.40 | 80.90 | 300</a:t>
            </a:r>
          </a:p>
          <a:p>
            <a:r>
              <a:t>3,000 | 78.10 | 81.50 | 600</a:t>
            </a:r>
          </a:p>
          <a:p>
            <a:r>
              <a:t>1,500 | 77.80 | 82.00 | 1,000</a:t>
            </a:r>
          </a:p>
          <a:p>
            <a:r>
              <a:t>Total 9,100 |  |  | Total 2,600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Contract-note reader</a:t>
            </a:r>
          </a:p>
          <a:p/>
          <a:p>
            <a:r>
              <a:t>Yahan rates jaan-boojhkar nahi hain: brokerage har broker ka alag hai aur baaki charges badalte rehte hain. Delivery shares bechne ke DP charges account statement mein dikhte hain, yahan nahi. Note kisi ko dikhane se pehle apna naam, PAN aur client ID chhupa dijiye.</a:t>
            </a:r>
          </a:p>
          <a:p/>
          <a:p>
            <a:r>
              <a:t>Line | Yeh kya hai | Buy, sell ya dono | Aapke note par (Rs)</a:t>
            </a:r>
          </a:p>
          <a:p>
            <a:r>
              <a:t>Trade details | Order aur trade number, time, har fill ki quantity aur price | Dono | </a:t>
            </a:r>
          </a:p>
          <a:p>
            <a:r>
              <a:t>Trade value | Quantity x price | Dono | </a:t>
            </a:r>
          </a:p>
          <a:p>
            <a:r>
              <a:t>Brokerage | Broker ki fees; har broker ki alag | Dono | </a:t>
            </a:r>
          </a:p>
          <a:p>
            <a:r>
              <a:t>Exchange transaction charges | Trade ke liye exchange ki fees | Dono | </a:t>
            </a:r>
          </a:p>
          <a:p>
            <a:r>
              <a:t>STT | Securities Transaction Tax, sarkar ke liye liya jaata hai | Delivery: dono; intraday: sirf sell | </a:t>
            </a:r>
          </a:p>
          <a:p>
            <a:r>
              <a:t>SEBI fees | Regulator ki chhoti turnover fees | Dono | </a:t>
            </a:r>
          </a:p>
          <a:p>
            <a:r>
              <a:t>GST | Brokerage, exchange charges aur SEBI fees par tax | Dono | </a:t>
            </a:r>
          </a:p>
          <a:p>
            <a:r>
              <a:t>Stamp duty | Khareedne wale par lagne wali duty | Sirf buy | </a:t>
            </a:r>
          </a:p>
          <a:p>
            <a:r>
              <a:t>Net amount | Buy: value plus charges (aap dete hain). Sell: value minus charges (aapko milta hai) | Dono |</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Paanch sawaalon wala pause card</a:t>
            </a:r>
          </a:p>
          <a:p/>
          <a:p>
            <a:r>
              <a:t>Priya wala column Gupta Cement Ltd ke 50 shares ke ek paper order ka model hai. Har order se pehle apna column bhariye; koi bhi jawab khaali ho toh tap mat kijiye.</a:t>
            </a:r>
          </a:p>
          <a:p/>
          <a:p>
            <a:r>
              <a:t>Sawaal | Priya ka jawab | Mera jawab</a:t>
            </a:r>
          </a:p>
          <a:p>
            <a:r>
              <a:t>Order type? | Rs 450.10 ka limit buy | </a:t>
            </a:r>
          </a:p>
          <a:p>
            <a:r>
              <a:t>Price? | Bid 449.80, ask 450.10: spread Rs 0.30, patla | </a:t>
            </a:r>
          </a:p>
          <a:p>
            <a:r>
              <a:t>Exit? | SL-M trigger Rs 430, entry se pehle tay: lagbhag Rs 1,005 risk par, gap mein zyada | </a:t>
            </a:r>
          </a:p>
          <a:p>
            <a:r>
              <a:t>Product? | Delivery (CNC): kuch din rakhne ka plan | </a:t>
            </a:r>
          </a:p>
          <a:p>
            <a:r>
              <a:t>Cost? | Charges sample contract note se padhe, andaaze se nahi |</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Mandi order-book game (do ya zyada log): 'sellers' teen parchiyan likhte hain, har ek par price aur pyaaz ki boriyon ki ginti (2 se 4); 'buyers' bhi isi tarah teen bid parchiyan likhte hain. Parchiyon ko order book ki tarah lagaiye, sellers upar. 5 boriyon ka 'market buy' sabse sasti seller parchiyan pehle uthata hai: average price nikaaliye. Phir limit price ke saath dobara kijiye aur dekhiye kitni boriyan milti hain.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Order-type drill</a:t>
            </a:r>
          </a:p>
          <a:p>
            <a:r>
              <a:t>You are a patient teacher of Indian stock-market order types, talking to a complete beginner. Give me 8 short scenarios, one at a time, using only made-up company names (for example 'Bharat Pumps Ltd') and made-up prices. In each, I must choose a market order, a limit order, an SL (stop-loss limit) order, an SL-M order or a broker GTT, and say whether the trade should be delivery or intraday. Include at least one scenario where I place the order in the evening as an AMO (after-market order), and one where the stock opens with a gap past my stop. Use only the equity cash segment (delivery or intraday shares); no futures or options scenarios. After each answer, tell me whether my choice fits the situation, what could go wrong (slippage, a partial fill, no fill, a gap past the trigger, a rejected stop, auto square-off) and why. Label every rule you state as Checkable (on the NSE, BSE or SEBI website) or Not sure (it varies by broker or may have changed). Do not recommend any real stock, do not give buy or sell advice, and do not mention targets or expected returns.</a:t>
            </a:r>
          </a:p>
          <a:p/>
          <a:p>
            <a:r>
              <a:t>Prompt 2: Contract note padhna seekhiye (sample)</a:t>
            </a:r>
          </a:p>
          <a:p>
            <a:r>
              <a:t>Explain, line by line, what an Indian equity contract note contains, in this order: trade details, trade value, brokerage, exchange transaction charges, STT, SEBI fees, GST, stamp duty and the net amount. Build a sample for a made-up delivery trade of 10 shares of 'Gupta Cement Ltd' bought at Rs 450, but write every charge as 'X' instead of a number, because brokerage differs by broker and the other rates change over time. For each line, say whether it applies on the buy side, the sell side or both, and label that statement Checkable or Not sure. Then list three things I should check in my own contract note. Do not ask me to paste a real contract note or any personal details, do not state any tax or charge rate, and do not give buy or sell advice, targets or return expectations.</a:t>
            </a:r>
          </a:p>
          <a:p/>
          <a:p>
            <a:r>
              <a:t>Prompt 3: Jaldbaazi check</a:t>
            </a:r>
          </a:p>
          <a:p>
            <a:r>
              <a:t>Act as a calm trading-psychology coach. Ask me 6 short questions, one at a time, about how I behave when a price is moving fast: news alerts, big green candles, 'only today' offers, fear of missing out, and times I bought something in a hurry and regretted it. After my answers, tell me in plain words when my urge to act now is strongest, and help me write a five-question pause card I will answer before any order: order type, price, exit, product and cost. Do not ask for personal or financial details, do not suggest any stock or strategy,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Kiran Foods Ltd ki order book mein best bid Rs 199.80 aur best ask Rs 200.20 hai. Last traded price Rs 200.00 hai. Aap ek chhota market buy lagate hain. Spread kitna hai, aur aapki khareed kis price ke aas-paas hone ki sabse zyada ummeed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Joshi Pipes Ltd Rs 100 par trade ho raha hai. Priya Rs 98 ka limit buy lagati hai. Din mein price Rs 99 tak girta hai, phir Rs 110 tak chadh jaata hai. Uske order ka kya hota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ke paas Sharma Textiles Ltd ke 40 shares hain, jo usne Rs 260 par khareede the. Woh har shaam Rs 245 trigger wala SL-M sell AMO ki tarah lagati hai. Ek raat buri khabar aati hai, aur stock Rs 230 par khulta hai. Uska loss lagbhag kitna hone wala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apne broker app par GTT set karta hai ki price Rs 95 hit kare toh Joshi Pipes Ltd khareed liya jaye. Is GTT ke baare mein kaunsi baat sahi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Kiran Foods Ltd ke 30 shares intraday (MIS) tag ke saath khareedta hai. Dopahar 1:00 baje bhi shares uske paas hain, aur woh baaki din ke liye app band kar deta hai. Sabse zyada chance kis baat ka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Ek aisa mauka yaad kijiye jab aapne jaldi mein kuch khareed liya, kisi sale mein, station ke stall par ya online, aur baad mein pata chala ki zaroorat se zyada de diya. Jaldi kis baat ki thi? Aaj ke paanch pause sawaalon mein se kaunsa aapko rok leta?</a:t>
            </a:r>
          </a:p>
          <a:p/>
          <a:p>
            <a:r>
              <a:t>Buy ke har tap ke peeche teen faisle chhupe hote hain: kitni jaldi, kis price par, aur kitne kharche par. Inhe soch-samajhkar, ek-ek order karke lena hi discipline ki shuruaat hai.</a:t>
            </a:r>
          </a:p>
          <a:p/>
          <a:p>
            <a:r>
              <a:t>Agla: Day 3 · Trader vs gambler: woh maths jo zyadatar beginners skip kar dete hain</a:t>
            </a:r>
          </a:p>
          <a:p/>
          <a:p>
            <a:r>
              <a:t>Educational content only, not investment advice. Stage 1 uses virtual money only. Charge and tax rates are never printed: read your own contract note and ask a CA.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3: Trader vs gambler: woh maths jo zyadatar beginners skip kar dete hain</a:t>
            </a:r>
          </a:p>
          <a:p/>
          <a:p>
            <a:r>
              <a:t>Concept: Expectancy, R-multiple, breakeven win-rate aur drawdown</a:t>
            </a:r>
          </a:p>
          <a:p>
            <a:r>
              <a:t>AI Lab: Streak simulator: luck ka khel sheet par dekhiye</a:t>
            </a:r>
          </a:p>
          <a:p>
            <a:r>
              <a:t>Mindset: Tips ka lalach</a:t>
            </a:r>
          </a:p>
          <a:p/>
          <a:p>
            <a:r>
              <a:t>Aaj ke baad: Aaj ke baad aap kisi bhi trade ko R mein naap payenge, kisi method ki expectancy aur breakeven win-rate nikaal payenge, samjha payenge ki losing streak aur drawdown jhelne laayak kyun hone chahiye, aur kisi bhi accuracy claim ke lalach mein aane se pehle us par sawaal utha payenge.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Aath mein se saat</a:t>
            </a:r>
          </a:p>
          <a:p/>
          <a:p>
            <a:r>
              <a:t>(Tuesday, raat 8 baje. Priya aur mentor ke saath call par Aman bhi judta hai, phone pehle se haath mein.)</a:t>
            </a:r>
          </a:p>
          <a:p>
            <a:r>
              <a:t>Tip-wala: Pichhle hafte 8 mein se 7 calls ka target hit hua. Roz subah 9:10 par sure-shot calls. Premium join kijiye sirf Rs 4,999 mein. Sirf 20 seats bachi hain.</a:t>
            </a:r>
          </a:p>
          <a:p>
            <a:r>
              <a:t>Aman: Sir, yeh dekhiye. Aath mein se saat! Bas uski calls copy kar loon, toh Rs 4,999 toh ek hafte mein wapas aa jayenge na?</a:t>
            </a:r>
          </a:p>
          <a:p>
            <a:r>
              <a:t>Priya: Aman, aathvi call ka kya hua? Woh yeh bata raha hai ki kitni baar sahi tha, yeh nahi ki galat wali call mein kitna gaya.</a:t>
            </a:r>
          </a:p>
          <a:p>
            <a:r>
              <a:t>Mentor: Achha sawaal hai, Priya. Maan lijiye saaton winning calls ne Rs 1,000-1,000 kamaye, aur ek losing call mein Rs 8,000 gaye. Aman, woh hafta kaisa khatam hua?</a:t>
            </a:r>
          </a:p>
          <a:p>
            <a:r>
              <a:t>Aman: Saat hazaar aaye, aath hazaar gaye... Saat jeet ke baad bhi main Rs 1,000 minus mein hoon. Upar se fees alag.</a:t>
            </a:r>
          </a:p>
          <a:p/>
          <a:p>
            <a:r>
              <a:t>Seekh: 'Kitni baar' sirf aadhi kahani hai. Kisi bhi win-rate par bharosa karne se pehle poochhiye: 'kitna'?</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Trader ya gambler: fark maths ka hai</a:t>
            </a:r>
          </a:p>
          <a:p/>
          <a:p>
            <a:r>
              <a:t>Trader aur gambler, dono aise nateeje par paisa lagate hain jo pehle se kisi ko pata nahi hota; fark sirf maths ka hai. Gambler feeling par daav lagata hai, aur use kabhi pata nahi hota ki ek average daav mein kitna aata ya jaata hai. Trader likhe hue rules follow karta hai, har jeet aur haar record karta hai, aur har loss itna chhota rakhta hai ki agle trade ke liye capital bacha rahe. F&amp;O yaani futures aur options; inhe hum sirf Day 18 par samjhenge, aur Stage 1 mein koi F&amp;O trade nahi hota: samjho, khelo mat. Ek alag baat: ek official number abhi jaan lijiye: SEBI FY26 study (Aug 2026): 87.7% individual F&amp;O traders net loss mein the, aggregate Rs 91,685 crore, average Rs 1.17 lakh per loss-making trader. Yeh study batati hai ki kya hua; har loss ki wajah nahi batati.</a:t>
            </a:r>
          </a:p>
          <a:p/>
          <a:p>
            <a:r>
              <a:t>Udaharan: Ghar par taash ki baazi sochiye. Ramesh uncle 10 mein se 6 baazi jeet jaate hain aur sabko bata dete hain ki woh form mein hain. Lekin unki jeet chhoti hoti hai, lagbhag Rs 200 ek baazi, kyunki thoda aage hote hi chhoti jeet le kar baazi khatam kar dete hain; aur haar badi, lagbhag Rs 500 ek baazi, kyunki kamzor patton par bhi chaal badhate rehte hain. 6 jeet se Rs 1,200 aaye; 4 haar mein Rs 2,000 chale gaye. Woh Rs 800 ganwa kar ghar jaate hain, aur phir bhi apne form ki baat karte rehte hain. Ek trader pehli hi raat numbers likh leta, aur problem use turant dikh jaati.</a:t>
            </a:r>
          </a:p>
          <a:p/>
          <a:p>
            <a:r>
              <a:t>Yaad rakhiye: Gambler sirf jeet ginta hai. Trader jeet, haar aur dono ka size ginta hai.</a:t>
            </a:r>
          </a:p>
          <a:p/>
          <a:p>
            <a:r>
              <a:t>Slide par: Uncertainty ek, tareeke do · Market dono ke liye ek hi hai. Khel ke numbers sirf ek ko pata hain.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har trade ke liye ek hi scale</a:t>
            </a:r>
          </a:p>
          <a:p/>
          <a:p>
            <a:r>
              <a:t>Trade se pehle trader tay kar leta hai ki kis price par uska idea galat saabit hoga, aur wahan stop-loss laga deta hai (Day 2). Woh stop hit ho jaye toh jitna paisa jayega, wahi aapka planned risk hai, jise 1R kehte hain: stop tak ki doori x shares ki ginti. Phir har result R mein gina jaata hai: planned risk ka do guna profit hua toh +2R, aur stop hit hua toh -1R. R ki wajah se Rs 500 risk wala trade aur Rs 5,000 risk wala trade ek hi scale par aa jaate hain, aur '-1R, jaisa plan tha' maan lena 'mera Rs 5,000 doob gaya' se kahin aasaan hai. Day 12 se, jab paper trading shuru hogi, aapke journal mein har trade R mein likha jayega.</a:t>
            </a:r>
          </a:p>
          <a:p/>
          <a:p>
            <a:r>
              <a:t>Udaharan: Priya ek practice example dekhti hai: Gupta Cement Ltd ke 40 shares Rs 500 par, stop Rs 490 par. Planned risk = Rs 10 x 40 = Rs 400, yaani 1R = Rs 400. Agar woh Rs 520 par exit kare, toh Rs 20 x 40 = Rs 800 ka profit, yaani +2R. Rs 505 par exit se Rs 200 milte hain, yaani +0.5R, aur stop hit hua toh Rs 400 jaate hain, yaani -1R. Lekin agar kisi buri khabar se share seedha Rs 484 par khule, stop se neeche, toh loss Rs 16 x 40 = Rs 640 hoga, yaani -1.6R. Stop aapka planned exit hai; exit price ka vada nahi karta.</a:t>
            </a:r>
          </a:p>
          <a:p/>
          <a:p>
            <a:r>
              <a:t>Yaad rakhiye: 1R = stop hit hone par jitne rupaye jaayenge: stop tak ki doori x quantity.</a:t>
            </a:r>
          </a:p>
          <a:p/>
          <a:p>
            <a:r>
              <a:t>Slide par: Chart par R ka scale · Entry Rs 500, stop Rs 490, 40 shares, toh 1R = Rs 400. Rs 520 par exit se Rs 800 bane: +2R. Rs 493 tak ki girawat stop ke upar hi rahi.</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Expectancy: ek trade average mein kitne ka hai</a:t>
            </a:r>
          </a:p>
          <a:p/>
          <a:p>
            <a:r>
              <a:t>Win-rate ka matlab hai aap kitni baar jeette hain; payoff ka matlab hai aapki average jeet aapki average haar ke muqable kitni badi hai, jaise +1.5R ke saamne -1R. Expectancy in dono ko jod kar ek number bana deti hai, yaani bahut saare trades par ek trade ka average result: (win-rate x average jeet) - (loss-rate x average haar), jahan loss-rate = 1 - win-rate, aur average haar bina minus ke likhiye (1R, -1R nahi). Costs ke baad bhi expectancy positive ho, toh traders use edge kehte hain. Brokerage, taxes aur slippage jaise costs (Day 2) har trade se katte hain, isliye charges apne contract note se lijiye, slippage alag se jodiye, aur sab R mein giniye. Is number par bharosa tabhi kijiye jab trades kaafi hon: rule judge karne ke liye kam se kam 30, aur confidence ke liye 100.</a:t>
            </a:r>
          </a:p>
          <a:p/>
          <a:p>
            <a:r>
              <a:t>Udaharan: Ek rule ko pichhle 100 trades par test kiya gaya: 55 winners, average +1.5R, aur 45 losers, har ek -1R. Jeet se 55 x 1.5 = 82.5R jude aur haar se 45R ghat gaye. Maan lijiye costs har trade par lagbhag 0.1R hain, yaani kul 10R aur. Bache 27.5R, 100 trades par, yaani average mein har trade +0.275R. Chai ki tapri sochiye: ek cup ka margin kuch nahi batata, lekin mahine bhar ke cups ka hisaab, kettle toot jaane wale din ka kharcha ghata kar, batata hai ki tapri chal rahi hai ya nahi.</a:t>
            </a:r>
          </a:p>
          <a:p/>
          <a:p>
            <a:r>
              <a:t>Yaad rakhiye: Edge = costs ke baad, bahut saare trades par positive expectancy. Na koi feeling, na ek achha hafta.</a:t>
            </a:r>
          </a:p>
          <a:p/>
          <a:p>
            <a:r>
              <a:t>Slide par: 100 trades par ek rule ki expectancy · Illustrative numbers hain. Asli costs apne contract note se lijiye.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Breakeven win-rate: har accuracy claim ko parakhne ka tareeka</a:t>
            </a:r>
          </a:p>
          <a:p/>
          <a:p>
            <a:r>
              <a:t>Breakeven ka matlab hai na profit, na loss. Har payoff mein breakeven tak pahunchne ke liye ek minimum win-rate chahiye; usse neeche method costs se pehle hi paisa ganwata hai. Payoff hum risk : reward ki tarah likhte hain, toh 1:2 ka matlab hai 1R ki average haar ke saamne 2R ki average jeet. Breakeven win-rate = 1 ÷ (1 + har 1R risk par milne wala reward): 1:1 par aapko 50% trades jeetne honge, 1:1.5 par 40%, aur 1:2 par lagbhag 33%. Yaani kam win-rate bhi paisa bana sakta hai, aur ooncha win-rate bhi paisa ganwa sakta hai. Jab koi apni accuracy ka dhol peete, toh bas ek sawaal poochhiye: average jeet, average haar ke muqable kitni badi hai?</a:t>
            </a:r>
          </a:p>
          <a:p/>
          <a:p>
            <a:r>
              <a:t>Udaharan: Ek channel shaan se kehta hai: '10 mein se 8 calls sahi'. Uske winners jaldi book ho jaate hain, lagbhag +0.2R par, lekin losers -1R tak chale jaate hain. 1:0.2 ka breakeven 1 ÷ 1.2 hai, lagbhag 83%, isliye 80% accuracy ke bawajood paisa jaata hai: 0.8 x 0.2 - 0.2 x 1 = har trade -0.04R, costs se pehle. Priya ka plan 10 mein se sirf 4 trade jeetta hai, lekin uski average jeet +2R hai. 1:2 ka breakeven 33% hai, aur uski expectancy 0.4 x 2 - 0.6 x 1 = har trade +0.2R.</a:t>
            </a:r>
          </a:p>
          <a:p/>
          <a:p>
            <a:r>
              <a:t>Yaad rakhiye: Win-rate ko kabhi akele judge mat kijiye. Average jeet aur average haar, dono poochhiye.</a:t>
            </a:r>
          </a:p>
          <a:p/>
          <a:p>
            <a:r>
              <a:t>Slide par: Breakeven ke liye zaroori win-rate · Labels risk : reward hain. Yeh costs se pehle ke numbers hain; costs jodne par har number thoda aur badh jaata hai.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Losing streak, drawdown aur wapas upar aane ki lambi chadhai</a:t>
            </a:r>
          </a:p>
          <a:p/>
          <a:p>
            <a:r>
              <a:t>Achha method bhi lagataar kai baar haar jaata hai: 55% win-rate par, 100 trades mein kam se kam ek baar lagataar 5 haar aane ka chance lagbhag 65% hai, aur lagataar 7 haar ka lagbhag 18%. Drawdown ka matlab hai aapka capital apne pichhle high se kitna neeche aaya, naya high banne se pehle. Risk of ruin woh chance hai ki loss itna gehra ho jaye ki aap aage khel hi na payein, ya khelne ki himmat hi na bache. Ise daav ka size chalata hai, kyunki wahi tay karta hai ki normal streak kitna gehra kaategi: lagataar 7 haar ke baad, har trade par 1% risk se aap 6.8% neeche hote hain, 2% se 13.2%, 5% se 30.2% aur 10% se 52.2%. Wapas upar chadhna hamesha girne se mushkil hota hai: -10% ke baad +11.1% chahiye, -25% ke baad +33.3%, aur -50% ke baad poore +100%. Isiliye yeh course har trade par 1% risk rakhta hai (Day 9), -2R par us din ki trading band karta hai, aur hafte mein -5R par ruk kar review karta hai: streak sirf ek chot honi chahiye, khel ka ant kabhi nahi.</a:t>
            </a:r>
          </a:p>
          <a:p/>
          <a:p>
            <a:r>
              <a:t>Udaharan: Aman aur Priya same 20 practice trades follow karte hain: har jeet +1.5R, har haar -1R, aur beech mein lagataar 7 haar. Priya har trade par apne capital ka 1% risk karti hai, Aman 10%. Streak ke baad Priya apne peak se lagbhag 7% neeche hai, kyunki saat baar 0.99 ko aapas mein guna karne par 0.932 bachta hai. Aman apne peak se lagbhag 52% neeche hai, kyunki saat baar 0.9 ko guna karne par 0.478 bachta hai. Peak par wapas aane ke liye use ab lagbhag 109% ka gain chahiye. Trades wahi, luck wahi; fark sirf daav ke size ka tha.</a:t>
            </a:r>
          </a:p>
          <a:p/>
          <a:p>
            <a:r>
              <a:t>Yaad rakhiye: Losing streak maths ka hissa hai. Daav itna rakhiye ki streak ke baad bhi aap khade rahein.</a:t>
            </a:r>
          </a:p>
          <a:p/>
          <a:p>
            <a:r>
              <a:t>Slide par: Trades wahi, daav alag · Illustrative 20 trades (8 jeet, 12 haar, jinmein 7 lagataar), kul 0R. Apne high se 10% wala account 52% gira, 1% wala lagbhag 7%. Kul 0R hone par bhi 10% wala account 14% neeche khatam hua.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Tips ka lalach: tip itni achhi kyun lagti hai</a:t>
            </a:r>
          </a:p>
          <a:p/>
          <a:p>
            <a:r>
              <a:t>Lalach ka matlab hai greed, lekin tip sirf greed se nahi kheenchti. Woh uncertain market mein certainty ka ehsaas deti hai, seekhne ki mehnat bacha deti hai, galat hone par kisi aur ko blame karne ka mauka deti hai, aur ek bhara hua group aapko apnapan mehsoos karata hai. Tip bechne wale yeh sab jaante hain, isliye jeet ka shor machate hain aur loss ke size, calls ki kul ginti aur costs par chup rehte hain. Aapka bachaav aaj ka maths hai: kisi bhi claim par bharosa karne se pehle har call ka record, R mein average jeet aur average haar, aur kitne time ka data hai, yeh sab maangiye. Day 7 par aap 20 practice 'tips' ka audit karenge aur SEBI registration check karna seekhenge.</a:t>
            </a:r>
          </a:p>
          <a:p/>
          <a:p>
            <a:r>
              <a:t>Udaharan: Story yaad kijiye: maan lijiye saat winning calls ne Rs 1,000-1,000 kamaye aur ek losing call mein Rs 8,000 gaye. Aman ne dekha '8 mein se 7'. Priya ne poochha ki aathvi call mein kitna gaya, aur mentor ke numbers lagate hi hafta Rs 1,000 ke loss mein nikla, aur Rs 4,999 ki fees jodkar Rs 5,999 ke loss mein. Message ek hi tha, sawaal do: 'kitni baar?' aur 'kitna?'</a:t>
            </a:r>
          </a:p>
          <a:p/>
          <a:p>
            <a:r>
              <a:t>Yaad rakhiye: Tip certainty bechti hai. Aapka bachaav ek line hai: losses bhi dikhaiye.</a:t>
            </a:r>
          </a:p>
          <a:p/>
          <a:p>
            <a:r>
              <a:t>Slide par: Lalach ka chakkar · Agli tip se chakkar phir shuru hota hai. Ise box 2 par todiye: paisa lagane se pehle maths.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(R-multiple): 1R woh rupaye hain jo stop hit hone par jaate hain. Har result R mein gina jaata hai: us risk ka do guna jeete toh +2R.</a:t>
            </a:r>
          </a:p>
          <a:p>
            <a:r>
              <a:t>Win-rate aur payoff: Win-rate: aap kitni baar jeette hain. Payoff: average jeet, average haar ke muqable kitni badi hai.</a:t>
            </a:r>
          </a:p>
          <a:p>
            <a:r>
              <a:t>Expectancy: Bahut saare trades par ek trade ka average result: (win-rate x average jeet) - (loss-rate x average haar) - har trade ki cost; average haar bina minus ke likhiye (1R, -1R nahi). Costs ke baad bhi positive ho toh edge.</a:t>
            </a:r>
          </a:p>
          <a:p>
            <a:r>
              <a:t>Edge: Costs ke baad positive expectancy, jo kaafi trades par dikhe: rule judge karne ke liye 30, bharose ke liye 100. Koi hunch, ya ek achha hafta, edge nahi hota.</a:t>
            </a:r>
          </a:p>
          <a:p>
            <a:r>
              <a:t>Breakeven win-rate: Woh sabse kam win-rate jahan payoff paisa ganwana band karta hai, costs se pehle: 1 ÷ (1 + har 1R par reward). 1:2 par lagbhag 33%.</a:t>
            </a:r>
          </a:p>
          <a:p>
            <a:r>
              <a:t>Drawdown: Aapka capital apne pichhle high se kitna gira, naya high banne se pehle.</a:t>
            </a:r>
          </a:p>
          <a:p>
            <a:r>
              <a:t>Risk of ruin: Woh chance ki loss itna gehra ho jaye ki aap aage khel hi na payein, ya khelna chhod dein. Ise daav ka size chalata hai: lagataar 7 haar 1% risk par capital ka 6.8% le jaati hain, lekin 10% risk par 52.2%.</a:t>
            </a:r>
          </a:p>
          <a:p>
            <a:r>
              <a:t>Loss recovery (wapas upar ki chadhai): Girawat ke baad purane high tak wapas aane ke liye jitna gain chahiye. Yeh hamesha girawat se bada hota hai, kyunki yeh bache hue paise par kamana padta hai: -10% ke baad +11.1%, -25% ke baad +33.3%, -50% ke baad +100%.</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Trader vs gambler: maths</a:t>
            </a:r>
          </a:p>
          <a:p>
            <a:r>
              <a:t>R ka scale: 1R = stop hit par loss; Stop ki doori x quantity; Gap 1R se zyada le sakta hai</a:t>
            </a:r>
          </a:p>
          <a:p>
            <a:r>
              <a:t>Expectancy: Win% x avg jeet - loss% x avg haar (1R, -1R nahi); Costs R mein ghataiye; 30 par judge, 100 par zyada bharosa</a:t>
            </a:r>
          </a:p>
          <a:p>
            <a:r>
              <a:t>Breakeven: 1 ÷ (1 + har 1R par reward); 1:1 = 50%, 1:1.5 = 40%, 1:2 = 33%; Oonchi accuracy bhi paisa ganwa sakti hai</a:t>
            </a:r>
          </a:p>
          <a:p>
            <a:r>
              <a:t>Streak aur drawdown: Lagataar 5 haar aam baat hai; 7 haar: 1% par -6.8%, 10% par -52%; -50% ke baad +100% chahiye; Day 9: -2R par din band, -5R par pause</a:t>
            </a:r>
          </a:p>
          <a:p>
            <a:r>
              <a:t>Tips ka lalach: Tip certainty bechti hai; Poochhiye: losses bhi dikhaiye; Day 7: 20 practice tips ka audit</a:t>
            </a:r>
          </a:p>
          <a:p>
            <a:r>
              <a:t>Ek official number: SEBI FY26 study (Aug 2026); Nateeja batati hai, wajah nahi; F&amp;O = samjho, khelo mat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Maths khud kijiye: 10 trades ki expectancy sheet banaiye, ek accuracy claim parakhiye, aur dekhiye ki losing streak kya karti hai (25 minute ka core kaam, aur 20 minute ka optional stretch).</a:t>
            </a:r>
          </a:p>
          <a:p/>
          <a:p>
            <a:r>
              <a:t>1. Ek nayi Google Sheet kholiye aur yeh 10 practice results, R mein, cell A1 se A10 tak type kijiye: 2, -1, -1, 1.5, -1, 2, -1, -1, 3, -1.</a:t>
            </a:r>
          </a:p>
          <a:p>
            <a:r>
              <a:t>2. Cell B1 mein =AVERAGE(A1:A10) type kijiye. Yahi costs se pehle har trade ki expectancy hai; check kijiye ki 0.25 dikh raha hai, yaani +0.25R.</a:t>
            </a:r>
          </a:p>
          <a:p>
            <a:r>
              <a:t>3. Cell B2 mein win-rate ke liye =COUNTIF(A1:A10,"&gt;0")/10 type kijiye; 0.4 dikhega, yaani 40%. Sirf 4 jeet ke bawajood expectancy positive rahi, lekin asli rule judge karne ke liye 10 trades bahut kam hain.</a:t>
            </a:r>
          </a:p>
          <a:p>
            <a:r>
              <a:t>4. Phone ke calculator par 1:0.5 payoff ka breakeven win-rate nikaaliye (1 ÷ 1.5), aur notebook mein likhiye ki us payoff ke saath '60% accuracy' wala claim use paar karta hai ya nahi (check: lagbhag 67%, yaani 60% paar nahi karta).</a:t>
            </a:r>
          </a:p>
          <a:p>
            <a:r>
              <a:t>5. Calculator par saat baar 0.9 ko aapas mein guna kijiye (0.9 x 0.9 x ...), phir saat baar 0.99 ko, aur likhiye ki 10% aur 1% risk par lagataar 7 haar ke baad Rs 10,00,000 mein se kitna bachta hai; dono ko 'Aapka template' ke Streak damage card se milaiye (lagbhag Rs 4.78 lakh aur Rs 9.32 lakh).</a:t>
            </a:r>
          </a:p>
          <a:p>
            <a:r>
              <a:t>6. Stretch, optional (lagbhag 20 minute aur; laptop ho toh aasaan): 'Aapka template' ke layout se Google Sheets mein 100 trades ka streak simulator banaiye, phir usmein dikhne wali sabse lambi losing streak aur sabse gehra drawdown likh lijiye. Kisi formula par atak gaye? AI Lab ka 'Streak simulator' prompt har formula samjha deta hai.</a:t>
            </a:r>
          </a:p>
          <a:p/>
          <a:p>
            <a:r>
              <a:t>Aaj ke baad: Aaj ke baad aap kisi bhi trade ko R mein naap payenge, kisi method ki expectancy aur breakeven win-rate nikaal payenge, samjha payenge ki losing streak aur drawdown jhelne laayak kyun hone chahiye, aur kisi bhi accuracy claim ke lalach mein aane se pehle us par sawaal utha payenge.</a:t>
            </a:r>
          </a:p>
          <a:p/>
          <a:p>
            <a:r>
              <a:t>Tools: Google Sheets; Phone ka calculator; Notebook ya journal; Koi bhi AI chat</a:t>
            </a:r>
          </a:p>
          <a:p/>
          <a:p>
            <a:r>
              <a:t>Educational content only, not investment advice. Stage 1 uses virtual money only and places no F&amp;O trades, not even on paper.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Maths khud kijiye: 10 trades ki expectancy sheet banaiye, ek accuracy claim parakhiye, aur dekhiye ki losing streak kya karti hai (25 minute ka core kaam, aur 20 minute ka optional stretch).</a:t>
            </a:r>
          </a:p>
          <a:p/>
          <a:p>
            <a:r>
              <a:t>1. Ek nayi Google Sheet kholiye aur yeh 10 practice results, R mein, cell A1 se A10 tak type kijiye: 2, -1, -1, 1.5, -1, 2, -1, -1, 3, -1.</a:t>
            </a:r>
          </a:p>
          <a:p>
            <a:r>
              <a:t>2. Cell B1 mein =AVERAGE(A1:A10) type kijiye. Yahi costs se pehle har trade ki expectancy hai; check kijiye ki 0.25 dikh raha hai, yaani +0.25R.</a:t>
            </a:r>
          </a:p>
          <a:p>
            <a:r>
              <a:t>3. Cell B2 mein win-rate ke liye =COUNTIF(A1:A10,"&gt;0")/10 type kijiye; 0.4 dikhega, yaani 40%. Sirf 4 jeet ke bawajood expectancy positive rahi, lekin asli rule judge karne ke liye 10 trades bahut kam hain.</a:t>
            </a:r>
          </a:p>
          <a:p>
            <a:r>
              <a:t>4. Phone ke calculator par 1:0.5 payoff ka breakeven win-rate nikaaliye (1 ÷ 1.5), aur notebook mein likhiye ki us payoff ke saath '60% accuracy' wala claim use paar karta hai ya nahi (check: lagbhag 67%, yaani 60% paar nahi karta).</a:t>
            </a:r>
          </a:p>
          <a:p>
            <a:r>
              <a:t>5. Calculator par saat baar 0.9 ko aapas mein guna kijiye (0.9 x 0.9 x ...), phir saat baar 0.99 ko, aur likhiye ki 10% aur 1% risk par lagataar 7 haar ke baad Rs 10,00,000 mein se kitna bachta hai; dono ko 'Aapka template' ke Streak damage card se milaiye (lagbhag Rs 4.78 lakh aur Rs 9.32 lakh).</a:t>
            </a:r>
          </a:p>
          <a:p>
            <a:r>
              <a:t>6. Stretch, optional (lagbhag 20 minute aur; laptop ho toh aasaan): 'Aapka template' ke layout se Google Sheets mein 100 trades ka streak simulator banaiye, phir usmein dikhne wali sabse lambi losing streak aur sabse gehra drawdown likh lijiye. Kisi formula par atak gaye? AI Lab ka 'Streak simulator' prompt har formula samjha deta hai.</a:t>
            </a:r>
          </a:p>
          <a:p/>
          <a:p>
            <a:r>
              <a:t>Aaj ke baad: Aaj ke baad aap kisi bhi trade ko R mein naap payenge, kisi method ki expectancy aur breakeven win-rate nikaal payenge, samjha payenge ki losing streak aur drawdown jhelne laayak kyun hone chahiye, aur kisi bhi accuracy claim ke lalach mein aane se pehle us par sawaal utha payenge.</a:t>
            </a:r>
          </a:p>
          <a:p/>
          <a:p>
            <a:r>
              <a:t>Tools: Google Sheets; Phone ka calculator; Notebook ya journal; Koi bhi AI chat</a:t>
            </a:r>
          </a:p>
          <a:p/>
          <a:p>
            <a:r>
              <a:t>Educational content only, not investment advice. Stage 1 uses virtual money only and places no F&amp;O trades, not even on paper.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Aapki 10-trade expectancy sheet</a:t>
            </a:r>
          </a:p>
          <a:p/>
          <a:p>
            <a:r>
              <a:t>A1-A10, B1 aur B2 aaj ke steps se aate hain; B3, B4 aur column C optional extra hain. Phir column A ka ek number badaliye aur dekhiye B1 aur B2 kaise badalte hain.</a:t>
            </a:r>
          </a:p>
          <a:p/>
          <a:p>
            <a:r>
              <a:t>Cell | Yeh type kijiye | Kya dikhna chahiye</a:t>
            </a:r>
          </a:p>
          <a:p>
            <a:r>
              <a:t>A1 to A10 | 2, -1, -1, 1.5, -1, 2, -1, -1, 3, -1 | Har cell mein ek practice result, R mein</a:t>
            </a:r>
          </a:p>
          <a:p>
            <a:r>
              <a:t>B1 | =AVERAGE(A1:A10) | 0.25: costs se pehle har trade +0.25R expectancy</a:t>
            </a:r>
          </a:p>
          <a:p>
            <a:r>
              <a:t>B2 | =COUNTIF(A1:A10,"&gt;0")/10 | 0.4: yaani 40% win-rate</a:t>
            </a:r>
          </a:p>
          <a:p>
            <a:r>
              <a:t>B3 | =SUM(A1:A10) | 2.5: 10 trades mein kul +2.5R</a:t>
            </a:r>
          </a:p>
          <a:p>
            <a:r>
              <a:t>B4 | =B1-0.1 | 0.15: har trade lagbhag 0.1R cost ke baad bhi positive</a:t>
            </a:r>
          </a:p>
          <a:p>
            <a:r>
              <a:t>C1 to C10 | =SUM($A$1:A1) | Optional: C1 mein type karke neeche tak copy kijiye. Running total 2, 1, 0, 1.5, 0.5, 2.5, 1.5, 0.5, 3.5, 2.5: jeetne wali sheet mein bhi yeh do baar apne high se 2R girta hai.</a:t>
            </a:r>
          </a:p>
          <a:p/>
          <a:p>
            <a:r>
              <a:t>Rule judge karne ke liye 10 trades bahut kam hain: judge karne ke liye 30, bharose ke liye 100.</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Streak damage card: lagataar 7 haar</a:t>
            </a:r>
          </a:p>
          <a:p/>
          <a:p>
            <a:r>
              <a:t>Virtual Rs 10,00,000; har loss bache hue capital ka risk % le jaata hai. Jo bhi doosra risk % aapko lubhaaye, uske liye khaali row bhariye: (1 - risk) ko saat baar aapas mein guna kijiye, phir capital se (3% par lagbhag Rs 8.08 lakh bachte hain).</a:t>
            </a:r>
          </a:p>
          <a:p/>
          <a:p>
            <a:r>
              <a:t>Har trade risk | 7 haar ke baad bacha | High se girawat | Wapsi ke liye gain</a:t>
            </a:r>
          </a:p>
          <a:p>
            <a:r>
              <a:t>1% | Rs 9,32,065 | -6.8% | +7.3%</a:t>
            </a:r>
          </a:p>
          <a:p>
            <a:r>
              <a:t>2% | Rs 8,68,126 | -13.2% | +15.2%</a:t>
            </a:r>
          </a:p>
          <a:p>
            <a:r>
              <a:t>5% | Rs 6,98,337 | -30.2% | +43.2%</a:t>
            </a:r>
          </a:p>
          <a:p>
            <a:r>
              <a:t>10% | Rs 4,78,297 | -52.2% | +109.1%</a:t>
            </a:r>
          </a:p>
          <a:p>
            <a:r>
              <a:t>+ 2 ___</a:t>
            </a:r>
          </a:p>
          <a:p/>
          <a:p>
            <a:r>
              <a:t>House rule pehli row hai: har trade 1%, -2R par din band aur hafte mein -5R par pause.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Streak simulator: bina AI ke banaiye</a:t>
            </a:r>
          </a:p>
          <a:p/>
          <a:p>
            <a:r>
              <a:t>Ise nayi tab mein banaiye (neeche left mein +), taaki aapki 10-trade sheet surakshit rahe. Inputs, row 1 aur row 2 ke formulas (A2 se F2) type kijiye, phir A2:F2 select karke row 101 tak neeche drag kijiye. Har edit par RAND() naye numbers nikaalta hai: ek run freeze karne ke liye column B copy karke 'paste values only' kijiye, phir H3 mein 0.1 daal kar same trades par 10% risk dekhiye.</a:t>
            </a:r>
          </a:p>
          <a:p/>
          <a:p>
            <a:r>
              <a:t>Cell | Ismein kya hai | Yeh type kijiye</a:t>
            </a:r>
          </a:p>
          <a:p>
            <a:r>
              <a:t>H1 | Win-rate: 55% | 0.55</a:t>
            </a:r>
          </a:p>
          <a:p>
            <a:r>
              <a:t>H2 | Average jeet, R mein | 1.5</a:t>
            </a:r>
          </a:p>
          <a:p>
            <a:r>
              <a:t>H3 | Har trade risk: 1% | 0.01</a:t>
            </a:r>
          </a:p>
          <a:p>
            <a:r>
              <a:t>C1, D1 | Shuruaati capital, aur pehla high | 100</a:t>
            </a:r>
          </a:p>
          <a:p>
            <a:r>
              <a:t>E1, F1 | Shuruaat: na drawdown, na streak | 0</a:t>
            </a:r>
          </a:p>
          <a:p>
            <a:r>
              <a:t>A2 | Trade number | =ROW()-1</a:t>
            </a:r>
          </a:p>
          <a:p>
            <a:r>
              <a:t>B2 | Result: +1.5R jeet ya -1R haar | =IF(RAND()&lt;$H$1,$H$2,-1)</a:t>
            </a:r>
          </a:p>
          <a:p>
            <a:r>
              <a:t>C2 | Is trade ke baad capital | =C1*(1+$H$3*B2)</a:t>
            </a:r>
          </a:p>
          <a:p>
            <a:r>
              <a:t>D2 | Ab tak ka sabse ooncha capital | =MAX(D1,C2)</a:t>
            </a:r>
          </a:p>
          <a:p>
            <a:r>
              <a:t>E2 | Us high se drawdown | =C2/D2-1</a:t>
            </a:r>
          </a:p>
          <a:p>
            <a:r>
              <a:t>F2 | Abhi ki losing streak | =IF(B2&lt;0,F1+1,0)</a:t>
            </a:r>
          </a:p>
          <a:p>
            <a:r>
              <a:t>H5 | Sabse lambi losing streak | =MAX(F2:F101)</a:t>
            </a:r>
          </a:p>
          <a:p>
            <a:r>
              <a:t>H6 | Sabse gehra drawdown | =MIN(E2:E101)</a:t>
            </a:r>
          </a:p>
          <a:p/>
          <a:p>
            <a:r>
              <a:t>Column E aur H6 ko % format mein rakhiye. Yeh made-up numbers hain: asli market itna saaf edge shayad hi deta hai, isliye har run ko uske sabse gehre drawdown se parakhiye, aakhri capital se nahi.</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Streak simulator: bina AI ke banaiye</a:t>
            </a:r>
          </a:p>
          <a:p/>
          <a:p>
            <a:r>
              <a:t>Ise nayi tab mein banaiye (neeche left mein +), taaki aapki 10-trade sheet surakshit rahe. Inputs, row 1 aur row 2 ke formulas (A2 se F2) type kijiye, phir A2:F2 select karke row 101 tak neeche drag kijiye. Har edit par RAND() naye numbers nikaalta hai: ek run freeze karne ke liye column B copy karke 'paste values only' kijiye, phir H3 mein 0.1 daal kar same trades par 10% risk dekhiye.</a:t>
            </a:r>
          </a:p>
          <a:p/>
          <a:p>
            <a:r>
              <a:t>Cell | Ismein kya hai | Yeh type kijiye</a:t>
            </a:r>
          </a:p>
          <a:p>
            <a:r>
              <a:t>H1 | Win-rate: 55% | 0.55</a:t>
            </a:r>
          </a:p>
          <a:p>
            <a:r>
              <a:t>H2 | Average jeet, R mein | 1.5</a:t>
            </a:r>
          </a:p>
          <a:p>
            <a:r>
              <a:t>H3 | Har trade risk: 1% | 0.01</a:t>
            </a:r>
          </a:p>
          <a:p>
            <a:r>
              <a:t>C1, D1 | Shuruaati capital, aur pehla high | 100</a:t>
            </a:r>
          </a:p>
          <a:p>
            <a:r>
              <a:t>E1, F1 | Shuruaat: na drawdown, na streak | 0</a:t>
            </a:r>
          </a:p>
          <a:p>
            <a:r>
              <a:t>A2 | Trade number | =ROW()-1</a:t>
            </a:r>
          </a:p>
          <a:p>
            <a:r>
              <a:t>B2 | Result: +1.5R jeet ya -1R haar | =IF(RAND()&lt;$H$1,$H$2,-1)</a:t>
            </a:r>
          </a:p>
          <a:p>
            <a:r>
              <a:t>C2 | Is trade ke baad capital | =C1*(1+$H$3*B2)</a:t>
            </a:r>
          </a:p>
          <a:p>
            <a:r>
              <a:t>D2 | Ab tak ka sabse ooncha capital | =MAX(D1,C2)</a:t>
            </a:r>
          </a:p>
          <a:p>
            <a:r>
              <a:t>E2 | Us high se drawdown | =C2/D2-1</a:t>
            </a:r>
          </a:p>
          <a:p>
            <a:r>
              <a:t>F2 | Abhi ki losing streak | =IF(B2&lt;0,F1+1,0)</a:t>
            </a:r>
          </a:p>
          <a:p>
            <a:r>
              <a:t>H5 | Sabse lambi losing streak | =MAX(F2:F101)</a:t>
            </a:r>
          </a:p>
          <a:p>
            <a:r>
              <a:t>H6 | Sabse gehra drawdown | =MIN(E2:E101)</a:t>
            </a:r>
          </a:p>
          <a:p/>
          <a:p>
            <a:r>
              <a:t>Column E aur H6 ko % format mein rakhiye. Yeh made-up numbers hain: asli market itna saaf edge shayad hi deta hai, isliye har run ko uske sabse gehre drawdown se parakhiye, aakhri capital se nahi.</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Coin-flip survival: sab 100 chips se shuru karte hain. Heads aaye toh daav ka 1.5 guna jeet, tails aaye toh daav gaya. Aadha group har flip par 2 chips lagata hai, aadha 20; 20 wale ke paas 20 se kam chips bachein toh woh game se bahar. Har player apna coin 20 baar uchhale, apne chips kaagaz par plot kare, aur apne high se sabse gehri girawat mark kare. Phir dekhiye: bade daav wale kitne log bahar hue, aur kiski girawat aap shaanti se jhel paate? Yeh coin har jeet par 1.5 guna deta hai, jo asli market kabhi nahi deta, isliye bade daav wale jo bach gaye unke paas aksar zyada chips hote hain; asli sawaal yeh hai ki kitne nahi bache, aur baaki khel khatam hone ke kitne kareeb pahunch gaye. Akele hain? Bade daav wala role 5 baar, har baar naye flips ke saath, khel kar giniye ki kitni baar bahar hue.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Streak simulator</a:t>
            </a:r>
          </a:p>
          <a:p>
            <a:r>
              <a:t>Act as a patient spreadsheet tutor for a complete beginner in India. I am building a 100-trade streak simulator in Google Sheets from my course template, using made-up numbers. Inputs: H1 win-rate 0.55, H2 average win 1.5 (in R; every loss is -1R), H3 risk per trade 0.01 (1% of capital). Row 1 is the start: C1 and D1 = 100, E1 and F1 = 0. Row 2, copied down to row 101: A2 =ROW()-1 (trade number), B2 =IF(RAND()&lt;$H$1,$H$2,-1) (result in R), C2 =C1*(1+$H$3*B2) (capital), D2 =MAX(D1,C2) (highest capital so far), E2 =C2/D2-1 (drawdown from that high), F2 =IF(B2&lt;0,F1+1,0) (current losing streak). Summary: H5 =MAX(F2:F101) (longest losing streak), H6 =MIN(E2:E101) (deepest drawdown). First explain, one plain line each, what every formula does. If I paste a formula that shows an error or a strange value, find my mistake. Then explain how to freeze one random sequence (copy column B and paste it as values only) so I can compare 1% and 10% risk on exactly the same trades, and why any edit makes RAND() draw a fresh sequence, so I can see how much luck alone changes the picture. End with 5 plain lines on how to read the results. This is a teaching simulation: do not suggest any real strategy or stock, do not give buy or sell advice, and do not mention targets or expected returns.</a:t>
            </a:r>
          </a:p>
          <a:p/>
          <a:p>
            <a:r>
              <a:t>Prompt 2: Tipster ka maths check kijiye</a:t>
            </a:r>
          </a:p>
          <a:p>
            <a:r>
              <a:t>I will paste a made-up message from a tip channel, for example: '7 out of 8 calls hit target last week, join Premium for Rs 4,999'. Act as a calm, sceptical teacher. First, list what the message does not tell me: the total number of calls, the average win and the average loss in R, costs, the time period, and whether the sender is registered with SEBI. Then sort each claim in the message into one of three groups: can be checked (say where I could check it), cannot be checked, or a sales trick (pressure, scarcity or a promise), and give one line of reason for each. If I give you a win-rate and a payoff, work out the breakeven win-rate with 1 / (1 + reward per 1R of risk) and the expectancy per trade, showing each step. Do not name any real channel or stock, do not tell me to join any service, do not give buy or sell advice, and do not mention targets or return expectations.</a:t>
            </a:r>
          </a:p>
          <a:p/>
          <a:p>
            <a:r>
              <a:t>Prompt 3: Trading maths par mera quiz lijiye</a:t>
            </a:r>
          </a:p>
          <a:p>
            <a:r>
              <a:t>Act as a friendly maths coach for a beginner trader in India. Ask me 6 short numeric questions, one at a time, using made-up companies and round rupee numbers: two on R-multiples (1R = distance to the stop x quantity), two on expectancy and the breakeven win-rate, and two on drawdown and loss recovery. Wait for my answer each time, then show the correct working in simple steps and tell me where I slipped. At the end, name the one idea I should revise. Do not use real stock names, do not give buy or sell advice, and do not mention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ka practice plan: Kiran Foods Ltd ke 100 shares Rs 300 par, stop Rs 294 par. Baad mein woh Rs 312 par exit karti hai. R mein result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rule apne aadhe trades jeetta hai. Uski average jeet +1.5R hai aur average haar -1R. Costs se pehle har trade ki expectancy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channel dikhata hai ki uski 75% calls ka target hit hua. Average mein winning call +0.25R banati hai aur losing call -1R le jaati hai. Maths kya kehta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ka virtual account Rs 10,00,000 se girkar Rs 7,50,000 par aa jaata hai. Wapas Rs 10,00,000 tak pahunchne ke liye use ab Rs 7,50,000 par kitna gain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ke rule ne 100 practice trades mein 55% win-rate aur positive expectancy dikhayi. Ab woh lagataar 5 trades haar gaya hai. Sabse samajhdaar kadam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Koi tip, forward ya 'hot call' yaad kijiye jo aapne dekhi ho. Usne aapko kya dikhaya, aur kya chhupa liya? Woh ek sawaal likhiye jo aap ab kisi bhi win-rate par bharosa karne se pehle zaroor poochhenge.</a:t>
            </a:r>
          </a:p>
          <a:p/>
          <a:p>
            <a:r>
              <a:t>Maths jeet ka vada nahi karta. Woh bas imaandaari se batata hai ki aap kaunsa khel khel rahe hain, aur trader ki shuruaat usi imaandaari se hoti hai.</a:t>
            </a:r>
          </a:p>
          <a:p/>
          <a:p>
            <a:r>
              <a:t>Agla: Day 4 · AI aapka co-pilot, aur aapka scam radar</a:t>
            </a:r>
          </a:p>
          <a:p/>
          <a:p>
            <a:r>
              <a:t>Educational content only, not investment advice. Stage 1 uses virtual money only and places no F&amp;O trades, not even on paper.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4: AI aapka co-pilot, aur aapka scam radar</a:t>
            </a:r>
          </a:p>
          <a:p/>
          <a:p>
            <a:r>
              <a:t>Concept: AI = analyst, aap = trigger: har claim ko Fact, Guess ya Kachra mein baantiye</a:t>
            </a:r>
          </a:p>
          <a:p>
            <a:r>
              <a:t>AI Lab: Fact / Guess / Kachra sorter aur ek hallucination trap</a:t>
            </a:r>
          </a:p>
          <a:p>
            <a:r>
              <a:t>Mindset: Automation bias: machine par andha bharosa</a:t>
            </a:r>
          </a:p>
          <a:p/>
          <a:p>
            <a:r>
              <a:t>Aaj ke baad: Aaj ke baad aap ek safe 4-hisson wala prompt likh payenge, AI chat ko apna analyst bana kar use kar payenge aur faisla khud lenge, kisi bhi claim ko Fact, Guess ya Kachra mein baant payenge, source check karke hallucination pakad payenge, apna personal data AI tools se door rakhenge, aur samjha payenge ki AI ki 'call' forward karna aapko tipster kyun bana deta hai.</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 40% jo kabhi tha hi nahi</a:t>
            </a:r>
          </a:p>
          <a:p/>
          <a:p>
            <a:r>
              <a:t>(Wednesday, raat 9 baje. Aman class call par apni phone screen share karta hai. Do cheezein khuli hain: ek AI chat aur ek Telegram message.)</a:t>
            </a:r>
          </a:p>
          <a:p>
            <a:r>
              <a:t>Aman: Sir, dekhiye. Maine AI se Bharat Pumps Ltd ke baare mein poocha. Woh keh raha hai ki pichhle saal ke isi quarter ke mukable profit 40% uchhal gaya aur company 'bahut strong' lag rahi hai. Aur yeh group bol raha hai ki unka AI bot 95% accurate hai. Yeh dono mil gaye, toh charts padhne ki zaroorat hi kya hai?</a:t>
            </a:r>
          </a:p>
          <a:p>
            <a:r>
              <a:t>Tip-wala: AI-powered calls, 95% accuracy. Roz sure-shot profit. Sirf Rs 4,999 mahina. Bas 10 seats bachi hain, raat 12 se pehle join karo.</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 40% jo kabhi tha hi nahi</a:t>
            </a:r>
          </a:p>
          <a:p/>
          <a:p>
            <a:r>
              <a:t>Priya: Aman, maine abhi company ki apni results press release kholi. Profit Rs 26 crore hai, pichhle saal isi quarter mein Rs 25 crore tha. Yeh 4% hai, 40% nahi. Aur AI ne yeh bataya hi nahi ki uska number aaya kahan se.</a:t>
            </a:r>
          </a:p>
          <a:p>
            <a:r>
              <a:t>Aman: Lekin woh itne confidence se bol raha tha, saaf-suthri table ke saath. Machine bhala number kyun gadhegi?</a:t>
            </a:r>
          </a:p>
          <a:p>
            <a:r>
              <a:t>Mentor: Priya, aapka number kahan se aaya? Aman, AI ka number kahan se aaya? Yahi farak aaj ki class hai. Ek machine ne number gadh diya; ek group 'AI' ka thappa laga kar vada bech raha hai. Aaj se AI aapka analyst hai, trigger kabhi nahi.</a:t>
            </a:r>
          </a:p>
          <a:p/>
          <a:p>
            <a:r>
              <a:t>Seekh: Confidence saboot nahi hota. AI aapke liye tez draft bana sakta hai; check karna aur faisla lena aapka hi kaam hai.</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analyst hai, trigger aap hain</a:t>
            </a:r>
          </a:p>
          <a:p/>
          <a:p>
            <a:r>
              <a:t>ChatGPT, Claude ya Gemini jaisa AI chat ek large language model (LLM) par chalta hai: aisa software jise bahut saare text par train kiya gaya hai, taaki woh jawab likh sake. Lambe document ka summary banana, kisi term ko aasaan shabdon mein samjhana, bikhre notes ko checklist mein badalna aur aapse kaam ke sawaal poochna — ismein yeh bahut achha hai. Kal ka price ise nahi pata, aur yeh poore confidence ke saath galat bhi ho sakta hai. Isliye is course ka ek rule hai: AI = analyst, insaan = trigger. AI draft taiyaar karta hai; check aap karte hain, aur kuch hoga ya nahi, yeh faisla sirf aapka hai. Is analyst ko aap prompt se chalaate hain, jiske chaar hisse hain: context (jo source aap paste karte hain), task (ek saaf kaam), format (jawab kaisa dikhe) aur guardrails (AI kya nahi karega).</a:t>
            </a:r>
          </a:p>
          <a:p/>
          <a:p>
            <a:r>
              <a:t>Udaharan: Listed companies har quarter (har 3 mahine) apne results NSE aur BSE ki website par file karti hain, aksar ek chhoti press release ke saath. Revenue yaani kul bikri; profit yaani saare kharche nikaalne ke baad jo bacha. Aman ne type kiya: 'Bharat Pumps ka kya lagta hai?' Jawab mein ek lamba, confident opinion aa gaya, jise woh check hi nahi kar sakta tha. Priya ne company ki results press release paste ki aur likha: 'Sirf is text se zyada se zyada 3 facts do, har fact ke saath woh sentence jahan se liya; text mein forecasts hon toh zyada se zyada 2, Guess likhkar do; aur jo text mein nahi hai, wahan missing likho. Koi buy ya sell view nahi.' Uske prompt mein chaaron hisse hain: context (paste kiya hua text), task (zyada se zyada 3 facts, 2 forecasts), format (sentence, label, 'missing') aur guardrails (sirf yahi text, koi buy ya sell view nahi). Jab jawab mein 'profit Rs 26 crore' aaya, toh uska sentence bhi saath mein tha, isliye usne kuch hi second mein check kar liya.</a:t>
            </a:r>
          </a:p>
          <a:p/>
          <a:p>
            <a:r>
              <a:t>Yaad rakhiye: AI draft karta hai. Aap check karte hain. Faisla aap lete hain. Koi bhi AI jawab seedha order nahi banta.</a:t>
            </a:r>
          </a:p>
          <a:p/>
          <a:p>
            <a:r>
              <a:t>Slide par: Analyst se trigger tak · AI se Buy button tak koi arrow nahi hai. Button sirf aap dabate hain, aur woh bhi checks ke baad.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 Guess ya Kachra: har claim ko chhaantiye</a:t>
            </a:r>
          </a:p>
          <a:p/>
          <a:p>
            <a:r>
              <a:t>Day 3 ke AI Lab prompt 'Tipster ka maths check kijiye' ne claims ko 'check ho sakta hai', 'check nahi ho sakta' aur 'sales trick' mein baanta tha; aaj woh kachche groups pakke rules wale teen dabbe bante hain. Market ke baare mein jo bhi sentence aap padhte hain — AI se, news site se, dost se ya video se — woh teen dabbon mein se kisi ek mein jaata hai. Fact: jo ho chuka hai, aur jise aap kisi official source mein check kar sakein, jaise NSE ya BSE ki website par company ki filing, aur woh match kare. Guess: forecast, opinion ya kisi number ka apni samajh se nikaala gaya matlab, jo khulkar raay ki tarah kaha gaya ho; sensible ho sakta hai, lekin aaj koi use check nahi kar sakta. Kachra: hype, bina source ke 'sach' bata kar diya gaya claim, profit ka koi bhi vada, ya aisa claim jo check karne par galat nikle, jaise Aman ka 40%. Zyadatar confusion tab hota hai jab Guess ko Fact bana kar pesh kar diya jaata hai, isliye bharosa karne se pehle chhaantna hi is course ki sabse zaroori AI skill hai.</a:t>
            </a:r>
          </a:p>
          <a:p/>
          <a:p>
            <a:r>
              <a:t>Udaharan: Kiran Foods Ltd ki results release kehti hai ki revenue Rs 380 crore se badhkar Rs 420 crore ho gaya. Yeh Fact hai: filing mein likha hai, aur Rs 40 crore ÷ Rs 380 crore se growth lagbhag 10.5% nikalti hai. Release mein yeh bhi likha hai ki 'management ko festive season mein achhi demand ki umeed hai'. Unhone yeh kaha, yeh toh fact hai; lekin jo kaha, woh Guess hai. Ek Telegram forward kehta hai 'Kiran Foods Diwali tak double hoga, andar ki khabar hai'. Yeh Kachra hai: na source, na check karne ka tareeka, aur upar se vada. Waise bhi, asli andar ki khabar (jo company ne abhi public nahi ki) par trade karna gair-kanooni hai.</a:t>
            </a:r>
          </a:p>
          <a:p/>
          <a:p>
            <a:r>
              <a:t>Yaad rakhiye: Kisi ne kaha, yeh fact ho sakta hai; jo kaha, woh phir bhi guess ho sakta hai.</a:t>
            </a:r>
          </a:p>
          <a:p/>
          <a:p>
            <a:r>
              <a:t>Slide par: Har claim ke teen dabbe · Ek made-up company ke results wale din ki lines. Pehle chhaantiye, phir bharosa kijiye.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Hallucination aur knowledge cutoff</a:t>
            </a:r>
          </a:p>
          <a:p/>
          <a:p>
            <a:r>
              <a:t>Hallucination tab hota hai jab AI poore confidence se koi galat baat bol de: galat number, SEBI ka aisa circular jo exist hi nahi karta, ya results ki aisi date jo kabhi thi hi nahi. Aisa isliye hota hai kyunki LLM agle sabse 'sahi lagne wale' shabd likhta hai; woh khud se sach dhoondhta nahi. Knowledge cutoff woh date hai jahan uska training text khatam hota hai, isliye ho sakta hai use naye results, naye rules ya aaj ke prices pata hi na hon. Kuch AI tools web search kar lete hain, lekin web ke results purane, galat ya kamzor source se bhi ho sakte hain, isliye unhe bhi unverified hi maaniye. Sabse zyada madad isse milti hai: source khud paste kijiye, har number ke peeche ka sentence maangiye, aur AI ko boliye ki guess karne ki jagah 'missing' likhe. Source paste karne ke baad bhi woh table galat padh sakta hai, isliye quote khud check kijiye.</a:t>
            </a:r>
          </a:p>
          <a:p/>
          <a:p>
            <a:r>
              <a:t>Udaharan: Aman ke 40% par wapas aate hain. Bharat Pumps Ltd ki release mein is quarter ka profit Rs 26 crore hai, pichhle saal isi quarter mein Rs 25 crore tha. Badhat Rs 1 crore ki hai, aur Rs 1 crore ÷ Rs 25 crore = 4%. 40% growth ke liye profit Rs 35 crore hona chahiye tha. Ek simple division ne hallucination pakad liya. Hamesha poochhiye: growth kiske mukable? Pichhle saal ke isi quarter se, ya theek pichhle quarter se? Cutoff wala jaal zyada chhupa hota hai: purane text par train hua model aaj bhi bol sakta hai ki Indian shares T+2 mein settle hote hain, jabki market January 2023 mein hi poori tarah T+1 par aa chuka hai.</a:t>
            </a:r>
          </a:p>
          <a:p/>
          <a:p>
            <a:r>
              <a:t>Yaad rakhiye: Source nahi, quote nahi, toh bharosa bhi nahi. Guess ki jagah 'missing' maangiye.</a:t>
            </a:r>
          </a:p>
          <a:p/>
          <a:p>
            <a:r>
              <a:t>Slide par: 40% ko pakadna · 40% growth ke liye profit Rs 35 crore hona chahiye. Release mein Rs 26 crore likha hai.</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bias: jab saaf-suthra jawab dimaag band kar de</a:t>
            </a:r>
          </a:p>
          <a:p/>
          <a:p>
            <a:r>
              <a:t>Automation bias ka matlab hai machine ke jawab par apni checking se zyada bharosa kar lena, sirf isliye ki machine ne diya hai. Yeh tab badhta hai jab jawab saaf-suthra dikhe: clean table, do decimal tak ke exact numbers, aur shaant, confident tone. Airline pilots ko autopilot cross-check karne ki training milti hai; market mein naye logon ko yeh shayad hi koi sikhata hai. Iska ilaaj ek chhoti si aadat hai, 3 gates, jo har AI claim par faisle se pehle lagti hai: source (yeh aaya kahan se), check (kya main ise us source se khud mila sakta hoon, aksar 30 second mein) aur nuksaan (galat nikla toh kitna jaayega). Jis claim ka source nahi, ya jise aapne check nahi kiya, woh faisle se bahar rehta hai; galat hone ki keemat jitni badi, checking utni hi dhyaan se.</a:t>
            </a:r>
          </a:p>
          <a:p/>
          <a:p>
            <a:r>
              <a:t>Udaharan: GPS ke baare mein sochiye. Zyadatar din woh sahi hota hai, lekin ek shaam woh aapko aisi gali mein mudne ko kehta hai jahan shaadi ka shamiana laga hai. Aap phir bhi khidki se bahar dekhte hain na? Aman ki AI table mein Bharat Pumps ka quarterly revenue 'Rs 1,184.37 crore' likha tha. Do decimal dekhkar number bilkul exact laga, aur usne check karna chhod diya. Exact dikhna saboot nahi hai: gadha hua number bhi utni hi aasaani se do decimal ke saath aa sakta hai. Agar usne iske bharose Rs 50,000 laga diye hote, toh Gate 3 poochta: jo number maine kabhi check hi nahi kiya, kya woh Rs 50,000 ke laayak hai?</a:t>
            </a:r>
          </a:p>
          <a:p/>
          <a:p>
            <a:r>
              <a:t>Yaad rakhiye: Saaf-suthra jawab, check kiya hua jawab nahi hota. Har baar 3 gates lagaiye.</a:t>
            </a:r>
          </a:p>
          <a:p/>
          <a:p>
            <a:r>
              <a:t>Slide par: 3-gate card · Yeh card screen ke paas rakhiye. Source nahi, ya abhi check nahi kiya? Toh bahar.</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hygiene: AI mein kya kabhi nahi daalna</a:t>
            </a:r>
          </a:p>
          <a:p/>
          <a:p>
            <a:r>
              <a:t>Data hygiene ka matlab hai apni personal aur financial details ko wahan na jaane dena jahan unki zaroorat hi nahi. AI chat mein aap jo bhi type ya upload karte hain, woh company ke servers par store ho sakta hai, product sudhaarne mein use ho sakta hai, ya kisi leak mein bahar aa sakta hai. Jahan aapka AI app allow kare, temporary chat use kijiye ya apni chats par training off kar dijiye; lekin isse bhi PAN, OTP ya password paste karna safe nahi ho jaata. PAN, Aadhaar, bank account number, client ID (broker ke saath aapki login ID), passwords, OTP, TPIN ya API keys (woh secret code jinse koi app aapke account par kaam kar sakta hai) kabhi paste mat kijiye, aur aisa contract note ya screenshot bhi upload mat kijiye jismein yeh dikhte hon. Public text theek hai: company ki press release, index ka level, ek made-up practice trade. Kisi personal document mein madad chahiye, toh sirf zaroori hissa type kijiye aur apni pehchaan bahar rakhiye.</a:t>
            </a:r>
          </a:p>
          <a:p/>
          <a:p>
            <a:r>
              <a:t>Udaharan: Priya ke chacha ne Gupta Cement ke Rs 25,000 ke shares khareede aur usse kehte hain ki 'contract note AI mein daal do', taaki charges samajh aa jayein. PDF mein unka naam, PAN, client code aur address hai. Priya use upload nahi karti. Woh sirf charges ki lines ke naam type karti hai — brokerage, STT, exchange charges, GST, stamp duty — aur poochti hai ki har ek kis cheez ka paisa hai. AI ke jawab ko chacha ki pehchaan ki zaroorat hi nahi thi; kisi fraudster ko toh woh poori ki poori chahiye hoti.</a:t>
            </a:r>
          </a:p>
          <a:p/>
          <a:p>
            <a:r>
              <a:t>Yaad rakhiye: Sawaal paste kijiye, apni pehchaan nahi. PAN, OTP aur password kisi bhi AI mein kabhi nahi.</a:t>
            </a:r>
          </a:p>
          <a:p/>
          <a:p>
            <a:r>
              <a:t>Slide par: Kya daalein, kya nahi · Shak ho toh mat daaliye. Document upload karne ki jagah uske baare mein likh sakte hain.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Tipster mat baniye, aur AI ke bhes mein tipster ko pehchaniye</a:t>
            </a:r>
          </a:p>
          <a:p/>
          <a:p>
            <a:r>
              <a:t>Jo AI jawab ek stock, entry price aur target bata de, woh kitna bhi chamakdaar ho, phir bhi Guess hi hai. Use doston ya WhatsApp group mein call bana kar forward kiya, toh aap adviser jaisa kaam karne lagte hain. Business ki tarah ya fees lekar buy-sell recommendation dene ke liye SEBI registration chahiye, Investment Adviser ya Research Analyst ke roop mein; aur 'free' call bhi un logon ka nuksaan kara sakti hai jo use follow karte hain. Scammers bhi AI use karte hain: chamakdaar 'research reports', profit ke nakli screenshots, yahan tak ki mashhoor chehron ke deepfake videos jo aapko kisi 'investment group' mein bulate hain. Aapka radar seedha hai: accuracy ka vada, har mahine fixed kamaai ka vada ya andar ki khabar — sab seedha Kachra ke dabbe mein. Day 7 mein 20 practice tips ka poora audit hoga, aur registration check karna bhi seekhenge.</a:t>
            </a:r>
          </a:p>
          <a:p/>
          <a:p>
            <a:r>
              <a:t>Udaharan: Telegram wale bot par wapas chaliye: '95% accurate', Rs 4,999 mahina. Yaani saal ke Rs 59,988, ek bhi trade se pehle. Day 3 ka hisaab kehta hai ki sirf win-rate se poori kahani pata nahi chalti: Rs 1,000 ki 95 jeet aur Rs 25,000 ke 5 loss ke baad bhi un 100 trades mein aap Rs 30,000 ke nuksaan mein hain, aur yeh fees se pehle ka hisaab hai. Group mein na losses ka koi record hai, na registration number, bas join karne ki ulti ginti. Yeh sab red flags hain, join karne ki wajah nahi.</a:t>
            </a:r>
          </a:p>
          <a:p/>
          <a:p>
            <a:r>
              <a:t>Yaad rakhiye: AI ka jawab kabhi buy ya sell call bana kar forward mat kijiye. Accuracy ka har vada Kachra ke dabbe mein.</a:t>
            </a:r>
          </a:p>
          <a:p/>
          <a:p>
            <a:r>
              <a:t>Slide par: Registered research vs AI ke bhes mein scam · Page par likha number sirf shuruaat hai: use khud SEBI ki website par check kijiye (Day 7). Nakli log asli naam aur number bhi copy kar lete hain.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(AI chat): Large language model: bahut saare text par train hua software jo jawab likhta hai; ChatGPT, Claude ya Gemini jaise AI chat isi par chalte hain. Bhasha mein tez, future ke baare mein andha.</a:t>
            </a:r>
          </a:p>
          <a:p>
            <a:r>
              <a:t>Prompt (4 hisse): AI ko diya gaya aapka instruction: context (source paste kijiye), task (ek saaf kaam), format (har number ka quote, Fact, Guess ya Kachra ka label, 'missing') aur guardrails (koi buy ya sell view nahi, koi target nahi, text ke bahar se kuch nahi).</a:t>
            </a:r>
          </a:p>
          <a:p>
            <a:r>
              <a:t>Hallucination: Jab AI poore confidence se galat baat bol de, jaise gadha hua number ya aisa circular jo exist hi nahi karta.</a:t>
            </a:r>
          </a:p>
          <a:p>
            <a:r>
              <a:t>Knowledge cutoff: Woh date jahan AI ka training text khatam hota hai. Uske baad ke results, rules ya prices use shayad pata na hon.</a:t>
            </a:r>
          </a:p>
          <a:p>
            <a:r>
              <a:t>Fact / Guess / Kachra: Course ke teen dabbe. Fact: jo ho chuka hai, official source mein check ho sake aur match kare. Guess: forecast ya opinion, chahe filing mein hi kyun na chhapa ho. Kachra: hype, vada, bina source ke 'sach' bataya gaya claim, ya check karne par galat nikla claim.</a:t>
            </a:r>
          </a:p>
          <a:p>
            <a:r>
              <a:t>Automation bias: Machine ke jawab par apni checking se zyada bharosa kar lena, sirf isliye ki machine ne diya hai.</a:t>
            </a:r>
          </a:p>
          <a:p>
            <a:r>
              <a:t>Data hygiene: PAN, Aadhaar, OTP, passwords, client ID aur API keys ko har AI tool aur chat se door rakhna.</a:t>
            </a:r>
          </a:p>
          <a:p>
            <a:r>
              <a:t>Deepfake: AI se bana video, photo ya awaaz jo kisi asli insaan ki nakal kare. Scammers mashhoor chehron se logon ko 'investment groups' mein kheenchte hain; aisa har invite check karne tak Kachra hi maaniye.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 analyst, aap = trigger</a:t>
            </a:r>
          </a:p>
          <a:p>
            <a:r>
              <a:t>Rule: AI draft kare, faisla aap; Prompt: context, task, format, guardrails; Order tak koi arrow nahi</a:t>
            </a:r>
          </a:p>
          <a:p>
            <a:r>
              <a:t>Teen dabbe: Fact = ho chuka, check ho sake; Guess = forecast ya raay; Kachra = hype, vada ya galat</a:t>
            </a:r>
          </a:p>
          <a:p>
            <a:r>
              <a:t>AI ki galtiyan: Hallucination = confident aur galat; Cutoff = purani jaankari; Source paste karein, 'missing' maangein</a:t>
            </a:r>
          </a:p>
          <a:p>
            <a:r>
              <a:t>Aapka mann: Automation bias; Saaf-suthra matlab checked nahi; 3 gates: source, 30 sec, nuksaan</a:t>
            </a:r>
          </a:p>
          <a:p>
            <a:r>
              <a:t>Privacy: PAN, OTP, password nahi; API keys nahi; Public text haan, pehchaan nahi; Temporary chat theek; PAN phir bhi nahi</a:t>
            </a:r>
          </a:p>
          <a:p>
            <a:r>
              <a:t>Tipster nahi: AI calls kabhi forward nahi; Accuracy ka vada = Kachra; Deepfake invite = check tak Kachra; Day 7: poora scam audit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ke saath ek asli results press release ko Fact, Guess aur Kachra mein chhaantiye, uske numbers khud check karke 3-gate log mein likhiye, ek hallucination trap lagaiye, aur apna pehla 4-hisson wala prompt likhiye.</a:t>
            </a:r>
          </a:p>
          <a:p/>
          <a:p>
            <a:r>
              <a:t>1. nseindia.com par Corporate Announcements kholiye (na mile toh site ke search box mein type kijiye; bseindia.com bhi chalega). Wahan sabhi companies ki latest filings dikhti hain; jiska subject 'Press Release' ya 'Financial Results' ho, us par tap kijiye aur text copy kar lijiye. PDF se text copy na ho (kuch PDF scanned image hoti hain), toh doosri chuniye ya PDF hi upload kar dijiye: yeh public document hai, ismein kisi ki personal details nahi hoti.</a:t>
            </a:r>
          </a:p>
          <a:p>
            <a:r>
              <a:t>2. Use kisi bhi AI chat mein AI Lab ke 'Fact, Guess ya Kachra sorter' prompt ke saath paste kijiye, aur jo teen lists aayein, unhe padhiye.</a:t>
            </a:r>
          </a:p>
          <a:p>
            <a:r>
              <a:t>3. AI ne jin numbers ko Fact kaha, unmein se do chuniye, dono ko original release mein dhoondhiye, aur dono ko 'Aapka template' ke 3-gate check log mein likhiye, saath mein yeh bhi ki match hue ya nahi.</a:t>
            </a:r>
          </a:p>
          <a:p>
            <a:r>
              <a:t>4. Release mein is saal aur pichhle saal ka profit ho, toh phone calculator par growth nikaaliye: (naya - purana) ÷ purana x 100. Kya yeh AI ke bataye % se match karta hai?</a:t>
            </a:r>
          </a:p>
          <a:p>
            <a:r>
              <a:t>5. 'Hallucination trap' prompt chalaiye; usmein jo circular hai, woh exist hi nahi karta. Journal mein likhiye ki AI ne uske liye rules gadh diye ya nahi.</a:t>
            </a:r>
          </a:p>
          <a:p>
            <a:r>
              <a:t>6. Safe prompt card ke 'Aapka version' column mein, release ke baare mein apne kisi ek bache hue sawaal ke liye apna 4-hisson wala prompt likhiye, phir tick kijiye ki usmein context, task, format aur guardrails chaaron hain.</a:t>
            </a:r>
          </a:p>
          <a:p/>
          <a:p>
            <a:r>
              <a:t>Aaj ke baad: Aaj ke baad aap ek safe 4-hisson wala prompt likh payenge, AI chat ko apna analyst bana kar use kar payenge aur faisla khud lenge, kisi bhi claim ko Fact, Guess ya Kachra mein baant payenge, source check karke hallucination pakad payenge, apna personal data AI tools se door rakhenge, aur samjha payenge ki AI ki 'call' forward karna aapko tipster kyun bana deta hai.</a:t>
            </a:r>
          </a:p>
          <a:p/>
          <a:p>
            <a:r>
              <a:t>Tools: Koi bhi AI chat (ChatGPT, Claude ya Gemini); NSE ya BSE website (nseindia.com, bseindia.com); Phone ka calculator; Paper card ya phone notes</a:t>
            </a:r>
          </a:p>
          <a:p/>
          <a:p>
            <a:r>
              <a:t>Educational content only, not investment advice. Company names, the Telegram group and the SEBI circular number in this lesson are made up for training. AI output is analysis for learning, never a buy or sell call. No affiliation with any AI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ke saath ek asli results press release ko Fact, Guess aur Kachra mein chhaantiye, uske numbers khud check karke 3-gate log mein likhiye, ek hallucination trap lagaiye, aur apna pehla 4-hisson wala prompt likhiye.</a:t>
            </a:r>
          </a:p>
          <a:p/>
          <a:p>
            <a:r>
              <a:t>1. nseindia.com par Corporate Announcements kholiye (na mile toh site ke search box mein type kijiye; bseindia.com bhi chalega). Wahan sabhi companies ki latest filings dikhti hain; jiska subject 'Press Release' ya 'Financial Results' ho, us par tap kijiye aur text copy kar lijiye. PDF se text copy na ho (kuch PDF scanned image hoti hain), toh doosri chuniye ya PDF hi upload kar dijiye: yeh public document hai, ismein kisi ki personal details nahi hoti.</a:t>
            </a:r>
          </a:p>
          <a:p>
            <a:r>
              <a:t>2. Use kisi bhi AI chat mein AI Lab ke 'Fact, Guess ya Kachra sorter' prompt ke saath paste kijiye, aur jo teen lists aayein, unhe padhiye.</a:t>
            </a:r>
          </a:p>
          <a:p>
            <a:r>
              <a:t>3. AI ne jin numbers ko Fact kaha, unmein se do chuniye, dono ko original release mein dhoondhiye, aur dono ko 'Aapka template' ke 3-gate check log mein likhiye, saath mein yeh bhi ki match hue ya nahi.</a:t>
            </a:r>
          </a:p>
          <a:p>
            <a:r>
              <a:t>4. Release mein is saal aur pichhle saal ka profit ho, toh phone calculator par growth nikaaliye: (naya - purana) ÷ purana x 100. Kya yeh AI ke bataye % se match karta hai?</a:t>
            </a:r>
          </a:p>
          <a:p>
            <a:r>
              <a:t>5. 'Hallucination trap' prompt chalaiye; usmein jo circular hai, woh exist hi nahi karta. Journal mein likhiye ki AI ne uske liye rules gadh diye ya nahi.</a:t>
            </a:r>
          </a:p>
          <a:p>
            <a:r>
              <a:t>6. Safe prompt card ke 'Aapka version' column mein, release ke baare mein apne kisi ek bache hue sawaal ke liye apna 4-hisson wala prompt likhiye, phir tick kijiye ki usmein context, task, format aur guardrails chaaron hain.</a:t>
            </a:r>
          </a:p>
          <a:p/>
          <a:p>
            <a:r>
              <a:t>Aaj ke baad: Aaj ke baad aap ek safe 4-hisson wala prompt likh payenge, AI chat ko apna analyst bana kar use kar payenge aur faisla khud lenge, kisi bhi claim ko Fact, Guess ya Kachra mein baant payenge, source check karke hallucination pakad payenge, apna personal data AI tools se door rakhenge, aur samjha payenge ki AI ki 'call' forward karna aapko tipster kyun bana deta hai.</a:t>
            </a:r>
          </a:p>
          <a:p/>
          <a:p>
            <a:r>
              <a:t>Tools: Koi bhi AI chat (ChatGPT, Claude ya Gemini); NSE ya BSE website (nseindia.com, bseindia.com); Phone ka calculator; Paper card ya phone notes</a:t>
            </a:r>
          </a:p>
          <a:p/>
          <a:p>
            <a:r>
              <a:t>Educational content only, not investment advice. Company names, the Telegram group and the SEBI circular number in this lesson are made up for training. AI output is analysis for learning, never a buy or sell call. No affiliation with any AI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 prompt card: 4 hisse</a:t>
            </a:r>
          </a:p>
          <a:p/>
          <a:p>
            <a:r>
              <a:t>Is course ke har prompt mein chaaron hisse rakhiye. Guardrails kabhi optional nahi.</a:t>
            </a:r>
          </a:p>
          <a:p/>
          <a:p>
            <a:r>
              <a:t>Hissa | Kya karta hai | Priya ka prompt | Aapka version</a:t>
            </a:r>
          </a:p>
          <a:p>
            <a:r>
              <a:t>Context | AI ko aapka source deta hai, taaki use guess na karna pade | Poori results press release, paste ki hui | </a:t>
            </a:r>
          </a:p>
          <a:p>
            <a:r>
              <a:t>Task | Ek saaf kaam, ek limit ke saath | Zyada se zyada 3 facts aur 2 forecasts | </a:t>
            </a:r>
          </a:p>
          <a:p>
            <a:r>
              <a:t>Format | Jawab kaisa dikhe, taaki aap jaldi check kar sakein | Har sentence ka quote; Guess ka label; 'missing' likho | </a:t>
            </a:r>
          </a:p>
          <a:p>
            <a:r>
              <a:t>Guardrails | AI ko kya nahi karna hai | Sirf yahi text; koi buy ya sell view nahi | </a:t>
            </a:r>
          </a:p>
          <a:p/>
          <a:p>
            <a:r>
              <a:t>Context mein apna PAN, OTP, password ya client ID kabhi mat daaliye.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3-gate check log</a:t>
            </a:r>
          </a:p>
          <a:p/>
          <a:p>
            <a:r>
              <a:t>Har AI number notes mein jaane se pehle yahan log kijiye. Pehli chaar rows aaj ke lesson se hain, pehle se chhaanti hui.</a:t>
            </a:r>
          </a:p>
          <a:p/>
          <a:p>
            <a:r>
              <a:t>Claim | 1. Source? | 2. Source se match? | 3. Galat hua toh nuksaan | Dabba</a:t>
            </a:r>
          </a:p>
          <a:p>
            <a:r>
              <a:t>AI: Bharat Pumps profit 40% upar | Koi nahi diya | Nahi: release mein Rs 26 cr vs Rs 25 cr, yaani 4% | Zyada, agar iske bharose trade ho | Kachra</a:t>
            </a:r>
          </a:p>
          <a:p>
            <a:r>
              <a:t>Kiran Foods revenue Rs 420 cr vs Rs 380 cr | NSE par results filing | Haan: match; growth 10.5% | Kam: sirf ek note hai | Fact</a:t>
            </a:r>
          </a:p>
          <a:p>
            <a:r>
              <a:t>'Festive demand achhi rehne ki umeed' | Wahi filing | Kaha zaroor; aaj check nahi ho sakta | Medium, agar iske bharose daav lagayein | Guess</a:t>
            </a:r>
          </a:p>
          <a:p>
            <a:r>
              <a:t>'AI bot, 95% accurate' | Telegram ad | Losses ka record nahi, SEBI number nahi | Rs 4,999 mahina, phir aapke trades | Kachra</a:t>
            </a:r>
          </a:p>
          <a:p>
            <a:r>
              <a:t>+ 4 ___</a:t>
            </a:r>
          </a:p>
          <a:p/>
          <a:p>
            <a:r>
              <a:t>Source nahi, ya abhi check nahi hua? Toh woh aapke faislon se bahar.</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sach, ek jhooth': ek insaan ek made-up company ka chhota sa results note likhe (is saal ka profit, pichhle saal ka profit, revenue), phir us par teen baatein, jinmein ek jhoothi ho. Doosra sirf note aur calculator se jhoothi baat pakde, aur woh hisaab dikhaye jisse woh jhoothi saabit hoti hai. Sample round: Anand Snacks Ltd ka profit is saal Rs 18 crore, pichhle saal Rs 15 crore, aur revenue Rs 240 crore. (a) Profit 20% badha. (b) Profit revenue ka 7.5% hai. (c) Profit 16.7% badha. Jhooth (c) hai: usne Rs 3 crore ki badhat ko pichhle saal ke Rs 15 crore ki jagah is saal ke Rs 18 crore se bhaag de diya. Akele hain toh AI se note aur teen baatein likhwaiye aur uske khilaaf kheliye.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Fact, Guess ya Kachra sorter</a:t>
            </a:r>
          </a:p>
          <a:p>
            <a:r>
              <a:t>You are my research assistant; I make every decision myself. Below I will paste the full text of one company's results press release. Using ONLY that text, give me three lists. Facts: up to 5 statements that can be checked in the text, each followed by the exact sentence it comes from. Guesses: up to 3 forecasts, opinions or management expectations, each labelled Guess. Kachra: any hype, vague superlative, promise, or claim stated as certain that the text does not back up (Kachra is Hindi for rubbish), each labelled Kachra. Forecasts and management expectations go under Guesses, not Kachra. If something a reader might want is not in the text, write 'missing' instead of guessing, and do not use any outside knowledge. Do not give any buy, sell or hold view, and do not mention price targets or expected returns.</a:t>
            </a:r>
          </a:p>
          <a:p/>
          <a:p>
            <a:r>
              <a:t>Press release text:</a:t>
            </a:r>
          </a:p>
          <a:p>
            <a:r>
              <a:t>&lt;paste here&gt;</a:t>
            </a:r>
          </a:p>
          <a:p/>
          <a:p>
            <a:r>
              <a:t>Prompt 2: Hallucination trap (nakli circular)</a:t>
            </a:r>
          </a:p>
          <a:p>
            <a:r>
              <a:t>Summarise, in 5 bullet points, the main rules in SEBI circular SEBI/HO/AIX/P/CIR/2026/999 titled 'Colour standards for buttons in trading apps'. After the bullets, add a section called 'Honesty check' that answers: (1) Do you have a verifiable source showing that this circular exists? Answer yes or no plainly. (2) Label each bullet Fact, Guess or Kachra (Kachra means hype, a promise, or a claim stated as certain with no source). (3) What is your knowledge cutoff date, and can you search the web right now? (4) Which official website should I use to check SEBI circulars? Do not give any buy or sell advice, and do not mention targets or expected returns.</a:t>
            </a:r>
          </a:p>
          <a:p/>
          <a:p>
            <a:r>
              <a:t>Prompt 3: Chhupi galti pakdiye</a:t>
            </a:r>
          </a:p>
          <a:p>
            <a:r>
              <a:t>Act as a quiz master for an Indian beginner. Write 6 short statements that an AI might give about Indian market basics: NSE market hours, T+1 settlement, what a demat account holds, what an index such as NIFTY 50 is, price bands, and SEBI's role. Make exactly 2 of them subtly wrong but written in the same confident tone, and do not tell me which. Wait for my answer. Then reveal the 2 wrong statements, correct them in simple words, and name the official website (SEBI, NSE, BSE, NSDL or CDSL) where I can check each one. Do not mention any real company or stock, and do not give buy or sell advice, targets or return expectations. For price bands, do not state any percentage; say only that the exchange sets them per stock. After the reveal, remind me to confirm each correction on the named website myself, because your reveal can also be wrong.</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AI chat Aman ko batata hai ki Bharat Pumps Ltd ka quarterly profit pichhle saal ke isi quarter se 40% badha. Company ki release mein is quarter ka profit Rs 26 crore hai, pichhle saal isi quarter mein Rs 25 crore tha. Asal mein kya ho raha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results release kehti hai: 'Management ko festive season mein achhi demand ki umeed hai.' Aaj ke teen dabbon ke hisaab se, is line mein jo daava hai use kis dabbe mein rakhenge?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ke chacha chahte hain ki AI chat unke contract note ke charges samjhaye. PDF mein unka naam, PAN, client code aur address hai. Madad lene ka sabse safe tareeka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ko ek AI jawab milta hai: saaf table, do decimal tak ke numbers, aur koi source nahi. Woh sochta hai, 'Machine number thodi gadhegi,' aur check karna chhod deta hai. Woh kis jaal mein phans gaya?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Ltd par AI ka jawab bilkul call jaisa hai, entry price aur target ke saath. Aman ka office WhatsApp group baar-baar poochh raha hai ki kya khareedein. Use kya karna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Is hafte aapne kahan kisi confident jawab par bina check kiye bharosa kar liya — AI, dost, news anchor ya kisi video se? 3 gates mein se kaunsa gate use pakad leta?</a:t>
            </a:r>
          </a:p>
          <a:p/>
          <a:p>
            <a:r>
              <a:t>Aaj ek confident machine ki galti ek simple division ne pakad li. Check karne ki yeh chhoti si aadat har tool se zyada der tak aapke saath rahegi.</a:t>
            </a:r>
          </a:p>
          <a:p/>
          <a:p>
            <a:r>
              <a:t>Agla: Day 5 · Chart padhna: candles, timeframes aur volume</a:t>
            </a:r>
          </a:p>
          <a:p/>
          <a:p>
            <a:r>
              <a:t>Educational content only, not investment advice. Company names, the Telegram group and the SEBI circular number in this lesson are made up for training. AI output is analysis for learning, never a buy or sell call. No affiliation with any AI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5: Chart padhna: candles, timeframes aur volume</a:t>
            </a:r>
          </a:p>
          <a:p/>
          <a:p>
            <a:r>
              <a:t>Concept: Charts, timeframes, candles aur volume</a:t>
            </a:r>
          </a:p>
          <a:p>
            <a:r>
              <a:t>AI Lab: Chart screenshot cross-check: AI describe kare, aap verify karein</a:t>
            </a:r>
          </a:p>
          <a:p>
            <a:r>
              <a:t>Mindset: Har jagah pattern dikhna</a:t>
            </a:r>
          </a:p>
          <a:p/>
          <a:p>
            <a:r>
              <a:t>Aaj ke baad: Aaj ke baad aap free chart set up kar payenge, line, bar aur candle chart ka farq bata payenge, kisi bhi candle ka open, high, low aur close padh payenge, chahe woh hari ho ya laal, soch-samajh kar timeframe chun payenge, kisi din ke volume ko uske average se mila payenge, crash jaisa dikhne wala split pehchaan payenge, aur AI ki chart reading par aankh band karke bharosa karne ki jagah use check kar payenge.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Paanch hari candles</a:t>
            </a:r>
          </a:p>
          <a:p/>
          <a:p>
            <a:r>
              <a:t>(Thursday, raat 10:30 baje. Aman study group mein ek chart ka screenshot daalta hai aur mentor ko tag karta hai.)</a:t>
            </a:r>
          </a:p>
          <a:p>
            <a:r>
              <a:t>Aman: Sir, Kiran Foods dekhiye. Lagataar paanch hari candles, har ek pichhli se upar. Kuch bada shuru ho raha hai na? Kal subah sabse pehle ghusne ka mann hai.</a:t>
            </a:r>
          </a:p>
          <a:p>
            <a:r>
              <a:t>Mentor: 'Bada' ki baat se pehle do cheezein bataiye. Yeh chart kis timeframe ka hai? Aur un candles ke neeche volume bars kaise dikh rahe hain?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Paanch hari candles</a:t>
            </a:r>
          </a:p>
          <a:p/>
          <a:p>
            <a:r>
              <a:t>Aman: Timeframe... jo app ne khola, wahi. Ek minute, corner mein 5m likha hai. Matlab yeh paanch candles sirf 25 minute ki hain?</a:t>
            </a:r>
          </a:p>
          <a:p>
            <a:r>
              <a:t>Priya: Aur sir, unke neeche volume bars bahut chhote hain, din ke zyadatar bars se bhi chhote. Us waqt bahut kam shares ka len-den ho raha tha.</a:t>
            </a:r>
          </a:p>
          <a:p>
            <a:r>
              <a:t>Mentor: Toh yeh kam volume par 25 minute ki ek chhoti si hilchal hai. Din bhar sikka uchhaaliye, toh lagataar paanch heads bhi aksar aa jaate hain. Aaj hum seekhenge ki chart asal mein kya dikha raha hai. Matlab uske baad nikalenge.</a:t>
            </a:r>
          </a:p>
          <a:p/>
          <a:p>
            <a:r>
              <a:t>Seekh: Chart ka matlab poochhne se pehle dekhiye ki woh dikha kya raha hai: timeframe, candles aur volume.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Aapka free chart, aur price dikhane ke teen tareeke</a:t>
            </a:r>
          </a:p>
          <a:p/>
          <a:p>
            <a:r>
              <a:t>Price chart ek tasveer hai jo dikhati hai ki waqt ke saath share kis price par bika: price ka scale right side par hota hai, aur time ka neeche. Chart dekhne ke liye broker account ki zaroorat nahi: phone ke browser mein tradingview.com ya uska free app kholiye, 'NIFTY' search kijiye aur NSE ka NIFTY 50 index chuniye. Shuruaat ke liye yahi free chart kaafi hai, aur timeframe ka button (1D, 1W, 15m) upar hi milta hai. Ek hi prices ko teen tarah se dikhaya ja sakta hai. Line chart har period ke closing price ko ek line se jod deta hai: saaf dikhta hai, lekin beech mein jo hua woh sab chhup jaata hai. Bar chart har period ko low se high tak ek khadi line ki tarah banata hai, jismein left ki taraf ek chhota tick open ka hota hai aur right ki taraf close ka. Candlestick chart wahi chaar prices dikhata hai, bas open aur close ke beech ek rangeen body ke saath; ise padhna sabse aasaan hai, isliye aaj se hum yahi use karenge. Kai saalon ka chart dekhna ho toh log scale on kar lijiye (TradingView mein price scale ki settings mein Log dhoondhiye), taaki Rs 100 se Rs 200 aur Rs 1,000 se Rs 2,000 ki chadhai ek jaisi dikhe: dono +100% hain.</a:t>
            </a:r>
          </a:p>
          <a:p/>
          <a:p>
            <a:r>
              <a:t>Udaharan: Aman ke screenshot wala stock, Kiran Foods Ltd, lijiye aur uske 10 daily sessions dekhiye (prices banaye hue hain). 8vein din yeh Rs 298 par close hua, pichhle din se sirf Rs 2 neeche, isliye line chart ek chhoti si, shaant girawat dikhata hai. Usi din ki candle kahin zyada batati hai: share Rs 301 par khula, 11 baje tak Rs 310 tak chadh gaya, lunch ke baad Rs 293 tak gir gaya, aur Rs 298 par band hua. Bar chart usi din ko Rs 293 se Rs 310 tak ek khadi line ki tarah banata, jismein left mein Rs 301 (open) par ek tick hota aur right mein Rs 298 (close) par. Jisne Rs 310 par khareeda, woh har share par Rs 12 ke loss mein baitha hai, jabki line bilkul shaant dikhti hai.</a:t>
            </a:r>
          </a:p>
          <a:p/>
          <a:p>
            <a:r>
              <a:t>Yaad rakhiye: Jaldi nazar ke liye line, asli padhai ke liye candles. Koi bhi free chart chalega; broker account ki zaroorat nahi.</a:t>
            </a:r>
          </a:p>
          <a:p/>
          <a:p>
            <a:r>
              <a:t>Slide par: Line chart: Kiran Foods, 10 din · Sirf 10 closes, ek line se jude hue (prices banaye hue hain). 8vein din ka Rs 310 tak chadhna aur Rs 293 tak girna yahan dikhta hi nahi. Yahi 10 din neeche Volume wale topic mein candles aur volume ke saath bane hain. Bar chart har din ko low se high tak ek line ki tarah dikhata, left mein open ka tick aur right mein close ka.</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candle, chaar prices</a:t>
            </a:r>
          </a:p>
          <a:p/>
          <a:p>
            <a:r>
              <a:t>Har candle apne period ke chaar prices record karti hai, jinhe OHLC kehte hain: open (pehla trade), high (sabse ooncha trade), low (sabse neecha trade) aur close (aakhri trade). NSE ki daily candle mein ek baat alag hai. Din ka open aam taur par 9:00-9:15 ke pre-open session mein tay hota hai. Official close exchange tay karta hai: 3 August 2026 se, jin shares ke F&amp;O contracts hain, unki continuous trading 3:15 baje ruk jaati hai, aur lagbhag 3:35 tak chalne wala closing auction ek closing price tay karta hai; baaki shares 3:30 tak trade hote hain, aur unka close lagbhag aakhri 30 minute ka volume-weighted average price hota hai (latest NSE par check kar lijiye). Isliye daily candle ka open aur close, pehli aur aakhri 5-minute candle se thoda alag ho sakta hai. Moti wali body open se close tak jaati hai, aur uske upar-neeche ki patli lines, jinhe wick ya shadow kehte hain, upar high tak aur neeche low tak pahunchti hain. Hari candle apne open se upar close hui, isliye uski body neeche open se upar close tak chadhti hai. Laal candle apne open se neeche close hui, isliye woh ulti hai: body ka upar wala sira open hai aur neeche wala close. Rang ke liye close ko usi candle ke open se milaya jaata hai, kal ke close se nahi, isliye hari candle wala din bhi girawat ka din ho sakta hai, aur laal candle wala din badhat ka.</a:t>
            </a:r>
          </a:p>
          <a:p/>
          <a:p>
            <a:r>
              <a:t>Udaharan: Bharat Pumps Ltd kal Rs 500 par band hua. Aaj ek kamzor khabar ke baad woh Rs 480 par khulta hai, Rs 474 tak gir jaata hai, phir sambhal kar Rs 494 ka high banata hai aur Rs 490 par band hota hai. Candle hari hai, kyunki Rs 490 aaj ke open Rs 480 se upar hai. Phir bhi aapka app share ko Rs 10 yaani 2% neeche dikhata hai, kyunki woh kal ke Rs 500 se milata hai. Ab iska ulta case: Anand Snacks Ltd kal Rs 200 par band hua, aaj achhi khabar par Rs 212 par khulta hai, Rs 216 chhoota hai, Rs 202 tak phisalta hai aur Rs 205 par band hota hai. Yeh candle laal hai, kyunki Rs 205 uske Rs 212 wale open se neeche hai, phir bhi share aaj Rs 5 upar hai. Dono reading sach hain; bas dono alag-alag sawaal ka jawab hain. Ek aur baat: kuch apps hari-laal ki jagah khokhli aur bhari body dikhate hain, isliye check kar lijiye ki aapke app ke rang ka matlab kya hai.</a:t>
            </a:r>
          </a:p>
          <a:p/>
          <a:p>
            <a:r>
              <a:t>Yaad rakhiye: Hara ya laal: close ko apne open se milaiye. Din mein up ya down: kal ke close se. Laal candle mein open upar hota hai.</a:t>
            </a:r>
          </a:p>
          <a:p/>
          <a:p>
            <a:r>
              <a:t>Slide par: Ek candle ke andar · Hari, kyunki close (Rs 490) open (Rs 480) se upar hai, bhale hi share kal ke Rs 500 se neeche ho. Laal candle ulti banti hai: aaj ke kaam mein 'Aapka template' ke neeche label wala laal model dekhiye.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Timeframe: chart ka zoom button</a:t>
            </a:r>
          </a:p>
          <a:p/>
          <a:p>
            <a:r>
              <a:t>Timeframe ka matlab hai ek candle kitne waqt ki hai: daily chart par ek candle ek trading session hai, aur 15-minute chart par ek normal session mein 25 candles ban jaati hain. Badi candle bas chhoti candles ko jod kar banti hai: pehla open, sabse ooncha high, sabse neecha low aur aakhri close. Timeframe badalna Google Maps par zoom karne jaisa hai: weekly poora desh hai, daily aapka shehar, aur 15-minute aapki gali. Higher timeframe big picture dikhata hai; lower timeframe detail dikhata hai, aur saath mein bahut saara noise, yaani chhote-mote random moves. Direction higher timeframe par padhiye aur timing lower par, ulta kabhi nahi. Swing trader, jo trade dinon ya hafton tak rakhta hai, weekly aur daily chart dekhta hai; intraday trader, jo usi din exit kar leta hai, daily aur 15-minute chart dekhta hai.</a:t>
            </a:r>
          </a:p>
          <a:p/>
          <a:p>
            <a:r>
              <a:t>Udaharan: Priya ki aadat hai: 15-minute chart kholne se pehle woh daily chart se ek line likh leti hai, jaise 'Daily: NIFTY 50 is mahine zyadatar upar gaya hai.' Phir maan lijiye aaj aakhri ghante mein NIFTY 50 gir kar 24,300 se 24,180 par aa jaata hai: 15-minute ki laal candles mein 120 points, jo paas se kaafi darawni lagti hain. Yeh girawat sirf lagbhag 0.49% hai (120 ÷ 24,300 x 100); daily chart par yeh ek hi candle ka chhota sa hissa hai, badi tasveer mein ek chhoti si hilchal. Woh ek line use hilchal ko nayi kahani samajhne se bacha leti hai.</a:t>
            </a:r>
          </a:p>
          <a:p/>
          <a:p>
            <a:r>
              <a:t>Yaad rakhiye: Plan badi candle par, timing chhoti par.</a:t>
            </a:r>
          </a:p>
          <a:p/>
          <a:p>
            <a:r>
              <a:t>Slide par: Ek-ek step karke zoom in · 9:15 se 3:30 ka normal session 375 minute ka hota hai: 375 ÷ 15 = 25 candles, 375 ÷ 5 = 75. 3 Aug 2026 se, jin shares ke F&amp;O contracts hain, unki continuous trading sirf 3:15 tak hoti hai aur phir closing auction unka close tay karta hai, isliye unki din ki aakhri candles alag dikh sakti hain. Latest NSE par check kijiye.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Volume: kitne shares ka len-den hua</a:t>
            </a:r>
          </a:p>
          <a:p/>
          <a:p>
            <a:r>
              <a:t>Volume ka matlab hai ek candle ke period mein kitne shares trade hue, aur chart par yeh price ke neeche bars ki shakal mein dikhta hai. Har khareede gaye share ko kisi ne becha bhi hai, isliye har share ek hi baar gina jaata hai; volume ki koi side nahi hoti. Kai apps volume bar ko bas candle ka rang de dete hain, kuch pichhle close se milakar rangte hain, aur dono haalat mein hara bar price ki baat hai, is baat ka saboot nahi ki buyers sellers se zyada the. Volume zyada hai ya kam, yeh jaanne ke liye use average volume se milaiye, aam taur par pichhle 20 sessions ke average se; aaj ke volume ko us average se divide kijiye, toh jo number aata hai use relative volume kehte hain. Volume shares ginta hai, log nahi: akela ek bada fund bhi ooncha bar bana sakta hai. Kam volume wale shares mein bid-ask spread bhi aksar chauda hota hai, jaisa aapne Day 2 mein dekha.</a:t>
            </a:r>
          </a:p>
          <a:p/>
          <a:p>
            <a:r>
              <a:t>Udaharan: Kiran Foods Ltd mein ek normal din lagbhag 2,00,000 shares trade hote hain; yahi uska 20-day average volume hai. Aaj share Rs 300 se Rs 318 par pahunch jaata hai (+6%), aur 6,40,000 shares ka len-den hota hai. Relative volume = 6,40,000 ÷ 2,00,000 = 3.2 guna. Matlab is move mein aam din se kahin zyada shares ka len-den hua. Trade ke liye iska kya matlab hai, yeh is baat par depend karta hai ki move chart par kahan hua, aur yahi Day 6 ka lesson hai.</a:t>
            </a:r>
          </a:p>
          <a:p/>
          <a:p>
            <a:r>
              <a:t>Yaad rakhiye: Volume ki koi side nahi hoti. Use bada ya chhota tabhi kahiye jab average se mila lein.</a:t>
            </a:r>
          </a:p>
          <a:p/>
          <a:p>
            <a:r>
              <a:t>Slide par: Wahi 10 din, candles mein · Pehle topic ke line chart wale Kiran Foods ke wahi din, ab candles mein, neeche volume bars ke saath (numbers banaye hue hain). 8vein din ki Rs 310 tak ki wick line par dikhi hi nahi thi. Aakhri din 6,40,000 shares trade hue, jabki 20-day average 2,00,000 hai.</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Adjusted prices: woh crash jo hua hi nahi</a:t>
            </a:r>
          </a:p>
          <a:p/>
          <a:p>
            <a:r>
              <a:t>Kabhi-kabhi share ka price raaton-raat badal jaata hai, aur kisi ka ek rupaya bhi nahi doobta. Stock split mein har share do ya zyada shares ban jaata hai, isliye price usi hisaab se gir jaata hai; bonus issue mein shareholders ko free mein extra shares milte hain, aur price bhi usi tarah adjust ho jaata hai. Aapki holding ki value wahi rehti hai, lekin raw, yaani bina adjust kiye, price chart par achanak ek khaai dikhti hai. Isiliye zyadatar charting sites adjusted prices dikhati hain: woh saare purane prices ko rescale kar deti hain taaki purane aur naye prices ek hi paimaane par dikhein, aur kuch sites dividend ke liye bhi adjust kar sakti hain. Company ke aise faislon ko corporate actions kehte hain, aur NSE ki website wahan listed har company ke corporate actions ki list deti hai. Chart par koi achanak crash ya jump dikhe, toh bharosa karne se pehle yeh list check kijiye; corporate actions ko detail mein Day 15 mein padhenge.</a:t>
            </a:r>
          </a:p>
          <a:p/>
          <a:p>
            <a:r>
              <a:t>Udaharan: Gupta Cement Ltd Thursday ko Rs 1,200 par band hota hai. Friday ko split laagu ho jaata hai, har share do ban jaata hai, aur share lagbhag Rs 600 par trade hota hai. Aman ke Rs 12,000 ke 10 shares ab Rs 600 ke 20 shares hain: kul value phir bhi Rs 12,000. Raw chart ek din mein 50% ki girawat dikhata hai. Adjusted chart split se pehle ke har price ko 2 se divide kar deta hai, isliye Thursday Rs 600 dikhata hai aur line bina toote aage badhti hai. Free price downloads, aur unhe padhne wale AI tools, raw prices use kar sakte hain, isliye kisi bhi 'crash' par bharosa karne se pehle check kar lijiye. Ek practical baat: extra shares aam taur par ek-do working din baad demat mein aate hain, isliye thodi der ke liye aapka app purani quantity nayi, kam price par dikha sakta hai. Yeh gap bhi loss nahi hai.</a:t>
            </a:r>
          </a:p>
          <a:p/>
          <a:p>
            <a:r>
              <a:t>Yaad rakhiye: Chart par achanak khaai split ya bonus bhi ho sakti hai, crash nahi. React karne se pehle corporate actions check kijiye.</a:t>
            </a:r>
          </a:p>
          <a:p/>
          <a:p>
            <a:r>
              <a:t>Slide par: Split price badalta hai, aapka paisa nahi · Raw chart ise 50% ki girawat dikhata hai. Adjusted chart purane prices ko 2 se divide karta hai, isliye koi khaai nahi dikhti.</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 jagah pattern dikhna</a:t>
            </a:r>
          </a:p>
          <a:p/>
          <a:p>
            <a:r>
              <a:t>Humara dimaag pattern dhoondhne ke liye hi bana hai: hum baadalon mein chehre dekh lete hain, aur chaand par charkha kaatti budhiya. Chart par yahi aadat pattern illusion ban jaati hai, yaani un moves mein matlab dhoondh lena jo zyadatar ittefaq se hote hain. Sikka uchhaal kar uske nateeje chart par bana dijiye, toh usmein bhi rally (tez chadhai), girawat aur lagataar ek jaise moves ban jaate hain, kaafi had tak asli share chart jaise. AI mein bhi yahi aadat hai: chart ka screenshot dikhaiye, toh AI numbers galat padh sakta hai, ya aisa pattern bata sakta hai jo wahan hai hi nahi. Isliye har chart ek fixed order mein padhiye, pehle timeframe, phir candles, phir volume, aur jis cheez par aap chart par ungli na rakh sakein, use Guess maaniye, Fact nahi. AI ko screenshot dene se pehle dhyaan rakhiye ki price axis aur dates dikh rahi hon, aur apna naam, client ID, balance aur holdings crop kar dijiye.</a:t>
            </a:r>
          </a:p>
          <a:p/>
          <a:p>
            <a:r>
              <a:t>Udaharan: Paanch baar sikka uchhaalein aur paanchon baar heads aaye, aisa kam hota hai: lagbhag 32 mein ek baar. Lekin ek normal din mein 5-minute ki 75 candles hoti hain. Agar har candle ek sikke ki uchhaal hoti, tab bhi lagbhag 10 mein se 7 dinon mein kahin na kahin lagataar paanch ya zyada hari candles dikh jaatin. Toh Aman ki 5-minute chart wali paanch hari candles akele kuch saabit nahi karti. Candles se bhari screen par aisi streak sirf ittefaq se bhi ban jaati hai.</a:t>
            </a:r>
          </a:p>
          <a:p/>
          <a:p>
            <a:r>
              <a:t>Yaad rakhiye: Jis cheez par chart par ungli na rakh sakein, woh Guess hai. Pehle timeframe, candles aur volume; kahani sabse baad mein.</a:t>
            </a:r>
          </a:p>
          <a:p/>
          <a:p>
            <a:r>
              <a:t>Slide par: 30 baar sikka, chart ki shakal mein · 30 tosses ka ek banaya hua example, jismein streak saaf dikhe: Rs 100 se shuru, heads par Rs 5 jodiye, tails par Rs 5 ghataiye. Aapke apne tosses alag dikhenge, par unmein bhi streaks aur chadhai-utaar dikhenge.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OHLC: Open, high, low aur close: woh chaar prices jo har candle ya bar apne period ke liye record karti hai. NSE ki daily candle mein open aur close exchange ke official prices hote hain.</a:t>
            </a:r>
          </a:p>
          <a:p>
            <a:r>
              <a:t>Line, bar aur candlestick chart: Ek hi prices ki teen tasveerein. Line sirf closes ko jodti hai. Bar low se high tak ek khadi line hai, jismein left tick open ka aur right tick close ka hota hai. Candle wahi chaar prices dikhati hai, open se close tak rangeen body ke saath.</a:t>
            </a:r>
          </a:p>
          <a:p>
            <a:r>
              <a:t>Body aur wick: Body open se close tak hoti hai; patli wicks high aur low tak jaati hain. Hari candle mein open body ka neeche wala sira hai; laal candle mein upar wala. Lambi wick batati hai ki price wahan tak gaya, par tika nahi.</a:t>
            </a:r>
          </a:p>
          <a:p>
            <a:r>
              <a:t>Closing auction: 3 Aug 2026 se, jin shares ke F&amp;O contracts hain: continuous trading 3:15 baje khatam hoti hai aur lagbhag 3:35 tak chalne wala ek chhota auction ek official closing price tay karta hai. Baaki shares ka close lagbhag aakhri 30 minute ka volume-weighted average hota hai. Latest NSE par check kijiye.</a:t>
            </a:r>
          </a:p>
          <a:p>
            <a:r>
              <a:t>Timeframe: Ek candle kitne waqt ki hai: 5 minute, 15 minute, ek session ya ek hafta.</a:t>
            </a:r>
          </a:p>
          <a:p>
            <a:r>
              <a:t>Volume aur relative volume: Volume yaani ek period mein kitne shares trade hue. Relative volume woh number hai jo aaj ke volume ko uske average se divide karke aata hai, aksar 20-day average se.</a:t>
            </a:r>
          </a:p>
          <a:p>
            <a:r>
              <a:t>Adjusted price: Aisi price series jismein purane prices split, bonus aur kabhi-kabhi dividend ke hisaab se rescale kiye gaye hon, taaki chart par nakli khaai na dikhe.</a:t>
            </a:r>
          </a:p>
          <a:p>
            <a:r>
              <a:t>Pattern illusion: Chart ke un moves mein matlab dekhna jo zyadatar ittefaq hote hain. Sikke ki uchhaal bhi asli lagne wale 'patterns' bana deti hai.</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padhna</a:t>
            </a:r>
          </a:p>
          <a:p>
            <a:r>
              <a:t>Chart types: Wahi prices, teen tasveerein; Line = sirf closes; Bar aur candle = OHLC; Lambe charts ke liye log scale</a:t>
            </a:r>
          </a:p>
          <a:p>
            <a:r>
              <a:t>Ek candle: Body = open se close; Wicks = high aur low; Rang = close vs apna open; Laal: open body ke upar</a:t>
            </a:r>
          </a:p>
          <a:p>
            <a:r>
              <a:t>Timeframes: 1 candle = 1 period; Daily = ek session; Plan badi candle par, timing chhoti par</a:t>
            </a:r>
          </a:p>
          <a:p>
            <a:r>
              <a:t>Volume: Trade hue shares, koi side nahi; 20-day average se milaiye</a:t>
            </a:r>
          </a:p>
          <a:p>
            <a:r>
              <a:t>Adjusted prices: Split ya bonus crash nahi; NSE par corporate actions check karein</a:t>
            </a:r>
          </a:p>
          <a:p>
            <a:r>
              <a:t>Aapka mann: Sikka bhi pattern bana deta hai; Ungli nahi rakh sakte? Toh Guess; AI se pehle personal details crop karein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free chart set up kijiye aur use order mein padhiye: chart type, ek candle (Candle reading card bhariye), teen timeframes, volume aur corporate actions, phir AI ki reading ko apni reading se milaiye.</a:t>
            </a:r>
          </a:p>
          <a:p/>
          <a:p>
            <a:r>
              <a:t>1. tradingview.com ya uske free app par 'NIFTY' search kijiye, NSE ka NIFTY 50 index kholiye, chart type ko line, bars aur candles mein badal kar dekhiye ki wahi din teen tarah kaise dikhte hain, aur candles par chhod dijiye.</a:t>
            </a:r>
          </a:p>
          <a:p>
            <a:r>
              <a:t>2. Daily (1D) chart par aakhri candle ka open, high, low aur close padhiye (TradingView inhe upar left mein O, H, L, C ki tarah dikhata hai; kisi aur candle ke liye us par tap karke hold kijiye), aur neeche diye Candle reading card ka 'Aapki candle' column notebook ya Google Sheets mein bhariye. Market khula ho toh yeh candle abhi ban rahi hai, isliye time bhi note kar lijiye.</a:t>
            </a:r>
          </a:p>
          <a:p>
            <a:r>
              <a:t>3. Pehle 1W aur phir 15m par switch kijiye, aur dono ke liye ek-ek line likhiye: yeh zoom level aapko kya dikha raha hai?</a:t>
            </a:r>
          </a:p>
          <a:p>
            <a:r>
              <a:t>4. NIFTY 50 list ki kisi bhi ek company ka daily chart kholiye (nseindia.com ya niftyindices.com par NIFTY 50 constituents search kijiye). Yeh sirf practice ke liye hai, koi pick nahi; index ka apna volume nahi hota. Volume bars na dikhein toh 'Volume' indicator add kar lijiye, phir note kijiye ki aakhri bar pichhle 20 mein se zyadatar se ooncha hai ya neecha.</a:t>
            </a:r>
          </a:p>
          <a:p>
            <a:r>
              <a:t>5. nseindia.com par usi company ko search kijiye, uska 'Corporate Actions' section kholiye, aur sabse haal ka split, bonus ya dividend, agar koi ho, note kar lijiye. Date range ka option ho toh ek saal ya zyada chuniye; NSE na khule toh bseindia.com try kijiye.</a:t>
            </a:r>
          </a:p>
          <a:p>
            <a:r>
              <a:t>6. Us daily chart ka screenshot lijiye, kuch bhi personal ho toh crop kar dijiye, AI Lab ka 'Chart screenshot cross-check' prompt chalaiye, aur AI ke har claim ke aage tick, cross ya 'verify nahi ho saka' likhiye.</a:t>
            </a:r>
          </a:p>
          <a:p/>
          <a:p>
            <a:r>
              <a:t>Aaj ke baad: Aaj ke baad aap free chart set up kar payenge, line, bar aur candle chart ka farq bata payenge, kisi bhi candle ka open, high, low aur close padh payenge, chahe woh hari ho ya laal, soch-samajh kar timeframe chun payenge, kisi din ke volume ko uske average se mila payenge, crash jaisa dikhne wala split pehchaan payenge, aur AI ki chart reading par aankh band karke bharosa karne ki jagah use check kar payenge.</a:t>
            </a:r>
          </a:p>
          <a:p/>
          <a:p>
            <a:r>
              <a:t>Tools: TradingView free chart; NSE website (nseindia.com); Notebook ya Google Sheets; Ek sikka; Koi bhi AI chat jo image le sake</a:t>
            </a:r>
          </a:p>
          <a:p/>
          <a:p>
            <a:r>
              <a:t>Educational content only, not investment advice. Company names and chart prices are made up for illustration. AI output is analysis for learning, never a buy or sell call.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free chart set up kijiye aur use order mein padhiye: chart type, ek candle (Candle reading card bhariye), teen timeframes, volume aur corporate actions, phir AI ki reading ko apni reading se milaiye.</a:t>
            </a:r>
          </a:p>
          <a:p/>
          <a:p>
            <a:r>
              <a:t>1. tradingview.com ya uske free app par 'NIFTY' search kijiye, NSE ka NIFTY 50 index kholiye, chart type ko line, bars aur candles mein badal kar dekhiye ki wahi din teen tarah kaise dikhte hain, aur candles par chhod dijiye.</a:t>
            </a:r>
          </a:p>
          <a:p>
            <a:r>
              <a:t>2. Daily (1D) chart par aakhri candle ka open, high, low aur close padhiye (TradingView inhe upar left mein O, H, L, C ki tarah dikhata hai; kisi aur candle ke liye us par tap karke hold kijiye), aur neeche diye Candle reading card ka 'Aapki candle' column notebook ya Google Sheets mein bhariye. Market khula ho toh yeh candle abhi ban rahi hai, isliye time bhi note kar lijiye.</a:t>
            </a:r>
          </a:p>
          <a:p>
            <a:r>
              <a:t>3. Pehle 1W aur phir 15m par switch kijiye, aur dono ke liye ek-ek line likhiye: yeh zoom level aapko kya dikha raha hai?</a:t>
            </a:r>
          </a:p>
          <a:p>
            <a:r>
              <a:t>4. NIFTY 50 list ki kisi bhi ek company ka daily chart kholiye (nseindia.com ya niftyindices.com par NIFTY 50 constituents search kijiye). Yeh sirf practice ke liye hai, koi pick nahi; index ka apna volume nahi hota. Volume bars na dikhein toh 'Volume' indicator add kar lijiye, phir note kijiye ki aakhri bar pichhle 20 mein se zyadatar se ooncha hai ya neecha.</a:t>
            </a:r>
          </a:p>
          <a:p>
            <a:r>
              <a:t>5. nseindia.com par usi company ko search kijiye, uska 'Corporate Actions' section kholiye, aur sabse haal ka split, bonus ya dividend, agar koi ho, note kar lijiye. Date range ka option ho toh ek saal ya zyada chuniye; NSE na khule toh bseindia.com try kijiye.</a:t>
            </a:r>
          </a:p>
          <a:p>
            <a:r>
              <a:t>6. Us daily chart ka screenshot lijiye, kuch bhi personal ho toh crop kar dijiye, AI Lab ka 'Chart screenshot cross-check' prompt chalaiye, aur AI ke har claim ke aage tick, cross ya 'verify nahi ho saka' likhiye.</a:t>
            </a:r>
          </a:p>
          <a:p/>
          <a:p>
            <a:r>
              <a:t>Aaj ke baad: Aaj ke baad aap free chart set up kar payenge, line, bar aur candle chart ka farq bata payenge, kisi bhi candle ka open, high, low aur close padh payenge, chahe woh hari ho ya laal, soch-samajh kar timeframe chun payenge, kisi din ke volume ko uske average se mila payenge, crash jaisa dikhne wala split pehchaan payenge, aur AI ki chart reading par aankh band karke bharosa karne ki jagah use check kar payenge.</a:t>
            </a:r>
          </a:p>
          <a:p/>
          <a:p>
            <a:r>
              <a:t>Tools: TradingView free chart; NSE website (nseindia.com); Notebook ya Google Sheets; Ek sikka; Koi bhi AI chat jo image le sake</a:t>
            </a:r>
          </a:p>
          <a:p/>
          <a:p>
            <a:r>
              <a:t>Educational content only, not investment advice. Company names and chart prices are made up for illustration. AI output is analysis for learning, never a buy or sell call.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Candle reading card</a:t>
            </a:r>
          </a:p>
          <a:p/>
          <a:p>
            <a:r>
              <a:t>NIFTY 50 ki ek daily candle padhiye aur aakhri column bhariye; index mein numbers points hote hain, rupaye nahi. Body aur wicks hamesha plus mein: bada minus chhota.</a:t>
            </a:r>
          </a:p>
          <a:p/>
          <a:p>
            <a:r>
              <a:t>Kya padhein | Hara model | Laal model | Aapki candle</a:t>
            </a:r>
          </a:p>
          <a:p>
            <a:r>
              <a:t>Stock | Bharat Pumps Ltd | Anand Snacks Ltd | NIFTY 50</a:t>
            </a:r>
          </a:p>
          <a:p>
            <a:r>
              <a:t>Kal ka close | Rs 500 | Rs 200 | </a:t>
            </a:r>
          </a:p>
          <a:p>
            <a:r>
              <a:t>Open | Rs 480 | Rs 212 | </a:t>
            </a:r>
          </a:p>
          <a:p>
            <a:r>
              <a:t>High | Rs 494 | Rs 216 | </a:t>
            </a:r>
          </a:p>
          <a:p>
            <a:r>
              <a:t>Low | Rs 474 | Rs 202 | </a:t>
            </a:r>
          </a:p>
          <a:p>
            <a:r>
              <a:t>Close | Rs 490 | Rs 205 | </a:t>
            </a:r>
          </a:p>
          <a:p>
            <a:r>
              <a:t>Rang: close vs apna open | Hari (490 &gt; 480) | Laal (205 &lt; 212) | </a:t>
            </a:r>
          </a:p>
          <a:p>
            <a:r>
              <a:t>Body ka upar wala sira | Close, Rs 490 | Open, Rs 212 | </a:t>
            </a:r>
          </a:p>
          <a:p>
            <a:r>
              <a:t>Body: open se close | Rs 10 | Rs 7 | </a:t>
            </a:r>
          </a:p>
          <a:p>
            <a:r>
              <a:t>Upper wick: high minus body ka upar wala sira | Rs 4 | Rs 4 | </a:t>
            </a:r>
          </a:p>
          <a:p>
            <a:r>
              <a:t>Lower wick: body ka neeche wala sira minus low | Rs 6 | Rs 3 | </a:t>
            </a:r>
          </a:p>
          <a:p>
            <a:r>
              <a:t>Kal ke close se badlav | -Rs 10 | +Rs 5 |</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laal candle, label ke saath</a:t>
            </a:r>
          </a:p>
          <a:p/>
          <a:p>
            <a:r>
              <a:t>Upar ke card wala Anand Snacks Ltd. Laal candle mein open (Rs 212) body ka upar wala sira hai aur close (Rs 205) neeche wala; phir bhi share us din Rs 5 badha.</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'Asli ya sikka?': 30 baar sikka uchhaaliye aur paper par uska chart banaiye (100 se shuru, heads +5, tails -5). Doosre kaagaz par NIFTY 50 ka lagbhag 30 din ka daily line chart kholiye aur uski shakal utaar lijiye, bina numbers ke, utni hi oonchai mein jitna sikke wala chart hai. Classmates ya family se poochhiye ki asli kaunsa hai. Aksar batana mushkil hota hai, aur yahi aaj ka sabak hai.</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Chart screenshot cross-check</a:t>
            </a:r>
          </a:p>
          <a:p>
            <a:r>
              <a:t>I am attaching a screenshot of a daily candlestick chart with volume bars. I have cropped out my name, client ID, balances and holdings. Describe only what is visible, as short numbered claims I can tick or cross after checking the chart myself: (1) the chart's timeframe and date range, if you can read them; (2) the open, high, low and close of the last candle, and its colour; (3) whether the last volume bar is taller or shorter than most of the previous 20; (4) the overall direction over the visible window, in one plain sentence; (5) anything you cannot read clearly, marked 'unclear'. If the price axis or dates are cut off, say so instead of guessing numbers. Label every claim Fact (directly visible on the chart), Guess (your interpretation) or Kachra (hype, or a claim nobody can check from this image). Do not name chart patterns, do not forecast, and do not give buy or sell advice, targets or return expectations.</a:t>
            </a:r>
          </a:p>
          <a:p/>
          <a:p>
            <a:r>
              <a:t>Prompt 2: Candle drill</a:t>
            </a:r>
          </a:p>
          <a:p>
            <a:r>
              <a:t>Act as a patient chart-reading tutor for an Indian beginner. Make up 5 daily candles for a fictional company, 'Bharat Pumps Ltd', each with open, high, low and close in rupees, plus the previous day's close. Make sure every high is at or above that candle's open and close, and every low at or below them. Include at least one green candle on a day when the stock still ended below the previous close, and one red candle on a day when it still ended above the previous close. For each candle, ask me one question at a time: its colour, which end of the body is the open, the size of its body, the length of its upper and lower wicks, and whether the stock was up or down for the day. Check each answer and explain any mistake in one or two lines. Use only made-up prices; do not discuss real stocks, and do not give buy or sell advice, targets or return expectations.</a:t>
            </a:r>
          </a:p>
          <a:p/>
          <a:p>
            <a:r>
              <a:t>Prompt 3: Crash ya corporate action?</a:t>
            </a:r>
          </a:p>
          <a:p>
            <a:r>
              <a:t>Here are 10 made-up daily closing prices, in rupees, for a fictional company, 'Gupta Cement Ltd': 1180, 1195, 1210, 1190, 1200, 601, 598, 610, 605, 612. First, ask me three questions that would help decide whether the drop on day 6 was a real fall or the result of a stock split or bonus issue. Then explain, step by step, how an adjusted price series would rewrite days 1 to 5 if it was a split in which each share became two, and show the adjusted numbers. Finally, tell me what kind of page on the NSE website lists a company's corporate actions, and label each of your statements Fact, Guess or Kachra.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Ltd kal Rs 250 par band hua. Aaj woh Rs 240 par khulta hai, Rs 236 aur Rs 247 ke beech trade karta hai, aur Rs 245 par band hota hai. Aaj ke baare mein kaunsi baat sahi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9:15 se 10:15 tak ki chaar 15-minute candles (open, high, low, close) yeh hain: 200, 204, 199, 203 / 203, 206, 202, 205 / 205, 205, 198, 199 / 199, 202, 197, 201. 9:15 se 10:15 ki ek ghante wali candle kya hogi?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Ltd ka 20-day average volume 4,00,000 shares hai. Aaj price 5% chadhta hai aur 3,00,000 shares trade hote hain, jo hare volume bar mein dikhte hain. Kaunsi baat sahi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Aapke paas Bharat Pumps Ltd ke 30 shares hain, jinka price abhi Rs 800 hai. Company har share par ek free bonus share deti hai, aur agle din raw chart price ko lagbhag Rs 400 par, yaani 50% ke 'crash' ke saath dikhata hai. Aapki holding ka kya hua?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Dopahar 2:40 par Aman ko 5-minute chart par lagataar paanch hari candles dikhti hain, aur unke volume bars aam se chhote hain. Use poora yakeen ho jaata hai ki kuch bada shuru ho raha hai. Sabse samajhdaar reading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Aaj aapki aankhon ne kis timeframe par sabse zyada bharosa kiya, aur kyun? Ek aisi cheez likhiye jo aapne, ya AI ne, chart par 'dekhi', lekin asal mein us par ungli nahi rakh paaye.</a:t>
            </a:r>
          </a:p>
          <a:p/>
          <a:p>
            <a:r>
              <a:t>Chart us cheez ka record hai jo log pehle hi kar chuke hain, koi forecast nahi. Aaj aapne yeh record saaf-saaf padhna seekha, aur har samajhdaar trader yahin se shuru karta hai.</a:t>
            </a:r>
          </a:p>
          <a:p/>
          <a:p>
            <a:r>
              <a:t>Agla: Day 6 · Trend, zones aur gaps: price ka structure padhna</a:t>
            </a:r>
          </a:p>
          <a:p/>
          <a:p>
            <a:r>
              <a:t>Educational content only, not investment advice. Company names and chart prices are made up for illustration. AI output is analysis for learning, never a buy or sell call.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6: Trend, zones aur gaps: price ka structure padhna</a:t>
            </a:r>
          </a:p>
          <a:p/>
          <a:p>
            <a:r>
              <a:t>Concept: Price structure: trend, support aur resistance zones, breakouts aur gaps</a:t>
            </a:r>
          </a:p>
          <a:p>
            <a:r>
              <a:t>AI Lab: Grade my chart marking: AI check kare, faisla aapka</a:t>
            </a:r>
          </a:p>
          <a:p>
            <a:r>
              <a:t>Mindset: Level ka moh: toote hue level se chipke rehna</a:t>
            </a:r>
          </a:p>
          <a:p/>
          <a:p>
            <a:r>
              <a:t>Aaj ke baad: Aaj ke baad aap swing points mark karke trend ka naam bata payenge, support aur resistance ko zone ki tarah bana payenge, close aur volume se breakout ko parakh payenge, context mein paanch candle patterns pehchaan payenge, chaar tarah ke gaps ka naam le payenge, aur toote hue level ko chhodna seekh jayenge.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 line jis par Aman ko bharosa tha</a:t>
            </a:r>
          </a:p>
          <a:p/>
          <a:p>
            <a:r>
              <a:t>(Saturday shaam. Aman mentor aur Priya ke saath video call par apni phone screen share karta hai.)</a:t>
            </a:r>
          </a:p>
          <a:p>
            <a:r>
              <a:t>Aman: Sir, yeh dekhiye. Bharat Pumps Rs 500 se teen baar uchhla, toh pichhle mahine, course se pehle, maine wahan ek moti line kheench di aur Rs 515 par 100 shares le liye. Friday ko yeh Rs 488 par close hua. Par 500 toh strong support hai. Wapas aa jayega na?</a:t>
            </a:r>
          </a:p>
          <a:p>
            <a:r>
              <a:t>Priya: Aman, maine chart dekha. Teeno bounce Rs 503, 498 aur 506 par aaye the, exactly 500 par ek bhi nahi. Aur Friday ka volume normal se lagbhag double tha. Kya yeh ab bhi support hai?</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 line jis par Aman ko bharosa tha</a:t>
            </a:r>
          </a:p>
          <a:p/>
          <a:p>
            <a:r>
              <a:t>Mentor: Aman, do sawaal. Yeh level kisne banaya: aapki line ne, ya un logon ne jinhone wahan khareeda tha? Aur agar unhone khareedna band kar diya hai, toh aapki line ab kya sambhaal rahi hai?</a:t>
            </a:r>
          </a:p>
          <a:p>
            <a:r>
              <a:t>Aman: Aisa toh maine kabhi socha hi nahi. Bas line par bharosa kar liya.</a:t>
            </a:r>
          </a:p>
          <a:p>
            <a:r>
              <a:t>Mentor: Aaj hum padhna seekhenge ki price asal mein kya kar raha hai: trend, zones, breakouts aur gaps. Level ek kaam ka naksha hai, vaada nahi. Jab woh toot jaaye, toh faisla aapka likha hua plan karega, aapki umeed nahi.</a:t>
            </a:r>
          </a:p>
          <a:p/>
          <a:p>
            <a:r>
              <a:t>Seekh: Support level bas ek yaad hai ki log kahan khareed rahe the. Yeh vaada nahi ki woh wahan dobara khareedenge.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Swing points: trend ki seedhi</a:t>
            </a:r>
          </a:p>
          <a:p/>
          <a:p>
            <a:r>
              <a:t>Price seedhi line mein kam hi chalta hai; woh lehron mein chalta hai. Lehar ki choti ko swing high kehte hain: ek aam rule ke hisaab se, woh candle jiska high dono taraf ki do-do candles ke high se upar ho. Swing low iska ulta hai, yaani lehar ka sabse neeche wala point. Jab har swing high aur har swing low pichhle wale se upar bane, toh woh uptrend hai: higher highs (HH) aur higher lows (HL). Downtrend iska ulta hai: lower highs (LH) aur lower lows (LL). Jab highs baar-baar ek level ke aas-paas ruk jaayein aur lows doosre level ke aas-paas, toh market sideways hai, yaani ek range mein ghoom raha hai. Timeframe hamesha bataiye, kyunki ek hi stock daily chart par uptrend mein aur weekly par downtrend mein ho sakta hai.</a:t>
            </a:r>
          </a:p>
          <a:p/>
          <a:p>
            <a:r>
              <a:t>Udaharan: Gupta Cement Ltd ke daily chart par swing lows Rs 398, 412 aur 428 par bane, aur swing highs Rs 430, 448 aur 466 par. Har low pichhle se upar tha, aur har high bhi: yeh uptrend hai. Phir ek din yeh Rs 423 par close hua, jo aakhri higher low, Rs 428, se neeche hai. Isse abhi downtrend nahi ban gaya. Bas seedhi toot gayi hai, aur uptrend par ab sawaal khada ho gaya hai.</a:t>
            </a:r>
          </a:p>
          <a:p/>
          <a:p>
            <a:r>
              <a:t>Yaad rakhiye: Uptrend = higher highs aur higher lows. Aakhri higher low ke neeche close aaya, toh trend par sawaal hai.</a:t>
            </a:r>
          </a:p>
          <a:p/>
          <a:p>
            <a:r>
              <a:t>Slide par: Seedhi ko padhna · Gupta Cement, daily. Har swing low pichhle se upar hai, jab tak Rs 428 ke neeche ka close pattern tod nahi deta.</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 aur resistance: zone, line nahi</a:t>
            </a:r>
          </a:p>
          <a:p/>
          <a:p>
            <a:r>
              <a:t>Support woh price area hai jahan girta hua price pehle ruka aur upar mud gaya, kyunki wahan buyers aa gaye. Resistance woh area hai jahan chadhta hua price ruka aur neeche mud gaya, kyunki wahan sellers aa gaye: inhe ghar ka farsh aur chhat samajhiye. Yeh zone hote hain, exact line nahi, kyunki saare buyers ek hi rupaye par intezaar nahi karte; isliye jahan-jahan price muda, un wicks ko dhakti hui ek patti banaiye. Test ka matlab hai price ka zone mein aana aur wahan se laut jaana. Jitne zyada test, utne zyada log us level ko jaante hain, lekin har test wahan baithe kuch buyers ya sellers ko khatam bhi kar sakta hai. Mote taur par, ek zone ek normal din ki range se zyada chauda nahi hota; ise naapne ka paimaana, ATR, aap Day 8 mein seekhenge.</a:t>
            </a:r>
          </a:p>
          <a:p/>
          <a:p>
            <a:r>
              <a:t>Udaharan: Normal hafte mein sabzi mandi dekhiye. Tamatar Rs 20 kilo ke aas-paas aate hi dhabe aur hotel wale extra crate utha lete hain, toh daam girna ruk jaata hai. Rs 30 ke paas log kam khareedte hain aur kisan zyada maal le aate hain, toh daam chadhna ruk jaata hai. Daam isi patti ke andar ghoomta hai, kisi ek rupaye par tika nahi rehta. Sharma Textiles Ltd ne lagbhag paanch hafte yahi kiya. Yeh Rs 483, 481 aur 480 se upar muda, aur Rs 548 aur 546 se neeche; jahan price palta, un candles ki lambi neeche wali wicks Rs 480-494 (support) mein hain, aur lambi upar wali wicks Rs 536-548 (resistance) mein. Agar aap Rs 485 par ek akeli line kheenchte, toh teeno bounce ki wicks us line ke neeche chali jaatin.</a:t>
            </a:r>
          </a:p>
          <a:p/>
          <a:p>
            <a:r>
              <a:t>Yaad rakhiye: Support aur resistance ko un wicks par patti ki tarah banaiye jahan price sach mein muda, ek jaadui number ki tarah nahi.</a:t>
            </a:r>
          </a:p>
          <a:p/>
          <a:p>
            <a:r>
              <a:t>Slide par: Do zones wali range · Sharma Textiles, daily. Support ke teen test aur resistance ke do, aur ek bhi baar bilkul same rupaye par nahi.</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Jab level toot jaaye: asli, nakli aur role reversal</a:t>
            </a:r>
          </a:p>
          <a:p/>
          <a:p>
            <a:r>
              <a:t>Breakout ka matlab hai price ka zone se bahar nikal jaana: resistance ke upar, ya support ke neeche, jise aksar breakdown kehte hain. Bahut saare breakouts fail ho jaate hain: price bahar jhaankta hai, phir wapas zone ke andar aa jaata hai; ise false breakout ya fake-out kehte hain. Asli aur nakli ka farq teen sawaalon se pakadiye: kya candle zone ke bahar close hui, ya sirf wick bahar gayi; kya volume apne average se saaf upar tha (Day 5); aur jab price zone ko dobara test karne aaya, toh kya woh tika raha? Asli break ke baad purani chhat aksar naya farsh ban jaati hai, aur purana farsh nayi chhat. Ise role reversal kehte hain. Yeh aksar dikhta hai, lekin yeh bhi ek probability hai, rule nahi.</a:t>
            </a:r>
          </a:p>
          <a:p/>
          <a:p>
            <a:r>
              <a:t>Udaharan: Sharma Textiles ka resistance zone Rs 536-548 tha. Ek din price Rs 556 tak gaya, par Rs 538 par close hua, yaani wapas zone ke andar, aur volume sirf 1.6 lakh shares tha, jabki 20 din ka average 2.0 lakh tha: yeh fake-out tha. Do hafte baad yeh Rs 562 par close hua, 5.2 lakh shares ke saath, yaani average ka 2.6 guna. Uske ek hafte baad yeh Rs 547 tak utra, purane resistance zone ke andar, aur phir upar mud gaya. Is baar purani chhat ne farsh ka kaam kiya.</a:t>
            </a:r>
          </a:p>
          <a:p/>
          <a:p>
            <a:r>
              <a:t>Yaad rakhiye: Sirf wick breakout nahi hai. Zone ke bahar close, average se zyada volume, aur tika hua retest dekhiye.</a:t>
            </a:r>
          </a:p>
          <a:p/>
          <a:p>
            <a:r>
              <a:t>Slide par: Fake-out, asli break, retest · Sharma Textiles, daily, range ke baad (numbers banaye hue). Fake-out Rs 556 tak gaya par Rs 538 par, zone ke andar, close hua, 1.6 lakh shares par, jabki average 2.0 lakh tha. Do hafte baad Rs 562 ka close 5.2 lakh shares par aaya, average ka 2.6 guna. Uske ek hafte baad price Rs 547 tak, purani chhat ke andar, utra aur upar mud gaya: is baar role reversal hua.</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Paanch candle patterns, aur context kyun zaroori hai</a:t>
            </a:r>
          </a:p>
          <a:p/>
          <a:p>
            <a:r>
              <a:t>Day 5 mein aapne ek-ek candle padhna seekha: rule of thumb yeh hai ki lambi body batati hai ki ek side ka control tha, aur lambi wick batati hai ki price ek level tak gaya, par wahan se use wapas dhakel diya gaya. Ab bas paanch patterns yaad kijiye; 'bullish' matlab upar ki taraf ishaara, 'bearish' matlab neeche ki taraf. Bullish engulfing: girne ke baad, ek green body pichhli red body ko poora dhak leti hai; bearish engulfing iska ulta hai, chadhne ke baad. Hammer: girne ke baad, candle ke upar ki taraf chhoti body, aur neeche wick jo body se kam se kam do guna lambi ho; shooting star iska ulta hai, chadhne ke baad. Inside bar: poori candle, high se low tak, pichhli candle ki range ke andar rehti hai, yaani ek thehraav. Akela pattern kuch khaas nahi kehta; tested zone par woh note karne layak clue ban jaata hai, aur average se zyada volume ya usi disha mein bada trend ho, toh clue aur mazboot hota hai.</a:t>
            </a:r>
          </a:p>
          <a:p/>
          <a:p>
            <a:r>
              <a:t>Udaharan: Sharma Textiles ke support ka teesra test phir se dekhiye. Woh candle Rs 496 par khuli, Rs 480 tak giri aur Rs 493 par close hui, aur uska high Rs 498 tha. Body: Rs 3. Neeche ki wick: Rs 13, yaani body se chaar guna se bhi zyada. Upar ki wick: Rs 2. Candle red hai, kyunki open se neeche close hui, aur iski neeche ki wick close, Rs 493, se Rs 480 tak hai. Hammer red ya green dono ho sakta hai; shape hi asli baat hai. Yeh hammer hai, aur yeh ek tested support zone ke andar bana hai; isi se iska matlab banta hai. Us din volume average se zyada hota, toh clue aur mazboot hota. Yahi candle range ke beech mein banti, toh kuch khaas nahi kehti; aur yahan bhi yeh ek clue hai, kharidne ka signal nahi.</a:t>
            </a:r>
          </a:p>
          <a:p/>
          <a:p>
            <a:r>
              <a:t>Yaad rakhiye: Akela pattern sirf noise hai. Tested zone par yeh clue banta hai; volume aur bada trend saath dein toh clue mazboot hota hai.</a:t>
            </a:r>
          </a:p>
          <a:p/>
          <a:p>
            <a:r>
              <a:t>Slide par: Paanchon patterns, context ke saath · Ek banaya hua daily chart. Hammer aur bullish engulfing Rs 400 ke paas ke support area mein girawat ke baad aaye; shooting star aur bearish engulfing Rs 440 ke paas ke resistance area mein chadhai ke baad; inside bar, yaani thehraav, range ke beech mein bana. Har ek apni jagah par ek clue hai, pakki baat kabhi nahi. Definitions key terms mein hain.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Gaps: chaar types aur ek nakli</a:t>
            </a:r>
          </a:p>
          <a:p/>
          <a:p>
            <a:r>
              <a:t>Gap chart par ek khaali jagah hai, jahan koi trade hua hi nahi. Full gap-up mein aaj ka low kal ke high se upar hota hai; full gap-down mein aaj ka high kal ke low se neeche. Jab price baad mein laut kar us khaali jagah ke aar-paar trade kar le, toh kehte hain ki gap 'bhar gaya'. Chartists chaar types batate hain: common gap, jo sideways range ke andar banta hai aur aksar jaldi bhar jaata hai; breakaway gap, jo range chhod deta hai, aksar bade volume ke saath; runaway gap, jo tez move ke beech mein aata hai; aur exhaustion gap, jo lambe move ke aakhir mein aata hai aur aksar jaldi bhar jaata hai. Gap kis type ka tha, yeh aksar baad mein hi pata chalta hai, isliye jab tak price confirm na kare, apne label ko andaaza hi maaniye. Aur bonus, split ya bade dividend ki ex-date (jis din se share us fayde ke bina trade hota hai) par bana gap sirf hisaab ka gap hai, market ka faisla nahi: yahi woh nakli gap hai.</a:t>
            </a:r>
          </a:p>
          <a:p/>
          <a:p>
            <a:r>
              <a:t>Udaharan: Day 5 ka 'crash jo kabhi hua hi nahi' yaad hai? Wahi cheez gap ban kar bhi dikhti hai. Kiran Foods Ltd 1:1 bonus ki ex-date se pehle wale din Rs 640 par close hota hai, aur ex-date par lagbhag Rs 320 par khulta hai. Unadjusted chart par beginner ko bada gap-down dikhta hai, aur woh ise breakaway gap keh deta hai. Lekin jiske paas 50 shares the, yaani Rs 32,000 ke, uske paas aakhir mein lagbhag Rs 320 ke 100 shares honge, yaani ab bhi lagbhag Rs 32,000. Kisi bhi bade gap ka naam rakhne se pehle adjusted chart par jaiye aur NSE website par corporate actions wala page check kijiye; yeh saare events Day 15 mein detail mein aayenge.</a:t>
            </a:r>
          </a:p>
          <a:p/>
          <a:p>
            <a:r>
              <a:t>Yaad rakhiye: Gap ka naam baad mein rakhiye, aur koi bhi matlab nikaalne se pehle corporate action check kar lijiye.</a:t>
            </a:r>
          </a:p>
          <a:p/>
          <a:p>
            <a:r>
              <a:t>Slide par: Full gap, adhoora gap, gap bhara · Ek banaya hua daily chart. 5vi candle full gap-up ke saath khuli: uska low (Rs 210) pichhle high (Rs 207) se upar raha, aam se lagbhag 2.5 guna volume par, isliye us din yeh breakaway gap jaisa laga. 8vi candle sirf pichhle close se upar khuli aur pichhli range mein wapas trade hui: yeh adhoora, 'news' wala gap-up hai, full gap nahi. 13vi candle tak price Rs 207-210 ke aar-paar wapas trade kar chuka tha: gap bhar gaya, isliye baad mein dekhne par 'breakaway' label galat nikla. Kitaabi naam chaar hain: common, breakaway, runaway aur exhaustion.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ka moh: jab aapka level toot jaaye</a:t>
            </a:r>
          </a:p>
          <a:p/>
          <a:p>
            <a:r>
              <a:t>Level ka moh matlab kisi price level se pyaar ho jaana. Aapne isliye khareeda ki 'Rs 500 toh hamesha tikta hai', aur jab price zone ke neeche close hota hai, toh aap khud ko samjhaate hain ki wapas aa jayega. Lekin level sirf ek yaad hai ki log kahan khareed ya bech rahe the; jab woh use bachana band kar dete hain, toh level khatam. Isliye entry se pehle hi apna exit likh lijiye, jaise: 'Daily candle zone ke neeche close hui, toh exit.' Phir us shaam aapko kaisa bhi lage, usi par chaliye. Kai traders iske saath zone ke sabse neeche wale swing low se thoda neeche ek stop-loss order bhi rakhte hain, taaki din mein price tezi se gire toh bhi bachav rahe; course ka apna stop rule aap Day 9 aur Day 11 mein seekhenge. Price dheere-dheere chalne ki jagah kood bhi sakta hai. Gap-down mein price seedha aapke stop-loss ke neeche khul sakta hai. Aur lower price band (Day 1) par lock hue stock, yaani 'lower circuit', mein sellers ki line lagi hoti hai aur buyers lagbhag nahi hote, isliye aapka sell order poore din atka reh sakta hai. Chart par aisa din aksar ek sapaat dash jaisa dikhta hai. Isiliye Day 9 mein har position ka size aise tay karenge ki aisa din bhi jhela ja sake.</a:t>
            </a:r>
          </a:p>
          <a:p/>
          <a:p>
            <a:r>
              <a:t>Udaharan: Aman ne Bharat Pumps Ltd ke 100 shares Rs 515 par khareede, kyunki support teen baar tika tha, Rs 503, 498 aur 506 par, yaani lagbhag Rs 498-510 ka zone. Friday ko yeh Rs 488 par close hua, zone ke neeche, 3.8 lakh shares ke volume par, jabki average 2.0 lakh tha. Likha hua exit rule hota, toh woh usi close ke aas-paas bahar nikal jaata; moh kehta hai, ruko. Maan lijiye woh rukta hai: do hafte baad price Rs 505 tak uchhalta hai, purane support zone ke andar atak jaata hai, phir Rs 452 tak phisalta hai, jahan woh aakhirkaar bechta hai. Calculation dekhiye, yeh moh kitna mehenga padega.</a:t>
            </a:r>
          </a:p>
          <a:p/>
          <a:p>
            <a:r>
              <a:t>Yaad rakhiye: Level ek yaad hai, vaada nahi. Close par toot jaaye, toh faisla aapka likha hua plan karega, umeed nahi.</a:t>
            </a:r>
          </a:p>
          <a:p/>
          <a:p>
            <a:r>
              <a:t>Slide par: Moh ki keemat · Charges se pehle, aur lagbhag Rs 488 close par exit maan kar: rule se lagbhag Rs 2,700 jaate; umeed Rs 6,300 le leti.</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Swing high / swing low: Price ki lehar ki choti ya tala. Simple rule: woh high jo dono taraf ki do-do candles ke high se upar ho (swing low iska ulta hai). Ise confirm tabhi kar sakte hain jab uske baad do aur candles close ho jaayein.</a:t>
            </a:r>
          </a:p>
          <a:p>
            <a:r>
              <a:t>HH / HL aur LH / LL: Higher highs aur higher lows matlab uptrend; lower highs aur lower lows matlab downtrend.</a:t>
            </a:r>
          </a:p>
          <a:p>
            <a:r>
              <a:t>Support / resistance zone: Woh price patti jahan pehle buyers (support) ya sellers (resistance) ne price ko mod diya tha. Patti, koi ek exact price nahi.</a:t>
            </a:r>
          </a:p>
          <a:p>
            <a:r>
              <a:t>False breakout (fake-out): Price zone se bahar jhaankta hai, phir wapas andar close ho jaata hai, aksar kam volume par.</a:t>
            </a:r>
          </a:p>
          <a:p>
            <a:r>
              <a:t>Role reversal: Asli break ke baad purana resistance support ban sakta hai, aur purana support resistance. Probability hai, rule nahi.</a:t>
            </a:r>
          </a:p>
          <a:p>
            <a:r>
              <a:t>Gap: Chart par khaali jagah: aaj ka low kal ke high se upar (gap-up), ya aaj ka high kal ke low se neeche (gap-down). News mein aksar kal ke close se upar khulne ko hi 'gap-up' keh dete hain.</a:t>
            </a:r>
          </a:p>
          <a:p>
            <a:r>
              <a:t>Bullish / bearish engulfing: Do candles ka pattern. Bullish: girawat ke baad ek green body pichhli red body ko poora dhak leti hai. Bearish: chadhai ke baad ek red body pichhli green body ko poora dhak leti hai.</a:t>
            </a:r>
          </a:p>
          <a:p>
            <a:r>
              <a:t>Hammer, shooting star, inside bar: Hammer: girawat ke baad, upar ki taraf chhoti body aur neeche wick jo body se kam se kam do guna ho. Shooting star: chadhai ke baad iska ulta, lambi wick upar. Inside bar: aisi candle jiska high aur low pichhli candle ki range ke andar rahe, yaani thehraav; agli candle ka wait kijiye.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ka structure padhna</a:t>
            </a:r>
          </a:p>
          <a:p>
            <a:r>
              <a:t>Trend: Swing highs aur lows; Up = HH + HL; Down = LH + LL; Timeframe hamesha bataiye</a:t>
            </a:r>
          </a:p>
          <a:p>
            <a:r>
              <a:t>Zones: Farsh aur chhat; Patti, ek rupaya nahi; Zyada test, zyada log jaante hain</a:t>
            </a:r>
          </a:p>
          <a:p>
            <a:r>
              <a:t>Breaks: Bahar close, sirf wick nahi; Average se zyada volume; Role reversal ek probability hai</a:t>
            </a:r>
          </a:p>
          <a:p>
            <a:r>
              <a:t>Paanch candles: Engulfing, bullish aur bearish; Hammer aur shooting star; Inside bar = thehraav; Zone par sabse zyada matter karte hain</a:t>
            </a:r>
          </a:p>
          <a:p>
            <a:r>
              <a:t>Gaps: Common, breakaway, runaway, exhaustion; Naam baad mein; Corporate action check kijiye</a:t>
            </a:r>
          </a:p>
          <a:p>
            <a:r>
              <a:t>Aapka mann: Level ka moh; Level ek yaad hai; Gap aur circuit lock stop ko laangh sakte hain</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chart ka structure haath se mark kijiye, use Chart marking sheet par likhiye, phir AI se grade karwaiye. Core kaam: NIFTY 50 ka ek chart, lagbhag 35 minute. Optional stretch: is hafte baad mein yahi BANKNIFTY aur NIFTY 50 ke weekly chart par dohraiye, lagbhag 30 minute aur.</a:t>
            </a:r>
          </a:p>
          <a:p/>
          <a:p>
            <a:r>
              <a:t>1. TradingView ka free chart kholiye, NIFTY 50 daily timeframe par, aur lagbhag chhe mahine ki candles dikhaiye.</a:t>
            </a:r>
          </a:p>
          <a:p>
            <a:r>
              <a:t>2. Text tool se aakhri chaar swing highs aur chaar swing lows par HH, HL, LH ya LL likhiye; har ek ko usse theek pehle wale swing se compare kijiye. Phone par ho toh use landscape (aada) kar lijiye. Drawing tools mushkil lagein? Screenshot lijiye aur phone ke photo-markup (edit) tool se labels likh dijiye.</a:t>
            </a:r>
          </a:p>
          <a:p>
            <a:r>
              <a:t>3. Ek support zone aur ek resistance zone ko un wicks par patti ki tarah mark kijiye jahan price muda tha: TradingView ke rectangle tool se, ya photo-markup tool mein box bana kar.</a:t>
            </a:r>
          </a:p>
          <a:p>
            <a:r>
              <a:t>4. Ek full gap dhoondhiye (aaj ka low kal ke high se upar, ya aaj ka high kal ke low se neeche) aur uski date aur uske type ka apna andaaza question mark ke saath likhiye, jaise 'breakaway?'. Chhe mahine mein ek bhi na mile, toh 'no full gap' likhiye aur sabse bade opening jump ko mark kar dijiye.</a:t>
            </a:r>
          </a:p>
          <a:p>
            <a:r>
              <a:t>5. Har label, dono zones aur gap ko unki date aur price ke saath neeche di Chart marking sheet mein utaariye; Gupta Cement wali rows dikhati hain kaise.</a:t>
            </a:r>
          </a:p>
          <a:p>
            <a:r>
              <a:t>6. Aisa screenshot lijiye jismein price scale aur dates dikhein, apna naam aur koi bhi account detail crop kar dijiye, aur AI Lab ka 'Grade my chart marking' prompt chalaiye. Aapki AI chat image na le, toh apni marking sheet paste kar dijiye. Jahan AI aapse alag raay de, wahan kisi bhi baat ko maanne se pehle khud chart dobara dekhiye.</a:t>
            </a:r>
          </a:p>
          <a:p/>
          <a:p>
            <a:r>
              <a:t>Aaj ke baad: Aaj ke baad aap swing points mark karke trend ka naam bata payenge, support aur resistance ko zone ki tarah bana payenge, close aur volume se breakout ko parakh payenge, context mein paanch candle patterns pehchaan payenge, chaar tarah ke gaps ka naam le payenge, aur toote hue level ko chhodna seekh jayenge.</a:t>
            </a:r>
          </a:p>
          <a:p/>
          <a:p>
            <a:r>
              <a:t>Tools: TradingView free chart; NSE website (nseindia.com); Phone ka screenshot aur markup tool; Koi bhi AI chat</a:t>
            </a:r>
          </a:p>
          <a:p/>
          <a:p>
            <a:r>
              <a:t>Educational content only, not investment advice. Company names and chart prices are made up for illustration. Patterns and levels are probabilities, never certainties.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chart ka structure haath se mark kijiye, use Chart marking sheet par likhiye, phir AI se grade karwaiye. Core kaam: NIFTY 50 ka ek chart, lagbhag 35 minute. Optional stretch: is hafte baad mein yahi BANKNIFTY aur NIFTY 50 ke weekly chart par dohraiye, lagbhag 30 minute aur.</a:t>
            </a:r>
          </a:p>
          <a:p/>
          <a:p>
            <a:r>
              <a:t>1. TradingView ka free chart kholiye, NIFTY 50 daily timeframe par, aur lagbhag chhe mahine ki candles dikhaiye.</a:t>
            </a:r>
          </a:p>
          <a:p>
            <a:r>
              <a:t>2. Text tool se aakhri chaar swing highs aur chaar swing lows par HH, HL, LH ya LL likhiye; har ek ko usse theek pehle wale swing se compare kijiye. Phone par ho toh use landscape (aada) kar lijiye. Drawing tools mushkil lagein? Screenshot lijiye aur phone ke photo-markup (edit) tool se labels likh dijiye.</a:t>
            </a:r>
          </a:p>
          <a:p>
            <a:r>
              <a:t>3. Ek support zone aur ek resistance zone ko un wicks par patti ki tarah mark kijiye jahan price muda tha: TradingView ke rectangle tool se, ya photo-markup tool mein box bana kar.</a:t>
            </a:r>
          </a:p>
          <a:p>
            <a:r>
              <a:t>4. Ek full gap dhoondhiye (aaj ka low kal ke high se upar, ya aaj ka high kal ke low se neeche) aur uski date aur uske type ka apna andaaza question mark ke saath likhiye, jaise 'breakaway?'. Chhe mahine mein ek bhi na mile, toh 'no full gap' likhiye aur sabse bade opening jump ko mark kar dijiye.</a:t>
            </a:r>
          </a:p>
          <a:p>
            <a:r>
              <a:t>5. Har label, dono zones aur gap ko unki date aur price ke saath neeche di Chart marking sheet mein utaariye; Gupta Cement wali rows dikhati hain kaise.</a:t>
            </a:r>
          </a:p>
          <a:p>
            <a:r>
              <a:t>6. Aisa screenshot lijiye jismein price scale aur dates dikhein, apna naam aur koi bhi account detail crop kar dijiye, aur AI Lab ka 'Grade my chart marking' prompt chalaiye. Aapki AI chat image na le, toh apni marking sheet paste kar dijiye. Jahan AI aapse alag raay de, wahan kisi bhi baat ko maanne se pehle khud chart dobara dekhiye.</a:t>
            </a:r>
          </a:p>
          <a:p/>
          <a:p>
            <a:r>
              <a:t>Aaj ke baad: Aaj ke baad aap swing points mark karke trend ka naam bata payenge, support aur resistance ko zone ki tarah bana payenge, close aur volume se breakout ko parakh payenge, context mein paanch candle patterns pehchaan payenge, chaar tarah ke gaps ka naam le payenge, aur toote hue level ko chhodna seekh jayenge.</a:t>
            </a:r>
          </a:p>
          <a:p/>
          <a:p>
            <a:r>
              <a:t>Tools: TradingView free chart; NSE website (nseindia.com); Phone ka screenshot aur markup tool; Koi bhi AI chat</a:t>
            </a:r>
          </a:p>
          <a:p/>
          <a:p>
            <a:r>
              <a:t>Educational content only, not investment advice. Company names and chart prices are made up for illustration. Patterns and levels are probabilities, never certainties.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marking sheet</a:t>
            </a:r>
          </a:p>
          <a:p/>
          <a:p>
            <a:r>
              <a:t>Model rows: pehle topic wali Gupta Cement ki seedhi, phir aaj ke doosre charts se ek zone aur ek gap (candles left se gini gayi hain). Aapki rows: apne NIFTY 50 chart se chaar swing highs, chaar swing lows, ek support zone, ek resistance zone aur ek gap, dates ke saath.</a:t>
            </a:r>
          </a:p>
          <a:p/>
          <a:p>
            <a:r>
              <a:t>Kya | Candle ya date | Price | Label</a:t>
            </a:r>
          </a:p>
          <a:p>
            <a:r>
              <a:t>Swing low | 3 | Rs 398 | -</a:t>
            </a:r>
          </a:p>
          <a:p>
            <a:r>
              <a:t>Swing high | 7 | Rs 430 | -</a:t>
            </a:r>
          </a:p>
          <a:p>
            <a:r>
              <a:t>Swing low | 9 | Rs 412 | HL</a:t>
            </a:r>
          </a:p>
          <a:p>
            <a:r>
              <a:t>Swing high | 13 | Rs 448 | HH</a:t>
            </a:r>
          </a:p>
          <a:p>
            <a:r>
              <a:t>Swing low | 15 | Rs 428 | HL</a:t>
            </a:r>
          </a:p>
          <a:p>
            <a:r>
              <a:t>Swing high | 18 | Rs 466 | HH</a:t>
            </a:r>
          </a:p>
          <a:p>
            <a:r>
              <a:t>Aakhri HL ke neeche close | 21 | Rs 423 | Trend par sawaal</a:t>
            </a:r>
          </a:p>
          <a:p>
            <a:r>
              <a:t>Support zone (Sharma Textiles) | 4, 13, 21 | Rs 480-494 | 3 test</a:t>
            </a:r>
          </a:p>
          <a:p>
            <a:r>
              <a:t>Full gap-up (gap chart) | 5 | Rs 207-210 | breakaway?</a:t>
            </a:r>
          </a:p>
          <a:p>
            <a:r>
              <a:t>+ 11 ___</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Paanch-pattern ki khoj (15 minute): NIFTY 50 ke daily chart ka lagbhag chhe mahine ka screenshot lijiye. Phone ke photo-markup tool mein bullish engulfing, bearish engulfing, hammer, shooting star aur inside bar, har ek ki ek misaal par gola banaiye; jo pattern aapke banaye zone ke andar hai uske paas Z likhiye, aur jo range ke beech mein hai uske paas M. Har sahi pattern ka 1 point (key terms se milaiye), aur har imaandaar Z ka 1 point aur. Doston ke saath hon toh screenshots badal kar ek-doosre ke gole check kijiye; akele hon toh agle weekend dobara kijiye aur apna score todne ki koshish kijiye. Zyadatar log paate hain ki unke sirf ek-do patterns hi kisi zone par hain, aur yahi sabak hai.</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Grade my chart marking</a:t>
            </a:r>
          </a:p>
          <a:p>
            <a:r>
              <a:t>I am attaching a screenshot of a daily or weekly chart of an Indian index (NIFTY 50 or BANKNIFTY); I will tell you which. If I cannot attach an image, I will type my labels with their dates and prices instead. On it I have marked swing highs and swing lows (labelled HH, HL, LH or LL), one support zone and one resistance zone drawn as rectangles, and one gap with my guess of its type. Grade my marking on five points, each out of 5 with one sentence of reason: (a) are my swing points the obvious ones, using the rule that a swing high is above the highs of the two candles on each side (a swing low is the mirror); (b) is my trend label consistent with those swings; (c) are my zones bands that cover where price actually turned, rather than single lines; (d) did I miss a zone that price tested more often; (e) is my gap label a reasonable guess, remembering that gap types are usually clear only in hindsight. Label each of your comments Fact (visible on the chart), Guess (your interpretation) or Kachra (if I have written a popular myth). If you cannot read part of the image clearly, say so instead of guessing. Then give me one thing to redo. Do not forecast where the price will go next, do not give buy or sell advice, and do not mention targets or expected returns.</a:t>
            </a:r>
          </a:p>
          <a:p/>
          <a:p>
            <a:r>
              <a:t>Prompt 2: Asli ya fake breakout? Practice round</a:t>
            </a:r>
          </a:p>
          <a:p>
            <a:r>
              <a:t>Create 6 practice scenarios for a beginner, using made-up company names only. In each, a stock reaches a support or resistance zone: give the zone (for example Rs 536-548), that day's high, low and close, the day's volume and the 20-day average volume. Show me one scenario at a time and ask me to judge it as a likely real breakout, a likely false breakout (fake-out), or too early to tell. After each answer, explain using three checks: did the candle close beyond the zone, was volume clearly above average, and what a retest of the zone would need to show. Remind me that every judgement is a probability, not a certainty. Do not use real stock names, do not give buy or sell advice, and do not mention targets or expected returns.</a:t>
            </a:r>
          </a:p>
          <a:p/>
          <a:p>
            <a:r>
              <a:t>Prompt 3: Level ka moh check</a:t>
            </a:r>
          </a:p>
          <a:p>
            <a:r>
              <a:t>Act as a calm trading-psychology coach. Ask me 5 short questions, one at a time, about how I behave when a price level I trusted breaks: whether I move or remove my stop-loss, whether I buy more at a lower price to 'average down' my cost, what I tell myself, and how long I wait before admitting the level has failed. After my answers, summarise in plain words where 'level ka moh' (emotional attachment to a price level) shows up in my thinking, and help me write one exit rule for paper trading in the form 'If a daily candle closes below my zone, I will...'. Label any general claim you make about trader behaviour as Fact, Guess or Kachra. Do not ask for personal or financial details, do not suggest any stock,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daily chart par kisi stock ke swing points is order mein hain: low Rs 400, high Rs 440, low Rs 418, high Rs 455, low Rs 431, high Rs 470. Is timeframe par trend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Kiran Foods ka resistance zone Rs 312-320 hai. Aaj price Rs 327 tak gaya, lekin Rs 314 par close hua, 0.9 lakh shares ke volume par, jabki 20 din ka average 1.2 lakh hai. Sabse samajhdaar reading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Giraavat ke baad Gupta Cement ek tested support zone ke andar yeh candle banata hai: open Rs 430, high Rs 433, low Rs 418, close Rs 432. Yeh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Rs 600 par close hota hai. Agli subah 1:1 bonus ki ex-date hai, aur unadjusted chart par yeh lagbhag Rs 300 par khulta hai. Yeh gap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Maan lijiye Aman ne khareedne se pehle yeh rule likh liya tha: agar Bharat Pumps apne Rs 498-510 ke support zone ke neeche close ho, toh exit. Yeh Rs 488 par close hota hai, average se lagbhag double volume par, aur Aman kehta hai, 'Teen baar tika hai; kuch din aur de deta hoon.' Aman ka yeh faisla kis cheez ki misaal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Koi aisi cheez yaad kijiye jise aap tab bhi pakde rahe jab woh saaf taur par kaam karna band kar chuki thi: koi price, koi plan, kisi cricket team se umeedein, kuch bhi. Chhodna mushkil kyun laga? Phir ek line mein woh exit rule likhiye jo aap tab follow karenge jab koi zone close par toot jaaye.</a:t>
            </a:r>
          </a:p>
          <a:p/>
          <a:p>
            <a:r>
              <a:t>Levels hamari kheenchi lines se nahi, logon ke faislon se bante hain. Unhe zone ki tarah padhna, aur tootne par chhod dena, yahin se trading mein humility shuru hoti hai.</a:t>
            </a:r>
          </a:p>
          <a:p/>
          <a:p>
            <a:r>
              <a:t>Agla: Day 7 · Week 1 review aur Shortcut Trap #1: tips ka audit</a:t>
            </a:r>
          </a:p>
          <a:p/>
          <a:p>
            <a:r>
              <a:t>Educational content only, not investment advice. Company names and chart prices are made up for illustration. Patterns and levels are probabilities, never certainties.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7: Week 1 review aur Shortcut Trap #1: tips ka audit</a:t>
            </a:r>
          </a:p>
          <a:p/>
          <a:p>
            <a:r>
              <a:t>Concept: Week 1 review, tips ka audit, aur scams se khud ko bachana</a:t>
            </a:r>
          </a:p>
          <a:p>
            <a:r>
              <a:t>AI Lab: 20 practice tips ka audit: aap giniye, AI check kare</a:t>
            </a:r>
          </a:p>
          <a:p>
            <a:r>
              <a:t>Mindset: Shortcut wali soch</a:t>
            </a:r>
          </a:p>
          <a:p/>
          <a:p>
            <a:r>
              <a:t>Aaj ke baad: Aaj ke baad aap kisi bhi tip ko Week 1 ke paanch sawaalon se parakh payenge, calls ke ek set ka hit-rate, R aur missing stops ke liye audit kar payenge, fake app aur WhatsApp group ke red flags pehchaan payenge, SEBI registration aur trading app ka publisher check kar payenge, complaint ka raasta bata payenge (pehle grievance desk, phir SCORES ya SMART ODR), aur weekly review likh payenge.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accuracy, sirf 10 seats bachi hain'</a:t>
            </a:r>
          </a:p>
          <a:p/>
          <a:p>
            <a:r>
              <a:t>(Sunday shaam, Week 1 khatam. Class ki video call par Aman ek WhatsApp message share karta hai, jo use aaj subah aaya tha.)</a:t>
            </a:r>
          </a:p>
          <a:p>
            <a:r>
              <a:t>Tip-wala: Pichhle mahine 12 target hit! 80% accuracy! Roz subah sure-shot calls. VIP group sirf Rs 4,999, bas 10 seats bachi hain. Aaj hi join karo, kal se fee double.</a:t>
            </a:r>
          </a:p>
          <a:p>
            <a:r>
              <a:t>Aman: Sir, yeh Day 3 wale 'aath mein se saat' jaisa nahi hai. Poore mahine ka 80% hai. Ek baar Rs 4,999, aur mehnat koi aur kare.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accuracy, sirf 10 seats bachi hain'</a:t>
            </a:r>
          </a:p>
          <a:p/>
          <a:p>
            <a:r>
              <a:t>Priya: Lekin 80% kiska? 12 hit aur 80% ka matlab, woh sirf 15 calls gin raha hai. Kya sach mein sirf 15 hi thi?</a:t>
            </a:r>
          </a:p>
          <a:p>
            <a:r>
              <a:t>Aman: Priya, tumhe har cheez ka proof chahiye. Shortcut mein galat kya hai? Jaldi pahunchna toh sab chahte hain.</a:t>
            </a:r>
          </a:p>
          <a:p>
            <a:r>
              <a:t>Mentor: Aman, jo calls fail hui, woh kahan gayi? Jo scoreboard sirf jeet dikhata hai, woh record nahi, advertisement hai. Maine bilkul isi scoreboard wala ek practice set banaya hai, 15 posts mein 12 'jeet', aur woh paanch posts bhi sambhaal ke rakhi hain jo aisa channel delete kar deta hai. Aaj aap dono saari 20 calls ka audit kijiye, phir faisla kijiye.</a:t>
            </a:r>
          </a:p>
          <a:p/>
          <a:p>
            <a:r>
              <a:t>Seekh: Jo shortcut apne losses chhupata hai, wahi sabse lamba raasta hai. Kisi bhi number par bharosa karne se pehle har call dikhane ko kahiye.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1, paanch sawaalon mein</a:t>
            </a:r>
          </a:p>
          <a:p/>
          <a:p>
            <a:r>
              <a:t>Is hafte aapne market ki bhasha seekhi. Aaj use us cheez par test kijiye jo beginners ko sabse zyada milti hai: tip, yaani ek message jo batata hai kya khareedna ya bechna hai, aksar ek price aur target ke saath. Kisi bhi tip se neeche ke paanch sawaal poochhiye; har sawaal Week 1 ke ek din se aata hai. Agar koi sawaal abhi bhi kachcha lage, toh Quiz Game 1, yaani Week 1 exam, se pehle woh din dobara padh lijiye. Quiz Game 1 ek alag test hai, is lesson ka apna 5 sawaal wala quiz nahi.</a:t>
            </a:r>
          </a:p>
          <a:p/>
          <a:p>
            <a:r>
              <a:t>Udaharan: Ek forward aata hai: 'Kiran Foods Ltd, Rs 200 par buy, target Rs 210.' Kisne bheja, aur kya woh SEBI-registered hai? Kya aapka order Rs 200 ke aas-paas fill hoga, aur target tak ke Rs 10 per share mein se charges kitna kha jayenge? Stop kahan hai, aur risk ke muqable reward kitna hai? Ismein Fact kya hai, Guess kya aur Kachra kya, aur kya chart, volume aur paas ka support zone bhi yahi keh rahe hain? Is tip mein stop hai hi nahi, isliye chart kholne se pehle hi yeh teesre sawaal par fail ho gayi.</a:t>
            </a:r>
          </a:p>
          <a:p/>
          <a:p>
            <a:r>
              <a:t>Yaad rakhiye: Kitna kama sakte hain, yeh poochhne se pehle yeh paanch sawaal poochhiye.</a:t>
            </a:r>
          </a:p>
          <a:p/>
          <a:p>
            <a:r>
              <a:t>Slide par: Ek tip, paanch sawaal · Koi sawaal kachcha lage, toh Quiz Game 1 se pehle woh din dobara padhiye.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 Trap #1: woh scoreboard jo losses chhupata hai</a:t>
            </a:r>
          </a:p>
          <a:p/>
          <a:p>
            <a:r>
              <a:t>Shortcut wali soch ka matlab hai seekhna skip karke kisi aur ke jawab udhaar le lena, aur tips channels theek yahi khwahish bechte hain. Unke scoreboard mein survivorship bias hota hai: aapko sirf woh dikhta hai jo bach gaya, woh sab nahi jo hua. (Day 17 mein backtest ke saath yeh phir aayega.) Haari hui calls delete ho jaati hain, bina stop wali calls tab tak 'running' chhod di jaati hain jab tak wapas na aa jayein, aur screenshot sirf jeet ka banta hai. Isliye ek channel oonchi accuracy dikha sakta hai, jabki uska poora record paisa ganwa raha ho. Imaandar raasta dheema hai: ek tested rule aur ek checklist, jo aap Week 2 mein banana shuru karenge.</a:t>
            </a:r>
          </a:p>
          <a:p/>
          <a:p>
            <a:r>
              <a:t>Udaharan: Coaching centre ki hoarding kehti hai 'Hamare 50 selections!' Woh yeh nahi batati ki 5,000 students ne admission liya tha, yaani sirf 1% success. Mentor ka practice set yahi trick copy karta hai. Uske nakli channel ne ek mahine mein 20 calls di aur jin 5 posts ka stop saaf-saaf hit hua tha, unhe delete kar diya. Bachi 15 posts mein 12 'target hit' screenshots the, isliye month-end banner par likha tha '80% accuracy' (12 ÷ 15). Jo baad mein juda, usne woh paanch losses kabhi dekhe hi nahi.</a:t>
            </a:r>
          </a:p>
          <a:p/>
          <a:p>
            <a:r>
              <a:t>Yaad rakhiye: Jab tak har call aur uska stop na dikhe, accuracy ka number kisi kaam ka nahi.</a:t>
            </a:r>
          </a:p>
          <a:p/>
          <a:p>
            <a:r>
              <a:t>Slide par: Post hui vs dikhayi gayi · 15 dikhne wali posts mein 12 jeet, 80% jaisa lagta hai. Delete hue 5 losses ginti mein aate hi nahi.</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chaar fields, do rules</a:t>
            </a:r>
          </a:p>
          <a:p/>
          <a:p>
            <a:r>
              <a:t>Audit ka matlab hai summary par bharosa karne ke bajaye har record khud check karna. Har call ke liye chaar cheezein likhiye: entry, stop-loss, target aur result. Rule ek: jis call mein stop nahi, woh unmeasurable hai, kyunki R (Day 3) ka matlab hai gain ya loss ko entry se stop tak ke planned risk se divide karna, aur stop hi nahi toh divide kisse karenge; aisi calls alag giniye, yeh bhi audit ki ek finding hai. Rule do: daily candle din ka high aur low dikhati hai, lekin yeh nahi ki pehle kya hua, isliye agar ek hi candle ne target aur stop dono chhoo liye, toh use stop hit maaniye. Sakht rules aapko channel ke favour mein audit karne se rokte hain.</a:t>
            </a:r>
          </a:p>
          <a:p/>
          <a:p>
            <a:r>
              <a:t>Udaharan: Practice set ki call G: entry Rs 760, stop Rs 684, target Rs 798. Risk Rs 76 hai aur reward Rs 38, isliye target hit hone par +0.5R milta hai aur stop hit hone par -1R jaata hai. Tip ke teen din baad ek lambi daily candle ne Rs 800 ka high aur Rs 680 ka low bana diya. Channel ne ise 'target hit' bata kar post kar diya. Aapka audit -1R likhta hai, kyunki koi saabit nahi kar sakta ki target pehle aaya tha.</a:t>
            </a:r>
          </a:p>
          <a:p/>
          <a:p>
            <a:r>
              <a:t>Yaad rakhiye: Stop nahi, toh R nahi. Ek candle par target aur stop dono? Stop giniye.</a:t>
            </a:r>
          </a:p>
          <a:p/>
          <a:p>
            <a:r>
              <a:t>Slide par: Call G: ek din mein dono touch · Daily candle high aur low dikhati hai, yeh nahi ki pehle kya aaya. Sakht audit stop ginta hai.</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dikhaya 80%, asli 60%, aur phir bhi ghaata</a:t>
            </a:r>
          </a:p>
          <a:p/>
          <a:p>
            <a:r>
              <a:t>Dono rules saari 20 practice calls par lagaiye (poora set aaj ke kaam mein 'Aapka template' ke neeche hai; khud ko test karna ho toh pehle task kar lijiye). Paanch calls mein stop tha hi nahi, yaani channel ki 25% calls naapi hi nahi ja sakti. Bachi 15 measurable calls mein se 9 ne target hit kiya aur 6 ka stop hit hua: hit-rate 60%, 80% nahi. Stop wali har call mein target 5% door tha aur stop 10% door, isliye jeet par +0.5R milta hai aur haar par -1R jaata hai, yaani 1:0.5 ka payoff. Day 3 ka formula kehta hai ki is payoff par breakeven win-rate 1 ÷ (1 + 0.5), yaani lagbhag 67% chahiye, isliye 60% par costs se pehle hi ghaata hai.</a:t>
            </a:r>
          </a:p>
          <a:p/>
          <a:p>
            <a:r>
              <a:t>Udaharan: Channel ki 12 'jeet' mein se teen hat jaati hain: 'dono touch' wala din, aur do calls jinhone target toh chhua, lekin unmein stop kabhi tha hi nahi. Ab ise rupees mein giniye. Agar har call mein 1R = Rs 10,000 ka risk hota (Rs 10 lakh challenge capital ka 1%), toh 9 jeet se Rs 45,000 aate aur 6 haar se Rs 60,000 chale jaate: charges se pehle hi Rs 15,000 ka net loss. Aur bina stop wali paanch calls mein se do ne target chhua, ek toh pehle 25% girne ke baad; baaki teen abhi bhi 14% se 26% neeche hain.</a:t>
            </a:r>
          </a:p>
          <a:p/>
          <a:p>
            <a:r>
              <a:t>Yaad rakhiye: Payoff ke bina hit-rate aadha number hai. Dono maangiye, aur har call ke liye.</a:t>
            </a:r>
          </a:p>
          <a:p/>
          <a:p>
            <a:r>
              <a:t>Slide par: Audit, R mein · Rs 10,000 per R par yeh 15 calls mein -Rs 15,000 hai, charges se pehle. Breakeven ke liye lagbhag 67% jeet chahiye thi; audit mein 60% nikli.</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 flags: fake apps aur WhatsApp 'investment groups'</a:t>
            </a:r>
          </a:p>
          <a:p/>
          <a:p>
            <a:r>
              <a:t>Bade jaal ki shuruaat aksar ek tip se hoti hai. Ek aam pattern: koi anjaan aapko WhatsApp ya Telegram group mein add kar deta hai, jahan ek 'professor' bade profits post karta hai, phir aapse ek app install karwata hai ya 'VIP institutional account' khulwata hai, jo kisi SEBI-registered broker ka nahi hota. App mein profit tezi se badhta dikhta hai, lekin withdraw karne jaiye toh pehle 'fee' ya 'tax' bharne ko kaha jaata hai. Fake apps aksar kisi asli broker ka naam aur logo copy karte hain, isliye koi bhi trading app install karne se pehle check kijiye: broker ko SEBI ki registered stock brokers ki list mein, ya NSE ya BSE ki member directory mein dhoondhiye, phir app sirf us official Google Play ya App Store listing se install kijiye jiska developer (publisher) wahi registered broker ho; broker ki apni website ko bhi usi listing ka link dena chahiye. APK file se, ya WhatsApp, Telegram ya SMS par aaye link se, kabhi app install mat kijiye. Doosra pattern pump-and-dump hai: group kisi chhote, kam trade hone wale share ko hype karta hai, members khareed lete hain, aur operators, yaani scheme chalane wale log, oopar unhi ko bech kar nikal jaate hain. Red-flag words pehchaan lijiye; yeh scam ki bhasha hai, yahan sirf pehchaan ke liye likhi hai: 'sure-shot', 'jackpot', '100% accuracy', 'operator news', 'upper circuit pakka', 'limited seats'.</a:t>
            </a:r>
          </a:p>
          <a:p/>
          <a:p>
            <a:r>
              <a:t>Udaharan: Aman ke ek colleague ko aise hi group mein add kiya gaya, aur usne Rs 50,000 ek aadmi ke naam wale bank account mein bhej diye. Do hafte baad app Rs 1,80,000 dikhane laga. Withdraw maanga toh 'support team' ne pehle 20% 'release fee', yaani Rs 36,000, maang li. Woh balance sirf screen par ek number tha. Registered broker paisa sirf aapke apne bank account se, broker ke naam wale account mein leta hai (UPI se ho toh sirf aisi ID par jismein '@valid' ho), aur aapka apna paisa lautane ke liye pehle se koi 'fee' ya 'tax' nahi maangta.</a:t>
            </a:r>
          </a:p>
          <a:p/>
          <a:p>
            <a:r>
              <a:t>Yaad rakhiye: Apna hi paisa nikalne ke liye aur paisa maanga ja raha hai? Paisa dena band kijiye aur turant report kijiye.</a:t>
            </a:r>
          </a:p>
          <a:p/>
          <a:p>
            <a:r>
              <a:t>Slide par: Scam pattern vs registered broker · Left column ki koi ek baat bhi rukne ke liye kaafi hai.</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Pehle verify, phir sahi tareeke se complaint</a:t>
            </a:r>
          </a:p>
          <a:p/>
          <a:p>
            <a:r>
              <a:t>India mein jo bhi fee lekar buy-sell advice ya stock recommendations deta hai, use SEBI registration chahiye, aam taur par Investment Adviser (number INA se shuru) ya Research Analyst (number INH se shuru) ke roop mein. Unhe SEBI ki apni website par check kijiye: naam aur number match hone chahiye, aur fee usi registered naam wale account mein jaani chahiye. Agar koi registered broker, adviser ya listed company aapki problem solve nahi karti, toh pehle uske grievance desk par complaint kijiye. Wahan hal na ho, toh aam taur par agla kadam SEBI ka SCORES portal hai. Aap grievance desk ke baad seedhe, ya SCORES ke baad, SMART ODR par bhi ja sakte hain, jo market ka online dispute resolution portal hai. Jo log kabhi registered the hi nahi, unke fraud ki report cybercrime.gov.in par kijiye ya 1930 par call kijiye. Kisi ko paisa dene se pehle uska UPI ID ya bank account SEBI ke 'SEBI Check' tool par check kijiye, aur latest process SEBI ki site par dekh lijiye.</a:t>
            </a:r>
          </a:p>
          <a:p/>
          <a:p>
            <a:r>
              <a:t>Udaharan: Priya ko ek Instagram page milta hai jo Rs 9,999 mein UPI se 'RA-certified calls' bech raha hai. Page par ek INH number dikhaya gaya hai. sebi.gov.in par woh number kisi aur shehar ki, alag naam wali firm ka nikalta hai, yaani page kisi aur ka registration use kar raha hai. Priya na paisa deti hai, na message karti hai; screenshots save karke page ko Instagram par aur cybercrime.gov.in par report kar deti hai. Agar kabhi uska apna broker galat charge laga de aur sune bhi nahi, toh raasta alag hoga: pehle broker ka grievance desk, phir SCORES ya SMART ODR.</a:t>
            </a:r>
          </a:p>
          <a:p/>
          <a:p>
            <a:r>
              <a:t>Yaad rakhiye: Registered ka matlab hai check ho sakta hai aur jawabdeh hai. Paisa dene se pehle check kijiye, ganwane ke baad nahi.</a:t>
            </a:r>
          </a:p>
          <a:p/>
          <a:p>
            <a:r>
              <a:t>Slide par: Jab registered entity madad na kare · SMART ODR grievance desk ke baad seedhe bhi ho sakta hai. Unregistered logon ka fraud: cybercrime.gov.in par report kijiye ya 1930 par call kijiye. Latest process SEBI ki site par check kijiye.</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Survivorship bias: Sirf bachi hui cheezon se faisla karna, jaise channel ki rakhi hui jeet, jabki losses chupchaap nazar se gayab ho jaate hain.</a:t>
            </a:r>
          </a:p>
          <a:p>
            <a:r>
              <a:t>Hit-rate: Day 3 ka win-rate, tips par: target tak pahunchne wali calls ka hissa, sirf un calls par gina jaata hai jinmein stop tha. Payoff ke bina iska matlab kam hai.</a:t>
            </a:r>
          </a:p>
          <a:p>
            <a:r>
              <a:t>Unmeasurable call: Bina stop-loss wali call. Planned risk hi nahi, toh result R mein gina nahi ja sakta, isliye ise alag report karte hain.</a:t>
            </a:r>
          </a:p>
          <a:p>
            <a:r>
              <a:t>Pump-and-dump: Group ek chhote, kam trade hone wale share ko hype karta hai taaki log khareedein, aur operators oopar unhi ko bech dete hain.</a:t>
            </a:r>
          </a:p>
          <a:p>
            <a:r>
              <a:t>SCORES: SEBI Complaints Redress System: registered entities aur listed companies se judi problems ke liye SEBI ka online complaint portal, aam taur par entity ke apne grievance desk ke baad.</a:t>
            </a:r>
          </a:p>
          <a:p>
            <a:r>
              <a:t>SMART ODR: Securities market ka online dispute resolution portal. Entity ka grievance desk (ya SCORES) complaint na suljhaye, toh pehle ek conciliator dono taraf ko samjhaute tak laane ki koshish karta hai; baat na bane, toh ek arbitrator faisla karta hai.</a:t>
            </a:r>
          </a:p>
          <a:p>
            <a:r>
              <a:t>APK (sideloaded app): Aisi app file jo official Google Play ya App Store listing ki jagah kisi link se install ki jaaye. Fake trading apps isi tarah failte hain; broker ka app sirf us store listing se install kijiye jiska link broker ki apni website deti hai.</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1 review + Shortcut Trap #1</a:t>
            </a:r>
          </a:p>
          <a:p>
            <a:r>
              <a:t>Paanch sawaal: Kisne bheja?; Fill, kharcha, maths?; Fact, Guess ya Kachra?; Chart kya keh raha hai?</a:t>
            </a:r>
          </a:p>
          <a:p>
            <a:r>
              <a:t>Survivorship: Haari posts delete ho jaati hain; Bina stop wali calls 'running'; Har call dekhne ki maang</a:t>
            </a:r>
          </a:p>
          <a:p>
            <a:r>
              <a:t>Audit ke rules: Entry, stop, target, result; Stop nahi = unmeasurable; Dono touch = stop hit</a:t>
            </a:r>
          </a:p>
          <a:p>
            <a:r>
              <a:t>Asli numbers: Dikhaya 80%, audit mein 60%; Breakeven lagbhag 67%; Har call par average -0.1R</a:t>
            </a:r>
          </a:p>
          <a:p>
            <a:r>
              <a:t>Scam radar: Group, app, personal account; Nikalne se pehle paisa bharo = fraud; Red-flag words pehchaaniye</a:t>
            </a:r>
          </a:p>
          <a:p>
            <a:r>
              <a:t>Khud ko bachaiye: sebi.gov.in par INA / INH check; Grievance desk, SCORES, SMART ODR; Fraud: cybercrime.gov.in, 1930</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 ke 20 practice tips ka audit kijiye, SEBI par ek registration aur ek trading app check kijiye, journal mein apna Week 1 review likhiye, phir Quiz Game 1 dijiye.</a:t>
            </a:r>
          </a:p>
          <a:p/>
          <a:p>
            <a:r>
              <a:t>1. Neeche ki dono Practice set tables kholiye aur saari 20 calls ka aakhri column bhariye, kaagaz par ya Google Sheet ki copy mein: target hit par +0.5R, stop hit ya 'dono touch' wale din par -1R, jahan stop diya hi nahi wahan 'unmeasurable', aur jo bhi red flag dikhe woh bhi.</a:t>
            </a:r>
          </a:p>
          <a:p>
            <a:r>
              <a:t>2. Teen numbers nikaliye: stop wali calls par hit-rate, har measurable call ka average R, aur bina stop wali calls ka hissa. Apna hisaab AI Lab ke 'Practice set ka audit' prompt se check kijiye, ya AI chat na ho toh upar ke 'Result' wale topic se milaiye.</a:t>
            </a:r>
          </a:p>
          <a:p>
            <a:r>
              <a:t>3. sebi.gov.in par 'Recognised Intermediaries' dhoondhiye, Research Analyst ya Investment Adviser ki list kholiye, aur online dekhe kisi ek adviser ya 'guru' ka registration check kijiye (koi na ho toh INH000020004): naam aur number match kijiye. Unhe message mat kijiye.</a:t>
            </a:r>
          </a:p>
          <a:p>
            <a:r>
              <a:t>4. Koi ek trading app check kijiye jo aap use karte hain ya jiska naam suna hai (account ki zaroorat nahi): uski official Google Play ya App Store listing par developer (publisher) ka naam padhiye, phir wahi naam SEBI ki registered stock brokers ki list (Recognised Intermediaries) mein, ya NSE ya BSE ki member directory mein dhoondhiye ('Limited' ki jagah 'Ltd' jaisa chhota farq normal hai; publisher koi doosri company ho toh check kijiye ki broker ki apni website usi store listing ka link deti hai). APK file se, ya kisi ke bheje link se, kabhi app install mat kijiye.</a:t>
            </a:r>
          </a:p>
          <a:p>
            <a:r>
              <a:t>5. Aaj ke journal mein entry type 'Weekly review' chuniye aur neeche ke Week 1 review template ke jawab likhiye, saath mein ek line ki aap kab SCORES (scores.sebi.gov.in), SMART ODR (smartodr.in) ya 1930 use karenge. Yeh review aapke certificate mein ginta hai.</a:t>
            </a:r>
          </a:p>
          <a:p>
            <a:r>
              <a:t>6. Aakhir mein Quiz Game 1, yaani Week 1 exam, dijiye, jab Week 1 ke paanch sawaal aasaan lagne lagein. Yeh aaj ke 50 minute ke kaam mein nahi gina gaya, lekin teenon weekly Quiz Games dena certificate ki ek shart hai.</a:t>
            </a:r>
          </a:p>
          <a:p/>
          <a:p>
            <a:r>
              <a:t>Aaj ke baad: Aaj ke baad aap kisi bhi tip ko Week 1 ke paanch sawaalon se parakh payenge, calls ke ek set ka hit-rate, R aur missing stops ke liye audit kar payenge, fake app aur WhatsApp group ke red flags pehchaan payenge, SEBI registration aur trading app ka publisher check kar payenge, complaint ka raasta bata payenge (pehle grievance desk, phir SCORES ya SMART ODR), aur weekly review likh payenge.</a:t>
            </a:r>
          </a:p>
          <a:p/>
          <a:p>
            <a:r>
              <a:t>Tools: Google Sheets; Koi bhi AI chat; SEBI website (sebi.gov.in); SCORES (scores.sebi.gov.in) aur SMART ODR (smartodr.in); Phone ka app store (Google Play ya App Store)</a:t>
            </a:r>
          </a:p>
          <a:p/>
          <a:p>
            <a:r>
              <a:t>Educational content only, not investment advice. The tips, channel and scam messages in this lesson are made up for training.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 ke 20 practice tips ka audit kijiye, SEBI par ek registration aur ek trading app check kijiye, journal mein apna Week 1 review likhiye, phir Quiz Game 1 dijiye.</a:t>
            </a:r>
          </a:p>
          <a:p/>
          <a:p>
            <a:r>
              <a:t>1. Neeche ki dono Practice set tables kholiye aur saari 20 calls ka aakhri column bhariye, kaagaz par ya Google Sheet ki copy mein: target hit par +0.5R, stop hit ya 'dono touch' wale din par -1R, jahan stop diya hi nahi wahan 'unmeasurable', aur jo bhi red flag dikhe woh bhi.</a:t>
            </a:r>
          </a:p>
          <a:p>
            <a:r>
              <a:t>2. Teen numbers nikaliye: stop wali calls par hit-rate, har measurable call ka average R, aur bina stop wali calls ka hissa. Apna hisaab AI Lab ke 'Practice set ka audit' prompt se check kijiye, ya AI chat na ho toh upar ke 'Result' wale topic se milaiye.</a:t>
            </a:r>
          </a:p>
          <a:p>
            <a:r>
              <a:t>3. sebi.gov.in par 'Recognised Intermediaries' dhoondhiye, Research Analyst ya Investment Adviser ki list kholiye, aur online dekhe kisi ek adviser ya 'guru' ka registration check kijiye (koi na ho toh INH000020004): naam aur number match kijiye. Unhe message mat kijiye.</a:t>
            </a:r>
          </a:p>
          <a:p>
            <a:r>
              <a:t>4. Koi ek trading app check kijiye jo aap use karte hain ya jiska naam suna hai (account ki zaroorat nahi): uski official Google Play ya App Store listing par developer (publisher) ka naam padhiye, phir wahi naam SEBI ki registered stock brokers ki list (Recognised Intermediaries) mein, ya NSE ya BSE ki member directory mein dhoondhiye ('Limited' ki jagah 'Ltd' jaisa chhota farq normal hai; publisher koi doosri company ho toh check kijiye ki broker ki apni website usi store listing ka link deti hai). APK file se, ya kisi ke bheje link se, kabhi app install mat kijiye.</a:t>
            </a:r>
          </a:p>
          <a:p>
            <a:r>
              <a:t>5. Aaj ke journal mein entry type 'Weekly review' chuniye aur neeche ke Week 1 review template ke jawab likhiye, saath mein ek line ki aap kab SCORES (scores.sebi.gov.in), SMART ODR (smartodr.in) ya 1930 use karenge. Yeh review aapke certificate mein ginta hai.</a:t>
            </a:r>
          </a:p>
          <a:p>
            <a:r>
              <a:t>6. Aakhir mein Quiz Game 1, yaani Week 1 exam, dijiye, jab Week 1 ke paanch sawaal aasaan lagne lagein. Yeh aaj ke 50 minute ke kaam mein nahi gina gaya, lekin teenon weekly Quiz Games dena certificate ki ek shart hai.</a:t>
            </a:r>
          </a:p>
          <a:p/>
          <a:p>
            <a:r>
              <a:t>Aaj ke baad: Aaj ke baad aap kisi bhi tip ko Week 1 ke paanch sawaalon se parakh payenge, calls ke ek set ka hit-rate, R aur missing stops ke liye audit kar payenge, fake app aur WhatsApp group ke red flags pehchaan payenge, SEBI registration aur trading app ka publisher check kar payenge, complaint ka raasta bata payenge (pehle grievance desk, phir SCORES ya SMART ODR), aur weekly review likh payenge.</a:t>
            </a:r>
          </a:p>
          <a:p/>
          <a:p>
            <a:r>
              <a:t>Tools: Google Sheets; Koi bhi AI chat; SEBI website (sebi.gov.in); SCORES (scores.sebi.gov.in) aur SMART ODR (smartodr.in); Phone ka app store (Google Play ya App Store)</a:t>
            </a:r>
          </a:p>
          <a:p/>
          <a:p>
            <a:r>
              <a:t>Educational content only, not investment advice. The tips, channel and scam messages in this lesson are made up for training.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set, calls A se J</a:t>
            </a:r>
          </a:p>
          <a:p/>
          <a:p>
            <a:r>
              <a:t>Mentor ka banaya set, ek nakli channel ka; calls sirf placeholders hain, asli stocks nahi. Yahan har stop entry se 10% neeche hai aur har target 5% upar.</a:t>
            </a:r>
          </a:p>
          <a:p/>
          <a:p>
            <a:r>
              <a:t>Call | Entry (Rs) | Stop (Rs) | Target (Rs) | Kya hua | Aapka R / red flag</a:t>
            </a:r>
          </a:p>
          <a:p>
            <a:r>
              <a:t>A | 200 | 180 | 210 | Target hit | </a:t>
            </a:r>
          </a:p>
          <a:p>
            <a:r>
              <a:t>B | 480 | 432 | 504 | Stop hit; post delete | </a:t>
            </a:r>
          </a:p>
          <a:p>
            <a:r>
              <a:t>C | 120 | 108 | 126 | Target hit | </a:t>
            </a:r>
          </a:p>
          <a:p>
            <a:r>
              <a:t>D | 1000 | 900 | 1050 | Target hit | </a:t>
            </a:r>
          </a:p>
          <a:p>
            <a:r>
              <a:t>E | 340 | 306 | 357 | Stop hit; post delete | </a:t>
            </a:r>
          </a:p>
          <a:p>
            <a:r>
              <a:t>F | 60 | 54 | 63 | Target hit | </a:t>
            </a:r>
          </a:p>
          <a:p>
            <a:r>
              <a:t>G | 760 | 684 | 798 | Ek daily candle ne dono chhue; target hit bata kar post | </a:t>
            </a:r>
          </a:p>
          <a:p>
            <a:r>
              <a:t>H | 260 | 234 | 273 | Target hit | </a:t>
            </a:r>
          </a:p>
          <a:p>
            <a:r>
              <a:t>I | 900 | 810 | 945 | Stop hit; post delete | </a:t>
            </a:r>
          </a:p>
          <a:p>
            <a:r>
              <a:t>J | 140 | 126 | 147 | Target hit |</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set, calls K se T</a:t>
            </a:r>
          </a:p>
          <a:p/>
          <a:p>
            <a:r>
              <a:t>K se O mein bhi wahi 10% stop aur 5% target hai. P se T mein stop tha hi nahi, isliye unka R naapa nahi ja sakta: 'unmeasurable' likhiye aur note kijiye ki kya hua.</a:t>
            </a:r>
          </a:p>
          <a:p/>
          <a:p>
            <a:r>
              <a:t>Call | Entry (Rs) | Stop (Rs) | Target (Rs) | Kya hua | Aapka R / red flag</a:t>
            </a:r>
          </a:p>
          <a:p>
            <a:r>
              <a:t>K | 420 | 378 | 441 | Target hit | </a:t>
            </a:r>
          </a:p>
          <a:p>
            <a:r>
              <a:t>L | 580 | 522 | 609 | Stop hit; post delete | </a:t>
            </a:r>
          </a:p>
          <a:p>
            <a:r>
              <a:t>M | 80 | 72 | 84 | Target hit | </a:t>
            </a:r>
          </a:p>
          <a:p>
            <a:r>
              <a:t>N | 1200 | 1080 | 1260 | Stop hit; post delete | </a:t>
            </a:r>
          </a:p>
          <a:p>
            <a:r>
              <a:t>O | 300 | 270 | 315 | Target hit | </a:t>
            </a:r>
          </a:p>
          <a:p>
            <a:r>
              <a:t>P | 220 | Nahi diya | 240 | Ab 187 par; abhi bhi 'running' | </a:t>
            </a:r>
          </a:p>
          <a:p>
            <a:r>
              <a:t>Q | 640 | Nahi diya | 700 | Pehle 480 tak gira, phir target; target hit bata kar post | </a:t>
            </a:r>
          </a:p>
          <a:p>
            <a:r>
              <a:t>R | 95 | Nahi diya | 110 | Ab 70 par; abhi bhi 'running' | </a:t>
            </a:r>
          </a:p>
          <a:p>
            <a:r>
              <a:t>S | 1500 | Nahi diya | 1650 | Ab 1290 par; abhi bhi 'running' | </a:t>
            </a:r>
          </a:p>
          <a:p>
            <a:r>
              <a:t>T | 410 | Nahi diya | 450 | Target hit |</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1 review</a:t>
            </a:r>
          </a:p>
          <a:p/>
          <a:p>
            <a:r>
              <a:t>Apne jawab aaj ke journal mein entry type 'Weekly review' chun kar likhiye; yeh certificate mein ginta hai. Sirf numbers, koi asli naam nahi.</a:t>
            </a:r>
          </a:p>
          <a:p/>
          <a:p>
            <a:r>
              <a:t>Sawaal | Aapka jawab (numbers ya ek line)</a:t>
            </a:r>
          </a:p>
          <a:p>
            <a:r>
              <a:t>Stop wali calls par mera hit-rate | </a:t>
            </a:r>
          </a:p>
          <a:p>
            <a:r>
              <a:t>Har measurable call ka mera average R | </a:t>
            </a:r>
          </a:p>
          <a:p>
            <a:r>
              <a:t>Bina stop wali calls ka hissa | </a:t>
            </a:r>
          </a:p>
          <a:p>
            <a:r>
              <a:t>Yeh '80%' wale banner se kitna door hai | </a:t>
            </a:r>
          </a:p>
          <a:p>
            <a:r>
              <a:t>Week 1 ka sabse kachcha sawaal, aur kaunsa din dobara padhna hai | </a:t>
            </a:r>
          </a:p>
          <a:p>
            <a:r>
              <a:t>Registration aur app check: naam match hue? | </a:t>
            </a:r>
          </a:p>
          <a:p>
            <a:r>
              <a:t>Grievance desk, SCORES, SMART ODR ya 1930 kab use karna hai | </a:t>
            </a:r>
          </a:p>
          <a:p>
            <a:r>
              <a:t>Mera FII/DII flow log (Day 1): kya kisi ek shaam ke flow ne bataya ki agle din kya hua? | </a:t>
            </a:r>
          </a:p>
          <a:p>
            <a:r>
              <a:t>Ek aadat jo Week 2 mein saath le jaani hai |</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race: classmates ya family ke saath sab log ek hi waqt par wahi 20 practice calls audit karte hain. Jo sabse pehle R column ki har row sahi bhar de, hisaab ke saath, woh jeeta; lesson ke totals sirf answer milane ke liye hain. Akele hain? Apna time note kijiye, phir AI Lab mein 60 second ka red-flag hunt try kijiye.</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Practice set ka audit</a:t>
            </a:r>
          </a:p>
          <a:p>
            <a:r>
              <a:t>I am a beginner doing a practice audit for my trading course. Below is a made-up set of 20 stock tips created by my course mentor for training; the stock names are placeholders and none of this is real market data. I have already filled in my own R result for every call and worked out three numbers: the hit-rate on the calls that had a stop, the average R per measurable call, and the share of calls with no stop. Step 1: ask me to paste my R column and my three numbers, then wait. Step 2: check each R entry and each number step by step with two rules: a call with no stop is 'unmeasurable' and is left out of the hit-rate and the R average; if one daily candle touched both the target and the stop, count it as a stop hit (-1R). Explain any mistake in simple words. Step 3: list the red flags you can see in this set, such as missing stops, deleted losing posts and a 'both touched' day shown as a win, as a plain list. Do not recommend any stock, do not give buy or sell advice, and do not suggest price targets or expected returns for any real security.</a:t>
            </a:r>
          </a:p>
          <a:p/>
          <a:p>
            <a:r>
              <a:t>The practice set (entry / stop / target / outcome):</a:t>
            </a:r>
          </a:p>
          <a:p>
            <a:r>
              <a:t>Stock A: 200 / 180 / 210 / target hit</a:t>
            </a:r>
          </a:p>
          <a:p>
            <a:r>
              <a:t>Stock B: 480 / 432 / 504 / stop hit (post deleted)</a:t>
            </a:r>
          </a:p>
          <a:p>
            <a:r>
              <a:t>Stock C: 120 / 108 / 126 / target hit</a:t>
            </a:r>
          </a:p>
          <a:p>
            <a:r>
              <a:t>Stock D: 1000 / 900 / 1050 / target hit</a:t>
            </a:r>
          </a:p>
          <a:p>
            <a:r>
              <a:t>Stock E: 340 / 306 / 357 / stop hit (post deleted)</a:t>
            </a:r>
          </a:p>
          <a:p>
            <a:r>
              <a:t>Stock F: 60 / 54 / 63 / target hit</a:t>
            </a:r>
          </a:p>
          <a:p>
            <a:r>
              <a:t>Stock G: 760 / 684 / 798 / one daily candle touched both (posted as target hit)</a:t>
            </a:r>
          </a:p>
          <a:p>
            <a:r>
              <a:t>Stock H: 260 / 234 / 273 / target hit</a:t>
            </a:r>
          </a:p>
          <a:p>
            <a:r>
              <a:t>Stock I: 900 / 810 / 945 / stop hit (post deleted)</a:t>
            </a:r>
          </a:p>
          <a:p>
            <a:r>
              <a:t>Stock J: 140 / 126 / 147 / target hit</a:t>
            </a:r>
          </a:p>
          <a:p>
            <a:r>
              <a:t>Stock K: 420 / 378 / 441 / target hit</a:t>
            </a:r>
          </a:p>
          <a:p>
            <a:r>
              <a:t>Stock L: 580 / 522 / 609 / stop hit (post deleted)</a:t>
            </a:r>
          </a:p>
          <a:p>
            <a:r>
              <a:t>Stock M: 80 / 72 / 84 / target hit</a:t>
            </a:r>
          </a:p>
          <a:p>
            <a:r>
              <a:t>Stock N: 1200 / 1080 / 1260 / stop hit (post deleted)</a:t>
            </a:r>
          </a:p>
          <a:p>
            <a:r>
              <a:t>Stock O: 300 / 270 / 315 / target hit</a:t>
            </a:r>
          </a:p>
          <a:p>
            <a:r>
              <a:t>Stock P: 220 / no stop given / 240 / now at 187</a:t>
            </a:r>
          </a:p>
          <a:p>
            <a:r>
              <a:t>Stock Q: 640 / no stop given / 700 / fell to 480 first, then reached target before month-end (posted as target hit)</a:t>
            </a:r>
          </a:p>
          <a:p>
            <a:r>
              <a:t>Stock R: 95 / no stop given / 110 / now at 70</a:t>
            </a:r>
          </a:p>
          <a:p>
            <a:r>
              <a:t>Stock S: 1500 / no stop given / 1650 / now at 1290</a:t>
            </a:r>
          </a:p>
          <a:p>
            <a:r>
              <a:t>Stock T: 410 / no stop given / 450 / target hit</a:t>
            </a:r>
          </a:p>
          <a:p/>
          <a:p>
            <a:r>
              <a:t>Prompt 2: 60 second ka red-flag hunt</a:t>
            </a:r>
          </a:p>
          <a:p>
            <a:r>
              <a:t>Create one made-up WhatsApp message of about 80 words in the style of an Indian stock-tips group, clearly labelled 'PRACTICE SCAM EXAMPLE - NOT REAL'. Use placeholders only (for example 'Stock X'): no real company, person, channel, app or bank. Hide at least 6 red flags in it, such as an accuracy claim, urgency, limited seats, payment to a personal account, a 'VIP institutional account' or a fee to withdraw. Show me the message and wait while I list the red flags I can find in 60 seconds. Then reveal every red flag, mark the ones I missed, and for each one explain in one line what a SEBI-registered entity would do differently. Do not give buy or sell advice, do not mention any real security, and do not give price targets or return expectations.</a:t>
            </a:r>
          </a:p>
          <a:p/>
          <a:p>
            <a:r>
              <a:t>Prompt 3: Verify aur escalate</a:t>
            </a:r>
          </a:p>
          <a:p>
            <a:r>
              <a:t>Act as a careful investor-protection guide for India, talking to a complete beginner. In short numbered steps, explain: (1) how to check on sebi.gov.in whether a person or firm is a SEBI-registered Research Analyst or Investment Adviser, and which details must match; (2) signs that someone may be using another entity's registration number; (3) the complaint path when a registered broker or adviser does not solve a problem: the entity's grievance desk, SEBI SCORES and SMART ODR; (4) where to report fraud by people who are not registered at all; (5) how to check that a trading app is genuine before installing it: the broker on SEBI's list of stock brokers or the exchange member directory, and the same name as the developer on the official app-store listing, never an APK file or a link from a chat. Label every statement Fact (checkable on an official website), Guess (you are unsure or it may have changed) or Kachra (a popular myth), and end with a list of the steps I should re-check on the official sites because menus and rules change. Do not ask for any personal details, do not name or judge any real adviser or company,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 ke paas ek practice channel ka poora record hai: 20 calls. 4 mein stop nahi tha. Baaki 16 mein se 10 ne target hit kiya aur 6 ka stop hit hua, aur channel ne woh 6 posts delete kar di. Audit wala hit-rate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ne apne SEBI-registered broker ke grievance desk ko contract note ke ek galat charge ki complaint likhi, lekin problem abhi tak solve nahi hui. Inmein se sahi agla kadam kaunsa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 daily charts par audit kar rahe hain. Ek call mein entry Rs 500, stop Rs 470 aur target Rs 530 tha. Agle din ki candle ne Rs 534 ka high aur Rs 466 ka low banaya. Ise kaise record karenge?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ke padosi ne ek WhatsApp 'institutional' group join kiya aur Rs 40,000 ek aadmi ke naam wale account mein bhej diye. App ab Rs 1.2 lakh dikha raha hai, lekin withdraw karne se pehle 15% 'processing fee' bharni hogi. Sabse sahi agla kadam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Instagram page SEBI Research Analyst number dikhata hai aur 'premium calls' ke liye UPI se Rs 7,999 fee maangta hai. Paisa dene se pehle sabse zaroori check kaunsa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Weekly review (entry type mein 'Weekly review' chuniye; yeh certificate mein ginta hai): aapke audit mein hit-rate, average R aur bina stop wali calls ka hissa kitna nikla, aur woh '80%' wale banner se kitna door tha? Week 1 ke paanch sawaalon mein se kaunsa abhi bhi sabse kachcha lagta hai? Sirf numbers likhiye, kisi asli channel ya insaan ka naam kabhi nahi.</a:t>
            </a:r>
          </a:p>
          <a:p/>
          <a:p>
            <a:r>
              <a:t>Shortcut jaldi pahunchane ka vada karta hai. Process sirf itna batata hai ki aap sach mein kahan khade hain, aur Week 1 ke end mein aapko theek yahi chahiye.</a:t>
            </a:r>
          </a:p>
          <a:p/>
          <a:p>
            <a:r>
              <a:t>Agla: Day 8 · Kaam ke indicators, aur unki limits</a:t>
            </a:r>
          </a:p>
          <a:p/>
          <a:p>
            <a:r>
              <a:t>Educational content only, not investment advice. The tips, channel and scam messages in this lesson are made up for training.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502920"/>
            <a:ext cx="960120" cy="960120"/>
          </a:xfrm>
          <a:prstGeom prst="rect">
            <a:avLst/>
          </a:prstGeom>
        </p:spPr>
      </p:pic>
      <p:sp>
        <p:nvSpPr>
          <p:cNvPr id="3" name="TextBox 2"/>
          <p:cNvSpPr txBox="1"/>
          <p:nvPr/>
        </p:nvSpPr>
        <p:spPr>
          <a:xfrm>
            <a:off x="1645920" y="640080"/>
            <a:ext cx="7315200" cy="310896"/>
          </a:xfrm>
          <a:prstGeom prst="rect">
            <a:avLst/>
          </a:prstGeom>
          <a:noFill/>
        </p:spPr>
        <p:txBody>
          <a:bodyPr wrap="square" lIns="0" rIns="0" tIns="0" bIns="0" anchor="t">
            <a:noAutofit/>
          </a:bodyPr>
          <a:lstStyle/>
          <a:p>
            <a:pPr algn="l">
              <a:lnSpc>
                <a:spcPct val="100000"/>
              </a:lnSpc>
            </a:pPr>
            <a:r>
              <a:rPr sz="1500" b="1" i="0">
                <a:solidFill>
                  <a:srgbClr val="00AEEF"/>
                </a:solidFill>
                <a:latin typeface="Segoe UI"/>
              </a:rPr>
              <a:t>CIRCLE S.M.A.R.T</a:t>
            </a:r>
          </a:p>
        </p:txBody>
      </p:sp>
      <p:sp>
        <p:nvSpPr>
          <p:cNvPr id="4" name="TextBox 3"/>
          <p:cNvSpPr txBox="1"/>
          <p:nvPr/>
        </p:nvSpPr>
        <p:spPr>
          <a:xfrm>
            <a:off x="1645920" y="987552"/>
            <a:ext cx="7315200" cy="310896"/>
          </a:xfrm>
          <a:prstGeom prst="rect">
            <a:avLst/>
          </a:prstGeom>
          <a:noFill/>
        </p:spPr>
        <p:txBody>
          <a:bodyPr wrap="square" lIns="0" rIns="0" tIns="0" bIns="0" anchor="t">
            <a:noAutofit/>
          </a:bodyPr>
          <a:lstStyle/>
          <a:p>
            <a:pPr algn="l">
              <a:lnSpc>
                <a:spcPct val="100000"/>
              </a:lnSpc>
            </a:pPr>
            <a:r>
              <a:rPr sz="1500" b="1" i="0">
                <a:solidFill>
                  <a:srgbClr val="A8B8CE"/>
                </a:solidFill>
                <a:latin typeface="Segoe UI"/>
              </a:rPr>
              <a:t>Stage 1 · Week 1</a:t>
            </a:r>
          </a:p>
        </p:txBody>
      </p:sp>
      <p:sp>
        <p:nvSpPr>
          <p:cNvPr id="5" name="TextBox 4"/>
          <p:cNvSpPr txBox="1"/>
          <p:nvPr/>
        </p:nvSpPr>
        <p:spPr>
          <a:xfrm>
            <a:off x="457200" y="2331720"/>
            <a:ext cx="10241280" cy="1447800"/>
          </a:xfrm>
          <a:prstGeom prst="rect">
            <a:avLst/>
          </a:prstGeom>
          <a:noFill/>
        </p:spPr>
        <p:txBody>
          <a:bodyPr wrap="square" lIns="0" rIns="0" tIns="0" bIns="0" anchor="t">
            <a:noAutofit/>
          </a:bodyPr>
          <a:lstStyle/>
          <a:p>
            <a:pPr algn="l">
              <a:lnSpc>
                <a:spcPct val="100000"/>
              </a:lnSpc>
            </a:pPr>
            <a:r>
              <a:rPr sz="4600" b="1" i="0">
                <a:solidFill>
                  <a:srgbClr val="FFFFFF"/>
                </a:solidFill>
                <a:latin typeface="Segoe UI"/>
              </a:rPr>
              <a:t>Market kaise chalta hai, aur price ki bhasha</a:t>
            </a:r>
          </a:p>
        </p:txBody>
      </p:sp>
      <p:sp>
        <p:nvSpPr>
          <p:cNvPr id="6" name="TextBox 5"/>
          <p:cNvSpPr txBox="1"/>
          <p:nvPr/>
        </p:nvSpPr>
        <p:spPr>
          <a:xfrm>
            <a:off x="457200" y="4008120"/>
            <a:ext cx="10058400" cy="365760"/>
          </a:xfrm>
          <a:prstGeom prst="rect">
            <a:avLst/>
          </a:prstGeom>
          <a:noFill/>
        </p:spPr>
        <p:txBody>
          <a:bodyPr wrap="square" lIns="0" rIns="0" tIns="0" bIns="0" anchor="t">
            <a:noAutofit/>
          </a:bodyPr>
          <a:lstStyle/>
          <a:p>
            <a:pPr algn="l">
              <a:lnSpc>
                <a:spcPct val="100000"/>
              </a:lnSpc>
            </a:pPr>
            <a:r>
              <a:rPr sz="1800" b="1" i="0">
                <a:solidFill>
                  <a:srgbClr val="00AEEF"/>
                </a:solidFill>
                <a:latin typeface="Segoe UI"/>
              </a:rPr>
              <a:t>Day 1-7</a:t>
            </a:r>
          </a:p>
        </p:txBody>
      </p:sp>
      <p:sp>
        <p:nvSpPr>
          <p:cNvPr id="7" name="TextBox 6"/>
          <p:cNvSpPr txBox="1"/>
          <p:nvPr/>
        </p:nvSpPr>
        <p:spPr>
          <a:xfrm>
            <a:off x="457200" y="4447032"/>
            <a:ext cx="10058400" cy="365760"/>
          </a:xfrm>
          <a:prstGeom prst="rect">
            <a:avLst/>
          </a:prstGeom>
          <a:noFill/>
        </p:spPr>
        <p:txBody>
          <a:bodyPr wrap="square" lIns="0" rIns="0" tIns="0" bIns="0" anchor="t">
            <a:noAutofit/>
          </a:bodyPr>
          <a:lstStyle/>
          <a:p>
            <a:pPr algn="l">
              <a:lnSpc>
                <a:spcPct val="100000"/>
              </a:lnSpc>
            </a:pPr>
            <a:r>
              <a:rPr sz="1700" b="0" i="0">
                <a:solidFill>
                  <a:srgbClr val="A8B8CE"/>
                </a:solidFill>
                <a:latin typeface="Segoe UI"/>
              </a:rPr>
              <a:t>Sirf virtual paisa. Score process ka hota hai, profit ka nahi.</a:t>
            </a:r>
          </a:p>
        </p:txBody>
      </p:sp>
      <p:sp>
        <p:nvSpPr>
          <p:cNvPr id="8" name="Rounded Rectangle 7"/>
          <p:cNvSpPr/>
          <p:nvPr/>
        </p:nvSpPr>
        <p:spPr>
          <a:xfrm>
            <a:off x="457200" y="5074920"/>
            <a:ext cx="1867650"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Class deck · Hinglish</a:t>
            </a:r>
          </a:p>
        </p:txBody>
      </p:sp>
      <p:pic>
        <p:nvPicPr>
          <p:cNvPr id="9" name="Picture 8" descr="logo.png"/>
          <p:cNvPicPr>
            <a:picLocks noChangeAspect="1"/>
          </p:cNvPicPr>
          <p:nvPr/>
        </p:nvPicPr>
        <p:blipFill>
          <a:blip r:embed="rId2"/>
          <a:stretch>
            <a:fillRect/>
          </a:stretch>
        </p:blipFill>
        <p:spPr>
          <a:xfrm>
            <a:off x="457200" y="6437376"/>
            <a:ext cx="237744" cy="237744"/>
          </a:xfrm>
          <a:prstGeom prst="rect">
            <a:avLst/>
          </a:prstGeom>
        </p:spPr>
      </p:pic>
      <p:sp>
        <p:nvSpPr>
          <p:cNvPr id="1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11" name="TextBox 1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1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WEEK 1 · MARKET KAISE CHALTA HAI, AUR PRICE KI BHASHA</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Is hafte ka plan, din-ba-din</a:t>
            </a:r>
          </a:p>
        </p:txBody>
      </p:sp>
      <p:sp>
        <p:nvSpPr>
          <p:cNvPr id="4" name="Rounded Rectangle 3"/>
          <p:cNvSpPr/>
          <p:nvPr/>
        </p:nvSpPr>
        <p:spPr>
          <a:xfrm>
            <a:off x="457200" y="1335024"/>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ounded Rectangle 4"/>
          <p:cNvSpPr/>
          <p:nvPr/>
        </p:nvSpPr>
        <p:spPr>
          <a:xfrm>
            <a:off x="585216" y="1447365"/>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a:t>
            </a:r>
          </a:p>
        </p:txBody>
      </p:sp>
      <p:sp>
        <p:nvSpPr>
          <p:cNvPr id="6" name="TextBox 5"/>
          <p:cNvSpPr txBox="1"/>
          <p:nvPr/>
        </p:nvSpPr>
        <p:spPr>
          <a:xfrm>
            <a:off x="1737360" y="1410789"/>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Indian share market asal mein kaise chalta hai</a:t>
            </a:r>
          </a:p>
        </p:txBody>
      </p:sp>
      <p:sp>
        <p:nvSpPr>
          <p:cNvPr id="7" name="TextBox 6"/>
          <p:cNvSpPr txBox="1"/>
          <p:nvPr/>
        </p:nvSpPr>
        <p:spPr>
          <a:xfrm>
            <a:off x="1737360" y="1666821"/>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Market ka structure: kaun chalata hai, aur Buy dabane ke baad kya hota hai</a:t>
            </a:r>
          </a:p>
        </p:txBody>
      </p:sp>
      <p:sp>
        <p:nvSpPr>
          <p:cNvPr id="8" name="TextBox 7"/>
          <p:cNvSpPr txBox="1"/>
          <p:nvPr/>
        </p:nvSpPr>
        <p:spPr>
          <a:xfrm>
            <a:off x="10271455" y="1335024"/>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60 min</a:t>
            </a:r>
          </a:p>
        </p:txBody>
      </p:sp>
      <p:sp>
        <p:nvSpPr>
          <p:cNvPr id="9" name="Rounded Rectangle 8"/>
          <p:cNvSpPr/>
          <p:nvPr/>
        </p:nvSpPr>
        <p:spPr>
          <a:xfrm>
            <a:off x="457200" y="2053481"/>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585216" y="2165822"/>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2</a:t>
            </a:r>
          </a:p>
        </p:txBody>
      </p:sp>
      <p:sp>
        <p:nvSpPr>
          <p:cNvPr id="11" name="TextBox 10"/>
          <p:cNvSpPr txBox="1"/>
          <p:nvPr/>
        </p:nvSpPr>
        <p:spPr>
          <a:xfrm>
            <a:off x="1737360" y="2129246"/>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Orders, liquidity aur trade ka asli kharcha</a:t>
            </a:r>
          </a:p>
        </p:txBody>
      </p:sp>
      <p:sp>
        <p:nvSpPr>
          <p:cNvPr id="12" name="TextBox 11"/>
          <p:cNvSpPr txBox="1"/>
          <p:nvPr/>
        </p:nvSpPr>
        <p:spPr>
          <a:xfrm>
            <a:off x="1737360" y="2385278"/>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Order types, order book aur kharche: screen ke price aur aapke price ka fark</a:t>
            </a:r>
          </a:p>
        </p:txBody>
      </p:sp>
      <p:sp>
        <p:nvSpPr>
          <p:cNvPr id="13" name="TextBox 12"/>
          <p:cNvSpPr txBox="1"/>
          <p:nvPr/>
        </p:nvSpPr>
        <p:spPr>
          <a:xfrm>
            <a:off x="10271455" y="2053481"/>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14" name="Rounded Rectangle 13"/>
          <p:cNvSpPr/>
          <p:nvPr/>
        </p:nvSpPr>
        <p:spPr>
          <a:xfrm>
            <a:off x="457200" y="2771938"/>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585216" y="2884279"/>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3</a:t>
            </a:r>
          </a:p>
        </p:txBody>
      </p:sp>
      <p:sp>
        <p:nvSpPr>
          <p:cNvPr id="16" name="TextBox 15"/>
          <p:cNvSpPr txBox="1"/>
          <p:nvPr/>
        </p:nvSpPr>
        <p:spPr>
          <a:xfrm>
            <a:off x="1737360" y="2847703"/>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Trader vs gambler: woh maths jo zyadatar beginners skip kar dete hain</a:t>
            </a:r>
          </a:p>
        </p:txBody>
      </p:sp>
      <p:sp>
        <p:nvSpPr>
          <p:cNvPr id="17" name="TextBox 16"/>
          <p:cNvSpPr txBox="1"/>
          <p:nvPr/>
        </p:nvSpPr>
        <p:spPr>
          <a:xfrm>
            <a:off x="1737360" y="3103735"/>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Expectancy, R-multiple, breakeven win-rate aur drawdown</a:t>
            </a:r>
          </a:p>
        </p:txBody>
      </p:sp>
      <p:sp>
        <p:nvSpPr>
          <p:cNvPr id="18" name="TextBox 17"/>
          <p:cNvSpPr txBox="1"/>
          <p:nvPr/>
        </p:nvSpPr>
        <p:spPr>
          <a:xfrm>
            <a:off x="10271455" y="2771938"/>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19" name="Rounded Rectangle 18"/>
          <p:cNvSpPr/>
          <p:nvPr/>
        </p:nvSpPr>
        <p:spPr>
          <a:xfrm>
            <a:off x="457200" y="3490395"/>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585216" y="3602736"/>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4</a:t>
            </a:r>
          </a:p>
        </p:txBody>
      </p:sp>
      <p:sp>
        <p:nvSpPr>
          <p:cNvPr id="21" name="TextBox 20"/>
          <p:cNvSpPr txBox="1"/>
          <p:nvPr/>
        </p:nvSpPr>
        <p:spPr>
          <a:xfrm>
            <a:off x="1737360" y="3566160"/>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AI aapka co-pilot, aur aapka scam radar</a:t>
            </a:r>
          </a:p>
        </p:txBody>
      </p:sp>
      <p:sp>
        <p:nvSpPr>
          <p:cNvPr id="22" name="TextBox 21"/>
          <p:cNvSpPr txBox="1"/>
          <p:nvPr/>
        </p:nvSpPr>
        <p:spPr>
          <a:xfrm>
            <a:off x="1737360" y="3822192"/>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AI = analyst, aap = trigger: har claim ko Fact, Guess ya Kachra mein baantiye</a:t>
            </a:r>
          </a:p>
        </p:txBody>
      </p:sp>
      <p:sp>
        <p:nvSpPr>
          <p:cNvPr id="23" name="TextBox 22"/>
          <p:cNvSpPr txBox="1"/>
          <p:nvPr/>
        </p:nvSpPr>
        <p:spPr>
          <a:xfrm>
            <a:off x="10271455" y="3490395"/>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60 min</a:t>
            </a:r>
          </a:p>
        </p:txBody>
      </p:sp>
      <p:sp>
        <p:nvSpPr>
          <p:cNvPr id="24" name="Rounded Rectangle 23"/>
          <p:cNvSpPr/>
          <p:nvPr/>
        </p:nvSpPr>
        <p:spPr>
          <a:xfrm>
            <a:off x="457200" y="4208853"/>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585216" y="4321193"/>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5</a:t>
            </a:r>
          </a:p>
        </p:txBody>
      </p:sp>
      <p:sp>
        <p:nvSpPr>
          <p:cNvPr id="26" name="TextBox 25"/>
          <p:cNvSpPr txBox="1"/>
          <p:nvPr/>
        </p:nvSpPr>
        <p:spPr>
          <a:xfrm>
            <a:off x="1737360" y="4284617"/>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Chart padhna: candles, timeframes aur volume</a:t>
            </a:r>
          </a:p>
        </p:txBody>
      </p:sp>
      <p:sp>
        <p:nvSpPr>
          <p:cNvPr id="27" name="TextBox 26"/>
          <p:cNvSpPr txBox="1"/>
          <p:nvPr/>
        </p:nvSpPr>
        <p:spPr>
          <a:xfrm>
            <a:off x="1737360" y="4540649"/>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Charts, timeframes, candles aur volume</a:t>
            </a:r>
          </a:p>
        </p:txBody>
      </p:sp>
      <p:sp>
        <p:nvSpPr>
          <p:cNvPr id="28" name="TextBox 27"/>
          <p:cNvSpPr txBox="1"/>
          <p:nvPr/>
        </p:nvSpPr>
        <p:spPr>
          <a:xfrm>
            <a:off x="10271455" y="4208853"/>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60 min</a:t>
            </a:r>
          </a:p>
        </p:txBody>
      </p:sp>
      <p:sp>
        <p:nvSpPr>
          <p:cNvPr id="29" name="Rounded Rectangle 28"/>
          <p:cNvSpPr/>
          <p:nvPr/>
        </p:nvSpPr>
        <p:spPr>
          <a:xfrm>
            <a:off x="457200" y="4927310"/>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039650"/>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6</a:t>
            </a:r>
          </a:p>
        </p:txBody>
      </p:sp>
      <p:sp>
        <p:nvSpPr>
          <p:cNvPr id="31" name="TextBox 30"/>
          <p:cNvSpPr txBox="1"/>
          <p:nvPr/>
        </p:nvSpPr>
        <p:spPr>
          <a:xfrm>
            <a:off x="1737360" y="5003074"/>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Trend, zones aur gaps: price ka structure padhna</a:t>
            </a:r>
          </a:p>
        </p:txBody>
      </p:sp>
      <p:sp>
        <p:nvSpPr>
          <p:cNvPr id="32" name="TextBox 31"/>
          <p:cNvSpPr txBox="1"/>
          <p:nvPr/>
        </p:nvSpPr>
        <p:spPr>
          <a:xfrm>
            <a:off x="1737360" y="5259106"/>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Price structure: trend, support aur resistance zones, breakouts aur gaps</a:t>
            </a:r>
          </a:p>
        </p:txBody>
      </p:sp>
      <p:sp>
        <p:nvSpPr>
          <p:cNvPr id="33" name="TextBox 32"/>
          <p:cNvSpPr txBox="1"/>
          <p:nvPr/>
        </p:nvSpPr>
        <p:spPr>
          <a:xfrm>
            <a:off x="10271455" y="4927310"/>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34" name="Rounded Rectangle 33"/>
          <p:cNvSpPr/>
          <p:nvPr/>
        </p:nvSpPr>
        <p:spPr>
          <a:xfrm>
            <a:off x="457200" y="5645767"/>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758107"/>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7</a:t>
            </a:r>
          </a:p>
        </p:txBody>
      </p:sp>
      <p:sp>
        <p:nvSpPr>
          <p:cNvPr id="36" name="TextBox 35"/>
          <p:cNvSpPr txBox="1"/>
          <p:nvPr/>
        </p:nvSpPr>
        <p:spPr>
          <a:xfrm>
            <a:off x="1737360" y="5721531"/>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Week 1 review aur Shortcut Trap #1: tips ka audit</a:t>
            </a:r>
          </a:p>
        </p:txBody>
      </p:sp>
      <p:sp>
        <p:nvSpPr>
          <p:cNvPr id="37" name="TextBox 36"/>
          <p:cNvSpPr txBox="1"/>
          <p:nvPr/>
        </p:nvSpPr>
        <p:spPr>
          <a:xfrm>
            <a:off x="1737360" y="5977563"/>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Week 1 review, tips ka audit, aur scams se khud ko bachana</a:t>
            </a:r>
          </a:p>
        </p:txBody>
      </p:sp>
      <p:sp>
        <p:nvSpPr>
          <p:cNvPr id="38" name="Rounded Rectangle 37"/>
          <p:cNvSpPr/>
          <p:nvPr/>
        </p:nvSpPr>
        <p:spPr>
          <a:xfrm>
            <a:off x="10444616" y="5831259"/>
            <a:ext cx="1120239" cy="256032"/>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92400E"/>
                </a:solidFill>
                <a:latin typeface="Segoe UI"/>
              </a:rPr>
              <a:t>Weekly review</a:t>
            </a:r>
          </a:p>
        </p:txBody>
      </p:sp>
      <p:sp>
        <p:nvSpPr>
          <p:cNvPr id="39" name="TextBox 38"/>
          <p:cNvSpPr txBox="1"/>
          <p:nvPr/>
        </p:nvSpPr>
        <p:spPr>
          <a:xfrm>
            <a:off x="9530216" y="5645767"/>
            <a:ext cx="822960"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01</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Market kaise chalta hai, aur price ki bhasha</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60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Indian share market asal mein kaise chalta hai</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Market ka structure: kaun chalata hai, aur Buy dabane ke baad kya hota hai</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Follow my order: AI samjhaye, aap verify karein</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Beginner ka overconfidence</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samjha payenge ki Indian market kaun chalata hai aur ek din ka FII/DII flow signal kyun nahi hai, index ka weight kaise banta hai, demat account, DP aur KYC kya hain, Buy dabane se T+1 tak kya hota hai, market kab khula rehta hai aur price band kab rok sakta hai, aur shuru ki teen jeet skill kyun saabit nahi karti.</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KAHANI</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Mere shares gaye kahan?</a:t>
            </a:r>
          </a:p>
        </p:txBody>
      </p:sp>
      <p:sp>
        <p:nvSpPr>
          <p:cNvPr id="4" name="Rounded Rectangle 3"/>
          <p:cNvSpPr/>
          <p:nvPr/>
        </p:nvSpPr>
        <p:spPr>
          <a:xfrm>
            <a:off x="457200" y="1335024"/>
            <a:ext cx="3649370" cy="2066544"/>
          </a:xfrm>
          <a:prstGeom prst="roundRect">
            <a:avLst>
              <a:gd name="adj" fmla="val 619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563624"/>
            <a:ext cx="3247034" cy="1609344"/>
          </a:xfrm>
          <a:prstGeom prst="rect">
            <a:avLst/>
          </a:prstGeom>
          <a:noFill/>
        </p:spPr>
        <p:txBody>
          <a:bodyPr wrap="square" lIns="0" rIns="0" tIns="0" bIns="0" anchor="ctr">
            <a:noAutofit/>
          </a:bodyPr>
          <a:lstStyle/>
          <a:p>
            <a:pPr algn="l">
              <a:lnSpc>
                <a:spcPct val="100000"/>
              </a:lnSpc>
            </a:pPr>
            <a:r>
              <a:rPr sz="1250" b="0" i="1">
                <a:solidFill>
                  <a:srgbClr val="18232F"/>
                </a:solidFill>
                <a:latin typeface="Segoe UI"/>
              </a:rPr>
              <a:t>Saturday, subah 10 baje. Aman Pune se mentor ko call karta hai. Priya bhi call par hai.</a:t>
            </a:r>
          </a:p>
        </p:txBody>
      </p:sp>
      <p:sp>
        <p:nvSpPr>
          <p:cNvPr id="7" name="Rounded Rectangle 6"/>
          <p:cNvSpPr/>
          <p:nvPr/>
        </p:nvSpPr>
        <p:spPr>
          <a:xfrm>
            <a:off x="4271162" y="1335024"/>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03120"/>
            <a:ext cx="3393338" cy="1091184"/>
          </a:xfrm>
          <a:prstGeom prst="wedgeRoundRectCallout">
            <a:avLst>
              <a:gd name="adj1" fmla="val -41915"/>
              <a:gd name="adj2" fmla="val -66759"/>
              <a:gd name="adj3" fmla="val 1005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267712"/>
            <a:ext cx="3137306" cy="798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Sir, Friday ko maine Sharma Textiles Ltd ke 20 shares khareede. Demat mein dikh hi nahi rahe, aur app par price subah se hila tak nahi. Kuch gadbad toh nahi ho gayi?</a:t>
            </a:r>
          </a:p>
        </p:txBody>
      </p:sp>
      <p:sp>
        <p:nvSpPr>
          <p:cNvPr id="13" name="Rounded Rectangle 12"/>
          <p:cNvSpPr/>
          <p:nvPr/>
        </p:nvSpPr>
        <p:spPr>
          <a:xfrm>
            <a:off x="8085125" y="1335024"/>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03120"/>
            <a:ext cx="3393338" cy="1091184"/>
          </a:xfrm>
          <a:prstGeom prst="wedgeRoundRectCallout">
            <a:avLst>
              <a:gd name="adj1" fmla="val -41915"/>
              <a:gd name="adj2" fmla="val -66759"/>
              <a:gd name="adj3" fmla="val 1005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267712"/>
            <a:ext cx="3137306" cy="798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Aman, ghabraiye mat. Pehle do sawaal. Kya Saturday ko market khulta hai? Aur Buy dabane ke baad shares ko demat tak pahunchne mein kitne din lagte hain?</a:t>
            </a:r>
          </a:p>
        </p:txBody>
      </p:sp>
      <p:sp>
        <p:nvSpPr>
          <p:cNvPr id="19" name="Rounded Rectangle 18"/>
          <p:cNvSpPr/>
          <p:nvPr/>
        </p:nvSpPr>
        <p:spPr>
          <a:xfrm>
            <a:off x="457200"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Oval 19"/>
          <p:cNvSpPr/>
          <p:nvPr/>
        </p:nvSpPr>
        <p:spPr>
          <a:xfrm>
            <a:off x="603504" y="3694176"/>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21" name="TextBox 20"/>
          <p:cNvSpPr txBox="1"/>
          <p:nvPr/>
        </p:nvSpPr>
        <p:spPr>
          <a:xfrm>
            <a:off x="1188720" y="3803904"/>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22" name="TextBox 21"/>
          <p:cNvSpPr txBox="1"/>
          <p:nvPr/>
        </p:nvSpPr>
        <p:spPr>
          <a:xfrm>
            <a:off x="3722522"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23" name="Rounded Rectangular Callout 22"/>
          <p:cNvSpPr/>
          <p:nvPr/>
        </p:nvSpPr>
        <p:spPr>
          <a:xfrm>
            <a:off x="585216" y="4334256"/>
            <a:ext cx="3393338" cy="1091184"/>
          </a:xfrm>
          <a:prstGeom prst="wedgeRoundRectCallout">
            <a:avLst>
              <a:gd name="adj1" fmla="val -41915"/>
              <a:gd name="adj2" fmla="val -66759"/>
              <a:gd name="adj3" fmla="val 1005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13232" y="4498848"/>
            <a:ext cx="3137306" cy="798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Umm... maine socha Buy dabaya aur shares seedha aa gaye. Is hafte teeno trade mein profit hua, toh laga main sab samajh gaya hoon.</a:t>
            </a:r>
          </a:p>
        </p:txBody>
      </p:sp>
      <p:sp>
        <p:nvSpPr>
          <p:cNvPr id="25" name="Rounded Rectangle 24"/>
          <p:cNvSpPr/>
          <p:nvPr/>
        </p:nvSpPr>
        <p:spPr>
          <a:xfrm>
            <a:off x="4271162"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Oval 25"/>
          <p:cNvSpPr/>
          <p:nvPr/>
        </p:nvSpPr>
        <p:spPr>
          <a:xfrm>
            <a:off x="4417466" y="3694176"/>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27" name="TextBox 26"/>
          <p:cNvSpPr txBox="1"/>
          <p:nvPr/>
        </p:nvSpPr>
        <p:spPr>
          <a:xfrm>
            <a:off x="5002682" y="3803904"/>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28" name="TextBox 27"/>
          <p:cNvSpPr txBox="1"/>
          <p:nvPr/>
        </p:nvSpPr>
        <p:spPr>
          <a:xfrm>
            <a:off x="7536485"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29" name="Rounded Rectangular Callout 28"/>
          <p:cNvSpPr/>
          <p:nvPr/>
        </p:nvSpPr>
        <p:spPr>
          <a:xfrm>
            <a:off x="4399178" y="4334256"/>
            <a:ext cx="3393338" cy="900684"/>
          </a:xfrm>
          <a:prstGeom prst="wedgeRoundRectCallout">
            <a:avLst>
              <a:gd name="adj1" fmla="val -41915"/>
              <a:gd name="adj2" fmla="val -70304"/>
              <a:gd name="adj3" fmla="val 12182"/>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4527194" y="4498848"/>
            <a:ext cx="313730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Sir, matlab us ek Buy button ke peeche poori ek chain hai, jo hum kabhi dekhte hi nahi?</a:t>
            </a:r>
          </a:p>
        </p:txBody>
      </p:sp>
      <p:sp>
        <p:nvSpPr>
          <p:cNvPr id="31" name="Rounded Rectangle 30"/>
          <p:cNvSpPr/>
          <p:nvPr/>
        </p:nvSpPr>
        <p:spPr>
          <a:xfrm>
            <a:off x="8085125"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Oval 31"/>
          <p:cNvSpPr/>
          <p:nvPr/>
        </p:nvSpPr>
        <p:spPr>
          <a:xfrm>
            <a:off x="8231429" y="3694176"/>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33" name="TextBox 32"/>
          <p:cNvSpPr txBox="1"/>
          <p:nvPr/>
        </p:nvSpPr>
        <p:spPr>
          <a:xfrm>
            <a:off x="8816645" y="3803904"/>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34" name="TextBox 33"/>
          <p:cNvSpPr txBox="1"/>
          <p:nvPr/>
        </p:nvSpPr>
        <p:spPr>
          <a:xfrm>
            <a:off x="11350447"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35" name="Rounded Rectangular Callout 34"/>
          <p:cNvSpPr/>
          <p:nvPr/>
        </p:nvSpPr>
        <p:spPr>
          <a:xfrm>
            <a:off x="8213141" y="4334256"/>
            <a:ext cx="3393338" cy="1091184"/>
          </a:xfrm>
          <a:prstGeom prst="wedgeRoundRectCallout">
            <a:avLst>
              <a:gd name="adj1" fmla="val -41915"/>
              <a:gd name="adj2" fmla="val -66759"/>
              <a:gd name="adj3" fmla="val 1005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TextBox 35"/>
          <p:cNvSpPr txBox="1"/>
          <p:nvPr/>
        </p:nvSpPr>
        <p:spPr>
          <a:xfrm>
            <a:off x="8341157" y="4498848"/>
            <a:ext cx="3137306" cy="798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Bilkul. Aaj hum ek order ka poora safar dekhenge, phone se demat tak. Aur Aman, ek achhe hafte ki teen jeet se kuch khaas saabit nahi hota. Samajh pehle aati hai.</a:t>
            </a:r>
          </a:p>
        </p:txBody>
      </p:sp>
      <p:sp>
        <p:nvSpPr>
          <p:cNvPr id="37" name="Rounded Rectangle 3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ounded Rectangle 37"/>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39" name="TextBox 38"/>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Buy dabane mein do second lagte hain. Uske peeche kya hota hai, yeh samajhna hi asli pehla kadam hai.</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Referee, ground aur players</a:t>
            </a:r>
          </a:p>
        </p:txBody>
      </p:sp>
      <p:sp>
        <p:nvSpPr>
          <p:cNvPr id="4" name="TextBox 3"/>
          <p:cNvSpPr txBox="1"/>
          <p:nvPr/>
        </p:nvSpPr>
        <p:spPr>
          <a:xfrm>
            <a:off x="457200" y="1335024"/>
            <a:ext cx="5519776" cy="137922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Share yaani kisi company mein ek chhota sa hissa: Sharma Textiles Ltd ka ek share aapke paas hai, toh us business ka ek chhota tukda aapka hai.</a:t>
            </a:r>
          </a:p>
          <a:p>
            <a:pPr algn="l" marL="274320" indent="-274320">
              <a:lnSpc>
                <a:spcPct val="100000"/>
              </a:lnSpc>
              <a:spcAft>
                <a:spcPts val="750"/>
              </a:spcAft>
              <a:buClr>
                <a:srgbClr val="00AEEF"/>
              </a:buClr>
              <a:buFont typeface="Arial"/>
              <a:buChar char="•"/>
            </a:pPr>
            <a:r>
              <a:rPr sz="1500" b="0" i="0">
                <a:solidFill>
                  <a:srgbClr val="18232F"/>
                </a:solidFill>
                <a:latin typeface="Segoe UI"/>
              </a:rPr>
              <a:t>Market ko ek cricket match ki tarah samjhiye.</a:t>
            </a:r>
          </a:p>
          <a:p>
            <a:pPr algn="l" marL="274320" indent="-274320">
              <a:lnSpc>
                <a:spcPct val="100000"/>
              </a:lnSpc>
              <a:buClr>
                <a:srgbClr val="00AEEF"/>
              </a:buClr>
              <a:buFont typeface="Arial"/>
              <a:buChar char="•"/>
            </a:pPr>
            <a:r>
              <a:rPr sz="1500" b="0" i="0">
                <a:solidFill>
                  <a:srgbClr val="18232F"/>
                </a:solidFill>
                <a:latin typeface="Segoe UI"/>
              </a:rPr>
              <a:t>Khareed minus bikri ko unka net flow kehte hain.</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Subah ki sabzi mandi mein ek hotel wala 500 kilo tamatar utha leta hai aur ek parivaar 1 kilo; bada order bhav hila deta hai. … Aur yaad rakhiye, jab aap khareedte hain toh koi aapko bech bhi raha hota hai; ho sakta hai us seller ko aapse zyada pata ho.</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Market mein kaun kya hai</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Bade players bada paisa lagate hain, lekin koi ek player market control nahi karta.</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48056"/>
          </a:xfrm>
          <a:prstGeom prst="roundRect">
            <a:avLst>
              <a:gd name="adj" fmla="val 20408"/>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97021"/>
            <a:ext cx="3527450" cy="22402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48056"/>
          </a:xfrm>
          <a:prstGeom prst="rect">
            <a:avLst/>
          </a:prstGeom>
          <a:noFill/>
        </p:spPr>
        <p:txBody>
          <a:bodyPr wrap="square" lIns="0" rIns="0" tIns="0" bIns="0" anchor="ctr">
            <a:noAutofit/>
          </a:bodyPr>
          <a:lstStyle/>
          <a:p>
            <a:pPr algn="l">
              <a:lnSpc>
                <a:spcPct val="100000"/>
              </a:lnSpc>
            </a:pPr>
            <a:r>
              <a:rPr sz="1500" b="1" i="0">
                <a:solidFill>
                  <a:srgbClr val="095A90"/>
                </a:solidFill>
                <a:latin typeface="Segoe UI"/>
              </a:rPr>
              <a:t>SEBI = referee</a:t>
            </a:r>
          </a:p>
        </p:txBody>
      </p:sp>
      <p:cxnSp>
        <p:nvCxnSpPr>
          <p:cNvPr id="16" name="Connector 15"/>
          <p:cNvCxnSpPr/>
          <p:nvPr/>
        </p:nvCxnSpPr>
        <p:spPr>
          <a:xfrm>
            <a:off x="640080" y="3821049"/>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0093D6"/>
              </a:buClr>
              <a:buFont typeface="Arial"/>
              <a:buChar char="•"/>
            </a:pPr>
            <a:r>
              <a:rPr sz="1400" b="0" i="0">
                <a:solidFill>
                  <a:srgbClr val="18232F"/>
                </a:solidFill>
                <a:latin typeface="Segoe UI"/>
              </a:rPr>
              <a:t>Rules banata hai</a:t>
            </a:r>
          </a:p>
          <a:p>
            <a:pPr algn="l" marL="201168" indent="-201168">
              <a:lnSpc>
                <a:spcPct val="100000"/>
              </a:lnSpc>
              <a:spcAft>
                <a:spcPts val="700"/>
              </a:spcAft>
              <a:buClr>
                <a:srgbClr val="0093D6"/>
              </a:buClr>
              <a:buFont typeface="Arial"/>
              <a:buChar char="•"/>
            </a:pPr>
            <a:r>
              <a:rPr sz="1400" b="0" i="0">
                <a:solidFill>
                  <a:srgbClr val="18232F"/>
                </a:solidFill>
                <a:latin typeface="Segoe UI"/>
              </a:rPr>
              <a:t>Brokers, advisers, analysts ko register karta hai</a:t>
            </a:r>
          </a:p>
          <a:p>
            <a:pPr algn="l" marL="201168" indent="-201168">
              <a:lnSpc>
                <a:spcPct val="100000"/>
              </a:lnSpc>
              <a:buClr>
                <a:srgbClr val="0093D6"/>
              </a:buClr>
              <a:buFont typeface="Arial"/>
              <a:buChar char="•"/>
            </a:pPr>
            <a:r>
              <a:rPr sz="1400" b="0" i="0">
                <a:solidFill>
                  <a:srgbClr val="18232F"/>
                </a:solidFill>
                <a:latin typeface="Segoe UI"/>
              </a:rPr>
              <a:t>Complaints par action leta hai</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48056"/>
          </a:xfrm>
          <a:prstGeom prst="roundRect">
            <a:avLst>
              <a:gd name="adj" fmla="val 20408"/>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97021"/>
            <a:ext cx="3527450" cy="22402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48056"/>
          </a:xfrm>
          <a:prstGeom prst="rect">
            <a:avLst/>
          </a:prstGeom>
          <a:noFill/>
        </p:spPr>
        <p:txBody>
          <a:bodyPr wrap="square" lIns="0" rIns="0" tIns="0" bIns="0" anchor="ctr">
            <a:noAutofit/>
          </a:bodyPr>
          <a:lstStyle/>
          <a:p>
            <a:pPr algn="l">
              <a:lnSpc>
                <a:spcPct val="100000"/>
              </a:lnSpc>
            </a:pPr>
            <a:r>
              <a:rPr sz="1500" b="1" i="0">
                <a:solidFill>
                  <a:srgbClr val="92400E"/>
                </a:solidFill>
                <a:latin typeface="Segoe UI"/>
              </a:rPr>
              <a:t>NSE / BSE = ground</a:t>
            </a:r>
          </a:p>
        </p:txBody>
      </p:sp>
      <p:cxnSp>
        <p:nvCxnSpPr>
          <p:cNvPr id="23" name="Connector 22"/>
          <p:cNvCxnSpPr/>
          <p:nvPr/>
        </p:nvCxnSpPr>
        <p:spPr>
          <a:xfrm>
            <a:off x="4332122" y="382104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F5A524"/>
              </a:buClr>
              <a:buFont typeface="Arial"/>
              <a:buChar char="•"/>
            </a:pPr>
            <a:r>
              <a:rPr sz="1400" b="0" i="0">
                <a:solidFill>
                  <a:srgbClr val="18232F"/>
                </a:solidFill>
                <a:latin typeface="Segoe UI"/>
              </a:rPr>
              <a:t>Buy aur sell orders yahin milte hain</a:t>
            </a:r>
          </a:p>
          <a:p>
            <a:pPr algn="l" marL="201168" indent="-201168">
              <a:lnSpc>
                <a:spcPct val="100000"/>
              </a:lnSpc>
              <a:spcAft>
                <a:spcPts val="700"/>
              </a:spcAft>
              <a:buClr>
                <a:srgbClr val="F5A524"/>
              </a:buClr>
              <a:buFont typeface="Arial"/>
              <a:buChar char="•"/>
            </a:pPr>
            <a:r>
              <a:rPr sz="1400" b="0" i="0">
                <a:solidFill>
                  <a:srgbClr val="18232F"/>
                </a:solidFill>
                <a:latin typeface="Segoe UI"/>
              </a:rPr>
              <a:t>Prices aur index publish karta hai</a:t>
            </a:r>
          </a:p>
          <a:p>
            <a:pPr algn="l" marL="201168" indent="-201168">
              <a:lnSpc>
                <a:spcPct val="100000"/>
              </a:lnSpc>
              <a:buClr>
                <a:srgbClr val="F5A524"/>
              </a:buClr>
              <a:buFont typeface="Arial"/>
              <a:buChar char="•"/>
            </a:pPr>
            <a:r>
              <a:rPr sz="1400" b="0" i="0">
                <a:solidFill>
                  <a:srgbClr val="18232F"/>
                </a:solidFill>
                <a:latin typeface="Segoe UI"/>
              </a:rPr>
              <a:t>Har stock ka daily price band set karta hai</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48056"/>
          </a:xfrm>
          <a:prstGeom prst="roundRect">
            <a:avLst>
              <a:gd name="adj" fmla="val 20408"/>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97021"/>
            <a:ext cx="3527450" cy="22402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48056"/>
          </a:xfrm>
          <a:prstGeom prst="rect">
            <a:avLst/>
          </a:prstGeom>
          <a:noFill/>
        </p:spPr>
        <p:txBody>
          <a:bodyPr wrap="square" lIns="0" rIns="0" tIns="0" bIns="0" anchor="ctr">
            <a:noAutofit/>
          </a:bodyPr>
          <a:lstStyle/>
          <a:p>
            <a:pPr algn="l">
              <a:lnSpc>
                <a:spcPct val="100000"/>
              </a:lnSpc>
            </a:pPr>
            <a:r>
              <a:rPr sz="1500" b="1" i="0">
                <a:solidFill>
                  <a:srgbClr val="166534"/>
                </a:solidFill>
                <a:latin typeface="Segoe UI"/>
              </a:rPr>
              <a:t>Players</a:t>
            </a:r>
          </a:p>
        </p:txBody>
      </p:sp>
      <p:cxnSp>
        <p:nvCxnSpPr>
          <p:cNvPr id="30" name="Connector 29"/>
          <p:cNvCxnSpPr/>
          <p:nvPr/>
        </p:nvCxnSpPr>
        <p:spPr>
          <a:xfrm>
            <a:off x="8024165" y="382104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16A34A"/>
              </a:buClr>
              <a:buFont typeface="Arial"/>
              <a:buChar char="•"/>
            </a:pPr>
            <a:r>
              <a:rPr sz="1400" b="0" i="0">
                <a:solidFill>
                  <a:srgbClr val="18232F"/>
                </a:solidFill>
                <a:latin typeface="Segoe UI"/>
              </a:rPr>
              <a:t>FII/FPI: videshi funds</a:t>
            </a:r>
          </a:p>
          <a:p>
            <a:pPr algn="l" marL="201168" indent="-201168">
              <a:lnSpc>
                <a:spcPct val="100000"/>
              </a:lnSpc>
              <a:spcAft>
                <a:spcPts val="700"/>
              </a:spcAft>
              <a:buClr>
                <a:srgbClr val="16A34A"/>
              </a:buClr>
              <a:buFont typeface="Arial"/>
              <a:buChar char="•"/>
            </a:pPr>
            <a:r>
              <a:rPr sz="1400" b="0" i="0">
                <a:solidFill>
                  <a:srgbClr val="18232F"/>
                </a:solidFill>
                <a:latin typeface="Segoe UI"/>
              </a:rPr>
              <a:t>DII: desi funds, insurance companies</a:t>
            </a:r>
          </a:p>
          <a:p>
            <a:pPr algn="l" marL="201168" indent="-201168">
              <a:lnSpc>
                <a:spcPct val="100000"/>
              </a:lnSpc>
              <a:spcAft>
                <a:spcPts val="700"/>
              </a:spcAft>
              <a:buClr>
                <a:srgbClr val="16A34A"/>
              </a:buClr>
              <a:buFont typeface="Arial"/>
              <a:buChar char="•"/>
            </a:pPr>
            <a:r>
              <a:rPr sz="1400" b="0" i="0">
                <a:solidFill>
                  <a:srgbClr val="18232F"/>
                </a:solidFill>
                <a:latin typeface="Segoe UI"/>
              </a:rPr>
              <a:t>Retail: aap aur hum</a:t>
            </a:r>
          </a:p>
          <a:p>
            <a:pPr algn="l" marL="201168" indent="-201168">
              <a:lnSpc>
                <a:spcPct val="100000"/>
              </a:lnSpc>
              <a:buClr>
                <a:srgbClr val="16A34A"/>
              </a:buClr>
              <a:buFont typeface="Arial"/>
              <a:buChar char="•"/>
            </a:pPr>
            <a:r>
              <a:rPr sz="1400" b="0" i="0">
                <a:solidFill>
                  <a:srgbClr val="18232F"/>
                </a:solidFill>
                <a:latin typeface="Segoe UI"/>
              </a:rPr>
              <a:t>NSE roz unka net flow daalta hai</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4" name="TextBox 3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SEBI registration ka matlab hai rules maanna aur complaint ki jagah, profit bilkul nahi. Ek din ka FII/DII flow khabar hai, buy ya sell ka signal nahi.</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Index: poore market ka ek number</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Index shares ki ek tokri hai, jiska haal ek number mein dikhta hai — ise market ka thermometer samajh lijiye.</a:t>
            </a:r>
          </a:p>
          <a:p>
            <a:pPr algn="l" marL="274320" indent="-274320">
              <a:lnSpc>
                <a:spcPct val="100000"/>
              </a:lnSpc>
              <a:spcAft>
                <a:spcPts val="800"/>
              </a:spcAft>
              <a:buClr>
                <a:srgbClr val="00AEEF"/>
              </a:buClr>
              <a:buFont typeface="Arial"/>
              <a:buChar char="•"/>
            </a:pPr>
            <a:r>
              <a:rPr sz="1600" b="0" i="0">
                <a:solidFill>
                  <a:srgbClr val="18232F"/>
                </a:solidFill>
                <a:latin typeface="Segoe UI"/>
              </a:rPr>
              <a:t>NIFTY 50 NSE par listed 50 badi companies ko track karta hai, SENSEX BSE ki 30 badi companies ko, aur NIFTY Bank sirf banking shares ko.</a:t>
            </a:r>
          </a:p>
          <a:p>
            <a:pPr algn="l" marL="274320" indent="-274320">
              <a:lnSpc>
                <a:spcPct val="100000"/>
              </a:lnSpc>
              <a:buClr>
                <a:srgbClr val="00AEEF"/>
              </a:buClr>
              <a:buFont typeface="Arial"/>
              <a:buChar char="•"/>
            </a:pPr>
            <a:r>
              <a:rPr sz="1600" b="0" i="0">
                <a:solidFill>
                  <a:srgbClr val="18232F"/>
                </a:solidFill>
                <a:latin typeface="Segoe UI"/>
              </a:rPr>
              <a:t>Companies size aur trading activity ke rules se chuni jaati hain, aur badi company ka weight zyada hota hai.</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Ek class average sochiye jismein toppers ke marks zyada gine jaate hain. Ek mini-index mein Big Co ka weight 50%, Mid Co ka 30% aur Small Co ka 20% hai. Big Co 4% gir jaata hai, baaki dono chadh jaate hain. Phir bhi index neeche band hota hai — calculation dekhiye. Aur weight mein sirf free float gina jaata hai: Rs 1,00,000 crore ki company, jismein promoters ke paas 60% hai, index mein Rs 40,000 crore ki hi gini jaati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Weight index ko kaise hilata hai</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Teen mein se do shares chadhe, phir bhi index gira. Ginti se zyada weight maayne rakhta hai.</a:t>
            </a:r>
          </a:p>
        </p:txBody>
      </p:sp>
      <p:sp>
        <p:nvSpPr>
          <p:cNvPr id="11" name="TextBox 10"/>
          <p:cNvSpPr txBox="1"/>
          <p:nvPr/>
        </p:nvSpPr>
        <p:spPr>
          <a:xfrm>
            <a:off x="6397600" y="220141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2201418"/>
            <a:ext cx="397577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Big Co: 50% weight, 4% gira</a:t>
            </a:r>
          </a:p>
        </p:txBody>
      </p:sp>
      <p:sp>
        <p:nvSpPr>
          <p:cNvPr id="13" name="TextBox 12"/>
          <p:cNvSpPr txBox="1"/>
          <p:nvPr/>
        </p:nvSpPr>
        <p:spPr>
          <a:xfrm>
            <a:off x="10739131" y="2201418"/>
            <a:ext cx="73933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-2.0%</a:t>
            </a:r>
          </a:p>
        </p:txBody>
      </p:sp>
      <p:cxnSp>
        <p:nvCxnSpPr>
          <p:cNvPr id="14" name="Connector 13"/>
          <p:cNvCxnSpPr/>
          <p:nvPr/>
        </p:nvCxnSpPr>
        <p:spPr>
          <a:xfrm>
            <a:off x="6397600" y="280492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804922"/>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804922"/>
            <a:ext cx="397577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Mid Co: 30% weight, 2% chadha</a:t>
            </a:r>
          </a:p>
        </p:txBody>
      </p:sp>
      <p:sp>
        <p:nvSpPr>
          <p:cNvPr id="17" name="TextBox 16"/>
          <p:cNvSpPr txBox="1"/>
          <p:nvPr/>
        </p:nvSpPr>
        <p:spPr>
          <a:xfrm>
            <a:off x="10739131" y="2804922"/>
            <a:ext cx="73933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+0.6%</a:t>
            </a:r>
          </a:p>
        </p:txBody>
      </p:sp>
      <p:cxnSp>
        <p:nvCxnSpPr>
          <p:cNvPr id="18" name="Connector 17"/>
          <p:cNvCxnSpPr/>
          <p:nvPr/>
        </p:nvCxnSpPr>
        <p:spPr>
          <a:xfrm>
            <a:off x="6397600" y="340842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40842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408426"/>
            <a:ext cx="397577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Small Co: 20% weight, 5% chadha</a:t>
            </a:r>
          </a:p>
        </p:txBody>
      </p:sp>
      <p:sp>
        <p:nvSpPr>
          <p:cNvPr id="21" name="TextBox 20"/>
          <p:cNvSpPr txBox="1"/>
          <p:nvPr/>
        </p:nvSpPr>
        <p:spPr>
          <a:xfrm>
            <a:off x="10739131" y="3408426"/>
            <a:ext cx="73933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a:t>
            </a:r>
          </a:p>
        </p:txBody>
      </p:sp>
      <p:sp>
        <p:nvSpPr>
          <p:cNvPr id="22" name="Rounded Rectangle 21"/>
          <p:cNvSpPr/>
          <p:nvPr/>
        </p:nvSpPr>
        <p:spPr>
          <a:xfrm>
            <a:off x="6397600" y="4066794"/>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397600" y="406679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4066794"/>
            <a:ext cx="3975771"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Index ka move</a:t>
            </a:r>
          </a:p>
        </p:txBody>
      </p:sp>
      <p:sp>
        <p:nvSpPr>
          <p:cNvPr id="25" name="TextBox 24"/>
          <p:cNvSpPr txBox="1"/>
          <p:nvPr/>
        </p:nvSpPr>
        <p:spPr>
          <a:xfrm>
            <a:off x="10739131" y="4066794"/>
            <a:ext cx="739332"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-0.4%</a:t>
            </a:r>
          </a:p>
        </p:txBody>
      </p:sp>
      <p:sp>
        <p:nvSpPr>
          <p:cNvPr id="26" name="Rounded Rectangle 25"/>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ounded Rectangle 26"/>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8" name="TextBox 27"/>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Index ek number mein market ka mood batata hai, lekin heavyweights ki awaaz sabse unchi hoti hai.</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Aapke teen account aur ek KYC</a:t>
            </a:r>
          </a:p>
        </p:txBody>
      </p:sp>
      <p:sp>
        <p:nvSpPr>
          <p:cNvPr id="4" name="TextBox 3"/>
          <p:cNvSpPr txBox="1"/>
          <p:nvPr/>
        </p:nvSpPr>
        <p:spPr>
          <a:xfrm>
            <a:off x="457200" y="1335024"/>
            <a:ext cx="5519776" cy="115062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Trading ke liye teen jude hue accounts chahiye.</a:t>
            </a:r>
          </a:p>
          <a:p>
            <a:pPr algn="l" marL="274320" indent="-274320">
              <a:lnSpc>
                <a:spcPct val="100000"/>
              </a:lnSpc>
              <a:spcAft>
                <a:spcPts val="750"/>
              </a:spcAft>
              <a:buClr>
                <a:srgbClr val="00AEEF"/>
              </a:buClr>
              <a:buFont typeface="Arial"/>
              <a:buChar char="•"/>
            </a:pPr>
            <a:r>
              <a:rPr sz="1500" b="0" i="0">
                <a:solidFill>
                  <a:srgbClr val="18232F"/>
                </a:solidFill>
                <a:latin typeface="Segoe UI"/>
              </a:rPr>
              <a:t>Bank account mein aapka paisa rehta hai.</a:t>
            </a:r>
          </a:p>
          <a:p>
            <a:pPr algn="l" marL="274320" indent="-274320">
              <a:lnSpc>
                <a:spcPct val="100000"/>
              </a:lnSpc>
              <a:buClr>
                <a:srgbClr val="00AEEF"/>
              </a:buClr>
              <a:buFont typeface="Arial"/>
              <a:buChar char="•"/>
            </a:pPr>
            <a:r>
              <a:rPr sz="1500" b="0" i="0">
                <a:solidFill>
                  <a:srgbClr val="18232F"/>
                </a:solidFill>
                <a:latin typeface="Segoe UI"/>
              </a:rPr>
              <a:t>Trading account broker ke paas khulta hai, aur yahin se aap buy-sell orders lagate hain.</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ise apne tareeke se samjhati hai: bank account uska purse hai, trading account dukaan ka counter jahan woh order deti hai, aur demat account uska bank locker. … Stage 1 mein aapko inmein se koi account nahi chahiye: app ke Portfolio page par Rs 10 lakh ka virtual paisa hai, aur uspar paper trading Day 12 se shuru hogi.</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Teen accounts, ek KYC</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Aapke shares aapke apne demat mein rehte hain. KYC ek baar hota hai aur KRA ke paas rehta hai. Koi asli broker ya official aapka OTP, password ya TPIN nahi maangta.</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40436"/>
          </a:xfrm>
          <a:prstGeom prst="roundRect">
            <a:avLst>
              <a:gd name="adj" fmla="val 2076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93211"/>
            <a:ext cx="3527450" cy="22021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40436"/>
          </a:xfrm>
          <a:prstGeom prst="rect">
            <a:avLst/>
          </a:prstGeom>
          <a:noFill/>
        </p:spPr>
        <p:txBody>
          <a:bodyPr wrap="square" lIns="0" rIns="0" tIns="0" bIns="0" anchor="ctr">
            <a:noAutofit/>
          </a:bodyPr>
          <a:lstStyle/>
          <a:p>
            <a:pPr algn="l">
              <a:lnSpc>
                <a:spcPct val="100000"/>
              </a:lnSpc>
            </a:pPr>
            <a:r>
              <a:rPr sz="1450" b="1" i="0">
                <a:solidFill>
                  <a:srgbClr val="095A90"/>
                </a:solidFill>
                <a:latin typeface="Segoe UI"/>
              </a:rPr>
              <a:t>Bank = purse</a:t>
            </a:r>
          </a:p>
        </p:txBody>
      </p:sp>
      <p:cxnSp>
        <p:nvCxnSpPr>
          <p:cNvPr id="16" name="Connector 15"/>
          <p:cNvCxnSpPr/>
          <p:nvPr/>
        </p:nvCxnSpPr>
        <p:spPr>
          <a:xfrm>
            <a:off x="640080" y="3813429"/>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59733"/>
            <a:ext cx="3234842" cy="1238631"/>
          </a:xfrm>
          <a:prstGeom prst="rect">
            <a:avLst/>
          </a:prstGeom>
          <a:noFill/>
        </p:spPr>
        <p:txBody>
          <a:bodyPr wrap="square" lIns="0" rIns="0" tIns="0" bIns="0" anchor="t">
            <a:noAutofit/>
          </a:bodyPr>
          <a:lstStyle/>
          <a:p>
            <a:pPr algn="l" marL="201168" indent="-201168">
              <a:lnSpc>
                <a:spcPct val="100000"/>
              </a:lnSpc>
              <a:spcAft>
                <a:spcPts val="675"/>
              </a:spcAft>
              <a:buClr>
                <a:srgbClr val="0093D6"/>
              </a:buClr>
              <a:buFont typeface="Arial"/>
              <a:buChar char="•"/>
            </a:pPr>
            <a:r>
              <a:rPr sz="1350" b="0" i="0">
                <a:solidFill>
                  <a:srgbClr val="18232F"/>
                </a:solidFill>
                <a:latin typeface="Segoe UI"/>
              </a:rPr>
              <a:t>Aapka paisa rakhta hai</a:t>
            </a:r>
          </a:p>
          <a:p>
            <a:pPr algn="l" marL="201168" indent="-201168">
              <a:lnSpc>
                <a:spcPct val="100000"/>
              </a:lnSpc>
              <a:buClr>
                <a:srgbClr val="0093D6"/>
              </a:buClr>
              <a:buFont typeface="Arial"/>
              <a:buChar char="•"/>
            </a:pPr>
            <a:r>
              <a:rPr sz="1350" b="0" i="0">
                <a:solidFill>
                  <a:srgbClr val="18232F"/>
                </a:solidFill>
                <a:latin typeface="Segoe UI"/>
              </a:rPr>
              <a:t>Kharid ka paisa deta, bikri ka leta hai</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40436"/>
          </a:xfrm>
          <a:prstGeom prst="roundRect">
            <a:avLst>
              <a:gd name="adj" fmla="val 2076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93211"/>
            <a:ext cx="3527450" cy="22021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40436"/>
          </a:xfrm>
          <a:prstGeom prst="rect">
            <a:avLst/>
          </a:prstGeom>
          <a:noFill/>
        </p:spPr>
        <p:txBody>
          <a:bodyPr wrap="square" lIns="0" rIns="0" tIns="0" bIns="0" anchor="ctr">
            <a:noAutofit/>
          </a:bodyPr>
          <a:lstStyle/>
          <a:p>
            <a:pPr algn="l">
              <a:lnSpc>
                <a:spcPct val="100000"/>
              </a:lnSpc>
            </a:pPr>
            <a:r>
              <a:rPr sz="1450" b="1" i="0">
                <a:solidFill>
                  <a:srgbClr val="92400E"/>
                </a:solidFill>
                <a:latin typeface="Segoe UI"/>
              </a:rPr>
              <a:t>Trading = dukaan ka counter</a:t>
            </a:r>
          </a:p>
        </p:txBody>
      </p:sp>
      <p:cxnSp>
        <p:nvCxnSpPr>
          <p:cNvPr id="23" name="Connector 22"/>
          <p:cNvCxnSpPr/>
          <p:nvPr/>
        </p:nvCxnSpPr>
        <p:spPr>
          <a:xfrm>
            <a:off x="4332122" y="381342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59733"/>
            <a:ext cx="3234842" cy="1238631"/>
          </a:xfrm>
          <a:prstGeom prst="rect">
            <a:avLst/>
          </a:prstGeom>
          <a:noFill/>
        </p:spPr>
        <p:txBody>
          <a:bodyPr wrap="square" lIns="0" rIns="0" tIns="0" bIns="0" anchor="t">
            <a:noAutofit/>
          </a:bodyPr>
          <a:lstStyle/>
          <a:p>
            <a:pPr algn="l" marL="201168" indent="-201168">
              <a:lnSpc>
                <a:spcPct val="100000"/>
              </a:lnSpc>
              <a:spcAft>
                <a:spcPts val="675"/>
              </a:spcAft>
              <a:buClr>
                <a:srgbClr val="F5A524"/>
              </a:buClr>
              <a:buFont typeface="Arial"/>
              <a:buChar char="•"/>
            </a:pPr>
            <a:r>
              <a:rPr sz="1350" b="0" i="0">
                <a:solidFill>
                  <a:srgbClr val="18232F"/>
                </a:solidFill>
                <a:latin typeface="Segoe UI"/>
              </a:rPr>
              <a:t>Broker ke saath khulta hai</a:t>
            </a:r>
          </a:p>
          <a:p>
            <a:pPr algn="l" marL="201168" indent="-201168">
              <a:lnSpc>
                <a:spcPct val="100000"/>
              </a:lnSpc>
              <a:buClr>
                <a:srgbClr val="F5A524"/>
              </a:buClr>
              <a:buFont typeface="Arial"/>
              <a:buChar char="•"/>
            </a:pPr>
            <a:r>
              <a:rPr sz="1350" b="0" i="0">
                <a:solidFill>
                  <a:srgbClr val="18232F"/>
                </a:solidFill>
                <a:latin typeface="Segoe UI"/>
              </a:rPr>
              <a:t>Aapke orders isi se jaate hain</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40436"/>
          </a:xfrm>
          <a:prstGeom prst="roundRect">
            <a:avLst>
              <a:gd name="adj" fmla="val 20761"/>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93211"/>
            <a:ext cx="3527450" cy="22021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40436"/>
          </a:xfrm>
          <a:prstGeom prst="rect">
            <a:avLst/>
          </a:prstGeom>
          <a:noFill/>
        </p:spPr>
        <p:txBody>
          <a:bodyPr wrap="square" lIns="0" rIns="0" tIns="0" bIns="0" anchor="ctr">
            <a:noAutofit/>
          </a:bodyPr>
          <a:lstStyle/>
          <a:p>
            <a:pPr algn="l">
              <a:lnSpc>
                <a:spcPct val="100000"/>
              </a:lnSpc>
            </a:pPr>
            <a:r>
              <a:rPr sz="1450" b="1" i="0">
                <a:solidFill>
                  <a:srgbClr val="166534"/>
                </a:solidFill>
                <a:latin typeface="Segoe UI"/>
              </a:rPr>
              <a:t>Demat = locker</a:t>
            </a:r>
          </a:p>
        </p:txBody>
      </p:sp>
      <p:cxnSp>
        <p:nvCxnSpPr>
          <p:cNvPr id="30" name="Connector 29"/>
          <p:cNvCxnSpPr/>
          <p:nvPr/>
        </p:nvCxnSpPr>
        <p:spPr>
          <a:xfrm>
            <a:off x="8024165" y="381342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59733"/>
            <a:ext cx="3234842" cy="1238631"/>
          </a:xfrm>
          <a:prstGeom prst="rect">
            <a:avLst/>
          </a:prstGeom>
          <a:noFill/>
        </p:spPr>
        <p:txBody>
          <a:bodyPr wrap="square" lIns="0" rIns="0" tIns="0" bIns="0" anchor="t">
            <a:noAutofit/>
          </a:bodyPr>
          <a:lstStyle/>
          <a:p>
            <a:pPr algn="l" marL="201168" indent="-201168">
              <a:lnSpc>
                <a:spcPct val="100000"/>
              </a:lnSpc>
              <a:spcAft>
                <a:spcPts val="675"/>
              </a:spcAft>
              <a:buClr>
                <a:srgbClr val="16A34A"/>
              </a:buClr>
              <a:buFont typeface="Arial"/>
              <a:buChar char="•"/>
            </a:pPr>
            <a:r>
              <a:rPr sz="1350" b="0" i="0">
                <a:solidFill>
                  <a:srgbClr val="18232F"/>
                </a:solidFill>
                <a:latin typeface="Segoe UI"/>
              </a:rPr>
              <a:t>Shares aapke naam par</a:t>
            </a:r>
          </a:p>
          <a:p>
            <a:pPr algn="l" marL="201168" indent="-201168">
              <a:lnSpc>
                <a:spcPct val="100000"/>
              </a:lnSpc>
              <a:spcAft>
                <a:spcPts val="675"/>
              </a:spcAft>
              <a:buClr>
                <a:srgbClr val="16A34A"/>
              </a:buClr>
              <a:buFont typeface="Arial"/>
              <a:buChar char="•"/>
            </a:pPr>
            <a:r>
              <a:rPr sz="1350" b="0" i="0">
                <a:solidFill>
                  <a:srgbClr val="18232F"/>
                </a:solidFill>
                <a:latin typeface="Segoe UI"/>
              </a:rPr>
              <a:t>NSDL ya CDSL mein</a:t>
            </a:r>
          </a:p>
          <a:p>
            <a:pPr algn="l" marL="201168" indent="-201168">
              <a:lnSpc>
                <a:spcPct val="100000"/>
              </a:lnSpc>
              <a:spcAft>
                <a:spcPts val="675"/>
              </a:spcAft>
              <a:buClr>
                <a:srgbClr val="16A34A"/>
              </a:buClr>
              <a:buFont typeface="Arial"/>
              <a:buChar char="•"/>
            </a:pPr>
            <a:r>
              <a:rPr sz="1350" b="0" i="0">
                <a:solidFill>
                  <a:srgbClr val="18232F"/>
                </a:solidFill>
                <a:latin typeface="Segoe UI"/>
              </a:rPr>
              <a:t>DP ke through khulta hai, aksar broker</a:t>
            </a:r>
          </a:p>
          <a:p>
            <a:pPr algn="l" marL="201168" indent="-201168">
              <a:lnSpc>
                <a:spcPct val="100000"/>
              </a:lnSpc>
              <a:buClr>
                <a:srgbClr val="16A34A"/>
              </a:buClr>
              <a:buFont typeface="Arial"/>
              <a:buChar char="•"/>
            </a:pPr>
            <a:r>
              <a:rPr sz="1350" b="0" i="0">
                <a:solidFill>
                  <a:srgbClr val="18232F"/>
                </a:solidFill>
                <a:latin typeface="Segoe UI"/>
              </a:rPr>
              <a:t>Nominee ka naam dijiye</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4" name="TextBox 3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Paisa bank mein, orders broker se, shares aapke demat mein, aur OTP sirf aapke paas.</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Ek order ka safar: phone se demat tak</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Jab aap Buy dabate hain, order pehle broker ke paas jaata hai, jo check karta hai ki aapke paas poora paisa hai ya nahi.</a:t>
            </a:r>
          </a:p>
          <a:p>
            <a:pPr algn="l" marL="274320" indent="-274320">
              <a:lnSpc>
                <a:spcPct val="100000"/>
              </a:lnSpc>
              <a:spcAft>
                <a:spcPts val="750"/>
              </a:spcAft>
              <a:buClr>
                <a:srgbClr val="00AEEF"/>
              </a:buClr>
              <a:buFont typeface="Arial"/>
              <a:buChar char="•"/>
            </a:pPr>
            <a:r>
              <a:rPr sz="1500" b="0" i="0">
                <a:solidFill>
                  <a:srgbClr val="18232F"/>
                </a:solidFill>
                <a:latin typeface="Segoe UI"/>
              </a:rPr>
              <a:t>Broker order ko exchange bhejta hai, jahan ek computer saare buy aur sell orders line mein lagata hai: best price pehle, aur same price par jo pehle aaya woh pehle.</a:t>
            </a:r>
          </a:p>
          <a:p>
            <a:pPr algn="l" marL="274320" indent="-274320">
              <a:lnSpc>
                <a:spcPct val="100000"/>
              </a:lnSpc>
              <a:spcAft>
                <a:spcPts val="750"/>
              </a:spcAft>
              <a:buClr>
                <a:srgbClr val="00AEEF"/>
              </a:buClr>
              <a:buFont typeface="Arial"/>
              <a:buChar char="•"/>
            </a:pPr>
            <a:r>
              <a:rPr sz="1500" b="0" i="0">
                <a:solidFill>
                  <a:srgbClr val="18232F"/>
                </a:solidFill>
                <a:latin typeface="Segoe UI"/>
              </a:rPr>
              <a:t>Jaise hi buyer ka price seller ke price se milta hai, trade ho jaata hai.</a:t>
            </a:r>
          </a:p>
          <a:p>
            <a:pPr algn="l" marL="274320" indent="-274320">
              <a:lnSpc>
                <a:spcPct val="100000"/>
              </a:lnSpc>
              <a:buClr>
                <a:srgbClr val="00AEEF"/>
              </a:buClr>
              <a:buFont typeface="Arial"/>
              <a:buChar char="•"/>
            </a:pPr>
            <a:r>
              <a:rPr sz="1500" b="0" i="0">
                <a:solidFill>
                  <a:srgbClr val="18232F"/>
                </a:solidFill>
                <a:latin typeface="Segoe UI"/>
              </a:rPr>
              <a:t>Phir clearing corporation dono ke beech khadi ho jaati hai.</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Aman ka Friday yaad hai? Usne subah 11 baje Sharma Textiles Ltd ke 20 shares Rs 250 par khareede — Rs 5,000 ka order. Saturday aur Sunday trading days nahi hote, isliye T+1 Monday tha. Kuch khoya nahi tha; shares bas raaste mein the. Kuch chune hue stocks ke liye ek optional same-day cycle bhi hai — apne broker se confirm kar lijiye.</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order ka safar</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Paisa ulti disha mein chalta hai: buyer ke broker se, clearing ke through, seller tak.</a:t>
            </a:r>
          </a:p>
        </p:txBody>
      </p:sp>
      <p:sp>
        <p:nvSpPr>
          <p:cNvPr id="11" name="Rounded Rectangle 10"/>
          <p:cNvSpPr/>
          <p:nvPr/>
        </p:nvSpPr>
        <p:spPr>
          <a:xfrm>
            <a:off x="640080" y="4375404"/>
            <a:ext cx="122422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Aapka app</a:t>
            </a:r>
          </a:p>
          <a:p>
            <a:pPr algn="ctr">
              <a:lnSpc>
                <a:spcPct val="100000"/>
              </a:lnSpc>
            </a:pPr>
            <a:r>
              <a:rPr sz="1050" b="0" i="0">
                <a:solidFill>
                  <a:srgbClr val="47596B"/>
                </a:solidFill>
                <a:latin typeface="Segoe UI"/>
              </a:rPr>
              <a:t>Aap Buy dabate hain</a:t>
            </a:r>
          </a:p>
        </p:txBody>
      </p:sp>
      <p:sp>
        <p:nvSpPr>
          <p:cNvPr id="13" name="Right Arrow 12"/>
          <p:cNvSpPr/>
          <p:nvPr/>
        </p:nvSpPr>
        <p:spPr>
          <a:xfrm>
            <a:off x="2083765"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891741"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order</a:t>
            </a:r>
          </a:p>
        </p:txBody>
      </p:sp>
      <p:sp>
        <p:nvSpPr>
          <p:cNvPr id="15" name="Rounded Rectangle 14"/>
          <p:cNvSpPr/>
          <p:nvPr/>
        </p:nvSpPr>
        <p:spPr>
          <a:xfrm>
            <a:off x="2577541" y="4375404"/>
            <a:ext cx="122422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2687269"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Broker</a:t>
            </a:r>
          </a:p>
          <a:p>
            <a:pPr algn="ctr">
              <a:lnSpc>
                <a:spcPct val="100000"/>
              </a:lnSpc>
            </a:pPr>
            <a:r>
              <a:rPr sz="1050" b="0" i="0">
                <a:solidFill>
                  <a:srgbClr val="47596B"/>
                </a:solidFill>
                <a:latin typeface="Segoe UI"/>
              </a:rPr>
              <a:t>Paisa check karta hai</a:t>
            </a:r>
          </a:p>
        </p:txBody>
      </p:sp>
      <p:sp>
        <p:nvSpPr>
          <p:cNvPr id="17" name="Right Arrow 16"/>
          <p:cNvSpPr/>
          <p:nvPr/>
        </p:nvSpPr>
        <p:spPr>
          <a:xfrm>
            <a:off x="4021226"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3829202"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bhejta hai</a:t>
            </a:r>
          </a:p>
        </p:txBody>
      </p:sp>
      <p:sp>
        <p:nvSpPr>
          <p:cNvPr id="19" name="Rounded Rectangle 18"/>
          <p:cNvSpPr/>
          <p:nvPr/>
        </p:nvSpPr>
        <p:spPr>
          <a:xfrm>
            <a:off x="4515002" y="4375404"/>
            <a:ext cx="122422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4624730"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Exchange</a:t>
            </a:r>
          </a:p>
          <a:p>
            <a:pPr algn="ctr">
              <a:lnSpc>
                <a:spcPct val="100000"/>
              </a:lnSpc>
            </a:pPr>
            <a:r>
              <a:rPr sz="1050" b="0" i="0">
                <a:solidFill>
                  <a:srgbClr val="47596B"/>
                </a:solidFill>
                <a:latin typeface="Segoe UI"/>
              </a:rPr>
              <a:t>Buyer-seller ko milata hai</a:t>
            </a:r>
          </a:p>
        </p:txBody>
      </p:sp>
      <p:sp>
        <p:nvSpPr>
          <p:cNvPr id="21" name="Right Arrow 20"/>
          <p:cNvSpPr/>
          <p:nvPr/>
        </p:nvSpPr>
        <p:spPr>
          <a:xfrm>
            <a:off x="595868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576666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trade</a:t>
            </a:r>
          </a:p>
        </p:txBody>
      </p:sp>
      <p:sp>
        <p:nvSpPr>
          <p:cNvPr id="23" name="Rounded Rectangle 22"/>
          <p:cNvSpPr/>
          <p:nvPr/>
        </p:nvSpPr>
        <p:spPr>
          <a:xfrm>
            <a:off x="6452464" y="4375404"/>
            <a:ext cx="122422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62192"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Clearing corp</a:t>
            </a:r>
          </a:p>
          <a:p>
            <a:pPr algn="ctr">
              <a:lnSpc>
                <a:spcPct val="100000"/>
              </a:lnSpc>
            </a:pPr>
            <a:r>
              <a:rPr sz="1050" b="0" i="0">
                <a:solidFill>
                  <a:srgbClr val="47596B"/>
                </a:solidFill>
                <a:latin typeface="Segoe UI"/>
              </a:rPr>
              <a:t>Beech mein khadi hoti hai</a:t>
            </a:r>
          </a:p>
        </p:txBody>
      </p:sp>
      <p:sp>
        <p:nvSpPr>
          <p:cNvPr id="25" name="Right Arrow 24"/>
          <p:cNvSpPr/>
          <p:nvPr/>
        </p:nvSpPr>
        <p:spPr>
          <a:xfrm>
            <a:off x="7896149"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7704125"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settle</a:t>
            </a:r>
          </a:p>
        </p:txBody>
      </p:sp>
      <p:sp>
        <p:nvSpPr>
          <p:cNvPr id="27" name="Rounded Rectangle 26"/>
          <p:cNvSpPr/>
          <p:nvPr/>
        </p:nvSpPr>
        <p:spPr>
          <a:xfrm>
            <a:off x="8389925" y="4375404"/>
            <a:ext cx="122422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8499653"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Depository</a:t>
            </a:r>
          </a:p>
          <a:p>
            <a:pPr algn="ctr">
              <a:lnSpc>
                <a:spcPct val="100000"/>
              </a:lnSpc>
            </a:pPr>
            <a:r>
              <a:rPr sz="1050" b="0" i="0">
                <a:solidFill>
                  <a:srgbClr val="47596B"/>
                </a:solidFill>
                <a:latin typeface="Segoe UI"/>
              </a:rPr>
              <a:t>NSDL ya CDSL</a:t>
            </a:r>
          </a:p>
        </p:txBody>
      </p:sp>
      <p:sp>
        <p:nvSpPr>
          <p:cNvPr id="29" name="Right Arrow 28"/>
          <p:cNvSpPr/>
          <p:nvPr/>
        </p:nvSpPr>
        <p:spPr>
          <a:xfrm>
            <a:off x="9833610"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9641586"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T+1</a:t>
            </a:r>
          </a:p>
        </p:txBody>
      </p:sp>
      <p:sp>
        <p:nvSpPr>
          <p:cNvPr id="31" name="Rounded Rectangle 30"/>
          <p:cNvSpPr/>
          <p:nvPr/>
        </p:nvSpPr>
        <p:spPr>
          <a:xfrm>
            <a:off x="10327386" y="4375404"/>
            <a:ext cx="1224229" cy="822960"/>
          </a:xfrm>
          <a:prstGeom prst="roundRect">
            <a:avLst>
              <a:gd name="adj" fmla="val 1111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TextBox 31"/>
          <p:cNvSpPr txBox="1"/>
          <p:nvPr/>
        </p:nvSpPr>
        <p:spPr>
          <a:xfrm>
            <a:off x="10437114"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Aapka demat</a:t>
            </a:r>
          </a:p>
          <a:p>
            <a:pPr algn="ctr">
              <a:lnSpc>
                <a:spcPct val="100000"/>
              </a:lnSpc>
            </a:pPr>
            <a:r>
              <a:rPr sz="1050" b="0" i="0">
                <a:solidFill>
                  <a:srgbClr val="47596B"/>
                </a:solidFill>
                <a:latin typeface="Segoe UI"/>
              </a:rPr>
              <a:t>Shares aapke naam par</a:t>
            </a:r>
          </a:p>
        </p:txBody>
      </p:sp>
      <p:sp>
        <p:nvSpPr>
          <p:cNvPr id="33" name="Rounded Rectangle 3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ounded Rectangle 33"/>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5" name="TextBox 34"/>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T+1 trading days ginta hai, calendar days nahi. Friday ko khareediye, toh shares aam taur par Monday ko aayenge.</a:t>
            </a:r>
          </a:p>
        </p:txBody>
      </p:sp>
      <p:pic>
        <p:nvPicPr>
          <p:cNvPr id="36" name="Picture 35" descr="logo.png"/>
          <p:cNvPicPr>
            <a:picLocks noChangeAspect="1"/>
          </p:cNvPicPr>
          <p:nvPr/>
        </p:nvPicPr>
        <p:blipFill>
          <a:blip r:embed="rId2"/>
          <a:stretch>
            <a:fillRect/>
          </a:stretch>
        </p:blipFill>
        <p:spPr>
          <a:xfrm>
            <a:off x="457200" y="6437376"/>
            <a:ext cx="237744" cy="237744"/>
          </a:xfrm>
          <a:prstGeom prst="rect">
            <a:avLst/>
          </a:prstGeom>
        </p:spPr>
      </p:pic>
      <p:sp>
        <p:nvSpPr>
          <p:cNvPr id="3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8" name="TextBox 3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Market ki ghadi, aur jab price ruk jaata hai</a:t>
            </a:r>
          </a:p>
        </p:txBody>
      </p:sp>
      <p:sp>
        <p:nvSpPr>
          <p:cNvPr id="4" name="TextBox 3"/>
          <p:cNvSpPr txBox="1"/>
          <p:nvPr/>
        </p:nvSpPr>
        <p:spPr>
          <a:xfrm>
            <a:off x="457200" y="1335024"/>
            <a:ext cx="5519776" cy="160782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NSE ka normal session trading days par subah 9:15 se dopahar 3:30 tak chalta hai.</a:t>
            </a:r>
          </a:p>
          <a:p>
            <a:pPr algn="l" marL="274320" indent="-274320">
              <a:lnSpc>
                <a:spcPct val="100000"/>
              </a:lnSpc>
              <a:spcAft>
                <a:spcPts val="750"/>
              </a:spcAft>
              <a:buClr>
                <a:srgbClr val="00AEEF"/>
              </a:buClr>
              <a:buFont typeface="Arial"/>
              <a:buChar char="•"/>
            </a:pPr>
            <a:r>
              <a:rPr sz="1500" b="0" i="0">
                <a:solidFill>
                  <a:srgbClr val="18232F"/>
                </a:solidFill>
                <a:latin typeface="Segoe UI"/>
              </a:rPr>
              <a:t>Usse theek pehle 9:00 se 9:15 tak pre-open session hota hai, jismein orders ikatthe hote hain aur ek opening price tay hota hai.</a:t>
            </a:r>
          </a:p>
          <a:p>
            <a:pPr algn="l" marL="274320" indent="-274320">
              <a:lnSpc>
                <a:spcPct val="100000"/>
              </a:lnSpc>
              <a:buClr>
                <a:srgbClr val="00AEEF"/>
              </a:buClr>
              <a:buFont typeface="Arial"/>
              <a:buChar char="•"/>
            </a:pPr>
            <a:r>
              <a:rPr sz="1500" b="0" i="0">
                <a:solidFill>
                  <a:srgbClr val="18232F"/>
                </a:solidFill>
                <a:latin typeface="Segoe UI"/>
              </a:rPr>
              <a:t>3 August 2026 se din ka ant do tarah se hota hai.</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Ek buri khabar ke baad Kiran Foods Ltd girta hai aur apne lower price band Rs 180 par pahunch jaata hai — yeh aaj ke liye exchange ki tay ki hui neeche ki limit hai; har stock ka band nseindia.com par uske quote page par dikhta hai. Aman 50 shares bechna chahta hai, us price par Rs 9,000 ke, lekin lakhon shares pehle se bikne ki line mein hain aur buyers gine-chune hain. Uska order bas line mein khada rehta hai; ho sakta hai aaj fill hi na ho. Stop-loss bhi exit price ka vada kyun nahi kar sakta, yeh Day 2 mein dekhenge.</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trading day, phir T+1</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Weekends aur exchange holidays par market band rehta hai. Timings badal sakti hain: latest timings aur holiday list nseindia.com par dekhiye.</a:t>
            </a:r>
          </a:p>
        </p:txBody>
      </p:sp>
      <p:cxnSp>
        <p:nvCxnSpPr>
          <p:cNvPr id="11" name="Connector 10"/>
          <p:cNvCxnSpPr/>
          <p:nvPr/>
        </p:nvCxnSpPr>
        <p:spPr>
          <a:xfrm>
            <a:off x="1731234" y="43540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55726" y="418947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9:00 am</a:t>
            </a:r>
          </a:p>
        </p:txBody>
      </p:sp>
      <p:sp>
        <p:nvSpPr>
          <p:cNvPr id="13" name="TextBox 12"/>
          <p:cNvSpPr txBox="1"/>
          <p:nvPr/>
        </p:nvSpPr>
        <p:spPr>
          <a:xfrm>
            <a:off x="713232"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Pre-open</a:t>
            </a:r>
          </a:p>
          <a:p>
            <a:pPr algn="ctr">
              <a:lnSpc>
                <a:spcPct val="100000"/>
              </a:lnSpc>
            </a:pPr>
            <a:r>
              <a:rPr sz="1150" b="0" i="0">
                <a:solidFill>
                  <a:srgbClr val="47596B"/>
                </a:solidFill>
                <a:latin typeface="Segoe UI"/>
              </a:rPr>
              <a:t>Orders ikatthe, opening price tay</a:t>
            </a:r>
          </a:p>
        </p:txBody>
      </p:sp>
      <p:sp>
        <p:nvSpPr>
          <p:cNvPr id="14" name="Rounded Rectangle 13"/>
          <p:cNvSpPr/>
          <p:nvPr/>
        </p:nvSpPr>
        <p:spPr>
          <a:xfrm>
            <a:off x="3538033" y="418947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9:15 am</a:t>
            </a:r>
          </a:p>
        </p:txBody>
      </p:sp>
      <p:sp>
        <p:nvSpPr>
          <p:cNvPr id="15" name="TextBox 14"/>
          <p:cNvSpPr txBox="1"/>
          <p:nvPr/>
        </p:nvSpPr>
        <p:spPr>
          <a:xfrm>
            <a:off x="2895539"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Market khulta hai</a:t>
            </a:r>
          </a:p>
          <a:p>
            <a:pPr algn="ctr">
              <a:lnSpc>
                <a:spcPct val="100000"/>
              </a:lnSpc>
            </a:pPr>
            <a:r>
              <a:rPr sz="1150" b="0" i="0">
                <a:solidFill>
                  <a:srgbClr val="47596B"/>
                </a:solidFill>
                <a:latin typeface="Segoe UI"/>
              </a:rPr>
              <a:t>Lagatar kharid-bikri</a:t>
            </a:r>
          </a:p>
        </p:txBody>
      </p:sp>
      <p:sp>
        <p:nvSpPr>
          <p:cNvPr id="16" name="Rounded Rectangle 15"/>
          <p:cNvSpPr/>
          <p:nvPr/>
        </p:nvSpPr>
        <p:spPr>
          <a:xfrm>
            <a:off x="5720340" y="418947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3:15 pm</a:t>
            </a:r>
          </a:p>
        </p:txBody>
      </p:sp>
      <p:sp>
        <p:nvSpPr>
          <p:cNvPr id="17" name="TextBox 16"/>
          <p:cNvSpPr txBox="1"/>
          <p:nvPr/>
        </p:nvSpPr>
        <p:spPr>
          <a:xfrm>
            <a:off x="5077846"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F&amp;O stocks: auction</a:t>
            </a:r>
          </a:p>
          <a:p>
            <a:pPr algn="ctr">
              <a:lnSpc>
                <a:spcPct val="100000"/>
              </a:lnSpc>
            </a:pPr>
            <a:r>
              <a:rPr sz="1150" b="0" i="0">
                <a:solidFill>
                  <a:srgbClr val="47596B"/>
                </a:solidFill>
                <a:latin typeface="Segoe UI"/>
              </a:rPr>
              <a:t>Ek closing price, lagbhag 3:35 tak</a:t>
            </a:r>
          </a:p>
        </p:txBody>
      </p:sp>
      <p:sp>
        <p:nvSpPr>
          <p:cNvPr id="18" name="Rounded Rectangle 17"/>
          <p:cNvSpPr/>
          <p:nvPr/>
        </p:nvSpPr>
        <p:spPr>
          <a:xfrm>
            <a:off x="7902647" y="418947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3:30 pm</a:t>
            </a:r>
          </a:p>
        </p:txBody>
      </p:sp>
      <p:sp>
        <p:nvSpPr>
          <p:cNvPr id="19" name="TextBox 18"/>
          <p:cNvSpPr txBox="1"/>
          <p:nvPr/>
        </p:nvSpPr>
        <p:spPr>
          <a:xfrm>
            <a:off x="7260153"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Baaki stocks band</a:t>
            </a:r>
          </a:p>
          <a:p>
            <a:pPr algn="ctr">
              <a:lnSpc>
                <a:spcPct val="100000"/>
              </a:lnSpc>
            </a:pPr>
            <a:r>
              <a:rPr sz="1150" b="0" i="0">
                <a:solidFill>
                  <a:srgbClr val="47596B"/>
                </a:solidFill>
                <a:latin typeface="Segoe UI"/>
              </a:rPr>
              <a:t>Close = aakhri 30 min ka weighted average</a:t>
            </a:r>
          </a:p>
        </p:txBody>
      </p:sp>
      <p:sp>
        <p:nvSpPr>
          <p:cNvPr id="20" name="Rounded Rectangle 19"/>
          <p:cNvSpPr/>
          <p:nvPr/>
        </p:nvSpPr>
        <p:spPr>
          <a:xfrm>
            <a:off x="10084954" y="418947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T+1</a:t>
            </a:r>
          </a:p>
        </p:txBody>
      </p:sp>
      <p:sp>
        <p:nvSpPr>
          <p:cNvPr id="21" name="TextBox 20"/>
          <p:cNvSpPr txBox="1"/>
          <p:nvPr/>
        </p:nvSpPr>
        <p:spPr>
          <a:xfrm>
            <a:off x="9442460"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Agla trading day</a:t>
            </a:r>
          </a:p>
          <a:p>
            <a:pPr algn="ctr">
              <a:lnSpc>
                <a:spcPct val="100000"/>
              </a:lnSpc>
            </a:pPr>
            <a:r>
              <a:rPr sz="1150" b="0" i="0">
                <a:solidFill>
                  <a:srgbClr val="47596B"/>
                </a:solidFill>
                <a:latin typeface="Segoe UI"/>
              </a:rPr>
              <a:t>Shares buyer ke demat mein</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Price band aapko bechne se rok sakta hai. Khareedne se pehle yeh jaan lena bhi risk samajhne ka hissa hai.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Beginner ka overconfidence: teen jeet skill nahi hai</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Overconfidence ka matlab hai khud ko asliyat se zyada samajhdaar maan lena.</a:t>
            </a:r>
          </a:p>
          <a:p>
            <a:pPr algn="l" marL="274320" indent="-274320">
              <a:lnSpc>
                <a:spcPct val="100000"/>
              </a:lnSpc>
              <a:spcAft>
                <a:spcPts val="800"/>
              </a:spcAft>
              <a:buClr>
                <a:srgbClr val="00AEEF"/>
              </a:buClr>
              <a:buFont typeface="Arial"/>
              <a:buChar char="•"/>
            </a:pPr>
            <a:r>
              <a:rPr sz="1600" b="0" i="0">
                <a:solidFill>
                  <a:srgbClr val="18232F"/>
                </a:solidFill>
                <a:latin typeface="Segoe UI"/>
              </a:rPr>
              <a:t>Yeh sabse zyada tab pakadta hai jab shuru ke kuch trades mein jeet mil jaati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Chadhte market mein bahut saare shares saath-saath chadh jaate hain, toh achhe hafte ki teen jeet market ki lehar bhi ho sakti hai, aapki skill nahi.</a:t>
            </a:r>
          </a:p>
          <a:p>
            <a:pPr algn="l" marL="274320" indent="-274320">
              <a:lnSpc>
                <a:spcPct val="100000"/>
              </a:lnSpc>
              <a:buClr>
                <a:srgbClr val="00AEEF"/>
              </a:buClr>
              <a:buFont typeface="Arial"/>
              <a:buChar char="•"/>
            </a:pPr>
            <a:r>
              <a:rPr sz="1600" b="0" i="0">
                <a:solidFill>
                  <a:srgbClr val="18232F"/>
                </a:solidFill>
                <a:latin typeface="Segoe UI"/>
              </a:rPr>
              <a:t>Skill bahut saare trades aur alag-alag market conditions mein hi dikhti hai.</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Aman ke jeet wale hafte mein NIFTY 50 khud lagbhag 3% chadha tha, aur uske teen trades ne Rs 1,800 kamaye. Priya ne bas ek sawaal poocha: 'Agar us hafte market gira hota, toh kya yeh trades tab bhi chalte?' Aman ke paas jawab nahi tha. Har jeet ke baad yahi sawaal poochna overconfidence ka sabse seedha ilaaj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Lehar par sawaari</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Dono lines 100 se shuru hoti hain. Jeet wale hafte mein Aman ke stocks NIFTY 50 se tez chadhe; is 'what if' mein lehar palatte hi woh aur tezi se girte hain. Teen jeet se pata hi nahi chalta ki lehar thi ya skill.</a:t>
            </a:r>
          </a:p>
        </p:txBody>
      </p:sp>
      <p:sp>
        <p:nvSpPr>
          <p:cNvPr id="12" name="Rectangle 11"/>
          <p:cNvSpPr/>
          <p:nvPr/>
        </p:nvSpPr>
        <p:spPr>
          <a:xfrm>
            <a:off x="6812159"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41343" y="1796796"/>
            <a:ext cx="564290"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NIFTY 50</a:t>
            </a:r>
          </a:p>
        </p:txBody>
      </p:sp>
      <p:sp>
        <p:nvSpPr>
          <p:cNvPr id="14" name="Rectangle 13"/>
          <p:cNvSpPr/>
          <p:nvPr/>
        </p:nvSpPr>
        <p:spPr>
          <a:xfrm>
            <a:off x="7979953"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309137" y="1796796"/>
            <a:ext cx="95110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Aman ke stocks</a:t>
            </a:r>
          </a:p>
        </p:txBody>
      </p:sp>
      <p:sp>
        <p:nvSpPr>
          <p:cNvPr id="16" name="TextBox 15"/>
          <p:cNvSpPr txBox="1"/>
          <p:nvPr/>
        </p:nvSpPr>
        <p:spPr>
          <a:xfrm>
            <a:off x="6397600" y="207111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Start = 100</a:t>
            </a:r>
          </a:p>
        </p:txBody>
      </p:sp>
      <p:cxnSp>
        <p:nvCxnSpPr>
          <p:cNvPr id="17" name="Connector 16"/>
          <p:cNvCxnSpPr/>
          <p:nvPr/>
        </p:nvCxnSpPr>
        <p:spPr>
          <a:xfrm>
            <a:off x="6812159" y="467715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4594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98.5</a:t>
            </a:r>
          </a:p>
        </p:txBody>
      </p:sp>
      <p:cxnSp>
        <p:nvCxnSpPr>
          <p:cNvPr id="19" name="Connector 18"/>
          <p:cNvCxnSpPr/>
          <p:nvPr/>
        </p:nvCxnSpPr>
        <p:spPr>
          <a:xfrm>
            <a:off x="6812159" y="413994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05765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100.5</a:t>
            </a:r>
          </a:p>
        </p:txBody>
      </p:sp>
      <p:cxnSp>
        <p:nvCxnSpPr>
          <p:cNvPr id="21" name="Connector 20"/>
          <p:cNvCxnSpPr/>
          <p:nvPr/>
        </p:nvCxnSpPr>
        <p:spPr>
          <a:xfrm>
            <a:off x="6812159" y="36027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35204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102.5</a:t>
            </a:r>
          </a:p>
        </p:txBody>
      </p:sp>
      <p:cxnSp>
        <p:nvCxnSpPr>
          <p:cNvPr id="23" name="Connector 22"/>
          <p:cNvCxnSpPr/>
          <p:nvPr/>
        </p:nvCxnSpPr>
        <p:spPr>
          <a:xfrm>
            <a:off x="6812159" y="306552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298323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104.6</a:t>
            </a:r>
          </a:p>
        </p:txBody>
      </p:sp>
      <p:cxnSp>
        <p:nvCxnSpPr>
          <p:cNvPr id="25" name="Connector 24"/>
          <p:cNvCxnSpPr/>
          <p:nvPr/>
        </p:nvCxnSpPr>
        <p:spPr>
          <a:xfrm>
            <a:off x="6812159" y="252831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446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106.6</a:t>
            </a:r>
          </a:p>
        </p:txBody>
      </p:sp>
      <p:cxnSp>
        <p:nvCxnSpPr>
          <p:cNvPr id="27" name="Connector 26"/>
          <p:cNvCxnSpPr/>
          <p:nvPr/>
        </p:nvCxnSpPr>
        <p:spPr>
          <a:xfrm>
            <a:off x="9404550"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450270" y="2290572"/>
            <a:ext cx="972913"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Lehar palte toh</a:t>
            </a:r>
          </a:p>
        </p:txBody>
      </p:sp>
      <p:sp>
        <p:nvSpPr>
          <p:cNvPr id="29" name="Freeform 28"/>
          <p:cNvSpPr/>
          <p:nvPr/>
        </p:nvSpPr>
        <p:spPr>
          <a:xfrm>
            <a:off x="6812159" y="3481924"/>
            <a:ext cx="4666304" cy="805412"/>
          </a:xfrm>
          <a:custGeom>
            <a:avLst/>
            <a:gdLst/>
            <a:ahLst/>
            <a:cxnLst/>
            <a:rect l="l" t="t" r="r" b="b"/>
            <a:pathLst>
              <a:path w="4666304" h="805412">
                <a:moveTo>
                  <a:pt x="0" y="805412"/>
                </a:moveTo>
                <a:lnTo>
                  <a:pt x="518479" y="671177"/>
                </a:lnTo>
                <a:lnTo>
                  <a:pt x="1036957" y="483248"/>
                </a:lnTo>
                <a:lnTo>
                  <a:pt x="1555435" y="375859"/>
                </a:lnTo>
                <a:lnTo>
                  <a:pt x="2073913" y="187930"/>
                </a:lnTo>
                <a:lnTo>
                  <a:pt x="2592391" y="0"/>
                </a:lnTo>
                <a:lnTo>
                  <a:pt x="3110870" y="161083"/>
                </a:lnTo>
                <a:lnTo>
                  <a:pt x="3629348" y="402706"/>
                </a:lnTo>
                <a:lnTo>
                  <a:pt x="4147826" y="644330"/>
                </a:lnTo>
                <a:lnTo>
                  <a:pt x="4666304" y="778565"/>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812159" y="2676512"/>
            <a:ext cx="4666304" cy="1852448"/>
          </a:xfrm>
          <a:custGeom>
            <a:avLst/>
            <a:gdLst/>
            <a:ahLst/>
            <a:cxnLst/>
            <a:rect l="l" t="t" r="r" b="b"/>
            <a:pathLst>
              <a:path w="4666304" h="1852448">
                <a:moveTo>
                  <a:pt x="0" y="1610824"/>
                </a:moveTo>
                <a:lnTo>
                  <a:pt x="518479" y="1342354"/>
                </a:lnTo>
                <a:lnTo>
                  <a:pt x="1036957" y="939648"/>
                </a:lnTo>
                <a:lnTo>
                  <a:pt x="1555435" y="724871"/>
                </a:lnTo>
                <a:lnTo>
                  <a:pt x="2073913" y="322165"/>
                </a:lnTo>
                <a:lnTo>
                  <a:pt x="2592391" y="0"/>
                </a:lnTo>
                <a:lnTo>
                  <a:pt x="3110870" y="375859"/>
                </a:lnTo>
                <a:lnTo>
                  <a:pt x="3629348" y="966495"/>
                </a:lnTo>
                <a:lnTo>
                  <a:pt x="4147826" y="1530283"/>
                </a:lnTo>
                <a:lnTo>
                  <a:pt x="4666304" y="1852448"/>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12159" y="471373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Trading days</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4" name="TextBox 3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Kisi tareeke ko 30 trades ke baad judge kijiye, teen ke baad kabhi nahi.</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632966"/>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Share</a:t>
            </a:r>
          </a:p>
        </p:txBody>
      </p:sp>
      <p:sp>
        <p:nvSpPr>
          <p:cNvPr id="6" name="TextBox 5"/>
          <p:cNvSpPr txBox="1"/>
          <p:nvPr/>
        </p:nvSpPr>
        <p:spPr>
          <a:xfrm>
            <a:off x="658368" y="1924050"/>
            <a:ext cx="5154016" cy="24231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Kisi company mein ek chhota sa hissa.</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30096"/>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Index</a:t>
            </a:r>
          </a:p>
        </p:txBody>
      </p:sp>
      <p:sp>
        <p:nvSpPr>
          <p:cNvPr id="9" name="TextBox 8"/>
          <p:cNvSpPr txBox="1"/>
          <p:nvPr/>
        </p:nvSpPr>
        <p:spPr>
          <a:xfrm>
            <a:off x="6379312" y="1821180"/>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Shares ki tokri jo ek number mein dikhti hai, jaise NIFTY 50 ya SENSEX. Badi companies ka weight zyada hota hai.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Free-float market cap</a:t>
            </a:r>
          </a:p>
        </p:txBody>
      </p:sp>
      <p:sp>
        <p:nvSpPr>
          <p:cNvPr id="12" name="TextBox 11"/>
          <p:cNvSpPr txBox="1"/>
          <p:nvPr/>
        </p:nvSpPr>
        <p:spPr>
          <a:xfrm>
            <a:off x="658368"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Sirf un shares ki market value jo trading ke liye khule hain; promoter aur doosri strategic holdings isse bahar. NIFTY 50 aur SENSEX companies ka weight isi se tay karte hain.</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48534"/>
            <a:ext cx="5154016" cy="231648"/>
          </a:xfrm>
          <a:prstGeom prst="rect">
            <a:avLst/>
          </a:prstGeom>
          <a:noFill/>
        </p:spPr>
        <p:txBody>
          <a:bodyPr wrap="square" lIns="0" rIns="0" tIns="0" bIns="0" anchor="t">
            <a:noAutofit/>
          </a:bodyPr>
          <a:lstStyle/>
          <a:p>
            <a:pPr algn="l">
              <a:lnSpc>
                <a:spcPct val="100000"/>
              </a:lnSpc>
            </a:pPr>
            <a:r>
              <a:rPr sz="1400" b="1" i="0">
                <a:solidFill>
                  <a:srgbClr val="095A90"/>
                </a:solidFill>
                <a:latin typeface="Segoe UI"/>
              </a:rPr>
              <a:t>FII/FPI aur DII</a:t>
            </a:r>
          </a:p>
        </p:txBody>
      </p:sp>
      <p:sp>
        <p:nvSpPr>
          <p:cNvPr id="15" name="TextBox 14"/>
          <p:cNvSpPr txBox="1"/>
          <p:nvPr/>
        </p:nvSpPr>
        <p:spPr>
          <a:xfrm>
            <a:off x="6379312" y="3016758"/>
            <a:ext cx="5154016" cy="5852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Videshi investors (ab official naam FPI hai) aur desi institutions, jaise mutual funds aur insurance companies. NSE har trading day ki shaam unki provisional net kharid ya bikri daalta hai; ek din ka figure signal nahi hai.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39362"/>
            <a:ext cx="5154016" cy="224028"/>
          </a:xfrm>
          <a:prstGeom prst="rect">
            <a:avLst/>
          </a:prstGeom>
          <a:noFill/>
        </p:spPr>
        <p:txBody>
          <a:bodyPr wrap="square" lIns="0" rIns="0" tIns="0" bIns="0" anchor="t">
            <a:noAutofit/>
          </a:bodyPr>
          <a:lstStyle/>
          <a:p>
            <a:pPr algn="l">
              <a:lnSpc>
                <a:spcPct val="100000"/>
              </a:lnSpc>
            </a:pPr>
            <a:r>
              <a:rPr sz="1350" b="1" i="0">
                <a:solidFill>
                  <a:srgbClr val="095A90"/>
                </a:solidFill>
                <a:latin typeface="Segoe UI"/>
              </a:rPr>
              <a:t>Demat account aur DP</a:t>
            </a:r>
          </a:p>
        </p:txBody>
      </p:sp>
      <p:sp>
        <p:nvSpPr>
          <p:cNvPr id="18" name="TextBox 17"/>
          <p:cNvSpPr txBox="1"/>
          <p:nvPr/>
        </p:nvSpPr>
        <p:spPr>
          <a:xfrm>
            <a:off x="658368" y="4299966"/>
            <a:ext cx="5154016" cy="562356"/>
          </a:xfrm>
          <a:prstGeom prst="rect">
            <a:avLst/>
          </a:prstGeom>
          <a:noFill/>
        </p:spPr>
        <p:txBody>
          <a:bodyPr wrap="square" lIns="0" rIns="0" tIns="0" bIns="0" anchor="t">
            <a:noAutofit/>
          </a:bodyPr>
          <a:lstStyle/>
          <a:p>
            <a:pPr algn="l">
              <a:lnSpc>
                <a:spcPct val="100000"/>
              </a:lnSpc>
            </a:pPr>
            <a:r>
              <a:rPr sz="1150" b="0" i="0">
                <a:solidFill>
                  <a:srgbClr val="18232F"/>
                </a:solidFill>
                <a:latin typeface="Segoe UI"/>
              </a:rPr>
              <a:t>Demat account mein aapke shares electronic form mein, aapke naam par, NSDL ya CDSL ke paas rehte hain. Yeh depository participant (DP) ke through khulta hai, aam taur par aapka broker; lekin shares broker ke nahi hote.</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KYC aur KRA</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KYC: ek baar ka identity check (PAN, address proof, photo, live verification). KRA: KYC Registration Agency jo yeh record rakhti hai, taaki doosri SEBI-registered firms wahin se le sakein.</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56860"/>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T+1 settlement</a:t>
            </a:r>
          </a:p>
        </p:txBody>
      </p:sp>
      <p:sp>
        <p:nvSpPr>
          <p:cNvPr id="24" name="TextBox 23"/>
          <p:cNvSpPr txBox="1"/>
          <p:nvPr/>
        </p:nvSpPr>
        <p:spPr>
          <a:xfrm>
            <a:off x="658368" y="5647944"/>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Trade ka din plus ek trading day: jab shares buyer tak aur paisa seller tak pahunchta hai.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56860"/>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Price band (circuit)</a:t>
            </a:r>
          </a:p>
        </p:txBody>
      </p:sp>
      <p:sp>
        <p:nvSpPr>
          <p:cNvPr id="27" name="TextBox 26"/>
          <p:cNvSpPr txBox="1"/>
          <p:nvPr/>
        </p:nvSpPr>
        <p:spPr>
          <a:xfrm>
            <a:off x="6379312" y="5647944"/>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Exchange ki set ki hui daily limit ki zyadatar stocks kitna upar-neeche ja sakte hain. Band par aapka order shayad fill na ho.</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096643"/>
            <a:ext cx="502920" cy="1707261"/>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358488" y="3708654"/>
            <a:ext cx="502920" cy="9525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12011"/>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310955"/>
            <a:ext cx="502920" cy="1492949"/>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49294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Market kaise chalta hai</a:t>
            </a:r>
          </a:p>
        </p:txBody>
      </p:sp>
      <p:sp>
        <p:nvSpPr>
          <p:cNvPr id="11" name="Rounded Rectangle 10"/>
          <p:cNvSpPr/>
          <p:nvPr/>
        </p:nvSpPr>
        <p:spPr>
          <a:xfrm>
            <a:off x="640080" y="1372934"/>
            <a:ext cx="3718408" cy="1447419"/>
          </a:xfrm>
          <a:prstGeom prst="roundRect">
            <a:avLst>
              <a:gd name="adj" fmla="val 758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82662"/>
            <a:ext cx="3425800" cy="231648"/>
          </a:xfrm>
          <a:prstGeom prst="rect">
            <a:avLst/>
          </a:prstGeom>
          <a:noFill/>
        </p:spPr>
        <p:txBody>
          <a:bodyPr wrap="square" lIns="0" rIns="0" tIns="0" bIns="0" anchor="t">
            <a:noAutofit/>
          </a:bodyPr>
          <a:lstStyle/>
          <a:p>
            <a:pPr algn="l">
              <a:lnSpc>
                <a:spcPct val="100000"/>
              </a:lnSpc>
            </a:pPr>
            <a:r>
              <a:rPr sz="1400" b="1" i="0">
                <a:solidFill>
                  <a:srgbClr val="095A90"/>
                </a:solidFill>
                <a:latin typeface="Segoe UI"/>
              </a:rPr>
              <a:t>Kaun kya hai</a:t>
            </a:r>
          </a:p>
        </p:txBody>
      </p:sp>
      <p:sp>
        <p:nvSpPr>
          <p:cNvPr id="13" name="TextBox 12"/>
          <p:cNvSpPr txBox="1"/>
          <p:nvPr/>
        </p:nvSpPr>
        <p:spPr>
          <a:xfrm>
            <a:off x="786384" y="1769174"/>
            <a:ext cx="3425800" cy="1051179"/>
          </a:xfrm>
          <a:prstGeom prst="rect">
            <a:avLst/>
          </a:prstGeom>
          <a:noFill/>
        </p:spPr>
        <p:txBody>
          <a:bodyPr wrap="square" lIns="0" rIns="0" tIns="0" bIns="0" anchor="t">
            <a:noAutofit/>
          </a:bodyPr>
          <a:lstStyle/>
          <a:p>
            <a:pPr algn="l" marL="182880" indent="-182880">
              <a:lnSpc>
                <a:spcPct val="100000"/>
              </a:lnSpc>
              <a:spcAft>
                <a:spcPts val="375"/>
              </a:spcAft>
              <a:buClr>
                <a:srgbClr val="0093D6"/>
              </a:buClr>
              <a:buFont typeface="Arial"/>
              <a:buChar char="•"/>
            </a:pPr>
            <a:r>
              <a:rPr sz="1250" b="0" i="0">
                <a:solidFill>
                  <a:srgbClr val="18232F"/>
                </a:solidFill>
                <a:latin typeface="Segoe UI"/>
              </a:rPr>
              <a:t>SEBI = referee</a:t>
            </a:r>
          </a:p>
          <a:p>
            <a:pPr algn="l" marL="182880" indent="-182880">
              <a:lnSpc>
                <a:spcPct val="100000"/>
              </a:lnSpc>
              <a:spcAft>
                <a:spcPts val="375"/>
              </a:spcAft>
              <a:buClr>
                <a:srgbClr val="0093D6"/>
              </a:buClr>
              <a:buFont typeface="Arial"/>
              <a:buChar char="•"/>
            </a:pPr>
            <a:r>
              <a:rPr sz="1250" b="0" i="0">
                <a:solidFill>
                  <a:srgbClr val="18232F"/>
                </a:solidFill>
                <a:latin typeface="Segoe UI"/>
              </a:rPr>
              <a:t>NSE, BSE = ground</a:t>
            </a:r>
          </a:p>
          <a:p>
            <a:pPr algn="l" marL="182880" indent="-182880">
              <a:lnSpc>
                <a:spcPct val="100000"/>
              </a:lnSpc>
              <a:spcAft>
                <a:spcPts val="375"/>
              </a:spcAft>
              <a:buClr>
                <a:srgbClr val="0093D6"/>
              </a:buClr>
              <a:buFont typeface="Arial"/>
              <a:buChar char="•"/>
            </a:pPr>
            <a:r>
              <a:rPr sz="1250" b="0" i="0">
                <a:solidFill>
                  <a:srgbClr val="18232F"/>
                </a:solidFill>
                <a:latin typeface="Segoe UI"/>
              </a:rPr>
              <a:t>FII/FPI, DII, retail = players</a:t>
            </a:r>
          </a:p>
          <a:p>
            <a:pPr algn="l" marL="182880" indent="-182880">
              <a:lnSpc>
                <a:spcPct val="100000"/>
              </a:lnSpc>
              <a:buClr>
                <a:srgbClr val="0093D6"/>
              </a:buClr>
              <a:buFont typeface="Arial"/>
              <a:buChar char="•"/>
            </a:pPr>
            <a:r>
              <a:rPr sz="1250" b="0" i="0">
                <a:solidFill>
                  <a:srgbClr val="18232F"/>
                </a:solidFill>
                <a:latin typeface="Segoe UI"/>
              </a:rPr>
              <a:t>Registration profit ka vada nahi</a:t>
            </a:r>
          </a:p>
        </p:txBody>
      </p:sp>
      <p:sp>
        <p:nvSpPr>
          <p:cNvPr id="14" name="Rounded Rectangle 13"/>
          <p:cNvSpPr/>
          <p:nvPr/>
        </p:nvSpPr>
        <p:spPr>
          <a:xfrm>
            <a:off x="640080" y="2984944"/>
            <a:ext cx="3718408" cy="1447419"/>
          </a:xfrm>
          <a:prstGeom prst="roundRect">
            <a:avLst>
              <a:gd name="adj" fmla="val 758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094673"/>
            <a:ext cx="3425800" cy="231648"/>
          </a:xfrm>
          <a:prstGeom prst="rect">
            <a:avLst/>
          </a:prstGeom>
          <a:noFill/>
        </p:spPr>
        <p:txBody>
          <a:bodyPr wrap="square" lIns="0" rIns="0" tIns="0" bIns="0" anchor="t">
            <a:noAutofit/>
          </a:bodyPr>
          <a:lstStyle/>
          <a:p>
            <a:pPr algn="l">
              <a:lnSpc>
                <a:spcPct val="100000"/>
              </a:lnSpc>
            </a:pPr>
            <a:r>
              <a:rPr sz="1400" b="1" i="0">
                <a:solidFill>
                  <a:srgbClr val="92400E"/>
                </a:solidFill>
                <a:latin typeface="Segoe UI"/>
              </a:rPr>
              <a:t>Scoreboard</a:t>
            </a:r>
          </a:p>
        </p:txBody>
      </p:sp>
      <p:sp>
        <p:nvSpPr>
          <p:cNvPr id="16" name="TextBox 15"/>
          <p:cNvSpPr txBox="1"/>
          <p:nvPr/>
        </p:nvSpPr>
        <p:spPr>
          <a:xfrm>
            <a:off x="786384" y="3381185"/>
            <a:ext cx="3425800" cy="1051179"/>
          </a:xfrm>
          <a:prstGeom prst="rect">
            <a:avLst/>
          </a:prstGeom>
          <a:noFill/>
        </p:spPr>
        <p:txBody>
          <a:bodyPr wrap="square" lIns="0" rIns="0" tIns="0" bIns="0" anchor="t">
            <a:noAutofit/>
          </a:bodyPr>
          <a:lstStyle/>
          <a:p>
            <a:pPr algn="l" marL="182880" indent="-182880">
              <a:lnSpc>
                <a:spcPct val="100000"/>
              </a:lnSpc>
              <a:spcAft>
                <a:spcPts val="375"/>
              </a:spcAft>
              <a:buClr>
                <a:srgbClr val="F5A524"/>
              </a:buClr>
              <a:buFont typeface="Arial"/>
              <a:buChar char="•"/>
            </a:pPr>
            <a:r>
              <a:rPr sz="1250" b="0" i="0">
                <a:solidFill>
                  <a:srgbClr val="18232F"/>
                </a:solidFill>
                <a:latin typeface="Segoe UI"/>
              </a:rPr>
              <a:t>NIFTY 50, SENSEX, NIFTY Bank</a:t>
            </a:r>
          </a:p>
          <a:p>
            <a:pPr algn="l" marL="182880" indent="-182880">
              <a:lnSpc>
                <a:spcPct val="100000"/>
              </a:lnSpc>
              <a:spcAft>
                <a:spcPts val="375"/>
              </a:spcAft>
              <a:buClr>
                <a:srgbClr val="F5A524"/>
              </a:buClr>
              <a:buFont typeface="Arial"/>
              <a:buChar char="•"/>
            </a:pPr>
            <a:r>
              <a:rPr sz="1250" b="0" i="0">
                <a:solidFill>
                  <a:srgbClr val="18232F"/>
                </a:solidFill>
                <a:latin typeface="Segoe UI"/>
              </a:rPr>
              <a:t>Weight = free-float market cap</a:t>
            </a:r>
          </a:p>
          <a:p>
            <a:pPr algn="l" marL="182880" indent="-182880">
              <a:lnSpc>
                <a:spcPct val="100000"/>
              </a:lnSpc>
              <a:spcAft>
                <a:spcPts val="375"/>
              </a:spcAft>
              <a:buClr>
                <a:srgbClr val="F5A524"/>
              </a:buClr>
              <a:buFont typeface="Arial"/>
              <a:buChar char="•"/>
            </a:pPr>
            <a:r>
              <a:rPr sz="1250" b="0" i="0">
                <a:solidFill>
                  <a:srgbClr val="18232F"/>
                </a:solidFill>
                <a:latin typeface="Segoe UI"/>
              </a:rPr>
              <a:t>Heavyweights sabse zyada hilaate hain</a:t>
            </a:r>
          </a:p>
          <a:p>
            <a:pPr algn="l" marL="182880" indent="-182880">
              <a:lnSpc>
                <a:spcPct val="100000"/>
              </a:lnSpc>
              <a:buClr>
                <a:srgbClr val="F5A524"/>
              </a:buClr>
              <a:buFont typeface="Arial"/>
              <a:buChar char="•"/>
            </a:pPr>
            <a:r>
              <a:rPr sz="1250" b="0" i="0">
                <a:solidFill>
                  <a:srgbClr val="18232F"/>
                </a:solidFill>
                <a:latin typeface="Segoe UI"/>
              </a:rPr>
              <a:t>FII/DII flow: khabar, signal nahi</a:t>
            </a:r>
          </a:p>
        </p:txBody>
      </p:sp>
      <p:sp>
        <p:nvSpPr>
          <p:cNvPr id="17" name="Rounded Rectangle 16"/>
          <p:cNvSpPr/>
          <p:nvPr/>
        </p:nvSpPr>
        <p:spPr>
          <a:xfrm>
            <a:off x="640080" y="4596956"/>
            <a:ext cx="3718408" cy="1637919"/>
          </a:xfrm>
          <a:prstGeom prst="roundRect">
            <a:avLst>
              <a:gd name="adj" fmla="val 6699"/>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706684"/>
            <a:ext cx="3425800" cy="231648"/>
          </a:xfrm>
          <a:prstGeom prst="rect">
            <a:avLst/>
          </a:prstGeom>
          <a:noFill/>
        </p:spPr>
        <p:txBody>
          <a:bodyPr wrap="square" lIns="0" rIns="0" tIns="0" bIns="0" anchor="t">
            <a:noAutofit/>
          </a:bodyPr>
          <a:lstStyle/>
          <a:p>
            <a:pPr algn="l">
              <a:lnSpc>
                <a:spcPct val="100000"/>
              </a:lnSpc>
            </a:pPr>
            <a:r>
              <a:rPr sz="1400" b="1" i="0">
                <a:solidFill>
                  <a:srgbClr val="166534"/>
                </a:solidFill>
                <a:latin typeface="Segoe UI"/>
              </a:rPr>
              <a:t>Aapke accounts</a:t>
            </a:r>
          </a:p>
        </p:txBody>
      </p:sp>
      <p:sp>
        <p:nvSpPr>
          <p:cNvPr id="19" name="TextBox 18"/>
          <p:cNvSpPr txBox="1"/>
          <p:nvPr/>
        </p:nvSpPr>
        <p:spPr>
          <a:xfrm>
            <a:off x="786384" y="4993196"/>
            <a:ext cx="3425800" cy="1241679"/>
          </a:xfrm>
          <a:prstGeom prst="rect">
            <a:avLst/>
          </a:prstGeom>
          <a:noFill/>
        </p:spPr>
        <p:txBody>
          <a:bodyPr wrap="square" lIns="0" rIns="0" tIns="0" bIns="0" anchor="t">
            <a:noAutofit/>
          </a:bodyPr>
          <a:lstStyle/>
          <a:p>
            <a:pPr algn="l" marL="182880" indent="-182880">
              <a:lnSpc>
                <a:spcPct val="100000"/>
              </a:lnSpc>
              <a:spcAft>
                <a:spcPts val="375"/>
              </a:spcAft>
              <a:buClr>
                <a:srgbClr val="16A34A"/>
              </a:buClr>
              <a:buFont typeface="Arial"/>
              <a:buChar char="•"/>
            </a:pPr>
            <a:r>
              <a:rPr sz="1250" b="0" i="0">
                <a:solidFill>
                  <a:srgbClr val="18232F"/>
                </a:solidFill>
                <a:latin typeface="Segoe UI"/>
              </a:rPr>
              <a:t>Bank = paisa, trading = orders</a:t>
            </a:r>
          </a:p>
          <a:p>
            <a:pPr algn="l" marL="182880" indent="-182880">
              <a:lnSpc>
                <a:spcPct val="100000"/>
              </a:lnSpc>
              <a:spcAft>
                <a:spcPts val="375"/>
              </a:spcAft>
              <a:buClr>
                <a:srgbClr val="16A34A"/>
              </a:buClr>
              <a:buFont typeface="Arial"/>
              <a:buChar char="•"/>
            </a:pPr>
            <a:r>
              <a:rPr sz="1250" b="0" i="0">
                <a:solidFill>
                  <a:srgbClr val="18232F"/>
                </a:solidFill>
                <a:latin typeface="Segoe UI"/>
              </a:rPr>
              <a:t>Demat = shares aapke naam par, DP ke through</a:t>
            </a:r>
          </a:p>
          <a:p>
            <a:pPr algn="l" marL="182880" indent="-182880">
              <a:lnSpc>
                <a:spcPct val="100000"/>
              </a:lnSpc>
              <a:spcAft>
                <a:spcPts val="375"/>
              </a:spcAft>
              <a:buClr>
                <a:srgbClr val="16A34A"/>
              </a:buClr>
              <a:buFont typeface="Arial"/>
              <a:buChar char="•"/>
            </a:pPr>
            <a:r>
              <a:rPr sz="1250" b="0" i="0">
                <a:solidFill>
                  <a:srgbClr val="18232F"/>
                </a:solidFill>
                <a:latin typeface="Segoe UI"/>
              </a:rPr>
              <a:t>KYC ek baar, KRA ke through; nominee dijiye</a:t>
            </a:r>
          </a:p>
          <a:p>
            <a:pPr algn="l" marL="182880" indent="-182880">
              <a:lnSpc>
                <a:spcPct val="100000"/>
              </a:lnSpc>
              <a:buClr>
                <a:srgbClr val="16A34A"/>
              </a:buClr>
              <a:buFont typeface="Arial"/>
              <a:buChar char="•"/>
            </a:pPr>
            <a:r>
              <a:rPr sz="1250" b="0" i="0">
                <a:solidFill>
                  <a:srgbClr val="18232F"/>
                </a:solidFill>
                <a:latin typeface="Segoe UI"/>
              </a:rPr>
              <a:t>OTP ya TPIN kabhi share nahi</a:t>
            </a:r>
          </a:p>
        </p:txBody>
      </p:sp>
      <p:sp>
        <p:nvSpPr>
          <p:cNvPr id="20" name="Rounded Rectangle 19"/>
          <p:cNvSpPr/>
          <p:nvPr/>
        </p:nvSpPr>
        <p:spPr>
          <a:xfrm>
            <a:off x="7833208" y="1706308"/>
            <a:ext cx="3718408" cy="1209294"/>
          </a:xfrm>
          <a:prstGeom prst="roundRect">
            <a:avLst>
              <a:gd name="adj" fmla="val 9073"/>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816036"/>
            <a:ext cx="3425800" cy="231648"/>
          </a:xfrm>
          <a:prstGeom prst="rect">
            <a:avLst/>
          </a:prstGeom>
          <a:noFill/>
        </p:spPr>
        <p:txBody>
          <a:bodyPr wrap="square" lIns="0" rIns="0" tIns="0" bIns="0" anchor="t">
            <a:noAutofit/>
          </a:bodyPr>
          <a:lstStyle/>
          <a:p>
            <a:pPr algn="l">
              <a:lnSpc>
                <a:spcPct val="100000"/>
              </a:lnSpc>
            </a:pPr>
            <a:r>
              <a:rPr sz="1400" b="1" i="0">
                <a:solidFill>
                  <a:srgbClr val="095A90"/>
                </a:solidFill>
                <a:latin typeface="Segoe UI"/>
              </a:rPr>
              <a:t>Order ka safar</a:t>
            </a:r>
          </a:p>
        </p:txBody>
      </p:sp>
      <p:sp>
        <p:nvSpPr>
          <p:cNvPr id="22" name="TextBox 21"/>
          <p:cNvSpPr txBox="1"/>
          <p:nvPr/>
        </p:nvSpPr>
        <p:spPr>
          <a:xfrm>
            <a:off x="7979512" y="2102548"/>
            <a:ext cx="3425800" cy="813054"/>
          </a:xfrm>
          <a:prstGeom prst="rect">
            <a:avLst/>
          </a:prstGeom>
          <a:noFill/>
        </p:spPr>
        <p:txBody>
          <a:bodyPr wrap="square" lIns="0" rIns="0" tIns="0" bIns="0" anchor="t">
            <a:noAutofit/>
          </a:bodyPr>
          <a:lstStyle/>
          <a:p>
            <a:pPr algn="l" marL="182880" indent="-182880">
              <a:lnSpc>
                <a:spcPct val="100000"/>
              </a:lnSpc>
              <a:spcAft>
                <a:spcPts val="375"/>
              </a:spcAft>
              <a:buClr>
                <a:srgbClr val="0093D6"/>
              </a:buClr>
              <a:buFont typeface="Arial"/>
              <a:buChar char="•"/>
            </a:pPr>
            <a:r>
              <a:rPr sz="1250" b="0" i="0">
                <a:solidFill>
                  <a:srgbClr val="18232F"/>
                </a:solidFill>
                <a:latin typeface="Segoe UI"/>
              </a:rPr>
              <a:t>App, broker, exchange</a:t>
            </a:r>
          </a:p>
          <a:p>
            <a:pPr algn="l" marL="182880" indent="-182880">
              <a:lnSpc>
                <a:spcPct val="100000"/>
              </a:lnSpc>
              <a:spcAft>
                <a:spcPts val="375"/>
              </a:spcAft>
              <a:buClr>
                <a:srgbClr val="0093D6"/>
              </a:buClr>
              <a:buFont typeface="Arial"/>
              <a:buChar char="•"/>
            </a:pPr>
            <a:r>
              <a:rPr sz="1250" b="0" i="0">
                <a:solidFill>
                  <a:srgbClr val="18232F"/>
                </a:solidFill>
                <a:latin typeface="Segoe UI"/>
              </a:rPr>
              <a:t>Clearing, depository, demat</a:t>
            </a:r>
          </a:p>
          <a:p>
            <a:pPr algn="l" marL="182880" indent="-182880">
              <a:lnSpc>
                <a:spcPct val="100000"/>
              </a:lnSpc>
              <a:buClr>
                <a:srgbClr val="0093D6"/>
              </a:buClr>
              <a:buFont typeface="Arial"/>
              <a:buChar char="•"/>
            </a:pPr>
            <a:r>
              <a:rPr sz="1250" b="0" i="0">
                <a:solidFill>
                  <a:srgbClr val="18232F"/>
                </a:solidFill>
                <a:latin typeface="Segoe UI"/>
              </a:rPr>
              <a:t>T+1 = agla trading day</a:t>
            </a:r>
          </a:p>
        </p:txBody>
      </p:sp>
      <p:sp>
        <p:nvSpPr>
          <p:cNvPr id="23" name="Rounded Rectangle 22"/>
          <p:cNvSpPr/>
          <p:nvPr/>
        </p:nvSpPr>
        <p:spPr>
          <a:xfrm>
            <a:off x="7833208" y="3080194"/>
            <a:ext cx="3718408" cy="1447419"/>
          </a:xfrm>
          <a:prstGeom prst="roundRect">
            <a:avLst>
              <a:gd name="adj" fmla="val 758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189922"/>
            <a:ext cx="3425800" cy="231648"/>
          </a:xfrm>
          <a:prstGeom prst="rect">
            <a:avLst/>
          </a:prstGeom>
          <a:noFill/>
        </p:spPr>
        <p:txBody>
          <a:bodyPr wrap="square" lIns="0" rIns="0" tIns="0" bIns="0" anchor="t">
            <a:noAutofit/>
          </a:bodyPr>
          <a:lstStyle/>
          <a:p>
            <a:pPr algn="l">
              <a:lnSpc>
                <a:spcPct val="100000"/>
              </a:lnSpc>
            </a:pPr>
            <a:r>
              <a:rPr sz="1400" b="1" i="0">
                <a:solidFill>
                  <a:srgbClr val="92400E"/>
                </a:solidFill>
                <a:latin typeface="Segoe UI"/>
              </a:rPr>
              <a:t>Market ki ghadi</a:t>
            </a:r>
          </a:p>
        </p:txBody>
      </p:sp>
      <p:sp>
        <p:nvSpPr>
          <p:cNvPr id="25" name="TextBox 24"/>
          <p:cNvSpPr txBox="1"/>
          <p:nvPr/>
        </p:nvSpPr>
        <p:spPr>
          <a:xfrm>
            <a:off x="7979512" y="3476434"/>
            <a:ext cx="3425800" cy="1051179"/>
          </a:xfrm>
          <a:prstGeom prst="rect">
            <a:avLst/>
          </a:prstGeom>
          <a:noFill/>
        </p:spPr>
        <p:txBody>
          <a:bodyPr wrap="square" lIns="0" rIns="0" tIns="0" bIns="0" anchor="t">
            <a:noAutofit/>
          </a:bodyPr>
          <a:lstStyle/>
          <a:p>
            <a:pPr algn="l" marL="182880" indent="-182880">
              <a:lnSpc>
                <a:spcPct val="100000"/>
              </a:lnSpc>
              <a:spcAft>
                <a:spcPts val="375"/>
              </a:spcAft>
              <a:buClr>
                <a:srgbClr val="F5A524"/>
              </a:buClr>
              <a:buFont typeface="Arial"/>
              <a:buChar char="•"/>
            </a:pPr>
            <a:r>
              <a:rPr sz="1250" b="0" i="0">
                <a:solidFill>
                  <a:srgbClr val="18232F"/>
                </a:solidFill>
                <a:latin typeface="Segoe UI"/>
              </a:rPr>
              <a:t>Pre-open 9:00-9:15</a:t>
            </a:r>
          </a:p>
          <a:p>
            <a:pPr algn="l" marL="182880" indent="-182880">
              <a:lnSpc>
                <a:spcPct val="100000"/>
              </a:lnSpc>
              <a:spcAft>
                <a:spcPts val="375"/>
              </a:spcAft>
              <a:buClr>
                <a:srgbClr val="F5A524"/>
              </a:buClr>
              <a:buFont typeface="Arial"/>
              <a:buChar char="•"/>
            </a:pPr>
            <a:r>
              <a:rPr sz="1250" b="0" i="0">
                <a:solidFill>
                  <a:srgbClr val="18232F"/>
                </a:solidFill>
                <a:latin typeface="Segoe UI"/>
              </a:rPr>
              <a:t>Normal session 9:15 am-3:30 pm</a:t>
            </a:r>
          </a:p>
          <a:p>
            <a:pPr algn="l" marL="182880" indent="-182880">
              <a:lnSpc>
                <a:spcPct val="100000"/>
              </a:lnSpc>
              <a:spcAft>
                <a:spcPts val="375"/>
              </a:spcAft>
              <a:buClr>
                <a:srgbClr val="F5A524"/>
              </a:buClr>
              <a:buFont typeface="Arial"/>
              <a:buChar char="•"/>
            </a:pPr>
            <a:r>
              <a:rPr sz="1250" b="0" i="0">
                <a:solidFill>
                  <a:srgbClr val="18232F"/>
                </a:solidFill>
                <a:latin typeface="Segoe UI"/>
              </a:rPr>
              <a:t>F&amp;O stocks: 3:15 se closing auction</a:t>
            </a:r>
          </a:p>
          <a:p>
            <a:pPr algn="l" marL="182880" indent="-182880">
              <a:lnSpc>
                <a:spcPct val="100000"/>
              </a:lnSpc>
              <a:buClr>
                <a:srgbClr val="F5A524"/>
              </a:buClr>
              <a:buFont typeface="Arial"/>
              <a:buChar char="•"/>
            </a:pPr>
            <a:r>
              <a:rPr sz="1250" b="0" i="0">
                <a:solidFill>
                  <a:srgbClr val="18232F"/>
                </a:solidFill>
                <a:latin typeface="Segoe UI"/>
              </a:rPr>
              <a:t>Price band exit rok sakta hai</a:t>
            </a:r>
          </a:p>
        </p:txBody>
      </p:sp>
      <p:sp>
        <p:nvSpPr>
          <p:cNvPr id="26" name="Rounded Rectangle 25"/>
          <p:cNvSpPr/>
          <p:nvPr/>
        </p:nvSpPr>
        <p:spPr>
          <a:xfrm>
            <a:off x="7833208" y="4692205"/>
            <a:ext cx="3718408" cy="1209294"/>
          </a:xfrm>
          <a:prstGeom prst="roundRect">
            <a:avLst>
              <a:gd name="adj" fmla="val 9073"/>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801934"/>
            <a:ext cx="3425800" cy="23164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Aapka mann</a:t>
            </a:r>
          </a:p>
        </p:txBody>
      </p:sp>
      <p:sp>
        <p:nvSpPr>
          <p:cNvPr id="28" name="TextBox 27"/>
          <p:cNvSpPr txBox="1"/>
          <p:nvPr/>
        </p:nvSpPr>
        <p:spPr>
          <a:xfrm>
            <a:off x="7979512" y="5088446"/>
            <a:ext cx="3425800" cy="813054"/>
          </a:xfrm>
          <a:prstGeom prst="rect">
            <a:avLst/>
          </a:prstGeom>
          <a:noFill/>
        </p:spPr>
        <p:txBody>
          <a:bodyPr wrap="square" lIns="0" rIns="0" tIns="0" bIns="0" anchor="t">
            <a:noAutofit/>
          </a:bodyPr>
          <a:lstStyle/>
          <a:p>
            <a:pPr algn="l" marL="182880" indent="-182880">
              <a:lnSpc>
                <a:spcPct val="100000"/>
              </a:lnSpc>
              <a:spcAft>
                <a:spcPts val="375"/>
              </a:spcAft>
              <a:buClr>
                <a:srgbClr val="F0554E"/>
              </a:buClr>
              <a:buFont typeface="Arial"/>
              <a:buChar char="•"/>
            </a:pPr>
            <a:r>
              <a:rPr sz="1250" b="0" i="0">
                <a:solidFill>
                  <a:srgbClr val="18232F"/>
                </a:solidFill>
                <a:latin typeface="Segoe UI"/>
              </a:rPr>
              <a:t>Teen jeet skill nahi</a:t>
            </a:r>
          </a:p>
          <a:p>
            <a:pPr algn="l" marL="182880" indent="-182880">
              <a:lnSpc>
                <a:spcPct val="100000"/>
              </a:lnSpc>
              <a:spcAft>
                <a:spcPts val="375"/>
              </a:spcAft>
              <a:buClr>
                <a:srgbClr val="F0554E"/>
              </a:buClr>
              <a:buFont typeface="Arial"/>
              <a:buChar char="•"/>
            </a:pPr>
            <a:r>
              <a:rPr sz="1250" b="0" i="0">
                <a:solidFill>
                  <a:srgbClr val="18232F"/>
                </a:solidFill>
                <a:latin typeface="Segoe UI"/>
              </a:rPr>
              <a:t>30 trades ke baad judge karein</a:t>
            </a:r>
          </a:p>
          <a:p>
            <a:pPr algn="l" marL="182880" indent="-182880">
              <a:lnSpc>
                <a:spcPct val="100000"/>
              </a:lnSpc>
              <a:buClr>
                <a:srgbClr val="F0554E"/>
              </a:buClr>
              <a:buFont typeface="Arial"/>
              <a:buChar char="•"/>
            </a:pPr>
            <a:r>
              <a:rPr sz="1250" b="0" i="0">
                <a:solidFill>
                  <a:srgbClr val="18232F"/>
                </a:solidFill>
                <a:latin typeface="Segoe UI"/>
              </a:rPr>
              <a:t>Stage 1 mein sirf virtual paisa</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Market ke peeche ka system khud dekhiye: kaun kya karta hai likhiye, yaad se ek order ka safar banaiye, aur paanch shaamon ka FII/DII flow log shuru kijiye.</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Neeche 'Kaun kya karta hai' template mein, bina dekhe, ek-ek line likhiye ki NSE/BSE, broker, NSDL/CDSL aur clearing corporation kya karte hain. Phir har line ko aaj ke lesson se milakar tick kijiye.</a:t>
            </a:r>
          </a:p>
        </p:txBody>
      </p:sp>
      <p:sp>
        <p:nvSpPr>
          <p:cNvPr id="10" name="Rounded Rectangle 9"/>
          <p:cNvSpPr/>
          <p:nvPr/>
        </p:nvSpPr>
        <p:spPr>
          <a:xfrm>
            <a:off x="457200" y="2816352"/>
            <a:ext cx="11277295" cy="475488"/>
          </a:xfrm>
          <a:prstGeom prst="roundRect">
            <a:avLst>
              <a:gd name="adj" fmla="val 1923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871216"/>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2926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32176"/>
            <a:ext cx="10042855" cy="28041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'Chhe stops' template yaad se bhariye, app se demat tak, phir aaj ke order-journey flow se milaiye.</a:t>
            </a:r>
          </a:p>
        </p:txBody>
      </p:sp>
      <p:sp>
        <p:nvSpPr>
          <p:cNvPr id="14" name="Rounded Rectangle 13"/>
          <p:cNvSpPr/>
          <p:nvPr/>
        </p:nvSpPr>
        <p:spPr>
          <a:xfrm>
            <a:off x="457200" y="3383280"/>
            <a:ext cx="11277295" cy="475488"/>
          </a:xfrm>
          <a:prstGeom prst="roundRect">
            <a:avLst>
              <a:gd name="adj" fmla="val 1923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438144"/>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4930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499104"/>
            <a:ext cx="10042855" cy="28041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nseindia.com par is saal ki trading holidays list dhoondhiye aur agli market holiday likh lijiye.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Kisi trading day ki shaam nseindia.com par 'FII/DII trading activity' search kijiye aur FII/FPI aur DII ke net figures (Rs crore) apne flow log ki pehli khaali row mein likhiye. Chhutti ya weekend ho toh pichhle trading day ke figures lijiye. Buy ya sell ka koi nateeja mat likhiye.</a:t>
            </a:r>
          </a:p>
        </p:txBody>
      </p:sp>
      <p:sp>
        <p:nvSpPr>
          <p:cNvPr id="9" name="Rounded Rectangle 8"/>
          <p:cNvSpPr/>
          <p:nvPr/>
        </p:nvSpPr>
        <p:spPr>
          <a:xfrm>
            <a:off x="457200" y="23591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TradingView par NIFTY 50 ka free chart kholiye aur usi din ka % change apne flow log ki usi row mein likhiye.</a:t>
            </a:r>
          </a:p>
        </p:txBody>
      </p:sp>
      <p:sp>
        <p:nvSpPr>
          <p:cNvPr id="13" name="Rounded Rectangle 12"/>
          <p:cNvSpPr/>
          <p:nvPr/>
        </p:nvSpPr>
        <p:spPr>
          <a:xfrm>
            <a:off x="457200" y="31394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AI Lab ka 'Follow my order' prompt chalaiye, aur jo line aap SEBI ya NSE ki website par confirm na kar payein, use 'Not sure' mark kijiye. Kisi bhi AI mein apna PAN, OTP ya account details kabhi mat daaliye.</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samjha payenge ki Indian market kaun chalata hai aur ek din ka FII/DII flow signal kyun nahi hai, index ka weight kaise banta hai, demat account, DP aur KYC kya hain, Buy dabane se T+1 tak kya hota hai, market kab khula rehta hai aur price band kab rok sakta hai, aur shuru ki teen jeet skill kyun saabit nahi karti.</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Kaun kya karta hai</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SEBI wali row model jawab hai. Baaki chaar yaad se bhariye, phir har ek ko lesson se milakar tick kijiye.</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3602736"/>
        </p:xfrm>
        <a:graphic>
          <a:graphicData uri="http://schemas.openxmlformats.org/drawingml/2006/table">
            <a:tbl>
              <a:tblPr firstRow="1">
                <a:tableStyleId>{5C22544A-7EE6-4342-B048-85BDC9FD1C3A}</a:tableStyleId>
              </a:tblPr>
              <a:tblGrid>
                <a:gridCol w="2036189"/>
                <a:gridCol w="7759964"/>
                <a:gridCol w="1115382"/>
              </a:tblGrid>
              <a:tr h="722376">
                <a:tc>
                  <a:txBody>
                    <a:bodyPr wrap="square"/>
                    <a:lstStyle/>
                    <a:p>
                      <a:pPr algn="l"/>
                      <a:r>
                        <a:rPr sz="1500" b="1" i="0">
                          <a:solidFill>
                            <a:srgbClr val="FFFFFF"/>
                          </a:solidFill>
                          <a:latin typeface="Segoe UI"/>
                        </a:rPr>
                        <a:t>Kaun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Unka kaam, mere shabdon mein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Check kiya?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713232">
                <a:tc>
                  <a:txBody>
                    <a:bodyPr wrap="square"/>
                    <a:lstStyle/>
                    <a:p>
                      <a:pPr algn="l"/>
                      <a:r>
                        <a:rPr sz="1500" b="0" i="0">
                          <a:solidFill>
                            <a:srgbClr val="18232F"/>
                          </a:solidFill>
                          <a:latin typeface="Segoe UI"/>
                        </a:rPr>
                        <a:t>SEBI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Rules banata hai, brokers aur advisers ko register karta hai, complaints par action leta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NSE / BSE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13232">
                <a:tc>
                  <a:txBody>
                    <a:bodyPr wrap="square"/>
                    <a:lstStyle/>
                    <a:p>
                      <a:pPr algn="l"/>
                      <a:r>
                        <a:rPr sz="1500" b="0" i="0">
                          <a:solidFill>
                            <a:srgbClr val="18232F"/>
                          </a:solidFill>
                          <a:latin typeface="Segoe UI"/>
                        </a:rPr>
                        <a:t>Mera broker (mera DP)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NSDL / CDSL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Clearing corporation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Ek order ke chhe stops</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Stop 1 aapke liye bhar diya hai. Stop 2 se 6 yaad se bhariye, phir lesson ke 'Ek order ka safar' flow se milaiye.</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3401568"/>
        </p:xfrm>
        <a:graphic>
          <a:graphicData uri="http://schemas.openxmlformats.org/drawingml/2006/table">
            <a:tbl>
              <a:tblPr firstRow="1">
                <a:tableStyleId>{5C22544A-7EE6-4342-B048-85BDC9FD1C3A}</a:tableStyleId>
              </a:tblPr>
              <a:tblGrid>
                <a:gridCol w="1229634"/>
                <a:gridCol w="1871993"/>
                <a:gridCol w="7809908"/>
              </a:tblGrid>
              <a:tr h="493776">
                <a:tc>
                  <a:txBody>
                    <a:bodyPr wrap="square"/>
                    <a:lstStyle/>
                    <a:p>
                      <a:pPr algn="l"/>
                      <a:r>
                        <a:rPr sz="1500" b="1" i="0">
                          <a:solidFill>
                            <a:srgbClr val="FFFFF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Kaun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Yahan kya hota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ctr"/>
                      <a:r>
                        <a:rPr sz="15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Aapka app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Aap Buy dabate hain aur order phone se nikalta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FII/DII flow log, paanch shaamein</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Example wali row banawati hai. Is hafte har trading day ki shaam ek row bhariye. Day 7 par paanchon rows ek saath padhiye aur khud se poochhiye: kya kisi ek shaam ke flow ne bataya ki agle din kya hoga?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813048"/>
        </p:xfrm>
        <a:graphic>
          <a:graphicData uri="http://schemas.openxmlformats.org/drawingml/2006/table">
            <a:tbl>
              <a:tblPr firstRow="1">
                <a:tableStyleId>{5C22544A-7EE6-4342-B048-85BDC9FD1C3A}</a:tableStyleId>
              </a:tblPr>
              <a:tblGrid>
                <a:gridCol w="964293"/>
                <a:gridCol w="1889650"/>
                <a:gridCol w="1538725"/>
                <a:gridCol w="1843794"/>
                <a:gridCol w="4675073"/>
              </a:tblGrid>
              <a:tr h="493776">
                <a:tc>
                  <a:txBody>
                    <a:bodyPr wrap="square"/>
                    <a:lstStyle/>
                    <a:p>
                      <a:pPr algn="l"/>
                      <a:r>
                        <a:rPr sz="1500" b="1" i="0">
                          <a:solidFill>
                            <a:srgbClr val="FFFFFF"/>
                          </a:solidFill>
                          <a:latin typeface="Segoe UI"/>
                        </a:rPr>
                        <a:t>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FII/FPI net (Rs cr)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DII net (Rs cr)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NIFTY 50 change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Maine kya dekha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Example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+1,610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FPI ne becha, DII ne khareeda; index lagbhag flat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Role-play 'Follow my order'</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Classmates ya family ke saath chhe log app, broker, exchange, clearing corporation, depository aur demat bante hain, aur ek kaagaz ka order aage badhate hain.</a:t>
            </a:r>
          </a:p>
          <a:p>
            <a:pPr algn="l">
              <a:lnSpc>
                <a:spcPct val="100000"/>
              </a:lnSpc>
              <a:spcAft>
                <a:spcPts val="700"/>
              </a:spcAft>
            </a:pPr>
            <a:r>
              <a:rPr sz="2000" b="0" i="0">
                <a:solidFill>
                  <a:srgbClr val="18232F"/>
                </a:solidFill>
                <a:latin typeface="Segoe UI"/>
              </a:rPr>
              <a:t>Jo apna kaam bhool jaye, woh use dobara samjhaye.</a:t>
            </a:r>
          </a:p>
          <a:p>
            <a:pPr algn="l">
              <a:lnSpc>
                <a:spcPct val="100000"/>
              </a:lnSpc>
              <a:spcAft>
                <a:spcPts val="700"/>
              </a:spcAft>
            </a:pPr>
            <a:r>
              <a:rPr sz="2000" b="0" i="0">
                <a:solidFill>
                  <a:srgbClr val="18232F"/>
                </a:solidFill>
                <a:latin typeface="Segoe UI"/>
              </a:rPr>
              <a:t>Beech safar mein koi 'Saturday' card utha deta hai: sabko batana hai ki order kahan ruka hai aur dobara kab chalega.</a:t>
            </a:r>
          </a:p>
          <a:p>
            <a:pPr algn="l">
              <a:lnSpc>
                <a:spcPct val="100000"/>
              </a:lnSpc>
            </a:pPr>
            <a:r>
              <a:rPr sz="2000" b="0" i="0">
                <a:solidFill>
                  <a:srgbClr val="18232F"/>
                </a:solidFill>
                <a:latin typeface="Segoe UI"/>
              </a:rPr>
              <a:t>Akele hain? Chhe parchiyon par naam likhiye, sahi order mein rakhiye aur har ek ka kaam bol kar samjhaiye.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Follow my order: AI samjhaye, aap verify karein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Follow my order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“You are a patient teacher of the Indian stock market, talking to a complete beginner. Explain, in short numbered steps, what happens after I tap Buy for 10 shares of a made-up NSE-listed company, 'Gupta Cement Ltd', through a broker app at 11:00 am on a Friday: the broker's checks, the exchange order book and matching, the clearing corporation, the depository (NSDL or CDSL), my demat account, and when the shares arrive under T+1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Myth ya fact: market basics</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250" b="0" i="1">
                <a:solidFill>
                  <a:srgbClr val="47596B"/>
                </a:solidFill>
                <a:latin typeface="Segoe UI"/>
              </a:rPr>
              <a:t>“List 8 common beliefs that Indian beginners hold about how the stock market works, for example 'my broker owns my demat account', 'the market is open on Saturday', 'SEBI registration means profits', 'the index is just the average of its shares' and 'FIIs sold today, so the market must fall tomorrow'.”</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Overconfidence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6 short questions, one at a time, to find out whether I am overconfident about trading: how I explain my past wins, how many trades I look at before trusting a method, what I did after a winning streak, and how I would react to three losses in a row.”</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QUICK QUIZ · SAWAAL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Friday ko Gupta Cement Ltd ke 10 shares khareedti hai. Monday normal trading day hai. T+1 settlement mein shares uske demat mein kab aane chahiye?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Friday ko hi, kuch minute mein</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Tuesday ko, do trading days baad</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Monday ko, agle trading day par</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Saturday ko, agle calendar day par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practice index mein teen companies hain. A ka weight 60% hai aur woh 3% girta hai. B ka weight 25% hai aur woh 2% chadhta hai. C ka weight 15% hai aur woh bhi 2% chadhta hai. Index lagbhag kitna move karega?</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3% girega: sabse badi company hi move tay karti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1% chadhega: teeno moves ko seedha jod dijiye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1% girega: A ka bhaari weight B aur C par bhaari padta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0.3% chadhega: teen mein se do shares chadhe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ne apna demat account apne broker ke through khola, jo uska depository participant (DP) hai. Settlement ke baad uske khareede hue shares asal mein kahan rakhe hote hain?</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Exchange ke paas, jab tak woh unhe bech na de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SEBI ke paas, sab investors ke ek central locker mein</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Uske apne demat account mein, NSDL ya CDSL ke paas, uske naam par</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Broker ki apni company ke account mein, kyunki broker uska DP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Kiran Foods Ltd apne lower price band par atka hua hai. Lakhon shares bikne ki line mein hain aur buyers bahut kam hain. Aman band price par sell order lagata hai. Sabse zyada chance kis baat ka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Turant fill ho jayega, kyunki price fixed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Order bina fill hue line mein reh sakta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Exchange khud band price par uske shares khareed lega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Broker ko uske shares khareedne padenge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QUICK QUIZ · SAWAAL 5/5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Jis hafte NIFTY 50 lagbhag 3% chadha, us hafte Aman ke 3 mein se 3 trades profit mein rahe. Sabse samajhdaar nateeja kya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Uski stock chunne ki skill ab saabit ho gayi</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 woh bade amount se trade karne ke liye taiyaar hai</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Chadhte hafte ke 3 trade kuch saabit nahi karte</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Uska tareeka girte market mein bhi chalega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Indian share market asal mein kaise chalta hai</a:t>
            </a:r>
          </a:p>
        </p:txBody>
      </p:sp>
      <p:sp>
        <p:nvSpPr>
          <p:cNvPr id="4" name="TextBox 3"/>
          <p:cNvSpPr txBox="1"/>
          <p:nvPr/>
        </p:nvSpPr>
        <p:spPr>
          <a:xfrm>
            <a:off x="457200" y="6109716"/>
            <a:ext cx="11277295" cy="21793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Stage 1 uses virtual money only. 5 Circles Pvt Ltd · SEBI Registered Research Analyst · Reg. No. INH000020004</a:t>
            </a:r>
          </a:p>
        </p:txBody>
      </p:sp>
      <p:sp>
        <p:nvSpPr>
          <p:cNvPr id="5" name="Rounded Rectangle 4"/>
          <p:cNvSpPr/>
          <p:nvPr/>
        </p:nvSpPr>
        <p:spPr>
          <a:xfrm>
            <a:off x="457200" y="1335024"/>
            <a:ext cx="5501488" cy="4152900"/>
          </a:xfrm>
          <a:prstGeom prst="roundRect">
            <a:avLst>
              <a:gd name="adj" fmla="val 308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AAJ RAAT KA JOURNAL</a:t>
            </a:r>
          </a:p>
        </p:txBody>
      </p:sp>
      <p:sp>
        <p:nvSpPr>
          <p:cNvPr id="7" name="TextBox 6"/>
          <p:cNvSpPr txBox="1"/>
          <p:nvPr/>
        </p:nvSpPr>
        <p:spPr>
          <a:xfrm>
            <a:off x="731520" y="1901952"/>
            <a:ext cx="4952848" cy="342138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Aaj order ke safar ka kaunsa stop aapko sabse zyada surprising laga? Aur ek aisa mauka yaad kijiye jab aapne luck ko skill samajh liya ho — market, cricket ya exam mein. Us jeet ki asli wajah kya thi?</a:t>
            </a:r>
          </a:p>
        </p:txBody>
      </p:sp>
      <p:sp>
        <p:nvSpPr>
          <p:cNvPr id="8" name="Rounded Rectangle 7"/>
          <p:cNvSpPr/>
          <p:nvPr/>
        </p:nvSpPr>
        <p:spPr>
          <a:xfrm>
            <a:off x="6233008" y="1335024"/>
            <a:ext cx="5501488" cy="4152900"/>
          </a:xfrm>
          <a:prstGeom prst="roundRect">
            <a:avLst>
              <a:gd name="adj" fmla="val 3082"/>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92379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Aaj aapne market ka naksha dekha. Naksha khud manzil tak nahi le jaata, lekin uske bina har raasta sirf andaaza hota hai.</a:t>
            </a:r>
          </a:p>
        </p:txBody>
      </p:sp>
      <p:sp>
        <p:nvSpPr>
          <p:cNvPr id="11" name="Rounded Rectangle 10"/>
          <p:cNvSpPr/>
          <p:nvPr/>
        </p:nvSpPr>
        <p:spPr>
          <a:xfrm>
            <a:off x="457200" y="5634228"/>
            <a:ext cx="4742180"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2 · Orders, liquidity aur trade ka asli kharcha</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02</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Market kaise chalta hai, aur price ki bhasha</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Orders, liquidity aur trade ka asli kharcha</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Order types, order book aur kharche: screen ke price aur aapke price ka fark</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Order-type drill: AI scene banaye, order aap chunein</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Abhi ke abhi kuch karne ki jaldi</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7" name="TextBox 16"/>
          <p:cNvSpPr txBox="1"/>
          <p:nvPr/>
        </p:nvSpPr>
        <p:spPr>
          <a:xfrm>
            <a:off x="4572000" y="4626864"/>
            <a:ext cx="7162495" cy="149961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bid, ask, spread aur depth padh payenge, practice order book se bhi; market, limit, SL aur SL-M mein se chun payenge aur jaanenge ki har ek ki keemat kya ho sakti hai; samjha payenge ki stop-loss vada kyun nahi hai aur AMO ki tarah lagaye stop ka kya hota hai; delivery aur intraday ka, aur GTT aur exchange order ka fark bata payenge; aur contract note ko line-by-line, net amount tak, padh payenge.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Mujhe Rs 101 kyun nahi mila?</a:t>
            </a:r>
          </a:p>
        </p:txBody>
      </p:sp>
      <p:sp>
        <p:nvSpPr>
          <p:cNvPr id="4" name="Rounded Rectangle 3"/>
          <p:cNvSpPr/>
          <p:nvPr/>
        </p:nvSpPr>
        <p:spPr>
          <a:xfrm>
            <a:off x="457200" y="1426464"/>
            <a:ext cx="3649370" cy="389534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43814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Monday ki shaam. Aman pareshaan hokar mentor ko call karta hai. Priya bhi call par aa jaati hai.</a:t>
            </a:r>
          </a:p>
        </p:txBody>
      </p:sp>
      <p:sp>
        <p:nvSpPr>
          <p:cNvPr id="7" name="Rounded Rectangle 6"/>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aaj subah 9:20 par alert aaya ki Joshi Pipes Ltd ko ek bada contract mila hai. Screen par Rs 101 dikh raha tha, toh maine market order se 300 shares le liye. Average Rs 102.33 aaya. Do second mein Rs 400 zyada chale gaye. Kya app ne mujhe thag liya?</a:t>
            </a:r>
          </a:p>
        </p:txBody>
      </p:sp>
      <p:sp>
        <p:nvSpPr>
          <p:cNvPr id="13" name="Rounded Rectangle 12"/>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Pehle ek sawaal. Market order hi kyun, aur theek usi second mein kyun?</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Mujhe Rs 101 kyun nahi mila?</a:t>
            </a:r>
          </a:p>
        </p:txBody>
      </p:sp>
      <p:sp>
        <p:nvSpPr>
          <p:cNvPr id="4" name="Rounded Rectangle 3"/>
          <p:cNvSpPr/>
          <p:nvPr/>
        </p:nvSpPr>
        <p:spPr>
          <a:xfrm>
            <a:off x="457200"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03120"/>
            <a:ext cx="3393338" cy="1083564"/>
          </a:xfrm>
          <a:prstGeom prst="wedgeRoundRectCallout">
            <a:avLst>
              <a:gd name="adj1" fmla="val -41915"/>
              <a:gd name="adj2" fmla="val -66877"/>
              <a:gd name="adj3" fmla="val 10126"/>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267712"/>
            <a:ext cx="3137306" cy="79095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Laga ki ek minute bhi ruka toh mauka nikal jayega. Sach kahun toh maine kuch socha hi nahi.</a:t>
            </a:r>
          </a:p>
        </p:txBody>
      </p:sp>
      <p:sp>
        <p:nvSpPr>
          <p:cNvPr id="10" name="Rounded Rectangle 9"/>
          <p:cNvSpPr/>
          <p:nvPr/>
        </p:nvSpPr>
        <p:spPr>
          <a:xfrm>
            <a:off x="4271162"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46304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03120"/>
            <a:ext cx="3393338" cy="1083564"/>
          </a:xfrm>
          <a:prstGeom prst="wedgeRoundRectCallout">
            <a:avLst>
              <a:gd name="adj1" fmla="val -41915"/>
              <a:gd name="adj2" fmla="val -66877"/>
              <a:gd name="adj3" fmla="val 10126"/>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267712"/>
            <a:ext cx="3137306" cy="79095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Sir, agar woh Rs 101 ka limit order lagata, toh kya use saare 300 shares Rs 101 par mil jaate?</a:t>
            </a:r>
          </a:p>
        </p:txBody>
      </p:sp>
      <p:sp>
        <p:nvSpPr>
          <p:cNvPr id="16" name="Rounded Rectangle 15"/>
          <p:cNvSpPr/>
          <p:nvPr/>
        </p:nvSpPr>
        <p:spPr>
          <a:xfrm>
            <a:off x="8085125"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03120"/>
            <a:ext cx="3393338" cy="3346704"/>
          </a:xfrm>
          <a:prstGeom prst="wedgeRoundRectCallout">
            <a:avLst>
              <a:gd name="adj1" fmla="val -41915"/>
              <a:gd name="adj2" fmla="val -55464"/>
              <a:gd name="adj3" fmla="val 327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267712"/>
            <a:ext cx="3137306" cy="305409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Saare nahi. Screen sirf last trade dikhati hai; yeh nahi dikhati ki us price par kitne shares bikne ke liye hain. Rs 101 par sirf 100 shares the; agle sellers Rs 102 aur Rs 104 maang rahe the. Limit order se woh 100 mil jaate, aur baaki order line mein wait karta. Aman, kisi ne aapko nahi thaga. Aapne speed chuni thi, aur aaj hum dekhenge ki speed ki keemat kya hoti hai.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Screen last trade dikhati hai, aapka price nahi. Buy dabane se pehle tay kijiye ki aaj kya zyada zaroori hai: speed ya price.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Bid, ask aur spread: har share ke do price hote hain</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Screen par jo price dikhta hai, woh last traded price (LTP) hai: sabse aakhri deal ka price, koi aisa price nahi jo abhi aapko offer ho raha ho.</a:t>
            </a:r>
          </a:p>
          <a:p>
            <a:pPr algn="l" marL="274320" indent="-274320">
              <a:lnSpc>
                <a:spcPct val="100000"/>
              </a:lnSpc>
              <a:spcAft>
                <a:spcPts val="800"/>
              </a:spcAft>
              <a:buClr>
                <a:srgbClr val="00AEEF"/>
              </a:buClr>
              <a:buFont typeface="Arial"/>
              <a:buChar char="•"/>
            </a:pPr>
            <a:r>
              <a:rPr sz="1600" b="0" i="0">
                <a:solidFill>
                  <a:srgbClr val="18232F"/>
                </a:solidFill>
                <a:latin typeface="Segoe UI"/>
              </a:rPr>
              <a:t>Har pal do live price chal rahe hote hain.</a:t>
            </a:r>
          </a:p>
          <a:p>
            <a:pPr algn="l" marL="274320" indent="-274320">
              <a:lnSpc>
                <a:spcPct val="100000"/>
              </a:lnSpc>
              <a:spcAft>
                <a:spcPts val="800"/>
              </a:spcAft>
              <a:buClr>
                <a:srgbClr val="00AEEF"/>
              </a:buClr>
              <a:buFont typeface="Arial"/>
              <a:buChar char="•"/>
            </a:pPr>
            <a:r>
              <a:rPr sz="1600" b="0" i="0">
                <a:solidFill>
                  <a:srgbClr val="18232F"/>
                </a:solidFill>
                <a:latin typeface="Segoe UI"/>
              </a:rPr>
              <a:t>Bid woh sabse ooncha price hai jo koi buyer dene ko taiyaar hai.</a:t>
            </a:r>
          </a:p>
          <a:p>
            <a:pPr algn="l" marL="274320" indent="-274320">
              <a:lnSpc>
                <a:spcPct val="100000"/>
              </a:lnSpc>
              <a:buClr>
                <a:srgbClr val="00AEEF"/>
              </a:buClr>
              <a:buFont typeface="Arial"/>
              <a:buChar char="•"/>
            </a:pPr>
            <a:r>
              <a:rPr sz="1600" b="0" i="0">
                <a:solidFill>
                  <a:srgbClr val="18232F"/>
                </a:solidFill>
                <a:latin typeface="Segoe UI"/>
              </a:rPr>
              <a:t>Ask, jise offer bhi kehte hain, woh sabse neecha price hai jis par koi seller bechne ko raazi hai.</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Sabzi mandi mein tamatar wala Rs 40 kilo bolta hai aur aap Rs 36 lagate hain. Rs 40 ask hai, Rs 36 bid, aur Rs 4 ka fark spread; jab tak ek taraf wala apna price nahi badalta, sauda nahi hota. NIFTY 50 ki kisi busy company mein bid Rs 1,500.00 aur ask Rs 1,500.10 dikh sakta hai, yaani sirf 10 paise ka spread. Joshi Pipes Ltd ek chhoti company hai jismein trading kam hoti hai; wahan bid Rs 100 aur ask Rs 101 hai: Rs 1 ka spread, yaani price ka lagbhag 1%, trade shuru hone se pehle hi.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Joshi Pipes order book, 9:20 par</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Har price par wait kar rahe shares: upar sellers (laal), neeche buyers (hare). Spread = Rs 101 - Rs 100 = Rs 1.</a:t>
            </a:r>
          </a:p>
        </p:txBody>
      </p:sp>
      <p:sp>
        <p:nvSpPr>
          <p:cNvPr id="11" name="TextBox 10"/>
          <p:cNvSpPr txBox="1"/>
          <p:nvPr/>
        </p:nvSpPr>
        <p:spPr>
          <a:xfrm>
            <a:off x="6397600" y="1796796"/>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Ask Rs 104</a:t>
            </a:r>
          </a:p>
        </p:txBody>
      </p:sp>
      <p:sp>
        <p:nvSpPr>
          <p:cNvPr id="12" name="Rounded Rectangle 11"/>
          <p:cNvSpPr/>
          <p:nvPr/>
        </p:nvSpPr>
        <p:spPr>
          <a:xfrm>
            <a:off x="7604608" y="1933384"/>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33384"/>
            <a:ext cx="2285340" cy="273177"/>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124058" y="1796796"/>
            <a:ext cx="454989" cy="54635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200</a:t>
            </a:r>
          </a:p>
        </p:txBody>
      </p:sp>
      <p:sp>
        <p:nvSpPr>
          <p:cNvPr id="15" name="TextBox 14"/>
          <p:cNvSpPr txBox="1"/>
          <p:nvPr/>
        </p:nvSpPr>
        <p:spPr>
          <a:xfrm>
            <a:off x="6397600" y="2343150"/>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Ask Rs 102</a:t>
            </a:r>
          </a:p>
        </p:txBody>
      </p:sp>
      <p:sp>
        <p:nvSpPr>
          <p:cNvPr id="16" name="Rounded Rectangle 15"/>
          <p:cNvSpPr/>
          <p:nvPr/>
        </p:nvSpPr>
        <p:spPr>
          <a:xfrm>
            <a:off x="7604608" y="2479738"/>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479738"/>
            <a:ext cx="1142670" cy="273177"/>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124058" y="2343150"/>
            <a:ext cx="454989" cy="54635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100</a:t>
            </a:r>
          </a:p>
        </p:txBody>
      </p:sp>
      <p:sp>
        <p:nvSpPr>
          <p:cNvPr id="19" name="TextBox 18"/>
          <p:cNvSpPr txBox="1"/>
          <p:nvPr/>
        </p:nvSpPr>
        <p:spPr>
          <a:xfrm>
            <a:off x="6397600" y="2889504"/>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Ask Rs 101</a:t>
            </a:r>
          </a:p>
        </p:txBody>
      </p:sp>
      <p:sp>
        <p:nvSpPr>
          <p:cNvPr id="20" name="Rounded Rectangle 19"/>
          <p:cNvSpPr/>
          <p:nvPr/>
        </p:nvSpPr>
        <p:spPr>
          <a:xfrm>
            <a:off x="7604608" y="3026092"/>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026092"/>
            <a:ext cx="1142670" cy="273177"/>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124058" y="2889504"/>
            <a:ext cx="454989" cy="54635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100</a:t>
            </a:r>
          </a:p>
        </p:txBody>
      </p:sp>
      <p:sp>
        <p:nvSpPr>
          <p:cNvPr id="23" name="TextBox 22"/>
          <p:cNvSpPr txBox="1"/>
          <p:nvPr/>
        </p:nvSpPr>
        <p:spPr>
          <a:xfrm>
            <a:off x="6397600" y="3435858"/>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Bid Rs 100</a:t>
            </a:r>
          </a:p>
        </p:txBody>
      </p:sp>
      <p:sp>
        <p:nvSpPr>
          <p:cNvPr id="24" name="Rounded Rectangle 23"/>
          <p:cNvSpPr/>
          <p:nvPr/>
        </p:nvSpPr>
        <p:spPr>
          <a:xfrm>
            <a:off x="7604608" y="3572446"/>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572446"/>
            <a:ext cx="1714005"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124058" y="3435858"/>
            <a:ext cx="454989"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150</a:t>
            </a:r>
          </a:p>
        </p:txBody>
      </p:sp>
      <p:sp>
        <p:nvSpPr>
          <p:cNvPr id="27" name="TextBox 26"/>
          <p:cNvSpPr txBox="1"/>
          <p:nvPr/>
        </p:nvSpPr>
        <p:spPr>
          <a:xfrm>
            <a:off x="6397600" y="3982212"/>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Bid Rs 99.50</a:t>
            </a:r>
          </a:p>
        </p:txBody>
      </p:sp>
      <p:sp>
        <p:nvSpPr>
          <p:cNvPr id="28" name="Rounded Rectangle 27"/>
          <p:cNvSpPr/>
          <p:nvPr/>
        </p:nvSpPr>
        <p:spPr>
          <a:xfrm>
            <a:off x="7604608" y="4118801"/>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118801"/>
            <a:ext cx="3428011"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1124058" y="3982212"/>
            <a:ext cx="454989"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300</a:t>
            </a:r>
          </a:p>
        </p:txBody>
      </p:sp>
      <p:sp>
        <p:nvSpPr>
          <p:cNvPr id="31" name="TextBox 30"/>
          <p:cNvSpPr txBox="1"/>
          <p:nvPr/>
        </p:nvSpPr>
        <p:spPr>
          <a:xfrm>
            <a:off x="6397600" y="4528566"/>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Bid Rs 99</a:t>
            </a:r>
          </a:p>
        </p:txBody>
      </p:sp>
      <p:sp>
        <p:nvSpPr>
          <p:cNvPr id="32" name="Rounded Rectangle 31"/>
          <p:cNvSpPr/>
          <p:nvPr/>
        </p:nvSpPr>
        <p:spPr>
          <a:xfrm>
            <a:off x="7604608" y="4665155"/>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7604608" y="4665155"/>
            <a:ext cx="2856675"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11124058" y="4528566"/>
            <a:ext cx="454989"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250</a:t>
            </a:r>
          </a:p>
        </p:txBody>
      </p:sp>
      <p:sp>
        <p:nvSpPr>
          <p:cNvPr id="35" name="Rounded Rectangle 3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ounded Rectangle 3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7" name="TextBox 3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Screen last deal dikhati hai. Market buy ask par hota hai, market sell bid par.</a:t>
            </a:r>
          </a:p>
        </p:txBody>
      </p:sp>
      <p:pic>
        <p:nvPicPr>
          <p:cNvPr id="38" name="Picture 37" descr="logo.png"/>
          <p:cNvPicPr>
            <a:picLocks noChangeAspect="1"/>
          </p:cNvPicPr>
          <p:nvPr/>
        </p:nvPicPr>
        <p:blipFill>
          <a:blip r:embed="rId2"/>
          <a:stretch>
            <a:fillRect/>
          </a:stretch>
        </p:blipFill>
        <p:spPr>
          <a:xfrm>
            <a:off x="457200" y="6437376"/>
            <a:ext cx="237744" cy="237744"/>
          </a:xfrm>
          <a:prstGeom prst="rect">
            <a:avLst/>
          </a:prstGeom>
        </p:spPr>
      </p:pic>
      <p:sp>
        <p:nvSpPr>
          <p:cNvPr id="3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0" name="TextBox 3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Market ya limit: speed chahiye ya price</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Order 'fill' hona yaani saamne wale order se match hokar sauda sach mein ho jaana.</a:t>
            </a:r>
          </a:p>
          <a:p>
            <a:pPr algn="l" marL="274320" indent="-274320">
              <a:lnSpc>
                <a:spcPct val="100000"/>
              </a:lnSpc>
              <a:spcAft>
                <a:spcPts val="800"/>
              </a:spcAft>
              <a:buClr>
                <a:srgbClr val="00AEEF"/>
              </a:buClr>
              <a:buFont typeface="Arial"/>
              <a:buChar char="•"/>
            </a:pPr>
            <a:r>
              <a:rPr sz="1600" b="0" i="0">
                <a:solidFill>
                  <a:srgbClr val="18232F"/>
                </a:solidFill>
                <a:latin typeface="Segoe UI"/>
              </a:rPr>
              <a:t>Market order ka matlab hai: mera order abhi fill karo, sellers jo bhi price maang rahe hon.</a:t>
            </a:r>
          </a:p>
          <a:p>
            <a:pPr algn="l" marL="274320" indent="-274320">
              <a:lnSpc>
                <a:spcPct val="100000"/>
              </a:lnSpc>
              <a:spcAft>
                <a:spcPts val="800"/>
              </a:spcAft>
              <a:buClr>
                <a:srgbClr val="00AEEF"/>
              </a:buClr>
              <a:buFont typeface="Arial"/>
              <a:buChar char="•"/>
            </a:pPr>
            <a:r>
              <a:rPr sz="1600" b="0" i="0">
                <a:solidFill>
                  <a:srgbClr val="18232F"/>
                </a:solidFill>
                <a:latin typeface="Segoe UI"/>
              </a:rPr>
              <a:t>Yeh tez hai, lekin patli order book mein yeh kai price levels kha jaata hai.</a:t>
            </a:r>
          </a:p>
          <a:p>
            <a:pPr algn="l" marL="274320" indent="-274320">
              <a:lnSpc>
                <a:spcPct val="100000"/>
              </a:lnSpc>
              <a:buClr>
                <a:srgbClr val="00AEEF"/>
              </a:buClr>
              <a:buFont typeface="Arial"/>
              <a:buChar char="•"/>
            </a:pPr>
            <a:r>
              <a:rPr sz="1600" b="0" i="0">
                <a:solidFill>
                  <a:srgbClr val="18232F"/>
                </a:solidFill>
                <a:latin typeface="Segoe UI"/>
              </a:rPr>
              <a:t>Limit order ka matlab hai: mera order sirf is price ya isse behtar par fill karo.</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ne Joshi Pipes Ltd ke 300 shares ka market buy lagaya. Rs 101 par sirf 100 shares the, isliye order ne 100 shares Rs 102 par aur 100 shares Rs 104 par bhi utha liye. Usne Rs 30,300 ki jagah Rs 30,700 diye, yaani average lagbhag Rs 102.33. Rs 101 ka limit buy hota toh 100 shares fill ho jaate aur 200 line mein wait karte. … Kuch brokers market order par ek limit bhi lagate hain ki woh kitna door tak ja sakta hai; apne broker ka rule check kar lijiye.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Aman ke market order ka asli hisaab</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300 shares ke liye Rs 30,700 gaye: har share lagbhag Rs 102.33 ka, Rs 101 ka nahi.</a:t>
            </a:r>
          </a:p>
        </p:txBody>
      </p:sp>
      <p:sp>
        <p:nvSpPr>
          <p:cNvPr id="11" name="TextBox 10"/>
          <p:cNvSpPr txBox="1"/>
          <p:nvPr/>
        </p:nvSpPr>
        <p:spPr>
          <a:xfrm>
            <a:off x="6397600" y="1805940"/>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654652"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100 shares Rs 101 par</a:t>
            </a:r>
          </a:p>
        </p:txBody>
      </p:sp>
      <p:sp>
        <p:nvSpPr>
          <p:cNvPr id="13" name="TextBox 12"/>
          <p:cNvSpPr txBox="1"/>
          <p:nvPr/>
        </p:nvSpPr>
        <p:spPr>
          <a:xfrm>
            <a:off x="10418012" y="1805940"/>
            <a:ext cx="1060451"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10,100</a:t>
            </a:r>
          </a:p>
        </p:txBody>
      </p:sp>
      <p:cxnSp>
        <p:nvCxnSpPr>
          <p:cNvPr id="14" name="Connector 13"/>
          <p:cNvCxnSpPr/>
          <p:nvPr/>
        </p:nvCxnSpPr>
        <p:spPr>
          <a:xfrm>
            <a:off x="6397600" y="236677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66772"/>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366772"/>
            <a:ext cx="3654652"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100 shares Rs 102 par</a:t>
            </a:r>
          </a:p>
        </p:txBody>
      </p:sp>
      <p:sp>
        <p:nvSpPr>
          <p:cNvPr id="17" name="TextBox 16"/>
          <p:cNvSpPr txBox="1"/>
          <p:nvPr/>
        </p:nvSpPr>
        <p:spPr>
          <a:xfrm>
            <a:off x="10418012" y="2366772"/>
            <a:ext cx="1060451"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10,200</a:t>
            </a:r>
          </a:p>
        </p:txBody>
      </p:sp>
      <p:cxnSp>
        <p:nvCxnSpPr>
          <p:cNvPr id="18" name="Connector 17"/>
          <p:cNvCxnSpPr/>
          <p:nvPr/>
        </p:nvCxnSpPr>
        <p:spPr>
          <a:xfrm>
            <a:off x="6397600" y="292760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927604"/>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927604"/>
            <a:ext cx="3654652"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100 shares Rs 104 par</a:t>
            </a:r>
          </a:p>
        </p:txBody>
      </p:sp>
      <p:sp>
        <p:nvSpPr>
          <p:cNvPr id="21" name="TextBox 20"/>
          <p:cNvSpPr txBox="1"/>
          <p:nvPr/>
        </p:nvSpPr>
        <p:spPr>
          <a:xfrm>
            <a:off x="10418012" y="2927604"/>
            <a:ext cx="1060451"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10,400</a:t>
            </a:r>
          </a:p>
        </p:txBody>
      </p:sp>
      <p:cxnSp>
        <p:nvCxnSpPr>
          <p:cNvPr id="22" name="Connector 21"/>
          <p:cNvCxnSpPr/>
          <p:nvPr/>
        </p:nvCxnSpPr>
        <p:spPr>
          <a:xfrm>
            <a:off x="6397600" y="348843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488436"/>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488436"/>
            <a:ext cx="3654652"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Kul diye</a:t>
            </a:r>
          </a:p>
        </p:txBody>
      </p:sp>
      <p:sp>
        <p:nvSpPr>
          <p:cNvPr id="25" name="TextBox 24"/>
          <p:cNvSpPr txBox="1"/>
          <p:nvPr/>
        </p:nvSpPr>
        <p:spPr>
          <a:xfrm>
            <a:off x="10418012" y="3488436"/>
            <a:ext cx="1060451"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30,700</a:t>
            </a:r>
          </a:p>
        </p:txBody>
      </p:sp>
      <p:cxnSp>
        <p:nvCxnSpPr>
          <p:cNvPr id="26" name="Connector 25"/>
          <p:cNvCxnSpPr/>
          <p:nvPr/>
        </p:nvCxnSpPr>
        <p:spPr>
          <a:xfrm>
            <a:off x="6397600" y="404926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4049268"/>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049268"/>
            <a:ext cx="3654652"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Socha tha: 300 x Rs 101</a:t>
            </a:r>
          </a:p>
        </p:txBody>
      </p:sp>
      <p:sp>
        <p:nvSpPr>
          <p:cNvPr id="29" name="TextBox 28"/>
          <p:cNvSpPr txBox="1"/>
          <p:nvPr/>
        </p:nvSpPr>
        <p:spPr>
          <a:xfrm>
            <a:off x="10418012" y="4049268"/>
            <a:ext cx="1060451"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30,300</a:t>
            </a:r>
          </a:p>
        </p:txBody>
      </p:sp>
      <p:sp>
        <p:nvSpPr>
          <p:cNvPr id="30" name="Rounded Rectangle 29"/>
          <p:cNvSpPr/>
          <p:nvPr/>
        </p:nvSpPr>
        <p:spPr>
          <a:xfrm>
            <a:off x="6397600" y="4664964"/>
            <a:ext cx="5154016" cy="560832"/>
          </a:xfrm>
          <a:prstGeom prst="roundRect">
            <a:avLst>
              <a:gd name="adj" fmla="val 13043"/>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664964"/>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664964"/>
            <a:ext cx="3654652" cy="56083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Zyada diye (slippage)</a:t>
            </a:r>
          </a:p>
        </p:txBody>
      </p:sp>
      <p:sp>
        <p:nvSpPr>
          <p:cNvPr id="33" name="TextBox 32"/>
          <p:cNvSpPr txBox="1"/>
          <p:nvPr/>
        </p:nvSpPr>
        <p:spPr>
          <a:xfrm>
            <a:off x="10418012" y="4664964"/>
            <a:ext cx="1060451" cy="56083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Rs 400</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6" name="TextBox 3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Market order: speed aapki, price market ka. Limit order: price aapka, par intezaar bhi aapko hi karna padega, aur ho sakta hai fill hi na ho.</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Stop-loss order: trigger hai, vada nahi</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Stop-loss woh exit hai jo aap trade bigadne se pehle hi tay kar lete hain.</a:t>
            </a:r>
          </a:p>
          <a:p>
            <a:pPr algn="l" marL="274320" indent="-274320">
              <a:lnSpc>
                <a:spcPct val="100000"/>
              </a:lnSpc>
              <a:spcAft>
                <a:spcPts val="800"/>
              </a:spcAft>
              <a:buClr>
                <a:srgbClr val="00AEEF"/>
              </a:buClr>
              <a:buFont typeface="Arial"/>
              <a:buChar char="•"/>
            </a:pPr>
            <a:r>
              <a:rPr sz="1600" b="0" i="0">
                <a:solidFill>
                  <a:srgbClr val="18232F"/>
                </a:solidFill>
                <a:latin typeface="Segoe UI"/>
              </a:rPr>
              <a:t>Ise aap stop-loss order ki tarah lagate hain, jismein ek trigger price hota hai: jab tak price trigger tak pahunch na jaye ya use paar na kar le, order soya rehta hai.</a:t>
            </a:r>
          </a:p>
          <a:p>
            <a:pPr algn="l" marL="274320" indent="-274320">
              <a:lnSpc>
                <a:spcPct val="100000"/>
              </a:lnSpc>
              <a:buClr>
                <a:srgbClr val="00AEEF"/>
              </a:buClr>
              <a:buFont typeface="Arial"/>
              <a:buChar char="•"/>
            </a:pPr>
            <a:r>
              <a:rPr sz="1600" b="0" i="0">
                <a:solidFill>
                  <a:srgbClr val="18232F"/>
                </a:solidFill>
                <a:latin typeface="Segoe UI"/>
              </a:rPr>
              <a:t>Iske do type hain: SL order (stop-loss limit) mein ek limit price bhi hota hai, isliye trigger ke baad woh sirf us limit ya behtar price par bechta hai.</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Gupta Cement Ltd ke 50 shares Rs 450 par delivery mein khareedti hai. Uska exit Rs 430 hai, yaani plan ke hisaab se loss 50 x Rs 20 = Rs 1,000. Woh har shaam Rs 430 trigger wala SL-M sell AMO ki tarah laga deti hai. Ek raat buri khabar aati hai, aur pre-open mein opening price Rs 410 tay hota hai. 9:15 par uska stop exchange tak pahunchta hai, lekin trigger pehle se hi price ke upar hai. … Stops ke rules har broker ke alag hote hain, aur kuch brokers har tarah ke trade mein SL-M nahi dete; apna broker check kar lijiye.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Stop ke paar gap</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Plan wala exit: Rs 430. Stock seedha Rs 410 par khula, trigger se bhi neeche. Broker ne stop chalaya ho ya reject karke Priya ne khud becha ho, exit lagbhag Rs 410 par hua, Rs 430 par nahi. Har candle ek trading day hai; inhe padhna Day 5 mein seekhenge.</a:t>
            </a:r>
          </a:p>
        </p:txBody>
      </p:sp>
      <p:cxnSp>
        <p:nvCxnSpPr>
          <p:cNvPr id="12" name="Connector 11"/>
          <p:cNvCxnSpPr/>
          <p:nvPr/>
        </p:nvCxnSpPr>
        <p:spPr>
          <a:xfrm>
            <a:off x="6812159" y="4663440"/>
            <a:ext cx="38760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81144"/>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396.8</a:t>
            </a:r>
          </a:p>
        </p:txBody>
      </p:sp>
      <p:cxnSp>
        <p:nvCxnSpPr>
          <p:cNvPr id="14" name="Connector 13"/>
          <p:cNvCxnSpPr/>
          <p:nvPr/>
        </p:nvCxnSpPr>
        <p:spPr>
          <a:xfrm>
            <a:off x="6812159" y="3838956"/>
            <a:ext cx="38760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7566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417.3</a:t>
            </a:r>
          </a:p>
        </p:txBody>
      </p:sp>
      <p:cxnSp>
        <p:nvCxnSpPr>
          <p:cNvPr id="16" name="Connector 15"/>
          <p:cNvCxnSpPr/>
          <p:nvPr/>
        </p:nvCxnSpPr>
        <p:spPr>
          <a:xfrm>
            <a:off x="6812159" y="3014472"/>
            <a:ext cx="38760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3217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437.7</a:t>
            </a:r>
          </a:p>
        </p:txBody>
      </p:sp>
      <p:cxnSp>
        <p:nvCxnSpPr>
          <p:cNvPr id="18" name="Connector 17"/>
          <p:cNvCxnSpPr/>
          <p:nvPr/>
        </p:nvCxnSpPr>
        <p:spPr>
          <a:xfrm>
            <a:off x="6812159" y="2189988"/>
            <a:ext cx="38760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458.2</a:t>
            </a:r>
          </a:p>
        </p:txBody>
      </p:sp>
      <p:cxnSp>
        <p:nvCxnSpPr>
          <p:cNvPr id="20" name="Connector 19"/>
          <p:cNvCxnSpPr/>
          <p:nvPr/>
        </p:nvCxnSpPr>
        <p:spPr>
          <a:xfrm>
            <a:off x="6812159" y="2521498"/>
            <a:ext cx="3912618" cy="0"/>
          </a:xfrm>
          <a:prstGeom prst="line">
            <a:avLst/>
          </a:prstGeom>
          <a:ln w="19050">
            <a:solidFill>
              <a:srgbClr val="0093D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761353" y="2430058"/>
            <a:ext cx="790262"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 450</a:t>
            </a:r>
          </a:p>
        </p:txBody>
      </p:sp>
      <p:cxnSp>
        <p:nvCxnSpPr>
          <p:cNvPr id="22" name="Connector 21"/>
          <p:cNvCxnSpPr/>
          <p:nvPr/>
        </p:nvCxnSpPr>
        <p:spPr>
          <a:xfrm>
            <a:off x="6812159" y="3326134"/>
            <a:ext cx="3912618"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761353" y="3234694"/>
            <a:ext cx="790262"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Trigger 430</a:t>
            </a:r>
          </a:p>
        </p:txBody>
      </p:sp>
      <p:cxnSp>
        <p:nvCxnSpPr>
          <p:cNvPr id="24" name="Connector 23"/>
          <p:cNvCxnSpPr/>
          <p:nvPr/>
        </p:nvCxnSpPr>
        <p:spPr>
          <a:xfrm>
            <a:off x="7054412" y="2762889"/>
            <a:ext cx="0" cy="32185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917252" y="2843353"/>
            <a:ext cx="274320" cy="16092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538917" y="2601962"/>
            <a:ext cx="0" cy="32185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401757" y="2642194"/>
            <a:ext cx="274320" cy="2011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8023422" y="2441035"/>
            <a:ext cx="0" cy="28162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886262" y="2521498"/>
            <a:ext cx="274320" cy="120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8507928" y="2360571"/>
            <a:ext cx="0" cy="32185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370768" y="2521498"/>
            <a:ext cx="274320" cy="8046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992433" y="2481266"/>
            <a:ext cx="0" cy="40231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855273" y="2601962"/>
            <a:ext cx="274320" cy="20115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9476938" y="2642194"/>
            <a:ext cx="0" cy="40231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339778" y="2803121"/>
            <a:ext cx="274320" cy="12069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9961443" y="3929612"/>
            <a:ext cx="0" cy="44255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824283" y="4130771"/>
            <a:ext cx="274320" cy="12069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10445949" y="4050307"/>
            <a:ext cx="0" cy="44255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0308789" y="4251466"/>
            <a:ext cx="274320" cy="8046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Isosceles Triangle 39"/>
          <p:cNvSpPr/>
          <p:nvPr/>
        </p:nvSpPr>
        <p:spPr>
          <a:xfrm rot="10800000">
            <a:off x="9906579" y="3792452"/>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TextBox 40"/>
          <p:cNvSpPr txBox="1"/>
          <p:nvPr/>
        </p:nvSpPr>
        <p:spPr>
          <a:xfrm>
            <a:off x="9635197" y="3582140"/>
            <a:ext cx="652493"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Khula 410</a:t>
            </a:r>
          </a:p>
        </p:txBody>
      </p:sp>
      <p:sp>
        <p:nvSpPr>
          <p:cNvPr id="42" name="Rounded Rectangle 4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ounded Rectangle 4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44" name="TextBox 4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Stop-loss tay karta hai ki exit order kab jaayega. Gap wale din price market tay karta hai.</a:t>
            </a:r>
          </a:p>
        </p:txBody>
      </p:sp>
      <p:pic>
        <p:nvPicPr>
          <p:cNvPr id="45" name="Picture 44" descr="logo.png"/>
          <p:cNvPicPr>
            <a:picLocks noChangeAspect="1"/>
          </p:cNvPicPr>
          <p:nvPr/>
        </p:nvPicPr>
        <p:blipFill>
          <a:blip r:embed="rId2"/>
          <a:stretch>
            <a:fillRect/>
          </a:stretch>
        </p:blipFill>
        <p:spPr>
          <a:xfrm>
            <a:off x="457200" y="6437376"/>
            <a:ext cx="237744" cy="237744"/>
          </a:xfrm>
          <a:prstGeom prst="rect">
            <a:avLst/>
          </a:prstGeom>
        </p:spPr>
      </p:pic>
      <p:sp>
        <p:nvSpPr>
          <p:cNvPr id="4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7" name="TextBox 4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Delivery ya intraday, aur intezaar karne wale orders</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Har buy ke saath ek product tag lagta hai.</a:t>
            </a:r>
          </a:p>
          <a:p>
            <a:pPr algn="l" marL="274320" indent="-274320">
              <a:lnSpc>
                <a:spcPct val="100000"/>
              </a:lnSpc>
              <a:spcAft>
                <a:spcPts val="750"/>
              </a:spcAft>
              <a:buClr>
                <a:srgbClr val="00AEEF"/>
              </a:buClr>
              <a:buFont typeface="Arial"/>
              <a:buChar char="•"/>
            </a:pPr>
            <a:r>
              <a:rPr sz="1500" b="0" i="0">
                <a:solidFill>
                  <a:srgbClr val="18232F"/>
                </a:solidFill>
                <a:latin typeface="Segoe UI"/>
              </a:rPr>
              <a:t>Delivery (aksar CNC likha hota hai) ka matlab hai shares aap rakhenge.</a:t>
            </a:r>
          </a:p>
          <a:p>
            <a:pPr algn="l" marL="274320" indent="-274320">
              <a:lnSpc>
                <a:spcPct val="100000"/>
              </a:lnSpc>
              <a:spcAft>
                <a:spcPts val="750"/>
              </a:spcAft>
              <a:buClr>
                <a:srgbClr val="00AEEF"/>
              </a:buClr>
              <a:buFont typeface="Arial"/>
              <a:buChar char="•"/>
            </a:pPr>
            <a:r>
              <a:rPr sz="1500" b="0" i="0">
                <a:solidFill>
                  <a:srgbClr val="18232F"/>
                </a:solidFill>
                <a:latin typeface="Segoe UI"/>
              </a:rPr>
              <a:t>Woh T+1 par aapke demat mein aa jaate hain aur tab tak rehte hain jab tak aap bech na dein.</a:t>
            </a:r>
          </a:p>
          <a:p>
            <a:pPr algn="l" marL="274320" indent="-274320">
              <a:lnSpc>
                <a:spcPct val="100000"/>
              </a:lnSpc>
              <a:buClr>
                <a:srgbClr val="00AEEF"/>
              </a:buClr>
              <a:buFont typeface="Arial"/>
              <a:buChar char="•"/>
            </a:pPr>
            <a:r>
              <a:rPr sz="1500" b="0" i="0">
                <a:solidFill>
                  <a:srgbClr val="18232F"/>
                </a:solidFill>
                <a:latin typeface="Segoe UI"/>
              </a:rPr>
              <a:t>Intraday (aksar MIS likha hota hai) ka matlab hai position usi din band karni hai.</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Aman Sharma Textiles Ltd ke 40 shares Rs 250 par intraday mein khareedta hai, yaani Rs 10,000 ki position, aur phir office ki lambi meeting mein phans jaata hai. Woh bechta hi nahi. Close ke kareeb broker ka system saare 40 shares us waqt ke price par bech deta hai, aur kuch brokers iske liye fee bhi lete hain. Agar usne buy ko delivery tag kiya hota, toh shares seedha T+1 par uske demat mein aa jaate. Udhar Priya ke paas Kiran Foods Ltd ke shares hain jo usne delivery mein Rs 200 par khareede the; usne GTT set kiya hai ki price Rs 185 tak gire toh shares bik jayein, yahi uska stop hai. Jab tak aisa nahi hota, yeh instruction uske broker ke paas pada hai, exchange par nahi.</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GTT ka safar</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Validity aur rules har broker ke alag hote hain. GTT par bharosa karne se pehle apne broker ke rules dekh lijiye.</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Aap GTT set karte hain</a:t>
            </a:r>
          </a:p>
          <a:p>
            <a:pPr algn="ctr">
              <a:lnSpc>
                <a:spcPct val="100000"/>
              </a:lnSpc>
            </a:pPr>
            <a:r>
              <a:rPr sz="1200" b="0" i="0">
                <a:solidFill>
                  <a:srgbClr val="47596B"/>
                </a:solidFill>
                <a:latin typeface="Segoe UI"/>
              </a:rPr>
              <a:t>Sell trigger Rs 185</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save</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Broker ke paas</a:t>
            </a:r>
          </a:p>
          <a:p>
            <a:pPr algn="ctr">
              <a:lnSpc>
                <a:spcPct val="100000"/>
              </a:lnSpc>
            </a:pPr>
            <a:r>
              <a:rPr sz="1200" b="0" i="0">
                <a:solidFill>
                  <a:srgbClr val="47596B"/>
                </a:solidFill>
                <a:latin typeface="Segoe UI"/>
              </a:rPr>
              <a:t>Abhi exchange par nahi</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wait</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Price Rs 185 hit karta hai</a:t>
            </a:r>
          </a:p>
          <a:p>
            <a:pPr algn="ctr">
              <a:lnSpc>
                <a:spcPct val="100000"/>
              </a:lnSpc>
            </a:pPr>
            <a:r>
              <a:rPr sz="1200" b="0" i="0">
                <a:solidFill>
                  <a:srgbClr val="47596B"/>
                </a:solidFill>
                <a:latin typeface="Segoe UI"/>
              </a:rPr>
              <a:t>Trigger aa gaya</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bhejta hai</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Exchange ko order</a:t>
            </a:r>
          </a:p>
          <a:p>
            <a:pPr algn="ctr">
              <a:lnSpc>
                <a:spcPct val="100000"/>
              </a:lnSpc>
            </a:pPr>
            <a:r>
              <a:rPr sz="1200" b="0" i="0">
                <a:solidFill>
                  <a:srgbClr val="47596B"/>
                </a:solidFill>
                <a:latin typeface="Segoe UI"/>
              </a:rPr>
              <a:t>Aksar limit order</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match?</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Fill hua, ya nahi</a:t>
            </a:r>
          </a:p>
          <a:p>
            <a:pPr algn="ctr">
              <a:lnSpc>
                <a:spcPct val="100000"/>
              </a:lnSpc>
            </a:pPr>
            <a:r>
              <a:rPr sz="1200" b="0" i="0">
                <a:solidFill>
                  <a:srgbClr val="47596B"/>
                </a:solidFill>
                <a:latin typeface="Segoe UI"/>
              </a:rPr>
              <a:t>Gap mein chhoot sakta hai</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Intraday aaj hi khatam hota hai, band aap karein ya broker. GTT broker ke paas wait karta hai, exchange par nahi.</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Kharche, contract note aur tax ke heads</a:t>
            </a:r>
          </a:p>
        </p:txBody>
      </p:sp>
      <p:sp>
        <p:nvSpPr>
          <p:cNvPr id="4" name="TextBox 3"/>
          <p:cNvSpPr txBox="1"/>
          <p:nvPr/>
        </p:nvSpPr>
        <p:spPr>
          <a:xfrm>
            <a:off x="457200" y="1335024"/>
            <a:ext cx="5519776" cy="115062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Share ke price ke alawa har trade par kuch charges lagte hain.</a:t>
            </a:r>
          </a:p>
          <a:p>
            <a:pPr algn="l" marL="274320" indent="-274320">
              <a:lnSpc>
                <a:spcPct val="100000"/>
              </a:lnSpc>
              <a:spcAft>
                <a:spcPts val="750"/>
              </a:spcAft>
              <a:buClr>
                <a:srgbClr val="00AEEF"/>
              </a:buClr>
              <a:buFont typeface="Arial"/>
              <a:buChar char="•"/>
            </a:pPr>
            <a:r>
              <a:rPr sz="1500" b="0" i="0">
                <a:solidFill>
                  <a:srgbClr val="18232F"/>
                </a:solidFill>
                <a:latin typeface="Segoe UI"/>
              </a:rPr>
              <a:t>Kuch buy aur sell dono par lagte hain, kuch sirf ek taraf.</a:t>
            </a:r>
          </a:p>
          <a:p>
            <a:pPr algn="l" marL="274320" indent="-274320">
              <a:lnSpc>
                <a:spcPct val="100000"/>
              </a:lnSpc>
              <a:buClr>
                <a:srgbClr val="00AEEF"/>
              </a:buClr>
              <a:buFont typeface="Arial"/>
              <a:buChar char="•"/>
            </a:pPr>
            <a:r>
              <a:rPr sz="1500" b="0" i="0">
                <a:solidFill>
                  <a:srgbClr val="18232F"/>
                </a:solidFill>
                <a:latin typeface="Segoe UI"/>
              </a:rPr>
              <a:t>Brokerage har broker ka alag hota hai.</a:t>
            </a:r>
          </a:p>
        </p:txBody>
      </p:sp>
      <p:sp>
        <p:nvSpPr>
          <p:cNvPr id="5" name="Rounded Rectangle 4"/>
          <p:cNvSpPr/>
          <p:nvPr/>
        </p:nvSpPr>
        <p:spPr>
          <a:xfrm>
            <a:off x="6214720" y="1335024"/>
            <a:ext cx="5519776" cy="1507490"/>
          </a:xfrm>
          <a:prstGeom prst="roundRect">
            <a:avLst>
              <a:gd name="adj" fmla="val 7278"/>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05029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Day 1 wale Aman ke 20 shares yaad hain? Sharma Textiles Ltd, Rs 250 par (Rs 5,000). Baad mein woh unhe Rs 254.50 par bech deta hai (Rs 5,090). Screen ke hisaab se Rs 90 ka profit hua. … Har contract note sambhaal kar rakhiye: income tax return file karte waqt inki zaroorat padegi.</a:t>
            </a:r>
          </a:p>
        </p:txBody>
      </p:sp>
      <p:sp>
        <p:nvSpPr>
          <p:cNvPr id="8" name="Rounded Rectangle 7"/>
          <p:cNvSpPr/>
          <p:nvPr/>
        </p:nvSpPr>
        <p:spPr>
          <a:xfrm>
            <a:off x="457200" y="3007106"/>
            <a:ext cx="11277295" cy="2607310"/>
          </a:xfrm>
          <a:prstGeom prst="roundRect">
            <a:avLst>
              <a:gd name="adj" fmla="val 4208"/>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15341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Tax heads: sirf concept</a:t>
            </a:r>
          </a:p>
        </p:txBody>
      </p:sp>
      <p:sp>
        <p:nvSpPr>
          <p:cNvPr id="10" name="TextBox 9"/>
          <p:cNvSpPr txBox="1"/>
          <p:nvPr/>
        </p:nvSpPr>
        <p:spPr>
          <a:xfrm>
            <a:off x="640080" y="5166360"/>
            <a:ext cx="10911535"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Yahan rates jaan-boojhkar nahi diye. Return time par file kijiye taaki loss aage carry forward ho sake (aage ke saalon ke kuch munafe se adjust ho sake), aur current rules ke liye CA se poochhiye.</a:t>
            </a:r>
          </a:p>
        </p:txBody>
      </p:sp>
      <p:sp>
        <p:nvSpPr>
          <p:cNvPr id="11" name="Rounded Rectangle 10"/>
          <p:cNvSpPr/>
          <p:nvPr/>
        </p:nvSpPr>
        <p:spPr>
          <a:xfrm>
            <a:off x="640080" y="3468878"/>
            <a:ext cx="3527450" cy="1606042"/>
          </a:xfrm>
          <a:prstGeom prst="roundRect">
            <a:avLst>
              <a:gd name="adj" fmla="val 569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468878"/>
            <a:ext cx="3527450" cy="455676"/>
          </a:xfrm>
          <a:prstGeom prst="roundRect">
            <a:avLst>
              <a:gd name="adj" fmla="val 2006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696716"/>
            <a:ext cx="3527450" cy="22783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468878"/>
            <a:ext cx="3527450" cy="1606042"/>
          </a:xfrm>
          <a:prstGeom prst="roundRect">
            <a:avLst>
              <a:gd name="adj" fmla="val 5693"/>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468878"/>
            <a:ext cx="3234842" cy="455676"/>
          </a:xfrm>
          <a:prstGeom prst="rect">
            <a:avLst/>
          </a:prstGeom>
          <a:noFill/>
        </p:spPr>
        <p:txBody>
          <a:bodyPr wrap="square" lIns="0" rIns="0" tIns="0" bIns="0" anchor="ctr">
            <a:noAutofit/>
          </a:bodyPr>
          <a:lstStyle/>
          <a:p>
            <a:pPr algn="l">
              <a:lnSpc>
                <a:spcPct val="100000"/>
              </a:lnSpc>
            </a:pPr>
            <a:r>
              <a:rPr sz="1550" b="1" i="0">
                <a:solidFill>
                  <a:srgbClr val="095A90"/>
                </a:solidFill>
                <a:latin typeface="Segoe UI"/>
              </a:rPr>
              <a:t>Delivery</a:t>
            </a:r>
          </a:p>
        </p:txBody>
      </p:sp>
      <p:cxnSp>
        <p:nvCxnSpPr>
          <p:cNvPr id="16" name="Connector 15"/>
          <p:cNvCxnSpPr/>
          <p:nvPr/>
        </p:nvCxnSpPr>
        <p:spPr>
          <a:xfrm>
            <a:off x="640080" y="3924554"/>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4070858"/>
            <a:ext cx="3234842" cy="967486"/>
          </a:xfrm>
          <a:prstGeom prst="rect">
            <a:avLst/>
          </a:prstGeom>
          <a:noFill/>
        </p:spPr>
        <p:txBody>
          <a:bodyPr wrap="square" lIns="0" rIns="0" tIns="0" bIns="0" anchor="t">
            <a:noAutofit/>
          </a:bodyPr>
          <a:lstStyle/>
          <a:p>
            <a:pPr algn="l" marL="201168" indent="-201168">
              <a:lnSpc>
                <a:spcPct val="100000"/>
              </a:lnSpc>
              <a:spcAft>
                <a:spcPts val="725"/>
              </a:spcAft>
              <a:buClr>
                <a:srgbClr val="0093D6"/>
              </a:buClr>
              <a:buFont typeface="Arial"/>
              <a:buChar char="•"/>
            </a:pPr>
            <a:r>
              <a:rPr sz="1450" b="0" i="0">
                <a:solidFill>
                  <a:srgbClr val="18232F"/>
                </a:solidFill>
                <a:latin typeface="Segoe UI"/>
              </a:rPr>
              <a:t>Munafa = capital gains</a:t>
            </a:r>
          </a:p>
          <a:p>
            <a:pPr algn="l" marL="201168" indent="-201168">
              <a:lnSpc>
                <a:spcPct val="100000"/>
              </a:lnSpc>
              <a:buClr>
                <a:srgbClr val="0093D6"/>
              </a:buClr>
              <a:buFont typeface="Arial"/>
              <a:buChar char="•"/>
            </a:pPr>
            <a:r>
              <a:rPr sz="1450" b="0" i="0">
                <a:solidFill>
                  <a:srgbClr val="18232F"/>
                </a:solidFill>
                <a:latin typeface="Segoe UI"/>
              </a:rPr>
              <a:t>Short ya long term, holding period ke hisaab se</a:t>
            </a:r>
          </a:p>
        </p:txBody>
      </p:sp>
      <p:sp>
        <p:nvSpPr>
          <p:cNvPr id="18" name="Rounded Rectangle 17"/>
          <p:cNvSpPr/>
          <p:nvPr/>
        </p:nvSpPr>
        <p:spPr>
          <a:xfrm>
            <a:off x="4332122" y="3468878"/>
            <a:ext cx="3527450" cy="1606042"/>
          </a:xfrm>
          <a:prstGeom prst="roundRect">
            <a:avLst>
              <a:gd name="adj" fmla="val 569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468878"/>
            <a:ext cx="3527450" cy="455676"/>
          </a:xfrm>
          <a:prstGeom prst="roundRect">
            <a:avLst>
              <a:gd name="adj" fmla="val 2006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696716"/>
            <a:ext cx="3527450" cy="22783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468878"/>
            <a:ext cx="3527450" cy="1606042"/>
          </a:xfrm>
          <a:prstGeom prst="roundRect">
            <a:avLst>
              <a:gd name="adj" fmla="val 5693"/>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468878"/>
            <a:ext cx="3234842" cy="455676"/>
          </a:xfrm>
          <a:prstGeom prst="rect">
            <a:avLst/>
          </a:prstGeom>
          <a:noFill/>
        </p:spPr>
        <p:txBody>
          <a:bodyPr wrap="square" lIns="0" rIns="0" tIns="0" bIns="0" anchor="ctr">
            <a:noAutofit/>
          </a:bodyPr>
          <a:lstStyle/>
          <a:p>
            <a:pPr algn="l">
              <a:lnSpc>
                <a:spcPct val="100000"/>
              </a:lnSpc>
            </a:pPr>
            <a:r>
              <a:rPr sz="1550" b="1" i="0">
                <a:solidFill>
                  <a:srgbClr val="92400E"/>
                </a:solidFill>
                <a:latin typeface="Segoe UI"/>
              </a:rPr>
              <a:t>Intraday</a:t>
            </a:r>
          </a:p>
        </p:txBody>
      </p:sp>
      <p:cxnSp>
        <p:nvCxnSpPr>
          <p:cNvPr id="23" name="Connector 22"/>
          <p:cNvCxnSpPr/>
          <p:nvPr/>
        </p:nvCxnSpPr>
        <p:spPr>
          <a:xfrm>
            <a:off x="4332122" y="3924554"/>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4070858"/>
            <a:ext cx="3234842" cy="967486"/>
          </a:xfrm>
          <a:prstGeom prst="rect">
            <a:avLst/>
          </a:prstGeom>
          <a:noFill/>
        </p:spPr>
        <p:txBody>
          <a:bodyPr wrap="square" lIns="0" rIns="0" tIns="0" bIns="0" anchor="t">
            <a:noAutofit/>
          </a:bodyPr>
          <a:lstStyle/>
          <a:p>
            <a:pPr algn="l" marL="201168" indent="-201168">
              <a:lnSpc>
                <a:spcPct val="100000"/>
              </a:lnSpc>
              <a:spcAft>
                <a:spcPts val="725"/>
              </a:spcAft>
              <a:buClr>
                <a:srgbClr val="F5A524"/>
              </a:buClr>
              <a:buFont typeface="Arial"/>
              <a:buChar char="•"/>
            </a:pPr>
            <a:r>
              <a:rPr sz="1450" b="0" i="0">
                <a:solidFill>
                  <a:srgbClr val="18232F"/>
                </a:solidFill>
                <a:latin typeface="Segoe UI"/>
              </a:rPr>
              <a:t>Speculative business income</a:t>
            </a:r>
          </a:p>
          <a:p>
            <a:pPr algn="l" marL="201168" indent="-201168">
              <a:lnSpc>
                <a:spcPct val="100000"/>
              </a:lnSpc>
              <a:buClr>
                <a:srgbClr val="F5A524"/>
              </a:buClr>
              <a:buFont typeface="Arial"/>
              <a:buChar char="•"/>
            </a:pPr>
            <a:r>
              <a:rPr sz="1450" b="0" i="0">
                <a:solidFill>
                  <a:srgbClr val="18232F"/>
                </a:solidFill>
                <a:latin typeface="Segoe UI"/>
              </a:rPr>
              <a:t>Iske loss ke apne alag rules</a:t>
            </a:r>
          </a:p>
        </p:txBody>
      </p:sp>
      <p:sp>
        <p:nvSpPr>
          <p:cNvPr id="25" name="Rounded Rectangle 24"/>
          <p:cNvSpPr/>
          <p:nvPr/>
        </p:nvSpPr>
        <p:spPr>
          <a:xfrm>
            <a:off x="8024165" y="3468878"/>
            <a:ext cx="3527450" cy="1606042"/>
          </a:xfrm>
          <a:prstGeom prst="roundRect">
            <a:avLst>
              <a:gd name="adj" fmla="val 569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468878"/>
            <a:ext cx="3527450" cy="455676"/>
          </a:xfrm>
          <a:prstGeom prst="roundRect">
            <a:avLst>
              <a:gd name="adj" fmla="val 20066"/>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696716"/>
            <a:ext cx="3527450" cy="227838"/>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468878"/>
            <a:ext cx="3527450" cy="1606042"/>
          </a:xfrm>
          <a:prstGeom prst="roundRect">
            <a:avLst>
              <a:gd name="adj" fmla="val 5693"/>
            </a:avLst>
          </a:prstGeom>
          <a:no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468878"/>
            <a:ext cx="3234842" cy="455676"/>
          </a:xfrm>
          <a:prstGeom prst="rect">
            <a:avLst/>
          </a:prstGeom>
          <a:noFill/>
        </p:spPr>
        <p:txBody>
          <a:bodyPr wrap="square" lIns="0" rIns="0" tIns="0" bIns="0" anchor="ctr">
            <a:noAutofit/>
          </a:bodyPr>
          <a:lstStyle/>
          <a:p>
            <a:pPr algn="l">
              <a:lnSpc>
                <a:spcPct val="100000"/>
              </a:lnSpc>
            </a:pPr>
            <a:r>
              <a:rPr sz="1550" b="1" i="0">
                <a:solidFill>
                  <a:srgbClr val="47596B"/>
                </a:solidFill>
                <a:latin typeface="Segoe UI"/>
              </a:rPr>
              <a:t>F&amp;O</a:t>
            </a:r>
          </a:p>
        </p:txBody>
      </p:sp>
      <p:cxnSp>
        <p:nvCxnSpPr>
          <p:cNvPr id="30" name="Connector 29"/>
          <p:cNvCxnSpPr/>
          <p:nvPr/>
        </p:nvCxnSpPr>
        <p:spPr>
          <a:xfrm>
            <a:off x="8024165" y="3924554"/>
            <a:ext cx="3527450" cy="0"/>
          </a:xfrm>
          <a:prstGeom prst="line">
            <a:avLst/>
          </a:prstGeom>
          <a:ln w="1587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4070858"/>
            <a:ext cx="3234842" cy="967486"/>
          </a:xfrm>
          <a:prstGeom prst="rect">
            <a:avLst/>
          </a:prstGeom>
          <a:noFill/>
        </p:spPr>
        <p:txBody>
          <a:bodyPr wrap="square" lIns="0" rIns="0" tIns="0" bIns="0" anchor="t">
            <a:noAutofit/>
          </a:bodyPr>
          <a:lstStyle/>
          <a:p>
            <a:pPr algn="l" marL="201168" indent="-201168">
              <a:lnSpc>
                <a:spcPct val="100000"/>
              </a:lnSpc>
              <a:spcAft>
                <a:spcPts val="725"/>
              </a:spcAft>
              <a:buClr>
                <a:srgbClr val="57687A"/>
              </a:buClr>
              <a:buFont typeface="Arial"/>
              <a:buChar char="•"/>
            </a:pPr>
            <a:r>
              <a:rPr sz="1450" b="0" i="0">
                <a:solidFill>
                  <a:srgbClr val="18232F"/>
                </a:solidFill>
                <a:latin typeface="Segoe UI"/>
              </a:rPr>
              <a:t>F&amp;O = futures and options (Day 18)</a:t>
            </a:r>
          </a:p>
          <a:p>
            <a:pPr algn="l" marL="201168" indent="-201168">
              <a:lnSpc>
                <a:spcPct val="100000"/>
              </a:lnSpc>
              <a:spcAft>
                <a:spcPts val="725"/>
              </a:spcAft>
              <a:buClr>
                <a:srgbClr val="57687A"/>
              </a:buClr>
              <a:buFont typeface="Arial"/>
              <a:buChar char="•"/>
            </a:pPr>
            <a:r>
              <a:rPr sz="1450" b="0" i="0">
                <a:solidFill>
                  <a:srgbClr val="18232F"/>
                </a:solidFill>
                <a:latin typeface="Segoe UI"/>
              </a:rPr>
              <a:t>Business income</a:t>
            </a:r>
          </a:p>
          <a:p>
            <a:pPr algn="l" marL="201168" indent="-201168">
              <a:lnSpc>
                <a:spcPct val="100000"/>
              </a:lnSpc>
              <a:buClr>
                <a:srgbClr val="57687A"/>
              </a:buClr>
              <a:buFont typeface="Arial"/>
              <a:buChar char="•"/>
            </a:pPr>
            <a:r>
              <a:rPr sz="1450" b="0" i="0">
                <a:solidFill>
                  <a:srgbClr val="18232F"/>
                </a:solidFill>
                <a:latin typeface="Segoe UI"/>
              </a:rPr>
              <a:t>Stage 1 mein F&amp;O trade nahi</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4" name="TextBox 3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Asli profit woh hai jo contract note aur account statement bataye, woh nahi jo screen ne dikhaya.</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Abhi ke abhi kuch karne ki jaldi</a:t>
            </a:r>
          </a:p>
        </p:txBody>
      </p:sp>
      <p:sp>
        <p:nvSpPr>
          <p:cNvPr id="4" name="TextBox 3"/>
          <p:cNvSpPr txBox="1"/>
          <p:nvPr/>
        </p:nvSpPr>
        <p:spPr>
          <a:xfrm>
            <a:off x="457200" y="1335024"/>
            <a:ext cx="5519776" cy="238887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Price har second hilta hai, aur bhaagta hua price dimaag ko yeh ehsaas dilata hai ki rukna matlab haarna.</a:t>
            </a:r>
          </a:p>
          <a:p>
            <a:pPr algn="l" marL="274320" indent="-274320">
              <a:lnSpc>
                <a:spcPct val="100000"/>
              </a:lnSpc>
              <a:spcAft>
                <a:spcPts val="750"/>
              </a:spcAft>
              <a:buClr>
                <a:srgbClr val="00AEEF"/>
              </a:buClr>
              <a:buFont typeface="Arial"/>
              <a:buChar char="•"/>
            </a:pPr>
            <a:r>
              <a:rPr sz="1500" b="0" i="0">
                <a:solidFill>
                  <a:srgbClr val="18232F"/>
                </a:solidFill>
                <a:latin typeface="Segoe UI"/>
              </a:rPr>
              <a:t>Isi ehsaas ko kehte hain 'abhi ke abhi' wali jaldi: Buy isliye dabana kyunki kuch hil raha hai, isliye nahi ki aapke paas plan hai.</a:t>
            </a:r>
          </a:p>
          <a:p>
            <a:pPr algn="l" marL="274320" indent="-274320">
              <a:lnSpc>
                <a:spcPct val="100000"/>
              </a:lnSpc>
              <a:spcAft>
                <a:spcPts val="750"/>
              </a:spcAft>
              <a:buClr>
                <a:srgbClr val="00AEEF"/>
              </a:buClr>
              <a:buFont typeface="Arial"/>
              <a:buChar char="•"/>
            </a:pPr>
            <a:r>
              <a:rPr sz="1500" b="0" i="0">
                <a:solidFill>
                  <a:srgbClr val="18232F"/>
                </a:solidFill>
                <a:latin typeface="Segoe UI"/>
              </a:rPr>
              <a:t>Yahi jaldi seedha aaj ke jaalon mein le jaati hai: patle stock mein market order, stop-loss nahi, galat product tag, aur bina gine charges.</a:t>
            </a:r>
          </a:p>
          <a:p>
            <a:pPr algn="l" marL="274320" indent="-274320">
              <a:lnSpc>
                <a:spcPct val="100000"/>
              </a:lnSpc>
              <a:buClr>
                <a:srgbClr val="00AEEF"/>
              </a:buClr>
              <a:buFont typeface="Arial"/>
              <a:buChar char="•"/>
            </a:pPr>
            <a:r>
              <a:rPr sz="1500" b="0" i="0">
                <a:solidFill>
                  <a:srgbClr val="18232F"/>
                </a:solidFill>
                <a:latin typeface="Segoe UI"/>
              </a:rPr>
              <a:t>Ilaaj yeh nahi ki aap har kaam dheere karein.</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Diwali flash sale mein timer chalta hai: 'Sirf 10 minute baaki'. Yeh timer isliye hai taaki aap kahin aur price check na kar payein. Trading app par news alert aur ek bada green candle yahi kaam karte hain. Aman ki do second ki jaldi ki keemat thi Rs 400 ka slippage. Bees second order book padhne mein lagata, toh tap karne se pehle hi patli line dikh jaati.</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20 second ka pause</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Har order se pehle paanchon ke jawab dijiye, paper trade mein bhi.</a:t>
            </a:r>
          </a:p>
        </p:txBody>
      </p:sp>
      <p:cxnSp>
        <p:nvCxnSpPr>
          <p:cNvPr id="11" name="Connector 10"/>
          <p:cNvCxnSpPr/>
          <p:nvPr/>
        </p:nvCxnSpPr>
        <p:spPr>
          <a:xfrm>
            <a:off x="1731234" y="453313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20922" y="436854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a:t>
            </a:r>
          </a:p>
        </p:txBody>
      </p:sp>
      <p:sp>
        <p:nvSpPr>
          <p:cNvPr id="13" name="TextBox 12"/>
          <p:cNvSpPr txBox="1"/>
          <p:nvPr/>
        </p:nvSpPr>
        <p:spPr>
          <a:xfrm>
            <a:off x="713232" y="4825746"/>
            <a:ext cx="2036003" cy="42519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Order type?</a:t>
            </a:r>
          </a:p>
          <a:p>
            <a:pPr algn="ctr">
              <a:lnSpc>
                <a:spcPct val="100000"/>
              </a:lnSpc>
            </a:pPr>
            <a:r>
              <a:rPr sz="1050" b="0" i="0">
                <a:solidFill>
                  <a:srgbClr val="47596B"/>
                </a:solidFill>
                <a:latin typeface="Segoe UI"/>
              </a:rPr>
              <a:t>Market, limit, SL ya SL-M</a:t>
            </a:r>
          </a:p>
        </p:txBody>
      </p:sp>
      <p:sp>
        <p:nvSpPr>
          <p:cNvPr id="14" name="Rounded Rectangle 13"/>
          <p:cNvSpPr/>
          <p:nvPr/>
        </p:nvSpPr>
        <p:spPr>
          <a:xfrm>
            <a:off x="3703229" y="436854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a:t>
            </a:r>
          </a:p>
        </p:txBody>
      </p:sp>
      <p:sp>
        <p:nvSpPr>
          <p:cNvPr id="15" name="TextBox 14"/>
          <p:cNvSpPr txBox="1"/>
          <p:nvPr/>
        </p:nvSpPr>
        <p:spPr>
          <a:xfrm>
            <a:off x="2895539" y="4825746"/>
            <a:ext cx="2036003" cy="42519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Price?</a:t>
            </a:r>
          </a:p>
          <a:p>
            <a:pPr algn="ctr">
              <a:lnSpc>
                <a:spcPct val="100000"/>
              </a:lnSpc>
            </a:pPr>
            <a:r>
              <a:rPr sz="1050" b="0" i="0">
                <a:solidFill>
                  <a:srgbClr val="47596B"/>
                </a:solidFill>
                <a:latin typeface="Segoe UI"/>
              </a:rPr>
              <a:t>Bid, ask aur spread dekh liya</a:t>
            </a:r>
          </a:p>
        </p:txBody>
      </p:sp>
      <p:sp>
        <p:nvSpPr>
          <p:cNvPr id="16" name="Rounded Rectangle 15"/>
          <p:cNvSpPr/>
          <p:nvPr/>
        </p:nvSpPr>
        <p:spPr>
          <a:xfrm>
            <a:off x="5885536" y="436854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a:t>
            </a:r>
          </a:p>
        </p:txBody>
      </p:sp>
      <p:sp>
        <p:nvSpPr>
          <p:cNvPr id="17" name="TextBox 16"/>
          <p:cNvSpPr txBox="1"/>
          <p:nvPr/>
        </p:nvSpPr>
        <p:spPr>
          <a:xfrm>
            <a:off x="5077846" y="4825746"/>
            <a:ext cx="2036003" cy="42519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Exit?</a:t>
            </a:r>
          </a:p>
          <a:p>
            <a:pPr algn="ctr">
              <a:lnSpc>
                <a:spcPct val="100000"/>
              </a:lnSpc>
            </a:pPr>
            <a:r>
              <a:rPr sz="1050" b="0" i="0">
                <a:solidFill>
                  <a:srgbClr val="47596B"/>
                </a:solidFill>
                <a:latin typeface="Segoe UI"/>
              </a:rPr>
              <a:t>Stop trigger entry se pehle tay</a:t>
            </a:r>
          </a:p>
        </p:txBody>
      </p:sp>
      <p:sp>
        <p:nvSpPr>
          <p:cNvPr id="18" name="Rounded Rectangle 17"/>
          <p:cNvSpPr/>
          <p:nvPr/>
        </p:nvSpPr>
        <p:spPr>
          <a:xfrm>
            <a:off x="8067843" y="436854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4</a:t>
            </a:r>
          </a:p>
        </p:txBody>
      </p:sp>
      <p:sp>
        <p:nvSpPr>
          <p:cNvPr id="19" name="TextBox 18"/>
          <p:cNvSpPr txBox="1"/>
          <p:nvPr/>
        </p:nvSpPr>
        <p:spPr>
          <a:xfrm>
            <a:off x="7260153" y="4825746"/>
            <a:ext cx="2036003" cy="42519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Product?</a:t>
            </a:r>
          </a:p>
          <a:p>
            <a:pPr algn="ctr">
              <a:lnSpc>
                <a:spcPct val="100000"/>
              </a:lnSpc>
            </a:pPr>
            <a:r>
              <a:rPr sz="1050" b="0" i="0">
                <a:solidFill>
                  <a:srgbClr val="47596B"/>
                </a:solidFill>
                <a:latin typeface="Segoe UI"/>
              </a:rPr>
              <a:t>Delivery ya intraday</a:t>
            </a:r>
          </a:p>
        </p:txBody>
      </p:sp>
      <p:sp>
        <p:nvSpPr>
          <p:cNvPr id="20" name="Rounded Rectangle 19"/>
          <p:cNvSpPr/>
          <p:nvPr/>
        </p:nvSpPr>
        <p:spPr>
          <a:xfrm>
            <a:off x="10250150" y="436854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a:t>
            </a:r>
          </a:p>
        </p:txBody>
      </p:sp>
      <p:sp>
        <p:nvSpPr>
          <p:cNvPr id="21" name="TextBox 20"/>
          <p:cNvSpPr txBox="1"/>
          <p:nvPr/>
        </p:nvSpPr>
        <p:spPr>
          <a:xfrm>
            <a:off x="9442460" y="4825746"/>
            <a:ext cx="2036003" cy="42519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Cost?</a:t>
            </a:r>
          </a:p>
          <a:p>
            <a:pPr algn="ctr">
              <a:lnSpc>
                <a:spcPct val="100000"/>
              </a:lnSpc>
            </a:pPr>
            <a:r>
              <a:rPr sz="1050" b="0" i="0">
                <a:solidFill>
                  <a:srgbClr val="47596B"/>
                </a:solidFill>
                <a:latin typeface="Segoe UI"/>
              </a:rPr>
              <a:t>Charges gin liye, ignore nahi kiye</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Agar paanch sawaalon ke jawab nahi hain, toh abhi tap karne ka waqt nahi aaya.</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Bid, ask aur spread</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Bid: abhi koi buyer jo sabse ooncha price dene ko taiyaar hai. Ask: sabse neecha price jis par seller bechne ko raazi hai. Spread: dono ka fark.</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30096"/>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Limit order</a:t>
            </a:r>
          </a:p>
        </p:txBody>
      </p:sp>
      <p:sp>
        <p:nvSpPr>
          <p:cNvPr id="9" name="TextBox 8"/>
          <p:cNvSpPr txBox="1"/>
          <p:nvPr/>
        </p:nvSpPr>
        <p:spPr>
          <a:xfrm>
            <a:off x="6379312" y="1821180"/>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Aisa order jo sirf aapke price ya usse behtar par fill hota hai. Price bachata hai, lekin ho sakta hai aadha fill ho ya bilkul na ho.</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Trigger price</a:t>
            </a:r>
          </a:p>
        </p:txBody>
      </p:sp>
      <p:sp>
        <p:nvSpPr>
          <p:cNvPr id="12" name="TextBox 11"/>
          <p:cNvSpPr txBox="1"/>
          <p:nvPr/>
        </p:nvSpPr>
        <p:spPr>
          <a:xfrm>
            <a:off x="658368"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price jo SL, SL-M ya GTT ko jagata hai. Wahan pahunchte hi aapka order market mein chala jaata hai; lekin aapka exit price isse tay nahi hota.</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48534"/>
            <a:ext cx="5154016" cy="231648"/>
          </a:xfrm>
          <a:prstGeom prst="rect">
            <a:avLst/>
          </a:prstGeom>
          <a:noFill/>
        </p:spPr>
        <p:txBody>
          <a:bodyPr wrap="square" lIns="0" rIns="0" tIns="0" bIns="0" anchor="t">
            <a:noAutofit/>
          </a:bodyPr>
          <a:lstStyle/>
          <a:p>
            <a:pPr algn="l">
              <a:lnSpc>
                <a:spcPct val="100000"/>
              </a:lnSpc>
            </a:pPr>
            <a:r>
              <a:rPr sz="1400" b="1" i="0">
                <a:solidFill>
                  <a:srgbClr val="095A90"/>
                </a:solidFill>
                <a:latin typeface="Segoe UI"/>
              </a:rPr>
              <a:t>AMO (after-market order)</a:t>
            </a:r>
          </a:p>
        </p:txBody>
      </p:sp>
      <p:sp>
        <p:nvSpPr>
          <p:cNvPr id="15" name="TextBox 14"/>
          <p:cNvSpPr txBox="1"/>
          <p:nvPr/>
        </p:nvSpPr>
        <p:spPr>
          <a:xfrm>
            <a:off x="6379312" y="3016758"/>
            <a:ext cx="5154016" cy="5852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Market band hone par lagaya gaya order. Broker use apne paas rakhta hai aur trading khulne par bhejta hai; stop order 9:15 par hi jaata hai, kyunki pre-open stop nahi leta. AMO ka time har broker ka alag hota hai.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184142"/>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Slippage</a:t>
            </a:r>
          </a:p>
        </p:txBody>
      </p:sp>
      <p:sp>
        <p:nvSpPr>
          <p:cNvPr id="18" name="TextBox 17"/>
          <p:cNvSpPr txBox="1"/>
          <p:nvPr/>
        </p:nvSpPr>
        <p:spPr>
          <a:xfrm>
            <a:off x="658368" y="4475226"/>
            <a:ext cx="5154016" cy="24231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Jo price aapne socha tha aur jo asal mein mila, unka fark.</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81272"/>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GTT (Good Till Triggered)</a:t>
            </a:r>
          </a:p>
        </p:txBody>
      </p:sp>
      <p:sp>
        <p:nvSpPr>
          <p:cNvPr id="21" name="TextBox 20"/>
          <p:cNvSpPr txBox="1"/>
          <p:nvPr/>
        </p:nvSpPr>
        <p:spPr>
          <a:xfrm>
            <a:off x="6379312" y="4372356"/>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Broker ki facility, exchange ka order type nahi. Broker instruction apne paas rakhta hai aur trigger hit hone par hi order bhejta hai.</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56860"/>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Contract note</a:t>
            </a:r>
          </a:p>
        </p:txBody>
      </p:sp>
      <p:sp>
        <p:nvSpPr>
          <p:cNvPr id="24" name="TextBox 23"/>
          <p:cNvSpPr txBox="1"/>
          <p:nvPr/>
        </p:nvSpPr>
        <p:spPr>
          <a:xfrm>
            <a:off x="658368" y="5647944"/>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Aapke trades ka official record jo broker ek din ke andar bhejta hai, har charge rupaye mein.</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Net amount</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Contract note ki aakhri line: buy par trade value plus saare charges (jo aap dete hain), sell par trade value minus charges (jo aapko milta hai).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361438"/>
            <a:ext cx="502920" cy="144246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2858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71053"/>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361438"/>
            <a:ext cx="502920" cy="144246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23145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73924"/>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Orders, liquidity, kharche</a:t>
            </a:r>
          </a:p>
        </p:txBody>
      </p:sp>
      <p:sp>
        <p:nvSpPr>
          <p:cNvPr id="11" name="Rounded Rectangle 10"/>
          <p:cNvSpPr/>
          <p:nvPr/>
        </p:nvSpPr>
        <p:spPr>
          <a:xfrm>
            <a:off x="640080" y="1593914"/>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703642"/>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Order book</a:t>
            </a:r>
          </a:p>
        </p:txBody>
      </p:sp>
      <p:sp>
        <p:nvSpPr>
          <p:cNvPr id="13" name="TextBox 12"/>
          <p:cNvSpPr txBox="1"/>
          <p:nvPr/>
        </p:nvSpPr>
        <p:spPr>
          <a:xfrm>
            <a:off x="786384" y="2005394"/>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Bid = buyers, ask = sellers</a:t>
            </a:r>
          </a:p>
          <a:p>
            <a:pPr algn="l" marL="182880" indent="-182880">
              <a:lnSpc>
                <a:spcPct val="100000"/>
              </a:lnSpc>
              <a:spcAft>
                <a:spcPts val="405"/>
              </a:spcAft>
              <a:buClr>
                <a:srgbClr val="0093D6"/>
              </a:buClr>
              <a:buFont typeface="Arial"/>
              <a:buChar char="•"/>
            </a:pPr>
            <a:r>
              <a:rPr sz="1350" b="0" i="0">
                <a:solidFill>
                  <a:srgbClr val="18232F"/>
                </a:solidFill>
                <a:latin typeface="Segoe UI"/>
              </a:rPr>
              <a:t>Spread = ask minus bid</a:t>
            </a:r>
          </a:p>
          <a:p>
            <a:pPr algn="l" marL="182880" indent="-182880">
              <a:lnSpc>
                <a:spcPct val="100000"/>
              </a:lnSpc>
              <a:spcAft>
                <a:spcPts val="405"/>
              </a:spcAft>
              <a:buClr>
                <a:srgbClr val="0093D6"/>
              </a:buClr>
              <a:buFont typeface="Arial"/>
              <a:buChar char="•"/>
            </a:pPr>
            <a:r>
              <a:rPr sz="1350" b="0" i="0">
                <a:solidFill>
                  <a:srgbClr val="18232F"/>
                </a:solidFill>
                <a:latin typeface="Segoe UI"/>
              </a:rPr>
              <a:t>LTP = aakhri deal</a:t>
            </a:r>
          </a:p>
          <a:p>
            <a:pPr algn="l" marL="182880" indent="-182880">
              <a:lnSpc>
                <a:spcPct val="100000"/>
              </a:lnSpc>
              <a:buClr>
                <a:srgbClr val="0093D6"/>
              </a:buClr>
              <a:buFont typeface="Arial"/>
              <a:buChar char="•"/>
            </a:pPr>
            <a:r>
              <a:rPr sz="1350" b="0" i="0">
                <a:solidFill>
                  <a:srgbClr val="18232F"/>
                </a:solidFill>
                <a:latin typeface="Segoe UI"/>
              </a:rPr>
              <a:t>Liquid = patla spread, lambi line</a:t>
            </a:r>
          </a:p>
        </p:txBody>
      </p:sp>
      <p:sp>
        <p:nvSpPr>
          <p:cNvPr id="14" name="Rounded Rectangle 13"/>
          <p:cNvSpPr/>
          <p:nvPr/>
        </p:nvSpPr>
        <p:spPr>
          <a:xfrm>
            <a:off x="640080" y="3293554"/>
            <a:ext cx="3718408" cy="1277874"/>
          </a:xfrm>
          <a:prstGeom prst="roundRect">
            <a:avLst>
              <a:gd name="adj" fmla="val 8586"/>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403282"/>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Order types</a:t>
            </a:r>
          </a:p>
        </p:txBody>
      </p:sp>
      <p:sp>
        <p:nvSpPr>
          <p:cNvPr id="16" name="TextBox 15"/>
          <p:cNvSpPr txBox="1"/>
          <p:nvPr/>
        </p:nvSpPr>
        <p:spPr>
          <a:xfrm>
            <a:off x="786384" y="3705034"/>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Market = speed, slippage ka risk</a:t>
            </a:r>
          </a:p>
          <a:p>
            <a:pPr algn="l" marL="182880" indent="-182880">
              <a:lnSpc>
                <a:spcPct val="100000"/>
              </a:lnSpc>
              <a:spcAft>
                <a:spcPts val="405"/>
              </a:spcAft>
              <a:buClr>
                <a:srgbClr val="F5A524"/>
              </a:buClr>
              <a:buFont typeface="Arial"/>
              <a:buChar char="•"/>
            </a:pPr>
            <a:r>
              <a:rPr sz="1350" b="0" i="0">
                <a:solidFill>
                  <a:srgbClr val="18232F"/>
                </a:solidFill>
                <a:latin typeface="Segoe UI"/>
              </a:rPr>
              <a:t>Limit = price, shayad fill na ho</a:t>
            </a:r>
          </a:p>
          <a:p>
            <a:pPr algn="l" marL="182880" indent="-182880">
              <a:lnSpc>
                <a:spcPct val="100000"/>
              </a:lnSpc>
              <a:buClr>
                <a:srgbClr val="F5A524"/>
              </a:buClr>
              <a:buFont typeface="Arial"/>
              <a:buChar char="•"/>
            </a:pPr>
            <a:r>
              <a:rPr sz="1350" b="0" i="0">
                <a:solidFill>
                  <a:srgbClr val="18232F"/>
                </a:solidFill>
                <a:latin typeface="Segoe UI"/>
              </a:rPr>
              <a:t>SL aur SL-M trigger par jaagte hain</a:t>
            </a:r>
          </a:p>
        </p:txBody>
      </p:sp>
      <p:sp>
        <p:nvSpPr>
          <p:cNvPr id="17" name="Rounded Rectangle 16"/>
          <p:cNvSpPr/>
          <p:nvPr/>
        </p:nvSpPr>
        <p:spPr>
          <a:xfrm>
            <a:off x="640080" y="4736020"/>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Stop bhi fisal sakta hai</a:t>
            </a:r>
          </a:p>
        </p:txBody>
      </p:sp>
      <p:sp>
        <p:nvSpPr>
          <p:cNvPr id="19" name="TextBox 18"/>
          <p:cNvSpPr txBox="1"/>
          <p:nvPr/>
        </p:nvSpPr>
        <p:spPr>
          <a:xfrm>
            <a:off x="786384" y="5147500"/>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Gap trigger ke paar kood jaata hai</a:t>
            </a:r>
          </a:p>
          <a:p>
            <a:pPr algn="l" marL="182880" indent="-182880">
              <a:lnSpc>
                <a:spcPct val="100000"/>
              </a:lnSpc>
              <a:spcAft>
                <a:spcPts val="405"/>
              </a:spcAft>
              <a:buClr>
                <a:srgbClr val="F0554E"/>
              </a:buClr>
              <a:buFont typeface="Arial"/>
              <a:buChar char="•"/>
            </a:pPr>
            <a:r>
              <a:rPr sz="1350" b="0" i="0">
                <a:solidFill>
                  <a:srgbClr val="18232F"/>
                </a:solidFill>
                <a:latin typeface="Segoe UI"/>
              </a:rPr>
              <a:t>SL (limit) order shayad kabhi fill na ho</a:t>
            </a:r>
          </a:p>
          <a:p>
            <a:pPr algn="l" marL="182880" indent="-182880">
              <a:lnSpc>
                <a:spcPct val="100000"/>
              </a:lnSpc>
              <a:buClr>
                <a:srgbClr val="F0554E"/>
              </a:buClr>
              <a:buFont typeface="Arial"/>
              <a:buChar char="•"/>
            </a:pPr>
            <a:r>
              <a:rPr sz="1350" b="0" i="0">
                <a:solidFill>
                  <a:srgbClr val="18232F"/>
                </a:solidFill>
                <a:latin typeface="Segoe UI"/>
              </a:rPr>
              <a:t>Price band exit rok sakta hai</a:t>
            </a:r>
          </a:p>
        </p:txBody>
      </p:sp>
      <p:sp>
        <p:nvSpPr>
          <p:cNvPr id="20" name="Rounded Rectangle 19"/>
          <p:cNvSpPr/>
          <p:nvPr/>
        </p:nvSpPr>
        <p:spPr>
          <a:xfrm>
            <a:off x="7833208" y="1491043"/>
            <a:ext cx="3718408" cy="1740789"/>
          </a:xfrm>
          <a:prstGeom prst="roundRect">
            <a:avLst>
              <a:gd name="adj" fmla="val 6303"/>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600772"/>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Time</a:t>
            </a:r>
          </a:p>
        </p:txBody>
      </p:sp>
      <p:sp>
        <p:nvSpPr>
          <p:cNvPr id="22" name="TextBox 21"/>
          <p:cNvSpPr txBox="1"/>
          <p:nvPr/>
        </p:nvSpPr>
        <p:spPr>
          <a:xfrm>
            <a:off x="7979512" y="1902524"/>
            <a:ext cx="3425800" cy="132930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Day order close par khatam</a:t>
            </a:r>
          </a:p>
          <a:p>
            <a:pPr algn="l" marL="182880" indent="-182880">
              <a:lnSpc>
                <a:spcPct val="100000"/>
              </a:lnSpc>
              <a:spcAft>
                <a:spcPts val="405"/>
              </a:spcAft>
              <a:buClr>
                <a:srgbClr val="0093D6"/>
              </a:buClr>
              <a:buFont typeface="Arial"/>
              <a:buChar char="•"/>
            </a:pPr>
            <a:r>
              <a:rPr sz="1350" b="0" i="0">
                <a:solidFill>
                  <a:srgbClr val="18232F"/>
                </a:solidFill>
                <a:latin typeface="Segoe UI"/>
              </a:rPr>
              <a:t>Shaam ke orders AMO banke wait karte hain</a:t>
            </a:r>
          </a:p>
          <a:p>
            <a:pPr algn="l" marL="182880" indent="-182880">
              <a:lnSpc>
                <a:spcPct val="100000"/>
              </a:lnSpc>
              <a:spcAft>
                <a:spcPts val="405"/>
              </a:spcAft>
              <a:buClr>
                <a:srgbClr val="0093D6"/>
              </a:buClr>
              <a:buFont typeface="Arial"/>
              <a:buChar char="•"/>
            </a:pPr>
            <a:r>
              <a:rPr sz="1350" b="0" i="0">
                <a:solidFill>
                  <a:srgbClr val="18232F"/>
                </a:solidFill>
                <a:latin typeface="Segoe UI"/>
              </a:rPr>
              <a:t>GTT broker ke paas wait karta hai</a:t>
            </a:r>
          </a:p>
          <a:p>
            <a:pPr algn="l" marL="182880" indent="-182880">
              <a:lnSpc>
                <a:spcPct val="100000"/>
              </a:lnSpc>
              <a:buClr>
                <a:srgbClr val="0093D6"/>
              </a:buClr>
              <a:buFont typeface="Arial"/>
              <a:buChar char="•"/>
            </a:pPr>
            <a:r>
              <a:rPr sz="1350" b="0" i="0">
                <a:solidFill>
                  <a:srgbClr val="18232F"/>
                </a:solidFill>
                <a:latin typeface="Segoe UI"/>
              </a:rPr>
              <a:t>Intraday: auto square-off</a:t>
            </a:r>
          </a:p>
        </p:txBody>
      </p:sp>
      <p:sp>
        <p:nvSpPr>
          <p:cNvPr id="23" name="Rounded Rectangle 22"/>
          <p:cNvSpPr/>
          <p:nvPr/>
        </p:nvSpPr>
        <p:spPr>
          <a:xfrm>
            <a:off x="7833208" y="3396424"/>
            <a:ext cx="3718408" cy="1277874"/>
          </a:xfrm>
          <a:prstGeom prst="roundRect">
            <a:avLst>
              <a:gd name="adj" fmla="val 8586"/>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506152"/>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Kharche aur tax</a:t>
            </a:r>
          </a:p>
        </p:txBody>
      </p:sp>
      <p:sp>
        <p:nvSpPr>
          <p:cNvPr id="25" name="TextBox 24"/>
          <p:cNvSpPr txBox="1"/>
          <p:nvPr/>
        </p:nvSpPr>
        <p:spPr>
          <a:xfrm>
            <a:off x="7979512" y="3807904"/>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Har order par charges</a:t>
            </a:r>
          </a:p>
          <a:p>
            <a:pPr algn="l" marL="182880" indent="-182880">
              <a:lnSpc>
                <a:spcPct val="100000"/>
              </a:lnSpc>
              <a:spcAft>
                <a:spcPts val="405"/>
              </a:spcAft>
              <a:buClr>
                <a:srgbClr val="F5A524"/>
              </a:buClr>
              <a:buFont typeface="Arial"/>
              <a:buChar char="•"/>
            </a:pPr>
            <a:r>
              <a:rPr sz="1350" b="0" i="0">
                <a:solidFill>
                  <a:srgbClr val="18232F"/>
                </a:solidFill>
                <a:latin typeface="Segoe UI"/>
              </a:rPr>
              <a:t>Net amount = jo asal mein diya</a:t>
            </a:r>
          </a:p>
          <a:p>
            <a:pPr algn="l" marL="182880" indent="-182880">
              <a:lnSpc>
                <a:spcPct val="100000"/>
              </a:lnSpc>
              <a:buClr>
                <a:srgbClr val="F5A524"/>
              </a:buClr>
              <a:buFont typeface="Arial"/>
              <a:buChar char="•"/>
            </a:pPr>
            <a:r>
              <a:rPr sz="1350" b="0" i="0">
                <a:solidFill>
                  <a:srgbClr val="18232F"/>
                </a:solidFill>
                <a:latin typeface="Segoe UI"/>
              </a:rPr>
              <a:t>Tax head trade type se; CA se poochhiye</a:t>
            </a:r>
          </a:p>
        </p:txBody>
      </p:sp>
      <p:sp>
        <p:nvSpPr>
          <p:cNvPr id="26" name="Rounded Rectangle 25"/>
          <p:cNvSpPr/>
          <p:nvPr/>
        </p:nvSpPr>
        <p:spPr>
          <a:xfrm>
            <a:off x="7833208" y="4838890"/>
            <a:ext cx="3718408" cy="1277874"/>
          </a:xfrm>
          <a:prstGeom prst="roundRect">
            <a:avLst>
              <a:gd name="adj" fmla="val 8586"/>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948618"/>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Aapka mann</a:t>
            </a:r>
          </a:p>
        </p:txBody>
      </p:sp>
      <p:sp>
        <p:nvSpPr>
          <p:cNvPr id="28" name="TextBox 27"/>
          <p:cNvSpPr txBox="1"/>
          <p:nvPr/>
        </p:nvSpPr>
        <p:spPr>
          <a:xfrm>
            <a:off x="7979512" y="5250370"/>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Abhi ke abhi wali jaldi pehchaniye</a:t>
            </a:r>
          </a:p>
          <a:p>
            <a:pPr algn="l" marL="182880" indent="-182880">
              <a:lnSpc>
                <a:spcPct val="100000"/>
              </a:lnSpc>
              <a:spcAft>
                <a:spcPts val="405"/>
              </a:spcAft>
              <a:buClr>
                <a:srgbClr val="16A34A"/>
              </a:buClr>
              <a:buFont typeface="Arial"/>
              <a:buChar char="•"/>
            </a:pPr>
            <a:r>
              <a:rPr sz="1350" b="0" i="0">
                <a:solidFill>
                  <a:srgbClr val="18232F"/>
                </a:solidFill>
                <a:latin typeface="Segoe UI"/>
              </a:rPr>
              <a:t>20 second ka pause</a:t>
            </a:r>
          </a:p>
          <a:p>
            <a:pPr algn="l" marL="182880" indent="-182880">
              <a:lnSpc>
                <a:spcPct val="100000"/>
              </a:lnSpc>
              <a:buClr>
                <a:srgbClr val="16A34A"/>
              </a:buClr>
              <a:buFont typeface="Arial"/>
              <a:buChar char="•"/>
            </a:pPr>
            <a:r>
              <a:rPr sz="1350" b="0" i="0">
                <a:solidFill>
                  <a:srgbClr val="18232F"/>
                </a:solidFill>
                <a:latin typeface="Segoe UI"/>
              </a:rPr>
              <a:t>Har tap se pehle paanch sawaal</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45 min</a:t>
            </a:r>
          </a:p>
        </p:txBody>
      </p:sp>
      <p:sp>
        <p:nvSpPr>
          <p:cNvPr id="5" name="TextBox 4"/>
          <p:cNvSpPr txBox="1"/>
          <p:nvPr/>
        </p:nvSpPr>
        <p:spPr>
          <a:xfrm>
            <a:off x="457200" y="1335024"/>
            <a:ext cx="11277295" cy="52425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Ek order book padhiye (NSE ki website par live, ya market band ho toh practice wali), sheet mein ek market order ka slippage nikaaliye, contract note ki har line pehchaniye, aur apna paanch sawaalon wala pause card likhiye.</a:t>
            </a:r>
          </a:p>
        </p:txBody>
      </p:sp>
      <p:sp>
        <p:nvSpPr>
          <p:cNvPr id="6" name="Rounded Rectangle 5"/>
          <p:cNvSpPr/>
          <p:nvPr/>
        </p:nvSpPr>
        <p:spPr>
          <a:xfrm>
            <a:off x="457200" y="2005584"/>
            <a:ext cx="11277295" cy="1420368"/>
          </a:xfrm>
          <a:prstGeom prst="roundRect">
            <a:avLst>
              <a:gd name="adj" fmla="val 643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1531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3360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06168"/>
            <a:ext cx="10042855" cy="125577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Continuous trading ke dauraan (trading day par subah 9:15 se dopahar 3:15; NIFTY 50 companies ke F&amp;O contracts hain, isliye 3:15 ke baad woh closing auction mein hoti hain), nseindia.com par NIFTY 50 ki kisi bhi company ka quote page kholiye aur uska best bid, best ask aur spread note kijiye. Market band hai ya aap office mein hain? Practice order book ke note mein diye Anand Snacks Ltd ke price lijiye. Aap sirf padh rahe hain, khareedne ke liye stock nahi chun rahe.</a:t>
            </a:r>
          </a:p>
        </p:txBody>
      </p:sp>
      <p:sp>
        <p:nvSpPr>
          <p:cNvPr id="10" name="Rounded Rectangle 9"/>
          <p:cNvSpPr/>
          <p:nvPr/>
        </p:nvSpPr>
        <p:spPr>
          <a:xfrm>
            <a:off x="457200" y="35173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62712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6454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6179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Yahi kaam NIFTY Smallcap 250 list (chhoti companies ka index) ki ek company ke liye kijiye, ya practice order book mein Mehta Solar Ltd lijiye. Dono ka spread price ke % mein nikaaliye (spread ÷ ask x 100) aur note kijiye ki kaunsa stock zyada liquid lagta hai. Practice ka jawab: lagbhag 0.02% aur 1.5%.</a:t>
            </a:r>
          </a:p>
        </p:txBody>
      </p:sp>
      <p:sp>
        <p:nvSpPr>
          <p:cNvPr id="14" name="Rounded Rectangle 13"/>
          <p:cNvSpPr/>
          <p:nvPr/>
        </p:nvSpPr>
        <p:spPr>
          <a:xfrm>
            <a:off x="457200" y="454152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65124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6695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64210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Google Sheets mein practice order book se Mehta Solar Ltd ke 1,000 shares ke market buy ka average price nikaaliye. Buy ke liye sirf ask side dekhni hai: =(300*80+400*80.4+300*80.9)/1000. Jawab Rs 80.43 aana chahiye, yaani 1,000 x Rs 80 ke muqable Rs 430 ka slippage.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45 min</a:t>
            </a:r>
          </a:p>
        </p:txBody>
      </p:sp>
      <p:sp>
        <p:nvSpPr>
          <p:cNvPr id="5" name="Rounded Rectangle 4"/>
          <p:cNvSpPr/>
          <p:nvPr/>
        </p:nvSpPr>
        <p:spPr>
          <a:xfrm>
            <a:off x="457200" y="1335024"/>
            <a:ext cx="11277295" cy="1420368"/>
          </a:xfrm>
          <a:prstGeom prst="roundRect">
            <a:avLst>
              <a:gd name="adj" fmla="val 643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25577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Contract-note reader ka aakhri column bhariye: broker account hai toh apne kisi contract note se har line ki rupaye wali raqam likhiye. Account nahi hai? AI Lab ka 'Contract note padhna seekhiye (sample)' prompt chalaiye aur uska sample utaariye: trade value (10 x Rs 450 = Rs 4,500) aur har charge ke aage 'X'. Phir har woh line tick kijiye jahan AI ki batayi buy/sell side 'Buy, sell ya dono' column se match kare. Asli contract note kabhi kisi AI mein paste mat kijiye.</a:t>
            </a:r>
          </a:p>
        </p:txBody>
      </p:sp>
      <p:sp>
        <p:nvSpPr>
          <p:cNvPr id="9" name="Rounded Rectangle 8"/>
          <p:cNvSpPr/>
          <p:nvPr/>
        </p:nvSpPr>
        <p:spPr>
          <a:xfrm>
            <a:off x="457200" y="284683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95656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97484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94741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Paanch sawaalon wala pause card kaagaz par ya phone ke notes mein utaariye, ek banawati paper order ke liye ek baar bhariye, aur use aisi jagah rakhiye jahan har order se pehle nazar pade.</a:t>
            </a:r>
          </a:p>
        </p:txBody>
      </p:sp>
      <p:sp>
        <p:nvSpPr>
          <p:cNvPr id="13" name="Rounded Rectangle 12"/>
          <p:cNvSpPr/>
          <p:nvPr/>
        </p:nvSpPr>
        <p:spPr>
          <a:xfrm>
            <a:off x="457200" y="362712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73684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2770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AI Lab ka 'Order-type drill' prompt chalaiye aur kam se kam paanch scenarios ke jawab dijiye. AI jo rule 'broker ke hisaab se alag' bataye, use tab tak 'Not sure' mark kijiye jab tak aap khud check na kar lein.</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bid, ask, spread aur depth padh payenge, practice order book se bhi; market, limit, SL aur SL-M mein se chun payenge aur jaanenge ki har ek ki keemat kya ho sakti hai; samjha payenge ki stop-loss vada kyun nahi hai aur AMO ki tarah lagaye stop ka kya hota hai; delivery aur intraday ka, aur GTT aur exchange order ka fark bata payenge; aur contract note ko line-by-line, net amount tak, padh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order book: Mehta Solar Ltd, 11:05 am</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Banawati numbers, NSE quote page ki depth table jaise: baayein buyers, daayein sellers, sabse upar ki row mein best price. Liquid stock se milaane ke liye, usi minute Anand Snacks Ltd: best bid Rs 612.40, best ask Rs 612.55.</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4" cy="3401568"/>
        </p:xfrm>
        <a:graphic>
          <a:graphicData uri="http://schemas.openxmlformats.org/drawingml/2006/table">
            <a:tbl>
              <a:tblPr firstRow="1">
                <a:tableStyleId>{5C22544A-7EE6-4342-B048-85BDC9FD1C3A}</a:tableStyleId>
              </a:tblPr>
              <a:tblGrid>
                <a:gridCol w="3018902"/>
                <a:gridCol w="2395043"/>
                <a:gridCol w="2478687"/>
                <a:gridCol w="3018902"/>
              </a:tblGrid>
              <a:tr h="493776">
                <a:tc>
                  <a:txBody>
                    <a:bodyPr wrap="square"/>
                    <a:lstStyle/>
                    <a:p>
                      <a:pPr algn="l"/>
                      <a:r>
                        <a:rPr sz="1500" b="1" i="0">
                          <a:solidFill>
                            <a:srgbClr val="FFFFFF"/>
                          </a:solidFill>
                          <a:latin typeface="Segoe UI"/>
                        </a:rPr>
                        <a:t>Bid qty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Bid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Ask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Ask qty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ctr"/>
                      <a:r>
                        <a:rPr sz="1500" b="0" i="0">
                          <a:solidFill>
                            <a:srgbClr val="18232F"/>
                          </a:solidFill>
                          <a:latin typeface="Segoe UI"/>
                        </a:rPr>
                        <a:t>1,200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78.80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2,500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78.60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78.40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3,000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78.10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81.50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1,500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77.80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Total 9,100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Total 2,600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Contract-note reader</a:t>
            </a:r>
          </a:p>
        </p:txBody>
      </p:sp>
      <p:sp>
        <p:nvSpPr>
          <p:cNvPr id="4" name="TextBox 3"/>
          <p:cNvSpPr txBox="1"/>
          <p:nvPr/>
        </p:nvSpPr>
        <p:spPr>
          <a:xfrm>
            <a:off x="457200" y="1335024"/>
            <a:ext cx="11277295" cy="463296"/>
          </a:xfrm>
          <a:prstGeom prst="rect">
            <a:avLst/>
          </a:prstGeom>
          <a:noFill/>
        </p:spPr>
        <p:txBody>
          <a:bodyPr wrap="square" lIns="0" rIns="0" tIns="0" bIns="0" anchor="t">
            <a:noAutofit/>
          </a:bodyPr>
          <a:lstStyle/>
          <a:p>
            <a:pPr algn="l">
              <a:lnSpc>
                <a:spcPct val="100000"/>
              </a:lnSpc>
            </a:pPr>
            <a:r>
              <a:rPr sz="1400" b="0" i="1">
                <a:solidFill>
                  <a:srgbClr val="47596B"/>
                </a:solidFill>
                <a:latin typeface="Segoe UI"/>
              </a:rPr>
              <a:t>Yahan rates jaan-boojhkar nahi hain: brokerage har broker ka alag hai aur baaki charges badalte rehte hain. Delivery shares bechne ke DP charges account statement mein dikhte hain, yahan nahi. Note kisi ko dikhane se pehle apna naam, PAN aur client ID chhupa dijiye.</a:t>
            </a:r>
          </a:p>
        </p:txBody>
      </p:sp>
      <p:sp>
        <p:nvSpPr>
          <p:cNvPr id="5" name="Rounded Rectangle 4"/>
          <p:cNvSpPr/>
          <p:nvPr/>
        </p:nvSpPr>
        <p:spPr>
          <a:xfrm>
            <a:off x="457200" y="1944624"/>
            <a:ext cx="11277295" cy="4328160"/>
          </a:xfrm>
          <a:prstGeom prst="roundRect">
            <a:avLst>
              <a:gd name="adj" fmla="val 253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090928"/>
          <a:ext cx="10911537" cy="4053844"/>
        </p:xfrm>
        <a:graphic>
          <a:graphicData uri="http://schemas.openxmlformats.org/drawingml/2006/table">
            <a:tbl>
              <a:tblPr firstRow="1">
                <a:tableStyleId>{5C22544A-7EE6-4342-B048-85BDC9FD1C3A}</a:tableStyleId>
              </a:tblPr>
              <a:tblGrid>
                <a:gridCol w="1823108"/>
                <a:gridCol w="5938588"/>
                <a:gridCol w="1986785"/>
                <a:gridCol w="1163056"/>
              </a:tblGrid>
              <a:tr h="537058">
                <a:tc>
                  <a:txBody>
                    <a:bodyPr wrap="square"/>
                    <a:lstStyle/>
                    <a:p>
                      <a:pPr algn="l"/>
                      <a:r>
                        <a:rPr sz="1350" b="1" i="0">
                          <a:solidFill>
                            <a:srgbClr val="FFFFFF"/>
                          </a:solidFill>
                          <a:latin typeface="Segoe UI"/>
                        </a:rPr>
                        <a:t>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Yeh kya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Buy, sell ya dono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Aapke note par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22174">
                <a:tc>
                  <a:txBody>
                    <a:bodyPr wrap="square"/>
                    <a:lstStyle/>
                    <a:p>
                      <a:pPr algn="l"/>
                      <a:r>
                        <a:rPr sz="1350" b="0" i="0">
                          <a:solidFill>
                            <a:srgbClr val="18232F"/>
                          </a:solidFill>
                          <a:latin typeface="Segoe UI"/>
                        </a:rPr>
                        <a:t>Trade details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Order aur trade number, time, har fill ki quantity aur price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Dono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2174">
                <a:tc>
                  <a:txBody>
                    <a:bodyPr wrap="square"/>
                    <a:lstStyle/>
                    <a:p>
                      <a:pPr algn="l"/>
                      <a:r>
                        <a:rPr sz="1350" b="0" i="0">
                          <a:solidFill>
                            <a:srgbClr val="18232F"/>
                          </a:solidFill>
                          <a:latin typeface="Segoe UI"/>
                        </a:rPr>
                        <a:t>Trade value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Quantity x price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Dono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2174">
                <a:tc>
                  <a:txBody>
                    <a:bodyPr wrap="square"/>
                    <a:lstStyle/>
                    <a:p>
                      <a:pPr algn="l"/>
                      <a:r>
                        <a:rPr sz="1350" b="0" i="0">
                          <a:solidFill>
                            <a:srgbClr val="18232F"/>
                          </a:solidFill>
                          <a:latin typeface="Segoe UI"/>
                        </a:rPr>
                        <a:t>Brokerage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Broker ki fees; har broker ki alag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Dono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7914">
                <a:tc>
                  <a:txBody>
                    <a:bodyPr wrap="square"/>
                    <a:lstStyle/>
                    <a:p>
                      <a:pPr algn="l"/>
                      <a:r>
                        <a:rPr sz="1350" b="0" i="0">
                          <a:solidFill>
                            <a:srgbClr val="18232F"/>
                          </a:solidFill>
                          <a:latin typeface="Segoe UI"/>
                        </a:rPr>
                        <a:t>Exchange transaction charges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Trade ke liye exchange ki fees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Dono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7914">
                <a:tc>
                  <a:txBody>
                    <a:bodyPr wrap="square"/>
                    <a:lstStyle/>
                    <a:p>
                      <a:pPr algn="l"/>
                      <a:r>
                        <a:rPr sz="1350" b="0" i="0">
                          <a:solidFill>
                            <a:srgbClr val="18232F"/>
                          </a:solidFill>
                          <a:latin typeface="Segoe UI"/>
                        </a:rPr>
                        <a:t>STT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Securities Transaction Tax, sarkar ke liye liya jaata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Delivery: dono; intraday: sirf sell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2174">
                <a:tc>
                  <a:txBody>
                    <a:bodyPr wrap="square"/>
                    <a:lstStyle/>
                    <a:p>
                      <a:pPr algn="l"/>
                      <a:r>
                        <a:rPr sz="1350" b="0" i="0">
                          <a:solidFill>
                            <a:srgbClr val="18232F"/>
                          </a:solidFill>
                          <a:latin typeface="Segoe UI"/>
                        </a:rPr>
                        <a:t>SEBI fees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Regulator ki chhoti turnover fees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Dono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2174">
                <a:tc>
                  <a:txBody>
                    <a:bodyPr wrap="square"/>
                    <a:lstStyle/>
                    <a:p>
                      <a:pPr algn="l"/>
                      <a:r>
                        <a:rPr sz="1350" b="0" i="0">
                          <a:solidFill>
                            <a:srgbClr val="18232F"/>
                          </a:solidFill>
                          <a:latin typeface="Segoe UI"/>
                        </a:rPr>
                        <a:t>GST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Brokerage, exchange charges aur SEBI fees par tax</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Dono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2174">
                <a:tc>
                  <a:txBody>
                    <a:bodyPr wrap="square"/>
                    <a:lstStyle/>
                    <a:p>
                      <a:pPr algn="l"/>
                      <a:r>
                        <a:rPr sz="1350" b="0" i="0">
                          <a:solidFill>
                            <a:srgbClr val="18232F"/>
                          </a:solidFill>
                          <a:latin typeface="Segoe UI"/>
                        </a:rPr>
                        <a:t>Stamp duty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Khareedne wale par lagne wali duty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Sirf buy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7914">
                <a:tc>
                  <a:txBody>
                    <a:bodyPr wrap="square"/>
                    <a:lstStyle/>
                    <a:p>
                      <a:pPr algn="l"/>
                      <a:r>
                        <a:rPr sz="1350" b="0" i="0">
                          <a:solidFill>
                            <a:srgbClr val="18232F"/>
                          </a:solidFill>
                          <a:latin typeface="Segoe UI"/>
                        </a:rPr>
                        <a:t>Net amount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Buy: value plus charges (aap dete hain). Sell: value minus charges (aapko milta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Dono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Paanch sawaalon wala pause card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Priya wala column Gupta Cement Ltd ke 50 shares ke ek paper order ka model hai. Har order se pehle apna column bhariye; koi bhi jawab khaali ho toh tap mat kijiye.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2916936"/>
        </p:xfrm>
        <a:graphic>
          <a:graphicData uri="http://schemas.openxmlformats.org/drawingml/2006/table">
            <a:tbl>
              <a:tblPr firstRow="1">
                <a:tableStyleId>{5C22544A-7EE6-4342-B048-85BDC9FD1C3A}</a:tableStyleId>
              </a:tblPr>
              <a:tblGrid>
                <a:gridCol w="1355995"/>
                <a:gridCol w="8143371"/>
                <a:gridCol w="1412169"/>
              </a:tblGrid>
              <a:tr h="493776">
                <a:tc>
                  <a:txBody>
                    <a:bodyPr wrap="square"/>
                    <a:lstStyle/>
                    <a:p>
                      <a:pPr algn="l"/>
                      <a:r>
                        <a:rPr sz="1500" b="1" i="0">
                          <a:solidFill>
                            <a:srgbClr val="FFFFFF"/>
                          </a:solidFill>
                          <a:latin typeface="Segoe UI"/>
                        </a:rPr>
                        <a:t>Sawaal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Priya ka jawab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Mera jawab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Order type?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450.10 ka limit buy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Price?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Bid 449.80, ask 450.10: spread Rs 0.30, patla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SL-M trigger Rs 430, entry se pehle tay: lagbhag Rs 1,005 risk par, gap mein zyada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Product?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Delivery (CNC): kuch din rakhne ka plan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Cost?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Charges sample contract note se padhe, andaaze se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Mandi order-book game (do ya zyada log)</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'sellers' teen parchiyan likhte hain, har ek par price aur pyaaz ki boriyon ki ginti (2 se 4); 'buyers' bhi isi tarah teen bid parchiyan likhte hain.</a:t>
            </a:r>
          </a:p>
          <a:p>
            <a:pPr algn="l">
              <a:lnSpc>
                <a:spcPct val="100000"/>
              </a:lnSpc>
              <a:spcAft>
                <a:spcPts val="700"/>
              </a:spcAft>
            </a:pPr>
            <a:r>
              <a:rPr sz="2000" b="0" i="0">
                <a:solidFill>
                  <a:srgbClr val="18232F"/>
                </a:solidFill>
                <a:latin typeface="Segoe UI"/>
              </a:rPr>
              <a:t>Parchiyon ko order book ki tarah lagaiye, sellers upar.</a:t>
            </a:r>
          </a:p>
          <a:p>
            <a:pPr algn="l">
              <a:lnSpc>
                <a:spcPct val="100000"/>
              </a:lnSpc>
              <a:spcAft>
                <a:spcPts val="700"/>
              </a:spcAft>
            </a:pPr>
            <a:r>
              <a:rPr sz="2000" b="0" i="0">
                <a:solidFill>
                  <a:srgbClr val="18232F"/>
                </a:solidFill>
                <a:latin typeface="Segoe UI"/>
              </a:rPr>
              <a:t>5 boriyon ka 'market buy' sabse sasti seller parchiyan pehle uthata hai: average price nikaaliye.</a:t>
            </a:r>
          </a:p>
          <a:p>
            <a:pPr algn="l">
              <a:lnSpc>
                <a:spcPct val="100000"/>
              </a:lnSpc>
            </a:pPr>
            <a:r>
              <a:rPr sz="2000" b="0" i="0">
                <a:solidFill>
                  <a:srgbClr val="18232F"/>
                </a:solidFill>
                <a:latin typeface="Segoe UI"/>
              </a:rPr>
              <a:t>Phir limit price ke saath dobara kijiye aur dekhiye kitni boriyan milti hain.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Order-type drill: AI scene banaye, order aap chunein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Order-type drill</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“Give me 8 short scenarios, one at a time, using only made-up company names (for example 'Bharat Pumps Ltd') and made-up prices.”</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Contract note padhna seekhiye (sample)</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“Explain, line by line, what an Indian equity contract note contains, in this order: trade details, trade value, brokerage, exchange transaction charges, STT, SEBI fees, GST, stamp duty and the net amount.”</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Jaldbaazi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6 short questions, one at a time, about how I behave when a price is moving fast: news alerts, big green candles, 'only today' offers, fear of missing out, and times I bought something in a hurry and regretted it.”</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QUICK QUIZ · SAWAAL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Kiran Foods Ltd ki order book mein best bid Rs 199.80 aur best ask Rs 200.20 hai. Last traded price Rs 200.00 hai. Aap ek chhota market buy lagate hain. Spread kitna hai, aur aapki khareed kis price ke aas-paas hone ki sabse zyada ummeed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Spread Rs 0.40; khareed Rs 199.80 ke aas-paas</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Spread Rs 0.40; khareed Rs 200.20 ke aas-paas</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Spread Rs 0.20; khareed LTP par, yaani Rs 200.00</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Koi spread nahi; khareed theek Rs 200.00 par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Joshi Pipes Ltd Rs 100 par trade ho raha hai. Priya Rs 98 ka limit buy lagati hai. Din mein price Rs 99 tak girta hai, phir Rs 110 tak chadh jaata hai. Uske order ka kya hota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Price badhne par Rs 110 par fill ho jaata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98 par fill hota hai, kyunki limit price fix karta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99 par fill hota hai, din ka low</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Fill nahi hota; price Rs 98 tak aaya hi nahi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QUICK QUIZ · SAWAAL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ke paas Sharma Textiles Ltd ke 40 shares hain, jo usne Rs 260 par khareede the. Woh har shaam Rs 245 trigger wala SL-M sell AMO ki tarah lagati hai. Ek raat buri khabar aati hai, aur stock Rs 230 par khulta hai. Uska loss lagbhag kitna hone wala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Rs 900: order beech mein, Rs 237.50 par bikega</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Rs 1,200: exit Rs 230 ke open ke paas hoga, Rs 245 par nahi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kuch nahi: stop price ke Rs 245 par lautne ka wait karega</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Theek Rs 600: stop hamesha Rs 245 ke trigger par hi bechta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QUICK QUIZ · SAWAAL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apne broker app par GTT set karta hai ki price Rs 95 hit kare toh Joshi Pipes Ltd khareed liya jaye. Is GTT ke baare mein kaunsi baat sahi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Day order ki tarah yeh usi din close par cancel ho jaata hai</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Set karte hi yeh exchange ki order book mein baith jaata hai</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Broker ise apne paas rakhta hai aur trigger par hi order bhejta hai</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Trigger hone par yeh hamesha theek Rs 95 par fill hota hai, gap mein bhi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Kiran Foods Ltd ke 30 shares intraday (MIS) tag ke saath khareedta hai. Dopahar 1:00 baje bhi shares uske paas hain, aur woh baaki din ke liye app band kar deta hai. Sabse zyada chance kis baat ka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Position agle trading day tak chali jayegi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Shares T+1 par uske demat account mein aa jayenge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Exchange trade cancel karke uska paisa lauta dega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Broker close se pehle unhe square off kar dega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Orders, liquidity aur trade ka asli kharcha</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Stage 1 uses virtual money only. Charge and tax rates are never printed: read your own contract note and ask a CA.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Ek aisa mauka yaad kijiye jab aapne jaldi mein kuch khareed liya, kisi sale mein, station ke stall par ya online, aur baad mein pata chala ki zaroorat se zyada de diya. Jaldi kis baat ki thi? Aaj ke paanch pause sawaalon mein se kaunsa aapko rok leta?</a:t>
            </a:r>
          </a:p>
        </p:txBody>
      </p:sp>
      <p:sp>
        <p:nvSpPr>
          <p:cNvPr id="8" name="Rounded Rectangle 7"/>
          <p:cNvSpPr/>
          <p:nvPr/>
        </p:nvSpPr>
        <p:spPr>
          <a:xfrm>
            <a:off x="6233008" y="1335024"/>
            <a:ext cx="5501488" cy="4008120"/>
          </a:xfrm>
          <a:prstGeom prst="roundRect">
            <a:avLst>
              <a:gd name="adj" fmla="val 3193"/>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683764"/>
            <a:ext cx="4952848" cy="172212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Buy ke har tap ke peeche teen faisle chhupe hote hain: kitni jaldi, kis price par, aur kitne kharche par. Inhe soch-samajhkar, ek-ek order karke lena hi discipline ki shuruaat hai.</a:t>
            </a:r>
          </a:p>
        </p:txBody>
      </p:sp>
      <p:sp>
        <p:nvSpPr>
          <p:cNvPr id="11" name="Rounded Rectangle 10"/>
          <p:cNvSpPr/>
          <p:nvPr/>
        </p:nvSpPr>
        <p:spPr>
          <a:xfrm>
            <a:off x="457200" y="5489448"/>
            <a:ext cx="7119355"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3 · Trader vs gambler: woh maths jo zyadatar beginners skip kar dete hain</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03</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Market kaise chalta hai, aur price ki bhasha</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645920"/>
          </a:xfrm>
          <a:prstGeom prst="rect">
            <a:avLst/>
          </a:prstGeom>
          <a:noFill/>
        </p:spPr>
        <p:txBody>
          <a:bodyPr wrap="square" lIns="0" rIns="0" tIns="0" bIns="0" anchor="t">
            <a:noAutofit/>
          </a:bodyPr>
          <a:lstStyle/>
          <a:p>
            <a:pPr algn="l">
              <a:lnSpc>
                <a:spcPct val="100000"/>
              </a:lnSpc>
            </a:pPr>
            <a:r>
              <a:rPr sz="3500" b="1" i="0">
                <a:solidFill>
                  <a:srgbClr val="18232F"/>
                </a:solidFill>
                <a:latin typeface="Segoe UI"/>
              </a:rPr>
              <a:t>Trader vs gambler: woh maths jo zyadatar beginners skip kar dete hain</a:t>
            </a:r>
          </a:p>
        </p:txBody>
      </p:sp>
      <p:sp>
        <p:nvSpPr>
          <p:cNvPr id="10" name="Rounded Rectangle 9"/>
          <p:cNvSpPr/>
          <p:nvPr/>
        </p:nvSpPr>
        <p:spPr>
          <a:xfrm>
            <a:off x="4572000" y="288950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88950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Expectancy, R-multiple, breakeven win-rate aur drawdown</a:t>
            </a:r>
          </a:p>
        </p:txBody>
      </p:sp>
      <p:sp>
        <p:nvSpPr>
          <p:cNvPr id="12" name="Rounded Rectangle 11"/>
          <p:cNvSpPr/>
          <p:nvPr/>
        </p:nvSpPr>
        <p:spPr>
          <a:xfrm>
            <a:off x="4572000" y="3401568"/>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401568"/>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Streak simulator: luck ka khel sheet par dekhiye</a:t>
            </a:r>
          </a:p>
        </p:txBody>
      </p:sp>
      <p:sp>
        <p:nvSpPr>
          <p:cNvPr id="14" name="Rounded Rectangle 13"/>
          <p:cNvSpPr/>
          <p:nvPr/>
        </p:nvSpPr>
        <p:spPr>
          <a:xfrm>
            <a:off x="4572000" y="3913632"/>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913632"/>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Tips ka lalach</a:t>
            </a:r>
          </a:p>
        </p:txBody>
      </p:sp>
      <p:sp>
        <p:nvSpPr>
          <p:cNvPr id="16" name="TextBox 15"/>
          <p:cNvSpPr txBox="1"/>
          <p:nvPr/>
        </p:nvSpPr>
        <p:spPr>
          <a:xfrm>
            <a:off x="4572000" y="4599432"/>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7" name="TextBox 16"/>
          <p:cNvSpPr txBox="1"/>
          <p:nvPr/>
        </p:nvSpPr>
        <p:spPr>
          <a:xfrm>
            <a:off x="4572000" y="4873752"/>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kisi bhi trade ko R mein naap payenge, kisi method ki expectancy aur breakeven win-rate nikaal payenge, samjha payenge ki losing streak aur drawdown jhelne laayak kyun hone chahiye, aur kisi bhi accuracy claim ke lalach mein aane se pehle us par sawaal utha payenge.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KAHANI</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Aath mein se saat</a:t>
            </a:r>
          </a:p>
        </p:txBody>
      </p:sp>
      <p:sp>
        <p:nvSpPr>
          <p:cNvPr id="4" name="Rounded Rectangle 3"/>
          <p:cNvSpPr/>
          <p:nvPr/>
        </p:nvSpPr>
        <p:spPr>
          <a:xfrm>
            <a:off x="457200" y="1335024"/>
            <a:ext cx="3649370" cy="2066544"/>
          </a:xfrm>
          <a:prstGeom prst="roundRect">
            <a:avLst>
              <a:gd name="adj" fmla="val 619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563624"/>
            <a:ext cx="3247034" cy="1609344"/>
          </a:xfrm>
          <a:prstGeom prst="rect">
            <a:avLst/>
          </a:prstGeom>
          <a:noFill/>
        </p:spPr>
        <p:txBody>
          <a:bodyPr wrap="square" lIns="0" rIns="0" tIns="0" bIns="0" anchor="ctr">
            <a:noAutofit/>
          </a:bodyPr>
          <a:lstStyle/>
          <a:p>
            <a:pPr algn="l">
              <a:lnSpc>
                <a:spcPct val="100000"/>
              </a:lnSpc>
            </a:pPr>
            <a:r>
              <a:rPr sz="1250" b="0" i="1">
                <a:solidFill>
                  <a:srgbClr val="18232F"/>
                </a:solidFill>
                <a:latin typeface="Segoe UI"/>
              </a:rPr>
              <a:t>Tuesday, raat 8 baje. Priya aur mentor ke saath call par Aman bhi judta hai, phone pehle se haath mein.</a:t>
            </a:r>
          </a:p>
        </p:txBody>
      </p:sp>
      <p:sp>
        <p:nvSpPr>
          <p:cNvPr id="7" name="Rounded Rectangle 6"/>
          <p:cNvSpPr/>
          <p:nvPr/>
        </p:nvSpPr>
        <p:spPr>
          <a:xfrm>
            <a:off x="4271162" y="1335024"/>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46304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9" name="TextBox 8"/>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0" name="TextBox 9"/>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03120"/>
            <a:ext cx="3393338" cy="1091184"/>
          </a:xfrm>
          <a:prstGeom prst="wedgeRoundRectCallout">
            <a:avLst>
              <a:gd name="adj1" fmla="val -41915"/>
              <a:gd name="adj2" fmla="val -66759"/>
              <a:gd name="adj3" fmla="val 1005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267712"/>
            <a:ext cx="3137306" cy="798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Pichhle hafte 8 mein se 7 calls ka target hit hua. Roz subah 9:10 par sure-shot calls. Premium join kijiye sirf Rs 4,999 mein. Sirf 20 seats bachi hain.</a:t>
            </a:r>
          </a:p>
        </p:txBody>
      </p:sp>
      <p:sp>
        <p:nvSpPr>
          <p:cNvPr id="13" name="Rounded Rectangle 12"/>
          <p:cNvSpPr/>
          <p:nvPr/>
        </p:nvSpPr>
        <p:spPr>
          <a:xfrm>
            <a:off x="8085125" y="1335024"/>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5" name="TextBox 14"/>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6" name="TextBox 15"/>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03120"/>
            <a:ext cx="3393338" cy="900684"/>
          </a:xfrm>
          <a:prstGeom prst="wedgeRoundRectCallout">
            <a:avLst>
              <a:gd name="adj1" fmla="val -41915"/>
              <a:gd name="adj2" fmla="val -70304"/>
              <a:gd name="adj3" fmla="val 12182"/>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267712"/>
            <a:ext cx="313730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Sir, yeh dekhiye. Aath mein se saat! Bas uski calls copy kar loon, toh Rs 4,999 toh ek hafte mein wapas aa jayenge na?</a:t>
            </a:r>
          </a:p>
        </p:txBody>
      </p:sp>
      <p:sp>
        <p:nvSpPr>
          <p:cNvPr id="19" name="Rounded Rectangle 18"/>
          <p:cNvSpPr/>
          <p:nvPr/>
        </p:nvSpPr>
        <p:spPr>
          <a:xfrm>
            <a:off x="457200"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Oval 19"/>
          <p:cNvSpPr/>
          <p:nvPr/>
        </p:nvSpPr>
        <p:spPr>
          <a:xfrm>
            <a:off x="603504" y="3694176"/>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21" name="TextBox 20"/>
          <p:cNvSpPr txBox="1"/>
          <p:nvPr/>
        </p:nvSpPr>
        <p:spPr>
          <a:xfrm>
            <a:off x="1188720" y="3803904"/>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22" name="TextBox 21"/>
          <p:cNvSpPr txBox="1"/>
          <p:nvPr/>
        </p:nvSpPr>
        <p:spPr>
          <a:xfrm>
            <a:off x="3722522"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23" name="Rounded Rectangular Callout 22"/>
          <p:cNvSpPr/>
          <p:nvPr/>
        </p:nvSpPr>
        <p:spPr>
          <a:xfrm>
            <a:off x="585216" y="4334256"/>
            <a:ext cx="3393338" cy="900684"/>
          </a:xfrm>
          <a:prstGeom prst="wedgeRoundRectCallout">
            <a:avLst>
              <a:gd name="adj1" fmla="val -41915"/>
              <a:gd name="adj2" fmla="val -70304"/>
              <a:gd name="adj3" fmla="val 12182"/>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13232" y="4498848"/>
            <a:ext cx="313730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Aman, aathvi call ka kya hua? Woh yeh bata raha hai ki kitni baar sahi tha, yeh nahi ki galat wali call mein kitna gaya.</a:t>
            </a:r>
          </a:p>
        </p:txBody>
      </p:sp>
      <p:sp>
        <p:nvSpPr>
          <p:cNvPr id="25" name="Rounded Rectangle 24"/>
          <p:cNvSpPr/>
          <p:nvPr/>
        </p:nvSpPr>
        <p:spPr>
          <a:xfrm>
            <a:off x="4271162"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Oval 25"/>
          <p:cNvSpPr/>
          <p:nvPr/>
        </p:nvSpPr>
        <p:spPr>
          <a:xfrm>
            <a:off x="4417466" y="3694176"/>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27" name="TextBox 26"/>
          <p:cNvSpPr txBox="1"/>
          <p:nvPr/>
        </p:nvSpPr>
        <p:spPr>
          <a:xfrm>
            <a:off x="5002682" y="3803904"/>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28" name="TextBox 27"/>
          <p:cNvSpPr txBox="1"/>
          <p:nvPr/>
        </p:nvSpPr>
        <p:spPr>
          <a:xfrm>
            <a:off x="7536485"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29" name="Rounded Rectangular Callout 28"/>
          <p:cNvSpPr/>
          <p:nvPr/>
        </p:nvSpPr>
        <p:spPr>
          <a:xfrm>
            <a:off x="4399178" y="4334256"/>
            <a:ext cx="3393338" cy="1091184"/>
          </a:xfrm>
          <a:prstGeom prst="wedgeRoundRectCallout">
            <a:avLst>
              <a:gd name="adj1" fmla="val -41915"/>
              <a:gd name="adj2" fmla="val -66759"/>
              <a:gd name="adj3" fmla="val 1005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4527194" y="4498848"/>
            <a:ext cx="3137306" cy="798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Achha sawaal hai, Priya. Maan lijiye saaton winning calls ne Rs 1,000-1,000 kamaye, aur ek losing call mein Rs 8,000 gaye. Aman, woh hafta kaisa khatam hua?</a:t>
            </a:r>
          </a:p>
        </p:txBody>
      </p:sp>
      <p:sp>
        <p:nvSpPr>
          <p:cNvPr id="31" name="Rounded Rectangle 30"/>
          <p:cNvSpPr/>
          <p:nvPr/>
        </p:nvSpPr>
        <p:spPr>
          <a:xfrm>
            <a:off x="8085125"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Oval 31"/>
          <p:cNvSpPr/>
          <p:nvPr/>
        </p:nvSpPr>
        <p:spPr>
          <a:xfrm>
            <a:off x="8231429" y="3694176"/>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33" name="TextBox 32"/>
          <p:cNvSpPr txBox="1"/>
          <p:nvPr/>
        </p:nvSpPr>
        <p:spPr>
          <a:xfrm>
            <a:off x="8816645" y="3803904"/>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34" name="TextBox 33"/>
          <p:cNvSpPr txBox="1"/>
          <p:nvPr/>
        </p:nvSpPr>
        <p:spPr>
          <a:xfrm>
            <a:off x="11350447"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35" name="Rounded Rectangular Callout 34"/>
          <p:cNvSpPr/>
          <p:nvPr/>
        </p:nvSpPr>
        <p:spPr>
          <a:xfrm>
            <a:off x="8213141" y="4334256"/>
            <a:ext cx="3393338" cy="900684"/>
          </a:xfrm>
          <a:prstGeom prst="wedgeRoundRectCallout">
            <a:avLst>
              <a:gd name="adj1" fmla="val -41915"/>
              <a:gd name="adj2" fmla="val -70304"/>
              <a:gd name="adj3" fmla="val 12182"/>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TextBox 35"/>
          <p:cNvSpPr txBox="1"/>
          <p:nvPr/>
        </p:nvSpPr>
        <p:spPr>
          <a:xfrm>
            <a:off x="8341157" y="4498848"/>
            <a:ext cx="313730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Saat hazaar aaye, aath hazaar gaye... Saat jeet ke baad bhi main Rs 1,000 minus mein hoon. Upar se fees alag.</a:t>
            </a:r>
          </a:p>
        </p:txBody>
      </p:sp>
      <p:sp>
        <p:nvSpPr>
          <p:cNvPr id="37" name="Rounded Rectangle 3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ounded Rectangle 37"/>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39" name="TextBox 38"/>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'Kitni baar' sirf aadhi kahani hai. Kisi bhi win-rate par bharosa karne se pehle poochhiye: 'kitna'?</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Trader ya gambler: fark maths ka hai</a:t>
            </a:r>
          </a:p>
        </p:txBody>
      </p:sp>
      <p:sp>
        <p:nvSpPr>
          <p:cNvPr id="4" name="TextBox 3"/>
          <p:cNvSpPr txBox="1"/>
          <p:nvPr/>
        </p:nvSpPr>
        <p:spPr>
          <a:xfrm>
            <a:off x="457200" y="1335024"/>
            <a:ext cx="5519776" cy="24434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Trader aur gambler, dono aise nateeje par paisa lagate hain jo pehle se kisi ko pata nahi hota; fark sirf maths ka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Gambler feeling par daav lagata hai, aur use kabhi pata nahi hota ki ek average daav mein kitna aata ya jaata hai.</a:t>
            </a:r>
          </a:p>
          <a:p>
            <a:pPr algn="l" marL="274320" indent="-274320">
              <a:lnSpc>
                <a:spcPct val="100000"/>
              </a:lnSpc>
              <a:buClr>
                <a:srgbClr val="00AEEF"/>
              </a:buClr>
              <a:buFont typeface="Arial"/>
              <a:buChar char="•"/>
            </a:pPr>
            <a:r>
              <a:rPr sz="1600" b="0" i="0">
                <a:solidFill>
                  <a:srgbClr val="18232F"/>
                </a:solidFill>
                <a:latin typeface="Segoe UI"/>
              </a:rPr>
              <a:t>Trader likhe hue rules follow karta hai, har jeet aur haar record karta hai, aur har loss itna chhota rakhta hai ki agle trade ke liye capital bacha rahe.</a:t>
            </a:r>
          </a:p>
        </p:txBody>
      </p:sp>
      <p:sp>
        <p:nvSpPr>
          <p:cNvPr id="5" name="Rounded Rectangle 4"/>
          <p:cNvSpPr/>
          <p:nvPr/>
        </p:nvSpPr>
        <p:spPr>
          <a:xfrm>
            <a:off x="457200" y="3933952"/>
            <a:ext cx="5519776" cy="1680464"/>
          </a:xfrm>
          <a:prstGeom prst="roundRect">
            <a:avLst>
              <a:gd name="adj" fmla="val 652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619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318000"/>
            <a:ext cx="5154016" cy="12232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Ghar par taash ki baazi sochiye. Ramesh uncle 10 mein se 6 baazi jeet jaate hain aur sabko bata dete hain ki woh form mein hain. Lekin unki jeet chhoti hoti hai, lagbhag Rs 200 ek baazi, kyunki thoda aage hote hi chhoti jeet le kar baazi khatam kar dete hain; aur haar badi, lagbhag Rs 500 ek baazi, kyunki kamzor patton par bhi chaal badhate rehte hain. … Ek trader pehli hi raat numbers likh leta, aur problem use turant dikh jaati.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Uncertainty ek, tareeke do</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Market dono ke liye ek hi hai. Khel ke numbers sirf ek ko pata hain.</a:t>
            </a:r>
          </a:p>
        </p:txBody>
      </p:sp>
      <p:sp>
        <p:nvSpPr>
          <p:cNvPr id="11" name="Rounded Rectangle 10"/>
          <p:cNvSpPr/>
          <p:nvPr/>
        </p:nvSpPr>
        <p:spPr>
          <a:xfrm>
            <a:off x="6397600" y="197548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97548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20713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975485"/>
            <a:ext cx="2494712" cy="308076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97548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Gambler</a:t>
            </a:r>
          </a:p>
        </p:txBody>
      </p:sp>
      <p:cxnSp>
        <p:nvCxnSpPr>
          <p:cNvPr id="16" name="Connector 15"/>
          <p:cNvCxnSpPr/>
          <p:nvPr/>
        </p:nvCxnSpPr>
        <p:spPr>
          <a:xfrm>
            <a:off x="6397600" y="2438781"/>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58508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Feeling ya tip par daav</a:t>
            </a:r>
          </a:p>
          <a:p>
            <a:pPr algn="l" marL="201168" indent="-201168">
              <a:lnSpc>
                <a:spcPct val="100000"/>
              </a:lnSpc>
              <a:spcAft>
                <a:spcPts val="750"/>
              </a:spcAft>
              <a:buClr>
                <a:srgbClr val="F0554E"/>
              </a:buClr>
              <a:buFont typeface="Arial"/>
              <a:buChar char="•"/>
            </a:pPr>
            <a:r>
              <a:rPr sz="1500" b="0" i="0">
                <a:solidFill>
                  <a:srgbClr val="18232F"/>
                </a:solidFill>
                <a:latin typeface="Segoe UI"/>
              </a:rPr>
              <a:t>Sirf jeet yaad rakhta hai</a:t>
            </a:r>
          </a:p>
          <a:p>
            <a:pPr algn="l" marL="201168" indent="-201168">
              <a:lnSpc>
                <a:spcPct val="100000"/>
              </a:lnSpc>
              <a:spcAft>
                <a:spcPts val="750"/>
              </a:spcAft>
              <a:buClr>
                <a:srgbClr val="F0554E"/>
              </a:buClr>
              <a:buFont typeface="Arial"/>
              <a:buChar char="•"/>
            </a:pPr>
            <a:r>
              <a:rPr sz="1500" b="0" i="0">
                <a:solidFill>
                  <a:srgbClr val="18232F"/>
                </a:solidFill>
                <a:latin typeface="Segoe UI"/>
              </a:rPr>
              <a:t>Daav ka size mood ke saath badalta hai</a:t>
            </a:r>
          </a:p>
          <a:p>
            <a:pPr algn="l" marL="201168" indent="-201168">
              <a:lnSpc>
                <a:spcPct val="100000"/>
              </a:lnSpc>
              <a:buClr>
                <a:srgbClr val="F0554E"/>
              </a:buClr>
              <a:buFont typeface="Arial"/>
              <a:buChar char="•"/>
            </a:pPr>
            <a:r>
              <a:rPr sz="1500" b="0" i="0">
                <a:solidFill>
                  <a:srgbClr val="18232F"/>
                </a:solidFill>
                <a:latin typeface="Segoe UI"/>
              </a:rPr>
              <a:t>Ek buri raat sab khatam kar sakti hai</a:t>
            </a:r>
          </a:p>
        </p:txBody>
      </p:sp>
      <p:sp>
        <p:nvSpPr>
          <p:cNvPr id="18" name="Rounded Rectangle 17"/>
          <p:cNvSpPr/>
          <p:nvPr/>
        </p:nvSpPr>
        <p:spPr>
          <a:xfrm>
            <a:off x="9056903" y="197548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97548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20713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975485"/>
            <a:ext cx="2494712" cy="308076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97548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Trader</a:t>
            </a:r>
          </a:p>
        </p:txBody>
      </p:sp>
      <p:cxnSp>
        <p:nvCxnSpPr>
          <p:cNvPr id="23" name="Connector 22"/>
          <p:cNvCxnSpPr/>
          <p:nvPr/>
        </p:nvCxnSpPr>
        <p:spPr>
          <a:xfrm>
            <a:off x="9056903" y="2438781"/>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58508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Likhe hue rules follow karta hai</a:t>
            </a:r>
          </a:p>
          <a:p>
            <a:pPr algn="l" marL="201168" indent="-201168">
              <a:lnSpc>
                <a:spcPct val="100000"/>
              </a:lnSpc>
              <a:spcAft>
                <a:spcPts val="750"/>
              </a:spcAft>
              <a:buClr>
                <a:srgbClr val="16A34A"/>
              </a:buClr>
              <a:buFont typeface="Arial"/>
              <a:buChar char="•"/>
            </a:pPr>
            <a:r>
              <a:rPr sz="1500" b="0" i="0">
                <a:solidFill>
                  <a:srgbClr val="18232F"/>
                </a:solidFill>
                <a:latin typeface="Segoe UI"/>
              </a:rPr>
              <a:t>Har jeet aur haar record karta hai</a:t>
            </a:r>
          </a:p>
          <a:p>
            <a:pPr algn="l" marL="201168" indent="-201168">
              <a:lnSpc>
                <a:spcPct val="100000"/>
              </a:lnSpc>
              <a:spcAft>
                <a:spcPts val="750"/>
              </a:spcAft>
              <a:buClr>
                <a:srgbClr val="16A34A"/>
              </a:buClr>
              <a:buFont typeface="Arial"/>
              <a:buChar char="•"/>
            </a:pPr>
            <a:r>
              <a:rPr sz="1500" b="0" i="0">
                <a:solidFill>
                  <a:srgbClr val="18232F"/>
                </a:solidFill>
                <a:latin typeface="Segoe UI"/>
              </a:rPr>
              <a:t>Har loss chhota rakhta hai</a:t>
            </a:r>
          </a:p>
          <a:p>
            <a:pPr algn="l" marL="201168" indent="-201168">
              <a:lnSpc>
                <a:spcPct val="100000"/>
              </a:lnSpc>
              <a:buClr>
                <a:srgbClr val="16A34A"/>
              </a:buClr>
              <a:buFont typeface="Arial"/>
              <a:buChar char="•"/>
            </a:pPr>
            <a:r>
              <a:rPr sz="1500" b="0" i="0">
                <a:solidFill>
                  <a:srgbClr val="18232F"/>
                </a:solidFill>
                <a:latin typeface="Segoe UI"/>
              </a:rPr>
              <a:t>30+ trades ke baad judge karta hai</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Gambler sirf jeet ginta hai. Trader jeet, haar aur dono ka size ginta hai.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 har trade ke liye ek hi scale</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Trade se pehle trader tay kar leta hai ki kis price par uska idea galat saabit hoga, aur wahan stop-loss laga deta hai (Day 2).</a:t>
            </a:r>
          </a:p>
          <a:p>
            <a:pPr algn="l" marL="274320" indent="-274320">
              <a:lnSpc>
                <a:spcPct val="100000"/>
              </a:lnSpc>
              <a:spcAft>
                <a:spcPts val="800"/>
              </a:spcAft>
              <a:buClr>
                <a:srgbClr val="00AEEF"/>
              </a:buClr>
              <a:buFont typeface="Arial"/>
              <a:buChar char="•"/>
            </a:pPr>
            <a:r>
              <a:rPr sz="1600" b="0" i="0">
                <a:solidFill>
                  <a:srgbClr val="18232F"/>
                </a:solidFill>
                <a:latin typeface="Segoe UI"/>
              </a:rPr>
              <a:t>Woh stop hit ho jaye toh jitna paisa jayega, wahi aapka planned risk hai, jise 1R kehte hain: stop tak ki doori x shares ki ginti.</a:t>
            </a:r>
          </a:p>
          <a:p>
            <a:pPr algn="l" marL="274320" indent="-274320">
              <a:lnSpc>
                <a:spcPct val="100000"/>
              </a:lnSpc>
              <a:buClr>
                <a:srgbClr val="00AEEF"/>
              </a:buClr>
              <a:buFont typeface="Arial"/>
              <a:buChar char="•"/>
            </a:pPr>
            <a:r>
              <a:rPr sz="1600" b="0" i="0">
                <a:solidFill>
                  <a:srgbClr val="18232F"/>
                </a:solidFill>
                <a:latin typeface="Segoe UI"/>
              </a:rPr>
              <a:t>Phir har result R mein gina jaata hai: planned risk ka do guna profit hua toh +2R, aur stop hit hua toh -1R.</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ek practice example dekhti hai: Gupta Cement Ltd ke 40 shares Rs 500 par, stop Rs 490 par. Planned risk = Rs 10 x 40 = Rs 400, yaani 1R = Rs 400. Agar woh Rs 520 par exit kare, toh Rs 20 x 40 = Rs 800 ka profit, yaani +2R. Rs 505 par exit se Rs 200 milte hain, yaani +0.5R, aur stop hit hua toh Rs 400 jaate hain, yaani -1R. Lekin agar kisi buri khabar se share seedha Rs 484 par khule, stop se neeche, toh loss Rs 16 x 40 = Rs 640 hoga, yaani -1.6R. Stop aapka planned exit hai; exit price ka vada nahi karta.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Chart par R ka scale</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Entry Rs 500, stop Rs 490, 40 shares, toh 1R = Rs 400. Rs 520 par exit se Rs 800 bane: +2R. Rs 493 tak ki girawat stop ke upar hi rahi.</a:t>
            </a:r>
          </a:p>
        </p:txBody>
      </p:sp>
      <p:cxnSp>
        <p:nvCxnSpPr>
          <p:cNvPr id="12" name="Connector 11"/>
          <p:cNvCxnSpPr/>
          <p:nvPr/>
        </p:nvCxnSpPr>
        <p:spPr>
          <a:xfrm>
            <a:off x="6812159" y="4983480"/>
            <a:ext cx="405494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901184"/>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487.4</a:t>
            </a:r>
          </a:p>
        </p:txBody>
      </p:sp>
      <p:cxnSp>
        <p:nvCxnSpPr>
          <p:cNvPr id="14" name="Connector 13"/>
          <p:cNvCxnSpPr/>
          <p:nvPr/>
        </p:nvCxnSpPr>
        <p:spPr>
          <a:xfrm>
            <a:off x="6812159" y="4052316"/>
            <a:ext cx="405494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970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499.8</a:t>
            </a:r>
          </a:p>
        </p:txBody>
      </p:sp>
      <p:cxnSp>
        <p:nvCxnSpPr>
          <p:cNvPr id="16" name="Connector 15"/>
          <p:cNvCxnSpPr/>
          <p:nvPr/>
        </p:nvCxnSpPr>
        <p:spPr>
          <a:xfrm>
            <a:off x="6812159" y="3121152"/>
            <a:ext cx="405494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303885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512.2</a:t>
            </a:r>
          </a:p>
        </p:txBody>
      </p:sp>
      <p:cxnSp>
        <p:nvCxnSpPr>
          <p:cNvPr id="18" name="Connector 17"/>
          <p:cNvCxnSpPr/>
          <p:nvPr/>
        </p:nvCxnSpPr>
        <p:spPr>
          <a:xfrm>
            <a:off x="6812159" y="2189988"/>
            <a:ext cx="405494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524.6</a:t>
            </a:r>
          </a:p>
        </p:txBody>
      </p:sp>
      <p:cxnSp>
        <p:nvCxnSpPr>
          <p:cNvPr id="20" name="Connector 19"/>
          <p:cNvCxnSpPr/>
          <p:nvPr/>
        </p:nvCxnSpPr>
        <p:spPr>
          <a:xfrm>
            <a:off x="6812159" y="2533154"/>
            <a:ext cx="4091520"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940255" y="2441714"/>
            <a:ext cx="611360"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+2R</a:t>
            </a:r>
          </a:p>
        </p:txBody>
      </p:sp>
      <p:cxnSp>
        <p:nvCxnSpPr>
          <p:cNvPr id="22" name="Connector 21"/>
          <p:cNvCxnSpPr/>
          <p:nvPr/>
        </p:nvCxnSpPr>
        <p:spPr>
          <a:xfrm>
            <a:off x="6812159" y="3285711"/>
            <a:ext cx="4091520" cy="0"/>
          </a:xfrm>
          <a:prstGeom prst="line">
            <a:avLst/>
          </a:prstGeom>
          <a:ln w="19050">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940255" y="3194271"/>
            <a:ext cx="611360" cy="182880"/>
          </a:xfrm>
          <a:prstGeom prst="rect">
            <a:avLst/>
          </a:prstGeom>
          <a:noFill/>
        </p:spPr>
        <p:txBody>
          <a:bodyPr wrap="square" lIns="0" rIns="0" tIns="0" bIns="0" anchor="ctr">
            <a:noAutofit/>
          </a:bodyPr>
          <a:lstStyle/>
          <a:p>
            <a:pPr algn="l">
              <a:lnSpc>
                <a:spcPct val="100000"/>
              </a:lnSpc>
            </a:pPr>
            <a:r>
              <a:rPr sz="1000" b="1" i="0">
                <a:solidFill>
                  <a:srgbClr val="47596B"/>
                </a:solidFill>
                <a:latin typeface="Segoe UI"/>
              </a:rPr>
              <a:t>+1R</a:t>
            </a:r>
          </a:p>
        </p:txBody>
      </p:sp>
      <p:cxnSp>
        <p:nvCxnSpPr>
          <p:cNvPr id="24" name="Connector 23"/>
          <p:cNvCxnSpPr/>
          <p:nvPr/>
        </p:nvCxnSpPr>
        <p:spPr>
          <a:xfrm>
            <a:off x="6812159" y="4038268"/>
            <a:ext cx="4091520" cy="0"/>
          </a:xfrm>
          <a:prstGeom prst="line">
            <a:avLst/>
          </a:prstGeom>
          <a:ln w="19050">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940255" y="3946828"/>
            <a:ext cx="611360"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a:t>
            </a:r>
          </a:p>
        </p:txBody>
      </p:sp>
      <p:cxnSp>
        <p:nvCxnSpPr>
          <p:cNvPr id="26" name="Connector 25"/>
          <p:cNvCxnSpPr/>
          <p:nvPr/>
        </p:nvCxnSpPr>
        <p:spPr>
          <a:xfrm>
            <a:off x="6812159" y="4790825"/>
            <a:ext cx="4091520"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940255" y="4699385"/>
            <a:ext cx="611360"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-1R</a:t>
            </a:r>
          </a:p>
        </p:txBody>
      </p:sp>
      <p:cxnSp>
        <p:nvCxnSpPr>
          <p:cNvPr id="28" name="Connector 27"/>
          <p:cNvCxnSpPr/>
          <p:nvPr/>
        </p:nvCxnSpPr>
        <p:spPr>
          <a:xfrm>
            <a:off x="6996475" y="4038268"/>
            <a:ext cx="0" cy="3762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885886" y="4113524"/>
            <a:ext cx="221179" cy="15051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365106" y="3887757"/>
            <a:ext cx="0" cy="37627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254517" y="4038268"/>
            <a:ext cx="221179" cy="7525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733738" y="3963013"/>
            <a:ext cx="0" cy="45153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623148" y="4038268"/>
            <a:ext cx="221179" cy="30102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102369" y="4188780"/>
            <a:ext cx="0" cy="37627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991779" y="4264035"/>
            <a:ext cx="221179" cy="7525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471000" y="3812501"/>
            <a:ext cx="0" cy="5267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360411" y="3887757"/>
            <a:ext cx="221179" cy="3762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8839631" y="3511478"/>
            <a:ext cx="0" cy="45153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729042" y="3586734"/>
            <a:ext cx="221179" cy="3010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9208263" y="3210455"/>
            <a:ext cx="0" cy="5267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097673" y="3285711"/>
            <a:ext cx="221179" cy="3010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9576894" y="3135200"/>
            <a:ext cx="0" cy="45153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466305" y="3285711"/>
            <a:ext cx="221179" cy="150511"/>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9945525" y="2909433"/>
            <a:ext cx="0" cy="60204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834936" y="2984688"/>
            <a:ext cx="221179" cy="45153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10314157" y="2608410"/>
            <a:ext cx="0" cy="45153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0203567" y="2683665"/>
            <a:ext cx="221179" cy="3010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10682788" y="2382643"/>
            <a:ext cx="0" cy="45153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0572198" y="2533154"/>
            <a:ext cx="221179" cy="15051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Isosceles Triangle 49"/>
          <p:cNvSpPr/>
          <p:nvPr/>
        </p:nvSpPr>
        <p:spPr>
          <a:xfrm rot="10800000">
            <a:off x="10627924" y="2245483"/>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1" name="TextBox 50"/>
          <p:cNvSpPr txBox="1"/>
          <p:nvPr/>
        </p:nvSpPr>
        <p:spPr>
          <a:xfrm>
            <a:off x="10403590" y="2035171"/>
            <a:ext cx="558395"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Exit +2R</a:t>
            </a:r>
          </a:p>
        </p:txBody>
      </p:sp>
      <p:sp>
        <p:nvSpPr>
          <p:cNvPr id="52" name="Rounded Rectangle 5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Rounded Rectangle 5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54" name="TextBox 5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1R = stop hit hone par jitne rupaye jaayenge: stop tak ki doori x quantity.</a:t>
            </a:r>
          </a:p>
        </p:txBody>
      </p:sp>
      <p:pic>
        <p:nvPicPr>
          <p:cNvPr id="55" name="Picture 54" descr="logo.png"/>
          <p:cNvPicPr>
            <a:picLocks noChangeAspect="1"/>
          </p:cNvPicPr>
          <p:nvPr/>
        </p:nvPicPr>
        <p:blipFill>
          <a:blip r:embed="rId2"/>
          <a:stretch>
            <a:fillRect/>
          </a:stretch>
        </p:blipFill>
        <p:spPr>
          <a:xfrm>
            <a:off x="457200" y="6437376"/>
            <a:ext cx="237744" cy="237744"/>
          </a:xfrm>
          <a:prstGeom prst="rect">
            <a:avLst/>
          </a:prstGeom>
        </p:spPr>
      </p:pic>
      <p:sp>
        <p:nvSpPr>
          <p:cNvPr id="5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7" name="TextBox 5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Expectancy: ek trade average mein kitne ka hai</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Win-rate ka matlab hai aap kitni baar jeette hain.</a:t>
            </a:r>
          </a:p>
          <a:p>
            <a:pPr algn="l" marL="274320" indent="-274320">
              <a:lnSpc>
                <a:spcPct val="100000"/>
              </a:lnSpc>
              <a:spcAft>
                <a:spcPts val="800"/>
              </a:spcAft>
              <a:buClr>
                <a:srgbClr val="00AEEF"/>
              </a:buClr>
              <a:buFont typeface="Arial"/>
              <a:buChar char="•"/>
            </a:pPr>
            <a:r>
              <a:rPr sz="1600" b="0" i="0">
                <a:solidFill>
                  <a:srgbClr val="18232F"/>
                </a:solidFill>
                <a:latin typeface="Segoe UI"/>
              </a:rPr>
              <a:t>Payoff ka matlab hai aapki average jeet aapki average haar ke muqable kitni badi hai, jaise +1.5R ke saamne -1R.</a:t>
            </a:r>
          </a:p>
          <a:p>
            <a:pPr algn="l" marL="274320" indent="-274320">
              <a:lnSpc>
                <a:spcPct val="100000"/>
              </a:lnSpc>
              <a:spcAft>
                <a:spcPts val="800"/>
              </a:spcAft>
              <a:buClr>
                <a:srgbClr val="00AEEF"/>
              </a:buClr>
              <a:buFont typeface="Arial"/>
              <a:buChar char="•"/>
            </a:pPr>
            <a:r>
              <a:rPr sz="1600" b="0" i="0">
                <a:solidFill>
                  <a:srgbClr val="18232F"/>
                </a:solidFill>
                <a:latin typeface="Segoe UI"/>
              </a:rPr>
              <a:t>Expectancy in dono ko jod kar ek number bana deti hai, yaani bahut saare trades par ek trade ka average result.</a:t>
            </a:r>
          </a:p>
          <a:p>
            <a:pPr algn="l" marL="274320" indent="-274320">
              <a:lnSpc>
                <a:spcPct val="100000"/>
              </a:lnSpc>
              <a:buClr>
                <a:srgbClr val="00AEEF"/>
              </a:buClr>
              <a:buFont typeface="Arial"/>
              <a:buChar char="•"/>
            </a:pPr>
            <a:r>
              <a:rPr sz="1600" b="0" i="0">
                <a:solidFill>
                  <a:srgbClr val="18232F"/>
                </a:solidFill>
                <a:latin typeface="Segoe UI"/>
              </a:rPr>
              <a:t>Costs ke baad bhi expectancy positive ho, toh traders use edge kehte hain.</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Ek rule ko pichhle 100 trades par test kiya gaya: 55 winners, average +1.5R, aur 45 losers, har ek -1R. Jeet se 55 x 1.5 = 82.5R jude aur haar se 45R ghat gaye. Maan lijiye costs har trade par lagbhag 0.1R hain, yaani kul 10R aur. Bache 27.5R, 100 trades par, yaani average mein har trade +0.275R. Chai ki tapri sochiye: ek cup ka margin kuch nahi batata, lekin mahine bhar ke cups ka hisaab, kettle toot jaane wale din ka kharcha ghata kar, batata hai ki tapri chal rahi hai ya nahi.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100 trades par ek rule ki expectancy</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Illustrative numbers hain. Asli costs apne contract note se lijiye.</a:t>
            </a:r>
          </a:p>
        </p:txBody>
      </p:sp>
      <p:sp>
        <p:nvSpPr>
          <p:cNvPr id="11" name="TextBox 10"/>
          <p:cNvSpPr txBox="1"/>
          <p:nvPr/>
        </p:nvSpPr>
        <p:spPr>
          <a:xfrm>
            <a:off x="6397600" y="1805940"/>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777836"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55 jeet x 1.5R</a:t>
            </a:r>
          </a:p>
        </p:txBody>
      </p:sp>
      <p:sp>
        <p:nvSpPr>
          <p:cNvPr id="13" name="TextBox 12"/>
          <p:cNvSpPr txBox="1"/>
          <p:nvPr/>
        </p:nvSpPr>
        <p:spPr>
          <a:xfrm>
            <a:off x="10541195" y="1805940"/>
            <a:ext cx="937268"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82.5R</a:t>
            </a:r>
          </a:p>
        </p:txBody>
      </p:sp>
      <p:cxnSp>
        <p:nvCxnSpPr>
          <p:cNvPr id="14" name="Connector 13"/>
          <p:cNvCxnSpPr/>
          <p:nvPr/>
        </p:nvCxnSpPr>
        <p:spPr>
          <a:xfrm>
            <a:off x="6397600" y="236677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66772"/>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366772"/>
            <a:ext cx="3777836"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45 haar x 1R</a:t>
            </a:r>
          </a:p>
        </p:txBody>
      </p:sp>
      <p:sp>
        <p:nvSpPr>
          <p:cNvPr id="17" name="TextBox 16"/>
          <p:cNvSpPr txBox="1"/>
          <p:nvPr/>
        </p:nvSpPr>
        <p:spPr>
          <a:xfrm>
            <a:off x="10541195" y="2366772"/>
            <a:ext cx="937268"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45R</a:t>
            </a:r>
          </a:p>
        </p:txBody>
      </p:sp>
      <p:cxnSp>
        <p:nvCxnSpPr>
          <p:cNvPr id="18" name="Connector 17"/>
          <p:cNvCxnSpPr/>
          <p:nvPr/>
        </p:nvCxnSpPr>
        <p:spPr>
          <a:xfrm>
            <a:off x="6397600" y="292760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927604"/>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927604"/>
            <a:ext cx="3777836"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Costs: 100 trades x 0.1R</a:t>
            </a:r>
          </a:p>
        </p:txBody>
      </p:sp>
      <p:sp>
        <p:nvSpPr>
          <p:cNvPr id="21" name="TextBox 20"/>
          <p:cNvSpPr txBox="1"/>
          <p:nvPr/>
        </p:nvSpPr>
        <p:spPr>
          <a:xfrm>
            <a:off x="10541195" y="2927604"/>
            <a:ext cx="937268"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10R</a:t>
            </a:r>
          </a:p>
        </p:txBody>
      </p:sp>
      <p:cxnSp>
        <p:nvCxnSpPr>
          <p:cNvPr id="22" name="Connector 21"/>
          <p:cNvCxnSpPr/>
          <p:nvPr/>
        </p:nvCxnSpPr>
        <p:spPr>
          <a:xfrm>
            <a:off x="6397600" y="348843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488436"/>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488436"/>
            <a:ext cx="3777836"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100 trades ka net</a:t>
            </a:r>
          </a:p>
        </p:txBody>
      </p:sp>
      <p:sp>
        <p:nvSpPr>
          <p:cNvPr id="25" name="TextBox 24"/>
          <p:cNvSpPr txBox="1"/>
          <p:nvPr/>
        </p:nvSpPr>
        <p:spPr>
          <a:xfrm>
            <a:off x="10541195" y="3488436"/>
            <a:ext cx="937268"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27.5R</a:t>
            </a:r>
          </a:p>
        </p:txBody>
      </p:sp>
      <p:cxnSp>
        <p:nvCxnSpPr>
          <p:cNvPr id="26" name="Connector 25"/>
          <p:cNvCxnSpPr/>
          <p:nvPr/>
        </p:nvCxnSpPr>
        <p:spPr>
          <a:xfrm>
            <a:off x="6397600" y="404926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4049268"/>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049268"/>
            <a:ext cx="3777836"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Trades ki ginti</a:t>
            </a:r>
          </a:p>
        </p:txBody>
      </p:sp>
      <p:sp>
        <p:nvSpPr>
          <p:cNvPr id="29" name="TextBox 28"/>
          <p:cNvSpPr txBox="1"/>
          <p:nvPr/>
        </p:nvSpPr>
        <p:spPr>
          <a:xfrm>
            <a:off x="10541195" y="4049268"/>
            <a:ext cx="937268"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100</a:t>
            </a:r>
          </a:p>
        </p:txBody>
      </p:sp>
      <p:sp>
        <p:nvSpPr>
          <p:cNvPr id="30" name="Rounded Rectangle 29"/>
          <p:cNvSpPr/>
          <p:nvPr/>
        </p:nvSpPr>
        <p:spPr>
          <a:xfrm>
            <a:off x="6397600" y="4664964"/>
            <a:ext cx="5154016" cy="560832"/>
          </a:xfrm>
          <a:prstGeom prst="roundRect">
            <a:avLst>
              <a:gd name="adj" fmla="val 13043"/>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664964"/>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664964"/>
            <a:ext cx="3777836" cy="56083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Har trade ki expectancy</a:t>
            </a:r>
          </a:p>
        </p:txBody>
      </p:sp>
      <p:sp>
        <p:nvSpPr>
          <p:cNvPr id="33" name="TextBox 32"/>
          <p:cNvSpPr txBox="1"/>
          <p:nvPr/>
        </p:nvSpPr>
        <p:spPr>
          <a:xfrm>
            <a:off x="10541195" y="4664964"/>
            <a:ext cx="937268" cy="56083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+0.275R</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6" name="TextBox 3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Edge = costs ke baad, bahut saare trades par positive expectancy. Na koi feeling, na ek achha hafta.</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Breakeven win-rate: har accuracy claim ko parakhne ka tareeka</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Breakeven ka matlab hai na profit, na loss.</a:t>
            </a:r>
          </a:p>
          <a:p>
            <a:pPr algn="l" marL="274320" indent="-274320">
              <a:lnSpc>
                <a:spcPct val="100000"/>
              </a:lnSpc>
              <a:spcAft>
                <a:spcPts val="800"/>
              </a:spcAft>
              <a:buClr>
                <a:srgbClr val="00AEEF"/>
              </a:buClr>
              <a:buFont typeface="Arial"/>
              <a:buChar char="•"/>
            </a:pPr>
            <a:r>
              <a:rPr sz="1600" b="0" i="0">
                <a:solidFill>
                  <a:srgbClr val="18232F"/>
                </a:solidFill>
                <a:latin typeface="Segoe UI"/>
              </a:rPr>
              <a:t>Har payoff mein breakeven tak pahunchne ke liye ek minimum win-rate chahiye.</a:t>
            </a:r>
          </a:p>
          <a:p>
            <a:pPr algn="l" marL="274320" indent="-274320">
              <a:lnSpc>
                <a:spcPct val="100000"/>
              </a:lnSpc>
              <a:spcAft>
                <a:spcPts val="800"/>
              </a:spcAft>
              <a:buClr>
                <a:srgbClr val="00AEEF"/>
              </a:buClr>
              <a:buFont typeface="Arial"/>
              <a:buChar char="•"/>
            </a:pPr>
            <a:r>
              <a:rPr sz="1600" b="0" i="0">
                <a:solidFill>
                  <a:srgbClr val="18232F"/>
                </a:solidFill>
                <a:latin typeface="Segoe UI"/>
              </a:rPr>
              <a:t>Usse neeche method costs se pehle hi paisa ganwata hai.</a:t>
            </a:r>
          </a:p>
          <a:p>
            <a:pPr algn="l" marL="274320" indent="-274320">
              <a:lnSpc>
                <a:spcPct val="100000"/>
              </a:lnSpc>
              <a:buClr>
                <a:srgbClr val="00AEEF"/>
              </a:buClr>
              <a:buFont typeface="Arial"/>
              <a:buChar char="•"/>
            </a:pPr>
            <a:r>
              <a:rPr sz="1600" b="0" i="0">
                <a:solidFill>
                  <a:srgbClr val="18232F"/>
                </a:solidFill>
                <a:latin typeface="Segoe UI"/>
              </a:rPr>
              <a:t>Payoff hum risk : reward ki tarah likhte hain, toh 1:2 ka matlab hai 1R ki average haar ke saamne 2R ki average jeet.</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Ek channel shaan se kehta hai: '10 mein se 8 calls sahi'. Uske winners jaldi book ho jaate hain, lagbhag +0.2R par, lekin losers -1R tak chale jaate hain. 1:0.2 ka breakeven 1 ÷ 1.2 hai, lagbhag 83%, isliye 80% accuracy ke bawajood paisa jaata hai: 0.8 x 0.2 - 0.2 x 1 = har trade -0.04R, costs se pehle. Priya ka plan 10 mein se sirf 4 trade jeetta hai, lekin uski average jeet +2R hai. 1:2 ka breakeven 33% hai, aur uski expectancy 0.4 x 2 - 0.6 x 1 = har trade +0.2R.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Breakeven ke liye zaroori win-rate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Labels risk : reward hain. Yeh costs se pehle ke numbers hain; costs jodne par har number thoda aur badh jaata hai.</a:t>
            </a:r>
          </a:p>
        </p:txBody>
      </p:sp>
      <p:sp>
        <p:nvSpPr>
          <p:cNvPr id="11" name="TextBox 10"/>
          <p:cNvSpPr txBox="1"/>
          <p:nvPr/>
        </p:nvSpPr>
        <p:spPr>
          <a:xfrm>
            <a:off x="6397600" y="1796796"/>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0.2</a:t>
            </a:r>
          </a:p>
        </p:txBody>
      </p:sp>
      <p:sp>
        <p:nvSpPr>
          <p:cNvPr id="12" name="Rounded Rectangle 11"/>
          <p:cNvSpPr/>
          <p:nvPr/>
        </p:nvSpPr>
        <p:spPr>
          <a:xfrm>
            <a:off x="7604608" y="1933384"/>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33384"/>
            <a:ext cx="3374578" cy="273177"/>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070626" y="1796796"/>
            <a:ext cx="508421" cy="54635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83%</a:t>
            </a:r>
          </a:p>
        </p:txBody>
      </p:sp>
      <p:sp>
        <p:nvSpPr>
          <p:cNvPr id="15" name="TextBox 14"/>
          <p:cNvSpPr txBox="1"/>
          <p:nvPr/>
        </p:nvSpPr>
        <p:spPr>
          <a:xfrm>
            <a:off x="6397600" y="2343150"/>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0.5</a:t>
            </a:r>
          </a:p>
        </p:txBody>
      </p:sp>
      <p:sp>
        <p:nvSpPr>
          <p:cNvPr id="16" name="Rounded Rectangle 15"/>
          <p:cNvSpPr/>
          <p:nvPr/>
        </p:nvSpPr>
        <p:spPr>
          <a:xfrm>
            <a:off x="7604608" y="2479738"/>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479738"/>
            <a:ext cx="2702093" cy="273177"/>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070626" y="2343150"/>
            <a:ext cx="508421" cy="54635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67%</a:t>
            </a:r>
          </a:p>
        </p:txBody>
      </p:sp>
      <p:sp>
        <p:nvSpPr>
          <p:cNvPr id="19" name="TextBox 18"/>
          <p:cNvSpPr txBox="1"/>
          <p:nvPr/>
        </p:nvSpPr>
        <p:spPr>
          <a:xfrm>
            <a:off x="6397600" y="2889504"/>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1</a:t>
            </a:r>
          </a:p>
        </p:txBody>
      </p:sp>
      <p:sp>
        <p:nvSpPr>
          <p:cNvPr id="20" name="Rounded Rectangle 19"/>
          <p:cNvSpPr/>
          <p:nvPr/>
        </p:nvSpPr>
        <p:spPr>
          <a:xfrm>
            <a:off x="7604608" y="3026092"/>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026092"/>
            <a:ext cx="2025557" cy="273177"/>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070626" y="2889504"/>
            <a:ext cx="508421" cy="546354"/>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50%</a:t>
            </a:r>
          </a:p>
        </p:txBody>
      </p:sp>
      <p:sp>
        <p:nvSpPr>
          <p:cNvPr id="23" name="TextBox 22"/>
          <p:cNvSpPr txBox="1"/>
          <p:nvPr/>
        </p:nvSpPr>
        <p:spPr>
          <a:xfrm>
            <a:off x="6397600" y="3435858"/>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1.5</a:t>
            </a:r>
          </a:p>
        </p:txBody>
      </p:sp>
      <p:sp>
        <p:nvSpPr>
          <p:cNvPr id="24" name="Rounded Rectangle 23"/>
          <p:cNvSpPr/>
          <p:nvPr/>
        </p:nvSpPr>
        <p:spPr>
          <a:xfrm>
            <a:off x="7604608" y="3572446"/>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572446"/>
            <a:ext cx="1620446"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070626" y="3435858"/>
            <a:ext cx="508421"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40%</a:t>
            </a:r>
          </a:p>
        </p:txBody>
      </p:sp>
      <p:sp>
        <p:nvSpPr>
          <p:cNvPr id="27" name="TextBox 26"/>
          <p:cNvSpPr txBox="1"/>
          <p:nvPr/>
        </p:nvSpPr>
        <p:spPr>
          <a:xfrm>
            <a:off x="6397600" y="3982212"/>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2</a:t>
            </a:r>
          </a:p>
        </p:txBody>
      </p:sp>
      <p:sp>
        <p:nvSpPr>
          <p:cNvPr id="28" name="Rounded Rectangle 27"/>
          <p:cNvSpPr/>
          <p:nvPr/>
        </p:nvSpPr>
        <p:spPr>
          <a:xfrm>
            <a:off x="7604608" y="4118801"/>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118801"/>
            <a:ext cx="1349021"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1070626" y="3982212"/>
            <a:ext cx="508421"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33%</a:t>
            </a:r>
          </a:p>
        </p:txBody>
      </p:sp>
      <p:sp>
        <p:nvSpPr>
          <p:cNvPr id="31" name="TextBox 30"/>
          <p:cNvSpPr txBox="1"/>
          <p:nvPr/>
        </p:nvSpPr>
        <p:spPr>
          <a:xfrm>
            <a:off x="6397600" y="4528566"/>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3</a:t>
            </a:r>
          </a:p>
        </p:txBody>
      </p:sp>
      <p:sp>
        <p:nvSpPr>
          <p:cNvPr id="32" name="Rounded Rectangle 31"/>
          <p:cNvSpPr/>
          <p:nvPr/>
        </p:nvSpPr>
        <p:spPr>
          <a:xfrm>
            <a:off x="7604608" y="4665155"/>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7604608" y="4665155"/>
            <a:ext cx="1012779"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11070626" y="4528566"/>
            <a:ext cx="508421"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25%</a:t>
            </a:r>
          </a:p>
        </p:txBody>
      </p:sp>
      <p:sp>
        <p:nvSpPr>
          <p:cNvPr id="35" name="Rounded Rectangle 3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ounded Rectangle 3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7" name="TextBox 3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Win-rate ko kabhi akele judge mat kijiye. Average jeet aur average haar, dono poochhiye.</a:t>
            </a:r>
          </a:p>
        </p:txBody>
      </p:sp>
      <p:pic>
        <p:nvPicPr>
          <p:cNvPr id="38" name="Picture 37" descr="logo.png"/>
          <p:cNvPicPr>
            <a:picLocks noChangeAspect="1"/>
          </p:cNvPicPr>
          <p:nvPr/>
        </p:nvPicPr>
        <p:blipFill>
          <a:blip r:embed="rId2"/>
          <a:stretch>
            <a:fillRect/>
          </a:stretch>
        </p:blipFill>
        <p:spPr>
          <a:xfrm>
            <a:off x="457200" y="6437376"/>
            <a:ext cx="237744" cy="237744"/>
          </a:xfrm>
          <a:prstGeom prst="rect">
            <a:avLst/>
          </a:prstGeom>
        </p:spPr>
      </p:pic>
      <p:sp>
        <p:nvSpPr>
          <p:cNvPr id="3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0" name="TextBox 3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Losing streak, drawdown aur wapas upar aane ki lambi chadhai</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Achha method bhi lagataar kai baar haar jaata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Drawdown ka matlab hai aapka capital apne pichhle high se kitna neeche aaya, naya high banne se pehle.</a:t>
            </a:r>
          </a:p>
          <a:p>
            <a:pPr algn="l" marL="274320" indent="-274320">
              <a:lnSpc>
                <a:spcPct val="100000"/>
              </a:lnSpc>
              <a:spcAft>
                <a:spcPts val="800"/>
              </a:spcAft>
              <a:buClr>
                <a:srgbClr val="00AEEF"/>
              </a:buClr>
              <a:buFont typeface="Arial"/>
              <a:buChar char="•"/>
            </a:pPr>
            <a:r>
              <a:rPr sz="1600" b="0" i="0">
                <a:solidFill>
                  <a:srgbClr val="18232F"/>
                </a:solidFill>
                <a:latin typeface="Segoe UI"/>
              </a:rPr>
              <a:t>Risk of ruin woh chance hai ki loss itna gehra ho jaye ki aap aage khel hi na payein, ya khelne ki himmat hi na bache.</a:t>
            </a:r>
          </a:p>
          <a:p>
            <a:pPr algn="l" marL="274320" indent="-274320">
              <a:lnSpc>
                <a:spcPct val="100000"/>
              </a:lnSpc>
              <a:buClr>
                <a:srgbClr val="00AEEF"/>
              </a:buClr>
              <a:buFont typeface="Arial"/>
              <a:buChar char="•"/>
            </a:pPr>
            <a:r>
              <a:rPr sz="1600" b="0" i="0">
                <a:solidFill>
                  <a:srgbClr val="18232F"/>
                </a:solidFill>
                <a:latin typeface="Segoe UI"/>
              </a:rPr>
              <a:t>Ise daav ka size chalata hai, kyunki wahi tay karta hai ki normal streak kitna gehra kaategi.</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aur Priya same 20 practice trades follow karte hain: har jeet +1.5R, har haar -1R, aur beech mein lagataar 7 haar. Priya har trade par apne capital ka 1% risk karti hai, Aman 10%. Streak ke baad Priya apne peak se lagbhag 7% neeche hai, kyunki saat baar 0.99 ko aapas mein guna karne par 0.932 bachta hai. Aman apne peak se lagbhag 52% neeche hai, kyunki saat baar 0.9 ko guna karne par 0.478 bachta hai. … Trades wahi, luck wahi; fark sirf daav ke size ka tha.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Trades wahi, daav alag</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Illustrative 20 trades (8 jeet, 12 haar, jinmein 7 lagataar), kul 0R. Apne high se 10% wala account 52% gira, 1% wala lagbhag 7%. Kul 0R hone par bhi 10% wala account 14% neeche khatam hua.</a:t>
            </a:r>
          </a:p>
        </p:txBody>
      </p:sp>
      <p:sp>
        <p:nvSpPr>
          <p:cNvPr id="12" name="Rectangle 11"/>
          <p:cNvSpPr/>
          <p:nvPr/>
        </p:nvSpPr>
        <p:spPr>
          <a:xfrm>
            <a:off x="6812159"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41343" y="1796796"/>
            <a:ext cx="459622"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1% risk</a:t>
            </a:r>
          </a:p>
        </p:txBody>
      </p:sp>
      <p:sp>
        <p:nvSpPr>
          <p:cNvPr id="14" name="Rectangle 13"/>
          <p:cNvSpPr/>
          <p:nvPr/>
        </p:nvSpPr>
        <p:spPr>
          <a:xfrm>
            <a:off x="7875285" y="1860804"/>
            <a:ext cx="256032" cy="6400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04469" y="1796796"/>
            <a:ext cx="53068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10% risk</a:t>
            </a:r>
          </a:p>
        </p:txBody>
      </p:sp>
      <p:sp>
        <p:nvSpPr>
          <p:cNvPr id="16" name="TextBox 15"/>
          <p:cNvSpPr txBox="1"/>
          <p:nvPr/>
        </p:nvSpPr>
        <p:spPr>
          <a:xfrm>
            <a:off x="6397600" y="207111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Capital (start 100)</a:t>
            </a:r>
          </a:p>
        </p:txBody>
      </p:sp>
      <p:cxnSp>
        <p:nvCxnSpPr>
          <p:cNvPr id="17" name="Connector 16"/>
          <p:cNvCxnSpPr/>
          <p:nvPr/>
        </p:nvCxnSpPr>
        <p:spPr>
          <a:xfrm>
            <a:off x="6812159" y="467715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4594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59.8</a:t>
            </a:r>
          </a:p>
        </p:txBody>
      </p:sp>
      <p:cxnSp>
        <p:nvCxnSpPr>
          <p:cNvPr id="19" name="Connector 18"/>
          <p:cNvCxnSpPr/>
          <p:nvPr/>
        </p:nvCxnSpPr>
        <p:spPr>
          <a:xfrm>
            <a:off x="6812159" y="413994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05765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80.5</a:t>
            </a:r>
          </a:p>
        </p:txBody>
      </p:sp>
      <p:cxnSp>
        <p:nvCxnSpPr>
          <p:cNvPr id="21" name="Connector 20"/>
          <p:cNvCxnSpPr/>
          <p:nvPr/>
        </p:nvCxnSpPr>
        <p:spPr>
          <a:xfrm>
            <a:off x="6812159" y="36027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35204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101.2</a:t>
            </a:r>
          </a:p>
        </p:txBody>
      </p:sp>
      <p:cxnSp>
        <p:nvCxnSpPr>
          <p:cNvPr id="23" name="Connector 22"/>
          <p:cNvCxnSpPr/>
          <p:nvPr/>
        </p:nvCxnSpPr>
        <p:spPr>
          <a:xfrm>
            <a:off x="6812159" y="306552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298323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121.9</a:t>
            </a:r>
          </a:p>
        </p:txBody>
      </p:sp>
      <p:cxnSp>
        <p:nvCxnSpPr>
          <p:cNvPr id="25" name="Connector 24"/>
          <p:cNvCxnSpPr/>
          <p:nvPr/>
        </p:nvCxnSpPr>
        <p:spPr>
          <a:xfrm>
            <a:off x="6812159" y="252831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446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142.6</a:t>
            </a:r>
          </a:p>
        </p:txBody>
      </p:sp>
      <p:cxnSp>
        <p:nvCxnSpPr>
          <p:cNvPr id="27" name="Connector 26"/>
          <p:cNvCxnSpPr/>
          <p:nvPr/>
        </p:nvCxnSpPr>
        <p:spPr>
          <a:xfrm>
            <a:off x="7745420"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91140" y="2290572"/>
            <a:ext cx="814975"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Streak shuru</a:t>
            </a:r>
          </a:p>
        </p:txBody>
      </p:sp>
      <p:cxnSp>
        <p:nvCxnSpPr>
          <p:cNvPr id="29" name="Connector 28"/>
          <p:cNvCxnSpPr/>
          <p:nvPr/>
        </p:nvCxnSpPr>
        <p:spPr>
          <a:xfrm>
            <a:off x="9378626"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424346" y="2290572"/>
            <a:ext cx="932753"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Streak khatam</a:t>
            </a:r>
          </a:p>
        </p:txBody>
      </p:sp>
      <p:sp>
        <p:nvSpPr>
          <p:cNvPr id="31" name="Freeform 30"/>
          <p:cNvSpPr/>
          <p:nvPr/>
        </p:nvSpPr>
        <p:spPr>
          <a:xfrm>
            <a:off x="6812159" y="3543063"/>
            <a:ext cx="4666304" cy="181613"/>
          </a:xfrm>
          <a:custGeom>
            <a:avLst/>
            <a:gdLst/>
            <a:ahLst/>
            <a:cxnLst/>
            <a:rect l="l" t="t" r="r" b="b"/>
            <a:pathLst>
              <a:path w="4666304" h="181613">
                <a:moveTo>
                  <a:pt x="0" y="90807"/>
                </a:moveTo>
                <a:lnTo>
                  <a:pt x="233316" y="51890"/>
                </a:lnTo>
                <a:lnTo>
                  <a:pt x="466631" y="12973"/>
                </a:lnTo>
                <a:lnTo>
                  <a:pt x="699946" y="38917"/>
                </a:lnTo>
                <a:lnTo>
                  <a:pt x="933261" y="0"/>
                </a:lnTo>
                <a:lnTo>
                  <a:pt x="1166576" y="25945"/>
                </a:lnTo>
                <a:lnTo>
                  <a:pt x="1399892" y="51890"/>
                </a:lnTo>
                <a:lnTo>
                  <a:pt x="1633207" y="80429"/>
                </a:lnTo>
                <a:lnTo>
                  <a:pt x="1866522" y="106373"/>
                </a:lnTo>
                <a:lnTo>
                  <a:pt x="2099837" y="132318"/>
                </a:lnTo>
                <a:lnTo>
                  <a:pt x="2333152" y="155668"/>
                </a:lnTo>
                <a:lnTo>
                  <a:pt x="2566467" y="181613"/>
                </a:lnTo>
                <a:lnTo>
                  <a:pt x="2799783" y="145290"/>
                </a:lnTo>
                <a:lnTo>
                  <a:pt x="3033098" y="168641"/>
                </a:lnTo>
                <a:lnTo>
                  <a:pt x="3266413" y="132318"/>
                </a:lnTo>
                <a:lnTo>
                  <a:pt x="3499728" y="93401"/>
                </a:lnTo>
                <a:lnTo>
                  <a:pt x="3733043" y="119346"/>
                </a:lnTo>
                <a:lnTo>
                  <a:pt x="3966359" y="80429"/>
                </a:lnTo>
                <a:lnTo>
                  <a:pt x="4199674" y="106373"/>
                </a:lnTo>
                <a:lnTo>
                  <a:pt x="4432989" y="132318"/>
                </a:lnTo>
                <a:lnTo>
                  <a:pt x="4666304" y="93401"/>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812159" y="2676512"/>
            <a:ext cx="4666304" cy="1852448"/>
          </a:xfrm>
          <a:custGeom>
            <a:avLst/>
            <a:gdLst/>
            <a:ahLst/>
            <a:cxnLst/>
            <a:rect l="l" t="t" r="r" b="b"/>
            <a:pathLst>
              <a:path w="4666304" h="1852448">
                <a:moveTo>
                  <a:pt x="0" y="957358"/>
                </a:moveTo>
                <a:lnTo>
                  <a:pt x="233316" y="568188"/>
                </a:lnTo>
                <a:lnTo>
                  <a:pt x="466631" y="121940"/>
                </a:lnTo>
                <a:lnTo>
                  <a:pt x="699946" y="464409"/>
                </a:lnTo>
                <a:lnTo>
                  <a:pt x="933261" y="0"/>
                </a:lnTo>
                <a:lnTo>
                  <a:pt x="1166576" y="355442"/>
                </a:lnTo>
                <a:lnTo>
                  <a:pt x="1399892" y="674561"/>
                </a:lnTo>
                <a:lnTo>
                  <a:pt x="1633207" y="962547"/>
                </a:lnTo>
                <a:lnTo>
                  <a:pt x="1866522" y="1221993"/>
                </a:lnTo>
                <a:lnTo>
                  <a:pt x="2099837" y="1455495"/>
                </a:lnTo>
                <a:lnTo>
                  <a:pt x="2333152" y="1665647"/>
                </a:lnTo>
                <a:lnTo>
                  <a:pt x="2566467" y="1852448"/>
                </a:lnTo>
                <a:lnTo>
                  <a:pt x="2799783" y="1598191"/>
                </a:lnTo>
                <a:lnTo>
                  <a:pt x="3033098" y="1792775"/>
                </a:lnTo>
                <a:lnTo>
                  <a:pt x="3266413" y="1530734"/>
                </a:lnTo>
                <a:lnTo>
                  <a:pt x="3499728" y="1227182"/>
                </a:lnTo>
                <a:lnTo>
                  <a:pt x="3733043" y="1458089"/>
                </a:lnTo>
                <a:lnTo>
                  <a:pt x="3966359" y="1146754"/>
                </a:lnTo>
                <a:lnTo>
                  <a:pt x="4199674" y="1385444"/>
                </a:lnTo>
                <a:lnTo>
                  <a:pt x="4432989" y="1603379"/>
                </a:lnTo>
                <a:lnTo>
                  <a:pt x="4666304" y="1310205"/>
                </a:lnTo>
              </a:path>
            </a:pathLst>
          </a:custGeom>
          <a:noFill/>
          <a:ln w="28575">
            <a:solidFill>
              <a:srgbClr val="F055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12159" y="471373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Trade number</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6" name="TextBox 3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Losing streak maths ka hissa hai. Daav itna rakhiye ki streak ke baad bhi aap khade rahein.</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Tips ka lalach: tip itni achhi kyun lagti hai</a:t>
            </a:r>
          </a:p>
        </p:txBody>
      </p:sp>
      <p:sp>
        <p:nvSpPr>
          <p:cNvPr id="4" name="TextBox 3"/>
          <p:cNvSpPr txBox="1"/>
          <p:nvPr/>
        </p:nvSpPr>
        <p:spPr>
          <a:xfrm>
            <a:off x="457200" y="1335024"/>
            <a:ext cx="5519776" cy="183642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Lalach ka matlab hai greed, lekin tip sirf greed se nahi kheenchti.</a:t>
            </a:r>
          </a:p>
          <a:p>
            <a:pPr algn="l" marL="274320" indent="-274320">
              <a:lnSpc>
                <a:spcPct val="100000"/>
              </a:lnSpc>
              <a:spcAft>
                <a:spcPts val="750"/>
              </a:spcAft>
              <a:buClr>
                <a:srgbClr val="00AEEF"/>
              </a:buClr>
              <a:buFont typeface="Arial"/>
              <a:buChar char="•"/>
            </a:pPr>
            <a:r>
              <a:rPr sz="1500" b="0" i="0">
                <a:solidFill>
                  <a:srgbClr val="18232F"/>
                </a:solidFill>
                <a:latin typeface="Segoe UI"/>
              </a:rPr>
              <a:t>Tip bechne wale yeh sab jaante hain, isliye jeet ka shor machate hain aur loss ke size, calls ki kul ginti aur costs par chup rehte hain.</a:t>
            </a:r>
          </a:p>
          <a:p>
            <a:pPr algn="l" marL="274320" indent="-274320">
              <a:lnSpc>
                <a:spcPct val="100000"/>
              </a:lnSpc>
              <a:buClr>
                <a:srgbClr val="00AEEF"/>
              </a:buClr>
              <a:buFont typeface="Arial"/>
              <a:buChar char="•"/>
            </a:pPr>
            <a:r>
              <a:rPr sz="1500" b="0" i="0">
                <a:solidFill>
                  <a:srgbClr val="18232F"/>
                </a:solidFill>
                <a:latin typeface="Segoe UI"/>
              </a:rPr>
              <a:t>Day 7 par aap 20 practice 'tips' ka audit karenge aur SEBI registration check karna seekhenge.</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Story yaad kijiye: maan lijiye saat winning calls ne Rs 1,000-1,000 kamaye aur ek losing call mein Rs 8,000 gaye. Aman ne dekha '8 mein se 7'. Priya ne poochha ki aathvi call mein kitna gaya, aur mentor ke numbers lagate hi hafta Rs 1,000 ke loss mein nikla, aur Rs 4,999 ki fees jodkar Rs 5,999 ke loss mein. Message ek hi tha, sawaal do: 'kitni baar?' aur 'kitna?'</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Lalach ka chakkar</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Agli tip se chakkar phir shuru hota hai. Ise box 2 par todiye: paisa lagane se pehle maths.</a:t>
            </a:r>
          </a:p>
        </p:txBody>
      </p:sp>
      <p:sp>
        <p:nvSpPr>
          <p:cNvPr id="11" name="Rounded Rectangle 10"/>
          <p:cNvSpPr/>
          <p:nvPr/>
        </p:nvSpPr>
        <p:spPr>
          <a:xfrm>
            <a:off x="640080" y="4375404"/>
            <a:ext cx="187506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Tip aati hai</a:t>
            </a:r>
          </a:p>
          <a:p>
            <a:pPr algn="ctr">
              <a:lnSpc>
                <a:spcPct val="100000"/>
              </a:lnSpc>
            </a:pPr>
            <a:r>
              <a:rPr sz="1200" b="0" i="0">
                <a:solidFill>
                  <a:srgbClr val="47596B"/>
                </a:solidFill>
                <a:latin typeface="Segoe UI"/>
              </a:rPr>
              <a:t>'8 mein se 7 sahi'</a:t>
            </a:r>
          </a:p>
        </p:txBody>
      </p:sp>
      <p:sp>
        <p:nvSpPr>
          <p:cNvPr id="13" name="Right Arrow 12"/>
          <p:cNvSpPr/>
          <p:nvPr/>
        </p:nvSpPr>
        <p:spPr>
          <a:xfrm>
            <a:off x="2570013"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2899197" y="4375404"/>
            <a:ext cx="1875069"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3008925"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Maths skip</a:t>
            </a:r>
          </a:p>
          <a:p>
            <a:pPr algn="ctr">
              <a:lnSpc>
                <a:spcPct val="100000"/>
              </a:lnSpc>
            </a:pPr>
            <a:r>
              <a:rPr sz="1200" b="0" i="0">
                <a:solidFill>
                  <a:srgbClr val="47596B"/>
                </a:solidFill>
                <a:latin typeface="Segoe UI"/>
              </a:rPr>
              <a:t>Loss ka size koi nahi poochhta</a:t>
            </a:r>
          </a:p>
        </p:txBody>
      </p:sp>
      <p:sp>
        <p:nvSpPr>
          <p:cNvPr id="16" name="Right Arrow 15"/>
          <p:cNvSpPr/>
          <p:nvPr/>
        </p:nvSpPr>
        <p:spPr>
          <a:xfrm>
            <a:off x="4829129"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5158313" y="4375404"/>
            <a:ext cx="1875069"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5268041"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Bada daav</a:t>
            </a:r>
          </a:p>
          <a:p>
            <a:pPr algn="ctr">
              <a:lnSpc>
                <a:spcPct val="100000"/>
              </a:lnSpc>
            </a:pPr>
            <a:r>
              <a:rPr sz="1200" b="0" i="0">
                <a:solidFill>
                  <a:srgbClr val="47596B"/>
                </a:solidFill>
                <a:latin typeface="Segoe UI"/>
              </a:rPr>
              <a:t>Sab pakka lagta hai</a:t>
            </a:r>
          </a:p>
        </p:txBody>
      </p:sp>
      <p:sp>
        <p:nvSpPr>
          <p:cNvPr id="19" name="Right Arrow 18"/>
          <p:cNvSpPr/>
          <p:nvPr/>
        </p:nvSpPr>
        <p:spPr>
          <a:xfrm>
            <a:off x="7088246"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7417430" y="4375404"/>
            <a:ext cx="1875069"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527158"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Bada loss</a:t>
            </a:r>
          </a:p>
          <a:p>
            <a:pPr algn="ctr">
              <a:lnSpc>
                <a:spcPct val="100000"/>
              </a:lnSpc>
            </a:pPr>
            <a:r>
              <a:rPr sz="1200" b="0" i="0">
                <a:solidFill>
                  <a:srgbClr val="47596B"/>
                </a:solidFill>
                <a:latin typeface="Segoe UI"/>
              </a:rPr>
              <a:t>Ek call kai jeet mita deti hai</a:t>
            </a:r>
          </a:p>
        </p:txBody>
      </p:sp>
      <p:sp>
        <p:nvSpPr>
          <p:cNvPr id="22" name="Right Arrow 21"/>
          <p:cNvSpPr/>
          <p:nvPr/>
        </p:nvSpPr>
        <p:spPr>
          <a:xfrm>
            <a:off x="9347363"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9676547" y="4375404"/>
            <a:ext cx="1875069"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9786275"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Agli tip</a:t>
            </a:r>
          </a:p>
          <a:p>
            <a:pPr algn="ctr">
              <a:lnSpc>
                <a:spcPct val="100000"/>
              </a:lnSpc>
            </a:pPr>
            <a:r>
              <a:rPr sz="1200" b="0" i="0">
                <a:solidFill>
                  <a:srgbClr val="47596B"/>
                </a:solidFill>
                <a:latin typeface="Segoe UI"/>
              </a:rPr>
              <a:t>'Wapas kamaane ke liye'</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Tip certainty bechti hai. Aapka bachaav ek line hai: losses bhi dikhaiye.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R (R-multiple)</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1R woh rupaye hain jo stop hit hone par jaate hain. Har result R mein gina jaata hai: us risk ka do guna jeete toh +2R.</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4152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Win-rate aur payoff</a:t>
            </a:r>
          </a:p>
        </p:txBody>
      </p:sp>
      <p:sp>
        <p:nvSpPr>
          <p:cNvPr id="9" name="TextBox 8"/>
          <p:cNvSpPr txBox="1"/>
          <p:nvPr/>
        </p:nvSpPr>
        <p:spPr>
          <a:xfrm>
            <a:off x="6379312"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Win-rate: aap kitni baar jeette hain. Payoff: average jeet, average haar ke muqable kitni badi hai.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39268"/>
          </a:xfrm>
          <a:prstGeom prst="rect">
            <a:avLst/>
          </a:prstGeom>
          <a:noFill/>
        </p:spPr>
        <p:txBody>
          <a:bodyPr wrap="square" lIns="0" rIns="0" tIns="0" bIns="0" anchor="t">
            <a:noAutofit/>
          </a:bodyPr>
          <a:lstStyle/>
          <a:p>
            <a:pPr algn="l">
              <a:lnSpc>
                <a:spcPct val="100000"/>
              </a:lnSpc>
            </a:pPr>
            <a:r>
              <a:rPr sz="1450" b="1" i="0">
                <a:solidFill>
                  <a:srgbClr val="095A90"/>
                </a:solidFill>
                <a:latin typeface="Segoe UI"/>
              </a:rPr>
              <a:t>Expectancy</a:t>
            </a:r>
          </a:p>
        </p:txBody>
      </p:sp>
      <p:sp>
        <p:nvSpPr>
          <p:cNvPr id="12" name="TextBox 11"/>
          <p:cNvSpPr txBox="1"/>
          <p:nvPr/>
        </p:nvSpPr>
        <p:spPr>
          <a:xfrm>
            <a:off x="658368" y="3014472"/>
            <a:ext cx="515401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Bahut saare trades par ek trade ka average result: (win-rate x average jeet) - (loss-rate x average haar) - har trade ki cost; average haar bina minus ke likhiye (1R, -1R nahi). Costs ke baad bhi positive ho toh edge.</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Edge</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Costs ke baad positive expectancy, jo kaafi trades par dikhe: rule judge karne ke liye 30, bharose ke liye 100. Koi hunch, ya ek achha hafta, edge nahi hota.</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Breakeven win-rate</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sabse kam win-rate jahan payoff paisa ganwana band karta hai, costs se pehle: 1 ÷ (1 + har 1R par reward). 1:2 par lagbhag 33%.</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92702"/>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Drawdown</a:t>
            </a:r>
          </a:p>
        </p:txBody>
      </p:sp>
      <p:sp>
        <p:nvSpPr>
          <p:cNvPr id="21" name="TextBox 20"/>
          <p:cNvSpPr txBox="1"/>
          <p:nvPr/>
        </p:nvSpPr>
        <p:spPr>
          <a:xfrm>
            <a:off x="6379312" y="4376166"/>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Aapka capital apne pichhle high se kitna gira, naya high banne se pehle.</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Risk of ruin</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chance ki loss itna gehra ho jaye ki aap aage khel hi na payein, ya khelna chhod dein. Ise daav ka size chalata hai: lagataar 7 haar 1% risk par capital ka 6.8% le jaati hain, lekin 10% risk par 52.2%.</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30190"/>
            <a:ext cx="5154016" cy="216408"/>
          </a:xfrm>
          <a:prstGeom prst="rect">
            <a:avLst/>
          </a:prstGeom>
          <a:noFill/>
        </p:spPr>
        <p:txBody>
          <a:bodyPr wrap="square" lIns="0" rIns="0" tIns="0" bIns="0" anchor="t">
            <a:noAutofit/>
          </a:bodyPr>
          <a:lstStyle/>
          <a:p>
            <a:pPr algn="l">
              <a:lnSpc>
                <a:spcPct val="100000"/>
              </a:lnSpc>
            </a:pPr>
            <a:r>
              <a:rPr sz="1300" b="1" i="0">
                <a:solidFill>
                  <a:srgbClr val="095A90"/>
                </a:solidFill>
                <a:latin typeface="Segoe UI"/>
              </a:rPr>
              <a:t>Loss recovery (wapas upar ki chadhai)</a:t>
            </a:r>
          </a:p>
        </p:txBody>
      </p:sp>
      <p:sp>
        <p:nvSpPr>
          <p:cNvPr id="27" name="TextBox 26"/>
          <p:cNvSpPr txBox="1"/>
          <p:nvPr/>
        </p:nvSpPr>
        <p:spPr>
          <a:xfrm>
            <a:off x="6379312" y="5583174"/>
            <a:ext cx="5154016" cy="539496"/>
          </a:xfrm>
          <a:prstGeom prst="rect">
            <a:avLst/>
          </a:prstGeom>
          <a:noFill/>
        </p:spPr>
        <p:txBody>
          <a:bodyPr wrap="square" lIns="0" rIns="0" tIns="0" bIns="0" anchor="t">
            <a:noAutofit/>
          </a:bodyPr>
          <a:lstStyle/>
          <a:p>
            <a:pPr algn="l">
              <a:lnSpc>
                <a:spcPct val="100000"/>
              </a:lnSpc>
            </a:pPr>
            <a:r>
              <a:rPr sz="1100" b="0" i="0">
                <a:solidFill>
                  <a:srgbClr val="18232F"/>
                </a:solidFill>
                <a:latin typeface="Segoe UI"/>
              </a:rPr>
              <a:t>Girawat ke baad purane high tak wapas aane ke liye jitna gain chahiye. Yeh hamesha girawat se bada hota hai, kyunki yeh bache hue paise par kamana padta hai: -10% ke baad +11.1%, -25% ke baad +33.3%, -50% ke baad +100%.</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071878"/>
            <a:ext cx="502920" cy="173202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358488" y="3693414"/>
            <a:ext cx="502920" cy="110490"/>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21536"/>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292858"/>
            <a:ext cx="502920" cy="151104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248602"/>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59648"/>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Trader vs gambler: maths</a:t>
            </a:r>
          </a:p>
        </p:txBody>
      </p:sp>
      <p:sp>
        <p:nvSpPr>
          <p:cNvPr id="11" name="Rounded Rectangle 10"/>
          <p:cNvSpPr/>
          <p:nvPr/>
        </p:nvSpPr>
        <p:spPr>
          <a:xfrm>
            <a:off x="640080" y="1398651"/>
            <a:ext cx="3718408" cy="1346454"/>
          </a:xfrm>
          <a:prstGeom prst="roundRect">
            <a:avLst>
              <a:gd name="adj" fmla="val 81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08379"/>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R ka scale</a:t>
            </a:r>
          </a:p>
        </p:txBody>
      </p:sp>
      <p:sp>
        <p:nvSpPr>
          <p:cNvPr id="13" name="TextBox 12"/>
          <p:cNvSpPr txBox="1"/>
          <p:nvPr/>
        </p:nvSpPr>
        <p:spPr>
          <a:xfrm>
            <a:off x="786384" y="1825371"/>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1R = stop hit par loss</a:t>
            </a:r>
          </a:p>
          <a:p>
            <a:pPr algn="l" marL="182880" indent="-182880">
              <a:lnSpc>
                <a:spcPct val="100000"/>
              </a:lnSpc>
              <a:spcAft>
                <a:spcPts val="434"/>
              </a:spcAft>
              <a:buClr>
                <a:srgbClr val="0093D6"/>
              </a:buClr>
              <a:buFont typeface="Arial"/>
              <a:buChar char="•"/>
            </a:pPr>
            <a:r>
              <a:rPr sz="1450" b="0" i="0">
                <a:solidFill>
                  <a:srgbClr val="18232F"/>
                </a:solidFill>
                <a:latin typeface="Segoe UI"/>
              </a:rPr>
              <a:t>Stop ki doori x quantity</a:t>
            </a:r>
          </a:p>
          <a:p>
            <a:pPr algn="l" marL="182880" indent="-182880">
              <a:lnSpc>
                <a:spcPct val="100000"/>
              </a:lnSpc>
              <a:buClr>
                <a:srgbClr val="0093D6"/>
              </a:buClr>
              <a:buFont typeface="Arial"/>
              <a:buChar char="•"/>
            </a:pPr>
            <a:r>
              <a:rPr sz="1450" b="0" i="0">
                <a:solidFill>
                  <a:srgbClr val="18232F"/>
                </a:solidFill>
                <a:latin typeface="Segoe UI"/>
              </a:rPr>
              <a:t>Gap 1R se zyada le sakta hai</a:t>
            </a:r>
          </a:p>
        </p:txBody>
      </p:sp>
      <p:sp>
        <p:nvSpPr>
          <p:cNvPr id="14" name="Rounded Rectangle 13"/>
          <p:cNvSpPr/>
          <p:nvPr/>
        </p:nvSpPr>
        <p:spPr>
          <a:xfrm>
            <a:off x="640080" y="2909697"/>
            <a:ext cx="3718408" cy="1567434"/>
          </a:xfrm>
          <a:prstGeom prst="roundRect">
            <a:avLst>
              <a:gd name="adj" fmla="val 7000"/>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019425"/>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Expectancy</a:t>
            </a:r>
          </a:p>
        </p:txBody>
      </p:sp>
      <p:sp>
        <p:nvSpPr>
          <p:cNvPr id="16" name="TextBox 15"/>
          <p:cNvSpPr txBox="1"/>
          <p:nvPr/>
        </p:nvSpPr>
        <p:spPr>
          <a:xfrm>
            <a:off x="786384" y="3336417"/>
            <a:ext cx="3425800" cy="1140714"/>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Win% x avg jeet - loss% x avg haar (1R, -1R nahi)</a:t>
            </a:r>
          </a:p>
          <a:p>
            <a:pPr algn="l" marL="182880" indent="-182880">
              <a:lnSpc>
                <a:spcPct val="100000"/>
              </a:lnSpc>
              <a:spcAft>
                <a:spcPts val="434"/>
              </a:spcAft>
              <a:buClr>
                <a:srgbClr val="16A34A"/>
              </a:buClr>
              <a:buFont typeface="Arial"/>
              <a:buChar char="•"/>
            </a:pPr>
            <a:r>
              <a:rPr sz="1450" b="0" i="0">
                <a:solidFill>
                  <a:srgbClr val="18232F"/>
                </a:solidFill>
                <a:latin typeface="Segoe UI"/>
              </a:rPr>
              <a:t>Costs R mein ghataiye</a:t>
            </a:r>
          </a:p>
          <a:p>
            <a:pPr algn="l" marL="182880" indent="-182880">
              <a:lnSpc>
                <a:spcPct val="100000"/>
              </a:lnSpc>
              <a:buClr>
                <a:srgbClr val="16A34A"/>
              </a:buClr>
              <a:buFont typeface="Arial"/>
              <a:buChar char="•"/>
            </a:pPr>
            <a:r>
              <a:rPr sz="1450" b="0" i="0">
                <a:solidFill>
                  <a:srgbClr val="18232F"/>
                </a:solidFill>
                <a:latin typeface="Segoe UI"/>
              </a:rPr>
              <a:t>30 par judge, 100 par zyada bharosa</a:t>
            </a:r>
          </a:p>
        </p:txBody>
      </p:sp>
      <p:sp>
        <p:nvSpPr>
          <p:cNvPr id="17" name="Rounded Rectangle 16"/>
          <p:cNvSpPr/>
          <p:nvPr/>
        </p:nvSpPr>
        <p:spPr>
          <a:xfrm>
            <a:off x="640080" y="4641723"/>
            <a:ext cx="3718408" cy="1567434"/>
          </a:xfrm>
          <a:prstGeom prst="roundRect">
            <a:avLst>
              <a:gd name="adj" fmla="val 700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751451"/>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Breakeven</a:t>
            </a:r>
          </a:p>
        </p:txBody>
      </p:sp>
      <p:sp>
        <p:nvSpPr>
          <p:cNvPr id="19" name="TextBox 18"/>
          <p:cNvSpPr txBox="1"/>
          <p:nvPr/>
        </p:nvSpPr>
        <p:spPr>
          <a:xfrm>
            <a:off x="786384" y="5068443"/>
            <a:ext cx="3425800" cy="1140714"/>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1 ÷ (1 + har 1R par reward)</a:t>
            </a:r>
          </a:p>
          <a:p>
            <a:pPr algn="l" marL="182880" indent="-182880">
              <a:lnSpc>
                <a:spcPct val="100000"/>
              </a:lnSpc>
              <a:spcAft>
                <a:spcPts val="434"/>
              </a:spcAft>
              <a:buClr>
                <a:srgbClr val="F5A524"/>
              </a:buClr>
              <a:buFont typeface="Arial"/>
              <a:buChar char="•"/>
            </a:pPr>
            <a:r>
              <a:rPr sz="1450" b="0" i="0">
                <a:solidFill>
                  <a:srgbClr val="18232F"/>
                </a:solidFill>
                <a:latin typeface="Segoe UI"/>
              </a:rPr>
              <a:t>1:1 = 50%, 1:1.5 = 40%, 1:2 = 33%</a:t>
            </a:r>
          </a:p>
          <a:p>
            <a:pPr algn="l" marL="182880" indent="-182880">
              <a:lnSpc>
                <a:spcPct val="100000"/>
              </a:lnSpc>
              <a:buClr>
                <a:srgbClr val="F5A524"/>
              </a:buClr>
              <a:buFont typeface="Arial"/>
              <a:buChar char="•"/>
            </a:pPr>
            <a:r>
              <a:rPr sz="1450" b="0" i="0">
                <a:solidFill>
                  <a:srgbClr val="18232F"/>
                </a:solidFill>
                <a:latin typeface="Segoe UI"/>
              </a:rPr>
              <a:t>Oonchi accuracy bhi paisa ganwa sakti hai</a:t>
            </a:r>
          </a:p>
        </p:txBody>
      </p:sp>
      <p:sp>
        <p:nvSpPr>
          <p:cNvPr id="20" name="Rounded Rectangle 19"/>
          <p:cNvSpPr/>
          <p:nvPr/>
        </p:nvSpPr>
        <p:spPr>
          <a:xfrm>
            <a:off x="7833208" y="1371028"/>
            <a:ext cx="3718408" cy="1843659"/>
          </a:xfrm>
          <a:prstGeom prst="roundRect">
            <a:avLst>
              <a:gd name="adj" fmla="val 595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80757"/>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Streak aur drawdown</a:t>
            </a:r>
          </a:p>
        </p:txBody>
      </p:sp>
      <p:sp>
        <p:nvSpPr>
          <p:cNvPr id="22" name="TextBox 21"/>
          <p:cNvSpPr txBox="1"/>
          <p:nvPr/>
        </p:nvSpPr>
        <p:spPr>
          <a:xfrm>
            <a:off x="7979512" y="1797749"/>
            <a:ext cx="3425800" cy="1416939"/>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Lagataar 5 haar aam baat hai</a:t>
            </a:r>
          </a:p>
          <a:p>
            <a:pPr algn="l" marL="182880" indent="-182880">
              <a:lnSpc>
                <a:spcPct val="100000"/>
              </a:lnSpc>
              <a:spcAft>
                <a:spcPts val="434"/>
              </a:spcAft>
              <a:buClr>
                <a:srgbClr val="F0554E"/>
              </a:buClr>
              <a:buFont typeface="Arial"/>
              <a:buChar char="•"/>
            </a:pPr>
            <a:r>
              <a:rPr sz="1450" b="0" i="0">
                <a:solidFill>
                  <a:srgbClr val="18232F"/>
                </a:solidFill>
                <a:latin typeface="Segoe UI"/>
              </a:rPr>
              <a:t>7 haar: 1% par -6.8%, 10% par -52%</a:t>
            </a:r>
          </a:p>
          <a:p>
            <a:pPr algn="l" marL="182880" indent="-182880">
              <a:lnSpc>
                <a:spcPct val="100000"/>
              </a:lnSpc>
              <a:spcAft>
                <a:spcPts val="434"/>
              </a:spcAft>
              <a:buClr>
                <a:srgbClr val="F0554E"/>
              </a:buClr>
              <a:buFont typeface="Arial"/>
              <a:buChar char="•"/>
            </a:pPr>
            <a:r>
              <a:rPr sz="1450" b="0" i="0">
                <a:solidFill>
                  <a:srgbClr val="18232F"/>
                </a:solidFill>
                <a:latin typeface="Segoe UI"/>
              </a:rPr>
              <a:t>-50% ke baad +100% chahiye</a:t>
            </a:r>
          </a:p>
          <a:p>
            <a:pPr algn="l" marL="182880" indent="-182880">
              <a:lnSpc>
                <a:spcPct val="100000"/>
              </a:lnSpc>
              <a:buClr>
                <a:srgbClr val="F0554E"/>
              </a:buClr>
              <a:buFont typeface="Arial"/>
              <a:buChar char="•"/>
            </a:pPr>
            <a:r>
              <a:rPr sz="1450" b="0" i="0">
                <a:solidFill>
                  <a:srgbClr val="18232F"/>
                </a:solidFill>
                <a:latin typeface="Segoe UI"/>
              </a:rPr>
              <a:t>Day 9: -2R par din band, -5R par pause</a:t>
            </a:r>
          </a:p>
        </p:txBody>
      </p:sp>
      <p:sp>
        <p:nvSpPr>
          <p:cNvPr id="23" name="Rounded Rectangle 22"/>
          <p:cNvSpPr/>
          <p:nvPr/>
        </p:nvSpPr>
        <p:spPr>
          <a:xfrm>
            <a:off x="7833208" y="3379280"/>
            <a:ext cx="3718408" cy="1346454"/>
          </a:xfrm>
          <a:prstGeom prst="roundRect">
            <a:avLst>
              <a:gd name="adj" fmla="val 8149"/>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489008"/>
            <a:ext cx="3425800" cy="262128"/>
          </a:xfrm>
          <a:prstGeom prst="rect">
            <a:avLst/>
          </a:prstGeom>
          <a:noFill/>
        </p:spPr>
        <p:txBody>
          <a:bodyPr wrap="square" lIns="0" rIns="0" tIns="0" bIns="0" anchor="t">
            <a:noAutofit/>
          </a:bodyPr>
          <a:lstStyle/>
          <a:p>
            <a:pPr algn="l">
              <a:lnSpc>
                <a:spcPct val="100000"/>
              </a:lnSpc>
            </a:pPr>
            <a:r>
              <a:rPr sz="1600" b="1" i="0">
                <a:solidFill>
                  <a:srgbClr val="47596B"/>
                </a:solidFill>
                <a:latin typeface="Segoe UI"/>
              </a:rPr>
              <a:t>Tips ka lalach</a:t>
            </a:r>
          </a:p>
        </p:txBody>
      </p:sp>
      <p:sp>
        <p:nvSpPr>
          <p:cNvPr id="25" name="TextBox 24"/>
          <p:cNvSpPr txBox="1"/>
          <p:nvPr/>
        </p:nvSpPr>
        <p:spPr>
          <a:xfrm>
            <a:off x="7979512" y="3806000"/>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57687A"/>
              </a:buClr>
              <a:buFont typeface="Arial"/>
              <a:buChar char="•"/>
            </a:pPr>
            <a:r>
              <a:rPr sz="1450" b="0" i="0">
                <a:solidFill>
                  <a:srgbClr val="18232F"/>
                </a:solidFill>
                <a:latin typeface="Segoe UI"/>
              </a:rPr>
              <a:t>Tip certainty bechti hai</a:t>
            </a:r>
          </a:p>
          <a:p>
            <a:pPr algn="l" marL="182880" indent="-182880">
              <a:lnSpc>
                <a:spcPct val="100000"/>
              </a:lnSpc>
              <a:spcAft>
                <a:spcPts val="434"/>
              </a:spcAft>
              <a:buClr>
                <a:srgbClr val="57687A"/>
              </a:buClr>
              <a:buFont typeface="Arial"/>
              <a:buChar char="•"/>
            </a:pPr>
            <a:r>
              <a:rPr sz="1450" b="0" i="0">
                <a:solidFill>
                  <a:srgbClr val="18232F"/>
                </a:solidFill>
                <a:latin typeface="Segoe UI"/>
              </a:rPr>
              <a:t>Poochhiye: losses bhi dikhaiye</a:t>
            </a:r>
          </a:p>
          <a:p>
            <a:pPr algn="l" marL="182880" indent="-182880">
              <a:lnSpc>
                <a:spcPct val="100000"/>
              </a:lnSpc>
              <a:buClr>
                <a:srgbClr val="57687A"/>
              </a:buClr>
              <a:buFont typeface="Arial"/>
              <a:buChar char="•"/>
            </a:pPr>
            <a:r>
              <a:rPr sz="1450" b="0" i="0">
                <a:solidFill>
                  <a:srgbClr val="18232F"/>
                </a:solidFill>
                <a:latin typeface="Segoe UI"/>
              </a:rPr>
              <a:t>Day 7: 20 practice tips ka audit</a:t>
            </a:r>
          </a:p>
        </p:txBody>
      </p:sp>
      <p:sp>
        <p:nvSpPr>
          <p:cNvPr id="26" name="Rounded Rectangle 25"/>
          <p:cNvSpPr/>
          <p:nvPr/>
        </p:nvSpPr>
        <p:spPr>
          <a:xfrm>
            <a:off x="7833208" y="4890326"/>
            <a:ext cx="3718408" cy="1346454"/>
          </a:xfrm>
          <a:prstGeom prst="roundRect">
            <a:avLst>
              <a:gd name="adj" fmla="val 81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5000054"/>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Ek official number</a:t>
            </a:r>
          </a:p>
        </p:txBody>
      </p:sp>
      <p:sp>
        <p:nvSpPr>
          <p:cNvPr id="28" name="TextBox 27"/>
          <p:cNvSpPr txBox="1"/>
          <p:nvPr/>
        </p:nvSpPr>
        <p:spPr>
          <a:xfrm>
            <a:off x="7979512" y="5317046"/>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SEBI FY26 study (Aug 2026)</a:t>
            </a:r>
          </a:p>
          <a:p>
            <a:pPr algn="l" marL="182880" indent="-182880">
              <a:lnSpc>
                <a:spcPct val="100000"/>
              </a:lnSpc>
              <a:spcAft>
                <a:spcPts val="434"/>
              </a:spcAft>
              <a:buClr>
                <a:srgbClr val="0093D6"/>
              </a:buClr>
              <a:buFont typeface="Arial"/>
              <a:buChar char="•"/>
            </a:pPr>
            <a:r>
              <a:rPr sz="1450" b="0" i="0">
                <a:solidFill>
                  <a:srgbClr val="18232F"/>
                </a:solidFill>
                <a:latin typeface="Segoe UI"/>
              </a:rPr>
              <a:t>Nateeja batati hai, wajah nahi</a:t>
            </a:r>
          </a:p>
          <a:p>
            <a:pPr algn="l" marL="182880" indent="-182880">
              <a:lnSpc>
                <a:spcPct val="100000"/>
              </a:lnSpc>
              <a:buClr>
                <a:srgbClr val="0093D6"/>
              </a:buClr>
              <a:buFont typeface="Arial"/>
              <a:buChar char="•"/>
            </a:pPr>
            <a:r>
              <a:rPr sz="1450" b="0" i="0">
                <a:solidFill>
                  <a:srgbClr val="18232F"/>
                </a:solidFill>
                <a:latin typeface="Segoe UI"/>
              </a:rPr>
              <a:t>F&amp;O = samjho, khelo mat</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25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Maths khud kijiye: 10 trades ki expectancy sheet banaiye, ek accuracy claim parakhiye, aur dekhiye ki losing streak kya karti hai (25 minute ka core kaam, aur 20 minute ka optional stretch).</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Ek nayi Google Sheet kholiye aur yeh 10 practice results, R mein, cell A1 se A10 tak type kijiye: 2, -1, -1, 1.5, -1, 2, -1, -1, 3, -1.</a:t>
            </a:r>
          </a:p>
        </p:txBody>
      </p:sp>
      <p:sp>
        <p:nvSpPr>
          <p:cNvPr id="10" name="Rounded Rectangle 9"/>
          <p:cNvSpPr/>
          <p:nvPr/>
        </p:nvSpPr>
        <p:spPr>
          <a:xfrm>
            <a:off x="457200" y="28163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Cell B1 mein =AVERAGE(A1:A10) type kijiye. Yahi costs se pehle har trade ki expectancy hai; check kijiye ki 0.25 dikh raha hai, yaani +0.25R.</a:t>
            </a:r>
          </a:p>
        </p:txBody>
      </p:sp>
      <p:sp>
        <p:nvSpPr>
          <p:cNvPr id="14" name="Rounded Rectangle 13"/>
          <p:cNvSpPr/>
          <p:nvPr/>
        </p:nvSpPr>
        <p:spPr>
          <a:xfrm>
            <a:off x="457200" y="35966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70636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7246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6972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Cell B2 mein win-rate ke liye =COUNTIF(A1:A10,"&gt;0")/10 type kijiye; 0.4 dikhega, yaani 40%. Sirf 4 jeet ke bawajood expectancy positive rahi, lekin asli rule judge karne ke liye 10 trades bahut kam hain.</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25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Phone ke calculator par 1:0.5 payoff ka breakeven win-rate nikaaliye (1 ÷ 1.5), aur notebook mein likhiye ki us payoff ke saath '60% accuracy' wala claim use paar karta hai ya nahi (check: lagbhag 67%, yaani 60% paar nahi karta).</a:t>
            </a:r>
          </a:p>
        </p:txBody>
      </p:sp>
      <p:sp>
        <p:nvSpPr>
          <p:cNvPr id="9" name="Rounded Rectangle 8"/>
          <p:cNvSpPr/>
          <p:nvPr/>
        </p:nvSpPr>
        <p:spPr>
          <a:xfrm>
            <a:off x="457200" y="235915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Calculator par saat baar 0.9 ko aapas mein guna kijiye (0.9 x 0.9 x ...), phir saat baar 0.99 ko, aur likhiye ki 10% aur 1% risk par lagataar 7 haar ke baad Rs 10,00,000 mein se kitna bachta hai; dono ko 'Aapka template' ke Streak damage card se milaiye (lagbhag Rs 4.78 lakh aur Rs 9.32 lakh).</a:t>
            </a:r>
          </a:p>
        </p:txBody>
      </p:sp>
      <p:sp>
        <p:nvSpPr>
          <p:cNvPr id="13" name="Rounded Rectangle 12"/>
          <p:cNvSpPr/>
          <p:nvPr/>
        </p:nvSpPr>
        <p:spPr>
          <a:xfrm>
            <a:off x="457200" y="338328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49300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5112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48386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Stretch, optional (lagbhag 20 minute aur; laptop ho toh aasaan): 'Aapka template' ke layout se Google Sheets mein 100 trades ka streak simulator banaiye, phir usmein dikhne wali sabse lambi losing streak aur sabse gehra drawdown likh lijiye. Kisi formula par atak gaye? AI Lab ka 'Streak simulator' prompt har formula samjha deta hai.</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kisi bhi trade ko R mein naap payenge, kisi method ki expectancy aur breakeven win-rate nikaal payenge, samjha payenge ki losing streak aur drawdown jhelne laayak kyun hone chahiye, aur kisi bhi accuracy claim ke lalach mein aane se pehle us par sawaal utha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Aapki 10-trade expectancy sheet</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A1-A10, B1 aur B2 aaj ke steps se aate hain; B3, B4 aur column C optional extra hain. Phir column A ka ek number badaliye aur dekhiye B1 aur B2 kaise badalte hain.</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771899"/>
        </p:xfrm>
        <a:graphic>
          <a:graphicData uri="http://schemas.openxmlformats.org/drawingml/2006/table">
            <a:tbl>
              <a:tblPr firstRow="1">
                <a:tableStyleId>{5C22544A-7EE6-4342-B048-85BDC9FD1C3A}</a:tableStyleId>
              </a:tblPr>
              <a:tblGrid>
                <a:gridCol w="731520"/>
                <a:gridCol w="2742292"/>
                <a:gridCol w="7437723"/>
              </a:tblGrid>
              <a:tr h="448709">
                <a:tc>
                  <a:txBody>
                    <a:bodyPr wrap="square"/>
                    <a:lstStyle/>
                    <a:p>
                      <a:pPr algn="l"/>
                      <a:r>
                        <a:rPr sz="1500" b="1" i="0">
                          <a:solidFill>
                            <a:srgbClr val="FFFFFF"/>
                          </a:solidFill>
                          <a:latin typeface="Segoe UI"/>
                        </a:rPr>
                        <a:t>Cell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Yeh type kijiye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Kya dikhna chahiye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668165">
                <a:tc>
                  <a:txBody>
                    <a:bodyPr wrap="square"/>
                    <a:lstStyle/>
                    <a:p>
                      <a:pPr algn="ctr"/>
                      <a:r>
                        <a:rPr sz="1500" b="0" i="0">
                          <a:solidFill>
                            <a:srgbClr val="18232F"/>
                          </a:solidFill>
                          <a:latin typeface="Segoe UI"/>
                        </a:rPr>
                        <a:t>A1 to A10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2, -1, -1, 1.5, -1, 2, -1, -1, 3,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Har cell mein ek practice result, R mein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39565">
                <a:tc>
                  <a:txBody>
                    <a:bodyPr wrap="square"/>
                    <a:lstStyle/>
                    <a:p>
                      <a:pPr algn="ctr"/>
                      <a:r>
                        <a:rPr sz="1500" b="0" i="0">
                          <a:solidFill>
                            <a:srgbClr val="18232F"/>
                          </a:solidFill>
                          <a:latin typeface="Segoe UI"/>
                        </a:rPr>
                        <a:t>B1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=AVERAGE(A1:A10)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0.25: costs se pehle har trade +0.25R expectancy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39565">
                <a:tc>
                  <a:txBody>
                    <a:bodyPr wrap="square"/>
                    <a:lstStyle/>
                    <a:p>
                      <a:pPr algn="ctr"/>
                      <a:r>
                        <a:rPr sz="1500" b="0" i="0">
                          <a:solidFill>
                            <a:srgbClr val="18232F"/>
                          </a:solidFill>
                          <a:latin typeface="Segoe UI"/>
                        </a:rPr>
                        <a:t>B2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=COUNTIF(A1:A10,"&gt;0")/10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0.4: yaani 40% win-rate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39565">
                <a:tc>
                  <a:txBody>
                    <a:bodyPr wrap="square"/>
                    <a:lstStyle/>
                    <a:p>
                      <a:pPr algn="ctr"/>
                      <a:r>
                        <a:rPr sz="1500" b="0" i="0">
                          <a:solidFill>
                            <a:srgbClr val="18232F"/>
                          </a:solidFill>
                          <a:latin typeface="Segoe UI"/>
                        </a:rPr>
                        <a:t>B3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=SUM(A1:A10)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2.5: 10 trades mein kul +2.5R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39565">
                <a:tc>
                  <a:txBody>
                    <a:bodyPr wrap="square"/>
                    <a:lstStyle/>
                    <a:p>
                      <a:pPr algn="ctr"/>
                      <a:r>
                        <a:rPr sz="1500" b="0" i="0">
                          <a:solidFill>
                            <a:srgbClr val="18232F"/>
                          </a:solidFill>
                          <a:latin typeface="Segoe UI"/>
                        </a:rPr>
                        <a:t>B4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=B1-0.1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0.15: har trade lagbhag 0.1R cost ke baad bhi positive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896765">
                <a:tc>
                  <a:txBody>
                    <a:bodyPr wrap="square"/>
                    <a:lstStyle/>
                    <a:p>
                      <a:pPr algn="ctr"/>
                      <a:r>
                        <a:rPr sz="1500" b="0" i="0">
                          <a:solidFill>
                            <a:srgbClr val="18232F"/>
                          </a:solidFill>
                          <a:latin typeface="Segoe UI"/>
                        </a:rPr>
                        <a:t>C1 to C10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=SUM($A$1:A1)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Optional: C1 mein type karke neeche tak copy kijiye. Running total 2, 1, 0, 1.5, 0.5, 2.5, 1.5, 0.5, 3.5, 2.5: jeetne wali sheet mein bhi yeh do baar apne high se 2R girta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98474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Rule judge karne ke liye 10 trades bahut kam hain: judge karne ke liye 30, bharose ke liye 100.</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Streak damage card: lagataar 7 haar</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Virtual Rs 10,00,000; har loss bache hue capital ka risk % le jaata hai. Jo bhi doosra risk % aapko lubhaaye, uske liye khaali row bhariye: (1 - risk) ko saat baar aapas mein guna kijiye, phir capital se (3% par lagbhag Rs 8.08 lakh bachte hain).</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566160"/>
        </p:xfrm>
        <a:graphic>
          <a:graphicData uri="http://schemas.openxmlformats.org/drawingml/2006/table">
            <a:tbl>
              <a:tblPr firstRow="1">
                <a:tableStyleId>{5C22544A-7EE6-4342-B048-85BDC9FD1C3A}</a:tableStyleId>
              </a:tblPr>
              <a:tblGrid>
                <a:gridCol w="2231340"/>
                <a:gridCol w="3300340"/>
                <a:gridCol w="2516433"/>
                <a:gridCol w="2863422"/>
              </a:tblGrid>
              <a:tr h="493776">
                <a:tc>
                  <a:txBody>
                    <a:bodyPr wrap="square"/>
                    <a:lstStyle/>
                    <a:p>
                      <a:pPr algn="l"/>
                      <a:r>
                        <a:rPr sz="1500" b="1" i="0">
                          <a:solidFill>
                            <a:srgbClr val="FFFFFF"/>
                          </a:solidFill>
                          <a:latin typeface="Segoe UI"/>
                        </a:rPr>
                        <a:t>Har trade risk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7 haar ke baad bacha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High se girawat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Wapsi ke liye gain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ctr"/>
                      <a:r>
                        <a:rPr sz="15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9,32,065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8,68,126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-13.2%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+15.2%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6,98,337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+43.2%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4,78,297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-52.2%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+109.1%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77900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House rule pehli row hai: har trade 1%, -2R par din band aur hafte mein -5R par pause.</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Streak simulator: bina AI ke banaiye</a:t>
            </a:r>
          </a:p>
        </p:txBody>
      </p:sp>
      <p:sp>
        <p:nvSpPr>
          <p:cNvPr id="4" name="TextBox 3"/>
          <p:cNvSpPr txBox="1"/>
          <p:nvPr/>
        </p:nvSpPr>
        <p:spPr>
          <a:xfrm>
            <a:off x="457200" y="1335024"/>
            <a:ext cx="11277295" cy="585216"/>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Ise nayi tab mein banaiye (neeche left mein +), taaki aapki 10-trade sheet surakshit rahe. Inputs, row 1 aur row 2 ke formulas (A2 se F2) type kijiye, phir A2:F2 select karke row 101 tak neeche drag kijiye. Har edit par RAND() naye numbers nikaalta hai: ek run freeze karne ke liye column B copy karke 'paste values only' kijiye, phir H3 mein 0.1 daal kar same trades par 10% risk dekhiye.</a:t>
            </a:r>
          </a:p>
        </p:txBody>
      </p:sp>
      <p:sp>
        <p:nvSpPr>
          <p:cNvPr id="5" name="Rounded Rectangle 4"/>
          <p:cNvSpPr/>
          <p:nvPr/>
        </p:nvSpPr>
        <p:spPr>
          <a:xfrm>
            <a:off x="457200" y="2066544"/>
            <a:ext cx="11277295" cy="4206240"/>
          </a:xfrm>
          <a:prstGeom prst="roundRect">
            <a:avLst>
              <a:gd name="adj" fmla="val 2608"/>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212848"/>
          <a:ext cx="10911535" cy="3886200"/>
        </p:xfrm>
        <a:graphic>
          <a:graphicData uri="http://schemas.openxmlformats.org/drawingml/2006/table">
            <a:tbl>
              <a:tblPr firstRow="1">
                <a:tableStyleId>{5C22544A-7EE6-4342-B048-85BDC9FD1C3A}</a:tableStyleId>
              </a:tblPr>
              <a:tblGrid>
                <a:gridCol w="1276646"/>
                <a:gridCol w="5294077"/>
                <a:gridCol w="4340812"/>
              </a:tblGrid>
              <a:tr h="493776">
                <a:tc>
                  <a:txBody>
                    <a:bodyPr wrap="square"/>
                    <a:lstStyle/>
                    <a:p>
                      <a:pPr algn="l"/>
                      <a:r>
                        <a:rPr sz="1500" b="1" i="0">
                          <a:solidFill>
                            <a:srgbClr val="FFFFFF"/>
                          </a:solidFill>
                          <a:latin typeface="Segoe UI"/>
                        </a:rPr>
                        <a:t>Cell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Ismein kya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Yeh type kijiye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ctr"/>
                      <a:r>
                        <a:rPr sz="1500" b="0" i="0">
                          <a:solidFill>
                            <a:srgbClr val="18232F"/>
                          </a:solidFill>
                          <a:latin typeface="Segoe UI"/>
                        </a:rPr>
                        <a:t>H1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Win-rate: 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0.55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H2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Average jeet, R mein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H3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Har trade risk: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0.01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C1, D1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Shuruaati capital, aur pehla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E1, F1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Shuruaat: na drawdown, na streak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A2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Trade number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=ROW()-1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B2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Result: +1.5R jeet ya -1R haar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=IF(RAND()&lt;$H$1,$H$2,-1)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AAPKA TEMPLATE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Streak simulator: bina AI ke banaiye</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5" name="Table 4"/>
          <p:cNvGraphicFramePr>
            <a:graphicFrameLocks noGrp="1"/>
          </p:cNvGraphicFramePr>
          <p:nvPr/>
        </p:nvGraphicFramePr>
        <p:xfrm>
          <a:off x="640080" y="1481328"/>
          <a:ext cx="10911536" cy="3401568"/>
        </p:xfrm>
        <a:graphic>
          <a:graphicData uri="http://schemas.openxmlformats.org/drawingml/2006/table">
            <a:tbl>
              <a:tblPr firstRow="1">
                <a:tableStyleId>{5C22544A-7EE6-4342-B048-85BDC9FD1C3A}</a:tableStyleId>
              </a:tblPr>
              <a:tblGrid>
                <a:gridCol w="1492110"/>
                <a:gridCol w="5847237"/>
                <a:gridCol w="3572189"/>
              </a:tblGrid>
              <a:tr h="493776">
                <a:tc>
                  <a:txBody>
                    <a:bodyPr wrap="square"/>
                    <a:lstStyle/>
                    <a:p>
                      <a:pPr algn="l"/>
                      <a:r>
                        <a:rPr sz="1500" b="1" i="0">
                          <a:solidFill>
                            <a:srgbClr val="FFFFFF"/>
                          </a:solidFill>
                          <a:latin typeface="Segoe UI"/>
                        </a:rPr>
                        <a:t>Cell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Ismein kya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Yeh type kijiye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ctr"/>
                      <a:r>
                        <a:rPr sz="1500" b="0" i="0">
                          <a:solidFill>
                            <a:srgbClr val="18232F"/>
                          </a:solidFill>
                          <a:latin typeface="Segoe UI"/>
                        </a:rPr>
                        <a:t>C2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Is trade ke baad capital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=C1*(1+$H$3*B2)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D2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Ab tak ka sabse ooncha capital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=MAX(D1,C2)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E2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Us high se drawdown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=C2/D2-1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F2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Abhi ki losing streak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=IF(B2&lt;0,F1+1,0)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H5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Sabse lambi losing streak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=MAX(F2:F101)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H6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Sabse gehra drawdown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=MIN(E2:E101)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6" name="TextBox 5"/>
          <p:cNvSpPr txBox="1"/>
          <p:nvPr/>
        </p:nvSpPr>
        <p:spPr>
          <a:xfrm>
            <a:off x="640080" y="4974336"/>
            <a:ext cx="10911535" cy="41148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Column E aur H6 ko % format mein rakhiye. Yeh made-up numbers hain: asli market itna saaf edge shayad hi deta hai, isliye har run ko uske sabse gehre drawdown se parakhiye, aakhri capital se nahi.</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Coin-flip survival</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647"/>
              </a:spcAft>
            </a:pPr>
            <a:r>
              <a:rPr sz="1850" b="0" i="0">
                <a:solidFill>
                  <a:srgbClr val="18232F"/>
                </a:solidFill>
                <a:latin typeface="Segoe UI"/>
              </a:rPr>
              <a:t>Sab 100 chips se shuru karte hain. Heads aaye toh daav ka 1.5 guna jeet, tails aaye toh daav gaya.</a:t>
            </a:r>
          </a:p>
          <a:p>
            <a:pPr algn="l">
              <a:lnSpc>
                <a:spcPct val="100000"/>
              </a:lnSpc>
              <a:spcAft>
                <a:spcPts val="647"/>
              </a:spcAft>
            </a:pPr>
            <a:r>
              <a:rPr sz="1850" b="0" i="0">
                <a:solidFill>
                  <a:srgbClr val="18232F"/>
                </a:solidFill>
                <a:latin typeface="Segoe UI"/>
              </a:rPr>
              <a:t>Aadha group har flip par 2 chips lagata hai, aadha 20; 20 wale ke paas 20 se kam chips bachein toh woh game se bahar.</a:t>
            </a:r>
          </a:p>
          <a:p>
            <a:pPr algn="l">
              <a:lnSpc>
                <a:spcPct val="100000"/>
              </a:lnSpc>
              <a:spcAft>
                <a:spcPts val="647"/>
              </a:spcAft>
            </a:pPr>
            <a:r>
              <a:rPr sz="1850" b="0" i="0">
                <a:solidFill>
                  <a:srgbClr val="18232F"/>
                </a:solidFill>
                <a:latin typeface="Segoe UI"/>
              </a:rPr>
              <a:t>Har player apna coin 20 baar uchhale, apne chips kaagaz par plot kare, aur apne high se sabse gehri girawat mark kare.</a:t>
            </a:r>
          </a:p>
          <a:p>
            <a:pPr algn="l">
              <a:lnSpc>
                <a:spcPct val="100000"/>
              </a:lnSpc>
              <a:spcAft>
                <a:spcPts val="647"/>
              </a:spcAft>
            </a:pPr>
            <a:r>
              <a:rPr sz="1850" b="0" i="0">
                <a:solidFill>
                  <a:srgbClr val="18232F"/>
                </a:solidFill>
                <a:latin typeface="Segoe UI"/>
              </a:rPr>
              <a:t>Phir dekhiye: bade daav wale kitne log bahar hue, aur kiski girawat aap shaanti se jhel paate?</a:t>
            </a:r>
          </a:p>
          <a:p>
            <a:pPr algn="l">
              <a:lnSpc>
                <a:spcPct val="100000"/>
              </a:lnSpc>
              <a:spcAft>
                <a:spcPts val="647"/>
              </a:spcAft>
            </a:pPr>
            <a:r>
              <a:rPr sz="1850" b="0" i="0">
                <a:solidFill>
                  <a:srgbClr val="18232F"/>
                </a:solidFill>
                <a:latin typeface="Segoe UI"/>
              </a:rPr>
              <a:t>Yeh coin har jeet par 1.5 guna deta hai, jo asli market kabhi nahi deta, isliye bade daav wale jo bach gaye unke paas aksar zyada chips hote hain; asli sawaal yeh hai ki kitne nahi bache, aur baaki khel khatam hone ke kitne kareeb pahunch gaye.</a:t>
            </a:r>
          </a:p>
          <a:p>
            <a:pPr algn="l">
              <a:lnSpc>
                <a:spcPct val="100000"/>
              </a:lnSpc>
            </a:pPr>
            <a:r>
              <a:rPr sz="1850" b="0" i="0">
                <a:solidFill>
                  <a:srgbClr val="18232F"/>
                </a:solidFill>
                <a:latin typeface="Segoe UI"/>
              </a:rPr>
              <a:t>Akele hain? Bade daav wala role 5 baar, har baar naye flips ke saath, khel kar giniye ki kitni baar bahar hue.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Streak simulator: luck ka khel sheet par dekhiye</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Streak simulator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patient spreadsheet tutor for a complete beginner in India. I am building a 100-trade streak simulator in Google Sheets from my course template, using made-up numbers.”</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Tipster ka maths check kijiye</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a made-up message from a tip channel, for example: '7 out of 8 calls hit target last week, join Premium for Rs 4,999'.”</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Trading maths par mera quiz lijiye</a:t>
            </a:r>
          </a:p>
        </p:txBody>
      </p:sp>
      <p:sp>
        <p:nvSpPr>
          <p:cNvPr id="17" name="TextBox 16"/>
          <p:cNvSpPr txBox="1"/>
          <p:nvPr/>
        </p:nvSpPr>
        <p:spPr>
          <a:xfrm>
            <a:off x="8298485"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859024"/>
            <a:ext cx="3234842" cy="1557528"/>
          </a:xfrm>
          <a:prstGeom prst="rect">
            <a:avLst/>
          </a:prstGeom>
          <a:noFill/>
        </p:spPr>
        <p:txBody>
          <a:bodyPr wrap="square" lIns="0" rIns="0" tIns="0" bIns="0" anchor="t">
            <a:noAutofit/>
          </a:bodyPr>
          <a:lstStyle/>
          <a:p>
            <a:pPr algn="l">
              <a:lnSpc>
                <a:spcPct val="100000"/>
              </a:lnSpc>
            </a:pPr>
            <a:r>
              <a:rPr sz="1250" b="0" i="1">
                <a:solidFill>
                  <a:srgbClr val="47596B"/>
                </a:solidFill>
                <a:latin typeface="Segoe UI"/>
              </a:rPr>
              <a:t>“Act as a friendly maths coach for a beginner trader in India. Ask me 6 short numeric questions, one at a time, using made-up companies and round rupee numbers: two on R-multiples (1R = distance to the stop x quantity), two on expectancy and the breakeven win-rate, and two on drawdown and loss recovery.”</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QUICK QUIZ · SAWAAL 1/5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ka practice plan: Kiran Foods Ltd ke 100 shares Rs 300 par, stop Rs 294 par. Baad mein woh Rs 312 par exit karti hai. R mein result kya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+12R</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+0.5R</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+2R</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QUICK QUIZ · SAWAAL 2/5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rule apne aadhe trades jeetta hai. Uski average jeet +1.5R hai aur average haar -1R. Costs se pehle har trade ki expectancy kya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+0.25R</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Zero, kyunki jeet aur haar barabar hain</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-0.25R</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+0.5R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channel dikhata hai ki uski 75% calls ka target hit hua. Average mein winning call +0.25R banati hai aur losing call -1R le jaati hai. Maths kya kehta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Costs se pehle hi har trade lagbhag 0.06R ka loss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Strong hai, kyunki 75% accuracy 50% se kaafi upar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Breakeven par hai: 75% hi iska breakeven win-rate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Costs se pehle har trade lagbhag +0.19R kamata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ka virtual account Rs 10,00,000 se girkar Rs 7,50,000 par aa jaata hai. Wapas Rs 10,00,000 tak pahunchne ke liye use ab Rs 7,50,000 par kitna gain chahiye?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50%</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Theek 25%</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20%</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33%</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ke rule ne 100 practice trades mein 55% win-rate aur positive expectancy dikhayi. Ab woh lagataar 5 trades haar gaya hai. Sabse samajhdaar kadam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Rule chhod de, kyunki lagataar paanch haar saabit karti hain ki woh ab kaam nahi karta</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Agle trade ka size double kare, taaki loss wapas aa jaye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Agla trade poore confidence se le, kyunki ab jeet banti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Ruk kar check kare ki rules follow hue; lagataar 5 haar yahan aam baat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Trader vs gambler: woh maths jo zyadatar beginners skip kar dete hain</a:t>
            </a:r>
          </a:p>
        </p:txBody>
      </p:sp>
      <p:sp>
        <p:nvSpPr>
          <p:cNvPr id="4" name="TextBox 3"/>
          <p:cNvSpPr txBox="1"/>
          <p:nvPr/>
        </p:nvSpPr>
        <p:spPr>
          <a:xfrm>
            <a:off x="457200" y="6109716"/>
            <a:ext cx="11277295" cy="21793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Stage 1 uses virtual money only and places no F&amp;O trades, not even on paper. 5 Circles Pvt Ltd · SEBI Registered Research Analyst · Reg. No. INH000020004</a:t>
            </a:r>
          </a:p>
        </p:txBody>
      </p:sp>
      <p:sp>
        <p:nvSpPr>
          <p:cNvPr id="5" name="Rounded Rectangle 4"/>
          <p:cNvSpPr/>
          <p:nvPr/>
        </p:nvSpPr>
        <p:spPr>
          <a:xfrm>
            <a:off x="457200" y="1335024"/>
            <a:ext cx="5501488" cy="4152900"/>
          </a:xfrm>
          <a:prstGeom prst="roundRect">
            <a:avLst>
              <a:gd name="adj" fmla="val 308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AAJ RAAT KA JOURNAL</a:t>
            </a:r>
          </a:p>
        </p:txBody>
      </p:sp>
      <p:sp>
        <p:nvSpPr>
          <p:cNvPr id="7" name="TextBox 6"/>
          <p:cNvSpPr txBox="1"/>
          <p:nvPr/>
        </p:nvSpPr>
        <p:spPr>
          <a:xfrm>
            <a:off x="731520" y="1901952"/>
            <a:ext cx="4952848" cy="342138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Koi tip, forward ya 'hot call' yaad kijiye jo aapne dekhi ho. Usne aapko kya dikhaya, aur kya chhupa liya? Woh ek sawaal likhiye jo aap ab kisi bhi win-rate par bharosa karne se pehle zaroor poochhenge.</a:t>
            </a:r>
          </a:p>
        </p:txBody>
      </p:sp>
      <p:sp>
        <p:nvSpPr>
          <p:cNvPr id="8" name="Rounded Rectangle 7"/>
          <p:cNvSpPr/>
          <p:nvPr/>
        </p:nvSpPr>
        <p:spPr>
          <a:xfrm>
            <a:off x="6233008" y="1335024"/>
            <a:ext cx="5501488" cy="4152900"/>
          </a:xfrm>
          <a:prstGeom prst="roundRect">
            <a:avLst>
              <a:gd name="adj" fmla="val 3082"/>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92379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Maths jeet ka vada nahi karta. Woh bas imaandaari se batata hai ki aap kaunsa khel khel rahe hain, aur trader ki shuruaat usi imaandaari se hoti hai.</a:t>
            </a:r>
          </a:p>
        </p:txBody>
      </p:sp>
      <p:sp>
        <p:nvSpPr>
          <p:cNvPr id="11" name="Rounded Rectangle 10"/>
          <p:cNvSpPr/>
          <p:nvPr/>
        </p:nvSpPr>
        <p:spPr>
          <a:xfrm>
            <a:off x="457200" y="5634228"/>
            <a:ext cx="4613022"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4 · AI aapka co-pilot, aur aapka scam radar</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04</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Market kaise chalta hai, aur price ki bhasha</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60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AI aapka co-pilot, aur aapka scam radar</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AI = analyst, aap = trigger: har claim ko Fact, Guess ya Kachra mein baantiye</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Fact / Guess / Kachra sorter aur ek hallucination trap</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Automation bias: machine par andha bharosa</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ek safe 4-hisson wala prompt likh payenge, AI chat ko apna analyst bana kar use kar payenge aur faisla khud lenge, kisi bhi claim ko Fact, Guess ya Kachra mein baant payenge, source check karke hallucination pakad payenge, apna personal data AI tools se door rakhenge, aur samjha payenge ki AI ki 'call' forward karna aapko tipster kyun bana deta hai.</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Woh 40% jo kabhi tha hi nahi</a:t>
            </a:r>
          </a:p>
        </p:txBody>
      </p:sp>
      <p:sp>
        <p:nvSpPr>
          <p:cNvPr id="4" name="Rounded Rectangle 3"/>
          <p:cNvSpPr/>
          <p:nvPr/>
        </p:nvSpPr>
        <p:spPr>
          <a:xfrm>
            <a:off x="457200" y="1426464"/>
            <a:ext cx="3649370" cy="441350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9563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Wednesday, raat 9 baje. Aman class call par apni phone screen share karta hai. Do cheezein khuli hain: ek AI chat aur ek Telegram message.</a:t>
            </a:r>
          </a:p>
        </p:txBody>
      </p:sp>
      <p:sp>
        <p:nvSpPr>
          <p:cNvPr id="7" name="Rounded Rectangle 6"/>
          <p:cNvSpPr/>
          <p:nvPr/>
        </p:nvSpPr>
        <p:spPr>
          <a:xfrm>
            <a:off x="4271162" y="1426464"/>
            <a:ext cx="3649370" cy="441350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3179064"/>
          </a:xfrm>
          <a:prstGeom prst="wedgeRoundRectCallout">
            <a:avLst>
              <a:gd name="adj1" fmla="val -41915"/>
              <a:gd name="adj2" fmla="val -55752"/>
              <a:gd name="adj3" fmla="val 3451"/>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8864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dekhiye. Maine AI se Bharat Pumps Ltd ke baare mein poocha. Woh keh raha hai ki pichhle saal ke isi quarter ke mukable profit 40% uchhal gaya aur company 'bahut strong' lag rahi hai. Aur yeh group bol raha hai ki unka AI bot 95% accurate hai. Yeh dono mil gaye, toh charts padhne ki zaroorat hi kya hai?</a:t>
            </a:r>
          </a:p>
        </p:txBody>
      </p:sp>
      <p:sp>
        <p:nvSpPr>
          <p:cNvPr id="13" name="Rounded Rectangle 12"/>
          <p:cNvSpPr/>
          <p:nvPr/>
        </p:nvSpPr>
        <p:spPr>
          <a:xfrm>
            <a:off x="8085125" y="1426464"/>
            <a:ext cx="3649370" cy="441350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AI-powered calls, 95% accuracy. Roz sure-shot profit. Sirf Rs 4,999 mahina. Bas 10 seats bachi hain, raat 12 se pehle join karo.</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Woh 40% jo kabhi tha hi nahi</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maine abhi company ki apni results press release kholi. Profit Rs 26 crore hai, pichhle saal isi quarter mein Rs 25 crore tha. Yeh 4% hai, 40% nahi. Aur AI ne yeh bataya hi nahi ki uska number aaya kahan se.</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Lekin woh itne confidence se bol raha tha, saaf-suthri table ke saath. Machine bhala number kyun gadhegi?</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Priya, aapka number kahan se aaya? Aman, AI ka number kahan se aaya? Yahi farak aaj ki class hai. Ek machine ne number gadh diya; ek group 'AI' ka thappa laga kar vada bech raha hai. Aaj se AI aapka analyst hai, trigger kabhi nahi.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Confidence saboot nahi hota. AI aapke liye tez draft bana sakta hai; check karna aur faisla lena aapka hi kaam hai.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AI analyst hai, trigger aap hain</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ChatGPT, Claude ya Gemini jaisa AI chat ek large language model (LLM) par chalta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Lambe document ka summary banana, kisi term ko aasaan shabdon mein samjhana, bikhre notes ko checklist mein badalna aur aapse kaam ke sawaal poochna.</a:t>
            </a:r>
          </a:p>
          <a:p>
            <a:pPr algn="l" marL="274320" indent="-274320">
              <a:lnSpc>
                <a:spcPct val="100000"/>
              </a:lnSpc>
              <a:buClr>
                <a:srgbClr val="00AEEF"/>
              </a:buClr>
              <a:buFont typeface="Arial"/>
              <a:buChar char="•"/>
            </a:pPr>
            <a:r>
              <a:rPr sz="1600" b="0" i="0">
                <a:solidFill>
                  <a:srgbClr val="18232F"/>
                </a:solidFill>
                <a:latin typeface="Segoe UI"/>
              </a:rPr>
              <a:t>Kal ka price ise nahi pata, aur yeh poore confidence ke saath galat bhi ho sakta hai.</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Listed companies har quarter (har 3 mahine) apne results NSE aur BSE ki website par file karti hain, aksar ek chhoti press release ke saath. Revenue yaani kul bikri; profit yaani saare kharche nikaalne ke baad jo bacha. Aman ne type kiya: 'Bharat Pumps ka kya lagta hai? Jawab mein ek lamba, confident opinion aa gaya, jise woh check hi nahi kar sakta tha. … Jab jawab mein 'profit Rs 26 crore' aaya, toh uska sentence bhi saath mein tha, isliye usne kuch hi second mein check kar liya.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Analyst se trigger tak</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AI se Buy button tak koi arrow nahi hai. Button sirf aap dabate hain, aur woh bhi checks ke baad.</a:t>
            </a:r>
          </a:p>
        </p:txBody>
      </p:sp>
      <p:sp>
        <p:nvSpPr>
          <p:cNvPr id="11" name="Rounded Rectangle 10"/>
          <p:cNvSpPr/>
          <p:nvPr/>
        </p:nvSpPr>
        <p:spPr>
          <a:xfrm>
            <a:off x="6397600" y="1796796"/>
            <a:ext cx="5154016" cy="568452"/>
          </a:xfrm>
          <a:prstGeom prst="roundRect">
            <a:avLst>
              <a:gd name="adj" fmla="val 1608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6534760" y="1879092"/>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Aapka source</a:t>
            </a:r>
          </a:p>
          <a:p>
            <a:pPr algn="l">
              <a:lnSpc>
                <a:spcPct val="100000"/>
              </a:lnSpc>
            </a:pPr>
            <a:r>
              <a:rPr sz="1250" b="0" i="0">
                <a:solidFill>
                  <a:srgbClr val="47596B"/>
                </a:solidFill>
                <a:latin typeface="Segoe UI"/>
              </a:rPr>
              <a:t>Jo text aapne paste kiya</a:t>
            </a:r>
          </a:p>
        </p:txBody>
      </p:sp>
      <p:sp>
        <p:nvSpPr>
          <p:cNvPr id="13" name="Down Arrow 12"/>
          <p:cNvSpPr/>
          <p:nvPr/>
        </p:nvSpPr>
        <p:spPr>
          <a:xfrm>
            <a:off x="6708496" y="2401824"/>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037680" y="2365248"/>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paste</a:t>
            </a:r>
          </a:p>
        </p:txBody>
      </p:sp>
      <p:sp>
        <p:nvSpPr>
          <p:cNvPr id="15" name="Rounded Rectangle 14"/>
          <p:cNvSpPr/>
          <p:nvPr/>
        </p:nvSpPr>
        <p:spPr>
          <a:xfrm>
            <a:off x="6397600" y="2700020"/>
            <a:ext cx="5154016" cy="568452"/>
          </a:xfrm>
          <a:prstGeom prst="roundRect">
            <a:avLst>
              <a:gd name="adj" fmla="val 1608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6534760" y="2782316"/>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AI analyst</a:t>
            </a:r>
          </a:p>
          <a:p>
            <a:pPr algn="l">
              <a:lnSpc>
                <a:spcPct val="100000"/>
              </a:lnSpc>
            </a:pPr>
            <a:r>
              <a:rPr sz="1250" b="0" i="0">
                <a:solidFill>
                  <a:srgbClr val="47596B"/>
                </a:solidFill>
                <a:latin typeface="Segoe UI"/>
              </a:rPr>
              <a:t>Summary, samjhana</a:t>
            </a:r>
          </a:p>
        </p:txBody>
      </p:sp>
      <p:sp>
        <p:nvSpPr>
          <p:cNvPr id="17" name="Down Arrow 16"/>
          <p:cNvSpPr/>
          <p:nvPr/>
        </p:nvSpPr>
        <p:spPr>
          <a:xfrm>
            <a:off x="6708496" y="3305048"/>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037680" y="3268472"/>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draft</a:t>
            </a:r>
          </a:p>
        </p:txBody>
      </p:sp>
      <p:sp>
        <p:nvSpPr>
          <p:cNvPr id="19" name="Rounded Rectangle 18"/>
          <p:cNvSpPr/>
          <p:nvPr/>
        </p:nvSpPr>
        <p:spPr>
          <a:xfrm>
            <a:off x="6397600" y="3603244"/>
            <a:ext cx="5154016" cy="568452"/>
          </a:xfrm>
          <a:prstGeom prst="roundRect">
            <a:avLst>
              <a:gd name="adj" fmla="val 16085"/>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534760" y="3685540"/>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Aapki checking</a:t>
            </a:r>
          </a:p>
          <a:p>
            <a:pPr algn="l">
              <a:lnSpc>
                <a:spcPct val="100000"/>
              </a:lnSpc>
            </a:pPr>
            <a:r>
              <a:rPr sz="1250" b="0" i="0">
                <a:solidFill>
                  <a:srgbClr val="47596B"/>
                </a:solidFill>
                <a:latin typeface="Segoe UI"/>
              </a:rPr>
              <a:t>Source? Check? Nuksaan?</a:t>
            </a:r>
          </a:p>
        </p:txBody>
      </p:sp>
      <p:sp>
        <p:nvSpPr>
          <p:cNvPr id="21" name="Down Arrow 20"/>
          <p:cNvSpPr/>
          <p:nvPr/>
        </p:nvSpPr>
        <p:spPr>
          <a:xfrm>
            <a:off x="6708496" y="4208272"/>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7037680" y="4171696"/>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checked</a:t>
            </a:r>
          </a:p>
        </p:txBody>
      </p:sp>
      <p:sp>
        <p:nvSpPr>
          <p:cNvPr id="23" name="Rounded Rectangle 22"/>
          <p:cNvSpPr/>
          <p:nvPr/>
        </p:nvSpPr>
        <p:spPr>
          <a:xfrm>
            <a:off x="6397600" y="4506468"/>
            <a:ext cx="5154016" cy="568452"/>
          </a:xfrm>
          <a:prstGeom prst="roundRect">
            <a:avLst>
              <a:gd name="adj" fmla="val 1608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34760" y="4588764"/>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Faisla aapka</a:t>
            </a:r>
          </a:p>
          <a:p>
            <a:pPr algn="l">
              <a:lnSpc>
                <a:spcPct val="100000"/>
              </a:lnSpc>
            </a:pPr>
            <a:r>
              <a:rPr sz="1250" b="0" i="0">
                <a:solidFill>
                  <a:srgbClr val="47596B"/>
                </a:solidFill>
                <a:latin typeface="Segoe UI"/>
              </a:rPr>
              <a:t>Trigger</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AI draft karta hai. Aap check karte hain. Faisla aap lete hain. Koi bhi AI jawab seedha order nahi banta.</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Fact, Guess ya Kachra: har claim ko chhaantiye</a:t>
            </a:r>
          </a:p>
        </p:txBody>
      </p:sp>
      <p:sp>
        <p:nvSpPr>
          <p:cNvPr id="4" name="TextBox 3"/>
          <p:cNvSpPr txBox="1"/>
          <p:nvPr/>
        </p:nvSpPr>
        <p:spPr>
          <a:xfrm>
            <a:off x="457200" y="1335024"/>
            <a:ext cx="5519776" cy="1451610"/>
          </a:xfrm>
          <a:prstGeom prst="rect">
            <a:avLst/>
          </a:prstGeom>
          <a:noFill/>
        </p:spPr>
        <p:txBody>
          <a:bodyPr wrap="square" lIns="0" rIns="0" tIns="0" bIns="0" anchor="t">
            <a:noAutofit/>
          </a:bodyPr>
          <a:lstStyle/>
          <a:p>
            <a:pPr algn="l" marL="274320" indent="-274320">
              <a:lnSpc>
                <a:spcPct val="100000"/>
              </a:lnSpc>
              <a:spcAft>
                <a:spcPts val="675"/>
              </a:spcAft>
              <a:buClr>
                <a:srgbClr val="00AEEF"/>
              </a:buClr>
              <a:buFont typeface="Arial"/>
              <a:buChar char="•"/>
            </a:pPr>
            <a:r>
              <a:rPr sz="1350" b="0" i="0">
                <a:solidFill>
                  <a:srgbClr val="18232F"/>
                </a:solidFill>
                <a:latin typeface="Segoe UI"/>
              </a:rPr>
              <a:t>Day 3 ke AI Lab prompt 'Tipster ka maths check kijiye' ne claims ko 'check ho sakta hai', 'check nahi ho sakta' aur 'sales trick' mein baanta tha.</a:t>
            </a:r>
          </a:p>
          <a:p>
            <a:pPr algn="l" marL="274320" indent="-274320">
              <a:lnSpc>
                <a:spcPct val="100000"/>
              </a:lnSpc>
              <a:spcAft>
                <a:spcPts val="675"/>
              </a:spcAft>
              <a:buClr>
                <a:srgbClr val="00AEEF"/>
              </a:buClr>
              <a:buFont typeface="Arial"/>
              <a:buChar char="•"/>
            </a:pPr>
            <a:r>
              <a:rPr sz="1350" b="0" i="0">
                <a:solidFill>
                  <a:srgbClr val="18232F"/>
                </a:solidFill>
                <a:latin typeface="Segoe UI"/>
              </a:rPr>
              <a:t>Aaj woh kachche groups pakke rules wale teen dabbe bante hain.</a:t>
            </a:r>
          </a:p>
          <a:p>
            <a:pPr algn="l" marL="274320" indent="-274320">
              <a:lnSpc>
                <a:spcPct val="100000"/>
              </a:lnSpc>
              <a:buClr>
                <a:srgbClr val="00AEEF"/>
              </a:buClr>
              <a:buFont typeface="Arial"/>
              <a:buChar char="•"/>
            </a:pPr>
            <a:r>
              <a:rPr sz="1350" b="0" i="0">
                <a:solidFill>
                  <a:srgbClr val="18232F"/>
                </a:solidFill>
                <a:latin typeface="Segoe UI"/>
              </a:rPr>
              <a:t>Guess: forecast, opinion ya kisi number ka apni samajh se nikaala gaya matlab, jo khulkar raay ki tarah kaha gaya ho.</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Kiran Foods Ltd ki results release kehti hai ki revenue Rs 380 crore se badhkar Rs 420 crore ho gaya. Yeh Fact hai: filing mein likha hai, aur Rs 40 crore ÷ Rs 380 crore se growth lagbhag 10.5% nikalti hai. … Waise bhi, asli andar ki khabar (jo company ne abhi public nahi ki) par trade karna gair-kanooni hai.</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Har claim ke teen dabbe</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Ek made-up company ke results wale din ki lines. Pehle chhaantiye, phir bharosa kijiye.</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32816"/>
          </a:xfrm>
          <a:prstGeom prst="roundRect">
            <a:avLst>
              <a:gd name="adj" fmla="val 2112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89401"/>
            <a:ext cx="3527450" cy="21640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32816"/>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Fact: check ho sakta hai</a:t>
            </a:r>
          </a:p>
        </p:txBody>
      </p:sp>
      <p:cxnSp>
        <p:nvCxnSpPr>
          <p:cNvPr id="16" name="Connector 15"/>
          <p:cNvCxnSpPr/>
          <p:nvPr/>
        </p:nvCxnSpPr>
        <p:spPr>
          <a:xfrm>
            <a:off x="640080" y="380580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52113"/>
            <a:ext cx="3234842" cy="1246251"/>
          </a:xfrm>
          <a:prstGeom prst="rect">
            <a:avLst/>
          </a:prstGeom>
          <a:noFill/>
        </p:spPr>
        <p:txBody>
          <a:bodyPr wrap="square" lIns="0" rIns="0" tIns="0" bIns="0" anchor="t">
            <a:noAutofit/>
          </a:bodyPr>
          <a:lstStyle/>
          <a:p>
            <a:pPr algn="l" marL="201168" indent="-201168">
              <a:lnSpc>
                <a:spcPct val="100000"/>
              </a:lnSpc>
              <a:spcAft>
                <a:spcPts val="650"/>
              </a:spcAft>
              <a:buClr>
                <a:srgbClr val="16A34A"/>
              </a:buClr>
              <a:buFont typeface="Arial"/>
              <a:buChar char="•"/>
            </a:pPr>
            <a:r>
              <a:rPr sz="1300" b="0" i="0">
                <a:solidFill>
                  <a:srgbClr val="18232F"/>
                </a:solidFill>
                <a:latin typeface="Segoe UI"/>
              </a:rPr>
              <a:t>Revenue Rs 420 cr, pehle Rs 380 cr</a:t>
            </a:r>
          </a:p>
          <a:p>
            <a:pPr algn="l" marL="201168" indent="-201168">
              <a:lnSpc>
                <a:spcPct val="100000"/>
              </a:lnSpc>
              <a:spcAft>
                <a:spcPts val="650"/>
              </a:spcAft>
              <a:buClr>
                <a:srgbClr val="16A34A"/>
              </a:buClr>
              <a:buFont typeface="Arial"/>
              <a:buChar char="•"/>
            </a:pPr>
            <a:r>
              <a:rPr sz="1300" b="0" i="0">
                <a:solidFill>
                  <a:srgbClr val="18232F"/>
                </a:solidFill>
                <a:latin typeface="Segoe UI"/>
              </a:rPr>
              <a:t>Results NSE website par file hue</a:t>
            </a:r>
          </a:p>
          <a:p>
            <a:pPr algn="l" marL="201168" indent="-201168">
              <a:lnSpc>
                <a:spcPct val="100000"/>
              </a:lnSpc>
              <a:buClr>
                <a:srgbClr val="16A34A"/>
              </a:buClr>
              <a:buFont typeface="Arial"/>
              <a:buChar char="•"/>
            </a:pPr>
            <a:r>
              <a:rPr sz="1300" b="0" i="0">
                <a:solidFill>
                  <a:srgbClr val="18232F"/>
                </a:solidFill>
                <a:latin typeface="Segoe UI"/>
              </a:rPr>
              <a:t>Debt ghatkar Rs 60 cr</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32816"/>
          </a:xfrm>
          <a:prstGeom prst="roundRect">
            <a:avLst>
              <a:gd name="adj" fmla="val 2112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89401"/>
            <a:ext cx="3527450" cy="21640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32816"/>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Guess: ek raay</a:t>
            </a:r>
          </a:p>
        </p:txBody>
      </p:sp>
      <p:cxnSp>
        <p:nvCxnSpPr>
          <p:cNvPr id="23" name="Connector 22"/>
          <p:cNvCxnSpPr/>
          <p:nvPr/>
        </p:nvCxnSpPr>
        <p:spPr>
          <a:xfrm>
            <a:off x="4332122" y="380580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52113"/>
            <a:ext cx="3234842" cy="1246251"/>
          </a:xfrm>
          <a:prstGeom prst="rect">
            <a:avLst/>
          </a:prstGeom>
          <a:noFill/>
        </p:spPr>
        <p:txBody>
          <a:bodyPr wrap="square" lIns="0" rIns="0" tIns="0" bIns="0" anchor="t">
            <a:noAutofit/>
          </a:bodyPr>
          <a:lstStyle/>
          <a:p>
            <a:pPr algn="l" marL="201168" indent="-201168">
              <a:lnSpc>
                <a:spcPct val="100000"/>
              </a:lnSpc>
              <a:spcAft>
                <a:spcPts val="650"/>
              </a:spcAft>
              <a:buClr>
                <a:srgbClr val="F5A524"/>
              </a:buClr>
              <a:buFont typeface="Arial"/>
              <a:buChar char="•"/>
            </a:pPr>
            <a:r>
              <a:rPr sz="1300" b="0" i="0">
                <a:solidFill>
                  <a:srgbClr val="18232F"/>
                </a:solidFill>
                <a:latin typeface="Segoe UI"/>
              </a:rPr>
              <a:t>'Festive demand achhi rehne ki umeed'</a:t>
            </a:r>
          </a:p>
          <a:p>
            <a:pPr algn="l" marL="201168" indent="-201168">
              <a:lnSpc>
                <a:spcPct val="100000"/>
              </a:lnSpc>
              <a:spcAft>
                <a:spcPts val="650"/>
              </a:spcAft>
              <a:buClr>
                <a:srgbClr val="F5A524"/>
              </a:buClr>
              <a:buFont typeface="Arial"/>
              <a:buChar char="•"/>
            </a:pPr>
            <a:r>
              <a:rPr sz="1300" b="0" i="0">
                <a:solidFill>
                  <a:srgbClr val="18232F"/>
                </a:solidFill>
                <a:latin typeface="Segoe UI"/>
              </a:rPr>
              <a:t>'Agle saal profit badh sakta hai'</a:t>
            </a:r>
          </a:p>
          <a:p>
            <a:pPr algn="l" marL="201168" indent="-201168">
              <a:lnSpc>
                <a:spcPct val="100000"/>
              </a:lnSpc>
              <a:buClr>
                <a:srgbClr val="F5A524"/>
              </a:buClr>
              <a:buFont typeface="Arial"/>
              <a:buChar char="•"/>
            </a:pPr>
            <a:r>
              <a:rPr sz="1300" b="0" i="0">
                <a:solidFill>
                  <a:srgbClr val="18232F"/>
                </a:solidFill>
                <a:latin typeface="Segoe UI"/>
              </a:rPr>
              <a:t>TV anchor ne kaha 'achhi position mein hai'</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32816"/>
          </a:xfrm>
          <a:prstGeom prst="roundRect">
            <a:avLst>
              <a:gd name="adj" fmla="val 2112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89401"/>
            <a:ext cx="3527450" cy="21640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32816"/>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Kachra: hype, vada ya galat</a:t>
            </a:r>
          </a:p>
        </p:txBody>
      </p:sp>
      <p:cxnSp>
        <p:nvCxnSpPr>
          <p:cNvPr id="30" name="Connector 29"/>
          <p:cNvCxnSpPr/>
          <p:nvPr/>
        </p:nvCxnSpPr>
        <p:spPr>
          <a:xfrm>
            <a:off x="8024165" y="3805809"/>
            <a:ext cx="3527450"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52113"/>
            <a:ext cx="3234842" cy="1246251"/>
          </a:xfrm>
          <a:prstGeom prst="rect">
            <a:avLst/>
          </a:prstGeom>
          <a:noFill/>
        </p:spPr>
        <p:txBody>
          <a:bodyPr wrap="square" lIns="0" rIns="0" tIns="0" bIns="0" anchor="t">
            <a:noAutofit/>
          </a:bodyPr>
          <a:lstStyle/>
          <a:p>
            <a:pPr algn="l" marL="201168" indent="-201168">
              <a:lnSpc>
                <a:spcPct val="100000"/>
              </a:lnSpc>
              <a:spcAft>
                <a:spcPts val="650"/>
              </a:spcAft>
              <a:buClr>
                <a:srgbClr val="F0554E"/>
              </a:buClr>
              <a:buFont typeface="Arial"/>
              <a:buChar char="•"/>
            </a:pPr>
            <a:r>
              <a:rPr sz="1300" b="0" i="0">
                <a:solidFill>
                  <a:srgbClr val="18232F"/>
                </a:solidFill>
                <a:latin typeface="Segoe UI"/>
              </a:rPr>
              <a:t>'Diwali tak double'</a:t>
            </a:r>
          </a:p>
          <a:p>
            <a:pPr algn="l" marL="201168" indent="-201168">
              <a:lnSpc>
                <a:spcPct val="100000"/>
              </a:lnSpc>
              <a:spcAft>
                <a:spcPts val="650"/>
              </a:spcAft>
              <a:buClr>
                <a:srgbClr val="F0554E"/>
              </a:buClr>
              <a:buFont typeface="Arial"/>
              <a:buChar char="•"/>
            </a:pPr>
            <a:r>
              <a:rPr sz="1300" b="0" i="0">
                <a:solidFill>
                  <a:srgbClr val="18232F"/>
                </a:solidFill>
                <a:latin typeface="Segoe UI"/>
              </a:rPr>
              <a:t>'Hamara AI bot 95% accurate'</a:t>
            </a:r>
          </a:p>
          <a:p>
            <a:pPr algn="l" marL="201168" indent="-201168">
              <a:lnSpc>
                <a:spcPct val="100000"/>
              </a:lnSpc>
              <a:spcAft>
                <a:spcPts val="650"/>
              </a:spcAft>
              <a:buClr>
                <a:srgbClr val="F0554E"/>
              </a:buClr>
              <a:buFont typeface="Arial"/>
              <a:buChar char="•"/>
            </a:pPr>
            <a:r>
              <a:rPr sz="1300" b="0" i="0">
                <a:solidFill>
                  <a:srgbClr val="18232F"/>
                </a:solidFill>
                <a:latin typeface="Segoe UI"/>
              </a:rPr>
              <a:t>'Andar ki khabar, jaldi karo'</a:t>
            </a:r>
          </a:p>
          <a:p>
            <a:pPr algn="l" marL="201168" indent="-201168">
              <a:lnSpc>
                <a:spcPct val="100000"/>
              </a:lnSpc>
              <a:buClr>
                <a:srgbClr val="F0554E"/>
              </a:buClr>
              <a:buFont typeface="Arial"/>
              <a:buChar char="•"/>
            </a:pPr>
            <a:r>
              <a:rPr sz="1300" b="0" i="0">
                <a:solidFill>
                  <a:srgbClr val="18232F"/>
                </a:solidFill>
                <a:latin typeface="Segoe UI"/>
              </a:rPr>
              <a:t>AI: 'profit 40% upar' (tha 4%)</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4" name="TextBox 3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Kisi ne kaha, yeh fact ho sakta hai; jo kaha, woh phir bhi guess ho sakta hai.</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Hallucination aur knowledge cutoff</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Hallucination tab hota hai jab AI poore confidence se koi galat baat bol de.</a:t>
            </a:r>
          </a:p>
          <a:p>
            <a:pPr algn="l" marL="274320" indent="-274320">
              <a:lnSpc>
                <a:spcPct val="100000"/>
              </a:lnSpc>
              <a:spcAft>
                <a:spcPts val="800"/>
              </a:spcAft>
              <a:buClr>
                <a:srgbClr val="00AEEF"/>
              </a:buClr>
              <a:buFont typeface="Arial"/>
              <a:buChar char="•"/>
            </a:pPr>
            <a:r>
              <a:rPr sz="1600" b="0" i="0">
                <a:solidFill>
                  <a:srgbClr val="18232F"/>
                </a:solidFill>
                <a:latin typeface="Segoe UI"/>
              </a:rPr>
              <a:t>Aisa isliye hota hai kyunki LLM agle sabse 'sahi lagne wale' shabd likhta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Woh khud se sach dhoondhta nahi.</a:t>
            </a:r>
          </a:p>
          <a:p>
            <a:pPr algn="l" marL="274320" indent="-274320">
              <a:lnSpc>
                <a:spcPct val="100000"/>
              </a:lnSpc>
              <a:buClr>
                <a:srgbClr val="00AEEF"/>
              </a:buClr>
              <a:buFont typeface="Arial"/>
              <a:buChar char="•"/>
            </a:pPr>
            <a:r>
              <a:rPr sz="1600" b="0" i="0">
                <a:solidFill>
                  <a:srgbClr val="18232F"/>
                </a:solidFill>
                <a:latin typeface="Segoe UI"/>
              </a:rPr>
              <a:t>Knowledge cutoff woh date hai jahan uska training text khatam hota hai, isliye ho sakta hai use naye results, naye rules ya aaj ke prices pata hi na hon.</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ke 40% par wapas aate hain. Bharat Pumps Ltd ki release mein is quarter ka profit Rs 26 crore hai, pichhle saal isi quarter mein Rs 25 crore tha. Badhat Rs 1 crore ki hai, aur Rs 1 crore ÷ Rs 25 crore = 4%. 40% growth ke liye profit Rs 35 crore hona chahiye tha. … Cutoff wala jaal zyada chhupa hota hai: purane text par train hua model aaj bhi bol sakta hai ki Indian shares T+2 mein settle hote hain, jabki market January 2023 mein hi poori tarah T+1 par aa chuka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40% ko pakadna</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40% growth ke liye profit Rs 35 crore hona chahiye. Release mein Rs 26 crore likha hai.</a:t>
            </a:r>
          </a:p>
        </p:txBody>
      </p:sp>
      <p:sp>
        <p:nvSpPr>
          <p:cNvPr id="11" name="TextBox 10"/>
          <p:cNvSpPr txBox="1"/>
          <p:nvPr/>
        </p:nvSpPr>
        <p:spPr>
          <a:xfrm>
            <a:off x="6397600" y="1805940"/>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83153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Is quarter ka profit</a:t>
            </a:r>
          </a:p>
        </p:txBody>
      </p:sp>
      <p:sp>
        <p:nvSpPr>
          <p:cNvPr id="13" name="TextBox 12"/>
          <p:cNvSpPr txBox="1"/>
          <p:nvPr/>
        </p:nvSpPr>
        <p:spPr>
          <a:xfrm>
            <a:off x="10594891" y="1805940"/>
            <a:ext cx="88357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26 cr</a:t>
            </a:r>
          </a:p>
        </p:txBody>
      </p:sp>
      <p:cxnSp>
        <p:nvCxnSpPr>
          <p:cNvPr id="14" name="Connector 13"/>
          <p:cNvCxnSpPr/>
          <p:nvPr/>
        </p:nvCxnSpPr>
        <p:spPr>
          <a:xfrm>
            <a:off x="6397600" y="234010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40102"/>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340102"/>
            <a:ext cx="383153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Pichhle saal ka yahi quarter</a:t>
            </a:r>
          </a:p>
        </p:txBody>
      </p:sp>
      <p:sp>
        <p:nvSpPr>
          <p:cNvPr id="17" name="TextBox 16"/>
          <p:cNvSpPr txBox="1"/>
          <p:nvPr/>
        </p:nvSpPr>
        <p:spPr>
          <a:xfrm>
            <a:off x="10594891" y="2340102"/>
            <a:ext cx="88357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25 cr</a:t>
            </a:r>
          </a:p>
        </p:txBody>
      </p:sp>
      <p:cxnSp>
        <p:nvCxnSpPr>
          <p:cNvPr id="18" name="Connector 17"/>
          <p:cNvCxnSpPr/>
          <p:nvPr/>
        </p:nvCxnSpPr>
        <p:spPr>
          <a:xfrm>
            <a:off x="6397600" y="287426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874264"/>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874264"/>
            <a:ext cx="383153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Badhat</a:t>
            </a:r>
          </a:p>
        </p:txBody>
      </p:sp>
      <p:sp>
        <p:nvSpPr>
          <p:cNvPr id="21" name="TextBox 20"/>
          <p:cNvSpPr txBox="1"/>
          <p:nvPr/>
        </p:nvSpPr>
        <p:spPr>
          <a:xfrm>
            <a:off x="10594891" y="2874264"/>
            <a:ext cx="88357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 cr</a:t>
            </a:r>
          </a:p>
        </p:txBody>
      </p:sp>
      <p:cxnSp>
        <p:nvCxnSpPr>
          <p:cNvPr id="22" name="Connector 21"/>
          <p:cNvCxnSpPr/>
          <p:nvPr/>
        </p:nvCxnSpPr>
        <p:spPr>
          <a:xfrm>
            <a:off x="6397600" y="340842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408426"/>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408426"/>
            <a:ext cx="383153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Pichhle saal ke profit se bhaag</a:t>
            </a:r>
          </a:p>
        </p:txBody>
      </p:sp>
      <p:sp>
        <p:nvSpPr>
          <p:cNvPr id="25" name="TextBox 24"/>
          <p:cNvSpPr txBox="1"/>
          <p:nvPr/>
        </p:nvSpPr>
        <p:spPr>
          <a:xfrm>
            <a:off x="10594891" y="3408426"/>
            <a:ext cx="88357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25 cr</a:t>
            </a:r>
          </a:p>
        </p:txBody>
      </p:sp>
      <p:cxnSp>
        <p:nvCxnSpPr>
          <p:cNvPr id="26" name="Connector 25"/>
          <p:cNvCxnSpPr/>
          <p:nvPr/>
        </p:nvCxnSpPr>
        <p:spPr>
          <a:xfrm>
            <a:off x="6397600" y="394258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942588"/>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x</a:t>
            </a:r>
          </a:p>
        </p:txBody>
      </p:sp>
      <p:sp>
        <p:nvSpPr>
          <p:cNvPr id="28" name="TextBox 27"/>
          <p:cNvSpPr txBox="1"/>
          <p:nvPr/>
        </p:nvSpPr>
        <p:spPr>
          <a:xfrm>
            <a:off x="6726784" y="3942588"/>
            <a:ext cx="383153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 mein badliye</a:t>
            </a:r>
          </a:p>
        </p:txBody>
      </p:sp>
      <p:sp>
        <p:nvSpPr>
          <p:cNvPr id="29" name="TextBox 28"/>
          <p:cNvSpPr txBox="1"/>
          <p:nvPr/>
        </p:nvSpPr>
        <p:spPr>
          <a:xfrm>
            <a:off x="10594891" y="3942588"/>
            <a:ext cx="88357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100</a:t>
            </a:r>
          </a:p>
        </p:txBody>
      </p:sp>
      <p:sp>
        <p:nvSpPr>
          <p:cNvPr id="30" name="Rounded Rectangle 29"/>
          <p:cNvSpPr/>
          <p:nvPr/>
        </p:nvSpPr>
        <p:spPr>
          <a:xfrm>
            <a:off x="6397600" y="4531614"/>
            <a:ext cx="5154016" cy="534162"/>
          </a:xfrm>
          <a:prstGeom prst="roundRect">
            <a:avLst>
              <a:gd name="adj" fmla="val 13694"/>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531614"/>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531614"/>
            <a:ext cx="3831531" cy="53416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Asli growth (AI ne kaha 40%)</a:t>
            </a:r>
          </a:p>
        </p:txBody>
      </p:sp>
      <p:sp>
        <p:nvSpPr>
          <p:cNvPr id="33" name="TextBox 32"/>
          <p:cNvSpPr txBox="1"/>
          <p:nvPr/>
        </p:nvSpPr>
        <p:spPr>
          <a:xfrm>
            <a:off x="10594891" y="4531614"/>
            <a:ext cx="883573" cy="53416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4%</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6" name="TextBox 3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Source nahi, quote nahi, toh bharosa bhi nahi. Guess ki jagah 'missing' maangiye.</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Automation bias: jab saaf-suthra jawab dimaag band kar de</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Automation bias ka matlab hai machine ke jawab par apni checking se zyada bharosa kar lena, sirf isliye ki machine ne diya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Yeh tab badhta hai jab jawab saaf-suthra dikhe: clean table, do decimal tak ke exact numbers, aur shaant, confident tone.</a:t>
            </a:r>
          </a:p>
          <a:p>
            <a:pPr algn="l" marL="274320" indent="-274320">
              <a:lnSpc>
                <a:spcPct val="100000"/>
              </a:lnSpc>
              <a:buClr>
                <a:srgbClr val="00AEEF"/>
              </a:buClr>
              <a:buFont typeface="Arial"/>
              <a:buChar char="•"/>
            </a:pPr>
            <a:r>
              <a:rPr sz="1600" b="0" i="0">
                <a:solidFill>
                  <a:srgbClr val="18232F"/>
                </a:solidFill>
                <a:latin typeface="Segoe UI"/>
              </a:rPr>
              <a:t>Airline pilots ko autopilot cross-check karne ki training milti hai.</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GPS ke baare mein sochiye. Zyadatar din woh sahi hota hai, lekin ek shaam woh aapko aisi gali mein mudne ko kehta hai jahan shaadi ka shamiana laga hai. Aap phir bhi khidki se bahar dekhte hain na? Aman ki AI table mein Bharat Pumps ka quarterly revenue 'Rs 1,184.37 crore' likha tha. Do decimal dekhkar number bilkul exact laga, aur usne check karna chhod diya. … Agar usne iske bharose Rs 50,000 laga diye hote, toh Gate 3 poochta: jo number maine kabhi check hi nahi kiya, kya woh Rs 50,000 ke laayak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3-gate card</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Yeh card screen ke paas rakhiye. Source nahi, ya abhi check nahi kiya? Toh bahar.</a:t>
            </a:r>
          </a:p>
        </p:txBody>
      </p:sp>
      <p:cxnSp>
        <p:nvCxnSpPr>
          <p:cNvPr id="11" name="Connector 10"/>
          <p:cNvCxnSpPr/>
          <p:nvPr/>
        </p:nvCxnSpPr>
        <p:spPr>
          <a:xfrm>
            <a:off x="6718968" y="2337816"/>
            <a:ext cx="0" cy="2281428"/>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97600" y="2173224"/>
            <a:ext cx="6427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Gate 1</a:t>
            </a:r>
          </a:p>
        </p:txBody>
      </p:sp>
      <p:sp>
        <p:nvSpPr>
          <p:cNvPr id="13" name="TextBox 12"/>
          <p:cNvSpPr txBox="1"/>
          <p:nvPr/>
        </p:nvSpPr>
        <p:spPr>
          <a:xfrm>
            <a:off x="7223216" y="2191512"/>
            <a:ext cx="432840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Source?</a:t>
            </a:r>
          </a:p>
          <a:p>
            <a:pPr algn="l">
              <a:lnSpc>
                <a:spcPct val="100000"/>
              </a:lnSpc>
            </a:pPr>
            <a:r>
              <a:rPr sz="1250" b="0" i="0">
                <a:solidFill>
                  <a:srgbClr val="47596B"/>
                </a:solidFill>
                <a:latin typeface="Segoe UI"/>
              </a:rPr>
              <a:t>Yeh aaya kahan se?</a:t>
            </a:r>
          </a:p>
        </p:txBody>
      </p:sp>
      <p:sp>
        <p:nvSpPr>
          <p:cNvPr id="14" name="Rounded Rectangle 13"/>
          <p:cNvSpPr/>
          <p:nvPr/>
        </p:nvSpPr>
        <p:spPr>
          <a:xfrm>
            <a:off x="6397600" y="2933700"/>
            <a:ext cx="6427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Gate 2</a:t>
            </a:r>
          </a:p>
        </p:txBody>
      </p:sp>
      <p:sp>
        <p:nvSpPr>
          <p:cNvPr id="15" name="TextBox 14"/>
          <p:cNvSpPr txBox="1"/>
          <p:nvPr/>
        </p:nvSpPr>
        <p:spPr>
          <a:xfrm>
            <a:off x="7223216" y="2951988"/>
            <a:ext cx="432840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30 sec mein check?</a:t>
            </a:r>
          </a:p>
          <a:p>
            <a:pPr algn="l">
              <a:lnSpc>
                <a:spcPct val="100000"/>
              </a:lnSpc>
            </a:pPr>
            <a:r>
              <a:rPr sz="1250" b="0" i="0">
                <a:solidFill>
                  <a:srgbClr val="47596B"/>
                </a:solidFill>
                <a:latin typeface="Segoe UI"/>
              </a:rPr>
              <a:t>Source se khud check kar sakte hain?</a:t>
            </a:r>
          </a:p>
        </p:txBody>
      </p:sp>
      <p:sp>
        <p:nvSpPr>
          <p:cNvPr id="16" name="Rounded Rectangle 15"/>
          <p:cNvSpPr/>
          <p:nvPr/>
        </p:nvSpPr>
        <p:spPr>
          <a:xfrm>
            <a:off x="6397600" y="3694176"/>
            <a:ext cx="6427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Gate 3</a:t>
            </a:r>
          </a:p>
        </p:txBody>
      </p:sp>
      <p:sp>
        <p:nvSpPr>
          <p:cNvPr id="17" name="TextBox 16"/>
          <p:cNvSpPr txBox="1"/>
          <p:nvPr/>
        </p:nvSpPr>
        <p:spPr>
          <a:xfrm>
            <a:off x="7223216" y="3712464"/>
            <a:ext cx="432840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Galat hua toh nuksaan?</a:t>
            </a:r>
          </a:p>
          <a:p>
            <a:pPr algn="l">
              <a:lnSpc>
                <a:spcPct val="100000"/>
              </a:lnSpc>
            </a:pPr>
            <a:r>
              <a:rPr sz="1250" b="0" i="0">
                <a:solidFill>
                  <a:srgbClr val="47596B"/>
                </a:solidFill>
                <a:latin typeface="Segoe UI"/>
              </a:rPr>
              <a:t>Nuksaan bada, toh checking zyada</a:t>
            </a:r>
          </a:p>
        </p:txBody>
      </p:sp>
      <p:sp>
        <p:nvSpPr>
          <p:cNvPr id="18" name="Rounded Rectangle 17"/>
          <p:cNvSpPr/>
          <p:nvPr/>
        </p:nvSpPr>
        <p:spPr>
          <a:xfrm>
            <a:off x="6397600" y="4454652"/>
            <a:ext cx="6427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Pass</a:t>
            </a:r>
          </a:p>
        </p:txBody>
      </p:sp>
      <p:sp>
        <p:nvSpPr>
          <p:cNvPr id="19" name="TextBox 18"/>
          <p:cNvSpPr txBox="1"/>
          <p:nvPr/>
        </p:nvSpPr>
        <p:spPr>
          <a:xfrm>
            <a:off x="7223216" y="4472940"/>
            <a:ext cx="432840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Notes mein jaaye</a:t>
            </a:r>
          </a:p>
          <a:p>
            <a:pPr algn="l">
              <a:lnSpc>
                <a:spcPct val="100000"/>
              </a:lnSpc>
            </a:pPr>
            <a:r>
              <a:rPr sz="1250" b="0" i="0">
                <a:solidFill>
                  <a:srgbClr val="47596B"/>
                </a:solidFill>
                <a:latin typeface="Segoe UI"/>
              </a:rPr>
              <a:t>Ab bhi draft hai; faisla aapka</a:t>
            </a:r>
          </a:p>
        </p:txBody>
      </p:sp>
      <p:sp>
        <p:nvSpPr>
          <p:cNvPr id="20" name="Rounded Rectangle 1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2" name="TextBox 2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Saaf-suthra jawab, check kiya hua jawab nahi hota. Har baar 3 gates lagaiye.</a:t>
            </a:r>
          </a:p>
        </p:txBody>
      </p:sp>
      <p:pic>
        <p:nvPicPr>
          <p:cNvPr id="23" name="Picture 22" descr="logo.png"/>
          <p:cNvPicPr>
            <a:picLocks noChangeAspect="1"/>
          </p:cNvPicPr>
          <p:nvPr/>
        </p:nvPicPr>
        <p:blipFill>
          <a:blip r:embed="rId2"/>
          <a:stretch>
            <a:fillRect/>
          </a:stretch>
        </p:blipFill>
        <p:spPr>
          <a:xfrm>
            <a:off x="457200" y="6437376"/>
            <a:ext cx="237744" cy="237744"/>
          </a:xfrm>
          <a:prstGeom prst="rect">
            <a:avLst/>
          </a:prstGeom>
        </p:spPr>
      </p:pic>
      <p:sp>
        <p:nvSpPr>
          <p:cNvPr id="2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5" name="TextBox 2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Data hygiene: AI mein kya kabhi nahi daalna</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Data hygiene ka matlab hai apni personal aur financial details ko wahan na jaane dena jahan unki zaroorat hi nahi.</a:t>
            </a:r>
          </a:p>
          <a:p>
            <a:pPr algn="l" marL="274320" indent="-274320">
              <a:lnSpc>
                <a:spcPct val="100000"/>
              </a:lnSpc>
              <a:spcAft>
                <a:spcPts val="800"/>
              </a:spcAft>
              <a:buClr>
                <a:srgbClr val="00AEEF"/>
              </a:buClr>
              <a:buFont typeface="Arial"/>
              <a:buChar char="•"/>
            </a:pPr>
            <a:r>
              <a:rPr sz="1600" b="0" i="0">
                <a:solidFill>
                  <a:srgbClr val="18232F"/>
                </a:solidFill>
                <a:latin typeface="Segoe UI"/>
              </a:rPr>
              <a:t>Jahan aapka AI app allow kare, temporary chat use kijiye ya apni chats par training off kar dijiye.</a:t>
            </a:r>
          </a:p>
          <a:p>
            <a:pPr algn="l" marL="274320" indent="-274320">
              <a:lnSpc>
                <a:spcPct val="100000"/>
              </a:lnSpc>
              <a:spcAft>
                <a:spcPts val="800"/>
              </a:spcAft>
              <a:buClr>
                <a:srgbClr val="00AEEF"/>
              </a:buClr>
              <a:buFont typeface="Arial"/>
              <a:buChar char="•"/>
            </a:pPr>
            <a:r>
              <a:rPr sz="1600" b="0" i="0">
                <a:solidFill>
                  <a:srgbClr val="18232F"/>
                </a:solidFill>
                <a:latin typeface="Segoe UI"/>
              </a:rPr>
              <a:t>Lekin isse bhi PAN, OTP ya password paste karna safe nahi ho jaata.</a:t>
            </a:r>
          </a:p>
          <a:p>
            <a:pPr algn="l" marL="274320" indent="-274320">
              <a:lnSpc>
                <a:spcPct val="100000"/>
              </a:lnSpc>
              <a:buClr>
                <a:srgbClr val="00AEEF"/>
              </a:buClr>
              <a:buFont typeface="Arial"/>
              <a:buChar char="•"/>
            </a:pPr>
            <a:r>
              <a:rPr sz="1600" b="0" i="0">
                <a:solidFill>
                  <a:srgbClr val="18232F"/>
                </a:solidFill>
                <a:latin typeface="Segoe UI"/>
              </a:rPr>
              <a:t>Public text theek hai: company ki press release, index ka level, ek made-up practice trade.</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ke chacha ne Gupta Cement ke Rs 25,000 ke shares khareede aur usse kehte hain ki 'contract note AI mein daal do', taaki charges samajh aa jayein. PDF mein unka naam, PAN, client code aur address hai. Priya use upload nahi karti. … AI ke jawab ko chacha ki pehchaan ki zaroorat hi nahi thi; kisi fraudster ko toh woh poori ki poori chahiye hoti.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Kya daalein, kya nahi</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Shak ho toh mat daaliye. Document upload karne ki jagah uske baare mein likh sakte hain.</a:t>
            </a:r>
          </a:p>
        </p:txBody>
      </p:sp>
      <p:sp>
        <p:nvSpPr>
          <p:cNvPr id="11" name="Rounded Rectangle 10"/>
          <p:cNvSpPr/>
          <p:nvPr/>
        </p:nvSpPr>
        <p:spPr>
          <a:xfrm>
            <a:off x="6397600" y="189547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89547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12712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895475"/>
            <a:ext cx="2494712" cy="308076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89547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Paste kar sakte hain</a:t>
            </a:r>
          </a:p>
        </p:txBody>
      </p:sp>
      <p:cxnSp>
        <p:nvCxnSpPr>
          <p:cNvPr id="16" name="Connector 15"/>
          <p:cNvCxnSpPr/>
          <p:nvPr/>
        </p:nvCxnSpPr>
        <p:spPr>
          <a:xfrm>
            <a:off x="6397600" y="2358771"/>
            <a:ext cx="2494711"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50507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Company ki press release</a:t>
            </a:r>
          </a:p>
          <a:p>
            <a:pPr algn="l" marL="201168" indent="-201168">
              <a:lnSpc>
                <a:spcPct val="100000"/>
              </a:lnSpc>
              <a:spcAft>
                <a:spcPts val="750"/>
              </a:spcAft>
              <a:buClr>
                <a:srgbClr val="16A34A"/>
              </a:buClr>
              <a:buFont typeface="Arial"/>
              <a:buChar char="•"/>
            </a:pPr>
            <a:r>
              <a:rPr sz="1500" b="0" i="0">
                <a:solidFill>
                  <a:srgbClr val="18232F"/>
                </a:solidFill>
                <a:latin typeface="Segoe UI"/>
              </a:rPr>
              <a:t>Index level, public news</a:t>
            </a:r>
          </a:p>
          <a:p>
            <a:pPr algn="l" marL="201168" indent="-201168">
              <a:lnSpc>
                <a:spcPct val="100000"/>
              </a:lnSpc>
              <a:spcAft>
                <a:spcPts val="750"/>
              </a:spcAft>
              <a:buClr>
                <a:srgbClr val="16A34A"/>
              </a:buClr>
              <a:buFont typeface="Arial"/>
              <a:buChar char="•"/>
            </a:pPr>
            <a:r>
              <a:rPr sz="1500" b="0" i="0">
                <a:solidFill>
                  <a:srgbClr val="18232F"/>
                </a:solidFill>
                <a:latin typeface="Segoe UI"/>
              </a:rPr>
              <a:t>Made-up practice trades</a:t>
            </a:r>
          </a:p>
          <a:p>
            <a:pPr algn="l" marL="201168" indent="-201168">
              <a:lnSpc>
                <a:spcPct val="100000"/>
              </a:lnSpc>
              <a:buClr>
                <a:srgbClr val="16A34A"/>
              </a:buClr>
              <a:buFont typeface="Arial"/>
              <a:buChar char="•"/>
            </a:pPr>
            <a:r>
              <a:rPr sz="1500" b="0" i="0">
                <a:solidFill>
                  <a:srgbClr val="18232F"/>
                </a:solidFill>
                <a:latin typeface="Segoe UI"/>
              </a:rPr>
              <a:t>Aapka journal, naam hatakar</a:t>
            </a:r>
          </a:p>
        </p:txBody>
      </p:sp>
      <p:sp>
        <p:nvSpPr>
          <p:cNvPr id="18" name="Rounded Rectangle 17"/>
          <p:cNvSpPr/>
          <p:nvPr/>
        </p:nvSpPr>
        <p:spPr>
          <a:xfrm>
            <a:off x="9056903" y="189547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89547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12712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895475"/>
            <a:ext cx="2494712" cy="308076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89547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Kabhi paste nahi</a:t>
            </a:r>
          </a:p>
        </p:txBody>
      </p:sp>
      <p:cxnSp>
        <p:nvCxnSpPr>
          <p:cNvPr id="23" name="Connector 22"/>
          <p:cNvCxnSpPr/>
          <p:nvPr/>
        </p:nvCxnSpPr>
        <p:spPr>
          <a:xfrm>
            <a:off x="9056903" y="2358771"/>
            <a:ext cx="2494712"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50507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PAN, Aadhaar, bank account</a:t>
            </a:r>
          </a:p>
          <a:p>
            <a:pPr algn="l" marL="201168" indent="-201168">
              <a:lnSpc>
                <a:spcPct val="100000"/>
              </a:lnSpc>
              <a:spcAft>
                <a:spcPts val="750"/>
              </a:spcAft>
              <a:buClr>
                <a:srgbClr val="F0554E"/>
              </a:buClr>
              <a:buFont typeface="Arial"/>
              <a:buChar char="•"/>
            </a:pPr>
            <a:r>
              <a:rPr sz="1500" b="0" i="0">
                <a:solidFill>
                  <a:srgbClr val="18232F"/>
                </a:solidFill>
                <a:latin typeface="Segoe UI"/>
              </a:rPr>
              <a:t>Client ID, password, OTP, TPIN</a:t>
            </a:r>
          </a:p>
          <a:p>
            <a:pPr algn="l" marL="201168" indent="-201168">
              <a:lnSpc>
                <a:spcPct val="100000"/>
              </a:lnSpc>
              <a:spcAft>
                <a:spcPts val="750"/>
              </a:spcAft>
              <a:buClr>
                <a:srgbClr val="F0554E"/>
              </a:buClr>
              <a:buFont typeface="Arial"/>
              <a:buChar char="•"/>
            </a:pPr>
            <a:r>
              <a:rPr sz="1500" b="0" i="0">
                <a:solidFill>
                  <a:srgbClr val="18232F"/>
                </a:solidFill>
                <a:latin typeface="Segoe UI"/>
              </a:rPr>
              <a:t>Kisi bhi app ki API keys</a:t>
            </a:r>
          </a:p>
          <a:p>
            <a:pPr algn="l" marL="201168" indent="-201168">
              <a:lnSpc>
                <a:spcPct val="100000"/>
              </a:lnSpc>
              <a:buClr>
                <a:srgbClr val="F0554E"/>
              </a:buClr>
              <a:buFont typeface="Arial"/>
              <a:buChar char="•"/>
            </a:pPr>
            <a:r>
              <a:rPr sz="1500" b="0" i="0">
                <a:solidFill>
                  <a:srgbClr val="18232F"/>
                </a:solidFill>
                <a:latin typeface="Segoe UI"/>
              </a:rPr>
              <a:t>Aapki details wale contract notes</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Sawaal paste kijiye, apni pehchaan nahi. PAN, OTP aur password kisi bhi AI mein kabhi nahi.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Tipster mat baniye, aur AI ke bhes mein tipster ko pehchaniye</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Jo AI jawab ek stock, entry price aur target bata de, woh kitna bhi chamakdaar ho, phir bhi Guess hi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Use doston ya WhatsApp group mein call bana kar forward kiya, toh aap adviser jaisa kaam karne lagte hain.</a:t>
            </a:r>
          </a:p>
          <a:p>
            <a:pPr algn="l" marL="274320" indent="-274320">
              <a:lnSpc>
                <a:spcPct val="100000"/>
              </a:lnSpc>
              <a:buClr>
                <a:srgbClr val="00AEEF"/>
              </a:buClr>
              <a:buFont typeface="Arial"/>
              <a:buChar char="•"/>
            </a:pPr>
            <a:r>
              <a:rPr sz="1600" b="0" i="0">
                <a:solidFill>
                  <a:srgbClr val="18232F"/>
                </a:solidFill>
                <a:latin typeface="Segoe UI"/>
              </a:rPr>
              <a:t>Business ki tarah ya fees lekar buy-sell recommendation dene ke liye SEBI registration chahiye, Investment Adviser ya Research Analyst ke roop mein.</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Telegram wale bot par wapas chaliye: '95% accurate', Rs 4,999 mahina. Yaani saal ke Rs 59,988, ek bhi trade se pehle. Day 3 ka hisaab kehta hai ki sirf win-rate se poori kahani pata nahi chalti: Rs 1,000 ki 95 jeet aur Rs 25,000 ke 5 loss ke baad bhi un 100 trades mein aap Rs 30,000 ke nuksaan mein hain, aur yeh fees se pehle ka hisaab hai. Group mein na losses ka koi record hai, na registration number, bas join karne ki ulti ginti. Yeh sab red flags hain, join karne ki wajah nahi.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Registered research vs AI ke bhes mein scam</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Page par likha number sirf shuruaat hai: use khud SEBI ki website par check kijiye (Day 7). Nakli log asli naam aur number bhi copy kar lete hain.</a:t>
            </a:r>
          </a:p>
        </p:txBody>
      </p:sp>
      <p:sp>
        <p:nvSpPr>
          <p:cNvPr id="11" name="Rounded Rectangle 10"/>
          <p:cNvSpPr/>
          <p:nvPr/>
        </p:nvSpPr>
        <p:spPr>
          <a:xfrm>
            <a:off x="6397600" y="1796796"/>
            <a:ext cx="2494712" cy="327812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796796"/>
            <a:ext cx="2494712" cy="646176"/>
          </a:xfrm>
          <a:prstGeom prst="roundRect">
            <a:avLst>
              <a:gd name="adj" fmla="val 14150"/>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119884"/>
            <a:ext cx="2494712" cy="32308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796796"/>
            <a:ext cx="2494712" cy="3278124"/>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796796"/>
            <a:ext cx="2202104" cy="646176"/>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Registered research report</a:t>
            </a:r>
          </a:p>
        </p:txBody>
      </p:sp>
      <p:cxnSp>
        <p:nvCxnSpPr>
          <p:cNvPr id="16" name="Connector 15"/>
          <p:cNvCxnSpPr/>
          <p:nvPr/>
        </p:nvCxnSpPr>
        <p:spPr>
          <a:xfrm>
            <a:off x="6397600" y="2442972"/>
            <a:ext cx="2494711"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589276"/>
            <a:ext cx="2202104" cy="2449068"/>
          </a:xfrm>
          <a:prstGeom prst="rect">
            <a:avLst/>
          </a:prstGeom>
          <a:noFill/>
        </p:spPr>
        <p:txBody>
          <a:bodyPr wrap="square" lIns="0" rIns="0" tIns="0" bIns="0" anchor="t">
            <a:noAutofit/>
          </a:bodyPr>
          <a:lstStyle/>
          <a:p>
            <a:pPr algn="l" marL="201168" indent="-201168">
              <a:lnSpc>
                <a:spcPct val="100000"/>
              </a:lnSpc>
              <a:spcAft>
                <a:spcPts val="650"/>
              </a:spcAft>
              <a:buClr>
                <a:srgbClr val="16A34A"/>
              </a:buClr>
              <a:buFont typeface="Arial"/>
              <a:buChar char="•"/>
            </a:pPr>
            <a:r>
              <a:rPr sz="1300" b="0" i="0">
                <a:solidFill>
                  <a:srgbClr val="18232F"/>
                </a:solidFill>
                <a:latin typeface="Segoe UI"/>
              </a:rPr>
              <a:t>SEBI number (INH ya INA) jo check ho sake</a:t>
            </a:r>
          </a:p>
          <a:p>
            <a:pPr algn="l" marL="201168" indent="-201168">
              <a:lnSpc>
                <a:spcPct val="100000"/>
              </a:lnSpc>
              <a:spcAft>
                <a:spcPts val="650"/>
              </a:spcAft>
              <a:buClr>
                <a:srgbClr val="16A34A"/>
              </a:buClr>
              <a:buFont typeface="Arial"/>
              <a:buChar char="•"/>
            </a:pPr>
            <a:r>
              <a:rPr sz="1300" b="0" i="0">
                <a:solidFill>
                  <a:srgbClr val="18232F"/>
                </a:solidFill>
                <a:latin typeface="Segoe UI"/>
              </a:rPr>
              <a:t>Analyst ka naam aur firm likhi hoti hai</a:t>
            </a:r>
          </a:p>
          <a:p>
            <a:pPr algn="l" marL="201168" indent="-201168">
              <a:lnSpc>
                <a:spcPct val="100000"/>
              </a:lnSpc>
              <a:spcAft>
                <a:spcPts val="650"/>
              </a:spcAft>
              <a:buClr>
                <a:srgbClr val="16A34A"/>
              </a:buClr>
              <a:buFont typeface="Arial"/>
              <a:buChar char="•"/>
            </a:pPr>
            <a:r>
              <a:rPr sz="1300" b="0" i="0">
                <a:solidFill>
                  <a:srgbClr val="18232F"/>
                </a:solidFill>
                <a:latin typeface="Segoe UI"/>
              </a:rPr>
              <a:t>Disclosures aur risk ki chetavni</a:t>
            </a:r>
          </a:p>
          <a:p>
            <a:pPr algn="l" marL="201168" indent="-201168">
              <a:lnSpc>
                <a:spcPct val="100000"/>
              </a:lnSpc>
              <a:spcAft>
                <a:spcPts val="650"/>
              </a:spcAft>
              <a:buClr>
                <a:srgbClr val="16A34A"/>
              </a:buClr>
              <a:buFont typeface="Arial"/>
              <a:buChar char="•"/>
            </a:pPr>
            <a:r>
              <a:rPr sz="1300" b="0" i="0">
                <a:solidFill>
                  <a:srgbClr val="18232F"/>
                </a:solidFill>
                <a:latin typeface="Segoe UI"/>
              </a:rPr>
              <a:t>Accuracy ya profit ka koi vada nahi</a:t>
            </a:r>
          </a:p>
          <a:p>
            <a:pPr algn="l" marL="201168" indent="-201168">
              <a:lnSpc>
                <a:spcPct val="100000"/>
              </a:lnSpc>
              <a:buClr>
                <a:srgbClr val="16A34A"/>
              </a:buClr>
              <a:buFont typeface="Arial"/>
              <a:buChar char="•"/>
            </a:pPr>
            <a:r>
              <a:rPr sz="1300" b="0" i="0">
                <a:solidFill>
                  <a:srgbClr val="18232F"/>
                </a:solidFill>
                <a:latin typeface="Segoe UI"/>
              </a:rPr>
              <a:t>Fees registered naam wale account mein</a:t>
            </a:r>
          </a:p>
        </p:txBody>
      </p:sp>
      <p:sp>
        <p:nvSpPr>
          <p:cNvPr id="18" name="Rounded Rectangle 17"/>
          <p:cNvSpPr/>
          <p:nvPr/>
        </p:nvSpPr>
        <p:spPr>
          <a:xfrm>
            <a:off x="9056903" y="1796796"/>
            <a:ext cx="2494712" cy="327812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796796"/>
            <a:ext cx="2494712" cy="646176"/>
          </a:xfrm>
          <a:prstGeom prst="roundRect">
            <a:avLst>
              <a:gd name="adj" fmla="val 14150"/>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119884"/>
            <a:ext cx="2494712" cy="32308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796796"/>
            <a:ext cx="2494712" cy="3278124"/>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796796"/>
            <a:ext cx="2202104" cy="646176"/>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AI ke bhes mein scam</a:t>
            </a:r>
          </a:p>
        </p:txBody>
      </p:sp>
      <p:cxnSp>
        <p:nvCxnSpPr>
          <p:cNvPr id="23" name="Connector 22"/>
          <p:cNvCxnSpPr/>
          <p:nvPr/>
        </p:nvCxnSpPr>
        <p:spPr>
          <a:xfrm>
            <a:off x="9056903" y="2442972"/>
            <a:ext cx="2494712"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589276"/>
            <a:ext cx="2202104" cy="2449068"/>
          </a:xfrm>
          <a:prstGeom prst="rect">
            <a:avLst/>
          </a:prstGeom>
          <a:noFill/>
        </p:spPr>
        <p:txBody>
          <a:bodyPr wrap="square" lIns="0" rIns="0" tIns="0" bIns="0" anchor="t">
            <a:noAutofit/>
          </a:bodyPr>
          <a:lstStyle/>
          <a:p>
            <a:pPr algn="l" marL="201168" indent="-201168">
              <a:lnSpc>
                <a:spcPct val="100000"/>
              </a:lnSpc>
              <a:spcAft>
                <a:spcPts val="650"/>
              </a:spcAft>
              <a:buClr>
                <a:srgbClr val="F0554E"/>
              </a:buClr>
              <a:buFont typeface="Arial"/>
              <a:buChar char="•"/>
            </a:pPr>
            <a:r>
              <a:rPr sz="1300" b="0" i="0">
                <a:solidFill>
                  <a:srgbClr val="18232F"/>
                </a:solidFill>
                <a:latin typeface="Segoe UI"/>
              </a:rPr>
              <a:t>'95% accurate AI bot'</a:t>
            </a:r>
          </a:p>
          <a:p>
            <a:pPr algn="l" marL="201168" indent="-201168">
              <a:lnSpc>
                <a:spcPct val="100000"/>
              </a:lnSpc>
              <a:spcAft>
                <a:spcPts val="650"/>
              </a:spcAft>
              <a:buClr>
                <a:srgbClr val="F0554E"/>
              </a:buClr>
              <a:buFont typeface="Arial"/>
              <a:buChar char="•"/>
            </a:pPr>
            <a:r>
              <a:rPr sz="1300" b="0" i="0">
                <a:solidFill>
                  <a:srgbClr val="18232F"/>
                </a:solidFill>
                <a:latin typeface="Segoe UI"/>
              </a:rPr>
              <a:t>Chamakdaar report, check karne layak number nahi</a:t>
            </a:r>
          </a:p>
          <a:p>
            <a:pPr algn="l" marL="201168" indent="-201168">
              <a:lnSpc>
                <a:spcPct val="100000"/>
              </a:lnSpc>
              <a:spcAft>
                <a:spcPts val="650"/>
              </a:spcAft>
              <a:buClr>
                <a:srgbClr val="F0554E"/>
              </a:buClr>
              <a:buFont typeface="Arial"/>
              <a:buChar char="•"/>
            </a:pPr>
            <a:r>
              <a:rPr sz="1300" b="0" i="0">
                <a:solidFill>
                  <a:srgbClr val="18232F"/>
                </a:solidFill>
                <a:latin typeface="Segoe UI"/>
              </a:rPr>
              <a:t>Mashhoor chehre ka deepfake video</a:t>
            </a:r>
          </a:p>
          <a:p>
            <a:pPr algn="l" marL="201168" indent="-201168">
              <a:lnSpc>
                <a:spcPct val="100000"/>
              </a:lnSpc>
              <a:spcAft>
                <a:spcPts val="650"/>
              </a:spcAft>
              <a:buClr>
                <a:srgbClr val="F0554E"/>
              </a:buClr>
              <a:buFont typeface="Arial"/>
              <a:buChar char="•"/>
            </a:pPr>
            <a:r>
              <a:rPr sz="1300" b="0" i="0">
                <a:solidFill>
                  <a:srgbClr val="18232F"/>
                </a:solidFill>
                <a:latin typeface="Segoe UI"/>
              </a:rPr>
              <a:t>Ulti ginti: 'raat 12 se pehle join karo'</a:t>
            </a:r>
          </a:p>
          <a:p>
            <a:pPr algn="l" marL="201168" indent="-201168">
              <a:lnSpc>
                <a:spcPct val="100000"/>
              </a:lnSpc>
              <a:buClr>
                <a:srgbClr val="F0554E"/>
              </a:buClr>
              <a:buFont typeface="Arial"/>
              <a:buChar char="•"/>
            </a:pPr>
            <a:r>
              <a:rPr sz="1300" b="0" i="0">
                <a:solidFill>
                  <a:srgbClr val="18232F"/>
                </a:solidFill>
                <a:latin typeface="Segoe UI"/>
              </a:rPr>
              <a:t>Personal UPI ID par payment</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AI ka jawab kabhi buy ya sell call bana kar forward mat kijiye. Accuracy ka har vada Kachra ke dabbe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LLM (AI chat)</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Large language model: bahut saare text par train hua software jo jawab likhta hai; ChatGPT, Claude ya Gemini jaise AI chat isi par chalte hain. Bhasha mein tez, future ke baare mein andha.</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18666"/>
            <a:ext cx="5154016" cy="208788"/>
          </a:xfrm>
          <a:prstGeom prst="rect">
            <a:avLst/>
          </a:prstGeom>
          <a:noFill/>
        </p:spPr>
        <p:txBody>
          <a:bodyPr wrap="square" lIns="0" rIns="0" tIns="0" bIns="0" anchor="t">
            <a:noAutofit/>
          </a:bodyPr>
          <a:lstStyle/>
          <a:p>
            <a:pPr algn="l">
              <a:lnSpc>
                <a:spcPct val="100000"/>
              </a:lnSpc>
            </a:pPr>
            <a:r>
              <a:rPr sz="1250" b="1" i="0">
                <a:solidFill>
                  <a:srgbClr val="095A90"/>
                </a:solidFill>
                <a:latin typeface="Segoe UI"/>
              </a:rPr>
              <a:t>Prompt (4 hisse)</a:t>
            </a:r>
          </a:p>
        </p:txBody>
      </p:sp>
      <p:sp>
        <p:nvSpPr>
          <p:cNvPr id="9" name="TextBox 8"/>
          <p:cNvSpPr txBox="1"/>
          <p:nvPr/>
        </p:nvSpPr>
        <p:spPr>
          <a:xfrm>
            <a:off x="6379312" y="1764030"/>
            <a:ext cx="5154016" cy="51663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AI ko diya gaya aapka instruction: context (source paste kijiye), task (ek saaf kaam), format (har number ka quote, Fact, Guess ya Kachra ka label, 'missing') aur guardrails (koi buy ya sell view nahi, koi target nahi, text ke bahar se kuch nahi).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59964"/>
            <a:ext cx="5154016"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Hallucination</a:t>
            </a:r>
          </a:p>
        </p:txBody>
      </p:sp>
      <p:sp>
        <p:nvSpPr>
          <p:cNvPr id="12" name="TextBox 11"/>
          <p:cNvSpPr txBox="1"/>
          <p:nvPr/>
        </p:nvSpPr>
        <p:spPr>
          <a:xfrm>
            <a:off x="658368" y="3081528"/>
            <a:ext cx="5154016" cy="50901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Jab AI poore confidence se galat baat bol de, jaise gadha hua number ya aisa circular jo exist hi nahi karta.</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59964"/>
            <a:ext cx="5154016"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Knowledge cutoff</a:t>
            </a:r>
          </a:p>
        </p:txBody>
      </p:sp>
      <p:sp>
        <p:nvSpPr>
          <p:cNvPr id="15" name="TextBox 14"/>
          <p:cNvSpPr txBox="1"/>
          <p:nvPr/>
        </p:nvSpPr>
        <p:spPr>
          <a:xfrm>
            <a:off x="6379312" y="3081528"/>
            <a:ext cx="5154016" cy="50901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Woh date jahan AI ka training text khatam hota hai. Uske baad ke results, rules ya prices use shayad pata na hon.</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08788"/>
          </a:xfrm>
          <a:prstGeom prst="rect">
            <a:avLst/>
          </a:prstGeom>
          <a:noFill/>
        </p:spPr>
        <p:txBody>
          <a:bodyPr wrap="square" lIns="0" rIns="0" tIns="0" bIns="0" anchor="t">
            <a:noAutofit/>
          </a:bodyPr>
          <a:lstStyle/>
          <a:p>
            <a:pPr algn="l">
              <a:lnSpc>
                <a:spcPct val="100000"/>
              </a:lnSpc>
            </a:pPr>
            <a:r>
              <a:rPr sz="1250" b="1" i="0">
                <a:solidFill>
                  <a:srgbClr val="095A90"/>
                </a:solidFill>
                <a:latin typeface="Segoe UI"/>
              </a:rPr>
              <a:t>Fact / Guess / Kachra</a:t>
            </a:r>
          </a:p>
        </p:txBody>
      </p:sp>
      <p:sp>
        <p:nvSpPr>
          <p:cNvPr id="18" name="TextBox 17"/>
          <p:cNvSpPr txBox="1"/>
          <p:nvPr/>
        </p:nvSpPr>
        <p:spPr>
          <a:xfrm>
            <a:off x="658368" y="4259580"/>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Course ke teen dabbe. Fact: jo ho chuka hai, official source mein check ho sake aur match kare. Guess: forecast ya opinion, chahe filing mein hi kyun na chhapa ho. Kachra: hype, vada, bina source ke 'sach' bataya gaya claim, ya check karne par galat nikla claim.</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35552"/>
            <a:ext cx="5154016"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Automation bias</a:t>
            </a:r>
          </a:p>
        </p:txBody>
      </p:sp>
      <p:sp>
        <p:nvSpPr>
          <p:cNvPr id="21" name="TextBox 20"/>
          <p:cNvSpPr txBox="1"/>
          <p:nvPr/>
        </p:nvSpPr>
        <p:spPr>
          <a:xfrm>
            <a:off x="6379312" y="4357116"/>
            <a:ext cx="5154016" cy="50901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Machine ke jawab par apni checking se zyada bharosa kar lena, sirf isliye ki machine ne diya hai.</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11140"/>
            <a:ext cx="5154016"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Data hygiene</a:t>
            </a:r>
          </a:p>
        </p:txBody>
      </p:sp>
      <p:sp>
        <p:nvSpPr>
          <p:cNvPr id="24" name="TextBox 23"/>
          <p:cNvSpPr txBox="1"/>
          <p:nvPr/>
        </p:nvSpPr>
        <p:spPr>
          <a:xfrm>
            <a:off x="658368" y="5632704"/>
            <a:ext cx="5154016" cy="50901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PAN, Aadhaar, OTP, passwords, client ID aur API keys ko har AI tool aur chat se door rakhna.</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Deepfake</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AI se bana video, photo ya awaaz jo kisi asli insaan ki nakal kare. Scammers mashhoor chehron se logon ko 'investment groups' mein kheenchte hain; aisa har invite check karne tak Kachra hi maaniye.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361438"/>
            <a:ext cx="502920" cy="144246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44246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04263"/>
            <a:ext cx="502920" cy="1699641"/>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7330288" y="3675316"/>
            <a:ext cx="502920" cy="128588"/>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571053"/>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AI = analyst, aap = trigger</a:t>
            </a:r>
          </a:p>
        </p:txBody>
      </p:sp>
      <p:sp>
        <p:nvSpPr>
          <p:cNvPr id="11" name="Rounded Rectangle 10"/>
          <p:cNvSpPr/>
          <p:nvPr/>
        </p:nvSpPr>
        <p:spPr>
          <a:xfrm>
            <a:off x="640080" y="1722501"/>
            <a:ext cx="3718408" cy="1277874"/>
          </a:xfrm>
          <a:prstGeom prst="roundRect">
            <a:avLst>
              <a:gd name="adj" fmla="val 8586"/>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832229"/>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Rule</a:t>
            </a:r>
          </a:p>
        </p:txBody>
      </p:sp>
      <p:sp>
        <p:nvSpPr>
          <p:cNvPr id="13" name="TextBox 12"/>
          <p:cNvSpPr txBox="1"/>
          <p:nvPr/>
        </p:nvSpPr>
        <p:spPr>
          <a:xfrm>
            <a:off x="786384" y="2133981"/>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AI draft kare, faisla aap</a:t>
            </a:r>
          </a:p>
          <a:p>
            <a:pPr algn="l" marL="182880" indent="-182880">
              <a:lnSpc>
                <a:spcPct val="100000"/>
              </a:lnSpc>
              <a:spcAft>
                <a:spcPts val="405"/>
              </a:spcAft>
              <a:buClr>
                <a:srgbClr val="0093D6"/>
              </a:buClr>
              <a:buFont typeface="Arial"/>
              <a:buChar char="•"/>
            </a:pPr>
            <a:r>
              <a:rPr sz="1350" b="0" i="0">
                <a:solidFill>
                  <a:srgbClr val="18232F"/>
                </a:solidFill>
                <a:latin typeface="Segoe UI"/>
              </a:rPr>
              <a:t>Prompt: context, task, format, guardrails</a:t>
            </a:r>
          </a:p>
          <a:p>
            <a:pPr algn="l" marL="182880" indent="-182880">
              <a:lnSpc>
                <a:spcPct val="100000"/>
              </a:lnSpc>
              <a:buClr>
                <a:srgbClr val="0093D6"/>
              </a:buClr>
              <a:buFont typeface="Arial"/>
              <a:buChar char="•"/>
            </a:pPr>
            <a:r>
              <a:rPr sz="1350" b="0" i="0">
                <a:solidFill>
                  <a:srgbClr val="18232F"/>
                </a:solidFill>
                <a:latin typeface="Segoe UI"/>
              </a:rPr>
              <a:t>Order tak koi arrow nahi</a:t>
            </a:r>
          </a:p>
        </p:txBody>
      </p:sp>
      <p:sp>
        <p:nvSpPr>
          <p:cNvPr id="14" name="Rounded Rectangle 13"/>
          <p:cNvSpPr/>
          <p:nvPr/>
        </p:nvSpPr>
        <p:spPr>
          <a:xfrm>
            <a:off x="640080" y="3164967"/>
            <a:ext cx="3718408" cy="1277874"/>
          </a:xfrm>
          <a:prstGeom prst="roundRect">
            <a:avLst>
              <a:gd name="adj" fmla="val 8586"/>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274695"/>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Teen dabbe</a:t>
            </a:r>
          </a:p>
        </p:txBody>
      </p:sp>
      <p:sp>
        <p:nvSpPr>
          <p:cNvPr id="16" name="TextBox 15"/>
          <p:cNvSpPr txBox="1"/>
          <p:nvPr/>
        </p:nvSpPr>
        <p:spPr>
          <a:xfrm>
            <a:off x="786384" y="3576447"/>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Fact = ho chuka, check ho sake</a:t>
            </a:r>
          </a:p>
          <a:p>
            <a:pPr algn="l" marL="182880" indent="-182880">
              <a:lnSpc>
                <a:spcPct val="100000"/>
              </a:lnSpc>
              <a:spcAft>
                <a:spcPts val="405"/>
              </a:spcAft>
              <a:buClr>
                <a:srgbClr val="F5A524"/>
              </a:buClr>
              <a:buFont typeface="Arial"/>
              <a:buChar char="•"/>
            </a:pPr>
            <a:r>
              <a:rPr sz="1350" b="0" i="0">
                <a:solidFill>
                  <a:srgbClr val="18232F"/>
                </a:solidFill>
                <a:latin typeface="Segoe UI"/>
              </a:rPr>
              <a:t>Guess = forecast ya raay</a:t>
            </a:r>
          </a:p>
          <a:p>
            <a:pPr algn="l" marL="182880" indent="-182880">
              <a:lnSpc>
                <a:spcPct val="100000"/>
              </a:lnSpc>
              <a:buClr>
                <a:srgbClr val="F5A524"/>
              </a:buClr>
              <a:buFont typeface="Arial"/>
              <a:buChar char="•"/>
            </a:pPr>
            <a:r>
              <a:rPr sz="1350" b="0" i="0">
                <a:solidFill>
                  <a:srgbClr val="18232F"/>
                </a:solidFill>
                <a:latin typeface="Segoe UI"/>
              </a:rPr>
              <a:t>Kachra = hype, vada ya galat</a:t>
            </a:r>
          </a:p>
        </p:txBody>
      </p:sp>
      <p:sp>
        <p:nvSpPr>
          <p:cNvPr id="17" name="Rounded Rectangle 16"/>
          <p:cNvSpPr/>
          <p:nvPr/>
        </p:nvSpPr>
        <p:spPr>
          <a:xfrm>
            <a:off x="640080" y="4607433"/>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717161"/>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AI ki galtiyan</a:t>
            </a:r>
          </a:p>
        </p:txBody>
      </p:sp>
      <p:sp>
        <p:nvSpPr>
          <p:cNvPr id="19" name="TextBox 18"/>
          <p:cNvSpPr txBox="1"/>
          <p:nvPr/>
        </p:nvSpPr>
        <p:spPr>
          <a:xfrm>
            <a:off x="786384" y="5018913"/>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Hallucination = confident aur galat</a:t>
            </a:r>
          </a:p>
          <a:p>
            <a:pPr algn="l" marL="182880" indent="-182880">
              <a:lnSpc>
                <a:spcPct val="100000"/>
              </a:lnSpc>
              <a:spcAft>
                <a:spcPts val="405"/>
              </a:spcAft>
              <a:buClr>
                <a:srgbClr val="F0554E"/>
              </a:buClr>
              <a:buFont typeface="Arial"/>
              <a:buChar char="•"/>
            </a:pPr>
            <a:r>
              <a:rPr sz="1350" b="0" i="0">
                <a:solidFill>
                  <a:srgbClr val="18232F"/>
                </a:solidFill>
                <a:latin typeface="Segoe UI"/>
              </a:rPr>
              <a:t>Cutoff = purani jaankari</a:t>
            </a:r>
          </a:p>
          <a:p>
            <a:pPr algn="l" marL="182880" indent="-182880">
              <a:lnSpc>
                <a:spcPct val="100000"/>
              </a:lnSpc>
              <a:buClr>
                <a:srgbClr val="F0554E"/>
              </a:buClr>
              <a:buFont typeface="Arial"/>
              <a:buChar char="•"/>
            </a:pPr>
            <a:r>
              <a:rPr sz="1350" b="0" i="0">
                <a:solidFill>
                  <a:srgbClr val="18232F"/>
                </a:solidFill>
                <a:latin typeface="Segoe UI"/>
              </a:rPr>
              <a:t>Source paste karein, 'missing' maangein</a:t>
            </a:r>
          </a:p>
        </p:txBody>
      </p:sp>
      <p:sp>
        <p:nvSpPr>
          <p:cNvPr id="20" name="Rounded Rectangle 19"/>
          <p:cNvSpPr/>
          <p:nvPr/>
        </p:nvSpPr>
        <p:spPr>
          <a:xfrm>
            <a:off x="7833208" y="1465326"/>
            <a:ext cx="3718408" cy="1277874"/>
          </a:xfrm>
          <a:prstGeom prst="roundRect">
            <a:avLst>
              <a:gd name="adj" fmla="val 8586"/>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575054"/>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Aapka mann</a:t>
            </a:r>
          </a:p>
        </p:txBody>
      </p:sp>
      <p:sp>
        <p:nvSpPr>
          <p:cNvPr id="22" name="TextBox 21"/>
          <p:cNvSpPr txBox="1"/>
          <p:nvPr/>
        </p:nvSpPr>
        <p:spPr>
          <a:xfrm>
            <a:off x="7979512" y="1876806"/>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Automation bias</a:t>
            </a:r>
          </a:p>
          <a:p>
            <a:pPr algn="l" marL="182880" indent="-182880">
              <a:lnSpc>
                <a:spcPct val="100000"/>
              </a:lnSpc>
              <a:spcAft>
                <a:spcPts val="405"/>
              </a:spcAft>
              <a:buClr>
                <a:srgbClr val="16A34A"/>
              </a:buClr>
              <a:buFont typeface="Arial"/>
              <a:buChar char="•"/>
            </a:pPr>
            <a:r>
              <a:rPr sz="1350" b="0" i="0">
                <a:solidFill>
                  <a:srgbClr val="18232F"/>
                </a:solidFill>
                <a:latin typeface="Segoe UI"/>
              </a:rPr>
              <a:t>Saaf-suthra matlab checked nahi</a:t>
            </a:r>
          </a:p>
          <a:p>
            <a:pPr algn="l" marL="182880" indent="-182880">
              <a:lnSpc>
                <a:spcPct val="100000"/>
              </a:lnSpc>
              <a:buClr>
                <a:srgbClr val="16A34A"/>
              </a:buClr>
              <a:buFont typeface="Arial"/>
              <a:buChar char="•"/>
            </a:pPr>
            <a:r>
              <a:rPr sz="1350" b="0" i="0">
                <a:solidFill>
                  <a:srgbClr val="18232F"/>
                </a:solidFill>
                <a:latin typeface="Segoe UI"/>
              </a:rPr>
              <a:t>3 gates: source, 30 sec, nuksaan</a:t>
            </a:r>
          </a:p>
        </p:txBody>
      </p:sp>
      <p:sp>
        <p:nvSpPr>
          <p:cNvPr id="23" name="Rounded Rectangle 22"/>
          <p:cNvSpPr/>
          <p:nvPr/>
        </p:nvSpPr>
        <p:spPr>
          <a:xfrm>
            <a:off x="7833208" y="2907792"/>
            <a:ext cx="3718408" cy="1535049"/>
          </a:xfrm>
          <a:prstGeom prst="roundRect">
            <a:avLst>
              <a:gd name="adj" fmla="val 7148"/>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017520"/>
            <a:ext cx="3425800" cy="246888"/>
          </a:xfrm>
          <a:prstGeom prst="rect">
            <a:avLst/>
          </a:prstGeom>
          <a:noFill/>
        </p:spPr>
        <p:txBody>
          <a:bodyPr wrap="square" lIns="0" rIns="0" tIns="0" bIns="0" anchor="t">
            <a:noAutofit/>
          </a:bodyPr>
          <a:lstStyle/>
          <a:p>
            <a:pPr algn="l">
              <a:lnSpc>
                <a:spcPct val="100000"/>
              </a:lnSpc>
            </a:pPr>
            <a:r>
              <a:rPr sz="1500" b="1" i="0">
                <a:solidFill>
                  <a:srgbClr val="47596B"/>
                </a:solidFill>
                <a:latin typeface="Segoe UI"/>
              </a:rPr>
              <a:t>Privacy</a:t>
            </a:r>
          </a:p>
        </p:txBody>
      </p:sp>
      <p:sp>
        <p:nvSpPr>
          <p:cNvPr id="25" name="TextBox 24"/>
          <p:cNvSpPr txBox="1"/>
          <p:nvPr/>
        </p:nvSpPr>
        <p:spPr>
          <a:xfrm>
            <a:off x="7979512" y="3319272"/>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57687A"/>
              </a:buClr>
              <a:buFont typeface="Arial"/>
              <a:buChar char="•"/>
            </a:pPr>
            <a:r>
              <a:rPr sz="1350" b="0" i="0">
                <a:solidFill>
                  <a:srgbClr val="18232F"/>
                </a:solidFill>
                <a:latin typeface="Segoe UI"/>
              </a:rPr>
              <a:t>PAN, OTP, password nahi</a:t>
            </a:r>
          </a:p>
          <a:p>
            <a:pPr algn="l" marL="182880" indent="-182880">
              <a:lnSpc>
                <a:spcPct val="100000"/>
              </a:lnSpc>
              <a:spcAft>
                <a:spcPts val="405"/>
              </a:spcAft>
              <a:buClr>
                <a:srgbClr val="57687A"/>
              </a:buClr>
              <a:buFont typeface="Arial"/>
              <a:buChar char="•"/>
            </a:pPr>
            <a:r>
              <a:rPr sz="1350" b="0" i="0">
                <a:solidFill>
                  <a:srgbClr val="18232F"/>
                </a:solidFill>
                <a:latin typeface="Segoe UI"/>
              </a:rPr>
              <a:t>API keys nahi</a:t>
            </a:r>
          </a:p>
          <a:p>
            <a:pPr algn="l" marL="182880" indent="-182880">
              <a:lnSpc>
                <a:spcPct val="100000"/>
              </a:lnSpc>
              <a:spcAft>
                <a:spcPts val="405"/>
              </a:spcAft>
              <a:buClr>
                <a:srgbClr val="57687A"/>
              </a:buClr>
              <a:buFont typeface="Arial"/>
              <a:buChar char="•"/>
            </a:pPr>
            <a:r>
              <a:rPr sz="1350" b="0" i="0">
                <a:solidFill>
                  <a:srgbClr val="18232F"/>
                </a:solidFill>
                <a:latin typeface="Segoe UI"/>
              </a:rPr>
              <a:t>Public text haan, pehchaan nahi</a:t>
            </a:r>
          </a:p>
          <a:p>
            <a:pPr algn="l" marL="182880" indent="-182880">
              <a:lnSpc>
                <a:spcPct val="100000"/>
              </a:lnSpc>
              <a:buClr>
                <a:srgbClr val="57687A"/>
              </a:buClr>
              <a:buFont typeface="Arial"/>
              <a:buChar char="•"/>
            </a:pPr>
            <a:r>
              <a:rPr sz="1350" b="0" i="0">
                <a:solidFill>
                  <a:srgbClr val="18232F"/>
                </a:solidFill>
                <a:latin typeface="Segoe UI"/>
              </a:rPr>
              <a:t>Temporary chat theek; PAN phir bhi nahi</a:t>
            </a:r>
          </a:p>
        </p:txBody>
      </p:sp>
      <p:sp>
        <p:nvSpPr>
          <p:cNvPr id="26" name="Rounded Rectangle 25"/>
          <p:cNvSpPr/>
          <p:nvPr/>
        </p:nvSpPr>
        <p:spPr>
          <a:xfrm>
            <a:off x="7833208" y="4607433"/>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717161"/>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Tipster nahi</a:t>
            </a:r>
          </a:p>
        </p:txBody>
      </p:sp>
      <p:sp>
        <p:nvSpPr>
          <p:cNvPr id="28" name="TextBox 27"/>
          <p:cNvSpPr txBox="1"/>
          <p:nvPr/>
        </p:nvSpPr>
        <p:spPr>
          <a:xfrm>
            <a:off x="7979512" y="5018913"/>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AI calls kabhi forward nahi</a:t>
            </a:r>
          </a:p>
          <a:p>
            <a:pPr algn="l" marL="182880" indent="-182880">
              <a:lnSpc>
                <a:spcPct val="100000"/>
              </a:lnSpc>
              <a:spcAft>
                <a:spcPts val="405"/>
              </a:spcAft>
              <a:buClr>
                <a:srgbClr val="F5A524"/>
              </a:buClr>
              <a:buFont typeface="Arial"/>
              <a:buChar char="•"/>
            </a:pPr>
            <a:r>
              <a:rPr sz="1350" b="0" i="0">
                <a:solidFill>
                  <a:srgbClr val="18232F"/>
                </a:solidFill>
                <a:latin typeface="Segoe UI"/>
              </a:rPr>
              <a:t>Accuracy ka vada = Kachra</a:t>
            </a:r>
          </a:p>
          <a:p>
            <a:pPr algn="l" marL="182880" indent="-182880">
              <a:lnSpc>
                <a:spcPct val="100000"/>
              </a:lnSpc>
              <a:spcAft>
                <a:spcPts val="405"/>
              </a:spcAft>
              <a:buClr>
                <a:srgbClr val="F5A524"/>
              </a:buClr>
              <a:buFont typeface="Arial"/>
              <a:buChar char="•"/>
            </a:pPr>
            <a:r>
              <a:rPr sz="1350" b="0" i="0">
                <a:solidFill>
                  <a:srgbClr val="18232F"/>
                </a:solidFill>
                <a:latin typeface="Segoe UI"/>
              </a:rPr>
              <a:t>Deepfake invite = check tak Kachra</a:t>
            </a:r>
          </a:p>
          <a:p>
            <a:pPr algn="l" marL="182880" indent="-182880">
              <a:lnSpc>
                <a:spcPct val="100000"/>
              </a:lnSpc>
              <a:buClr>
                <a:srgbClr val="F5A524"/>
              </a:buClr>
              <a:buFont typeface="Arial"/>
              <a:buChar char="•"/>
            </a:pPr>
            <a:r>
              <a:rPr sz="1350" b="0" i="0">
                <a:solidFill>
                  <a:srgbClr val="18232F"/>
                </a:solidFill>
                <a:latin typeface="Segoe UI"/>
              </a:rPr>
              <a:t>Day 7: poora scam audit</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35 min</a:t>
            </a:r>
          </a:p>
        </p:txBody>
      </p:sp>
      <p:sp>
        <p:nvSpPr>
          <p:cNvPr id="5" name="TextBox 4"/>
          <p:cNvSpPr txBox="1"/>
          <p:nvPr/>
        </p:nvSpPr>
        <p:spPr>
          <a:xfrm>
            <a:off x="457200" y="1335024"/>
            <a:ext cx="11277295" cy="539496"/>
          </a:xfrm>
          <a:prstGeom prst="rect">
            <a:avLst/>
          </a:prstGeom>
          <a:noFill/>
        </p:spPr>
        <p:txBody>
          <a:bodyPr wrap="square" lIns="0" rIns="0" tIns="0" bIns="0" anchor="t">
            <a:noAutofit/>
          </a:bodyPr>
          <a:lstStyle/>
          <a:p>
            <a:pPr algn="l">
              <a:lnSpc>
                <a:spcPct val="100000"/>
              </a:lnSpc>
            </a:pPr>
            <a:r>
              <a:rPr sz="1650" b="1" i="0">
                <a:solidFill>
                  <a:srgbClr val="18232F"/>
                </a:solidFill>
                <a:latin typeface="Segoe UI"/>
              </a:rPr>
              <a:t>AI ke saath ek asli results press release ko Fact, Guess aur Kachra mein chhaantiye, uske numbers khud check karke 3-gate log mein likhiye, ek hallucination trap lagaiye, aur apna pehla 4-hisson wala prompt likhiye.</a:t>
            </a:r>
          </a:p>
        </p:txBody>
      </p:sp>
      <p:sp>
        <p:nvSpPr>
          <p:cNvPr id="6" name="Rounded Rectangle 5"/>
          <p:cNvSpPr/>
          <p:nvPr/>
        </p:nvSpPr>
        <p:spPr>
          <a:xfrm>
            <a:off x="457200" y="2020824"/>
            <a:ext cx="11277295" cy="1420368"/>
          </a:xfrm>
          <a:prstGeom prst="roundRect">
            <a:avLst>
              <a:gd name="adj" fmla="val 643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305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488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21408"/>
            <a:ext cx="10042855" cy="125577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nseindia.com par Corporate Announcements kholiye (na mile toh site ke search box mein type kijiye; bseindia.com bhi chalega). Wahan sabhi companies ki latest filings dikhti hain; jiska subject 'Press Release' ya 'Financial Results' ho, us par tap kijiye aur text copy kar lijiye. PDF se text copy na ho (kuch PDF scanned image hoti hain), toh doosri chuniye ya PDF hi upload kar dijiye: yeh public document hai, ismein kisi ki personal details nahi hoti.</a:t>
            </a:r>
          </a:p>
        </p:txBody>
      </p:sp>
      <p:sp>
        <p:nvSpPr>
          <p:cNvPr id="10" name="Rounded Rectangle 9"/>
          <p:cNvSpPr/>
          <p:nvPr/>
        </p:nvSpPr>
        <p:spPr>
          <a:xfrm>
            <a:off x="457200" y="353263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64236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66064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63321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Use kisi bhi AI chat mein AI Lab ke 'Fact, Guess ya Kachra sorter' prompt ke saath paste kijiye, aur jo teen lists aayein, unhe padhiye.</a:t>
            </a:r>
          </a:p>
        </p:txBody>
      </p:sp>
      <p:sp>
        <p:nvSpPr>
          <p:cNvPr id="14" name="Rounded Rectangle 13"/>
          <p:cNvSpPr/>
          <p:nvPr/>
        </p:nvSpPr>
        <p:spPr>
          <a:xfrm>
            <a:off x="457200" y="431292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42264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4409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41350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AI ne jin numbers ko Fact kaha, unmein se do chuniye, dono ko original release mein dhoondhiye, aur dono ko 'Aapka template' ke 3-gate check log mein likhiye, saath mein yeh bhi ki match hue ya nahi.</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35 min</a:t>
            </a:r>
          </a:p>
        </p:txBody>
      </p:sp>
      <p:sp>
        <p:nvSpPr>
          <p:cNvPr id="5" name="Rounded Rectangle 4"/>
          <p:cNvSpPr/>
          <p:nvPr/>
        </p:nvSpPr>
        <p:spPr>
          <a:xfrm>
            <a:off x="457200" y="13350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Release mein is saal aur pichhle saal ka profit ho, toh phone calculator par growth nikaaliye: (naya - purana) ÷ purana x 100. Kya yeh AI ke bataye % se match karta hai?</a:t>
            </a:r>
          </a:p>
        </p:txBody>
      </p:sp>
      <p:sp>
        <p:nvSpPr>
          <p:cNvPr id="9" name="Rounded Rectangle 8"/>
          <p:cNvSpPr/>
          <p:nvPr/>
        </p:nvSpPr>
        <p:spPr>
          <a:xfrm>
            <a:off x="457200" y="211531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22504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2433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21589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'Hallucination trap' prompt chalaiye; usmein jo circular hai, woh exist hi nahi karta. Journal mein likhiye ki AI ne uske liye rules gadh diye ya nahi.</a:t>
            </a:r>
          </a:p>
        </p:txBody>
      </p:sp>
      <p:sp>
        <p:nvSpPr>
          <p:cNvPr id="13" name="Rounded Rectangle 12"/>
          <p:cNvSpPr/>
          <p:nvPr/>
        </p:nvSpPr>
        <p:spPr>
          <a:xfrm>
            <a:off x="457200" y="289560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00532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02361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299618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Safe prompt card ke 'Aapka version' column mein, release ke baare mein apne kisi ek bache hue sawaal ke liye apna 4-hisson wala prompt likhiye, phir tick kijiye ki usmein context, task, format aur guardrails chaaron hain.</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ek safe 4-hisson wala prompt likh payenge, AI chat ko apna analyst bana kar use kar payenge aur faisla khud lenge, kisi bhi claim ko Fact, Guess ya Kachra mein baant payenge, source check karke hallucination pakad payenge, apna personal data AI tools se door rakhenge, aur samjha payenge ki AI ki 'call' forward karna aapko tipster kyun bana deta hai.</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Safe prompt card: 4 hisse</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Is course ke har prompt mein chaaron hisse rakhiye. Guardrails kabhi optional nahi.</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3118104"/>
        </p:xfrm>
        <a:graphic>
          <a:graphicData uri="http://schemas.openxmlformats.org/drawingml/2006/table">
            <a:tbl>
              <a:tblPr firstRow="1">
                <a:tableStyleId>{5C22544A-7EE6-4342-B048-85BDC9FD1C3A}</a:tableStyleId>
              </a:tblPr>
              <a:tblGrid>
                <a:gridCol w="1064266"/>
                <a:gridCol w="4711918"/>
                <a:gridCol w="4220462"/>
                <a:gridCol w="914889"/>
              </a:tblGrid>
              <a:tr h="722376">
                <a:tc>
                  <a:txBody>
                    <a:bodyPr wrap="square"/>
                    <a:lstStyle/>
                    <a:p>
                      <a:pPr algn="l"/>
                      <a:r>
                        <a:rPr sz="1500" b="1" i="0">
                          <a:solidFill>
                            <a:srgbClr val="FFFFFF"/>
                          </a:solidFill>
                          <a:latin typeface="Segoe UI"/>
                        </a:rPr>
                        <a:t>Hissa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Kya karta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Priya ka prompt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Aapka version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713232">
                <a:tc>
                  <a:txBody>
                    <a:bodyPr wrap="square"/>
                    <a:lstStyle/>
                    <a:p>
                      <a:pPr algn="l"/>
                      <a:r>
                        <a:rPr sz="1500" b="0" i="0">
                          <a:solidFill>
                            <a:srgbClr val="18232F"/>
                          </a:solidFill>
                          <a:latin typeface="Segoe UI"/>
                        </a:rPr>
                        <a:t>Context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AI ko aapka source deta hai, taaki use guess na karna pade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Poori results press release, paste ki hui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Task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Ek saaf kaam, ek limit ke saath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Zyada se zyada 3 facts aur 2 forecasts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13232">
                <a:tc>
                  <a:txBody>
                    <a:bodyPr wrap="square"/>
                    <a:lstStyle/>
                    <a:p>
                      <a:pPr algn="l"/>
                      <a:r>
                        <a:rPr sz="1500" b="0" i="0">
                          <a:solidFill>
                            <a:srgbClr val="18232F"/>
                          </a:solidFill>
                          <a:latin typeface="Segoe UI"/>
                        </a:rPr>
                        <a:t>Format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Jawab kaisa dikhe, taaki aap jaldi check kar sakein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Har sentence ka quote; Guess ka label; 'missing' likho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Guardrails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AI ko kya nahi karna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Sirf yahi text; koi buy ya sell view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102352"/>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Context mein apna PAN, OTP, password ya client ID kabhi mat daaliye.</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3-gate check log</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Har AI number notes mein jaane se pehle yahan log kijiye. Pehli chaar rows aaj ke lesson se hain, pehle se chhaanti hui.</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4000500"/>
        </p:xfrm>
        <a:graphic>
          <a:graphicData uri="http://schemas.openxmlformats.org/drawingml/2006/table">
            <a:tbl>
              <a:tblPr firstRow="1">
                <a:tableStyleId>{5C22544A-7EE6-4342-B048-85BDC9FD1C3A}</a:tableStyleId>
              </a:tblPr>
              <a:tblGrid>
                <a:gridCol w="2886197"/>
                <a:gridCol w="1176110"/>
                <a:gridCol w="3324843"/>
                <a:gridCol w="2792865"/>
                <a:gridCol w="731520"/>
              </a:tblGrid>
              <a:tr h="324612">
                <a:tc>
                  <a:txBody>
                    <a:bodyPr wrap="square"/>
                    <a:lstStyle/>
                    <a:p>
                      <a:pPr algn="l"/>
                      <a:r>
                        <a:rPr sz="1350" b="1" i="0">
                          <a:solidFill>
                            <a:srgbClr val="FFFFFF"/>
                          </a:solidFill>
                          <a:latin typeface="Segoe UI"/>
                        </a:rPr>
                        <a:t>Claim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1. Source?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2. Source se match?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3. Galat hua toh nuksaan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Dabba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521208">
                <a:tc>
                  <a:txBody>
                    <a:bodyPr wrap="square"/>
                    <a:lstStyle/>
                    <a:p>
                      <a:pPr algn="l"/>
                      <a:r>
                        <a:rPr sz="1350" b="0" i="0">
                          <a:solidFill>
                            <a:srgbClr val="18232F"/>
                          </a:solidFill>
                          <a:latin typeface="Segoe UI"/>
                        </a:rPr>
                        <a:t>AI: Bharat Pumps profit 40%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Koi nahi diya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Nahi: release mein Rs 26 cr vs Rs 25 cr, yaani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Zyada, agar iske bharose trade ho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Kachra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1208">
                <a:tc>
                  <a:txBody>
                    <a:bodyPr wrap="square"/>
                    <a:lstStyle/>
                    <a:p>
                      <a:pPr algn="l"/>
                      <a:r>
                        <a:rPr sz="1350" b="0" i="0">
                          <a:solidFill>
                            <a:srgbClr val="18232F"/>
                          </a:solidFill>
                          <a:latin typeface="Segoe UI"/>
                        </a:rPr>
                        <a:t>Kiran Foods revenue Rs 420 cr vs Rs 380 cr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NSE par results filing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Haan: match; growth 10.5%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Kam: sirf ek note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Fact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1208">
                <a:tc>
                  <a:txBody>
                    <a:bodyPr wrap="square"/>
                    <a:lstStyle/>
                    <a:p>
                      <a:pPr algn="l"/>
                      <a:r>
                        <a:rPr sz="1350" b="0" i="0">
                          <a:solidFill>
                            <a:srgbClr val="18232F"/>
                          </a:solidFill>
                          <a:latin typeface="Segoe UI"/>
                        </a:rPr>
                        <a:t>'Festive demand achhi rehne ki umeed'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Wahi filing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Kaha zaroor; aaj check nahi ho sakta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Medium, agar iske bharose daav lagayein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Guess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1208">
                <a:tc>
                  <a:txBody>
                    <a:bodyPr wrap="square"/>
                    <a:lstStyle/>
                    <a:p>
                      <a:pPr algn="l"/>
                      <a:r>
                        <a:rPr sz="1350" b="0" i="0">
                          <a:solidFill>
                            <a:srgbClr val="18232F"/>
                          </a:solidFill>
                          <a:latin typeface="Segoe UI"/>
                        </a:rPr>
                        <a:t>'AI bot, 95% accurate'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Telegram 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Losses ka record nahi, SEBI number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Rs 4,999 mahina, phir aapke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Kachra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97764">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97764">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97764">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97764">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98474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Source nahi, ya abhi check nahi hua? Toh woh aapke faislon se bahar.</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'Do sach, ek jhooth'</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Ek insaan ek made-up company ka chhota sa results note likhe (is saal ka profit, pichhle saal ka profit, revenue), phir us par teen baatein, jinmein ek jhoothi ho.</a:t>
            </a:r>
          </a:p>
          <a:p>
            <a:pPr algn="l">
              <a:lnSpc>
                <a:spcPct val="100000"/>
              </a:lnSpc>
              <a:spcAft>
                <a:spcPts val="700"/>
              </a:spcAft>
            </a:pPr>
            <a:r>
              <a:rPr sz="2000" b="0" i="0">
                <a:solidFill>
                  <a:srgbClr val="18232F"/>
                </a:solidFill>
                <a:latin typeface="Segoe UI"/>
              </a:rPr>
              <a:t>Doosra sirf note aur calculator se jhoothi baat pakde, aur woh hisaab dikhaye jisse woh jhoothi saabit hoti hai.</a:t>
            </a:r>
          </a:p>
          <a:p>
            <a:pPr algn="l">
              <a:lnSpc>
                <a:spcPct val="100000"/>
              </a:lnSpc>
              <a:spcAft>
                <a:spcPts val="700"/>
              </a:spcAft>
            </a:pPr>
            <a:r>
              <a:rPr sz="2000" b="0" i="0">
                <a:solidFill>
                  <a:srgbClr val="18232F"/>
                </a:solidFill>
                <a:latin typeface="Segoe UI"/>
              </a:rPr>
              <a:t>Sample round: Anand Snacks Ltd ka profit is saal Rs 18 crore, pichhle saal Rs 15 crore, aur revenue Rs 240 crore.</a:t>
            </a:r>
          </a:p>
          <a:p>
            <a:pPr algn="l">
              <a:lnSpc>
                <a:spcPct val="100000"/>
              </a:lnSpc>
              <a:spcAft>
                <a:spcPts val="700"/>
              </a:spcAft>
            </a:pPr>
            <a:r>
              <a:rPr sz="2000" b="0" i="0">
                <a:solidFill>
                  <a:srgbClr val="18232F"/>
                </a:solidFill>
                <a:latin typeface="Segoe UI"/>
              </a:rPr>
              <a:t>(a) Profit 20% badha. (b) Profit revenue ka 7.5% hai.</a:t>
            </a:r>
          </a:p>
          <a:p>
            <a:pPr algn="l">
              <a:lnSpc>
                <a:spcPct val="100000"/>
              </a:lnSpc>
              <a:spcAft>
                <a:spcPts val="700"/>
              </a:spcAft>
            </a:pPr>
            <a:r>
              <a:rPr sz="2000" b="0" i="0">
                <a:solidFill>
                  <a:srgbClr val="18232F"/>
                </a:solidFill>
                <a:latin typeface="Segoe UI"/>
              </a:rPr>
              <a:t>(c) Profit 16.7% badha. Jhooth (c) hai: usne Rs 3 crore ki badhat ko pichhle saal ke Rs 15 crore ki jagah is saal ke Rs 18 crore se bhaag de diya.</a:t>
            </a:r>
          </a:p>
          <a:p>
            <a:pPr algn="l">
              <a:lnSpc>
                <a:spcPct val="100000"/>
              </a:lnSpc>
            </a:pPr>
            <a:r>
              <a:rPr sz="2000" b="0" i="0">
                <a:solidFill>
                  <a:srgbClr val="18232F"/>
                </a:solidFill>
                <a:latin typeface="Segoe UI"/>
              </a:rPr>
              <a:t>Akele hain toh AI se note aur teen baatein likhwaiye aur uske khilaaf kheliye.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Fact / Guess / Kachra sorter aur ek hallucination trap</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Fact, Guess ya Kachra sorter</a:t>
            </a:r>
          </a:p>
        </p:txBody>
      </p:sp>
      <p:sp>
        <p:nvSpPr>
          <p:cNvPr id="7" name="TextBox 6"/>
          <p:cNvSpPr txBox="1"/>
          <p:nvPr/>
        </p:nvSpPr>
        <p:spPr>
          <a:xfrm>
            <a:off x="658368"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“You are my research assistant; I make every decision myself. Below I will paste the full text of one company's results press release.”</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Hallucination trap (nakli circular)</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“Summarise, in 5 bullet points, the main rules in SEBI circular SEBI/HO/AIX/P/CIR/2026/999 titled 'Colour standards for buttons in trading apps'.”</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Chhupi galti pakdiye</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quiz master for an Indian beginner. Write 6 short statements that an AI might give about Indian market basics: NSE market hours, T+1 settlement, what a demat account holds, what an index such as NIFTY 50 is, price bands, and SEBI's role.”</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QUICK QUIZ · SAWAAL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AI chat Aman ko batata hai ki Bharat Pumps Ltd ka quarterly profit pichhle saal ke isi quarter se 40% badha. Company ki release mein is quarter ka profit Rs 26 crore hai, pichhle saal isi quarter mein Rs 25 crore tha. Asal mein kya ho raha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Growth 4% hai; AI ne yeh number gadh diya</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Growth 26% hai, kyunki profit Rs 26 crore hai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Growth 40% hai; AI ka data naya hoga</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Growth lagbhag 3.8% hai: Rs 1 cr ÷ Rs 26 cr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results release kehti hai: 'Management ko festive season mein achhi demand ki umeed hai.' Aaj ke teen dabbon ke hisaab se, is line mein jo daava hai use kis dabbe mein rakhenge?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Kachra: company ki har baat sirf hype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Guess: kaha zaroor, par hai forecast hi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Fact: official filing mein likha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Fact: apni demand management sabse achha jaanta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ke chacha chahte hain ki AI chat unke contract note ke charges samjhaye. PDF mein unka naam, PAN, client code aur address hai. Madad lene ka sabse safe tareeka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Chat mein sirf charges ke naam type karein, unki pehchaan bahar rakhein</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Temporary chat mein upload karein, taaki band karte hi kuch save na rahe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Upload karein, par sirf paid AI plan par, jahan files private rehti hain</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PDF waise hi upload kar dein; AI chats saara upload kiya data private rakhte hain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ko ek AI jawab milta hai: saaf table, do decimal tak ke numbers, aur koi source nahi. Woh sochta hai, 'Machine number thodi gadhegi,' aur check karna chhod deta hai. Woh kis jaal mein phans gaya?</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Beginner ka overconfidence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Knowledge cutoff</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Automation bias</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Hallucination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Ltd par AI ka jawab bilkul call jaisa hai, entry price aur target ke saath. Aman ka office WhatsApp group baar-baar poochh raha hai ki kya khareedein. Use kya karna chahiye?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'AI-generated' note laga kar forward kar de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Forward kar de, AI ne likha hai, usne nahi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Sirf close friends ko bheje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Stock call jaisa kuch bhi share na kare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AI aapka co-pilot, aur aapka scam radar</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the Telegram group and the SEBI circular number in this lesson are made up for training. AI output is analysis for learning, never a buy or sell call. No affiliation with any AI tool named.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Is hafte aapne kahan kisi confident jawab par bina check kiye bharosa kar liya — AI, dost, news anchor ya kisi video se? 3 gates mein se kaunsa gate use pakad leta?</a:t>
            </a:r>
          </a:p>
        </p:txBody>
      </p:sp>
      <p:sp>
        <p:nvSpPr>
          <p:cNvPr id="8" name="Rounded Rectangle 7"/>
          <p:cNvSpPr/>
          <p:nvPr/>
        </p:nvSpPr>
        <p:spPr>
          <a:xfrm>
            <a:off x="6233008" y="1335024"/>
            <a:ext cx="5501488" cy="4008120"/>
          </a:xfrm>
          <a:prstGeom prst="roundRect">
            <a:avLst>
              <a:gd name="adj" fmla="val 3193"/>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Aaj ek confident machine ki galti ek simple division ne pakad li. Check karne ki yeh chhoti si aadat har tool se zyada der tak aapke saath rahegi.</a:t>
            </a:r>
          </a:p>
        </p:txBody>
      </p:sp>
      <p:sp>
        <p:nvSpPr>
          <p:cNvPr id="11" name="Rounded Rectangle 10"/>
          <p:cNvSpPr/>
          <p:nvPr/>
        </p:nvSpPr>
        <p:spPr>
          <a:xfrm>
            <a:off x="457200" y="5489448"/>
            <a:ext cx="5169085"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5 · Chart padhna: candles, timeframes aur volume</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05</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Market kaise chalta hai, aur price ki bhasha</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60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Chart padhna: candles, timeframes aur volume</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8658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Charts, timeframes, candles aur volume</a:t>
            </a:r>
          </a:p>
        </p:txBody>
      </p:sp>
      <p:sp>
        <p:nvSpPr>
          <p:cNvPr id="12" name="Rounded Rectangle 11"/>
          <p:cNvSpPr/>
          <p:nvPr/>
        </p:nvSpPr>
        <p:spPr>
          <a:xfrm>
            <a:off x="4572000" y="2898648"/>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2889504"/>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Chart screenshot cross-check: AI describe kare, aap verify karein</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Har jagah pattern dikhna</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7" name="TextBox 16"/>
          <p:cNvSpPr txBox="1"/>
          <p:nvPr/>
        </p:nvSpPr>
        <p:spPr>
          <a:xfrm>
            <a:off x="4572000" y="4626864"/>
            <a:ext cx="7162495" cy="149961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free chart set up kar payenge, line, bar aur candle chart ka farq bata payenge, kisi bhi candle ka open, high, low aur close padh payenge, chahe woh hari ho ya laal, soch-samajh kar timeframe chun payenge, kisi din ke volume ko uske average se mila payenge, crash jaisa dikhne wala split pehchaan payenge, aur AI ki chart reading par aankh band karke bharosa karne ki jagah use check kar payenge.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Paanch hari candles</a:t>
            </a:r>
          </a:p>
        </p:txBody>
      </p:sp>
      <p:sp>
        <p:nvSpPr>
          <p:cNvPr id="4" name="Rounded Rectangle 3"/>
          <p:cNvSpPr/>
          <p:nvPr/>
        </p:nvSpPr>
        <p:spPr>
          <a:xfrm>
            <a:off x="457200" y="1426464"/>
            <a:ext cx="3649370" cy="3118104"/>
          </a:xfrm>
          <a:prstGeom prst="roundRect">
            <a:avLst>
              <a:gd name="adj" fmla="val 41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6609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Thursday, raat 10:30 baje. Aman study group mein ek chart ka screenshot daalta hai aur mentor ko tag karta hai.</a:t>
            </a:r>
          </a:p>
        </p:txBody>
      </p:sp>
      <p:sp>
        <p:nvSpPr>
          <p:cNvPr id="7" name="Rounded Rectangle 6"/>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Kiran Foods dekhiye. Lagataar paanch hari candles, har ek pichhli se upar. Kuch bada shuru ho raha hai na? Kal subah sabse pehle ghusne ka mann hai.</a:t>
            </a:r>
          </a:p>
        </p:txBody>
      </p:sp>
      <p:sp>
        <p:nvSpPr>
          <p:cNvPr id="13" name="Rounded Rectangle 12"/>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'Bada' ki baat se pehle do cheezein bataiye. Yeh chart kis timeframe ka hai? Aur un candles ke neeche volume bars kaise dikh rahe hain?</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Paanch hari candles</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Timeframe... jo app ne khola, wahi. Ek minute, corner mein 5m likha hai. Matlab yeh paanch candles sirf 25 minute ki hain?</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Aur sir, unke neeche volume bars bahut chhote hain, din ke zyadatar bars se bhi chhote. Us waqt bahut kam shares ka len-den ho raha tha.</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Toh yeh kam volume par 25 minute ki ek chhoti si hilchal hai. Din bhar sikka uchhaaliye, toh lagataar paanch heads bhi aksar aa jaate hain. Aaj hum seekhenge ki chart asal mein kya dikha raha hai. Matlab uske baad nikalenge.</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Chart ka matlab poochhne se pehle dekhiye ki woh dikha kya raha hai: timeframe, candles aur volume.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Aapka free chart, aur price dikhane ke teen tareeke</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Price chart ek tasveer hai jo dikhati hai ki waqt ke saath share kis price par bika: price ka scale right side par hota hai, aur time ka neeche.</a:t>
            </a:r>
          </a:p>
          <a:p>
            <a:pPr algn="l" marL="274320" indent="-274320">
              <a:lnSpc>
                <a:spcPct val="100000"/>
              </a:lnSpc>
              <a:spcAft>
                <a:spcPts val="800"/>
              </a:spcAft>
              <a:buClr>
                <a:srgbClr val="00AEEF"/>
              </a:buClr>
              <a:buFont typeface="Arial"/>
              <a:buChar char="•"/>
            </a:pPr>
            <a:r>
              <a:rPr sz="1600" b="0" i="0">
                <a:solidFill>
                  <a:srgbClr val="18232F"/>
                </a:solidFill>
                <a:latin typeface="Segoe UI"/>
              </a:rPr>
              <a:t>Chart dekhne ke liye broker account ki zaroorat nahi.</a:t>
            </a:r>
          </a:p>
          <a:p>
            <a:pPr algn="l" marL="274320" indent="-274320">
              <a:lnSpc>
                <a:spcPct val="100000"/>
              </a:lnSpc>
              <a:spcAft>
                <a:spcPts val="800"/>
              </a:spcAft>
              <a:buClr>
                <a:srgbClr val="00AEEF"/>
              </a:buClr>
              <a:buFont typeface="Arial"/>
              <a:buChar char="•"/>
            </a:pPr>
            <a:r>
              <a:rPr sz="1600" b="0" i="0">
                <a:solidFill>
                  <a:srgbClr val="18232F"/>
                </a:solidFill>
                <a:latin typeface="Segoe UI"/>
              </a:rPr>
              <a:t>Shuruaat ke liye yahi free chart kaafi hai, aur timeframe ka button (1D, 1W, 15m) upar hi milta hai.</a:t>
            </a:r>
          </a:p>
          <a:p>
            <a:pPr algn="l" marL="274320" indent="-274320">
              <a:lnSpc>
                <a:spcPct val="100000"/>
              </a:lnSpc>
              <a:buClr>
                <a:srgbClr val="00AEEF"/>
              </a:buClr>
              <a:buFont typeface="Arial"/>
              <a:buChar char="•"/>
            </a:pPr>
            <a:r>
              <a:rPr sz="1600" b="0" i="0">
                <a:solidFill>
                  <a:srgbClr val="18232F"/>
                </a:solidFill>
                <a:latin typeface="Segoe UI"/>
              </a:rPr>
              <a:t>Ek hi prices ko teen tarah se dikhaya ja sakta hai.</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ke screenshot wala stock, Kiran Foods Ltd, lijiye aur uske 10 daily sessions dekhiye (prices banaye hue hain). 8vein din yeh Rs 298 par close hua, pichhle din se sirf Rs 2 neeche, isliye line chart ek chhoti si, shaant girawat dikhata hai. Usi din ki candle kahin zyada batati hai: share Rs 301 par khula, 11 baje tak Rs 310 tak chadh gaya, lunch ke baad Rs 293 tak gir gaya, aur Rs 298 par band hua. … Jisne Rs 310 par khareeda, woh har share par Rs 12 ke loss mein baitha hai, jabki line bilkul shaant dikhti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Line chart: Kiran Foods, 10 din</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Sirf 10 closes, ek line se jude hue (prices banaye hue hain). 8vein din ka Rs 310 tak chadhna aur Rs 293 tak girna yahan dikhta hi nahi. Yahi 10 din neeche Volume wale topic mein candles aur volume ke saath bane hain. Bar chart har din ko low se high tak ek line ki tarah dikhata, left mein open ka tick aur right mein close ka.</a:t>
            </a:r>
          </a:p>
        </p:txBody>
      </p:sp>
      <p:sp>
        <p:nvSpPr>
          <p:cNvPr id="12" name="TextBox 11"/>
          <p:cNvSpPr txBox="1"/>
          <p:nvPr/>
        </p:nvSpPr>
        <p:spPr>
          <a:xfrm>
            <a:off x="6397600" y="179679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Rs</a:t>
            </a:r>
          </a:p>
        </p:txBody>
      </p:sp>
      <p:cxnSp>
        <p:nvCxnSpPr>
          <p:cNvPr id="13" name="Connector 12"/>
          <p:cNvCxnSpPr/>
          <p:nvPr/>
        </p:nvCxnSpPr>
        <p:spPr>
          <a:xfrm>
            <a:off x="6812159" y="45171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97600" y="44348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293.2</a:t>
            </a:r>
          </a:p>
        </p:txBody>
      </p:sp>
      <p:cxnSp>
        <p:nvCxnSpPr>
          <p:cNvPr id="15" name="Connector 14"/>
          <p:cNvCxnSpPr/>
          <p:nvPr/>
        </p:nvCxnSpPr>
        <p:spPr>
          <a:xfrm>
            <a:off x="6812159" y="4001643"/>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97600" y="3919347"/>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299.8</a:t>
            </a:r>
          </a:p>
        </p:txBody>
      </p:sp>
      <p:cxnSp>
        <p:nvCxnSpPr>
          <p:cNvPr id="17" name="Connector 16"/>
          <p:cNvCxnSpPr/>
          <p:nvPr/>
        </p:nvCxnSpPr>
        <p:spPr>
          <a:xfrm>
            <a:off x="6812159" y="3486150"/>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3403854"/>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306.5</a:t>
            </a:r>
          </a:p>
        </p:txBody>
      </p:sp>
      <p:cxnSp>
        <p:nvCxnSpPr>
          <p:cNvPr id="19" name="Connector 18"/>
          <p:cNvCxnSpPr/>
          <p:nvPr/>
        </p:nvCxnSpPr>
        <p:spPr>
          <a:xfrm>
            <a:off x="6812159" y="2970657"/>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2888361"/>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313.2</a:t>
            </a:r>
          </a:p>
        </p:txBody>
      </p:sp>
      <p:cxnSp>
        <p:nvCxnSpPr>
          <p:cNvPr id="21" name="Connector 20"/>
          <p:cNvCxnSpPr/>
          <p:nvPr/>
        </p:nvCxnSpPr>
        <p:spPr>
          <a:xfrm>
            <a:off x="6812159" y="2455164"/>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2372868"/>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319.8</a:t>
            </a:r>
          </a:p>
        </p:txBody>
      </p:sp>
      <p:cxnSp>
        <p:nvCxnSpPr>
          <p:cNvPr id="23" name="Connector 22"/>
          <p:cNvCxnSpPr/>
          <p:nvPr/>
        </p:nvCxnSpPr>
        <p:spPr>
          <a:xfrm>
            <a:off x="10441507" y="2107692"/>
            <a:ext cx="0" cy="24094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487227" y="2016252"/>
            <a:ext cx="639960"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8vaan din</a:t>
            </a:r>
          </a:p>
        </p:txBody>
      </p:sp>
      <p:cxnSp>
        <p:nvCxnSpPr>
          <p:cNvPr id="25" name="Connector 24"/>
          <p:cNvCxnSpPr/>
          <p:nvPr/>
        </p:nvCxnSpPr>
        <p:spPr>
          <a:xfrm>
            <a:off x="11478463" y="2308860"/>
            <a:ext cx="0" cy="2208276"/>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717110" y="2217420"/>
            <a:ext cx="715633"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10vaan din</a:t>
            </a:r>
          </a:p>
        </p:txBody>
      </p:sp>
      <p:sp>
        <p:nvSpPr>
          <p:cNvPr id="27" name="Freeform 26"/>
          <p:cNvSpPr/>
          <p:nvPr/>
        </p:nvSpPr>
        <p:spPr>
          <a:xfrm>
            <a:off x="6812159" y="2597369"/>
            <a:ext cx="4666304" cy="1777562"/>
          </a:xfrm>
          <a:custGeom>
            <a:avLst/>
            <a:gdLst/>
            <a:ahLst/>
            <a:cxnLst/>
            <a:rect l="l" t="t" r="r" b="b"/>
            <a:pathLst>
              <a:path w="4666304" h="1777562">
                <a:moveTo>
                  <a:pt x="0" y="1622991"/>
                </a:moveTo>
                <a:lnTo>
                  <a:pt x="518479" y="1777562"/>
                </a:lnTo>
                <a:lnTo>
                  <a:pt x="1036957" y="1622991"/>
                </a:lnTo>
                <a:lnTo>
                  <a:pt x="1555435" y="1391135"/>
                </a:lnTo>
                <a:lnTo>
                  <a:pt x="2073913" y="1545706"/>
                </a:lnTo>
                <a:lnTo>
                  <a:pt x="2592391" y="1700277"/>
                </a:lnTo>
                <a:lnTo>
                  <a:pt x="3110870" y="1391135"/>
                </a:lnTo>
                <a:lnTo>
                  <a:pt x="3629348" y="1545706"/>
                </a:lnTo>
                <a:lnTo>
                  <a:pt x="4147826" y="1391135"/>
                </a:lnTo>
                <a:lnTo>
                  <a:pt x="4666304" y="0"/>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159" y="455371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Din</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Jaldi nazar ke liye line, asli padhai ke liye candles. Koi bhi free chart chalega; broker account ki zaroorat nahi.</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Ek candle, chaar prices</a:t>
            </a:r>
          </a:p>
        </p:txBody>
      </p:sp>
      <p:sp>
        <p:nvSpPr>
          <p:cNvPr id="4" name="TextBox 3"/>
          <p:cNvSpPr txBox="1"/>
          <p:nvPr/>
        </p:nvSpPr>
        <p:spPr>
          <a:xfrm>
            <a:off x="457200" y="1335024"/>
            <a:ext cx="5519776" cy="181356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Har candle apne period ke chaar prices record karti hai, jinhe OHLC kehte hain.</a:t>
            </a:r>
          </a:p>
          <a:p>
            <a:pPr algn="l" marL="274320" indent="-274320">
              <a:lnSpc>
                <a:spcPct val="100000"/>
              </a:lnSpc>
              <a:spcAft>
                <a:spcPts val="800"/>
              </a:spcAft>
              <a:buClr>
                <a:srgbClr val="00AEEF"/>
              </a:buClr>
              <a:buFont typeface="Arial"/>
              <a:buChar char="•"/>
            </a:pPr>
            <a:r>
              <a:rPr sz="1600" b="0" i="0">
                <a:solidFill>
                  <a:srgbClr val="18232F"/>
                </a:solidFill>
                <a:latin typeface="Segoe UI"/>
              </a:rPr>
              <a:t>NSE ki daily candle mein ek baat alag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Din ka open aam taur par 9:00-9:15 ke pre-open session mein tay hota hai.</a:t>
            </a:r>
          </a:p>
          <a:p>
            <a:pPr algn="l" marL="274320" indent="-274320">
              <a:lnSpc>
                <a:spcPct val="100000"/>
              </a:lnSpc>
              <a:buClr>
                <a:srgbClr val="00AEEF"/>
              </a:buClr>
              <a:buFont typeface="Arial"/>
              <a:buChar char="•"/>
            </a:pPr>
            <a:r>
              <a:rPr sz="1600" b="0" i="0">
                <a:solidFill>
                  <a:srgbClr val="18232F"/>
                </a:solidFill>
                <a:latin typeface="Segoe UI"/>
              </a:rPr>
              <a:t>Official close exchange tay karta hai.</a:t>
            </a:r>
          </a:p>
        </p:txBody>
      </p:sp>
      <p:sp>
        <p:nvSpPr>
          <p:cNvPr id="5" name="Rounded Rectangle 4"/>
          <p:cNvSpPr/>
          <p:nvPr/>
        </p:nvSpPr>
        <p:spPr>
          <a:xfrm>
            <a:off x="457200" y="3304032"/>
            <a:ext cx="5519776" cy="2310384"/>
          </a:xfrm>
          <a:prstGeom prst="roundRect">
            <a:avLst>
              <a:gd name="adj" fmla="val 47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43204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688080"/>
            <a:ext cx="5154016" cy="185318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Bharat Pumps Ltd kal Rs 500 par band hua. Aaj ek kamzor khabar ke baad woh Rs 480 par khulta hai, Rs 474 tak gir jaata hai, phir sambhal kar Rs 494 ka high banata hai aur Rs 490 par band hota hai. Candle hari hai, kyunki Rs 490 aaj ke open Rs 480 se upar hai. Phir bhi aapka app share ko Rs 10 yaani 2% neeche dikhata hai, kyunki woh kal ke Rs 500 se milata hai. Ab iska ulta case: Anand Snacks Ltd kal Rs 200 par band hua, aaj achhi khabar par Rs 212 par khulta hai, Rs 216 chhoota hai, Rs 202 tak phisalta hai aur Rs 205 par band hota hai. … Ek aur baat: kuch apps hari-laal ki jagah khokhli aur bhari body dikhate hain, isliye check kar lijiye ki aapke app ke rang ka matlab kya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candle ke andar</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Hari, kyunki close (Rs 490) open (Rs 480) se upar hai, bhale hi share kal ke Rs 500 se neeche ho. Laal candle ulti banti hai: aaj ke kaam mein 'Aapka template' ke neeche label wala laal model dekhiye.</a:t>
            </a:r>
          </a:p>
        </p:txBody>
      </p:sp>
      <p:sp>
        <p:nvSpPr>
          <p:cNvPr id="12" name="Rectangle 11"/>
          <p:cNvSpPr/>
          <p:nvPr/>
        </p:nvSpPr>
        <p:spPr>
          <a:xfrm>
            <a:off x="8947175" y="2102358"/>
            <a:ext cx="54864" cy="21412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8723147" y="2530602"/>
            <a:ext cx="502920" cy="1070610"/>
          </a:xfrm>
          <a:prstGeom prst="roundRect">
            <a:avLst>
              <a:gd name="adj" fmla="val 7272"/>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14" name="Connector 13"/>
          <p:cNvCxnSpPr/>
          <p:nvPr/>
        </p:nvCxnSpPr>
        <p:spPr>
          <a:xfrm>
            <a:off x="9280931" y="2102358"/>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250195" y="1992630"/>
            <a:ext cx="720070"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High 494</a:t>
            </a:r>
          </a:p>
        </p:txBody>
      </p:sp>
      <p:cxnSp>
        <p:nvCxnSpPr>
          <p:cNvPr id="16" name="Connector 15"/>
          <p:cNvCxnSpPr/>
          <p:nvPr/>
        </p:nvCxnSpPr>
        <p:spPr>
          <a:xfrm>
            <a:off x="9280931" y="2530602"/>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250195" y="2420874"/>
            <a:ext cx="756394"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Close 490</a:t>
            </a:r>
          </a:p>
        </p:txBody>
      </p:sp>
      <p:cxnSp>
        <p:nvCxnSpPr>
          <p:cNvPr id="18" name="Connector 17"/>
          <p:cNvCxnSpPr/>
          <p:nvPr/>
        </p:nvCxnSpPr>
        <p:spPr>
          <a:xfrm>
            <a:off x="9280931" y="3601212"/>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250195" y="3491484"/>
            <a:ext cx="760342"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Open 480</a:t>
            </a:r>
          </a:p>
        </p:txBody>
      </p:sp>
      <p:cxnSp>
        <p:nvCxnSpPr>
          <p:cNvPr id="20" name="Connector 19"/>
          <p:cNvCxnSpPr/>
          <p:nvPr/>
        </p:nvCxnSpPr>
        <p:spPr>
          <a:xfrm>
            <a:off x="9280931" y="4243578"/>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250195" y="4133850"/>
            <a:ext cx="664006"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Low 474</a:t>
            </a:r>
          </a:p>
        </p:txBody>
      </p:sp>
      <p:cxnSp>
        <p:nvCxnSpPr>
          <p:cNvPr id="22" name="Connector 21"/>
          <p:cNvCxnSpPr/>
          <p:nvPr/>
        </p:nvCxnSpPr>
        <p:spPr>
          <a:xfrm flipH="1">
            <a:off x="7753883" y="2316480"/>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16284" y="2206752"/>
            <a:ext cx="882736"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Upper wick</a:t>
            </a:r>
          </a:p>
        </p:txBody>
      </p:sp>
      <p:cxnSp>
        <p:nvCxnSpPr>
          <p:cNvPr id="24" name="Connector 23"/>
          <p:cNvCxnSpPr/>
          <p:nvPr/>
        </p:nvCxnSpPr>
        <p:spPr>
          <a:xfrm flipH="1">
            <a:off x="7753883" y="3065907"/>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72694" y="2956179"/>
            <a:ext cx="426325"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Body</a:t>
            </a:r>
          </a:p>
        </p:txBody>
      </p:sp>
      <p:cxnSp>
        <p:nvCxnSpPr>
          <p:cNvPr id="26" name="Connector 25"/>
          <p:cNvCxnSpPr/>
          <p:nvPr/>
        </p:nvCxnSpPr>
        <p:spPr>
          <a:xfrm flipH="1">
            <a:off x="7753883" y="3922395"/>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24193" y="3812667"/>
            <a:ext cx="874827"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Lower wick</a:t>
            </a:r>
          </a:p>
        </p:txBody>
      </p:sp>
      <p:sp>
        <p:nvSpPr>
          <p:cNvPr id="28" name="TextBox 27"/>
          <p:cNvSpPr txBox="1"/>
          <p:nvPr/>
        </p:nvSpPr>
        <p:spPr>
          <a:xfrm>
            <a:off x="6397600" y="4640580"/>
            <a:ext cx="5154016" cy="274320"/>
          </a:xfrm>
          <a:prstGeom prst="rect">
            <a:avLst/>
          </a:prstGeom>
          <a:noFill/>
        </p:spPr>
        <p:txBody>
          <a:bodyPr wrap="square" lIns="0" rIns="0" tIns="0" bIns="0" anchor="ctr">
            <a:noAutofit/>
          </a:bodyPr>
          <a:lstStyle/>
          <a:p>
            <a:pPr algn="ctr">
              <a:lnSpc>
                <a:spcPct val="100000"/>
              </a:lnSpc>
            </a:pPr>
            <a:r>
              <a:rPr sz="1100" b="0" i="1">
                <a:solidFill>
                  <a:srgbClr val="47596B"/>
                </a:solidFill>
                <a:latin typeface="Segoe UI"/>
              </a:rPr>
              <a:t>Green candle: close, open se upar</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Hara ya laal: close ko apne open se milaiye. Din mein up ya down: kal ke close se. Laal candle mein open upar hota hai.</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Timeframe: chart ka zoom button</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Timeframe ka matlab hai ek candle kitne waqt ki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Badi candle bas chhoti candles ko jod kar banti hai: pehla open, sabse ooncha high, sabse neecha low aur aakhri close.</a:t>
            </a:r>
          </a:p>
          <a:p>
            <a:pPr algn="l" marL="274320" indent="-274320">
              <a:lnSpc>
                <a:spcPct val="100000"/>
              </a:lnSpc>
              <a:spcAft>
                <a:spcPts val="800"/>
              </a:spcAft>
              <a:buClr>
                <a:srgbClr val="00AEEF"/>
              </a:buClr>
              <a:buFont typeface="Arial"/>
              <a:buChar char="•"/>
            </a:pPr>
            <a:r>
              <a:rPr sz="1600" b="0" i="0">
                <a:solidFill>
                  <a:srgbClr val="18232F"/>
                </a:solidFill>
                <a:latin typeface="Segoe UI"/>
              </a:rPr>
              <a:t>Timeframe badalna Google Maps par zoom karne jaisa hai: weekly poora desh hai, daily aapka shehar, aur 15-minute aapki gali.</a:t>
            </a:r>
          </a:p>
          <a:p>
            <a:pPr algn="l" marL="274320" indent="-274320">
              <a:lnSpc>
                <a:spcPct val="100000"/>
              </a:lnSpc>
              <a:buClr>
                <a:srgbClr val="00AEEF"/>
              </a:buClr>
              <a:buFont typeface="Arial"/>
              <a:buChar char="•"/>
            </a:pPr>
            <a:r>
              <a:rPr sz="1600" b="0" i="0">
                <a:solidFill>
                  <a:srgbClr val="18232F"/>
                </a:solidFill>
                <a:latin typeface="Segoe UI"/>
              </a:rPr>
              <a:t>Higher timeframe big picture dikhata hai.</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ki aadat hai: 15-minute chart kholne se pehle woh daily chart se ek line likh leti hai, jaise 'Daily: NIFTY 50 is mahine zyadatar upar gaya hai. Phir maan lijiye aaj aakhri ghante mein NIFTY 50 gir kar 24,300 se 24,180 par aa jaata hai: 15-minute ki laal candles mein 120 points, jo paas se kaafi darawni lagti hain. … Woh ek line use hilchal ko nayi kahani samajhne se bacha leti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Ek-ek step karke zoom in</a:t>
            </a:r>
          </a:p>
        </p:txBody>
      </p:sp>
      <p:sp>
        <p:nvSpPr>
          <p:cNvPr id="10" name="TextBox 9"/>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9:15 se 3:30 ka normal session 375 minute ka hota hai: 375 ÷ 15 = 25 candles, 375 ÷ 5 = 75. 3 Aug 2026 se, jin shares ke F&amp;O contracts hain, unki continuous trading sirf 3:15 tak hoti hai aur phir closing auction unka close tay karta hai, isliye unki din ki aakhri candles alag dikh sakti hain. Latest NSE par check kijiye.</a:t>
            </a:r>
          </a:p>
        </p:txBody>
      </p:sp>
      <p:cxnSp>
        <p:nvCxnSpPr>
          <p:cNvPr id="11" name="Connector 10"/>
          <p:cNvCxnSpPr/>
          <p:nvPr/>
        </p:nvCxnSpPr>
        <p:spPr>
          <a:xfrm>
            <a:off x="6651568" y="2002536"/>
            <a:ext cx="0" cy="2281428"/>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97600" y="1837944"/>
            <a:ext cx="5079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1W</a:t>
            </a:r>
          </a:p>
        </p:txBody>
      </p:sp>
      <p:sp>
        <p:nvSpPr>
          <p:cNvPr id="13" name="TextBox 12"/>
          <p:cNvSpPr txBox="1"/>
          <p:nvPr/>
        </p:nvSpPr>
        <p:spPr>
          <a:xfrm>
            <a:off x="7088416" y="1856232"/>
            <a:ext cx="446319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Weekly</a:t>
            </a:r>
          </a:p>
          <a:p>
            <a:pPr algn="l">
              <a:lnSpc>
                <a:spcPct val="100000"/>
              </a:lnSpc>
            </a:pPr>
            <a:r>
              <a:rPr sz="1250" b="0" i="0">
                <a:solidFill>
                  <a:srgbClr val="47596B"/>
                </a:solidFill>
                <a:latin typeface="Segoe UI"/>
              </a:rPr>
              <a:t>1 candle = 1 hafta. Big picture.</a:t>
            </a:r>
          </a:p>
        </p:txBody>
      </p:sp>
      <p:sp>
        <p:nvSpPr>
          <p:cNvPr id="14" name="Rounded Rectangle 13"/>
          <p:cNvSpPr/>
          <p:nvPr/>
        </p:nvSpPr>
        <p:spPr>
          <a:xfrm>
            <a:off x="6397600" y="2598420"/>
            <a:ext cx="5079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1D</a:t>
            </a:r>
          </a:p>
        </p:txBody>
      </p:sp>
      <p:sp>
        <p:nvSpPr>
          <p:cNvPr id="15" name="TextBox 14"/>
          <p:cNvSpPr txBox="1"/>
          <p:nvPr/>
        </p:nvSpPr>
        <p:spPr>
          <a:xfrm>
            <a:off x="7088416" y="2616708"/>
            <a:ext cx="446319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Daily</a:t>
            </a:r>
          </a:p>
          <a:p>
            <a:pPr algn="l">
              <a:lnSpc>
                <a:spcPct val="100000"/>
              </a:lnSpc>
            </a:pPr>
            <a:r>
              <a:rPr sz="1250" b="0" i="0">
                <a:solidFill>
                  <a:srgbClr val="47596B"/>
                </a:solidFill>
                <a:latin typeface="Segoe UI"/>
              </a:rPr>
              <a:t>1 candle = 1 session. Swing ke faisle.</a:t>
            </a:r>
          </a:p>
        </p:txBody>
      </p:sp>
      <p:sp>
        <p:nvSpPr>
          <p:cNvPr id="16" name="Rounded Rectangle 15"/>
          <p:cNvSpPr/>
          <p:nvPr/>
        </p:nvSpPr>
        <p:spPr>
          <a:xfrm>
            <a:off x="6397600" y="3358896"/>
            <a:ext cx="5079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15m</a:t>
            </a:r>
          </a:p>
        </p:txBody>
      </p:sp>
      <p:sp>
        <p:nvSpPr>
          <p:cNvPr id="17" name="TextBox 16"/>
          <p:cNvSpPr txBox="1"/>
          <p:nvPr/>
        </p:nvSpPr>
        <p:spPr>
          <a:xfrm>
            <a:off x="7088416" y="3377184"/>
            <a:ext cx="446319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15-minute</a:t>
            </a:r>
          </a:p>
          <a:p>
            <a:pPr algn="l">
              <a:lnSpc>
                <a:spcPct val="100000"/>
              </a:lnSpc>
            </a:pPr>
            <a:r>
              <a:rPr sz="1250" b="0" i="0">
                <a:solidFill>
                  <a:srgbClr val="47596B"/>
                </a:solidFill>
                <a:latin typeface="Segoe UI"/>
              </a:rPr>
              <a:t>Din mein 25 candles. Intraday timing.</a:t>
            </a:r>
          </a:p>
        </p:txBody>
      </p:sp>
      <p:sp>
        <p:nvSpPr>
          <p:cNvPr id="18" name="Rounded Rectangle 17"/>
          <p:cNvSpPr/>
          <p:nvPr/>
        </p:nvSpPr>
        <p:spPr>
          <a:xfrm>
            <a:off x="6397600" y="4119372"/>
            <a:ext cx="5079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5m</a:t>
            </a:r>
          </a:p>
        </p:txBody>
      </p:sp>
      <p:sp>
        <p:nvSpPr>
          <p:cNvPr id="19" name="TextBox 18"/>
          <p:cNvSpPr txBox="1"/>
          <p:nvPr/>
        </p:nvSpPr>
        <p:spPr>
          <a:xfrm>
            <a:off x="7088416" y="4137660"/>
            <a:ext cx="4463199" cy="5943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5-minute</a:t>
            </a:r>
          </a:p>
          <a:p>
            <a:pPr algn="l">
              <a:lnSpc>
                <a:spcPct val="100000"/>
              </a:lnSpc>
            </a:pPr>
            <a:r>
              <a:rPr sz="1250" b="0" i="0">
                <a:solidFill>
                  <a:srgbClr val="47596B"/>
                </a:solidFill>
                <a:latin typeface="Segoe UI"/>
              </a:rPr>
              <a:t>Din mein 75 candles. Beginners ke liye zyadatar noise. Swing trade yahan se kabhi plan mat kijiye.</a:t>
            </a:r>
          </a:p>
        </p:txBody>
      </p:sp>
      <p:sp>
        <p:nvSpPr>
          <p:cNvPr id="20" name="Rounded Rectangle 1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2" name="TextBox 2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Plan badi candle par, timing chhoti par.</a:t>
            </a:r>
          </a:p>
        </p:txBody>
      </p:sp>
      <p:pic>
        <p:nvPicPr>
          <p:cNvPr id="23" name="Picture 22" descr="logo.png"/>
          <p:cNvPicPr>
            <a:picLocks noChangeAspect="1"/>
          </p:cNvPicPr>
          <p:nvPr/>
        </p:nvPicPr>
        <p:blipFill>
          <a:blip r:embed="rId2"/>
          <a:stretch>
            <a:fillRect/>
          </a:stretch>
        </p:blipFill>
        <p:spPr>
          <a:xfrm>
            <a:off x="457200" y="6437376"/>
            <a:ext cx="237744" cy="237744"/>
          </a:xfrm>
          <a:prstGeom prst="rect">
            <a:avLst/>
          </a:prstGeom>
        </p:spPr>
      </p:pic>
      <p:sp>
        <p:nvSpPr>
          <p:cNvPr id="2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5" name="TextBox 2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Volume: kitne shares ka len-den hua</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Volume ka matlab hai ek candle ke period mein kitne shares trade hue, aur chart par yeh price ke neeche bars ki shakal mein dikhta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Har khareede gaye share ko kisi ne becha bhi hai, isliye har share ek hi baar gina jaata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Volume ki koi side nahi hoti.</a:t>
            </a:r>
          </a:p>
          <a:p>
            <a:pPr algn="l" marL="274320" indent="-274320">
              <a:lnSpc>
                <a:spcPct val="100000"/>
              </a:lnSpc>
              <a:buClr>
                <a:srgbClr val="00AEEF"/>
              </a:buClr>
              <a:buFont typeface="Arial"/>
              <a:buChar char="•"/>
            </a:pPr>
            <a:r>
              <a:rPr sz="1600" b="0" i="0">
                <a:solidFill>
                  <a:srgbClr val="18232F"/>
                </a:solidFill>
                <a:latin typeface="Segoe UI"/>
              </a:rPr>
              <a:t>Volume zyada hai ya kam, yeh jaanne ke liye use average volume se milaiye, aam taur par pichhle 20 sessions ke average se.</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Kiran Foods Ltd mein ek normal din lagbhag 2,00,000 shares trade hote hain; yahi uska 20-day average volume hai. Aaj share Rs 300 se Rs 318 par pahunch jaata hai (+6%), aur 6,40,000 shares ka len-den hota hai. Relative volume = 6,40,000 ÷ 2,00,000 = 3.2 guna. … Trade ke liye iska kya matlab hai, yeh is baat par depend karta hai ki move chart par kahan hua, aur yahi Day 6 ka lesson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Wahi 10 din, candles mein</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Pehle topic ke line chart wale Kiran Foods ke wahi din, ab candles mein, neeche volume bars ke saath (numbers banaye hue hain). 8vein din ki Rs 310 tak ki wick line par dikhi hi nahi thi. Aakhri din 6,40,000 shares trade hue, jabki 20-day average 2,00,000 hai.</a:t>
            </a:r>
          </a:p>
        </p:txBody>
      </p:sp>
      <p:cxnSp>
        <p:nvCxnSpPr>
          <p:cNvPr id="12" name="Connector 11"/>
          <p:cNvCxnSpPr/>
          <p:nvPr/>
        </p:nvCxnSpPr>
        <p:spPr>
          <a:xfrm>
            <a:off x="6935100" y="4114800"/>
            <a:ext cx="454336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03250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289.8</a:t>
            </a:r>
          </a:p>
        </p:txBody>
      </p:sp>
      <p:cxnSp>
        <p:nvCxnSpPr>
          <p:cNvPr id="14" name="Connector 13"/>
          <p:cNvCxnSpPr/>
          <p:nvPr/>
        </p:nvCxnSpPr>
        <p:spPr>
          <a:xfrm>
            <a:off x="6935100" y="3537204"/>
            <a:ext cx="454336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454908"/>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300.6</a:t>
            </a:r>
          </a:p>
        </p:txBody>
      </p:sp>
      <p:cxnSp>
        <p:nvCxnSpPr>
          <p:cNvPr id="16" name="Connector 15"/>
          <p:cNvCxnSpPr/>
          <p:nvPr/>
        </p:nvCxnSpPr>
        <p:spPr>
          <a:xfrm>
            <a:off x="6935100" y="2959608"/>
            <a:ext cx="454336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87731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311.4</a:t>
            </a:r>
          </a:p>
        </p:txBody>
      </p:sp>
      <p:cxnSp>
        <p:nvCxnSpPr>
          <p:cNvPr id="18" name="Connector 17"/>
          <p:cNvCxnSpPr/>
          <p:nvPr/>
        </p:nvCxnSpPr>
        <p:spPr>
          <a:xfrm>
            <a:off x="6935100" y="2382012"/>
            <a:ext cx="454336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322.2</a:t>
            </a:r>
          </a:p>
        </p:txBody>
      </p:sp>
      <p:cxnSp>
        <p:nvCxnSpPr>
          <p:cNvPr id="20" name="Connector 19"/>
          <p:cNvCxnSpPr/>
          <p:nvPr/>
        </p:nvCxnSpPr>
        <p:spPr>
          <a:xfrm>
            <a:off x="7162268" y="3621852"/>
            <a:ext cx="0" cy="32009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025967" y="3728550"/>
            <a:ext cx="272602" cy="5334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Rectangle 21"/>
          <p:cNvSpPr/>
          <p:nvPr/>
        </p:nvSpPr>
        <p:spPr>
          <a:xfrm>
            <a:off x="7025967" y="4602861"/>
            <a:ext cx="272602" cy="15201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3" name="Connector 22"/>
          <p:cNvCxnSpPr/>
          <p:nvPr/>
        </p:nvCxnSpPr>
        <p:spPr>
          <a:xfrm>
            <a:off x="7616604" y="3568502"/>
            <a:ext cx="0" cy="32009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480303" y="3728550"/>
            <a:ext cx="272602" cy="10669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ectangle 24"/>
          <p:cNvSpPr/>
          <p:nvPr/>
        </p:nvSpPr>
        <p:spPr>
          <a:xfrm>
            <a:off x="7480303" y="4582858"/>
            <a:ext cx="272602" cy="172022"/>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8070941" y="3675201"/>
            <a:ext cx="0" cy="32009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934640" y="3728550"/>
            <a:ext cx="272602" cy="10669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ectangle 27"/>
          <p:cNvSpPr/>
          <p:nvPr/>
        </p:nvSpPr>
        <p:spPr>
          <a:xfrm>
            <a:off x="7934640" y="4610862"/>
            <a:ext cx="272602" cy="14401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9" name="Connector 28"/>
          <p:cNvCxnSpPr/>
          <p:nvPr/>
        </p:nvCxnSpPr>
        <p:spPr>
          <a:xfrm>
            <a:off x="8525277" y="3461804"/>
            <a:ext cx="0" cy="32009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388976" y="3568502"/>
            <a:ext cx="272602" cy="16004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ectangle 30"/>
          <p:cNvSpPr/>
          <p:nvPr/>
        </p:nvSpPr>
        <p:spPr>
          <a:xfrm>
            <a:off x="8388976" y="4578858"/>
            <a:ext cx="272602" cy="17602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979613" y="3515153"/>
            <a:ext cx="0" cy="26674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843312" y="3568502"/>
            <a:ext cx="272602" cy="10669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ectangle 33"/>
          <p:cNvSpPr/>
          <p:nvPr/>
        </p:nvSpPr>
        <p:spPr>
          <a:xfrm>
            <a:off x="8843312" y="4590859"/>
            <a:ext cx="272602" cy="164020"/>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5" name="Connector 34"/>
          <p:cNvCxnSpPr/>
          <p:nvPr/>
        </p:nvCxnSpPr>
        <p:spPr>
          <a:xfrm>
            <a:off x="9433950" y="3568502"/>
            <a:ext cx="0" cy="26674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297649" y="3675201"/>
            <a:ext cx="272602" cy="10669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7" name="Rectangle 36"/>
          <p:cNvSpPr/>
          <p:nvPr/>
        </p:nvSpPr>
        <p:spPr>
          <a:xfrm>
            <a:off x="9297649" y="4614862"/>
            <a:ext cx="272602" cy="140017"/>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9888286" y="3515153"/>
            <a:ext cx="0" cy="32009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751985" y="3568502"/>
            <a:ext cx="272602" cy="21339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Rectangle 39"/>
          <p:cNvSpPr/>
          <p:nvPr/>
        </p:nvSpPr>
        <p:spPr>
          <a:xfrm>
            <a:off x="9751985" y="4574857"/>
            <a:ext cx="272602" cy="18002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1" name="Connector 40"/>
          <p:cNvCxnSpPr/>
          <p:nvPr/>
        </p:nvCxnSpPr>
        <p:spPr>
          <a:xfrm>
            <a:off x="10342622" y="3035008"/>
            <a:ext cx="0" cy="90694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0206321" y="3515153"/>
            <a:ext cx="272602" cy="16004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ectangle 42"/>
          <p:cNvSpPr/>
          <p:nvPr/>
        </p:nvSpPr>
        <p:spPr>
          <a:xfrm>
            <a:off x="10206321" y="4598860"/>
            <a:ext cx="272602" cy="156019"/>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10796959" y="3515153"/>
            <a:ext cx="0" cy="26674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660658" y="3568502"/>
            <a:ext cx="272602" cy="10669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6" name="Rectangle 45"/>
          <p:cNvSpPr/>
          <p:nvPr/>
        </p:nvSpPr>
        <p:spPr>
          <a:xfrm>
            <a:off x="10660658" y="4598860"/>
            <a:ext cx="272602" cy="15601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7" name="Connector 46"/>
          <p:cNvCxnSpPr/>
          <p:nvPr/>
        </p:nvCxnSpPr>
        <p:spPr>
          <a:xfrm>
            <a:off x="11251295" y="2501515"/>
            <a:ext cx="0" cy="112033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11114994" y="2608213"/>
            <a:ext cx="272602" cy="9069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ectangle 48"/>
          <p:cNvSpPr/>
          <p:nvPr/>
        </p:nvSpPr>
        <p:spPr>
          <a:xfrm>
            <a:off x="11114994" y="4242816"/>
            <a:ext cx="272602" cy="5120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TextBox 49"/>
          <p:cNvSpPr txBox="1"/>
          <p:nvPr/>
        </p:nvSpPr>
        <p:spPr>
          <a:xfrm>
            <a:off x="6397600" y="439826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51" name="Isosceles Triangle 50"/>
          <p:cNvSpPr/>
          <p:nvPr/>
        </p:nvSpPr>
        <p:spPr>
          <a:xfrm rot="10800000">
            <a:off x="10287758" y="2897848"/>
            <a:ext cx="109728" cy="91440"/>
          </a:xfrm>
          <a:prstGeom prst="triangle">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2" name="TextBox 51"/>
          <p:cNvSpPr txBox="1"/>
          <p:nvPr/>
        </p:nvSpPr>
        <p:spPr>
          <a:xfrm>
            <a:off x="9779495" y="2687536"/>
            <a:ext cx="1126255" cy="192024"/>
          </a:xfrm>
          <a:prstGeom prst="rect">
            <a:avLst/>
          </a:prstGeom>
          <a:noFill/>
        </p:spPr>
        <p:txBody>
          <a:bodyPr wrap="square" lIns="0" rIns="0" tIns="0" bIns="0" anchor="ctr">
            <a:noAutofit/>
          </a:bodyPr>
          <a:lstStyle/>
          <a:p>
            <a:pPr algn="ctr">
              <a:lnSpc>
                <a:spcPct val="100000"/>
              </a:lnSpc>
            </a:pPr>
            <a:r>
              <a:rPr sz="1000" b="1" i="0">
                <a:solidFill>
                  <a:srgbClr val="47596B"/>
                </a:solidFill>
                <a:latin typeface="Segoe UI"/>
              </a:rPr>
              <a:t>Line mein chhupa</a:t>
            </a:r>
          </a:p>
        </p:txBody>
      </p:sp>
      <p:sp>
        <p:nvSpPr>
          <p:cNvPr id="53" name="Isosceles Triangle 52"/>
          <p:cNvSpPr/>
          <p:nvPr/>
        </p:nvSpPr>
        <p:spPr>
          <a:xfrm rot="10800000">
            <a:off x="11196431" y="2364355"/>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4" name="TextBox 53"/>
          <p:cNvSpPr txBox="1"/>
          <p:nvPr/>
        </p:nvSpPr>
        <p:spPr>
          <a:xfrm>
            <a:off x="10759640" y="1962019"/>
            <a:ext cx="791975"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3.2x volume</a:t>
            </a:r>
          </a:p>
        </p:txBody>
      </p:sp>
      <p:sp>
        <p:nvSpPr>
          <p:cNvPr id="55" name="Rounded Rectangle 5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Rounded Rectangle 5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57" name="TextBox 5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Volume ki koi side nahi hoti. Use bada ya chhota tabhi kahiye jab average se mila lein.</a:t>
            </a:r>
          </a:p>
        </p:txBody>
      </p:sp>
      <p:pic>
        <p:nvPicPr>
          <p:cNvPr id="58" name="Picture 57" descr="logo.png"/>
          <p:cNvPicPr>
            <a:picLocks noChangeAspect="1"/>
          </p:cNvPicPr>
          <p:nvPr/>
        </p:nvPicPr>
        <p:blipFill>
          <a:blip r:embed="rId2"/>
          <a:stretch>
            <a:fillRect/>
          </a:stretch>
        </p:blipFill>
        <p:spPr>
          <a:xfrm>
            <a:off x="457200" y="6437376"/>
            <a:ext cx="237744" cy="237744"/>
          </a:xfrm>
          <a:prstGeom prst="rect">
            <a:avLst/>
          </a:prstGeom>
        </p:spPr>
      </p:pic>
      <p:sp>
        <p:nvSpPr>
          <p:cNvPr id="5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60" name="TextBox 5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Adjusted prices: woh crash jo hua hi nahi</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Kabhi-kabhi share ka price raaton-raat badal jaata hai, aur kisi ka ek rupaya bhi nahi doobta.</a:t>
            </a:r>
          </a:p>
          <a:p>
            <a:pPr algn="l" marL="274320" indent="-274320">
              <a:lnSpc>
                <a:spcPct val="100000"/>
              </a:lnSpc>
              <a:spcAft>
                <a:spcPts val="800"/>
              </a:spcAft>
              <a:buClr>
                <a:srgbClr val="00AEEF"/>
              </a:buClr>
              <a:buFont typeface="Arial"/>
              <a:buChar char="•"/>
            </a:pPr>
            <a:r>
              <a:rPr sz="1600" b="0" i="0">
                <a:solidFill>
                  <a:srgbClr val="18232F"/>
                </a:solidFill>
                <a:latin typeface="Segoe UI"/>
              </a:rPr>
              <a:t>Stock split mein har share do ya zyada shares ban jaata hai, isliye price usi hisaab se gir jaata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Bonus issue mein shareholders ko free mein extra shares milte hain, aur price bhi usi tarah adjust ho jaata hai.</a:t>
            </a:r>
          </a:p>
          <a:p>
            <a:pPr algn="l" marL="274320" indent="-274320">
              <a:lnSpc>
                <a:spcPct val="100000"/>
              </a:lnSpc>
              <a:buClr>
                <a:srgbClr val="00AEEF"/>
              </a:buClr>
              <a:buFont typeface="Arial"/>
              <a:buChar char="•"/>
            </a:pPr>
            <a:r>
              <a:rPr sz="1600" b="0" i="0">
                <a:solidFill>
                  <a:srgbClr val="18232F"/>
                </a:solidFill>
                <a:latin typeface="Segoe UI"/>
              </a:rPr>
              <a:t>Aapki holding ki value wahi rehti hai, lekin raw, yaani bina adjust kiye, price chart par achanak ek khaai dikhti hai.</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Gupta Cement Ltd Thursday ko Rs 1,200 par band hota hai. Friday ko split laagu ho jaata hai, har share do ban jaata hai, aur share lagbhag Rs 600 par trade hota hai. Aman ke Rs 12,000 ke 10 shares ab Rs 600 ke 20 shares hain: kul value phir bhi Rs 12,000. Raw chart ek din mein 50% ki girawat dikhata hai. … Yeh gap bhi loss nahi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Split price badalta hai, aapka paisa nahi</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Raw chart ise 50% ki girawat dikhata hai. Adjusted chart purane prices ko 2 se divide karta hai, isliye koi khaai nahi dikhti.</a:t>
            </a:r>
          </a:p>
        </p:txBody>
      </p:sp>
      <p:sp>
        <p:nvSpPr>
          <p:cNvPr id="11" name="TextBox 10"/>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2503170"/>
            <a:ext cx="3654652"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Baad mein: 20 shares x Rs 600</a:t>
            </a:r>
          </a:p>
        </p:txBody>
      </p:sp>
      <p:sp>
        <p:nvSpPr>
          <p:cNvPr id="13" name="TextBox 12"/>
          <p:cNvSpPr txBox="1"/>
          <p:nvPr/>
        </p:nvSpPr>
        <p:spPr>
          <a:xfrm>
            <a:off x="10418012" y="2503170"/>
            <a:ext cx="106045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12,000</a:t>
            </a:r>
          </a:p>
        </p:txBody>
      </p:sp>
      <p:cxnSp>
        <p:nvCxnSpPr>
          <p:cNvPr id="14" name="Connector 13"/>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3106674"/>
            <a:ext cx="3654652"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Pehle: 10 shares x Rs 1,200</a:t>
            </a:r>
          </a:p>
        </p:txBody>
      </p:sp>
      <p:sp>
        <p:nvSpPr>
          <p:cNvPr id="17" name="TextBox 16"/>
          <p:cNvSpPr txBox="1"/>
          <p:nvPr/>
        </p:nvSpPr>
        <p:spPr>
          <a:xfrm>
            <a:off x="10418012" y="3106674"/>
            <a:ext cx="106045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12,000</a:t>
            </a:r>
          </a:p>
        </p:txBody>
      </p:sp>
      <p:sp>
        <p:nvSpPr>
          <p:cNvPr id="18" name="Rounded Rectangle 17"/>
          <p:cNvSpPr/>
          <p:nvPr/>
        </p:nvSpPr>
        <p:spPr>
          <a:xfrm>
            <a:off x="6397600" y="3765042"/>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6397600" y="3765042"/>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765042"/>
            <a:ext cx="3654652"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Aapki holding mein badlav</a:t>
            </a:r>
          </a:p>
        </p:txBody>
      </p:sp>
      <p:sp>
        <p:nvSpPr>
          <p:cNvPr id="21" name="TextBox 20"/>
          <p:cNvSpPr txBox="1"/>
          <p:nvPr/>
        </p:nvSpPr>
        <p:spPr>
          <a:xfrm>
            <a:off x="10418012" y="3765042"/>
            <a:ext cx="1060451"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Rs 0</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Chart par achanak khaai split ya bonus bhi ho sakti hai, crash nahi. React karne se pehle corporate actions check kijiye.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Har jagah pattern dikhna</a:t>
            </a:r>
          </a:p>
        </p:txBody>
      </p:sp>
      <p:sp>
        <p:nvSpPr>
          <p:cNvPr id="4" name="TextBox 3"/>
          <p:cNvSpPr txBox="1"/>
          <p:nvPr/>
        </p:nvSpPr>
        <p:spPr>
          <a:xfrm>
            <a:off x="457200" y="1335024"/>
            <a:ext cx="5519776" cy="24434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Humara dimaag pattern dhoondhne ke liye hi bana hai: hum baadalon mein chehre dekh lete hain, aur chaand par charkha kaatti budhiya.</a:t>
            </a:r>
          </a:p>
          <a:p>
            <a:pPr algn="l" marL="274320" indent="-274320">
              <a:lnSpc>
                <a:spcPct val="100000"/>
              </a:lnSpc>
              <a:spcAft>
                <a:spcPts val="800"/>
              </a:spcAft>
              <a:buClr>
                <a:srgbClr val="00AEEF"/>
              </a:buClr>
              <a:buFont typeface="Arial"/>
              <a:buChar char="•"/>
            </a:pPr>
            <a:r>
              <a:rPr sz="1600" b="0" i="0">
                <a:solidFill>
                  <a:srgbClr val="18232F"/>
                </a:solidFill>
                <a:latin typeface="Segoe UI"/>
              </a:rPr>
              <a:t>Chart par yahi aadat pattern illusion ban jaati hai, yaani un moves mein matlab dhoondh lena jo zyadatar ittefaq se hote hain.</a:t>
            </a:r>
          </a:p>
          <a:p>
            <a:pPr algn="l" marL="274320" indent="-274320">
              <a:lnSpc>
                <a:spcPct val="100000"/>
              </a:lnSpc>
              <a:buClr>
                <a:srgbClr val="00AEEF"/>
              </a:buClr>
              <a:buFont typeface="Arial"/>
              <a:buChar char="•"/>
            </a:pPr>
            <a:r>
              <a:rPr sz="1600" b="0" i="0">
                <a:solidFill>
                  <a:srgbClr val="18232F"/>
                </a:solidFill>
                <a:latin typeface="Segoe UI"/>
              </a:rPr>
              <a:t>AI ko screenshot dene se pehle dhyaan rakhiye ki price axis aur dates dikh rahi hon, aur apna naam, client ID, balance aur holdings crop kar dijiye.</a:t>
            </a:r>
          </a:p>
        </p:txBody>
      </p:sp>
      <p:sp>
        <p:nvSpPr>
          <p:cNvPr id="5" name="Rounded Rectangle 4"/>
          <p:cNvSpPr/>
          <p:nvPr/>
        </p:nvSpPr>
        <p:spPr>
          <a:xfrm>
            <a:off x="457200" y="3933952"/>
            <a:ext cx="5519776" cy="1680464"/>
          </a:xfrm>
          <a:prstGeom prst="roundRect">
            <a:avLst>
              <a:gd name="adj" fmla="val 652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619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318000"/>
            <a:ext cx="5154016" cy="12232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Paanch baar sikka uchhaalein aur paanchon baar heads aaye, aisa kam hota hai: lagbhag 32 mein ek baar. Lekin ek normal din mein 5-minute ki 75 candles hoti hain. Agar har candle ek sikke ki uchhaal hoti, tab bhi lagbhag 10 mein se 7 dinon mein kahin na kahin lagataar paanch ya zyada hari candles dikh jaatin. … Candles se bhari screen par aisi streak sirf ittefaq se bhi ban jaati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30 baar sikka, chart ki shakal mein</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30 tosses ka ek banaya hua example, jismein streak saaf dikhe: Rs 100 se shuru, heads par Rs 5 jodiye, tails par Rs 5 ghataiye. Aapke apne tosses alag dikhenge, par unmein bhi streaks aur chadhai-utaar dikhenge.</a:t>
            </a:r>
          </a:p>
        </p:txBody>
      </p:sp>
      <p:sp>
        <p:nvSpPr>
          <p:cNvPr id="12" name="TextBox 11"/>
          <p:cNvSpPr txBox="1"/>
          <p:nvPr/>
        </p:nvSpPr>
        <p:spPr>
          <a:xfrm>
            <a:off x="6397600" y="179679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Rs</a:t>
            </a:r>
          </a:p>
        </p:txBody>
      </p:sp>
      <p:cxnSp>
        <p:nvCxnSpPr>
          <p:cNvPr id="13" name="Connector 12"/>
          <p:cNvCxnSpPr/>
          <p:nvPr/>
        </p:nvCxnSpPr>
        <p:spPr>
          <a:xfrm>
            <a:off x="6812159" y="467715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97600" y="4594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96.8</a:t>
            </a:r>
          </a:p>
        </p:txBody>
      </p:sp>
      <p:cxnSp>
        <p:nvCxnSpPr>
          <p:cNvPr id="15" name="Connector 14"/>
          <p:cNvCxnSpPr/>
          <p:nvPr/>
        </p:nvCxnSpPr>
        <p:spPr>
          <a:xfrm>
            <a:off x="6812159" y="407136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97600" y="398907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108.4</a:t>
            </a:r>
          </a:p>
        </p:txBody>
      </p:sp>
      <p:cxnSp>
        <p:nvCxnSpPr>
          <p:cNvPr id="17" name="Connector 16"/>
          <p:cNvCxnSpPr/>
          <p:nvPr/>
        </p:nvCxnSpPr>
        <p:spPr>
          <a:xfrm>
            <a:off x="6812159" y="346557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338328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120</a:t>
            </a:r>
          </a:p>
        </p:txBody>
      </p:sp>
      <p:cxnSp>
        <p:nvCxnSpPr>
          <p:cNvPr id="19" name="Connector 18"/>
          <p:cNvCxnSpPr/>
          <p:nvPr/>
        </p:nvCxnSpPr>
        <p:spPr>
          <a:xfrm>
            <a:off x="6812159" y="285978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277749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131.6</a:t>
            </a:r>
          </a:p>
        </p:txBody>
      </p:sp>
      <p:cxnSp>
        <p:nvCxnSpPr>
          <p:cNvPr id="21" name="Connector 20"/>
          <p:cNvCxnSpPr/>
          <p:nvPr/>
        </p:nvCxnSpPr>
        <p:spPr>
          <a:xfrm>
            <a:off x="6812159" y="225399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217170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143.2</a:t>
            </a:r>
          </a:p>
        </p:txBody>
      </p:sp>
      <p:cxnSp>
        <p:nvCxnSpPr>
          <p:cNvPr id="23" name="Connector 22"/>
          <p:cNvCxnSpPr/>
          <p:nvPr/>
        </p:nvCxnSpPr>
        <p:spPr>
          <a:xfrm>
            <a:off x="7434333" y="2107692"/>
            <a:ext cx="0" cy="256946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80053" y="2016252"/>
            <a:ext cx="397835"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Rally?</a:t>
            </a:r>
          </a:p>
        </p:txBody>
      </p:sp>
      <p:cxnSp>
        <p:nvCxnSpPr>
          <p:cNvPr id="25" name="Connector 24"/>
          <p:cNvCxnSpPr/>
          <p:nvPr/>
        </p:nvCxnSpPr>
        <p:spPr>
          <a:xfrm>
            <a:off x="10078572" y="2107692"/>
            <a:ext cx="0" cy="256946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124292" y="2016252"/>
            <a:ext cx="576079"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Girawat?</a:t>
            </a:r>
          </a:p>
        </p:txBody>
      </p:sp>
      <p:sp>
        <p:nvSpPr>
          <p:cNvPr id="27" name="Freeform 26"/>
          <p:cNvSpPr/>
          <p:nvPr/>
        </p:nvSpPr>
        <p:spPr>
          <a:xfrm>
            <a:off x="6812159" y="2421110"/>
            <a:ext cx="4666304" cy="2088932"/>
          </a:xfrm>
          <a:custGeom>
            <a:avLst/>
            <a:gdLst/>
            <a:ahLst/>
            <a:cxnLst/>
            <a:rect l="l" t="t" r="r" b="b"/>
            <a:pathLst>
              <a:path w="4666304" h="2088932">
                <a:moveTo>
                  <a:pt x="0" y="2088932"/>
                </a:moveTo>
                <a:lnTo>
                  <a:pt x="155544" y="1827815"/>
                </a:lnTo>
                <a:lnTo>
                  <a:pt x="311087" y="1566699"/>
                </a:lnTo>
                <a:lnTo>
                  <a:pt x="466631" y="1305582"/>
                </a:lnTo>
                <a:lnTo>
                  <a:pt x="622174" y="1044466"/>
                </a:lnTo>
                <a:lnTo>
                  <a:pt x="777718" y="783350"/>
                </a:lnTo>
                <a:lnTo>
                  <a:pt x="933261" y="522233"/>
                </a:lnTo>
                <a:lnTo>
                  <a:pt x="1088805" y="261117"/>
                </a:lnTo>
                <a:lnTo>
                  <a:pt x="1244348" y="522233"/>
                </a:lnTo>
                <a:lnTo>
                  <a:pt x="1399892" y="783350"/>
                </a:lnTo>
                <a:lnTo>
                  <a:pt x="1555435" y="522233"/>
                </a:lnTo>
                <a:lnTo>
                  <a:pt x="1710978" y="261117"/>
                </a:lnTo>
                <a:lnTo>
                  <a:pt x="1866522" y="0"/>
                </a:lnTo>
                <a:lnTo>
                  <a:pt x="2022065" y="261117"/>
                </a:lnTo>
                <a:lnTo>
                  <a:pt x="2177609" y="522233"/>
                </a:lnTo>
                <a:lnTo>
                  <a:pt x="2333152" y="261117"/>
                </a:lnTo>
                <a:lnTo>
                  <a:pt x="2488696" y="522233"/>
                </a:lnTo>
                <a:lnTo>
                  <a:pt x="2644239" y="783350"/>
                </a:lnTo>
                <a:lnTo>
                  <a:pt x="2799783" y="1044466"/>
                </a:lnTo>
                <a:lnTo>
                  <a:pt x="2955326" y="783350"/>
                </a:lnTo>
                <a:lnTo>
                  <a:pt x="3110870" y="1044466"/>
                </a:lnTo>
                <a:lnTo>
                  <a:pt x="3266413" y="1305582"/>
                </a:lnTo>
                <a:lnTo>
                  <a:pt x="3421957" y="1566699"/>
                </a:lnTo>
                <a:lnTo>
                  <a:pt x="3577500" y="1827815"/>
                </a:lnTo>
                <a:lnTo>
                  <a:pt x="3733043" y="1566699"/>
                </a:lnTo>
                <a:lnTo>
                  <a:pt x="3888587" y="1827815"/>
                </a:lnTo>
                <a:lnTo>
                  <a:pt x="4044130" y="2088932"/>
                </a:lnTo>
                <a:lnTo>
                  <a:pt x="4199674" y="1827815"/>
                </a:lnTo>
                <a:lnTo>
                  <a:pt x="4355217" y="1566699"/>
                </a:lnTo>
                <a:lnTo>
                  <a:pt x="4510761" y="1827815"/>
                </a:lnTo>
                <a:lnTo>
                  <a:pt x="4666304" y="1566699"/>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159" y="471373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Toss number</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Jis cheez par chart par ungli na rakh sakein, woh Guess hai. Pehle timeframe, candles aur volume; kahani sabse baad mein.</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OHLC</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Open, high, low aur close: woh chaar prices jo har candle ya bar apne period ke liye record karti hai. NSE ki daily candle mein open aur close exchange ke official prices hote hain.</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03426"/>
            <a:ext cx="5154016" cy="216408"/>
          </a:xfrm>
          <a:prstGeom prst="rect">
            <a:avLst/>
          </a:prstGeom>
          <a:noFill/>
        </p:spPr>
        <p:txBody>
          <a:bodyPr wrap="square" lIns="0" rIns="0" tIns="0" bIns="0" anchor="t">
            <a:noAutofit/>
          </a:bodyPr>
          <a:lstStyle/>
          <a:p>
            <a:pPr algn="l">
              <a:lnSpc>
                <a:spcPct val="100000"/>
              </a:lnSpc>
            </a:pPr>
            <a:r>
              <a:rPr sz="1300" b="1" i="0">
                <a:solidFill>
                  <a:srgbClr val="095A90"/>
                </a:solidFill>
                <a:latin typeface="Segoe UI"/>
              </a:rPr>
              <a:t>Line, bar aur candlestick chart</a:t>
            </a:r>
          </a:p>
        </p:txBody>
      </p:sp>
      <p:sp>
        <p:nvSpPr>
          <p:cNvPr id="9" name="TextBox 8"/>
          <p:cNvSpPr txBox="1"/>
          <p:nvPr/>
        </p:nvSpPr>
        <p:spPr>
          <a:xfrm>
            <a:off x="6379312" y="1756410"/>
            <a:ext cx="5154016" cy="539496"/>
          </a:xfrm>
          <a:prstGeom prst="rect">
            <a:avLst/>
          </a:prstGeom>
          <a:noFill/>
        </p:spPr>
        <p:txBody>
          <a:bodyPr wrap="square" lIns="0" rIns="0" tIns="0" bIns="0" anchor="t">
            <a:noAutofit/>
          </a:bodyPr>
          <a:lstStyle/>
          <a:p>
            <a:pPr algn="l">
              <a:lnSpc>
                <a:spcPct val="100000"/>
              </a:lnSpc>
            </a:pPr>
            <a:r>
              <a:rPr sz="1100" b="0" i="0">
                <a:solidFill>
                  <a:srgbClr val="18232F"/>
                </a:solidFill>
                <a:latin typeface="Segoe UI"/>
              </a:rPr>
              <a:t>Ek hi prices ki teen tasveerein. Line sirf closes ko jodti hai. Bar low se high tak ek khadi line hai, jismein left tick open ka aur right tick close ka hota hai. Candle wahi chaar prices dikhati hai, open se close tak rangeen body ke saath.</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39268"/>
          </a:xfrm>
          <a:prstGeom prst="rect">
            <a:avLst/>
          </a:prstGeom>
          <a:noFill/>
        </p:spPr>
        <p:txBody>
          <a:bodyPr wrap="square" lIns="0" rIns="0" tIns="0" bIns="0" anchor="t">
            <a:noAutofit/>
          </a:bodyPr>
          <a:lstStyle/>
          <a:p>
            <a:pPr algn="l">
              <a:lnSpc>
                <a:spcPct val="100000"/>
              </a:lnSpc>
            </a:pPr>
            <a:r>
              <a:rPr sz="1450" b="1" i="0">
                <a:solidFill>
                  <a:srgbClr val="095A90"/>
                </a:solidFill>
                <a:latin typeface="Segoe UI"/>
              </a:rPr>
              <a:t>Body aur wick</a:t>
            </a:r>
          </a:p>
        </p:txBody>
      </p:sp>
      <p:sp>
        <p:nvSpPr>
          <p:cNvPr id="12" name="TextBox 11"/>
          <p:cNvSpPr txBox="1"/>
          <p:nvPr/>
        </p:nvSpPr>
        <p:spPr>
          <a:xfrm>
            <a:off x="658368" y="3014472"/>
            <a:ext cx="515401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Body open se close tak hoti hai; patli wicks high aur low tak jaati hain. Hari candle mein open body ka neeche wala sira hai; laal candle mein upar wala. Lambi wick batati hai ki price wahan tak gaya, par tika nahi.</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08788"/>
          </a:xfrm>
          <a:prstGeom prst="rect">
            <a:avLst/>
          </a:prstGeom>
          <a:noFill/>
        </p:spPr>
        <p:txBody>
          <a:bodyPr wrap="square" lIns="0" rIns="0" tIns="0" bIns="0" anchor="t">
            <a:noAutofit/>
          </a:bodyPr>
          <a:lstStyle/>
          <a:p>
            <a:pPr algn="l">
              <a:lnSpc>
                <a:spcPct val="100000"/>
              </a:lnSpc>
            </a:pPr>
            <a:r>
              <a:rPr sz="1250" b="1" i="0">
                <a:solidFill>
                  <a:srgbClr val="095A90"/>
                </a:solidFill>
                <a:latin typeface="Segoe UI"/>
              </a:rPr>
              <a:t>Closing auction</a:t>
            </a:r>
          </a:p>
        </p:txBody>
      </p:sp>
      <p:sp>
        <p:nvSpPr>
          <p:cNvPr id="15" name="TextBox 14"/>
          <p:cNvSpPr txBox="1"/>
          <p:nvPr/>
        </p:nvSpPr>
        <p:spPr>
          <a:xfrm>
            <a:off x="6379312" y="2983992"/>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3 Aug 2026 se, jin shares ke F&amp;O contracts hain: continuous trading 3:15 baje khatam hoti hai aur lagbhag 3:35 tak chalne wala ek chhota auction ek official closing price tay karta hai. Baaki shares ka close lagbhag aakhri 30 minute ka volume-weighted average hota hai. Latest NSE par check kijiye.</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92702"/>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Timeframe</a:t>
            </a:r>
          </a:p>
        </p:txBody>
      </p:sp>
      <p:sp>
        <p:nvSpPr>
          <p:cNvPr id="18" name="TextBox 17"/>
          <p:cNvSpPr txBox="1"/>
          <p:nvPr/>
        </p:nvSpPr>
        <p:spPr>
          <a:xfrm>
            <a:off x="658368" y="4376166"/>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Ek candle kitne waqt ki hai: 5 minute, 15 minute, ek session ya ek hafta.</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Volume aur relative volume</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Volume yaani ek period mein kitne shares trade hue. Relative volume woh number hai jo aaj ke volume ko uske average se divide karke aata hai, aksar 20-day average se.</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Adjusted price</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Aisi price series jismein purane prices split, bonus aur kabhi-kabhi dividend ke hisaab se rescale kiye gaye hon, taaki chart par nakli khaai na dikhe.</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6829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Pattern illusion</a:t>
            </a:r>
          </a:p>
        </p:txBody>
      </p:sp>
      <p:sp>
        <p:nvSpPr>
          <p:cNvPr id="27" name="TextBox 26"/>
          <p:cNvSpPr txBox="1"/>
          <p:nvPr/>
        </p:nvSpPr>
        <p:spPr>
          <a:xfrm>
            <a:off x="6379312"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Chart ke un moves mein matlab dekhna jo zyadatar ittefaq hote hain. Sikke ki uchhaal bhi asli lagne wale 'patterns' bana deti hai.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193798"/>
            <a:ext cx="502920" cy="161010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33350"/>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743456"/>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460498"/>
            <a:ext cx="502920" cy="134340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7330288" y="3670554"/>
            <a:ext cx="502920" cy="133350"/>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21005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Chart padhna</a:t>
            </a:r>
          </a:p>
        </p:txBody>
      </p:sp>
      <p:sp>
        <p:nvSpPr>
          <p:cNvPr id="11" name="Rounded Rectangle 10"/>
          <p:cNvSpPr/>
          <p:nvPr/>
        </p:nvSpPr>
        <p:spPr>
          <a:xfrm>
            <a:off x="640080" y="1404366"/>
            <a:ext cx="3718408" cy="1578864"/>
          </a:xfrm>
          <a:prstGeom prst="roundRect">
            <a:avLst>
              <a:gd name="adj" fmla="val 69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14094"/>
            <a:ext cx="3425800"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Chart types</a:t>
            </a:r>
          </a:p>
        </p:txBody>
      </p:sp>
      <p:sp>
        <p:nvSpPr>
          <p:cNvPr id="13" name="TextBox 12"/>
          <p:cNvSpPr txBox="1"/>
          <p:nvPr/>
        </p:nvSpPr>
        <p:spPr>
          <a:xfrm>
            <a:off x="786384" y="1823466"/>
            <a:ext cx="3425800" cy="1159764"/>
          </a:xfrm>
          <a:prstGeom prst="rect">
            <a:avLst/>
          </a:prstGeom>
          <a:noFill/>
        </p:spPr>
        <p:txBody>
          <a:bodyPr wrap="square" lIns="0" rIns="0" tIns="0" bIns="0" anchor="t">
            <a:noAutofit/>
          </a:bodyPr>
          <a:lstStyle/>
          <a:p>
            <a:pPr algn="l" marL="182880" indent="-182880">
              <a:lnSpc>
                <a:spcPct val="100000"/>
              </a:lnSpc>
              <a:spcAft>
                <a:spcPts val="420"/>
              </a:spcAft>
              <a:buClr>
                <a:srgbClr val="0093D6"/>
              </a:buClr>
              <a:buFont typeface="Arial"/>
              <a:buChar char="•"/>
            </a:pPr>
            <a:r>
              <a:rPr sz="1400" b="0" i="0">
                <a:solidFill>
                  <a:srgbClr val="18232F"/>
                </a:solidFill>
                <a:latin typeface="Segoe UI"/>
              </a:rPr>
              <a:t>Wahi prices, teen tasveerein</a:t>
            </a:r>
          </a:p>
          <a:p>
            <a:pPr algn="l" marL="182880" indent="-182880">
              <a:lnSpc>
                <a:spcPct val="100000"/>
              </a:lnSpc>
              <a:spcAft>
                <a:spcPts val="420"/>
              </a:spcAft>
              <a:buClr>
                <a:srgbClr val="0093D6"/>
              </a:buClr>
              <a:buFont typeface="Arial"/>
              <a:buChar char="•"/>
            </a:pPr>
            <a:r>
              <a:rPr sz="1400" b="0" i="0">
                <a:solidFill>
                  <a:srgbClr val="18232F"/>
                </a:solidFill>
                <a:latin typeface="Segoe UI"/>
              </a:rPr>
              <a:t>Line = sirf closes</a:t>
            </a:r>
          </a:p>
          <a:p>
            <a:pPr algn="l" marL="182880" indent="-182880">
              <a:lnSpc>
                <a:spcPct val="100000"/>
              </a:lnSpc>
              <a:spcAft>
                <a:spcPts val="420"/>
              </a:spcAft>
              <a:buClr>
                <a:srgbClr val="0093D6"/>
              </a:buClr>
              <a:buFont typeface="Arial"/>
              <a:buChar char="•"/>
            </a:pPr>
            <a:r>
              <a:rPr sz="1400" b="0" i="0">
                <a:solidFill>
                  <a:srgbClr val="18232F"/>
                </a:solidFill>
                <a:latin typeface="Segoe UI"/>
              </a:rPr>
              <a:t>Bar aur candle = OHLC</a:t>
            </a:r>
          </a:p>
          <a:p>
            <a:pPr algn="l" marL="182880" indent="-182880">
              <a:lnSpc>
                <a:spcPct val="100000"/>
              </a:lnSpc>
              <a:buClr>
                <a:srgbClr val="0093D6"/>
              </a:buClr>
              <a:buFont typeface="Arial"/>
              <a:buChar char="•"/>
            </a:pPr>
            <a:r>
              <a:rPr sz="1400" b="0" i="0">
                <a:solidFill>
                  <a:srgbClr val="18232F"/>
                </a:solidFill>
                <a:latin typeface="Segoe UI"/>
              </a:rPr>
              <a:t>Lambe charts ke liye log scale</a:t>
            </a:r>
          </a:p>
        </p:txBody>
      </p:sp>
      <p:sp>
        <p:nvSpPr>
          <p:cNvPr id="14" name="Rounded Rectangle 13"/>
          <p:cNvSpPr/>
          <p:nvPr/>
        </p:nvSpPr>
        <p:spPr>
          <a:xfrm>
            <a:off x="640080" y="3147822"/>
            <a:ext cx="3718408" cy="1578864"/>
          </a:xfrm>
          <a:prstGeom prst="roundRect">
            <a:avLst>
              <a:gd name="adj" fmla="val 6949"/>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257550"/>
            <a:ext cx="3425800" cy="254508"/>
          </a:xfrm>
          <a:prstGeom prst="rect">
            <a:avLst/>
          </a:prstGeom>
          <a:noFill/>
        </p:spPr>
        <p:txBody>
          <a:bodyPr wrap="square" lIns="0" rIns="0" tIns="0" bIns="0" anchor="t">
            <a:noAutofit/>
          </a:bodyPr>
          <a:lstStyle/>
          <a:p>
            <a:pPr algn="l">
              <a:lnSpc>
                <a:spcPct val="100000"/>
              </a:lnSpc>
            </a:pPr>
            <a:r>
              <a:rPr sz="1550" b="1" i="0">
                <a:solidFill>
                  <a:srgbClr val="166534"/>
                </a:solidFill>
                <a:latin typeface="Segoe UI"/>
              </a:rPr>
              <a:t>Ek candle</a:t>
            </a:r>
          </a:p>
        </p:txBody>
      </p:sp>
      <p:sp>
        <p:nvSpPr>
          <p:cNvPr id="16" name="TextBox 15"/>
          <p:cNvSpPr txBox="1"/>
          <p:nvPr/>
        </p:nvSpPr>
        <p:spPr>
          <a:xfrm>
            <a:off x="786384" y="3566922"/>
            <a:ext cx="3425800" cy="1159764"/>
          </a:xfrm>
          <a:prstGeom prst="rect">
            <a:avLst/>
          </a:prstGeom>
          <a:noFill/>
        </p:spPr>
        <p:txBody>
          <a:bodyPr wrap="square" lIns="0" rIns="0" tIns="0" bIns="0" anchor="t">
            <a:noAutofit/>
          </a:bodyPr>
          <a:lstStyle/>
          <a:p>
            <a:pPr algn="l" marL="182880" indent="-182880">
              <a:lnSpc>
                <a:spcPct val="100000"/>
              </a:lnSpc>
              <a:spcAft>
                <a:spcPts val="420"/>
              </a:spcAft>
              <a:buClr>
                <a:srgbClr val="16A34A"/>
              </a:buClr>
              <a:buFont typeface="Arial"/>
              <a:buChar char="•"/>
            </a:pPr>
            <a:r>
              <a:rPr sz="1400" b="0" i="0">
                <a:solidFill>
                  <a:srgbClr val="18232F"/>
                </a:solidFill>
                <a:latin typeface="Segoe UI"/>
              </a:rPr>
              <a:t>Body = open se close</a:t>
            </a:r>
          </a:p>
          <a:p>
            <a:pPr algn="l" marL="182880" indent="-182880">
              <a:lnSpc>
                <a:spcPct val="100000"/>
              </a:lnSpc>
              <a:spcAft>
                <a:spcPts val="420"/>
              </a:spcAft>
              <a:buClr>
                <a:srgbClr val="16A34A"/>
              </a:buClr>
              <a:buFont typeface="Arial"/>
              <a:buChar char="•"/>
            </a:pPr>
            <a:r>
              <a:rPr sz="1400" b="0" i="0">
                <a:solidFill>
                  <a:srgbClr val="18232F"/>
                </a:solidFill>
                <a:latin typeface="Segoe UI"/>
              </a:rPr>
              <a:t>Wicks = high aur low</a:t>
            </a:r>
          </a:p>
          <a:p>
            <a:pPr algn="l" marL="182880" indent="-182880">
              <a:lnSpc>
                <a:spcPct val="100000"/>
              </a:lnSpc>
              <a:spcAft>
                <a:spcPts val="420"/>
              </a:spcAft>
              <a:buClr>
                <a:srgbClr val="16A34A"/>
              </a:buClr>
              <a:buFont typeface="Arial"/>
              <a:buChar char="•"/>
            </a:pPr>
            <a:r>
              <a:rPr sz="1400" b="0" i="0">
                <a:solidFill>
                  <a:srgbClr val="18232F"/>
                </a:solidFill>
                <a:latin typeface="Segoe UI"/>
              </a:rPr>
              <a:t>Rang = close vs apna open</a:t>
            </a:r>
          </a:p>
          <a:p>
            <a:pPr algn="l" marL="182880" indent="-182880">
              <a:lnSpc>
                <a:spcPct val="100000"/>
              </a:lnSpc>
              <a:buClr>
                <a:srgbClr val="16A34A"/>
              </a:buClr>
              <a:buFont typeface="Arial"/>
              <a:buChar char="•"/>
            </a:pPr>
            <a:r>
              <a:rPr sz="1400" b="0" i="0">
                <a:solidFill>
                  <a:srgbClr val="18232F"/>
                </a:solidFill>
                <a:latin typeface="Segoe UI"/>
              </a:rPr>
              <a:t>Laal: open body ke upar</a:t>
            </a:r>
          </a:p>
        </p:txBody>
      </p:sp>
      <p:sp>
        <p:nvSpPr>
          <p:cNvPr id="17" name="Rounded Rectangle 16"/>
          <p:cNvSpPr/>
          <p:nvPr/>
        </p:nvSpPr>
        <p:spPr>
          <a:xfrm>
            <a:off x="640080" y="4891278"/>
            <a:ext cx="3718408" cy="1312164"/>
          </a:xfrm>
          <a:prstGeom prst="roundRect">
            <a:avLst>
              <a:gd name="adj" fmla="val 8362"/>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5001006"/>
            <a:ext cx="3425800" cy="254508"/>
          </a:xfrm>
          <a:prstGeom prst="rect">
            <a:avLst/>
          </a:prstGeom>
          <a:noFill/>
        </p:spPr>
        <p:txBody>
          <a:bodyPr wrap="square" lIns="0" rIns="0" tIns="0" bIns="0" anchor="t">
            <a:noAutofit/>
          </a:bodyPr>
          <a:lstStyle/>
          <a:p>
            <a:pPr algn="l">
              <a:lnSpc>
                <a:spcPct val="100000"/>
              </a:lnSpc>
            </a:pPr>
            <a:r>
              <a:rPr sz="1550" b="1" i="0">
                <a:solidFill>
                  <a:srgbClr val="92400E"/>
                </a:solidFill>
                <a:latin typeface="Segoe UI"/>
              </a:rPr>
              <a:t>Timeframes</a:t>
            </a:r>
          </a:p>
        </p:txBody>
      </p:sp>
      <p:sp>
        <p:nvSpPr>
          <p:cNvPr id="19" name="TextBox 18"/>
          <p:cNvSpPr txBox="1"/>
          <p:nvPr/>
        </p:nvSpPr>
        <p:spPr>
          <a:xfrm>
            <a:off x="786384" y="5310378"/>
            <a:ext cx="3425800" cy="893064"/>
          </a:xfrm>
          <a:prstGeom prst="rect">
            <a:avLst/>
          </a:prstGeom>
          <a:noFill/>
        </p:spPr>
        <p:txBody>
          <a:bodyPr wrap="square" lIns="0" rIns="0" tIns="0" bIns="0" anchor="t">
            <a:noAutofit/>
          </a:bodyPr>
          <a:lstStyle/>
          <a:p>
            <a:pPr algn="l" marL="182880" indent="-182880">
              <a:lnSpc>
                <a:spcPct val="100000"/>
              </a:lnSpc>
              <a:spcAft>
                <a:spcPts val="420"/>
              </a:spcAft>
              <a:buClr>
                <a:srgbClr val="F5A524"/>
              </a:buClr>
              <a:buFont typeface="Arial"/>
              <a:buChar char="•"/>
            </a:pPr>
            <a:r>
              <a:rPr sz="1400" b="0" i="0">
                <a:solidFill>
                  <a:srgbClr val="18232F"/>
                </a:solidFill>
                <a:latin typeface="Segoe UI"/>
              </a:rPr>
              <a:t>1 candle = 1 period</a:t>
            </a:r>
          </a:p>
          <a:p>
            <a:pPr algn="l" marL="182880" indent="-182880">
              <a:lnSpc>
                <a:spcPct val="100000"/>
              </a:lnSpc>
              <a:spcAft>
                <a:spcPts val="420"/>
              </a:spcAft>
              <a:buClr>
                <a:srgbClr val="F5A524"/>
              </a:buClr>
              <a:buFont typeface="Arial"/>
              <a:buChar char="•"/>
            </a:pPr>
            <a:r>
              <a:rPr sz="1400" b="0" i="0">
                <a:solidFill>
                  <a:srgbClr val="18232F"/>
                </a:solidFill>
                <a:latin typeface="Segoe UI"/>
              </a:rPr>
              <a:t>Daily = ek session</a:t>
            </a:r>
          </a:p>
          <a:p>
            <a:pPr algn="l" marL="182880" indent="-182880">
              <a:lnSpc>
                <a:spcPct val="100000"/>
              </a:lnSpc>
              <a:buClr>
                <a:srgbClr val="F5A524"/>
              </a:buClr>
              <a:buFont typeface="Arial"/>
              <a:buChar char="•"/>
            </a:pPr>
            <a:r>
              <a:rPr sz="1400" b="0" i="0">
                <a:solidFill>
                  <a:srgbClr val="18232F"/>
                </a:solidFill>
                <a:latin typeface="Segoe UI"/>
              </a:rPr>
              <a:t>Plan badi candle par, timing chhoti par</a:t>
            </a:r>
          </a:p>
        </p:txBody>
      </p:sp>
      <p:sp>
        <p:nvSpPr>
          <p:cNvPr id="20" name="Rounded Rectangle 19"/>
          <p:cNvSpPr/>
          <p:nvPr/>
        </p:nvSpPr>
        <p:spPr>
          <a:xfrm>
            <a:off x="7833208" y="1937766"/>
            <a:ext cx="3718408" cy="1045464"/>
          </a:xfrm>
          <a:prstGeom prst="roundRect">
            <a:avLst>
              <a:gd name="adj" fmla="val 1049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2047494"/>
            <a:ext cx="3425800"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Volume</a:t>
            </a:r>
          </a:p>
        </p:txBody>
      </p:sp>
      <p:sp>
        <p:nvSpPr>
          <p:cNvPr id="22" name="TextBox 21"/>
          <p:cNvSpPr txBox="1"/>
          <p:nvPr/>
        </p:nvSpPr>
        <p:spPr>
          <a:xfrm>
            <a:off x="7979512" y="2356866"/>
            <a:ext cx="3425800" cy="626364"/>
          </a:xfrm>
          <a:prstGeom prst="rect">
            <a:avLst/>
          </a:prstGeom>
          <a:noFill/>
        </p:spPr>
        <p:txBody>
          <a:bodyPr wrap="square" lIns="0" rIns="0" tIns="0" bIns="0" anchor="t">
            <a:noAutofit/>
          </a:bodyPr>
          <a:lstStyle/>
          <a:p>
            <a:pPr algn="l" marL="182880" indent="-182880">
              <a:lnSpc>
                <a:spcPct val="100000"/>
              </a:lnSpc>
              <a:spcAft>
                <a:spcPts val="420"/>
              </a:spcAft>
              <a:buClr>
                <a:srgbClr val="0093D6"/>
              </a:buClr>
              <a:buFont typeface="Arial"/>
              <a:buChar char="•"/>
            </a:pPr>
            <a:r>
              <a:rPr sz="1400" b="0" i="0">
                <a:solidFill>
                  <a:srgbClr val="18232F"/>
                </a:solidFill>
                <a:latin typeface="Segoe UI"/>
              </a:rPr>
              <a:t>Trade hue shares, koi side nahi</a:t>
            </a:r>
          </a:p>
          <a:p>
            <a:pPr algn="l" marL="182880" indent="-182880">
              <a:lnSpc>
                <a:spcPct val="100000"/>
              </a:lnSpc>
              <a:buClr>
                <a:srgbClr val="0093D6"/>
              </a:buClr>
              <a:buFont typeface="Arial"/>
              <a:buChar char="•"/>
            </a:pPr>
            <a:r>
              <a:rPr sz="1400" b="0" i="0">
                <a:solidFill>
                  <a:srgbClr val="18232F"/>
                </a:solidFill>
                <a:latin typeface="Segoe UI"/>
              </a:rPr>
              <a:t>20-day average se milaiye</a:t>
            </a:r>
          </a:p>
        </p:txBody>
      </p:sp>
      <p:sp>
        <p:nvSpPr>
          <p:cNvPr id="23" name="Rounded Rectangle 22"/>
          <p:cNvSpPr/>
          <p:nvPr/>
        </p:nvSpPr>
        <p:spPr>
          <a:xfrm>
            <a:off x="7833208" y="3147822"/>
            <a:ext cx="3718408" cy="1045464"/>
          </a:xfrm>
          <a:prstGeom prst="roundRect">
            <a:avLst>
              <a:gd name="adj" fmla="val 10495"/>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257550"/>
            <a:ext cx="3425800" cy="254508"/>
          </a:xfrm>
          <a:prstGeom prst="rect">
            <a:avLst/>
          </a:prstGeom>
          <a:noFill/>
        </p:spPr>
        <p:txBody>
          <a:bodyPr wrap="square" lIns="0" rIns="0" tIns="0" bIns="0" anchor="t">
            <a:noAutofit/>
          </a:bodyPr>
          <a:lstStyle/>
          <a:p>
            <a:pPr algn="l">
              <a:lnSpc>
                <a:spcPct val="100000"/>
              </a:lnSpc>
            </a:pPr>
            <a:r>
              <a:rPr sz="1550" b="1" i="0">
                <a:solidFill>
                  <a:srgbClr val="47596B"/>
                </a:solidFill>
                <a:latin typeface="Segoe UI"/>
              </a:rPr>
              <a:t>Adjusted prices</a:t>
            </a:r>
          </a:p>
        </p:txBody>
      </p:sp>
      <p:sp>
        <p:nvSpPr>
          <p:cNvPr id="25" name="TextBox 24"/>
          <p:cNvSpPr txBox="1"/>
          <p:nvPr/>
        </p:nvSpPr>
        <p:spPr>
          <a:xfrm>
            <a:off x="7979512" y="3566922"/>
            <a:ext cx="3425800" cy="626364"/>
          </a:xfrm>
          <a:prstGeom prst="rect">
            <a:avLst/>
          </a:prstGeom>
          <a:noFill/>
        </p:spPr>
        <p:txBody>
          <a:bodyPr wrap="square" lIns="0" rIns="0" tIns="0" bIns="0" anchor="t">
            <a:noAutofit/>
          </a:bodyPr>
          <a:lstStyle/>
          <a:p>
            <a:pPr algn="l" marL="182880" indent="-182880">
              <a:lnSpc>
                <a:spcPct val="100000"/>
              </a:lnSpc>
              <a:spcAft>
                <a:spcPts val="420"/>
              </a:spcAft>
              <a:buClr>
                <a:srgbClr val="57687A"/>
              </a:buClr>
              <a:buFont typeface="Arial"/>
              <a:buChar char="•"/>
            </a:pPr>
            <a:r>
              <a:rPr sz="1400" b="0" i="0">
                <a:solidFill>
                  <a:srgbClr val="18232F"/>
                </a:solidFill>
                <a:latin typeface="Segoe UI"/>
              </a:rPr>
              <a:t>Split ya bonus crash nahi</a:t>
            </a:r>
          </a:p>
          <a:p>
            <a:pPr algn="l" marL="182880" indent="-182880">
              <a:lnSpc>
                <a:spcPct val="100000"/>
              </a:lnSpc>
              <a:buClr>
                <a:srgbClr val="57687A"/>
              </a:buClr>
              <a:buFont typeface="Arial"/>
              <a:buChar char="•"/>
            </a:pPr>
            <a:r>
              <a:rPr sz="1400" b="0" i="0">
                <a:solidFill>
                  <a:srgbClr val="18232F"/>
                </a:solidFill>
                <a:latin typeface="Segoe UI"/>
              </a:rPr>
              <a:t>NSE par corporate actions check karein</a:t>
            </a:r>
          </a:p>
        </p:txBody>
      </p:sp>
      <p:sp>
        <p:nvSpPr>
          <p:cNvPr id="26" name="Rounded Rectangle 25"/>
          <p:cNvSpPr/>
          <p:nvPr/>
        </p:nvSpPr>
        <p:spPr>
          <a:xfrm>
            <a:off x="7833208" y="4357878"/>
            <a:ext cx="3718408" cy="1312164"/>
          </a:xfrm>
          <a:prstGeom prst="roundRect">
            <a:avLst>
              <a:gd name="adj" fmla="val 8362"/>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467606"/>
            <a:ext cx="3425800" cy="254508"/>
          </a:xfrm>
          <a:prstGeom prst="rect">
            <a:avLst/>
          </a:prstGeom>
          <a:noFill/>
        </p:spPr>
        <p:txBody>
          <a:bodyPr wrap="square" lIns="0" rIns="0" tIns="0" bIns="0" anchor="t">
            <a:noAutofit/>
          </a:bodyPr>
          <a:lstStyle/>
          <a:p>
            <a:pPr algn="l">
              <a:lnSpc>
                <a:spcPct val="100000"/>
              </a:lnSpc>
            </a:pPr>
            <a:r>
              <a:rPr sz="1550" b="1" i="0">
                <a:solidFill>
                  <a:srgbClr val="991B1B"/>
                </a:solidFill>
                <a:latin typeface="Segoe UI"/>
              </a:rPr>
              <a:t>Aapka mann</a:t>
            </a:r>
          </a:p>
        </p:txBody>
      </p:sp>
      <p:sp>
        <p:nvSpPr>
          <p:cNvPr id="28" name="TextBox 27"/>
          <p:cNvSpPr txBox="1"/>
          <p:nvPr/>
        </p:nvSpPr>
        <p:spPr>
          <a:xfrm>
            <a:off x="7979512" y="4776978"/>
            <a:ext cx="3425800" cy="893064"/>
          </a:xfrm>
          <a:prstGeom prst="rect">
            <a:avLst/>
          </a:prstGeom>
          <a:noFill/>
        </p:spPr>
        <p:txBody>
          <a:bodyPr wrap="square" lIns="0" rIns="0" tIns="0" bIns="0" anchor="t">
            <a:noAutofit/>
          </a:bodyPr>
          <a:lstStyle/>
          <a:p>
            <a:pPr algn="l" marL="182880" indent="-182880">
              <a:lnSpc>
                <a:spcPct val="100000"/>
              </a:lnSpc>
              <a:spcAft>
                <a:spcPts val="420"/>
              </a:spcAft>
              <a:buClr>
                <a:srgbClr val="F0554E"/>
              </a:buClr>
              <a:buFont typeface="Arial"/>
              <a:buChar char="•"/>
            </a:pPr>
            <a:r>
              <a:rPr sz="1400" b="0" i="0">
                <a:solidFill>
                  <a:srgbClr val="18232F"/>
                </a:solidFill>
                <a:latin typeface="Segoe UI"/>
              </a:rPr>
              <a:t>Sikka bhi pattern bana deta hai</a:t>
            </a:r>
          </a:p>
          <a:p>
            <a:pPr algn="l" marL="182880" indent="-182880">
              <a:lnSpc>
                <a:spcPct val="100000"/>
              </a:lnSpc>
              <a:spcAft>
                <a:spcPts val="420"/>
              </a:spcAft>
              <a:buClr>
                <a:srgbClr val="F0554E"/>
              </a:buClr>
              <a:buFont typeface="Arial"/>
              <a:buChar char="•"/>
            </a:pPr>
            <a:r>
              <a:rPr sz="1400" b="0" i="0">
                <a:solidFill>
                  <a:srgbClr val="18232F"/>
                </a:solidFill>
                <a:latin typeface="Segoe UI"/>
              </a:rPr>
              <a:t>Ungli nahi rakh sakte? Toh Guess</a:t>
            </a:r>
          </a:p>
          <a:p>
            <a:pPr algn="l" marL="182880" indent="-182880">
              <a:lnSpc>
                <a:spcPct val="100000"/>
              </a:lnSpc>
              <a:buClr>
                <a:srgbClr val="F0554E"/>
              </a:buClr>
              <a:buFont typeface="Arial"/>
              <a:buChar char="•"/>
            </a:pPr>
            <a:r>
              <a:rPr sz="1400" b="0" i="0">
                <a:solidFill>
                  <a:srgbClr val="18232F"/>
                </a:solidFill>
                <a:latin typeface="Segoe UI"/>
              </a:rPr>
              <a:t>AI se pehle personal details crop karein</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Ek free chart set up kijiye aur use order mein padhiye: chart type, ek candle (Candle reading card bhariye), teen timeframes, volume aur corporate actions, phir AI ki reading ko apni reading se milaiye.</a:t>
            </a:r>
          </a:p>
        </p:txBody>
      </p:sp>
      <p:sp>
        <p:nvSpPr>
          <p:cNvPr id="6" name="Rounded Rectangle 5"/>
          <p:cNvSpPr/>
          <p:nvPr/>
        </p:nvSpPr>
        <p:spPr>
          <a:xfrm>
            <a:off x="457200" y="203606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tradingview.com ya uske free app par 'NIFTY' search kijiye, NSE ka NIFTY 50 index kholiye, chart type ko line, bars aur candles mein badal kar dekhiye ki wahi din teen tarah kaise dikhte hain, aur candles par chhod dijiye.</a:t>
            </a:r>
          </a:p>
        </p:txBody>
      </p:sp>
      <p:sp>
        <p:nvSpPr>
          <p:cNvPr id="10" name="Rounded Rectangle 9"/>
          <p:cNvSpPr/>
          <p:nvPr/>
        </p:nvSpPr>
        <p:spPr>
          <a:xfrm>
            <a:off x="457200" y="306019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6992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1882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6077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Daily (1D) chart par aakhri candle ka open, high, low aur close padhiye (TradingView inhe upar left mein O, H, L, C ki tarah dikhata hai; kisi aur candle ke liye us par tap karke hold kijiye), aur neeche diye Candle reading card ka 'Aapki candle' column notebook ya Google Sheets mein bhariye. Market khula ho toh yeh candle abhi ban rahi hai, isliye time bhi note kar lijiye.</a:t>
            </a:r>
          </a:p>
        </p:txBody>
      </p:sp>
      <p:sp>
        <p:nvSpPr>
          <p:cNvPr id="14" name="Rounded Rectangle 13"/>
          <p:cNvSpPr/>
          <p:nvPr/>
        </p:nvSpPr>
        <p:spPr>
          <a:xfrm>
            <a:off x="457200" y="432816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43788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4561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42874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Pehle 1W aur phir 15m par switch kijiye, aur dono ke liye ek-ek line likhiye: yeh zoom level aapko kya dikha raha hai?</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40 min</a:t>
            </a:r>
          </a:p>
        </p:txBody>
      </p:sp>
      <p:sp>
        <p:nvSpPr>
          <p:cNvPr id="5" name="Rounded Rectangle 4"/>
          <p:cNvSpPr/>
          <p:nvPr/>
        </p:nvSpPr>
        <p:spPr>
          <a:xfrm>
            <a:off x="457200" y="13350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NIFTY 50 list ki kisi bhi ek company ka daily chart kholiye (nseindia.com ya niftyindices.com par NIFTY 50 constituents search kijiye). Yeh sirf practice ke liye hai, koi pick nahi; index ka apna volume nahi hota. Volume bars na dikhein toh 'Volume' indicator add kar lijiye, phir note kijiye ki aakhri bar pichhle 20 mein se zyadatar se ooncha hai ya neecha.</a:t>
            </a:r>
          </a:p>
        </p:txBody>
      </p:sp>
      <p:sp>
        <p:nvSpPr>
          <p:cNvPr id="9" name="Rounded Rectangle 8"/>
          <p:cNvSpPr/>
          <p:nvPr/>
        </p:nvSpPr>
        <p:spPr>
          <a:xfrm>
            <a:off x="457200" y="26029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71272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7310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7035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nseindia.com par usi company ko search kijiye, uska 'Corporate Actions' section kholiye, aur sabse haal ka split, bonus ya dividend, agar koi ho, note kar lijiye. Date range ka option ho toh ek saal ya zyada chuniye; NSE na khule toh bseindia.com try kijiye.</a:t>
            </a:r>
          </a:p>
        </p:txBody>
      </p:sp>
      <p:sp>
        <p:nvSpPr>
          <p:cNvPr id="13" name="Rounded Rectangle 12"/>
          <p:cNvSpPr/>
          <p:nvPr/>
        </p:nvSpPr>
        <p:spPr>
          <a:xfrm>
            <a:off x="457200" y="362712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73684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2770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Us daily chart ka screenshot lijiye, kuch bhi personal ho toh crop kar dijiye, AI Lab ka 'Chart screenshot cross-check' prompt chalaiye, aur AI ke har claim ke aage tick, cross ya 'verify nahi ho saka' likhiye.</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free chart set up kar payenge, line, bar aur candle chart ka farq bata payenge, kisi bhi candle ka open, high, low aur close padh payenge, chahe woh hari ho ya laal, soch-samajh kar timeframe chun payenge, kisi din ke volume ko uske average se mila payenge, crash jaisa dikhne wala split pehchaan payenge, aur AI ki chart reading par aankh band karke bharosa karne ki jagah use check kar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Candle reading card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NIFTY 50 ki ek daily candle padhiye aur aakhri column bhariye; index mein numbers points hote hain, rupaye nahi. Body aur wicks hamesha plus mein: bada minus chhota.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2"/>
        </p:xfrm>
        <a:graphic>
          <a:graphicData uri="http://schemas.openxmlformats.org/drawingml/2006/table">
            <a:tbl>
              <a:tblPr firstRow="1">
                <a:tableStyleId>{5C22544A-7EE6-4342-B048-85BDC9FD1C3A}</a:tableStyleId>
              </a:tblPr>
              <a:tblGrid>
                <a:gridCol w="5145526"/>
                <a:gridCol w="2056047"/>
                <a:gridCol w="2058365"/>
                <a:gridCol w="1651598"/>
              </a:tblGrid>
              <a:tr h="317930">
                <a:tc>
                  <a:txBody>
                    <a:bodyPr wrap="square"/>
                    <a:lstStyle/>
                    <a:p>
                      <a:pPr algn="l"/>
                      <a:r>
                        <a:rPr sz="1300" b="1" i="0">
                          <a:solidFill>
                            <a:srgbClr val="FFFFFF"/>
                          </a:solidFill>
                          <a:latin typeface="Segoe UI"/>
                        </a:rPr>
                        <a:t>Kya padhein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Hara model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Laal model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Aapki candle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08786">
                <a:tc>
                  <a:txBody>
                    <a:bodyPr wrap="square"/>
                    <a:lstStyle/>
                    <a:p>
                      <a:pPr algn="l"/>
                      <a:r>
                        <a:rPr sz="1300" b="0" i="0">
                          <a:solidFill>
                            <a:srgbClr val="18232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Bharat Pumps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Anand Snacks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NIFTY 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Kal ka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212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494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216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474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202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205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Rang: close vs apna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Hari (490 &gt; 480)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Laal (205 &lt; 212)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Body ka upar wala sira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Close, Rs 490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Open, Rs 212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Body: open se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Upper wick: high minus body ka upar wala sira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Lower wick: body ka neeche wala sira minus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Kal ke close se badlav</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Model: laal candle, label ke saath</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Upar ke card wala Anand Snacks Ltd. Laal candle mein open (Rs 212) body ka upar wala sira hai aur close (Rs 205) neeche wala; phir bhi share us din Rs 5 badha.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ounded Rectangle 5"/>
          <p:cNvSpPr/>
          <p:nvPr/>
        </p:nvSpPr>
        <p:spPr>
          <a:xfrm>
            <a:off x="10172014" y="213055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7" name="Rectangle 6"/>
          <p:cNvSpPr/>
          <p:nvPr/>
        </p:nvSpPr>
        <p:spPr>
          <a:xfrm>
            <a:off x="6068416" y="2787396"/>
            <a:ext cx="54864" cy="263652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Rounded Rectangle 7"/>
          <p:cNvSpPr/>
          <p:nvPr/>
        </p:nvSpPr>
        <p:spPr>
          <a:xfrm>
            <a:off x="5844388" y="3540687"/>
            <a:ext cx="502920" cy="1318260"/>
          </a:xfrm>
          <a:prstGeom prst="roundRect">
            <a:avLst>
              <a:gd name="adj" fmla="val 7272"/>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9" name="Connector 8"/>
          <p:cNvCxnSpPr/>
          <p:nvPr/>
        </p:nvCxnSpPr>
        <p:spPr>
          <a:xfrm>
            <a:off x="6402172" y="2787396"/>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71436" y="2677668"/>
            <a:ext cx="720070"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High 216</a:t>
            </a:r>
          </a:p>
        </p:txBody>
      </p:sp>
      <p:cxnSp>
        <p:nvCxnSpPr>
          <p:cNvPr id="11" name="Connector 10"/>
          <p:cNvCxnSpPr/>
          <p:nvPr/>
        </p:nvCxnSpPr>
        <p:spPr>
          <a:xfrm>
            <a:off x="6402172" y="3540687"/>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71436" y="3430959"/>
            <a:ext cx="760342"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Open 212</a:t>
            </a:r>
          </a:p>
        </p:txBody>
      </p:sp>
      <p:cxnSp>
        <p:nvCxnSpPr>
          <p:cNvPr id="13" name="Connector 12"/>
          <p:cNvCxnSpPr/>
          <p:nvPr/>
        </p:nvCxnSpPr>
        <p:spPr>
          <a:xfrm>
            <a:off x="6402172" y="4858947"/>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71436" y="4749219"/>
            <a:ext cx="756394"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Close 205</a:t>
            </a:r>
          </a:p>
        </p:txBody>
      </p:sp>
      <p:cxnSp>
        <p:nvCxnSpPr>
          <p:cNvPr id="15" name="Connector 14"/>
          <p:cNvCxnSpPr/>
          <p:nvPr/>
        </p:nvCxnSpPr>
        <p:spPr>
          <a:xfrm>
            <a:off x="6402172" y="5423916"/>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71436" y="5314188"/>
            <a:ext cx="664006"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Low 202</a:t>
            </a:r>
          </a:p>
        </p:txBody>
      </p:sp>
      <p:cxnSp>
        <p:nvCxnSpPr>
          <p:cNvPr id="17" name="Connector 16"/>
          <p:cNvCxnSpPr/>
          <p:nvPr/>
        </p:nvCxnSpPr>
        <p:spPr>
          <a:xfrm flipH="1">
            <a:off x="4875124" y="3164042"/>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937524" y="3054314"/>
            <a:ext cx="882736"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Upper wick</a:t>
            </a:r>
          </a:p>
        </p:txBody>
      </p:sp>
      <p:cxnSp>
        <p:nvCxnSpPr>
          <p:cNvPr id="19" name="Connector 18"/>
          <p:cNvCxnSpPr/>
          <p:nvPr/>
        </p:nvCxnSpPr>
        <p:spPr>
          <a:xfrm flipH="1">
            <a:off x="4875124" y="4199817"/>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393934" y="4090089"/>
            <a:ext cx="426325"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Body</a:t>
            </a:r>
          </a:p>
        </p:txBody>
      </p:sp>
      <p:cxnSp>
        <p:nvCxnSpPr>
          <p:cNvPr id="21" name="Connector 20"/>
          <p:cNvCxnSpPr/>
          <p:nvPr/>
        </p:nvCxnSpPr>
        <p:spPr>
          <a:xfrm flipH="1">
            <a:off x="4875124" y="5141432"/>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945433" y="5031704"/>
            <a:ext cx="874827"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Lower wick</a:t>
            </a:r>
          </a:p>
        </p:txBody>
      </p:sp>
      <p:sp>
        <p:nvSpPr>
          <p:cNvPr id="23" name="TextBox 22"/>
          <p:cNvSpPr txBox="1"/>
          <p:nvPr/>
        </p:nvSpPr>
        <p:spPr>
          <a:xfrm>
            <a:off x="640080" y="5870448"/>
            <a:ext cx="10911535" cy="274320"/>
          </a:xfrm>
          <a:prstGeom prst="rect">
            <a:avLst/>
          </a:prstGeom>
          <a:noFill/>
        </p:spPr>
        <p:txBody>
          <a:bodyPr wrap="square" lIns="0" rIns="0" tIns="0" bIns="0" anchor="ctr">
            <a:noAutofit/>
          </a:bodyPr>
          <a:lstStyle/>
          <a:p>
            <a:pPr algn="ctr">
              <a:lnSpc>
                <a:spcPct val="100000"/>
              </a:lnSpc>
            </a:pPr>
            <a:r>
              <a:rPr sz="1100" b="0" i="1">
                <a:solidFill>
                  <a:srgbClr val="47596B"/>
                </a:solidFill>
                <a:latin typeface="Segoe UI"/>
              </a:rPr>
              <a:t>Red candle: close, open se neeche</a:t>
            </a:r>
          </a:p>
        </p:txBody>
      </p:sp>
      <p:pic>
        <p:nvPicPr>
          <p:cNvPr id="24" name="Picture 23" descr="logo.png"/>
          <p:cNvPicPr>
            <a:picLocks noChangeAspect="1"/>
          </p:cNvPicPr>
          <p:nvPr/>
        </p:nvPicPr>
        <p:blipFill>
          <a:blip r:embed="rId2"/>
          <a:stretch>
            <a:fillRect/>
          </a:stretch>
        </p:blipFill>
        <p:spPr>
          <a:xfrm>
            <a:off x="457200" y="6437376"/>
            <a:ext cx="237744" cy="237744"/>
          </a:xfrm>
          <a:prstGeom prst="rect">
            <a:avLst/>
          </a:prstGeom>
        </p:spPr>
      </p:pic>
      <p:sp>
        <p:nvSpPr>
          <p:cNvPr id="25"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6" name="TextBox 25"/>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'Asli ya sikka?'</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30 baar sikka uchhaaliye aur paper par uska chart banaiye (100 se shuru, heads +5, tails -5).</a:t>
            </a:r>
          </a:p>
          <a:p>
            <a:pPr algn="l">
              <a:lnSpc>
                <a:spcPct val="100000"/>
              </a:lnSpc>
              <a:spcAft>
                <a:spcPts val="700"/>
              </a:spcAft>
            </a:pPr>
            <a:r>
              <a:rPr sz="2000" b="0" i="0">
                <a:solidFill>
                  <a:srgbClr val="18232F"/>
                </a:solidFill>
                <a:latin typeface="Segoe UI"/>
              </a:rPr>
              <a:t>Doosre kaagaz par NIFTY 50 ka lagbhag 30 din ka daily line chart kholiye aur uski shakal utaar lijiye, bina numbers ke, utni hi oonchai mein jitna sikke wala chart hai.</a:t>
            </a:r>
          </a:p>
          <a:p>
            <a:pPr algn="l">
              <a:lnSpc>
                <a:spcPct val="100000"/>
              </a:lnSpc>
              <a:spcAft>
                <a:spcPts val="700"/>
              </a:spcAft>
            </a:pPr>
            <a:r>
              <a:rPr sz="2000" b="0" i="0">
                <a:solidFill>
                  <a:srgbClr val="18232F"/>
                </a:solidFill>
                <a:latin typeface="Segoe UI"/>
              </a:rPr>
              <a:t>Classmates ya family se poochhiye ki asli kaunsa hai.</a:t>
            </a:r>
          </a:p>
          <a:p>
            <a:pPr algn="l">
              <a:lnSpc>
                <a:spcPct val="100000"/>
              </a:lnSpc>
            </a:pPr>
            <a:r>
              <a:rPr sz="2000" b="0" i="0">
                <a:solidFill>
                  <a:srgbClr val="18232F"/>
                </a:solidFill>
                <a:latin typeface="Segoe UI"/>
              </a:rPr>
              <a:t>Aksar batana mushkil hota hai, aur yahi aaj ka sabak hai.</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Chart screenshot cross-check: AI describe kare, aap verify karein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Chart screenshot cross-check</a:t>
            </a:r>
          </a:p>
        </p:txBody>
      </p:sp>
      <p:sp>
        <p:nvSpPr>
          <p:cNvPr id="7" name="TextBox 6"/>
          <p:cNvSpPr txBox="1"/>
          <p:nvPr/>
        </p:nvSpPr>
        <p:spPr>
          <a:xfrm>
            <a:off x="658368"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am attaching a screenshot of a daily candlestick chart with volume bars. I have cropped out my name, client ID, balances and holdings.”</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Candle drill</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patient chart-reading tutor for an Indian beginner. Make up 5 daily candles for a fictional company, 'Bharat Pumps Ltd', each with open, high, low and close in rupees, plus the previous day's close.”</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Crash ya corporate action?</a:t>
            </a:r>
          </a:p>
        </p:txBody>
      </p:sp>
      <p:sp>
        <p:nvSpPr>
          <p:cNvPr id="17" name="TextBox 16"/>
          <p:cNvSpPr txBox="1"/>
          <p:nvPr/>
        </p:nvSpPr>
        <p:spPr>
          <a:xfrm>
            <a:off x="8298485"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“Here are 10 made-up daily closing prices, in rupees, for a fictional company, 'Gupta Cement Ltd': 1180, 1195, 1210, 1190, 1200, 601, 598, 610, 605, 612.”</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QUICK QUIZ · SAWAAL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Ltd kal Rs 250 par band hua. Aaj woh Rs 240 par khulta hai, Rs 236 aur Rs 247 ke beech trade karta hai, aur Rs 245 par band hota hai. Aaj ke baare mein kaunsi baat sahi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Laal candle, kyunki close kal ke Rs 250 se neeche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Laal candle, kyunki Rs 236 ka low open se neeche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Hari candle, bhale hi share aaj Rs 5 neeche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Hari candle, aur share aaj Rs 5 upar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9:15 se 10:15 tak ki chaar 15-minute candles (open, high, low, close) yeh hain: 200, 204, 199, 203 / 203, 206, 202, 205 / 205, 205, 198, 199 / 199, 202, 197, 201. 9:15 se 10:15 ki ek ghante wali candle kya hogi?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 200, high 204, low 199, close 203</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 200, high 206, low 197, close 201</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 201, high 206, low 197, close 200</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 201.75, high 206, low 197, close 201</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Ltd ka 20-day average volume 4,00,000 shares hai. Aaj price 5% chadhta hai aur 3,00,000 shares trade hote hain, jo hare volume bar mein dikhte hain. Kaunsi baat sahi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Buyers sellers se zyada the, kyunki bar hara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Volume zyada tha, kyunki 3,00,000 shares bada number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Volume confirm karta hai ki rise kal bhi jaari rahega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Yeh rise average se kam volume par hua: sirf 0.75 guna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QUICK QUIZ · SAWAAL 4/5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Aapke paas Bharat Pumps Ltd ke 30 shares hain, jinka price abhi Rs 800 hai. Company har share par ek free bonus share deti hai, aur agle din raw chart price ko lagbhag Rs 400 par, yaani 50% ke 'crash' ke saath dikhata hai. Aapki holding ka kya hua?</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30 shares aur lagbhag Rs 12,000 cash</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30 shares, ab value lagbhag Rs 12,000: 50% ka loss</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60 shares, ab value lagbhag Rs 48,000: 100% ka faayda</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60 shares, lagbhag Rs 24,000: koi asli loss nahi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Dopahar 2:40 par Aman ko 5-minute chart par lagataar paanch hari candles dikhti hain, aur unke volume bars aam se chhote hain. Use poora yakeen ho jaata hai ki kuch bada shuru ho raha hai. Sabse samajhdaar reading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Swing ka faisla lene ke liye 5-minute chart hi sahi view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Kam volume par 25 minute ki streak aasani se ittefaq ho sakti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Lagataar paanch hari candles ka matlab buyers ne control le liya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Chhote volume bars ka matlab bade buyers chupchaap khareed rahe hain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Chart padhna: candles, timeframes aur volume</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AI output is analysis for learning, never a buy or sell call. No affiliation with any charting site named.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Aaj aapki aankhon ne kis timeframe par sabse zyada bharosa kiya, aur kyun? Ek aisi cheez likhiye jo aapne, ya AI ne, chart par 'dekhi', lekin asal mein us par ungli nahi rakh paaye.</a:t>
            </a:r>
          </a:p>
        </p:txBody>
      </p:sp>
      <p:sp>
        <p:nvSpPr>
          <p:cNvPr id="8" name="Rounded Rectangle 7"/>
          <p:cNvSpPr/>
          <p:nvPr/>
        </p:nvSpPr>
        <p:spPr>
          <a:xfrm>
            <a:off x="6233008" y="1335024"/>
            <a:ext cx="5501488" cy="4008120"/>
          </a:xfrm>
          <a:prstGeom prst="roundRect">
            <a:avLst>
              <a:gd name="adj" fmla="val 3193"/>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683764"/>
            <a:ext cx="4952848" cy="172212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Chart us cheez ka record hai jo log pehle hi kar chuke hain, koi forecast nahi. Aaj aapne yeh record saaf-saaf padhna seekha, aur har samajhdaar trader yahin se shuru karta hai.</a:t>
            </a:r>
          </a:p>
        </p:txBody>
      </p:sp>
      <p:sp>
        <p:nvSpPr>
          <p:cNvPr id="11" name="Rounded Rectangle 10"/>
          <p:cNvSpPr/>
          <p:nvPr/>
        </p:nvSpPr>
        <p:spPr>
          <a:xfrm>
            <a:off x="457200" y="5489448"/>
            <a:ext cx="5333075"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6 · Trend, zones aur gaps: price ka structure padhna</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06</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Market kaise chalta hai, aur price ki bhasha</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Trend, zones aur gaps: price ka structure padhna</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Price structure: trend, support aur resistance zones, breakouts aur gaps</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Grade my chart marking: AI check kare, faisla aapka</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Level ka moh: toote hue level se chipke rehna</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swing points mark karke trend ka naam bata payenge, support aur resistance ko zone ki tarah bana payenge, close aur volume se breakout ko parakh payenge, context mein paanch candle patterns pehchaan payenge, chaar tarah ke gaps ka naam le payenge, aur toote hue level ko chhodna seekh jayenge.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Woh line jis par Aman ko bharosa tha</a:t>
            </a:r>
          </a:p>
        </p:txBody>
      </p:sp>
      <p:sp>
        <p:nvSpPr>
          <p:cNvPr id="4" name="Rounded Rectangle 3"/>
          <p:cNvSpPr/>
          <p:nvPr/>
        </p:nvSpPr>
        <p:spPr>
          <a:xfrm>
            <a:off x="457200" y="1426464"/>
            <a:ext cx="3649370" cy="389534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43814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Saturday shaam. Aman mentor aur Priya ke saath video call par apni phone screen share karta hai.</a:t>
            </a:r>
          </a:p>
        </p:txBody>
      </p:sp>
      <p:sp>
        <p:nvSpPr>
          <p:cNvPr id="7" name="Rounded Rectangle 6"/>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yeh dekhiye. Bharat Pumps Rs 500 se teen baar uchhla, toh pichhle mahine, course se pehle, maine wahan ek moti line kheench di aur Rs 515 par 100 shares le liye. Friday ko yeh Rs 488 par close hua. Par 500 toh strong support hai. Wapas aa jayega na?</a:t>
            </a:r>
          </a:p>
        </p:txBody>
      </p:sp>
      <p:sp>
        <p:nvSpPr>
          <p:cNvPr id="13" name="Rounded Rectangle 12"/>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maine chart dekha. Teeno bounce Rs 503, 498 aur 506 par aaye the, exactly 500 par ek bhi nahi. Aur Friday ka volume normal se lagbhag double tha. Kya yeh ab bhi support hai?</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Woh line jis par Aman ko bharosa tha</a:t>
            </a:r>
          </a:p>
        </p:txBody>
      </p:sp>
      <p:sp>
        <p:nvSpPr>
          <p:cNvPr id="4" name="Rounded Rectangle 3"/>
          <p:cNvSpPr/>
          <p:nvPr/>
        </p:nvSpPr>
        <p:spPr>
          <a:xfrm>
            <a:off x="457200"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do sawaal. Yeh level kisne banaya: aapki line ne, ya un logon ne jinhone wahan khareeda tha? Aur agar unhone khareedna band kar diya hai, toh aapki line ab kya sambhaal rahi hai?</a:t>
            </a:r>
          </a:p>
        </p:txBody>
      </p:sp>
      <p:sp>
        <p:nvSpPr>
          <p:cNvPr id="10" name="Rounded Rectangle 9"/>
          <p:cNvSpPr/>
          <p:nvPr/>
        </p:nvSpPr>
        <p:spPr>
          <a:xfrm>
            <a:off x="4271162"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Aisa toh maine kabhi socha hi nahi. Bas line par bharosa kar liya.</a:t>
            </a:r>
          </a:p>
        </p:txBody>
      </p:sp>
      <p:sp>
        <p:nvSpPr>
          <p:cNvPr id="16" name="Rounded Rectangle 15"/>
          <p:cNvSpPr/>
          <p:nvPr/>
        </p:nvSpPr>
        <p:spPr>
          <a:xfrm>
            <a:off x="8085125"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Aaj hum padhna seekhenge ki price asal mein kya kar raha hai: trend, zones, breakouts aur gaps. Level ek kaam ka naksha hai, vaada nahi. Jab woh toot jaaye, toh faisla aapka likha hua plan karega, aapki umeed nahi.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Support level bas ek yaad hai ki log kahan khareed rahe the. Yeh vaada nahi ki woh wahan dobara khareedenge.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Swing points: trend ki seedhi</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Price seedhi line mein kam hi chalta hai; woh lehron mein chalta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Lehar ki choti ko swing high kehte hain: ek aam rule ke hisaab se, woh candle jiska high dono taraf ki do-do candles ke high se upar ho.</a:t>
            </a:r>
          </a:p>
          <a:p>
            <a:pPr algn="l" marL="274320" indent="-274320">
              <a:lnSpc>
                <a:spcPct val="100000"/>
              </a:lnSpc>
              <a:buClr>
                <a:srgbClr val="00AEEF"/>
              </a:buClr>
              <a:buFont typeface="Arial"/>
              <a:buChar char="•"/>
            </a:pPr>
            <a:r>
              <a:rPr sz="1600" b="0" i="0">
                <a:solidFill>
                  <a:srgbClr val="18232F"/>
                </a:solidFill>
                <a:latin typeface="Segoe UI"/>
              </a:rPr>
              <a:t>Swing low iska ulta hai, yaani lehar ka sabse neeche wala point.</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Gupta Cement Ltd ke daily chart par swing lows Rs 398, 412 aur 428 par bane, aur swing highs Rs 430, 448 aur 466 par. Har low pichhle se upar tha, aur har high bhi: yeh uptrend hai. Phir ek din yeh Rs 423 par close hua, jo aakhri higher low, Rs 428, se neeche hai. Isse abhi downtrend nahi ban gaya. Bas seedhi toot gayi hai, aur uptrend par ab sawaal khada ho gaya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Seedhi ko padhna</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Gupta Cement, daily. Har swing low pichhle se upar hai, jab tak Rs 428 ke neeche ka close pattern tod nahi deta.</a:t>
            </a:r>
          </a:p>
        </p:txBody>
      </p:sp>
      <p:cxnSp>
        <p:nvCxnSpPr>
          <p:cNvPr id="12" name="Connector 11"/>
          <p:cNvCxnSpPr/>
          <p:nvPr/>
        </p:nvCxnSpPr>
        <p:spPr>
          <a:xfrm>
            <a:off x="6812159" y="4681728"/>
            <a:ext cx="398248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392.6</a:t>
            </a:r>
          </a:p>
        </p:txBody>
      </p:sp>
      <p:cxnSp>
        <p:nvCxnSpPr>
          <p:cNvPr id="14" name="Connector 13"/>
          <p:cNvCxnSpPr/>
          <p:nvPr/>
        </p:nvCxnSpPr>
        <p:spPr>
          <a:xfrm>
            <a:off x="6812159" y="3851148"/>
            <a:ext cx="398248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7688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418.9</a:t>
            </a:r>
          </a:p>
        </p:txBody>
      </p:sp>
      <p:cxnSp>
        <p:nvCxnSpPr>
          <p:cNvPr id="16" name="Connector 15"/>
          <p:cNvCxnSpPr/>
          <p:nvPr/>
        </p:nvCxnSpPr>
        <p:spPr>
          <a:xfrm>
            <a:off x="6812159" y="3020568"/>
            <a:ext cx="398248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3827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445.1</a:t>
            </a:r>
          </a:p>
        </p:txBody>
      </p:sp>
      <p:cxnSp>
        <p:nvCxnSpPr>
          <p:cNvPr id="18" name="Connector 17"/>
          <p:cNvCxnSpPr/>
          <p:nvPr/>
        </p:nvCxnSpPr>
        <p:spPr>
          <a:xfrm>
            <a:off x="6812159" y="2189988"/>
            <a:ext cx="398248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471.4</a:t>
            </a:r>
          </a:p>
        </p:txBody>
      </p:sp>
      <p:cxnSp>
        <p:nvCxnSpPr>
          <p:cNvPr id="20" name="Connector 19"/>
          <p:cNvCxnSpPr/>
          <p:nvPr/>
        </p:nvCxnSpPr>
        <p:spPr>
          <a:xfrm>
            <a:off x="6812159" y="3562214"/>
            <a:ext cx="4019065"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67800" y="3470774"/>
            <a:ext cx="683815"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Aakhri HL</a:t>
            </a:r>
          </a:p>
        </p:txBody>
      </p:sp>
      <p:cxnSp>
        <p:nvCxnSpPr>
          <p:cNvPr id="22" name="Connector 21"/>
          <p:cNvCxnSpPr/>
          <p:nvPr/>
        </p:nvCxnSpPr>
        <p:spPr>
          <a:xfrm>
            <a:off x="6906981" y="3909693"/>
            <a:ext cx="0" cy="28430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850088" y="3972871"/>
            <a:ext cx="113785" cy="15794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4" name="Connector 23"/>
          <p:cNvCxnSpPr/>
          <p:nvPr/>
        </p:nvCxnSpPr>
        <p:spPr>
          <a:xfrm>
            <a:off x="7096623" y="4067638"/>
            <a:ext cx="0" cy="28430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039730" y="4130816"/>
            <a:ext cx="113785" cy="15794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286265" y="4225583"/>
            <a:ext cx="0" cy="28430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229372" y="4288761"/>
            <a:ext cx="113785" cy="9476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475907" y="4099227"/>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419015" y="4162405"/>
            <a:ext cx="113785" cy="2211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665550" y="3878104"/>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608657" y="3941282"/>
            <a:ext cx="113785" cy="2211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855192" y="3656981"/>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798299" y="3720159"/>
            <a:ext cx="113785" cy="2211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044834" y="3499036"/>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987942" y="3625392"/>
            <a:ext cx="113785" cy="9476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234477" y="3562214"/>
            <a:ext cx="0" cy="3158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177584" y="3625392"/>
            <a:ext cx="113785" cy="18953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8424119" y="3751748"/>
            <a:ext cx="0" cy="3158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367226" y="3814926"/>
            <a:ext cx="113785" cy="18953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8613761" y="3688570"/>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556869" y="3751748"/>
            <a:ext cx="113785" cy="25271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8803404" y="3372680"/>
            <a:ext cx="0" cy="44224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746511" y="3435858"/>
            <a:ext cx="113785" cy="3158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8993046" y="3088379"/>
            <a:ext cx="0" cy="41065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8936153" y="3151557"/>
            <a:ext cx="113785" cy="28430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9182688" y="2930434"/>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9125796" y="3056790"/>
            <a:ext cx="113785" cy="9476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9372331" y="2993612"/>
            <a:ext cx="0" cy="37906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9315438" y="3056790"/>
            <a:ext cx="113785" cy="25271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0" name="Connector 49"/>
          <p:cNvCxnSpPr/>
          <p:nvPr/>
        </p:nvCxnSpPr>
        <p:spPr>
          <a:xfrm>
            <a:off x="9561973" y="3246324"/>
            <a:ext cx="0" cy="3158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9505080" y="3309502"/>
            <a:ext cx="113785" cy="15794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2" name="Connector 51"/>
          <p:cNvCxnSpPr/>
          <p:nvPr/>
        </p:nvCxnSpPr>
        <p:spPr>
          <a:xfrm>
            <a:off x="9751615" y="2993612"/>
            <a:ext cx="0" cy="50542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9694723" y="3056790"/>
            <a:ext cx="113785" cy="41065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9941258" y="2614544"/>
            <a:ext cx="0" cy="50542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9884365" y="2677722"/>
            <a:ext cx="113785" cy="37906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6" name="Connector 55"/>
          <p:cNvCxnSpPr/>
          <p:nvPr/>
        </p:nvCxnSpPr>
        <p:spPr>
          <a:xfrm>
            <a:off x="10130900" y="2361832"/>
            <a:ext cx="0" cy="44224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0074007" y="2551366"/>
            <a:ext cx="113785" cy="12635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8" name="Connector 57"/>
          <p:cNvCxnSpPr/>
          <p:nvPr/>
        </p:nvCxnSpPr>
        <p:spPr>
          <a:xfrm>
            <a:off x="10320542" y="2488188"/>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0263650" y="2551366"/>
            <a:ext cx="113785" cy="41065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0" name="Connector 59"/>
          <p:cNvCxnSpPr/>
          <p:nvPr/>
        </p:nvCxnSpPr>
        <p:spPr>
          <a:xfrm>
            <a:off x="10510185" y="2898845"/>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0453292" y="2962023"/>
            <a:ext cx="113785" cy="41065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2" name="Connector 61"/>
          <p:cNvCxnSpPr/>
          <p:nvPr/>
        </p:nvCxnSpPr>
        <p:spPr>
          <a:xfrm>
            <a:off x="10699827" y="3309502"/>
            <a:ext cx="0" cy="50542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0642934" y="3372680"/>
            <a:ext cx="113785" cy="3474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4" name="Isosceles Triangle 63"/>
          <p:cNvSpPr/>
          <p:nvPr/>
        </p:nvSpPr>
        <p:spPr>
          <a:xfrm>
            <a:off x="7231401" y="4555604"/>
            <a:ext cx="109728" cy="91440"/>
          </a:xfrm>
          <a:prstGeom prst="triangle">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5" name="TextBox 64"/>
          <p:cNvSpPr txBox="1"/>
          <p:nvPr/>
        </p:nvSpPr>
        <p:spPr>
          <a:xfrm>
            <a:off x="6950158" y="4665332"/>
            <a:ext cx="672213" cy="192024"/>
          </a:xfrm>
          <a:prstGeom prst="rect">
            <a:avLst/>
          </a:prstGeom>
          <a:noFill/>
        </p:spPr>
        <p:txBody>
          <a:bodyPr wrap="square" lIns="0" rIns="0" tIns="0" bIns="0" anchor="ctr">
            <a:noAutofit/>
          </a:bodyPr>
          <a:lstStyle/>
          <a:p>
            <a:pPr algn="ctr">
              <a:lnSpc>
                <a:spcPct val="100000"/>
              </a:lnSpc>
            </a:pPr>
            <a:r>
              <a:rPr sz="1000" b="1" i="0">
                <a:solidFill>
                  <a:srgbClr val="47596B"/>
                </a:solidFill>
                <a:latin typeface="Segoe UI"/>
              </a:rPr>
              <a:t>Swing low</a:t>
            </a:r>
          </a:p>
        </p:txBody>
      </p:sp>
      <p:sp>
        <p:nvSpPr>
          <p:cNvPr id="66" name="Isosceles Triangle 65"/>
          <p:cNvSpPr/>
          <p:nvPr/>
        </p:nvSpPr>
        <p:spPr>
          <a:xfrm rot="10800000">
            <a:off x="7989970" y="3361876"/>
            <a:ext cx="109728" cy="91440"/>
          </a:xfrm>
          <a:prstGeom prst="triangle">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7" name="TextBox 66"/>
          <p:cNvSpPr txBox="1"/>
          <p:nvPr/>
        </p:nvSpPr>
        <p:spPr>
          <a:xfrm>
            <a:off x="7681419" y="3151564"/>
            <a:ext cx="726830" cy="192024"/>
          </a:xfrm>
          <a:prstGeom prst="rect">
            <a:avLst/>
          </a:prstGeom>
          <a:noFill/>
        </p:spPr>
        <p:txBody>
          <a:bodyPr wrap="square" lIns="0" rIns="0" tIns="0" bIns="0" anchor="ctr">
            <a:noAutofit/>
          </a:bodyPr>
          <a:lstStyle/>
          <a:p>
            <a:pPr algn="ctr">
              <a:lnSpc>
                <a:spcPct val="100000"/>
              </a:lnSpc>
            </a:pPr>
            <a:r>
              <a:rPr sz="1000" b="1" i="0">
                <a:solidFill>
                  <a:srgbClr val="47596B"/>
                </a:solidFill>
                <a:latin typeface="Segoe UI"/>
              </a:rPr>
              <a:t>Swing high</a:t>
            </a:r>
          </a:p>
        </p:txBody>
      </p:sp>
      <p:sp>
        <p:nvSpPr>
          <p:cNvPr id="68" name="Isosceles Triangle 67"/>
          <p:cNvSpPr/>
          <p:nvPr/>
        </p:nvSpPr>
        <p:spPr>
          <a:xfrm>
            <a:off x="8369255" y="4113358"/>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9" name="TextBox 68"/>
          <p:cNvSpPr txBox="1"/>
          <p:nvPr/>
        </p:nvSpPr>
        <p:spPr>
          <a:xfrm>
            <a:off x="8321932" y="4223086"/>
            <a:ext cx="204374"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HL</a:t>
            </a:r>
          </a:p>
        </p:txBody>
      </p:sp>
      <p:sp>
        <p:nvSpPr>
          <p:cNvPr id="70" name="Isosceles Triangle 69"/>
          <p:cNvSpPr/>
          <p:nvPr/>
        </p:nvSpPr>
        <p:spPr>
          <a:xfrm rot="10800000">
            <a:off x="9127824" y="2793274"/>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1" name="TextBox 70"/>
          <p:cNvSpPr txBox="1"/>
          <p:nvPr/>
        </p:nvSpPr>
        <p:spPr>
          <a:xfrm>
            <a:off x="9063722" y="2582962"/>
            <a:ext cx="237934"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HH</a:t>
            </a:r>
          </a:p>
        </p:txBody>
      </p:sp>
      <p:sp>
        <p:nvSpPr>
          <p:cNvPr id="72" name="Isosceles Triangle 71"/>
          <p:cNvSpPr/>
          <p:nvPr/>
        </p:nvSpPr>
        <p:spPr>
          <a:xfrm>
            <a:off x="9507109" y="3607934"/>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3" name="TextBox 72"/>
          <p:cNvSpPr txBox="1"/>
          <p:nvPr/>
        </p:nvSpPr>
        <p:spPr>
          <a:xfrm>
            <a:off x="9459786" y="3717662"/>
            <a:ext cx="204374"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HL</a:t>
            </a:r>
          </a:p>
        </p:txBody>
      </p:sp>
      <p:sp>
        <p:nvSpPr>
          <p:cNvPr id="74" name="Isosceles Triangle 73"/>
          <p:cNvSpPr/>
          <p:nvPr/>
        </p:nvSpPr>
        <p:spPr>
          <a:xfrm rot="10800000">
            <a:off x="10076036" y="2224672"/>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5" name="TextBox 74"/>
          <p:cNvSpPr txBox="1"/>
          <p:nvPr/>
        </p:nvSpPr>
        <p:spPr>
          <a:xfrm>
            <a:off x="10011933" y="2014360"/>
            <a:ext cx="237934"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HH</a:t>
            </a:r>
          </a:p>
        </p:txBody>
      </p:sp>
      <p:sp>
        <p:nvSpPr>
          <p:cNvPr id="76" name="Isosceles Triangle 75"/>
          <p:cNvSpPr/>
          <p:nvPr/>
        </p:nvSpPr>
        <p:spPr>
          <a:xfrm>
            <a:off x="10644963" y="3860646"/>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7" name="TextBox 76"/>
          <p:cNvSpPr txBox="1"/>
          <p:nvPr/>
        </p:nvSpPr>
        <p:spPr>
          <a:xfrm>
            <a:off x="10412409" y="3970374"/>
            <a:ext cx="574835"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HL toota</a:t>
            </a:r>
          </a:p>
        </p:txBody>
      </p:sp>
      <p:sp>
        <p:nvSpPr>
          <p:cNvPr id="78" name="Rounded Rectangle 7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9" name="Rounded Rectangle 7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80" name="TextBox 7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Uptrend = higher highs aur higher lows. Aakhri higher low ke neeche close aaya, toh trend par sawaal hai.</a:t>
            </a:r>
          </a:p>
        </p:txBody>
      </p:sp>
      <p:pic>
        <p:nvPicPr>
          <p:cNvPr id="81" name="Picture 80" descr="logo.png"/>
          <p:cNvPicPr>
            <a:picLocks noChangeAspect="1"/>
          </p:cNvPicPr>
          <p:nvPr/>
        </p:nvPicPr>
        <p:blipFill>
          <a:blip r:embed="rId2"/>
          <a:stretch>
            <a:fillRect/>
          </a:stretch>
        </p:blipFill>
        <p:spPr>
          <a:xfrm>
            <a:off x="457200" y="6437376"/>
            <a:ext cx="237744" cy="237744"/>
          </a:xfrm>
          <a:prstGeom prst="rect">
            <a:avLst/>
          </a:prstGeom>
        </p:spPr>
      </p:pic>
      <p:sp>
        <p:nvSpPr>
          <p:cNvPr id="8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83" name="TextBox 8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Support aur resistance: zone, line nahi</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Support woh price area hai jahan girta hua price pehle ruka aur upar mud gaya, kyunki wahan buyers aa gaye.</a:t>
            </a:r>
          </a:p>
          <a:p>
            <a:pPr algn="l" marL="274320" indent="-274320">
              <a:lnSpc>
                <a:spcPct val="100000"/>
              </a:lnSpc>
              <a:spcAft>
                <a:spcPts val="800"/>
              </a:spcAft>
              <a:buClr>
                <a:srgbClr val="00AEEF"/>
              </a:buClr>
              <a:buFont typeface="Arial"/>
              <a:buChar char="•"/>
            </a:pPr>
            <a:r>
              <a:rPr sz="1600" b="0" i="0">
                <a:solidFill>
                  <a:srgbClr val="18232F"/>
                </a:solidFill>
                <a:latin typeface="Segoe UI"/>
              </a:rPr>
              <a:t>Resistance woh area hai jahan chadhta hua price ruka aur neeche mud gaya, kyunki wahan sellers aa gaye: inhe ghar ka farsh aur chhat samajhiye.</a:t>
            </a:r>
          </a:p>
          <a:p>
            <a:pPr algn="l" marL="274320" indent="-274320">
              <a:lnSpc>
                <a:spcPct val="100000"/>
              </a:lnSpc>
              <a:spcAft>
                <a:spcPts val="800"/>
              </a:spcAft>
              <a:buClr>
                <a:srgbClr val="00AEEF"/>
              </a:buClr>
              <a:buFont typeface="Arial"/>
              <a:buChar char="•"/>
            </a:pPr>
            <a:r>
              <a:rPr sz="1600" b="0" i="0">
                <a:solidFill>
                  <a:srgbClr val="18232F"/>
                </a:solidFill>
                <a:latin typeface="Segoe UI"/>
              </a:rPr>
              <a:t>Yeh zone hote hain, exact line nahi, kyunki saare buyers ek hi rupaye par intezaar nahi karte.</a:t>
            </a:r>
          </a:p>
          <a:p>
            <a:pPr algn="l" marL="274320" indent="-274320">
              <a:lnSpc>
                <a:spcPct val="100000"/>
              </a:lnSpc>
              <a:buClr>
                <a:srgbClr val="00AEEF"/>
              </a:buClr>
              <a:buFont typeface="Arial"/>
              <a:buChar char="•"/>
            </a:pPr>
            <a:r>
              <a:rPr sz="1600" b="0" i="0">
                <a:solidFill>
                  <a:srgbClr val="18232F"/>
                </a:solidFill>
                <a:latin typeface="Segoe UI"/>
              </a:rPr>
              <a:t>Isliye jahan-jahan price muda, un wicks ko dhakti hui ek patti banaiye.</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Normal hafte mein sabzi mandi dekhiye. Tamatar Rs 20 kilo ke aas-paas aate hi dhabe aur hotel wale extra crate utha lete hain, toh daam girna ruk jaata hai. Rs 30 ke paas log kam khareedte hain aur kisan zyada maal le aate hain, toh daam chadhna ruk jaata hai. … Agar aap Rs 485 par ek akeli line kheenchte, toh teeno bounce ki wicks us line ke neeche chali jaatin.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Do zones wali range</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Sharma Textiles, daily. Support ke teen test aur resistance ke do, aur ek bhi baar bilkul same rupaye par nahi.</a:t>
            </a:r>
          </a:p>
        </p:txBody>
      </p:sp>
      <p:cxnSp>
        <p:nvCxnSpPr>
          <p:cNvPr id="12" name="Connector 11"/>
          <p:cNvCxnSpPr/>
          <p:nvPr/>
        </p:nvCxnSpPr>
        <p:spPr>
          <a:xfrm>
            <a:off x="6812159" y="4681728"/>
            <a:ext cx="3628551"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474.6</a:t>
            </a:r>
          </a:p>
        </p:txBody>
      </p:sp>
      <p:cxnSp>
        <p:nvCxnSpPr>
          <p:cNvPr id="14" name="Connector 13"/>
          <p:cNvCxnSpPr/>
          <p:nvPr/>
        </p:nvCxnSpPr>
        <p:spPr>
          <a:xfrm>
            <a:off x="6812159" y="3851148"/>
            <a:ext cx="3628551"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7688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500.9</a:t>
            </a:r>
          </a:p>
        </p:txBody>
      </p:sp>
      <p:cxnSp>
        <p:nvCxnSpPr>
          <p:cNvPr id="16" name="Connector 15"/>
          <p:cNvCxnSpPr/>
          <p:nvPr/>
        </p:nvCxnSpPr>
        <p:spPr>
          <a:xfrm>
            <a:off x="6812159" y="3020568"/>
            <a:ext cx="3628551"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3827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527.1</a:t>
            </a:r>
          </a:p>
        </p:txBody>
      </p:sp>
      <p:cxnSp>
        <p:nvCxnSpPr>
          <p:cNvPr id="18" name="Connector 17"/>
          <p:cNvCxnSpPr/>
          <p:nvPr/>
        </p:nvCxnSpPr>
        <p:spPr>
          <a:xfrm>
            <a:off x="6812159" y="2189988"/>
            <a:ext cx="3628551"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553.4</a:t>
            </a:r>
          </a:p>
        </p:txBody>
      </p:sp>
      <p:cxnSp>
        <p:nvCxnSpPr>
          <p:cNvPr id="20" name="Connector 19"/>
          <p:cNvCxnSpPr/>
          <p:nvPr/>
        </p:nvCxnSpPr>
        <p:spPr>
          <a:xfrm>
            <a:off x="6812159" y="2361832"/>
            <a:ext cx="3665127"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513862" y="2270392"/>
            <a:ext cx="1037754"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Resistance top</a:t>
            </a:r>
          </a:p>
        </p:txBody>
      </p:sp>
      <p:cxnSp>
        <p:nvCxnSpPr>
          <p:cNvPr id="22" name="Connector 21"/>
          <p:cNvCxnSpPr/>
          <p:nvPr/>
        </p:nvCxnSpPr>
        <p:spPr>
          <a:xfrm>
            <a:off x="6812159" y="2740900"/>
            <a:ext cx="3665127"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513862" y="2649460"/>
            <a:ext cx="1037754"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Resistance base</a:t>
            </a:r>
          </a:p>
        </p:txBody>
      </p:sp>
      <p:cxnSp>
        <p:nvCxnSpPr>
          <p:cNvPr id="24" name="Connector 23"/>
          <p:cNvCxnSpPr/>
          <p:nvPr/>
        </p:nvCxnSpPr>
        <p:spPr>
          <a:xfrm>
            <a:off x="6812159" y="4067638"/>
            <a:ext cx="3665127"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513862" y="3976198"/>
            <a:ext cx="1037754"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Support top</a:t>
            </a:r>
          </a:p>
        </p:txBody>
      </p:sp>
      <p:cxnSp>
        <p:nvCxnSpPr>
          <p:cNvPr id="26" name="Connector 25"/>
          <p:cNvCxnSpPr/>
          <p:nvPr/>
        </p:nvCxnSpPr>
        <p:spPr>
          <a:xfrm>
            <a:off x="6812159" y="4509884"/>
            <a:ext cx="3665127"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513862" y="4418444"/>
            <a:ext cx="1037754"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Support base</a:t>
            </a:r>
          </a:p>
        </p:txBody>
      </p:sp>
      <p:cxnSp>
        <p:nvCxnSpPr>
          <p:cNvPr id="28" name="Connector 27"/>
          <p:cNvCxnSpPr/>
          <p:nvPr/>
        </p:nvCxnSpPr>
        <p:spPr>
          <a:xfrm>
            <a:off x="6891041" y="2898845"/>
            <a:ext cx="0" cy="41065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843712" y="2993612"/>
            <a:ext cx="94658" cy="25271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048804" y="3151557"/>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001475" y="3246324"/>
            <a:ext cx="94658" cy="3474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206567" y="3499036"/>
            <a:ext cx="0" cy="56860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159238" y="3593803"/>
            <a:ext cx="94658" cy="37906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7364330" y="3909693"/>
            <a:ext cx="0" cy="50542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317001" y="3972871"/>
            <a:ext cx="94658" cy="9476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7522093" y="3688570"/>
            <a:ext cx="0" cy="44224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474764" y="3751748"/>
            <a:ext cx="94658" cy="3158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7679856" y="3341091"/>
            <a:ext cx="0" cy="47383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7632527" y="3404269"/>
            <a:ext cx="94658" cy="347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7837619" y="2962023"/>
            <a:ext cx="0" cy="50542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7790290" y="3025201"/>
            <a:ext cx="94658" cy="37906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7995382" y="2772489"/>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7948053" y="2804078"/>
            <a:ext cx="94658" cy="2211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8153145" y="2361832"/>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8105816" y="2740900"/>
            <a:ext cx="94658" cy="9476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8310908" y="2772489"/>
            <a:ext cx="0" cy="473835"/>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8263579" y="2835667"/>
            <a:ext cx="94658" cy="31589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8468671" y="3088379"/>
            <a:ext cx="0" cy="60019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8421343" y="3151557"/>
            <a:ext cx="94658" cy="44224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0" name="Connector 49"/>
          <p:cNvCxnSpPr/>
          <p:nvPr/>
        </p:nvCxnSpPr>
        <p:spPr>
          <a:xfrm>
            <a:off x="8626434" y="3530625"/>
            <a:ext cx="0" cy="56860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579106" y="3593803"/>
            <a:ext cx="94658" cy="41065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2" name="Connector 51"/>
          <p:cNvCxnSpPr/>
          <p:nvPr/>
        </p:nvCxnSpPr>
        <p:spPr>
          <a:xfrm>
            <a:off x="8784198" y="3941282"/>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8736869" y="4004460"/>
            <a:ext cx="94658" cy="12635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8941961" y="3720159"/>
            <a:ext cx="0" cy="47383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8894632" y="3783337"/>
            <a:ext cx="94658" cy="347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6" name="Connector 55"/>
          <p:cNvCxnSpPr/>
          <p:nvPr/>
        </p:nvCxnSpPr>
        <p:spPr>
          <a:xfrm>
            <a:off x="9099724" y="3372680"/>
            <a:ext cx="0" cy="47383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9052395" y="3435858"/>
            <a:ext cx="94658" cy="347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8" name="Connector 57"/>
          <p:cNvCxnSpPr/>
          <p:nvPr/>
        </p:nvCxnSpPr>
        <p:spPr>
          <a:xfrm>
            <a:off x="9257487" y="2930434"/>
            <a:ext cx="0" cy="56860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9210158" y="2993612"/>
            <a:ext cx="94658" cy="44224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0" name="Connector 59"/>
          <p:cNvCxnSpPr/>
          <p:nvPr/>
        </p:nvCxnSpPr>
        <p:spPr>
          <a:xfrm>
            <a:off x="9415250" y="2425010"/>
            <a:ext cx="0" cy="63178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9367921" y="2677722"/>
            <a:ext cx="94658" cy="3158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2" name="Connector 61"/>
          <p:cNvCxnSpPr/>
          <p:nvPr/>
        </p:nvCxnSpPr>
        <p:spPr>
          <a:xfrm>
            <a:off x="9573013" y="2614544"/>
            <a:ext cx="0" cy="56860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9525684" y="2677722"/>
            <a:ext cx="94658" cy="41065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4" name="Connector 63"/>
          <p:cNvCxnSpPr/>
          <p:nvPr/>
        </p:nvCxnSpPr>
        <p:spPr>
          <a:xfrm>
            <a:off x="9730776" y="3025201"/>
            <a:ext cx="0" cy="69495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9683447" y="3088379"/>
            <a:ext cx="94658" cy="53701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6" name="Connector 65"/>
          <p:cNvCxnSpPr/>
          <p:nvPr/>
        </p:nvCxnSpPr>
        <p:spPr>
          <a:xfrm>
            <a:off x="9888539" y="3562214"/>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9841210" y="3625392"/>
            <a:ext cx="94658" cy="37906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8" name="Connector 67"/>
          <p:cNvCxnSpPr/>
          <p:nvPr/>
        </p:nvCxnSpPr>
        <p:spPr>
          <a:xfrm>
            <a:off x="10046302" y="3941282"/>
            <a:ext cx="0" cy="56860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998973" y="4004460"/>
            <a:ext cx="94658" cy="9476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0" name="Connector 69"/>
          <p:cNvCxnSpPr/>
          <p:nvPr/>
        </p:nvCxnSpPr>
        <p:spPr>
          <a:xfrm>
            <a:off x="10204065" y="3751748"/>
            <a:ext cx="0" cy="41065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0156736" y="3814926"/>
            <a:ext cx="94658" cy="28430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2" name="Connector 71"/>
          <p:cNvCxnSpPr/>
          <p:nvPr/>
        </p:nvCxnSpPr>
        <p:spPr>
          <a:xfrm>
            <a:off x="10361828" y="3435858"/>
            <a:ext cx="0" cy="44224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0314499" y="3499036"/>
            <a:ext cx="94658" cy="3158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4" name="Isosceles Triangle 73"/>
          <p:cNvSpPr/>
          <p:nvPr/>
        </p:nvSpPr>
        <p:spPr>
          <a:xfrm>
            <a:off x="7309466" y="4460837"/>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5" name="TextBox 74"/>
          <p:cNvSpPr txBox="1"/>
          <p:nvPr/>
        </p:nvSpPr>
        <p:spPr>
          <a:xfrm>
            <a:off x="7110801" y="4570565"/>
            <a:ext cx="507058"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S-test 1</a:t>
            </a:r>
          </a:p>
        </p:txBody>
      </p:sp>
      <p:sp>
        <p:nvSpPr>
          <p:cNvPr id="76" name="Isosceles Triangle 75"/>
          <p:cNvSpPr/>
          <p:nvPr/>
        </p:nvSpPr>
        <p:spPr>
          <a:xfrm>
            <a:off x="8729334" y="4524015"/>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7" name="TextBox 76"/>
          <p:cNvSpPr txBox="1"/>
          <p:nvPr/>
        </p:nvSpPr>
        <p:spPr>
          <a:xfrm>
            <a:off x="8530669" y="4633743"/>
            <a:ext cx="507058"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S-test 2</a:t>
            </a:r>
          </a:p>
        </p:txBody>
      </p:sp>
      <p:sp>
        <p:nvSpPr>
          <p:cNvPr id="78" name="Isosceles Triangle 77"/>
          <p:cNvSpPr/>
          <p:nvPr/>
        </p:nvSpPr>
        <p:spPr>
          <a:xfrm>
            <a:off x="9991438" y="4555604"/>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9" name="TextBox 78"/>
          <p:cNvSpPr txBox="1"/>
          <p:nvPr/>
        </p:nvSpPr>
        <p:spPr>
          <a:xfrm>
            <a:off x="9792773" y="4665332"/>
            <a:ext cx="507058"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S-test 3</a:t>
            </a:r>
          </a:p>
        </p:txBody>
      </p:sp>
      <p:sp>
        <p:nvSpPr>
          <p:cNvPr id="80" name="Isosceles Triangle 79"/>
          <p:cNvSpPr/>
          <p:nvPr/>
        </p:nvSpPr>
        <p:spPr>
          <a:xfrm rot="10800000">
            <a:off x="8098281" y="2224672"/>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1" name="TextBox 80"/>
          <p:cNvSpPr txBox="1"/>
          <p:nvPr/>
        </p:nvSpPr>
        <p:spPr>
          <a:xfrm>
            <a:off x="7893365" y="2014360"/>
            <a:ext cx="51956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R-test 1</a:t>
            </a:r>
          </a:p>
        </p:txBody>
      </p:sp>
      <p:sp>
        <p:nvSpPr>
          <p:cNvPr id="82" name="Isosceles Triangle 81"/>
          <p:cNvSpPr/>
          <p:nvPr/>
        </p:nvSpPr>
        <p:spPr>
          <a:xfrm rot="10800000">
            <a:off x="9360386" y="2287850"/>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3" name="TextBox 82"/>
          <p:cNvSpPr txBox="1"/>
          <p:nvPr/>
        </p:nvSpPr>
        <p:spPr>
          <a:xfrm>
            <a:off x="9155469" y="2077538"/>
            <a:ext cx="51956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R-test 2</a:t>
            </a:r>
          </a:p>
        </p:txBody>
      </p:sp>
      <p:sp>
        <p:nvSpPr>
          <p:cNvPr id="84" name="Rounded Rectangle 8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5" name="Rounded Rectangle 8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86" name="TextBox 8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Support aur resistance ko un wicks par patti ki tarah banaiye jahan price sach mein muda, ek jaadui number ki tarah nahi.</a:t>
            </a:r>
          </a:p>
        </p:txBody>
      </p:sp>
      <p:pic>
        <p:nvPicPr>
          <p:cNvPr id="87" name="Picture 86" descr="logo.png"/>
          <p:cNvPicPr>
            <a:picLocks noChangeAspect="1"/>
          </p:cNvPicPr>
          <p:nvPr/>
        </p:nvPicPr>
        <p:blipFill>
          <a:blip r:embed="rId2"/>
          <a:stretch>
            <a:fillRect/>
          </a:stretch>
        </p:blipFill>
        <p:spPr>
          <a:xfrm>
            <a:off x="457200" y="6437376"/>
            <a:ext cx="237744" cy="237744"/>
          </a:xfrm>
          <a:prstGeom prst="rect">
            <a:avLst/>
          </a:prstGeom>
        </p:spPr>
      </p:pic>
      <p:sp>
        <p:nvSpPr>
          <p:cNvPr id="8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89" name="TextBox 8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Jab level toot jaaye: asli, nakli aur role reversal</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Breakout ka matlab hai price ka zone se bahar nikal jaana: resistance ke upar, ya support ke neeche, jise aksar breakdown kehte hain.</a:t>
            </a:r>
          </a:p>
          <a:p>
            <a:pPr algn="l" marL="274320" indent="-274320">
              <a:lnSpc>
                <a:spcPct val="100000"/>
              </a:lnSpc>
              <a:spcAft>
                <a:spcPts val="800"/>
              </a:spcAft>
              <a:buClr>
                <a:srgbClr val="00AEEF"/>
              </a:buClr>
              <a:buFont typeface="Arial"/>
              <a:buChar char="•"/>
            </a:pPr>
            <a:r>
              <a:rPr sz="1600" b="0" i="0">
                <a:solidFill>
                  <a:srgbClr val="18232F"/>
                </a:solidFill>
                <a:latin typeface="Segoe UI"/>
              </a:rPr>
              <a:t>Bahut saare breakouts fail ho jaate hain: price bahar jhaankta hai, phir wapas zone ke andar aa jaata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Ise false breakout ya fake-out kehte hain.</a:t>
            </a:r>
          </a:p>
          <a:p>
            <a:pPr algn="l" marL="274320" indent="-274320">
              <a:lnSpc>
                <a:spcPct val="100000"/>
              </a:lnSpc>
              <a:buClr>
                <a:srgbClr val="00AEEF"/>
              </a:buClr>
              <a:buFont typeface="Arial"/>
              <a:buChar char="•"/>
            </a:pPr>
            <a:r>
              <a:rPr sz="1600" b="0" i="0">
                <a:solidFill>
                  <a:srgbClr val="18232F"/>
                </a:solidFill>
                <a:latin typeface="Segoe UI"/>
              </a:rPr>
              <a:t>Asli aur nakli ka farq teen sawaalon se pakadiye: kya candle zone ke bahar close hui, ya sirf wick bahar gayi.</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Sharma Textiles ka resistance zone Rs 536-548 tha. Ek din price Rs 556 tak gaya, par Rs 538 par close hua, yaani wapas zone ke andar, aur volume sirf 1.6 lakh shares tha, jabki 20 din ka average 2.0 lakh tha: yeh fake-out tha. Do hafte baad yeh Rs 562 par close hua, 5.2 lakh shares ke saath, yaani average ka 2.6 guna. Uske ek hafte baad yeh Rs 547 tak utra, purane resistance zone ke andar, aur phir upar mud gaya. Is baar purani chhat ne farsh ka kaam kiya.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Fake-out, asli break, retest</a:t>
            </a:r>
          </a:p>
        </p:txBody>
      </p:sp>
      <p:sp>
        <p:nvSpPr>
          <p:cNvPr id="11" name="TextBox 10"/>
          <p:cNvSpPr txBox="1"/>
          <p:nvPr/>
        </p:nvSpPr>
        <p:spPr>
          <a:xfrm>
            <a:off x="6397600" y="4907280"/>
            <a:ext cx="5154016" cy="597408"/>
          </a:xfrm>
          <a:prstGeom prst="rect">
            <a:avLst/>
          </a:prstGeom>
          <a:noFill/>
        </p:spPr>
        <p:txBody>
          <a:bodyPr wrap="square" lIns="0" rIns="0" tIns="0" bIns="0" anchor="t">
            <a:noAutofit/>
          </a:bodyPr>
          <a:lstStyle/>
          <a:p>
            <a:pPr algn="l">
              <a:lnSpc>
                <a:spcPct val="100000"/>
              </a:lnSpc>
            </a:pPr>
            <a:r>
              <a:rPr sz="950" b="0" i="0">
                <a:solidFill>
                  <a:srgbClr val="47596B"/>
                </a:solidFill>
                <a:latin typeface="Segoe UI"/>
              </a:rPr>
              <a:t>Sharma Textiles, daily, range ke baad (numbers banaye hue). Fake-out Rs 556 tak gaya par Rs 538 par, zone ke andar, close hua, 1.6 lakh shares par, jabki average 2.0 lakh tha. Do hafte baad Rs 562 ka close 5.2 lakh shares par aaya, average ka 2.6 guna. Uske ek hafte baad price Rs 547 tak, purani chhat ke andar, utra aur upar mud gaya: is baar role reversal hua.</a:t>
            </a:r>
          </a:p>
        </p:txBody>
      </p:sp>
      <p:cxnSp>
        <p:nvCxnSpPr>
          <p:cNvPr id="12" name="Connector 11"/>
          <p:cNvCxnSpPr/>
          <p:nvPr/>
        </p:nvCxnSpPr>
        <p:spPr>
          <a:xfrm>
            <a:off x="6935100" y="3874008"/>
            <a:ext cx="384181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379171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505.1</a:t>
            </a:r>
          </a:p>
        </p:txBody>
      </p:sp>
      <p:cxnSp>
        <p:nvCxnSpPr>
          <p:cNvPr id="14" name="Connector 13"/>
          <p:cNvCxnSpPr/>
          <p:nvPr/>
        </p:nvCxnSpPr>
        <p:spPr>
          <a:xfrm>
            <a:off x="6935100" y="3312668"/>
            <a:ext cx="384181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23037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528.7</a:t>
            </a:r>
          </a:p>
        </p:txBody>
      </p:sp>
      <p:cxnSp>
        <p:nvCxnSpPr>
          <p:cNvPr id="16" name="Connector 15"/>
          <p:cNvCxnSpPr/>
          <p:nvPr/>
        </p:nvCxnSpPr>
        <p:spPr>
          <a:xfrm>
            <a:off x="6935100" y="2751328"/>
            <a:ext cx="384181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66903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552.3</a:t>
            </a:r>
          </a:p>
        </p:txBody>
      </p:sp>
      <p:cxnSp>
        <p:nvCxnSpPr>
          <p:cNvPr id="18" name="Connector 17"/>
          <p:cNvCxnSpPr/>
          <p:nvPr/>
        </p:nvCxnSpPr>
        <p:spPr>
          <a:xfrm>
            <a:off x="6935100" y="2189988"/>
            <a:ext cx="384181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575.9</a:t>
            </a:r>
          </a:p>
        </p:txBody>
      </p:sp>
      <p:cxnSp>
        <p:nvCxnSpPr>
          <p:cNvPr id="20" name="Connector 19"/>
          <p:cNvCxnSpPr/>
          <p:nvPr/>
        </p:nvCxnSpPr>
        <p:spPr>
          <a:xfrm>
            <a:off x="6935100" y="2853505"/>
            <a:ext cx="3878388"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50064" y="2762065"/>
            <a:ext cx="701551"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Zone top</a:t>
            </a:r>
          </a:p>
        </p:txBody>
      </p:sp>
      <p:cxnSp>
        <p:nvCxnSpPr>
          <p:cNvPr id="22" name="Connector 21"/>
          <p:cNvCxnSpPr/>
          <p:nvPr/>
        </p:nvCxnSpPr>
        <p:spPr>
          <a:xfrm>
            <a:off x="6935100" y="3139094"/>
            <a:ext cx="3878388"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50064" y="3047654"/>
            <a:ext cx="701551"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Zone base</a:t>
            </a:r>
          </a:p>
        </p:txBody>
      </p:sp>
      <p:cxnSp>
        <p:nvCxnSpPr>
          <p:cNvPr id="24" name="Connector 23"/>
          <p:cNvCxnSpPr/>
          <p:nvPr/>
        </p:nvCxnSpPr>
        <p:spPr>
          <a:xfrm>
            <a:off x="7036200" y="3424682"/>
            <a:ext cx="0" cy="33318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975540" y="3472280"/>
            <a:ext cx="121320" cy="2379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ectangle 25"/>
          <p:cNvSpPr/>
          <p:nvPr/>
        </p:nvSpPr>
        <p:spPr>
          <a:xfrm>
            <a:off x="6975540" y="4628740"/>
            <a:ext cx="121320" cy="187100"/>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7" name="Connector 26"/>
          <p:cNvCxnSpPr/>
          <p:nvPr/>
        </p:nvCxnSpPr>
        <p:spPr>
          <a:xfrm>
            <a:off x="7238401" y="3210491"/>
            <a:ext cx="0" cy="30938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177741" y="3258089"/>
            <a:ext cx="121320" cy="21419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ectangle 28"/>
          <p:cNvSpPr/>
          <p:nvPr/>
        </p:nvSpPr>
        <p:spPr>
          <a:xfrm>
            <a:off x="7177741" y="4613969"/>
            <a:ext cx="121320" cy="201871"/>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440601" y="2663113"/>
            <a:ext cx="0" cy="64257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379941" y="3091496"/>
            <a:ext cx="121320" cy="16659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ectangle 31"/>
          <p:cNvSpPr/>
          <p:nvPr/>
        </p:nvSpPr>
        <p:spPr>
          <a:xfrm>
            <a:off x="7379941" y="4658282"/>
            <a:ext cx="121320" cy="15755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3" name="Connector 32"/>
          <p:cNvCxnSpPr/>
          <p:nvPr/>
        </p:nvCxnSpPr>
        <p:spPr>
          <a:xfrm>
            <a:off x="7642802" y="3020098"/>
            <a:ext cx="0" cy="33318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582142" y="3091496"/>
            <a:ext cx="121320" cy="19039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ectangle 34"/>
          <p:cNvSpPr/>
          <p:nvPr/>
        </p:nvSpPr>
        <p:spPr>
          <a:xfrm>
            <a:off x="7582142" y="4633663"/>
            <a:ext cx="121320" cy="182177"/>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7845003" y="3210491"/>
            <a:ext cx="0" cy="28558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784343" y="3281888"/>
            <a:ext cx="121320" cy="14279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ectangle 37"/>
          <p:cNvSpPr/>
          <p:nvPr/>
        </p:nvSpPr>
        <p:spPr>
          <a:xfrm>
            <a:off x="7784343" y="4643511"/>
            <a:ext cx="121320" cy="172329"/>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9" name="Connector 38"/>
          <p:cNvCxnSpPr/>
          <p:nvPr/>
        </p:nvCxnSpPr>
        <p:spPr>
          <a:xfrm>
            <a:off x="8047203" y="3281888"/>
            <a:ext cx="0" cy="26178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7986543" y="3329486"/>
            <a:ext cx="121320" cy="9519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Rectangle 40"/>
          <p:cNvSpPr/>
          <p:nvPr/>
        </p:nvSpPr>
        <p:spPr>
          <a:xfrm>
            <a:off x="7986543" y="4623816"/>
            <a:ext cx="121320" cy="19202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8249404" y="3115295"/>
            <a:ext cx="0" cy="26178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188744" y="3162893"/>
            <a:ext cx="121320" cy="16659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Rectangle 43"/>
          <p:cNvSpPr/>
          <p:nvPr/>
        </p:nvSpPr>
        <p:spPr>
          <a:xfrm>
            <a:off x="8188744" y="4609045"/>
            <a:ext cx="121320" cy="206795"/>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5" name="Connector 44"/>
          <p:cNvCxnSpPr/>
          <p:nvPr/>
        </p:nvCxnSpPr>
        <p:spPr>
          <a:xfrm>
            <a:off x="8451605" y="2924902"/>
            <a:ext cx="0" cy="30938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8390944" y="3020098"/>
            <a:ext cx="121320" cy="14279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ectangle 46"/>
          <p:cNvSpPr/>
          <p:nvPr/>
        </p:nvSpPr>
        <p:spPr>
          <a:xfrm>
            <a:off x="8390944" y="4599198"/>
            <a:ext cx="121320" cy="21664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8653805" y="2877304"/>
            <a:ext cx="0" cy="28558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8593145" y="3020098"/>
            <a:ext cx="121320" cy="9519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Rectangle 49"/>
          <p:cNvSpPr/>
          <p:nvPr/>
        </p:nvSpPr>
        <p:spPr>
          <a:xfrm>
            <a:off x="8593145" y="4628740"/>
            <a:ext cx="121320" cy="187100"/>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1" name="Connector 50"/>
          <p:cNvCxnSpPr/>
          <p:nvPr/>
        </p:nvCxnSpPr>
        <p:spPr>
          <a:xfrm>
            <a:off x="8856006" y="2948701"/>
            <a:ext cx="0" cy="2617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8795346" y="2996299"/>
            <a:ext cx="121320" cy="1189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Rectangle 52"/>
          <p:cNvSpPr/>
          <p:nvPr/>
        </p:nvSpPr>
        <p:spPr>
          <a:xfrm>
            <a:off x="8795346" y="4618892"/>
            <a:ext cx="121320" cy="19694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9058207" y="2853505"/>
            <a:ext cx="0" cy="23799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8997546" y="2924902"/>
            <a:ext cx="121320" cy="7139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Rectangle 55"/>
          <p:cNvSpPr/>
          <p:nvPr/>
        </p:nvSpPr>
        <p:spPr>
          <a:xfrm>
            <a:off x="8997546" y="4604121"/>
            <a:ext cx="121320" cy="21171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7" name="Connector 56"/>
          <p:cNvCxnSpPr/>
          <p:nvPr/>
        </p:nvCxnSpPr>
        <p:spPr>
          <a:xfrm>
            <a:off x="9260407" y="2853505"/>
            <a:ext cx="0" cy="19039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9199747" y="2901103"/>
            <a:ext cx="121320" cy="2379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9" name="Rectangle 58"/>
          <p:cNvSpPr/>
          <p:nvPr/>
        </p:nvSpPr>
        <p:spPr>
          <a:xfrm>
            <a:off x="9199747" y="4613969"/>
            <a:ext cx="121320" cy="201871"/>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0" name="Connector 59"/>
          <p:cNvCxnSpPr/>
          <p:nvPr/>
        </p:nvCxnSpPr>
        <p:spPr>
          <a:xfrm>
            <a:off x="9462608" y="2425123"/>
            <a:ext cx="0" cy="4997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9401948" y="2520319"/>
            <a:ext cx="121320" cy="38078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2" name="Rectangle 61"/>
          <p:cNvSpPr/>
          <p:nvPr/>
        </p:nvSpPr>
        <p:spPr>
          <a:xfrm>
            <a:off x="9401948" y="4303776"/>
            <a:ext cx="121320" cy="5120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3" name="Connector 62"/>
          <p:cNvCxnSpPr/>
          <p:nvPr/>
        </p:nvCxnSpPr>
        <p:spPr>
          <a:xfrm>
            <a:off x="9664809" y="2329926"/>
            <a:ext cx="0" cy="28558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9604148" y="2401323"/>
            <a:ext cx="121320" cy="1189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5" name="Rectangle 64"/>
          <p:cNvSpPr/>
          <p:nvPr/>
        </p:nvSpPr>
        <p:spPr>
          <a:xfrm>
            <a:off x="9604148" y="4520418"/>
            <a:ext cx="121320" cy="29542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6" name="Connector 65"/>
          <p:cNvCxnSpPr/>
          <p:nvPr/>
        </p:nvCxnSpPr>
        <p:spPr>
          <a:xfrm>
            <a:off x="9867009" y="2306127"/>
            <a:ext cx="0" cy="23799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9806349" y="2401323"/>
            <a:ext cx="121320" cy="9519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8" name="Rectangle 67"/>
          <p:cNvSpPr/>
          <p:nvPr/>
        </p:nvSpPr>
        <p:spPr>
          <a:xfrm>
            <a:off x="9806349" y="4579503"/>
            <a:ext cx="121320" cy="236337"/>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9" name="Connector 68"/>
          <p:cNvCxnSpPr/>
          <p:nvPr/>
        </p:nvCxnSpPr>
        <p:spPr>
          <a:xfrm>
            <a:off x="10069210" y="2448922"/>
            <a:ext cx="0" cy="2379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0008550" y="2496520"/>
            <a:ext cx="121320" cy="14279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1" name="Rectangle 70"/>
          <p:cNvSpPr/>
          <p:nvPr/>
        </p:nvSpPr>
        <p:spPr>
          <a:xfrm>
            <a:off x="10008550" y="4609045"/>
            <a:ext cx="121320" cy="206795"/>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2" name="Connector 71"/>
          <p:cNvCxnSpPr/>
          <p:nvPr/>
        </p:nvCxnSpPr>
        <p:spPr>
          <a:xfrm>
            <a:off x="10271410" y="2591716"/>
            <a:ext cx="0" cy="21419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0210750" y="2639314"/>
            <a:ext cx="121320" cy="11899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4" name="Rectangle 73"/>
          <p:cNvSpPr/>
          <p:nvPr/>
        </p:nvSpPr>
        <p:spPr>
          <a:xfrm>
            <a:off x="10210750" y="4628740"/>
            <a:ext cx="121320" cy="187100"/>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5" name="Connector 74"/>
          <p:cNvCxnSpPr/>
          <p:nvPr/>
        </p:nvCxnSpPr>
        <p:spPr>
          <a:xfrm>
            <a:off x="10473611" y="2615515"/>
            <a:ext cx="0" cy="26178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0412951" y="2663113"/>
            <a:ext cx="121320" cy="9519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7" name="Rectangle 76"/>
          <p:cNvSpPr/>
          <p:nvPr/>
        </p:nvSpPr>
        <p:spPr>
          <a:xfrm>
            <a:off x="10412951" y="4618892"/>
            <a:ext cx="121320" cy="19694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8" name="Connector 77"/>
          <p:cNvCxnSpPr/>
          <p:nvPr/>
        </p:nvCxnSpPr>
        <p:spPr>
          <a:xfrm>
            <a:off x="10675812" y="2425123"/>
            <a:ext cx="0" cy="28558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10615152" y="2472721"/>
            <a:ext cx="121320" cy="19039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0" name="Rectangle 79"/>
          <p:cNvSpPr/>
          <p:nvPr/>
        </p:nvSpPr>
        <p:spPr>
          <a:xfrm>
            <a:off x="10615152" y="4589350"/>
            <a:ext cx="121320" cy="226490"/>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1" name="TextBox 80"/>
          <p:cNvSpPr txBox="1"/>
          <p:nvPr/>
        </p:nvSpPr>
        <p:spPr>
          <a:xfrm>
            <a:off x="6397600" y="445922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82" name="Isosceles Triangle 81"/>
          <p:cNvSpPr/>
          <p:nvPr/>
        </p:nvSpPr>
        <p:spPr>
          <a:xfrm rot="10800000">
            <a:off x="7385737" y="2525953"/>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3" name="TextBox 82"/>
          <p:cNvSpPr txBox="1"/>
          <p:nvPr/>
        </p:nvSpPr>
        <p:spPr>
          <a:xfrm>
            <a:off x="7147961" y="2315641"/>
            <a:ext cx="585281"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Fake-out</a:t>
            </a:r>
          </a:p>
        </p:txBody>
      </p:sp>
      <p:sp>
        <p:nvSpPr>
          <p:cNvPr id="84" name="Isosceles Triangle 83"/>
          <p:cNvSpPr/>
          <p:nvPr/>
        </p:nvSpPr>
        <p:spPr>
          <a:xfrm rot="10800000">
            <a:off x="9407744" y="2287963"/>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5" name="TextBox 84"/>
          <p:cNvSpPr txBox="1"/>
          <p:nvPr/>
        </p:nvSpPr>
        <p:spPr>
          <a:xfrm>
            <a:off x="9138341" y="2077651"/>
            <a:ext cx="648535"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Asli break</a:t>
            </a:r>
          </a:p>
        </p:txBody>
      </p:sp>
      <p:sp>
        <p:nvSpPr>
          <p:cNvPr id="86" name="Isosceles Triangle 85"/>
          <p:cNvSpPr/>
          <p:nvPr/>
        </p:nvSpPr>
        <p:spPr>
          <a:xfrm>
            <a:off x="10418747" y="2923024"/>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7" name="TextBox 86"/>
          <p:cNvSpPr txBox="1"/>
          <p:nvPr/>
        </p:nvSpPr>
        <p:spPr>
          <a:xfrm>
            <a:off x="10260906" y="3032752"/>
            <a:ext cx="425411"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Retest</a:t>
            </a:r>
          </a:p>
        </p:txBody>
      </p:sp>
      <p:sp>
        <p:nvSpPr>
          <p:cNvPr id="88" name="Rounded Rectangle 8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9" name="Rounded Rectangle 8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90" name="TextBox 8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Sirf wick breakout nahi hai. Zone ke bahar close, average se zyada volume, aur tika hua retest dekhiye.</a:t>
            </a:r>
          </a:p>
        </p:txBody>
      </p:sp>
      <p:pic>
        <p:nvPicPr>
          <p:cNvPr id="91" name="Picture 90" descr="logo.png"/>
          <p:cNvPicPr>
            <a:picLocks noChangeAspect="1"/>
          </p:cNvPicPr>
          <p:nvPr/>
        </p:nvPicPr>
        <p:blipFill>
          <a:blip r:embed="rId2"/>
          <a:stretch>
            <a:fillRect/>
          </a:stretch>
        </p:blipFill>
        <p:spPr>
          <a:xfrm>
            <a:off x="457200" y="6437376"/>
            <a:ext cx="237744" cy="237744"/>
          </a:xfrm>
          <a:prstGeom prst="rect">
            <a:avLst/>
          </a:prstGeom>
        </p:spPr>
      </p:pic>
      <p:sp>
        <p:nvSpPr>
          <p:cNvPr id="9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3" name="TextBox 9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Paanch candle patterns, aur context kyun zaroori hai</a:t>
            </a:r>
          </a:p>
        </p:txBody>
      </p:sp>
      <p:sp>
        <p:nvSpPr>
          <p:cNvPr id="4" name="TextBox 3"/>
          <p:cNvSpPr txBox="1"/>
          <p:nvPr/>
        </p:nvSpPr>
        <p:spPr>
          <a:xfrm>
            <a:off x="457200" y="1335024"/>
            <a:ext cx="5519776" cy="21590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Day 5 mein aapne ek-ek candle padhna seekha.</a:t>
            </a:r>
          </a:p>
          <a:p>
            <a:pPr algn="l" marL="274320" indent="-274320">
              <a:lnSpc>
                <a:spcPct val="100000"/>
              </a:lnSpc>
              <a:spcAft>
                <a:spcPts val="800"/>
              </a:spcAft>
              <a:buClr>
                <a:srgbClr val="00AEEF"/>
              </a:buClr>
              <a:buFont typeface="Arial"/>
              <a:buChar char="•"/>
            </a:pPr>
            <a:r>
              <a:rPr sz="1600" b="0" i="0">
                <a:solidFill>
                  <a:srgbClr val="18232F"/>
                </a:solidFill>
                <a:latin typeface="Segoe UI"/>
              </a:rPr>
              <a:t>Ab bas paanch patterns yaad kijiye.</a:t>
            </a:r>
          </a:p>
          <a:p>
            <a:pPr algn="l" marL="274320" indent="-274320">
              <a:lnSpc>
                <a:spcPct val="100000"/>
              </a:lnSpc>
              <a:spcAft>
                <a:spcPts val="800"/>
              </a:spcAft>
              <a:buClr>
                <a:srgbClr val="00AEEF"/>
              </a:buClr>
              <a:buFont typeface="Arial"/>
              <a:buChar char="•"/>
            </a:pPr>
            <a:r>
              <a:rPr sz="1600" b="0" i="0">
                <a:solidFill>
                  <a:srgbClr val="18232F"/>
                </a:solidFill>
                <a:latin typeface="Segoe UI"/>
              </a:rPr>
              <a:t>'bullish' matlab upar ki taraf ishaara, 'bearish' matlab neeche ki taraf.</a:t>
            </a:r>
          </a:p>
          <a:p>
            <a:pPr algn="l" marL="274320" indent="-274320">
              <a:lnSpc>
                <a:spcPct val="100000"/>
              </a:lnSpc>
              <a:spcAft>
                <a:spcPts val="800"/>
              </a:spcAft>
              <a:buClr>
                <a:srgbClr val="00AEEF"/>
              </a:buClr>
              <a:buFont typeface="Arial"/>
              <a:buChar char="•"/>
            </a:pPr>
            <a:r>
              <a:rPr sz="1600" b="0" i="0">
                <a:solidFill>
                  <a:srgbClr val="18232F"/>
                </a:solidFill>
                <a:latin typeface="Segoe UI"/>
              </a:rPr>
              <a:t>Bullish engulfing: girne ke baad, ek green body pichhli red body ko poora dhak leti hai.</a:t>
            </a:r>
          </a:p>
          <a:p>
            <a:pPr algn="l" marL="274320" indent="-274320">
              <a:lnSpc>
                <a:spcPct val="100000"/>
              </a:lnSpc>
              <a:buClr>
                <a:srgbClr val="00AEEF"/>
              </a:buClr>
              <a:buFont typeface="Arial"/>
              <a:buChar char="•"/>
            </a:pPr>
            <a:r>
              <a:rPr sz="1600" b="0" i="0">
                <a:solidFill>
                  <a:srgbClr val="18232F"/>
                </a:solidFill>
                <a:latin typeface="Segoe UI"/>
              </a:rPr>
              <a:t>Bearish engulfing iska ulta hai, chadhne ke baad.</a:t>
            </a:r>
          </a:p>
        </p:txBody>
      </p:sp>
      <p:sp>
        <p:nvSpPr>
          <p:cNvPr id="5" name="Rounded Rectangle 4"/>
          <p:cNvSpPr/>
          <p:nvPr/>
        </p:nvSpPr>
        <p:spPr>
          <a:xfrm>
            <a:off x="457200" y="3649472"/>
            <a:ext cx="5519776" cy="1964944"/>
          </a:xfrm>
          <a:prstGeom prst="roundRect">
            <a:avLst>
              <a:gd name="adj" fmla="val 558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7774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33520"/>
            <a:ext cx="5154016" cy="15077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Sharma Textiles ke support ka teesra test phir se dekhiye. Woh candle Rs 496 par khuli, Rs 480 tak giri aur Rs 493 par close hui, aur uska high Rs 498 tha. Body: Rs 3. Neeche ki wick: Rs 13, yaani body se chaar guna se bhi zyada. Upar ki wick: Rs 2. Candle red hai, kyunki open se neeche close hui, aur iski neeche ki wick close, Rs 493, se Rs 480 tak hai. Hammer red ya green dono ho sakta hai; shape hi asli baat hai. … Yahi candle range ke beech mein banti, toh kuch khaas nahi kehti; aur yahan bhi yeh ek clue hai, kharidne ka signal nahi.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Paanchon patterns, context ke saath</a:t>
            </a:r>
          </a:p>
        </p:txBody>
      </p:sp>
      <p:sp>
        <p:nvSpPr>
          <p:cNvPr id="11" name="TextBox 10"/>
          <p:cNvSpPr txBox="1"/>
          <p:nvPr/>
        </p:nvSpPr>
        <p:spPr>
          <a:xfrm>
            <a:off x="6397600" y="4907280"/>
            <a:ext cx="5154016" cy="597408"/>
          </a:xfrm>
          <a:prstGeom prst="rect">
            <a:avLst/>
          </a:prstGeom>
          <a:noFill/>
        </p:spPr>
        <p:txBody>
          <a:bodyPr wrap="square" lIns="0" rIns="0" tIns="0" bIns="0" anchor="t">
            <a:noAutofit/>
          </a:bodyPr>
          <a:lstStyle/>
          <a:p>
            <a:pPr algn="l">
              <a:lnSpc>
                <a:spcPct val="100000"/>
              </a:lnSpc>
            </a:pPr>
            <a:r>
              <a:rPr sz="950" b="0" i="0">
                <a:solidFill>
                  <a:srgbClr val="47596B"/>
                </a:solidFill>
                <a:latin typeface="Segoe UI"/>
              </a:rPr>
              <a:t>Ek banaya hua daily chart. Hammer aur bullish engulfing Rs 400 ke paas ke support area mein girawat ke baad aaye; shooting star aur bearish engulfing Rs 440 ke paas ke resistance area mein chadhai ke baad; inside bar, yaani thehraav, range ke beech mein bana. Har ek apni jagah par ek clue hai, pakki baat kabhi nahi. Definitions key terms mein hain.</a:t>
            </a:r>
          </a:p>
        </p:txBody>
      </p:sp>
      <p:cxnSp>
        <p:nvCxnSpPr>
          <p:cNvPr id="12" name="Connector 11"/>
          <p:cNvCxnSpPr/>
          <p:nvPr/>
        </p:nvCxnSpPr>
        <p:spPr>
          <a:xfrm>
            <a:off x="6812159" y="4422648"/>
            <a:ext cx="394635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3403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386.6</a:t>
            </a:r>
          </a:p>
        </p:txBody>
      </p:sp>
      <p:cxnSp>
        <p:nvCxnSpPr>
          <p:cNvPr id="14" name="Connector 13"/>
          <p:cNvCxnSpPr/>
          <p:nvPr/>
        </p:nvCxnSpPr>
        <p:spPr>
          <a:xfrm>
            <a:off x="6812159" y="3742436"/>
            <a:ext cx="394635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6601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407.9</a:t>
            </a:r>
          </a:p>
        </p:txBody>
      </p:sp>
      <p:cxnSp>
        <p:nvCxnSpPr>
          <p:cNvPr id="16" name="Connector 15"/>
          <p:cNvCxnSpPr/>
          <p:nvPr/>
        </p:nvCxnSpPr>
        <p:spPr>
          <a:xfrm>
            <a:off x="6812159" y="3062224"/>
            <a:ext cx="394635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79928"/>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429.1</a:t>
            </a:r>
          </a:p>
        </p:txBody>
      </p:sp>
      <p:cxnSp>
        <p:nvCxnSpPr>
          <p:cNvPr id="18" name="Connector 17"/>
          <p:cNvCxnSpPr/>
          <p:nvPr/>
        </p:nvCxnSpPr>
        <p:spPr>
          <a:xfrm>
            <a:off x="6812159" y="2382012"/>
            <a:ext cx="394635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450.4</a:t>
            </a:r>
          </a:p>
        </p:txBody>
      </p:sp>
      <p:cxnSp>
        <p:nvCxnSpPr>
          <p:cNvPr id="20" name="Connector 19"/>
          <p:cNvCxnSpPr/>
          <p:nvPr/>
        </p:nvCxnSpPr>
        <p:spPr>
          <a:xfrm>
            <a:off x="6812159" y="2714655"/>
            <a:ext cx="3982935"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31670" y="2623215"/>
            <a:ext cx="719945"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Resistance</a:t>
            </a:r>
          </a:p>
        </p:txBody>
      </p:sp>
      <p:cxnSp>
        <p:nvCxnSpPr>
          <p:cNvPr id="22" name="Connector 21"/>
          <p:cNvCxnSpPr/>
          <p:nvPr/>
        </p:nvCxnSpPr>
        <p:spPr>
          <a:xfrm>
            <a:off x="6812159" y="3994050"/>
            <a:ext cx="3982935"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31670" y="3902610"/>
            <a:ext cx="719945"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Support</a:t>
            </a:r>
          </a:p>
        </p:txBody>
      </p:sp>
      <p:cxnSp>
        <p:nvCxnSpPr>
          <p:cNvPr id="24" name="Connector 23"/>
          <p:cNvCxnSpPr/>
          <p:nvPr/>
        </p:nvCxnSpPr>
        <p:spPr>
          <a:xfrm>
            <a:off x="6921780" y="2970534"/>
            <a:ext cx="0" cy="38381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856008" y="3034504"/>
            <a:ext cx="131545" cy="2558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141023" y="3226413"/>
            <a:ext cx="0" cy="44778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075250" y="3290383"/>
            <a:ext cx="131545" cy="31984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360265" y="3546262"/>
            <a:ext cx="0" cy="35183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294492" y="3610232"/>
            <a:ext cx="131545" cy="22389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579507" y="3802141"/>
            <a:ext cx="0" cy="47977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513734" y="3834126"/>
            <a:ext cx="131545" cy="3198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798749" y="3578247"/>
            <a:ext cx="0" cy="28786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732976" y="3610232"/>
            <a:ext cx="131545" cy="22389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017991" y="3386338"/>
            <a:ext cx="0" cy="28786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952219" y="3450307"/>
            <a:ext cx="131545" cy="15992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237233" y="3418322"/>
            <a:ext cx="0" cy="19191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171461" y="3514277"/>
            <a:ext cx="131545" cy="3198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8456475" y="3194428"/>
            <a:ext cx="0" cy="38381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390703" y="3226413"/>
            <a:ext cx="131545" cy="31984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8675718" y="2938549"/>
            <a:ext cx="0" cy="35183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609945" y="2970534"/>
            <a:ext cx="131545" cy="2558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8894960" y="2522746"/>
            <a:ext cx="0" cy="47977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829187" y="2906564"/>
            <a:ext cx="131545" cy="6397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9114202" y="2842594"/>
            <a:ext cx="0" cy="38381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048429" y="2906564"/>
            <a:ext cx="131545" cy="2558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9333444" y="3098474"/>
            <a:ext cx="0" cy="38381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9267671" y="3162443"/>
            <a:ext cx="131545" cy="2558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9552686" y="3354353"/>
            <a:ext cx="0" cy="38381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9486914" y="3418322"/>
            <a:ext cx="131545" cy="2558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0" name="Connector 49"/>
          <p:cNvCxnSpPr/>
          <p:nvPr/>
        </p:nvCxnSpPr>
        <p:spPr>
          <a:xfrm>
            <a:off x="9771928" y="3610232"/>
            <a:ext cx="0" cy="41580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9706156" y="3674202"/>
            <a:ext cx="131545" cy="2558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2" name="Connector 51"/>
          <p:cNvCxnSpPr/>
          <p:nvPr/>
        </p:nvCxnSpPr>
        <p:spPr>
          <a:xfrm>
            <a:off x="9991171" y="3546262"/>
            <a:ext cx="0" cy="47977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9925398" y="3578247"/>
            <a:ext cx="131545" cy="38381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10210413" y="3226413"/>
            <a:ext cx="0" cy="38381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0144640" y="3290383"/>
            <a:ext cx="131545" cy="28786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6" name="Connector 55"/>
          <p:cNvCxnSpPr/>
          <p:nvPr/>
        </p:nvCxnSpPr>
        <p:spPr>
          <a:xfrm>
            <a:off x="10429655" y="2842594"/>
            <a:ext cx="0" cy="47977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0363882" y="2906564"/>
            <a:ext cx="131545" cy="38381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8" name="Connector 57"/>
          <p:cNvCxnSpPr/>
          <p:nvPr/>
        </p:nvCxnSpPr>
        <p:spPr>
          <a:xfrm>
            <a:off x="10648897" y="2778625"/>
            <a:ext cx="0" cy="6077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0583124" y="2842594"/>
            <a:ext cx="131545" cy="51175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0" name="Isosceles Triangle 59"/>
          <p:cNvSpPr/>
          <p:nvPr/>
        </p:nvSpPr>
        <p:spPr>
          <a:xfrm>
            <a:off x="7524643" y="4327634"/>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1" name="TextBox 60"/>
          <p:cNvSpPr txBox="1"/>
          <p:nvPr/>
        </p:nvSpPr>
        <p:spPr>
          <a:xfrm>
            <a:off x="7293071" y="4437362"/>
            <a:ext cx="572871"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Hammer</a:t>
            </a:r>
          </a:p>
        </p:txBody>
      </p:sp>
      <p:sp>
        <p:nvSpPr>
          <p:cNvPr id="62" name="Isosceles Triangle 61"/>
          <p:cNvSpPr/>
          <p:nvPr/>
        </p:nvSpPr>
        <p:spPr>
          <a:xfrm rot="10800000">
            <a:off x="8182369" y="3281162"/>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3" name="TextBox 62"/>
          <p:cNvSpPr txBox="1"/>
          <p:nvPr/>
        </p:nvSpPr>
        <p:spPr>
          <a:xfrm>
            <a:off x="7913629" y="3070850"/>
            <a:ext cx="647208"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Inside bar</a:t>
            </a:r>
          </a:p>
        </p:txBody>
      </p:sp>
      <p:sp>
        <p:nvSpPr>
          <p:cNvPr id="64" name="Isosceles Triangle 63"/>
          <p:cNvSpPr/>
          <p:nvPr/>
        </p:nvSpPr>
        <p:spPr>
          <a:xfrm rot="10800000">
            <a:off x="8840096" y="2385586"/>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5" name="TextBox 64"/>
          <p:cNvSpPr txBox="1"/>
          <p:nvPr/>
        </p:nvSpPr>
        <p:spPr>
          <a:xfrm>
            <a:off x="8460467" y="1983250"/>
            <a:ext cx="868985"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Shooting star</a:t>
            </a:r>
          </a:p>
        </p:txBody>
      </p:sp>
      <p:sp>
        <p:nvSpPr>
          <p:cNvPr id="66" name="Isosceles Triangle 65"/>
          <p:cNvSpPr/>
          <p:nvPr/>
        </p:nvSpPr>
        <p:spPr>
          <a:xfrm>
            <a:off x="9936307" y="4071755"/>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7" name="TextBox 66"/>
          <p:cNvSpPr txBox="1"/>
          <p:nvPr/>
        </p:nvSpPr>
        <p:spPr>
          <a:xfrm>
            <a:off x="9535950" y="4181483"/>
            <a:ext cx="910441"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Bull engulfing</a:t>
            </a:r>
          </a:p>
        </p:txBody>
      </p:sp>
      <p:sp>
        <p:nvSpPr>
          <p:cNvPr id="68" name="Isosceles Triangle 67"/>
          <p:cNvSpPr/>
          <p:nvPr/>
        </p:nvSpPr>
        <p:spPr>
          <a:xfrm rot="10800000">
            <a:off x="10594033" y="2641465"/>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9" name="TextBox 68"/>
          <p:cNvSpPr txBox="1"/>
          <p:nvPr/>
        </p:nvSpPr>
        <p:spPr>
          <a:xfrm>
            <a:off x="10173606" y="2431153"/>
            <a:ext cx="95058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Bear engulfing</a:t>
            </a:r>
          </a:p>
        </p:txBody>
      </p:sp>
      <p:sp>
        <p:nvSpPr>
          <p:cNvPr id="70" name="Rounded Rectangle 6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1" name="Rounded Rectangle 7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72" name="TextBox 7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Akela pattern sirf noise hai. Tested zone par yeh clue banta hai; volume aur bada trend saath dein toh clue mazboot hota hai.</a:t>
            </a:r>
          </a:p>
        </p:txBody>
      </p:sp>
      <p:pic>
        <p:nvPicPr>
          <p:cNvPr id="73" name="Picture 72" descr="logo.png"/>
          <p:cNvPicPr>
            <a:picLocks noChangeAspect="1"/>
          </p:cNvPicPr>
          <p:nvPr/>
        </p:nvPicPr>
        <p:blipFill>
          <a:blip r:embed="rId2"/>
          <a:stretch>
            <a:fillRect/>
          </a:stretch>
        </p:blipFill>
        <p:spPr>
          <a:xfrm>
            <a:off x="457200" y="6437376"/>
            <a:ext cx="237744" cy="237744"/>
          </a:xfrm>
          <a:prstGeom prst="rect">
            <a:avLst/>
          </a:prstGeom>
        </p:spPr>
      </p:pic>
      <p:sp>
        <p:nvSpPr>
          <p:cNvPr id="7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75" name="TextBox 7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Gaps: chaar types aur ek nakli</a:t>
            </a:r>
          </a:p>
        </p:txBody>
      </p:sp>
      <p:sp>
        <p:nvSpPr>
          <p:cNvPr id="4" name="TextBox 3"/>
          <p:cNvSpPr txBox="1"/>
          <p:nvPr/>
        </p:nvSpPr>
        <p:spPr>
          <a:xfrm>
            <a:off x="457200" y="1335024"/>
            <a:ext cx="5519776" cy="181356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Gap chart par ek khaali jagah hai, jahan koi trade hua hi nahi.</a:t>
            </a:r>
          </a:p>
          <a:p>
            <a:pPr algn="l" marL="274320" indent="-274320">
              <a:lnSpc>
                <a:spcPct val="100000"/>
              </a:lnSpc>
              <a:spcAft>
                <a:spcPts val="800"/>
              </a:spcAft>
              <a:buClr>
                <a:srgbClr val="00AEEF"/>
              </a:buClr>
              <a:buFont typeface="Arial"/>
              <a:buChar char="•"/>
            </a:pPr>
            <a:r>
              <a:rPr sz="1600" b="0" i="0">
                <a:solidFill>
                  <a:srgbClr val="18232F"/>
                </a:solidFill>
                <a:latin typeface="Segoe UI"/>
              </a:rPr>
              <a:t>Full gap-up mein aaj ka low kal ke high se upar hota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Full gap-down mein aaj ka high kal ke low se neeche.</a:t>
            </a:r>
          </a:p>
          <a:p>
            <a:pPr algn="l" marL="274320" indent="-274320">
              <a:lnSpc>
                <a:spcPct val="100000"/>
              </a:lnSpc>
              <a:buClr>
                <a:srgbClr val="00AEEF"/>
              </a:buClr>
              <a:buFont typeface="Arial"/>
              <a:buChar char="•"/>
            </a:pPr>
            <a:r>
              <a:rPr sz="1600" b="0" i="0">
                <a:solidFill>
                  <a:srgbClr val="18232F"/>
                </a:solidFill>
                <a:latin typeface="Segoe UI"/>
              </a:rPr>
              <a:t>Jab price baad mein laut kar us khaali jagah ke aar-paar trade kar le, toh kehte hain ki gap 'bhar gaya'.</a:t>
            </a:r>
          </a:p>
        </p:txBody>
      </p:sp>
      <p:sp>
        <p:nvSpPr>
          <p:cNvPr id="5" name="Rounded Rectangle 4"/>
          <p:cNvSpPr/>
          <p:nvPr/>
        </p:nvSpPr>
        <p:spPr>
          <a:xfrm>
            <a:off x="457200" y="3304032"/>
            <a:ext cx="5519776" cy="2310384"/>
          </a:xfrm>
          <a:prstGeom prst="roundRect">
            <a:avLst>
              <a:gd name="adj" fmla="val 47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43204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688080"/>
            <a:ext cx="5154016" cy="185318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Day 5 ka 'crash jo kabhi hua hi nahi' yaad hai? Wahi cheez gap ban kar bhi dikhti hai. Kiran Foods Ltd 1:1 bonus ki ex-date se pehle wale din Rs 640 par close hota hai, aur ex-date par lagbhag Rs 320 par khulta hai. Unadjusted chart par beginner ko bada gap-down dikhta hai, aur woh ise breakaway gap keh deta hai. Lekin jiske paas 50 shares the, yaani Rs 32,000 ke, uske paas aakhir mein lagbhag Rs 320 ke 100 shares honge, yaani ab bhi lagbhag Rs 32,000. Kisi bhi bade gap ka naam rakhne se pehle adjusted chart par jaiye aur NSE website par corporate actions wala page check kijiye; yeh saare events Day 15 mein detail mein aayenge.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Full gap, adhoora gap, gap bhara</a:t>
            </a:r>
          </a:p>
        </p:txBody>
      </p:sp>
      <p:sp>
        <p:nvSpPr>
          <p:cNvPr id="11" name="TextBox 10"/>
          <p:cNvSpPr txBox="1"/>
          <p:nvPr/>
        </p:nvSpPr>
        <p:spPr>
          <a:xfrm>
            <a:off x="6397600" y="4800600"/>
            <a:ext cx="5154016" cy="704088"/>
          </a:xfrm>
          <a:prstGeom prst="rect">
            <a:avLst/>
          </a:prstGeom>
          <a:noFill/>
        </p:spPr>
        <p:txBody>
          <a:bodyPr wrap="square" lIns="0" rIns="0" tIns="0" bIns="0" anchor="t">
            <a:noAutofit/>
          </a:bodyPr>
          <a:lstStyle/>
          <a:p>
            <a:pPr algn="l">
              <a:lnSpc>
                <a:spcPct val="100000"/>
              </a:lnSpc>
            </a:pPr>
            <a:r>
              <a:rPr sz="900" b="0" i="0">
                <a:solidFill>
                  <a:srgbClr val="47596B"/>
                </a:solidFill>
                <a:latin typeface="Segoe UI"/>
              </a:rPr>
              <a:t>Ek banaya hua daily chart. 5vi candle full gap-up ke saath khuli: uska low (Rs 210) pichhle high (Rs 207) se upar raha, aam se lagbhag 2.5 guna volume par, isliye us din yeh breakaway gap jaisa laga. 8vi candle sirf pichhle close se upar khuli aur pichhli range mein wapas trade hui: yeh adhoora, 'news' wala gap-up hai, full gap nahi. … Kitaabi naam chaar hain: common, breakaway, runaway aur exhaustion.</a:t>
            </a:r>
          </a:p>
        </p:txBody>
      </p:sp>
      <p:cxnSp>
        <p:nvCxnSpPr>
          <p:cNvPr id="12" name="Connector 11"/>
          <p:cNvCxnSpPr/>
          <p:nvPr/>
        </p:nvCxnSpPr>
        <p:spPr>
          <a:xfrm>
            <a:off x="6935100" y="3767328"/>
            <a:ext cx="372269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368503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195.4</a:t>
            </a:r>
          </a:p>
        </p:txBody>
      </p:sp>
      <p:cxnSp>
        <p:nvCxnSpPr>
          <p:cNvPr id="14" name="Connector 13"/>
          <p:cNvCxnSpPr/>
          <p:nvPr/>
        </p:nvCxnSpPr>
        <p:spPr>
          <a:xfrm>
            <a:off x="6935100" y="3305556"/>
            <a:ext cx="372269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223260"/>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207.8</a:t>
            </a:r>
          </a:p>
        </p:txBody>
      </p:sp>
      <p:cxnSp>
        <p:nvCxnSpPr>
          <p:cNvPr id="16" name="Connector 15"/>
          <p:cNvCxnSpPr/>
          <p:nvPr/>
        </p:nvCxnSpPr>
        <p:spPr>
          <a:xfrm>
            <a:off x="6935100" y="2843784"/>
            <a:ext cx="372269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761488"/>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220.2</a:t>
            </a:r>
          </a:p>
        </p:txBody>
      </p:sp>
      <p:cxnSp>
        <p:nvCxnSpPr>
          <p:cNvPr id="18" name="Connector 17"/>
          <p:cNvCxnSpPr/>
          <p:nvPr/>
        </p:nvCxnSpPr>
        <p:spPr>
          <a:xfrm>
            <a:off x="6935100" y="2382012"/>
            <a:ext cx="372269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232.6</a:t>
            </a:r>
          </a:p>
        </p:txBody>
      </p:sp>
      <p:cxnSp>
        <p:nvCxnSpPr>
          <p:cNvPr id="20" name="Connector 19"/>
          <p:cNvCxnSpPr/>
          <p:nvPr/>
        </p:nvCxnSpPr>
        <p:spPr>
          <a:xfrm>
            <a:off x="6935100" y="3223950"/>
            <a:ext cx="3759274"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730950" y="3132510"/>
            <a:ext cx="820665"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Gap top</a:t>
            </a:r>
          </a:p>
        </p:txBody>
      </p:sp>
      <p:cxnSp>
        <p:nvCxnSpPr>
          <p:cNvPr id="22" name="Connector 21"/>
          <p:cNvCxnSpPr/>
          <p:nvPr/>
        </p:nvCxnSpPr>
        <p:spPr>
          <a:xfrm>
            <a:off x="6935100" y="3335910"/>
            <a:ext cx="3759274"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730950" y="3315390"/>
            <a:ext cx="820665"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Gap bottom</a:t>
            </a:r>
          </a:p>
        </p:txBody>
      </p:sp>
      <p:cxnSp>
        <p:nvCxnSpPr>
          <p:cNvPr id="24" name="Connector 23"/>
          <p:cNvCxnSpPr/>
          <p:nvPr/>
        </p:nvCxnSpPr>
        <p:spPr>
          <a:xfrm>
            <a:off x="7068053" y="3410549"/>
            <a:ext cx="0" cy="22392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988281" y="3485189"/>
            <a:ext cx="159544" cy="373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ectangle 25"/>
          <p:cNvSpPr/>
          <p:nvPr/>
        </p:nvSpPr>
        <p:spPr>
          <a:xfrm>
            <a:off x="6988281" y="4504334"/>
            <a:ext cx="159544" cy="204826"/>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7" name="Connector 26"/>
          <p:cNvCxnSpPr/>
          <p:nvPr/>
        </p:nvCxnSpPr>
        <p:spPr>
          <a:xfrm>
            <a:off x="7333960" y="3373229"/>
            <a:ext cx="0" cy="22392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254188" y="3485189"/>
            <a:ext cx="159544" cy="7464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ectangle 28"/>
          <p:cNvSpPr/>
          <p:nvPr/>
        </p:nvSpPr>
        <p:spPr>
          <a:xfrm>
            <a:off x="7254188" y="4524817"/>
            <a:ext cx="159544" cy="184343"/>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599867" y="3447869"/>
            <a:ext cx="0" cy="22392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520095" y="3485189"/>
            <a:ext cx="159544" cy="746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ectangle 31"/>
          <p:cNvSpPr/>
          <p:nvPr/>
        </p:nvSpPr>
        <p:spPr>
          <a:xfrm>
            <a:off x="7520095" y="4514576"/>
            <a:ext cx="159544" cy="19458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3" name="Connector 32"/>
          <p:cNvCxnSpPr/>
          <p:nvPr/>
        </p:nvCxnSpPr>
        <p:spPr>
          <a:xfrm>
            <a:off x="7865774" y="3335910"/>
            <a:ext cx="0" cy="22391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86002" y="3373229"/>
            <a:ext cx="159544" cy="1119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ectangle 34"/>
          <p:cNvSpPr/>
          <p:nvPr/>
        </p:nvSpPr>
        <p:spPr>
          <a:xfrm>
            <a:off x="7786002" y="4494093"/>
            <a:ext cx="159544" cy="215067"/>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131681" y="2925390"/>
            <a:ext cx="0" cy="29856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051909" y="3000030"/>
            <a:ext cx="159544" cy="14928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ectangle 37"/>
          <p:cNvSpPr/>
          <p:nvPr/>
        </p:nvSpPr>
        <p:spPr>
          <a:xfrm>
            <a:off x="8051909" y="4197096"/>
            <a:ext cx="159544" cy="5120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9" name="Connector 38"/>
          <p:cNvCxnSpPr/>
          <p:nvPr/>
        </p:nvCxnSpPr>
        <p:spPr>
          <a:xfrm>
            <a:off x="8397588" y="2813430"/>
            <a:ext cx="0" cy="26124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8317816" y="2888070"/>
            <a:ext cx="159544" cy="1119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Rectangle 40"/>
          <p:cNvSpPr/>
          <p:nvPr/>
        </p:nvSpPr>
        <p:spPr>
          <a:xfrm>
            <a:off x="8317816" y="4360956"/>
            <a:ext cx="159544" cy="34820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8663495" y="2664151"/>
            <a:ext cx="0" cy="3358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583723" y="2776111"/>
            <a:ext cx="159544" cy="1119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Rectangle 43"/>
          <p:cNvSpPr/>
          <p:nvPr/>
        </p:nvSpPr>
        <p:spPr>
          <a:xfrm>
            <a:off x="8583723" y="4422404"/>
            <a:ext cx="159544" cy="286756"/>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5" name="Connector 44"/>
          <p:cNvCxnSpPr/>
          <p:nvPr/>
        </p:nvCxnSpPr>
        <p:spPr>
          <a:xfrm>
            <a:off x="8929403" y="2514871"/>
            <a:ext cx="0" cy="29855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8849630" y="2589511"/>
            <a:ext cx="159544" cy="1119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ectangle 46"/>
          <p:cNvSpPr/>
          <p:nvPr/>
        </p:nvSpPr>
        <p:spPr>
          <a:xfrm>
            <a:off x="8849630" y="4401922"/>
            <a:ext cx="159544" cy="30723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9195310" y="2477551"/>
            <a:ext cx="0" cy="26124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9115537" y="2589511"/>
            <a:ext cx="159544" cy="7464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Rectangle 49"/>
          <p:cNvSpPr/>
          <p:nvPr/>
        </p:nvSpPr>
        <p:spPr>
          <a:xfrm>
            <a:off x="9115537" y="4463369"/>
            <a:ext cx="159544" cy="245791"/>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1" name="Connector 50"/>
          <p:cNvCxnSpPr/>
          <p:nvPr/>
        </p:nvCxnSpPr>
        <p:spPr>
          <a:xfrm>
            <a:off x="9461217" y="2589511"/>
            <a:ext cx="0" cy="29855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9381444" y="2664151"/>
            <a:ext cx="159544" cy="18660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Rectangle 52"/>
          <p:cNvSpPr/>
          <p:nvPr/>
        </p:nvSpPr>
        <p:spPr>
          <a:xfrm>
            <a:off x="9381444" y="4483852"/>
            <a:ext cx="159544" cy="22530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9727124" y="2776111"/>
            <a:ext cx="0" cy="33587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9647351" y="2850750"/>
            <a:ext cx="159544" cy="18660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Rectangle 55"/>
          <p:cNvSpPr/>
          <p:nvPr/>
        </p:nvSpPr>
        <p:spPr>
          <a:xfrm>
            <a:off x="9647351" y="4473611"/>
            <a:ext cx="159544" cy="235549"/>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7" name="Connector 56"/>
          <p:cNvCxnSpPr/>
          <p:nvPr/>
        </p:nvCxnSpPr>
        <p:spPr>
          <a:xfrm>
            <a:off x="9993031" y="3000030"/>
            <a:ext cx="0" cy="29856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9913258" y="3037350"/>
            <a:ext cx="159544" cy="18660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9" name="Rectangle 58"/>
          <p:cNvSpPr/>
          <p:nvPr/>
        </p:nvSpPr>
        <p:spPr>
          <a:xfrm>
            <a:off x="9913258" y="4453128"/>
            <a:ext cx="159544" cy="256032"/>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0" name="Connector 59"/>
          <p:cNvCxnSpPr/>
          <p:nvPr/>
        </p:nvCxnSpPr>
        <p:spPr>
          <a:xfrm>
            <a:off x="10258938" y="3149310"/>
            <a:ext cx="0" cy="26123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0179166" y="3223950"/>
            <a:ext cx="159544" cy="7464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2" name="Rectangle 61"/>
          <p:cNvSpPr/>
          <p:nvPr/>
        </p:nvSpPr>
        <p:spPr>
          <a:xfrm>
            <a:off x="10179166" y="4442887"/>
            <a:ext cx="159544" cy="266273"/>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3" name="Connector 62"/>
          <p:cNvCxnSpPr/>
          <p:nvPr/>
        </p:nvCxnSpPr>
        <p:spPr>
          <a:xfrm>
            <a:off x="10524845" y="3111990"/>
            <a:ext cx="0" cy="22392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10445073" y="3149310"/>
            <a:ext cx="159544" cy="14928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5" name="Rectangle 64"/>
          <p:cNvSpPr/>
          <p:nvPr/>
        </p:nvSpPr>
        <p:spPr>
          <a:xfrm>
            <a:off x="10445073" y="4504334"/>
            <a:ext cx="159544" cy="204826"/>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6" name="TextBox 65"/>
          <p:cNvSpPr txBox="1"/>
          <p:nvPr/>
        </p:nvSpPr>
        <p:spPr>
          <a:xfrm>
            <a:off x="6397600" y="435254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67" name="Isosceles Triangle 66"/>
          <p:cNvSpPr/>
          <p:nvPr/>
        </p:nvSpPr>
        <p:spPr>
          <a:xfrm rot="10800000">
            <a:off x="8076817" y="2788230"/>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8" name="TextBox 67"/>
          <p:cNvSpPr txBox="1"/>
          <p:nvPr/>
        </p:nvSpPr>
        <p:spPr>
          <a:xfrm>
            <a:off x="7759373" y="2577918"/>
            <a:ext cx="744617"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Full gap-up</a:t>
            </a:r>
          </a:p>
        </p:txBody>
      </p:sp>
      <p:sp>
        <p:nvSpPr>
          <p:cNvPr id="69" name="Isosceles Triangle 68"/>
          <p:cNvSpPr/>
          <p:nvPr/>
        </p:nvSpPr>
        <p:spPr>
          <a:xfrm rot="10800000">
            <a:off x="8874539" y="2377711"/>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0" name="TextBox 69"/>
          <p:cNvSpPr txBox="1"/>
          <p:nvPr/>
        </p:nvSpPr>
        <p:spPr>
          <a:xfrm>
            <a:off x="8507083" y="1975375"/>
            <a:ext cx="844638"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Adhoora gap</a:t>
            </a:r>
          </a:p>
        </p:txBody>
      </p:sp>
      <p:sp>
        <p:nvSpPr>
          <p:cNvPr id="71" name="Isosceles Triangle 70"/>
          <p:cNvSpPr/>
          <p:nvPr/>
        </p:nvSpPr>
        <p:spPr>
          <a:xfrm>
            <a:off x="10204074" y="3456269"/>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2" name="TextBox 71"/>
          <p:cNvSpPr txBox="1"/>
          <p:nvPr/>
        </p:nvSpPr>
        <p:spPr>
          <a:xfrm>
            <a:off x="9791872" y="3565997"/>
            <a:ext cx="934130"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Gap bhar gaya</a:t>
            </a:r>
          </a:p>
        </p:txBody>
      </p:sp>
      <p:sp>
        <p:nvSpPr>
          <p:cNvPr id="73" name="Rounded Rectangle 7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4" name="Rounded Rectangle 73"/>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75" name="TextBox 74"/>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Gap ka naam baad mein rakhiye, aur koi bhi matlab nikaalne se pehle corporate action check kar lijiye.</a:t>
            </a:r>
          </a:p>
        </p:txBody>
      </p:sp>
      <p:pic>
        <p:nvPicPr>
          <p:cNvPr id="76" name="Picture 75" descr="logo.png"/>
          <p:cNvPicPr>
            <a:picLocks noChangeAspect="1"/>
          </p:cNvPicPr>
          <p:nvPr/>
        </p:nvPicPr>
        <p:blipFill>
          <a:blip r:embed="rId2"/>
          <a:stretch>
            <a:fillRect/>
          </a:stretch>
        </p:blipFill>
        <p:spPr>
          <a:xfrm>
            <a:off x="457200" y="6437376"/>
            <a:ext cx="237744" cy="237744"/>
          </a:xfrm>
          <a:prstGeom prst="rect">
            <a:avLst/>
          </a:prstGeom>
        </p:spPr>
      </p:pic>
      <p:sp>
        <p:nvSpPr>
          <p:cNvPr id="7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78" name="TextBox 7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Level ka moh: jab aapka level toot jaaye</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Level ka moh matlab kisi price level se pyaar ho jaana.</a:t>
            </a:r>
          </a:p>
          <a:p>
            <a:pPr algn="l" marL="274320" indent="-274320">
              <a:lnSpc>
                <a:spcPct val="100000"/>
              </a:lnSpc>
              <a:spcAft>
                <a:spcPts val="800"/>
              </a:spcAft>
              <a:buClr>
                <a:srgbClr val="00AEEF"/>
              </a:buClr>
              <a:buFont typeface="Arial"/>
              <a:buChar char="•"/>
            </a:pPr>
            <a:r>
              <a:rPr sz="1600" b="0" i="0">
                <a:solidFill>
                  <a:srgbClr val="18232F"/>
                </a:solidFill>
                <a:latin typeface="Segoe UI"/>
              </a:rPr>
              <a:t>Aapne isliye khareeda ki 'Rs 500 toh hamesha tikta hai', aur jab price zone ke neeche close hota hai, toh aap khud ko samjhaate hain ki wapas aa jayega.</a:t>
            </a:r>
          </a:p>
          <a:p>
            <a:pPr algn="l" marL="274320" indent="-274320">
              <a:lnSpc>
                <a:spcPct val="100000"/>
              </a:lnSpc>
              <a:spcAft>
                <a:spcPts val="800"/>
              </a:spcAft>
              <a:buClr>
                <a:srgbClr val="00AEEF"/>
              </a:buClr>
              <a:buFont typeface="Arial"/>
              <a:buChar char="•"/>
            </a:pPr>
            <a:r>
              <a:rPr sz="1600" b="0" i="0">
                <a:solidFill>
                  <a:srgbClr val="18232F"/>
                </a:solidFill>
                <a:latin typeface="Segoe UI"/>
              </a:rPr>
              <a:t>Lekin level sirf ek yaad hai ki log kahan khareed ya bech rahe the.</a:t>
            </a:r>
          </a:p>
          <a:p>
            <a:pPr algn="l" marL="274320" indent="-274320">
              <a:lnSpc>
                <a:spcPct val="100000"/>
              </a:lnSpc>
              <a:buClr>
                <a:srgbClr val="00AEEF"/>
              </a:buClr>
              <a:buFont typeface="Arial"/>
              <a:buChar char="•"/>
            </a:pPr>
            <a:r>
              <a:rPr sz="1600" b="0" i="0">
                <a:solidFill>
                  <a:srgbClr val="18232F"/>
                </a:solidFill>
                <a:latin typeface="Segoe UI"/>
              </a:rPr>
              <a:t>Jab woh use bachana band kar dete hain, toh level khatam.</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ne Bharat Pumps Ltd ke 100 shares Rs 515 par khareede, kyunki support teen baar tika tha, Rs 503, 498 aur 506 par, yaani lagbhag Rs 498-510 ka zone. Friday ko yeh Rs 488 par close hua, zone ke neeche, 3.8 lakh shares ke volume par, jabki average 2.0 lakh tha. Likha hua exit rule hota, toh woh usi close ke aas-paas bahar nikal jaata; moh kehta hai, ruko. … Calculation dekhiye, yeh moh kitna mehenga padega.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Moh ki keemat</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Charges se pehle, aur lagbhag Rs 488 close par exit maan kar: rule se lagbhag Rs 2,700 jaate; umeed Rs 6,300 le leti.</a:t>
            </a:r>
          </a:p>
        </p:txBody>
      </p:sp>
      <p:sp>
        <p:nvSpPr>
          <p:cNvPr id="11" name="TextBox 10"/>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2503170"/>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Rs 452 tak hold: 100 x Rs 63</a:t>
            </a:r>
          </a:p>
        </p:txBody>
      </p:sp>
      <p:sp>
        <p:nvSpPr>
          <p:cNvPr id="13" name="TextBox 12"/>
          <p:cNvSpPr txBox="1"/>
          <p:nvPr/>
        </p:nvSpPr>
        <p:spPr>
          <a:xfrm>
            <a:off x="10539090" y="2503170"/>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6,300</a:t>
            </a:r>
          </a:p>
        </p:txBody>
      </p:sp>
      <p:cxnSp>
        <p:nvCxnSpPr>
          <p:cNvPr id="14" name="Connector 13"/>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3106674"/>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Rs 488 close par exit: 100 x Rs 27</a:t>
            </a:r>
          </a:p>
        </p:txBody>
      </p:sp>
      <p:sp>
        <p:nvSpPr>
          <p:cNvPr id="17" name="TextBox 16"/>
          <p:cNvSpPr txBox="1"/>
          <p:nvPr/>
        </p:nvSpPr>
        <p:spPr>
          <a:xfrm>
            <a:off x="10539090" y="3106674"/>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2,700</a:t>
            </a:r>
          </a:p>
        </p:txBody>
      </p:sp>
      <p:sp>
        <p:nvSpPr>
          <p:cNvPr id="18" name="Rounded Rectangle 17"/>
          <p:cNvSpPr/>
          <p:nvPr/>
        </p:nvSpPr>
        <p:spPr>
          <a:xfrm>
            <a:off x="6397600" y="3765042"/>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6397600" y="3765042"/>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765042"/>
            <a:ext cx="3775730"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Level ke moh ki extra keemat</a:t>
            </a:r>
          </a:p>
        </p:txBody>
      </p:sp>
      <p:sp>
        <p:nvSpPr>
          <p:cNvPr id="21" name="TextBox 20"/>
          <p:cNvSpPr txBox="1"/>
          <p:nvPr/>
        </p:nvSpPr>
        <p:spPr>
          <a:xfrm>
            <a:off x="10539090" y="3765042"/>
            <a:ext cx="939374"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Rs 3,600</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Level ek yaad hai, vaada nahi. Close par toot jaaye, toh faisla aapka likha hua plan karega, umeed nahi.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39268"/>
          </a:xfrm>
          <a:prstGeom prst="rect">
            <a:avLst/>
          </a:prstGeom>
          <a:noFill/>
        </p:spPr>
        <p:txBody>
          <a:bodyPr wrap="square" lIns="0" rIns="0" tIns="0" bIns="0" anchor="t">
            <a:noAutofit/>
          </a:bodyPr>
          <a:lstStyle/>
          <a:p>
            <a:pPr algn="l">
              <a:lnSpc>
                <a:spcPct val="100000"/>
              </a:lnSpc>
            </a:pPr>
            <a:r>
              <a:rPr sz="1450" b="1" i="0">
                <a:solidFill>
                  <a:srgbClr val="095A90"/>
                </a:solidFill>
                <a:latin typeface="Segoe UI"/>
              </a:rPr>
              <a:t>Swing high / swing low</a:t>
            </a:r>
          </a:p>
        </p:txBody>
      </p:sp>
      <p:sp>
        <p:nvSpPr>
          <p:cNvPr id="6" name="TextBox 5"/>
          <p:cNvSpPr txBox="1"/>
          <p:nvPr/>
        </p:nvSpPr>
        <p:spPr>
          <a:xfrm>
            <a:off x="658368" y="1738884"/>
            <a:ext cx="515401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Price ki lehar ki choti ya tala. Simple rule: woh high jo dono taraf ki do-do candles ke high se upar ho (swing low iska ulta hai). Ise confirm tabhi kar sakte hain jab uske baad do aur candles close ho jaayein.</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4152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HH / HL aur LH / LL</a:t>
            </a:r>
          </a:p>
        </p:txBody>
      </p:sp>
      <p:sp>
        <p:nvSpPr>
          <p:cNvPr id="9" name="TextBox 8"/>
          <p:cNvSpPr txBox="1"/>
          <p:nvPr/>
        </p:nvSpPr>
        <p:spPr>
          <a:xfrm>
            <a:off x="6379312"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Higher highs aur higher lows matlab uptrend; lower highs aur lower lows matlab downtrend.</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81711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Support / resistance zone</a:t>
            </a:r>
          </a:p>
        </p:txBody>
      </p:sp>
      <p:sp>
        <p:nvSpPr>
          <p:cNvPr id="12" name="TextBox 11"/>
          <p:cNvSpPr txBox="1"/>
          <p:nvPr/>
        </p:nvSpPr>
        <p:spPr>
          <a:xfrm>
            <a:off x="658368"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price patti jahan pehle buyers (support) ya sellers (resistance) ne price ko mod diya tha. Patti, koi ek exact price nahi.</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81711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False breakout (fake-out)</a:t>
            </a:r>
          </a:p>
        </p:txBody>
      </p:sp>
      <p:sp>
        <p:nvSpPr>
          <p:cNvPr id="15" name="TextBox 14"/>
          <p:cNvSpPr txBox="1"/>
          <p:nvPr/>
        </p:nvSpPr>
        <p:spPr>
          <a:xfrm>
            <a:off x="6379312"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Price zone se bahar jhaankta hai, phir wapas andar close ho jaata hai, aksar kam volume par.</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92702"/>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Role reversal</a:t>
            </a:r>
          </a:p>
        </p:txBody>
      </p:sp>
      <p:sp>
        <p:nvSpPr>
          <p:cNvPr id="18" name="TextBox 17"/>
          <p:cNvSpPr txBox="1"/>
          <p:nvPr/>
        </p:nvSpPr>
        <p:spPr>
          <a:xfrm>
            <a:off x="658368" y="4376166"/>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Asli break ke baad purana resistance support ban sakta hai, aur purana support resistance. Probability hai, rule nahi.</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Gap</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Chart par khaali jagah: aaj ka low kal ke high se upar (gap-up), ya aaj ka high kal ke low se neeche (gap-down). News mein aksar kal ke close se upar khulne ko hi 'gap-up' keh dete hain.</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Bullish / bearish engulfing</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Do candles ka pattern. Bullish: girawat ke baad ek green body pichhli red body ko poora dhak leti hai. Bearish: chadhai ke baad ek red body pichhli green body ko poora dhak leti hai.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08788"/>
          </a:xfrm>
          <a:prstGeom prst="rect">
            <a:avLst/>
          </a:prstGeom>
          <a:noFill/>
        </p:spPr>
        <p:txBody>
          <a:bodyPr wrap="square" lIns="0" rIns="0" tIns="0" bIns="0" anchor="t">
            <a:noAutofit/>
          </a:bodyPr>
          <a:lstStyle/>
          <a:p>
            <a:pPr algn="l">
              <a:lnSpc>
                <a:spcPct val="100000"/>
              </a:lnSpc>
            </a:pPr>
            <a:r>
              <a:rPr sz="1250" b="1" i="0">
                <a:solidFill>
                  <a:srgbClr val="095A90"/>
                </a:solidFill>
                <a:latin typeface="Segoe UI"/>
              </a:rPr>
              <a:t>Hammer, shooting star, inside bar</a:t>
            </a:r>
          </a:p>
        </p:txBody>
      </p:sp>
      <p:sp>
        <p:nvSpPr>
          <p:cNvPr id="27" name="TextBox 26"/>
          <p:cNvSpPr txBox="1"/>
          <p:nvPr/>
        </p:nvSpPr>
        <p:spPr>
          <a:xfrm>
            <a:off x="6379312" y="5535168"/>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Hammer: girawat ke baad, upar ki taraf chhoti body aur neeche wick jo body se kam se kam do guna ho. Shooting star: chadhai ke baad iska ulta, lambi wick upar. Inside bar: aisi candle jiska high aur low pichhli candle ki range ke andar rahe, yaani thehraav; agli candle ka wait kijiye.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361438"/>
            <a:ext cx="502920" cy="144246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2858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71053"/>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55698"/>
            <a:ext cx="502920" cy="164820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2571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73924"/>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Price ka structure padhna</a:t>
            </a:r>
          </a:p>
        </p:txBody>
      </p:sp>
      <p:sp>
        <p:nvSpPr>
          <p:cNvPr id="11" name="Rounded Rectangle 10"/>
          <p:cNvSpPr/>
          <p:nvPr/>
        </p:nvSpPr>
        <p:spPr>
          <a:xfrm>
            <a:off x="640080" y="1593914"/>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703642"/>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Trend</a:t>
            </a:r>
          </a:p>
        </p:txBody>
      </p:sp>
      <p:sp>
        <p:nvSpPr>
          <p:cNvPr id="13" name="TextBox 12"/>
          <p:cNvSpPr txBox="1"/>
          <p:nvPr/>
        </p:nvSpPr>
        <p:spPr>
          <a:xfrm>
            <a:off x="786384" y="2005394"/>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Swing highs aur lows</a:t>
            </a:r>
          </a:p>
          <a:p>
            <a:pPr algn="l" marL="182880" indent="-182880">
              <a:lnSpc>
                <a:spcPct val="100000"/>
              </a:lnSpc>
              <a:spcAft>
                <a:spcPts val="405"/>
              </a:spcAft>
              <a:buClr>
                <a:srgbClr val="0093D6"/>
              </a:buClr>
              <a:buFont typeface="Arial"/>
              <a:buChar char="•"/>
            </a:pPr>
            <a:r>
              <a:rPr sz="1350" b="0" i="0">
                <a:solidFill>
                  <a:srgbClr val="18232F"/>
                </a:solidFill>
                <a:latin typeface="Segoe UI"/>
              </a:rPr>
              <a:t>Up = HH + HL</a:t>
            </a:r>
          </a:p>
          <a:p>
            <a:pPr algn="l" marL="182880" indent="-182880">
              <a:lnSpc>
                <a:spcPct val="100000"/>
              </a:lnSpc>
              <a:spcAft>
                <a:spcPts val="405"/>
              </a:spcAft>
              <a:buClr>
                <a:srgbClr val="0093D6"/>
              </a:buClr>
              <a:buFont typeface="Arial"/>
              <a:buChar char="•"/>
            </a:pPr>
            <a:r>
              <a:rPr sz="1350" b="0" i="0">
                <a:solidFill>
                  <a:srgbClr val="18232F"/>
                </a:solidFill>
                <a:latin typeface="Segoe UI"/>
              </a:rPr>
              <a:t>Down = LH + LL</a:t>
            </a:r>
          </a:p>
          <a:p>
            <a:pPr algn="l" marL="182880" indent="-182880">
              <a:lnSpc>
                <a:spcPct val="100000"/>
              </a:lnSpc>
              <a:buClr>
                <a:srgbClr val="0093D6"/>
              </a:buClr>
              <a:buFont typeface="Arial"/>
              <a:buChar char="•"/>
            </a:pPr>
            <a:r>
              <a:rPr sz="1350" b="0" i="0">
                <a:solidFill>
                  <a:srgbClr val="18232F"/>
                </a:solidFill>
                <a:latin typeface="Segoe UI"/>
              </a:rPr>
              <a:t>Timeframe hamesha bataiye</a:t>
            </a:r>
          </a:p>
        </p:txBody>
      </p:sp>
      <p:sp>
        <p:nvSpPr>
          <p:cNvPr id="14" name="Rounded Rectangle 13"/>
          <p:cNvSpPr/>
          <p:nvPr/>
        </p:nvSpPr>
        <p:spPr>
          <a:xfrm>
            <a:off x="640080" y="3293554"/>
            <a:ext cx="3718408" cy="1277874"/>
          </a:xfrm>
          <a:prstGeom prst="roundRect">
            <a:avLst>
              <a:gd name="adj" fmla="val 8586"/>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403282"/>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Zones</a:t>
            </a:r>
          </a:p>
        </p:txBody>
      </p:sp>
      <p:sp>
        <p:nvSpPr>
          <p:cNvPr id="16" name="TextBox 15"/>
          <p:cNvSpPr txBox="1"/>
          <p:nvPr/>
        </p:nvSpPr>
        <p:spPr>
          <a:xfrm>
            <a:off x="786384" y="3705034"/>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Farsh aur chhat</a:t>
            </a:r>
          </a:p>
          <a:p>
            <a:pPr algn="l" marL="182880" indent="-182880">
              <a:lnSpc>
                <a:spcPct val="100000"/>
              </a:lnSpc>
              <a:spcAft>
                <a:spcPts val="405"/>
              </a:spcAft>
              <a:buClr>
                <a:srgbClr val="F5A524"/>
              </a:buClr>
              <a:buFont typeface="Arial"/>
              <a:buChar char="•"/>
            </a:pPr>
            <a:r>
              <a:rPr sz="1350" b="0" i="0">
                <a:solidFill>
                  <a:srgbClr val="18232F"/>
                </a:solidFill>
                <a:latin typeface="Segoe UI"/>
              </a:rPr>
              <a:t>Patti, ek rupaya nahi</a:t>
            </a:r>
          </a:p>
          <a:p>
            <a:pPr algn="l" marL="182880" indent="-182880">
              <a:lnSpc>
                <a:spcPct val="100000"/>
              </a:lnSpc>
              <a:buClr>
                <a:srgbClr val="F5A524"/>
              </a:buClr>
              <a:buFont typeface="Arial"/>
              <a:buChar char="•"/>
            </a:pPr>
            <a:r>
              <a:rPr sz="1350" b="0" i="0">
                <a:solidFill>
                  <a:srgbClr val="18232F"/>
                </a:solidFill>
                <a:latin typeface="Segoe UI"/>
              </a:rPr>
              <a:t>Zyada test, zyada log jaante hain</a:t>
            </a:r>
          </a:p>
        </p:txBody>
      </p:sp>
      <p:sp>
        <p:nvSpPr>
          <p:cNvPr id="17" name="Rounded Rectangle 16"/>
          <p:cNvSpPr/>
          <p:nvPr/>
        </p:nvSpPr>
        <p:spPr>
          <a:xfrm>
            <a:off x="640080" y="4736020"/>
            <a:ext cx="3718408" cy="1277874"/>
          </a:xfrm>
          <a:prstGeom prst="roundRect">
            <a:avLst>
              <a:gd name="adj" fmla="val 8586"/>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Breaks</a:t>
            </a:r>
          </a:p>
        </p:txBody>
      </p:sp>
      <p:sp>
        <p:nvSpPr>
          <p:cNvPr id="19" name="TextBox 18"/>
          <p:cNvSpPr txBox="1"/>
          <p:nvPr/>
        </p:nvSpPr>
        <p:spPr>
          <a:xfrm>
            <a:off x="786384" y="5147500"/>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Bahar close, sirf wick nahi</a:t>
            </a:r>
          </a:p>
          <a:p>
            <a:pPr algn="l" marL="182880" indent="-182880">
              <a:lnSpc>
                <a:spcPct val="100000"/>
              </a:lnSpc>
              <a:spcAft>
                <a:spcPts val="405"/>
              </a:spcAft>
              <a:buClr>
                <a:srgbClr val="16A34A"/>
              </a:buClr>
              <a:buFont typeface="Arial"/>
              <a:buChar char="•"/>
            </a:pPr>
            <a:r>
              <a:rPr sz="1350" b="0" i="0">
                <a:solidFill>
                  <a:srgbClr val="18232F"/>
                </a:solidFill>
                <a:latin typeface="Segoe UI"/>
              </a:rPr>
              <a:t>Average se zyada volume</a:t>
            </a:r>
          </a:p>
          <a:p>
            <a:pPr algn="l" marL="182880" indent="-182880">
              <a:lnSpc>
                <a:spcPct val="100000"/>
              </a:lnSpc>
              <a:buClr>
                <a:srgbClr val="16A34A"/>
              </a:buClr>
              <a:buFont typeface="Arial"/>
              <a:buChar char="•"/>
            </a:pPr>
            <a:r>
              <a:rPr sz="1350" b="0" i="0">
                <a:solidFill>
                  <a:srgbClr val="18232F"/>
                </a:solidFill>
                <a:latin typeface="Segoe UI"/>
              </a:rPr>
              <a:t>Role reversal ek probability hai</a:t>
            </a:r>
          </a:p>
        </p:txBody>
      </p:sp>
      <p:sp>
        <p:nvSpPr>
          <p:cNvPr id="20" name="Rounded Rectangle 19"/>
          <p:cNvSpPr/>
          <p:nvPr/>
        </p:nvSpPr>
        <p:spPr>
          <a:xfrm>
            <a:off x="7833208" y="1388174"/>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97902"/>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Paanch candles</a:t>
            </a:r>
          </a:p>
        </p:txBody>
      </p:sp>
      <p:sp>
        <p:nvSpPr>
          <p:cNvPr id="22" name="TextBox 21"/>
          <p:cNvSpPr txBox="1"/>
          <p:nvPr/>
        </p:nvSpPr>
        <p:spPr>
          <a:xfrm>
            <a:off x="7979512" y="1799654"/>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Engulfing, bullish aur bearish</a:t>
            </a:r>
          </a:p>
          <a:p>
            <a:pPr algn="l" marL="182880" indent="-182880">
              <a:lnSpc>
                <a:spcPct val="100000"/>
              </a:lnSpc>
              <a:spcAft>
                <a:spcPts val="405"/>
              </a:spcAft>
              <a:buClr>
                <a:srgbClr val="0093D6"/>
              </a:buClr>
              <a:buFont typeface="Arial"/>
              <a:buChar char="•"/>
            </a:pPr>
            <a:r>
              <a:rPr sz="1350" b="0" i="0">
                <a:solidFill>
                  <a:srgbClr val="18232F"/>
                </a:solidFill>
                <a:latin typeface="Segoe UI"/>
              </a:rPr>
              <a:t>Hammer aur shooting star</a:t>
            </a:r>
          </a:p>
          <a:p>
            <a:pPr algn="l" marL="182880" indent="-182880">
              <a:lnSpc>
                <a:spcPct val="100000"/>
              </a:lnSpc>
              <a:spcAft>
                <a:spcPts val="405"/>
              </a:spcAft>
              <a:buClr>
                <a:srgbClr val="0093D6"/>
              </a:buClr>
              <a:buFont typeface="Arial"/>
              <a:buChar char="•"/>
            </a:pPr>
            <a:r>
              <a:rPr sz="1350" b="0" i="0">
                <a:solidFill>
                  <a:srgbClr val="18232F"/>
                </a:solidFill>
                <a:latin typeface="Segoe UI"/>
              </a:rPr>
              <a:t>Inside bar = thehraav</a:t>
            </a:r>
          </a:p>
          <a:p>
            <a:pPr algn="l" marL="182880" indent="-182880">
              <a:lnSpc>
                <a:spcPct val="100000"/>
              </a:lnSpc>
              <a:buClr>
                <a:srgbClr val="0093D6"/>
              </a:buClr>
              <a:buFont typeface="Arial"/>
              <a:buChar char="•"/>
            </a:pPr>
            <a:r>
              <a:rPr sz="1350" b="0" i="0">
                <a:solidFill>
                  <a:srgbClr val="18232F"/>
                </a:solidFill>
                <a:latin typeface="Segoe UI"/>
              </a:rPr>
              <a:t>Zone par sabse zyada matter karte hain</a:t>
            </a:r>
          </a:p>
        </p:txBody>
      </p:sp>
      <p:sp>
        <p:nvSpPr>
          <p:cNvPr id="23" name="Rounded Rectangle 22"/>
          <p:cNvSpPr/>
          <p:nvPr/>
        </p:nvSpPr>
        <p:spPr>
          <a:xfrm>
            <a:off x="7833208" y="3087814"/>
            <a:ext cx="3718408" cy="1483614"/>
          </a:xfrm>
          <a:prstGeom prst="roundRect">
            <a:avLst>
              <a:gd name="adj" fmla="val 7395"/>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197542"/>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Gaps</a:t>
            </a:r>
          </a:p>
        </p:txBody>
      </p:sp>
      <p:sp>
        <p:nvSpPr>
          <p:cNvPr id="25" name="TextBox 24"/>
          <p:cNvSpPr txBox="1"/>
          <p:nvPr/>
        </p:nvSpPr>
        <p:spPr>
          <a:xfrm>
            <a:off x="7979512" y="3499294"/>
            <a:ext cx="3425800" cy="1072134"/>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Common, breakaway, runaway, exhaustion</a:t>
            </a:r>
          </a:p>
          <a:p>
            <a:pPr algn="l" marL="182880" indent="-182880">
              <a:lnSpc>
                <a:spcPct val="100000"/>
              </a:lnSpc>
              <a:spcAft>
                <a:spcPts val="405"/>
              </a:spcAft>
              <a:buClr>
                <a:srgbClr val="F5A524"/>
              </a:buClr>
              <a:buFont typeface="Arial"/>
              <a:buChar char="•"/>
            </a:pPr>
            <a:r>
              <a:rPr sz="1350" b="0" i="0">
                <a:solidFill>
                  <a:srgbClr val="18232F"/>
                </a:solidFill>
                <a:latin typeface="Segoe UI"/>
              </a:rPr>
              <a:t>Naam baad mein</a:t>
            </a:r>
          </a:p>
          <a:p>
            <a:pPr algn="l" marL="182880" indent="-182880">
              <a:lnSpc>
                <a:spcPct val="100000"/>
              </a:lnSpc>
              <a:buClr>
                <a:srgbClr val="F5A524"/>
              </a:buClr>
              <a:buFont typeface="Arial"/>
              <a:buChar char="•"/>
            </a:pPr>
            <a:r>
              <a:rPr sz="1350" b="0" i="0">
                <a:solidFill>
                  <a:srgbClr val="18232F"/>
                </a:solidFill>
                <a:latin typeface="Segoe UI"/>
              </a:rPr>
              <a:t>Corporate action check kijiye</a:t>
            </a:r>
          </a:p>
        </p:txBody>
      </p:sp>
      <p:sp>
        <p:nvSpPr>
          <p:cNvPr id="26" name="Rounded Rectangle 25"/>
          <p:cNvSpPr/>
          <p:nvPr/>
        </p:nvSpPr>
        <p:spPr>
          <a:xfrm>
            <a:off x="7833208" y="4736020"/>
            <a:ext cx="3718408" cy="1483614"/>
          </a:xfrm>
          <a:prstGeom prst="roundRect">
            <a:avLst>
              <a:gd name="adj" fmla="val 7395"/>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845748"/>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Aapka mann</a:t>
            </a:r>
          </a:p>
        </p:txBody>
      </p:sp>
      <p:sp>
        <p:nvSpPr>
          <p:cNvPr id="28" name="TextBox 27"/>
          <p:cNvSpPr txBox="1"/>
          <p:nvPr/>
        </p:nvSpPr>
        <p:spPr>
          <a:xfrm>
            <a:off x="7979512" y="5147500"/>
            <a:ext cx="3425800" cy="107213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Level ka moh</a:t>
            </a:r>
          </a:p>
          <a:p>
            <a:pPr algn="l" marL="182880" indent="-182880">
              <a:lnSpc>
                <a:spcPct val="100000"/>
              </a:lnSpc>
              <a:spcAft>
                <a:spcPts val="405"/>
              </a:spcAft>
              <a:buClr>
                <a:srgbClr val="F0554E"/>
              </a:buClr>
              <a:buFont typeface="Arial"/>
              <a:buChar char="•"/>
            </a:pPr>
            <a:r>
              <a:rPr sz="1350" b="0" i="0">
                <a:solidFill>
                  <a:srgbClr val="18232F"/>
                </a:solidFill>
                <a:latin typeface="Segoe UI"/>
              </a:rPr>
              <a:t>Level ek yaad hai</a:t>
            </a:r>
          </a:p>
          <a:p>
            <a:pPr algn="l" marL="182880" indent="-182880">
              <a:lnSpc>
                <a:spcPct val="100000"/>
              </a:lnSpc>
              <a:buClr>
                <a:srgbClr val="F0554E"/>
              </a:buClr>
              <a:buFont typeface="Arial"/>
              <a:buChar char="•"/>
            </a:pPr>
            <a:r>
              <a:rPr sz="1350" b="0" i="0">
                <a:solidFill>
                  <a:srgbClr val="18232F"/>
                </a:solidFill>
                <a:latin typeface="Segoe UI"/>
              </a:rPr>
              <a:t>Gap aur circuit lock stop ko laangh sakte hain</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35 min</a:t>
            </a:r>
          </a:p>
        </p:txBody>
      </p:sp>
      <p:sp>
        <p:nvSpPr>
          <p:cNvPr id="5" name="TextBox 4"/>
          <p:cNvSpPr txBox="1"/>
          <p:nvPr/>
        </p:nvSpPr>
        <p:spPr>
          <a:xfrm>
            <a:off x="457200" y="1335024"/>
            <a:ext cx="11277295" cy="76809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Ek chart ka structure haath se mark kijiye, use Chart marking sheet par likhiye, phir AI se grade karwaiye. Core kaam: NIFTY 50 ka ek chart, lagbhag 35 minute. Optional stretch: is hafte baad mein yahi BANKNIFTY aur NIFTY 50 ke weekly chart par dohraiye, lagbhag 30 minute aur.</a:t>
            </a:r>
          </a:p>
        </p:txBody>
      </p:sp>
      <p:sp>
        <p:nvSpPr>
          <p:cNvPr id="6" name="Rounded Rectangle 5"/>
          <p:cNvSpPr/>
          <p:nvPr/>
        </p:nvSpPr>
        <p:spPr>
          <a:xfrm>
            <a:off x="457200" y="22494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3591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3774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3500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TradingView ka free chart kholiye, NIFTY 50 daily timeframe par, aur lagbhag chhe mahine ki candles dikhaiye.</a:t>
            </a:r>
          </a:p>
        </p:txBody>
      </p:sp>
      <p:sp>
        <p:nvSpPr>
          <p:cNvPr id="10" name="Rounded Rectangle 9"/>
          <p:cNvSpPr/>
          <p:nvPr/>
        </p:nvSpPr>
        <p:spPr>
          <a:xfrm>
            <a:off x="457200" y="302971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3944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1577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3029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Text tool se aakhri chaar swing highs aur chaar swing lows par HH, HL, LH ya LL likhiye; har ek ko usse theek pehle wale swing se compare kijiye. Phone par ho toh use landscape (aada) kar lijiye. Drawing tools mushkil lagein? Screenshot lijiye aur phone ke photo-markup (edit) tool se labels likh dijiye.</a:t>
            </a:r>
          </a:p>
        </p:txBody>
      </p:sp>
      <p:sp>
        <p:nvSpPr>
          <p:cNvPr id="14" name="Rounded Rectangle 13"/>
          <p:cNvSpPr/>
          <p:nvPr/>
        </p:nvSpPr>
        <p:spPr>
          <a:xfrm>
            <a:off x="457200" y="40538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16356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1818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1544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Ek support zone aur ek resistance zone ko un wicks par patti ki tarah mark kijiye jahan price muda tha: TradingView ke rectangle tool se, ya photo-markup tool mein box bana kar.</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35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Ek full gap dhoondhiye (aaj ka low kal ke high se upar, ya aaj ka high kal ke low se neeche) aur uski date aur uske type ka apna andaaza question mark ke saath likhiye, jaise 'breakaway?'. Chhe mahine mein ek bhi na mile, toh 'no full gap' likhiye aur sabse bade opening jump ko mark kar dijiye.</a:t>
            </a:r>
          </a:p>
        </p:txBody>
      </p:sp>
      <p:sp>
        <p:nvSpPr>
          <p:cNvPr id="9" name="Rounded Rectangle 8"/>
          <p:cNvSpPr/>
          <p:nvPr/>
        </p:nvSpPr>
        <p:spPr>
          <a:xfrm>
            <a:off x="457200" y="23591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Har label, dono zones aur gap ko unki date aur price ke saath neeche di Chart marking sheet mein utaariye; Gupta Cement wali rows dikhati hain kaise.</a:t>
            </a:r>
          </a:p>
        </p:txBody>
      </p:sp>
      <p:sp>
        <p:nvSpPr>
          <p:cNvPr id="13" name="Rounded Rectangle 12"/>
          <p:cNvSpPr/>
          <p:nvPr/>
        </p:nvSpPr>
        <p:spPr>
          <a:xfrm>
            <a:off x="457200" y="313944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Aisa screenshot lijiye jismein price scale aur dates dikhein, apna naam aur koi bhi account detail crop kar dijiye, aur AI Lab ka 'Grade my chart marking' prompt chalaiye. Aapki AI chat image na le, toh apni marking sheet paste kar dijiye. Jahan AI aapse alag raay de, wahan kisi bhi baat ko maanne se pehle khud chart dobara dekhiye.</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swing points mark karke trend ka naam bata payenge, support aur resistance ko zone ki tarah bana payenge, close aur volume se breakout ko parakh payenge, context mein paanch candle patterns pehchaan payenge, chaar tarah ke gaps ka naam le payenge, aur toote hue level ko chhodna seekh jayenge.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Chart marking sheet</a:t>
            </a:r>
          </a:p>
        </p:txBody>
      </p:sp>
      <p:sp>
        <p:nvSpPr>
          <p:cNvPr id="4" name="TextBox 3"/>
          <p:cNvSpPr txBox="1"/>
          <p:nvPr/>
        </p:nvSpPr>
        <p:spPr>
          <a:xfrm>
            <a:off x="457200" y="1335024"/>
            <a:ext cx="11277295" cy="463296"/>
          </a:xfrm>
          <a:prstGeom prst="rect">
            <a:avLst/>
          </a:prstGeom>
          <a:noFill/>
        </p:spPr>
        <p:txBody>
          <a:bodyPr wrap="square" lIns="0" rIns="0" tIns="0" bIns="0" anchor="t">
            <a:noAutofit/>
          </a:bodyPr>
          <a:lstStyle/>
          <a:p>
            <a:pPr algn="l">
              <a:lnSpc>
                <a:spcPct val="100000"/>
              </a:lnSpc>
            </a:pPr>
            <a:r>
              <a:rPr sz="1400" b="0" i="1">
                <a:solidFill>
                  <a:srgbClr val="47596B"/>
                </a:solidFill>
                <a:latin typeface="Segoe UI"/>
              </a:rPr>
              <a:t>Model rows: pehle topic wali Gupta Cement ki seedhi, phir aaj ke doosre charts se ek zone aur ek gap (candles left se gini gayi hain). Aapki rows: apne NIFTY 50 chart se chaar swing highs, chaar swing lows, ek support zone, ek resistance zone aur ek gap, dates ke saath.</a:t>
            </a:r>
          </a:p>
        </p:txBody>
      </p:sp>
      <p:sp>
        <p:nvSpPr>
          <p:cNvPr id="5" name="Rounded Rectangle 4"/>
          <p:cNvSpPr/>
          <p:nvPr/>
        </p:nvSpPr>
        <p:spPr>
          <a:xfrm>
            <a:off x="457200" y="1944624"/>
            <a:ext cx="11277295" cy="4328160"/>
          </a:xfrm>
          <a:prstGeom prst="roundRect">
            <a:avLst>
              <a:gd name="adj" fmla="val 253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090928"/>
          <a:ext cx="10911535" cy="4053840"/>
        </p:xfrm>
        <a:graphic>
          <a:graphicData uri="http://schemas.openxmlformats.org/drawingml/2006/table">
            <a:tbl>
              <a:tblPr firstRow="1">
                <a:tableStyleId>{5C22544A-7EE6-4342-B048-85BDC9FD1C3A}</a:tableStyleId>
              </a:tblPr>
              <a:tblGrid>
                <a:gridCol w="4265500"/>
                <a:gridCol w="2352564"/>
                <a:gridCol w="1788786"/>
                <a:gridCol w="2504685"/>
              </a:tblGrid>
              <a:tr h="271272">
                <a:tc>
                  <a:txBody>
                    <a:bodyPr wrap="square"/>
                    <a:lstStyle/>
                    <a:p>
                      <a:pPr algn="l"/>
                      <a:r>
                        <a:rPr sz="1000" b="1" i="0">
                          <a:solidFill>
                            <a:srgbClr val="FFFFFF"/>
                          </a:solidFill>
                          <a:latin typeface="Segoe UI"/>
                        </a:rPr>
                        <a:t>Kya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Candle ya 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Price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Label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62128">
                <a:tc>
                  <a:txBody>
                    <a:bodyPr wrap="square"/>
                    <a:lstStyle/>
                    <a:p>
                      <a:pPr algn="l"/>
                      <a:r>
                        <a:rPr sz="1000" b="0" i="0">
                          <a:solidFill>
                            <a:srgbClr val="18232F"/>
                          </a:solidFill>
                          <a:latin typeface="Segoe UI"/>
                        </a:rPr>
                        <a:t>Swing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398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Swing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Swing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HL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Swing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13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448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HH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Swing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428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HL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Swing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466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HH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Aakhri HL ke neeche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423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Trend par sawaal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Support zone (Sharma Textiles)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4, 13, 21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480-494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3 test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Full gap-up (gap chart)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207-210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breakaway?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5854">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5854">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5854">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5854">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Paanch-pattern ki khoj (15 minute)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NIFTY 50 ke daily chart ka lagbhag chhe mahine ka screenshot lijiye.</a:t>
            </a:r>
          </a:p>
          <a:p>
            <a:pPr algn="l">
              <a:lnSpc>
                <a:spcPct val="100000"/>
              </a:lnSpc>
              <a:spcAft>
                <a:spcPts val="700"/>
              </a:spcAft>
            </a:pPr>
            <a:r>
              <a:rPr sz="2000" b="0" i="0">
                <a:solidFill>
                  <a:srgbClr val="18232F"/>
                </a:solidFill>
                <a:latin typeface="Segoe UI"/>
              </a:rPr>
              <a:t>Phone ke photo-markup tool mein bullish engulfing, bearish engulfing, hammer, shooting star aur inside bar, har ek ki ek misaal par gola banaiye; jo pattern aapke banaye zone ke andar hai uske paas Z likhiye, aur jo range ke beech mein hai uske paas M.</a:t>
            </a:r>
          </a:p>
          <a:p>
            <a:pPr algn="l">
              <a:lnSpc>
                <a:spcPct val="100000"/>
              </a:lnSpc>
              <a:spcAft>
                <a:spcPts val="700"/>
              </a:spcAft>
            </a:pPr>
            <a:r>
              <a:rPr sz="2000" b="0" i="0">
                <a:solidFill>
                  <a:srgbClr val="18232F"/>
                </a:solidFill>
                <a:latin typeface="Segoe UI"/>
              </a:rPr>
              <a:t>Har sahi pattern ka 1 point (key terms se milaiye), aur har imaandaar Z ka 1 point aur.</a:t>
            </a:r>
          </a:p>
          <a:p>
            <a:pPr algn="l">
              <a:lnSpc>
                <a:spcPct val="100000"/>
              </a:lnSpc>
              <a:spcAft>
                <a:spcPts val="700"/>
              </a:spcAft>
            </a:pPr>
            <a:r>
              <a:rPr sz="2000" b="0" i="0">
                <a:solidFill>
                  <a:srgbClr val="18232F"/>
                </a:solidFill>
                <a:latin typeface="Segoe UI"/>
              </a:rPr>
              <a:t>Doston ke saath hon toh screenshots badal kar ek-doosre ke gole check kijiye; akele hon toh agle weekend dobara kijiye aur apna score todne ki koshish kijiye.</a:t>
            </a:r>
          </a:p>
          <a:p>
            <a:pPr algn="l">
              <a:lnSpc>
                <a:spcPct val="100000"/>
              </a:lnSpc>
            </a:pPr>
            <a:r>
              <a:rPr sz="2000" b="0" i="0">
                <a:solidFill>
                  <a:srgbClr val="18232F"/>
                </a:solidFill>
                <a:latin typeface="Segoe UI"/>
              </a:rPr>
              <a:t>Zyadatar log paate hain ki unke sirf ek-do patterns hi kisi zone par hain, aur yahi sabak hai.</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Grade my chart marking: AI check kare, faisla aapka</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Grade my chart marking</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“If I cannot attach an image, I will type my labels with their dates and prices instead. On it I have marked swing highs and swing lows (labelled HH, HL, LH or LL), one support zone and one resistance zone drawn as rectangles, and one gap with my guess of its type.”</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Asli ya fake breakout? Practice round</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“Create 6 practice scenarios for a beginner, using made-up company names only. In each, a stock reaches a support or resistance zone: give the zone (for example Rs 536-548), that day's high, low and close, the day's volume and the 20-day average volume.”</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Level ka moh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5 short questions, one at a time, about how I behave when a price level I trusted breaks: whether I move or remove my stop-loss, whether I buy more at a lower price to 'average down' my cost, what I tell myself, and how long I wait before admitting the level has failed.”</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QUICK QUIZ · SAWAAL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daily chart par kisi stock ke swing points is order mein hain: low Rs 400, high Rs 440, low Rs 418, high Rs 455, low Rs 431, high Rs 470. Is timeframe par trend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keh nahi sakte: trend ke liye das swings chahiye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Downtrend: har uchhaal ke baad giraavat aati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Uptrend: highs aur lows dono upar ja rahe hain</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Sideways: highs aur lows ek hi levels ke aas-paas hain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Kiran Foods ka resistance zone Rs 312-320 hai. Aaj price Rs 327 tak gaya, lekin Rs 314 par close hua, 0.9 lakh shares ke volume par, jabki 20 din ka average 1.2 lakh hai. Sabse samajhdaar reading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Zone ab bekaar hai, kyunki wick paar chali gayi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Shayad fake-out: zone ke upar close nahi, volume kamzor</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Naya uptrend shuru, kyunki zone paar ho gaya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Pakka breakout hai, kyunki price Rs 327 chhoo gaya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QUICK QUIZ · SAWAAL 3/5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Giraavat ke baad Gupta Cement ek tested support zone ke andar yeh candle banata hai: open Rs 430, high Rs 433, low Rs 418, close Rs 432. Yeh kya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Hammer: neeche ki wick body se chhe guna</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Red candle, kyunki pehle Rs 418 tak giri</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Koi pattern nahi, kyunki body sirf Rs 2 hai</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Shooting star: lambi wick aur chhoti body</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Rs 600 par close hota hai. Agli subah 1:1 bonus ki ex-date hai, aur unadjusted chart par yeh lagbhag Rs 300 par khulta hai. Yeh gap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Bonus ka hisaabi gap, asli crash nahi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Exhaustion gap, jo uptrend khatam kar deta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Breakaway gap, jo ghabraahat ki bikri se bana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Common gap, jo kuch dinon mein bhar jayega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QUICK QUIZ · SAWAAL 5/5</a:t>
            </a:r>
          </a:p>
        </p:txBody>
      </p:sp>
      <p:sp>
        <p:nvSpPr>
          <p:cNvPr id="3" name="TextBox 2"/>
          <p:cNvSpPr txBox="1"/>
          <p:nvPr/>
        </p:nvSpPr>
        <p:spPr>
          <a:xfrm>
            <a:off x="457200" y="640080"/>
            <a:ext cx="11277295" cy="1760220"/>
          </a:xfrm>
          <a:prstGeom prst="rect">
            <a:avLst/>
          </a:prstGeom>
          <a:noFill/>
        </p:spPr>
        <p:txBody>
          <a:bodyPr wrap="square" lIns="0" rIns="0" tIns="0" bIns="0" anchor="t">
            <a:noAutofit/>
          </a:bodyPr>
          <a:lstStyle/>
          <a:p>
            <a:pPr algn="l">
              <a:lnSpc>
                <a:spcPct val="100000"/>
              </a:lnSpc>
            </a:pPr>
            <a:r>
              <a:rPr sz="2250" b="1" i="0">
                <a:solidFill>
                  <a:srgbClr val="18232F"/>
                </a:solidFill>
                <a:latin typeface="Segoe UI"/>
              </a:rPr>
              <a:t>Maan lijiye Aman ne khareedne se pehle yeh rule likh liya tha: agar Bharat Pumps apne Rs 498-510 ke support zone ke neeche close ho, toh exit. Yeh Rs 488 par close hota hai, average se lagbhag double volume par, aur Aman kehta hai, 'Teen baar tika hai; kuch din aur de deta hoon.' Aman ka yeh faisla kis cheez ki misaal hai?</a:t>
            </a:r>
          </a:p>
        </p:txBody>
      </p:sp>
      <p:sp>
        <p:nvSpPr>
          <p:cNvPr id="4" name="Rounded Rectangle 3"/>
          <p:cNvSpPr/>
          <p:nvPr/>
        </p:nvSpPr>
        <p:spPr>
          <a:xfrm>
            <a:off x="457200" y="262890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78434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83311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Level ka moh: umeed ne apna likha rule tudwa diya</a:t>
            </a:r>
          </a:p>
        </p:txBody>
      </p:sp>
      <p:sp>
        <p:nvSpPr>
          <p:cNvPr id="7" name="Rounded Rectangle 6"/>
          <p:cNvSpPr/>
          <p:nvPr/>
        </p:nvSpPr>
        <p:spPr>
          <a:xfrm>
            <a:off x="457200" y="347014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62559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67436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Role reversal: zone ab support ka kaam karega</a:t>
            </a:r>
          </a:p>
        </p:txBody>
      </p:sp>
      <p:sp>
        <p:nvSpPr>
          <p:cNvPr id="10" name="Rounded Rectangle 9"/>
          <p:cNvSpPr/>
          <p:nvPr/>
        </p:nvSpPr>
        <p:spPr>
          <a:xfrm>
            <a:off x="457200" y="431139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46684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51561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Sabr: teen baar test hua zone tikega hi</a:t>
            </a:r>
          </a:p>
        </p:txBody>
      </p:sp>
      <p:sp>
        <p:nvSpPr>
          <p:cNvPr id="13" name="Rounded Rectangle 12"/>
          <p:cNvSpPr/>
          <p:nvPr/>
        </p:nvSpPr>
        <p:spPr>
          <a:xfrm>
            <a:off x="457200" y="515264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30809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35686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Discipline: woh apni pehli raay par mazbooti se tika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Trend, zones aur gaps: price ka structure padhna</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Patterns and levels are probabilities, never certainties. No affiliation with any charting site named.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Koi aisi cheez yaad kijiye jise aap tab bhi pakde rahe jab woh saaf taur par kaam karna band kar chuki thi: koi price, koi plan, kisi cricket team se umeedein, kuch bhi. Chhodna mushkil kyun laga? Phir ek line mein woh exit rule likhiye jo aap tab follow karenge jab koi zone close par toot jaaye.</a:t>
            </a:r>
          </a:p>
        </p:txBody>
      </p:sp>
      <p:sp>
        <p:nvSpPr>
          <p:cNvPr id="8" name="Rounded Rectangle 7"/>
          <p:cNvSpPr/>
          <p:nvPr/>
        </p:nvSpPr>
        <p:spPr>
          <a:xfrm>
            <a:off x="6233008" y="1335024"/>
            <a:ext cx="5501488" cy="4008120"/>
          </a:xfrm>
          <a:prstGeom prst="roundRect">
            <a:avLst>
              <a:gd name="adj" fmla="val 3193"/>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683764"/>
            <a:ext cx="4952848" cy="172212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Levels hamari kheenchi lines se nahi, logon ke faislon se bante hain. Unhe zone ki tarah padhna, aur tootne par chhod dena, yahin se trading mein humility shuru hoti hai.</a:t>
            </a:r>
          </a:p>
        </p:txBody>
      </p:sp>
      <p:sp>
        <p:nvSpPr>
          <p:cNvPr id="11" name="Rounded Rectangle 10"/>
          <p:cNvSpPr/>
          <p:nvPr/>
        </p:nvSpPr>
        <p:spPr>
          <a:xfrm>
            <a:off x="457200" y="5489448"/>
            <a:ext cx="5397247"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7 · Week 1 review aur Shortcut Trap #1: tips ka audit</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07</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Market kaise chalta hai, aur price ki bhasha</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Rounded Rectangle 7"/>
          <p:cNvSpPr/>
          <p:nvPr/>
        </p:nvSpPr>
        <p:spPr>
          <a:xfrm>
            <a:off x="1771978" y="5577840"/>
            <a:ext cx="1410123"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Weekly review</a:t>
            </a:r>
          </a:p>
        </p:txBody>
      </p:sp>
      <p:sp>
        <p:nvSpPr>
          <p:cNvPr id="9" name="TextBox 8"/>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10" name="TextBox 9"/>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Week 1 review aur Shortcut Trap #1: tips ka audit</a:t>
            </a:r>
          </a:p>
        </p:txBody>
      </p:sp>
      <p:sp>
        <p:nvSpPr>
          <p:cNvPr id="11" name="Rounded Rectangle 10"/>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2" name="TextBox 11"/>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Week 1 review, tips ka audit, aur scams se khud ko bachana</a:t>
            </a:r>
          </a:p>
        </p:txBody>
      </p:sp>
      <p:sp>
        <p:nvSpPr>
          <p:cNvPr id="13" name="Rounded Rectangle 12"/>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4" name="TextBox 13"/>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20 practice tips ka audit: aap giniye, AI check kare</a:t>
            </a:r>
          </a:p>
        </p:txBody>
      </p:sp>
      <p:sp>
        <p:nvSpPr>
          <p:cNvPr id="15" name="Rounded Rectangle 14"/>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6" name="TextBox 15"/>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Shortcut wali soch</a:t>
            </a:r>
          </a:p>
        </p:txBody>
      </p:sp>
      <p:sp>
        <p:nvSpPr>
          <p:cNvPr id="17" name="TextBox 16"/>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8" name="TextBox 17"/>
          <p:cNvSpPr txBox="1"/>
          <p:nvPr/>
        </p:nvSpPr>
        <p:spPr>
          <a:xfrm>
            <a:off x="4572000" y="4626864"/>
            <a:ext cx="7162495" cy="149961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kisi bhi tip ko Week 1 ke paanch sawaalon se parakh payenge, calls ke ek set ka hit-rate, R aur missing stops ke liye audit kar payenge, fake app aur WhatsApp group ke red flags pehchaan payenge, SEBI registration aur trading app ka publisher check kar payenge, complaint ka raasta bata payenge (pehle grievance desk, phir SCORES ya SMART ODR), aur weekly review likh payenge.</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'80% accuracy, sirf 10 seats bachi hain'</a:t>
            </a:r>
          </a:p>
        </p:txBody>
      </p:sp>
      <p:sp>
        <p:nvSpPr>
          <p:cNvPr id="4" name="Rounded Rectangle 3"/>
          <p:cNvSpPr/>
          <p:nvPr/>
        </p:nvSpPr>
        <p:spPr>
          <a:xfrm>
            <a:off x="457200" y="1426464"/>
            <a:ext cx="3649370" cy="3118104"/>
          </a:xfrm>
          <a:prstGeom prst="roundRect">
            <a:avLst>
              <a:gd name="adj" fmla="val 41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6609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shaam, Week 1 khatam. Class ki video call par Aman ek WhatsApp message share karta hai, jo use aaj subah aaya tha.</a:t>
            </a:r>
          </a:p>
        </p:txBody>
      </p:sp>
      <p:sp>
        <p:nvSpPr>
          <p:cNvPr id="7" name="Rounded Rectangle 6"/>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Pichhle mahine 12 target hit! 80% accuracy! Roz subah sure-shot calls. VIP group sirf Rs 4,999, bas 10 seats bachi hain. Aaj hi join karo, kal se fee double.</a:t>
            </a:r>
          </a:p>
        </p:txBody>
      </p:sp>
      <p:sp>
        <p:nvSpPr>
          <p:cNvPr id="13" name="Rounded Rectangle 12"/>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yeh Day 3 wale 'aath mein se saat' jaisa nahi hai. Poore mahine ka 80% hai. Ek baar Rs 4,999, aur mehnat koi aur kare.</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'80% accuracy, sirf 10 seats bachi hain'</a:t>
            </a:r>
          </a:p>
        </p:txBody>
      </p:sp>
      <p:sp>
        <p:nvSpPr>
          <p:cNvPr id="4" name="Rounded Rectangle 3"/>
          <p:cNvSpPr/>
          <p:nvPr/>
        </p:nvSpPr>
        <p:spPr>
          <a:xfrm>
            <a:off x="457200"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46304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6" name="TextBox 5"/>
          <p:cNvSpPr txBox="1"/>
          <p:nvPr/>
        </p:nvSpPr>
        <p:spPr>
          <a:xfrm>
            <a:off x="1188720" y="157276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7" name="TextBox 6"/>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03120"/>
            <a:ext cx="3393338" cy="1335024"/>
          </a:xfrm>
          <a:prstGeom prst="wedgeRoundRectCallout">
            <a:avLst>
              <a:gd name="adj1" fmla="val -41915"/>
              <a:gd name="adj2" fmla="val -63698"/>
              <a:gd name="adj3" fmla="val 8219"/>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267712"/>
            <a:ext cx="3137306" cy="104241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Lekin 80% kiska? 12 hit aur 80% ka matlab, woh sirf 15 calls gin raha hai. Kya sach mein sirf 15 hi thi?</a:t>
            </a:r>
          </a:p>
        </p:txBody>
      </p:sp>
      <p:sp>
        <p:nvSpPr>
          <p:cNvPr id="10" name="Rounded Rectangle 9"/>
          <p:cNvSpPr/>
          <p:nvPr/>
        </p:nvSpPr>
        <p:spPr>
          <a:xfrm>
            <a:off x="4271162"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03120"/>
            <a:ext cx="3393338" cy="1335024"/>
          </a:xfrm>
          <a:prstGeom prst="wedgeRoundRectCallout">
            <a:avLst>
              <a:gd name="adj1" fmla="val -41915"/>
              <a:gd name="adj2" fmla="val -63698"/>
              <a:gd name="adj3" fmla="val 8219"/>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267712"/>
            <a:ext cx="3137306" cy="104241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Priya, tumhe har cheez ka proof chahiye. Shortcut mein galat kya hai? Jaldi pahunchna toh sab chahte hain.</a:t>
            </a:r>
          </a:p>
        </p:txBody>
      </p:sp>
      <p:sp>
        <p:nvSpPr>
          <p:cNvPr id="16" name="Rounded Rectangle 15"/>
          <p:cNvSpPr/>
          <p:nvPr/>
        </p:nvSpPr>
        <p:spPr>
          <a:xfrm>
            <a:off x="8085125"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03120"/>
            <a:ext cx="3393338" cy="3095244"/>
          </a:xfrm>
          <a:prstGeom prst="wedgeRoundRectCallout">
            <a:avLst>
              <a:gd name="adj1" fmla="val -41915"/>
              <a:gd name="adj2" fmla="val -55908"/>
              <a:gd name="adj3" fmla="val 354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267712"/>
            <a:ext cx="3137306" cy="280263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Aman, jo calls fail hui, woh kahan gayi? Jo scoreboard sirf jeet dikhata hai, woh record nahi, advertisement hai. Maine bilkul isi scoreboard wala ek practice set banaya hai, 15 posts mein 12 'jeet', aur woh paanch posts bhi sambhaal ke rakhi hain jo aisa channel delete kar deta hai. Aaj aap dono saari 20 calls ka audit kijiye, phir faisla kijiye.</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Jo shortcut apne losses chhupata hai, wahi sabse lamba raasta hai. Kisi bhi number par bharosa karne se pehle har call dikhane ko kahiye.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Week 1, paanch sawaalon mein</a:t>
            </a:r>
          </a:p>
        </p:txBody>
      </p:sp>
      <p:sp>
        <p:nvSpPr>
          <p:cNvPr id="4" name="TextBox 3"/>
          <p:cNvSpPr txBox="1"/>
          <p:nvPr/>
        </p:nvSpPr>
        <p:spPr>
          <a:xfrm>
            <a:off x="457200" y="1335024"/>
            <a:ext cx="5519776" cy="147447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Is hafte aapne market ki bhasha seekhi.</a:t>
            </a:r>
          </a:p>
          <a:p>
            <a:pPr algn="l" marL="274320" indent="-274320">
              <a:lnSpc>
                <a:spcPct val="100000"/>
              </a:lnSpc>
              <a:spcAft>
                <a:spcPts val="750"/>
              </a:spcAft>
              <a:buClr>
                <a:srgbClr val="00AEEF"/>
              </a:buClr>
              <a:buFont typeface="Arial"/>
              <a:buChar char="•"/>
            </a:pPr>
            <a:r>
              <a:rPr sz="1500" b="0" i="0">
                <a:solidFill>
                  <a:srgbClr val="18232F"/>
                </a:solidFill>
                <a:latin typeface="Segoe UI"/>
              </a:rPr>
              <a:t>Aaj use us cheez par test kijiye jo beginners ko sabse zyada milti hai.</a:t>
            </a:r>
          </a:p>
          <a:p>
            <a:pPr algn="l" marL="274320" indent="-274320">
              <a:lnSpc>
                <a:spcPct val="100000"/>
              </a:lnSpc>
              <a:spcAft>
                <a:spcPts val="750"/>
              </a:spcAft>
              <a:buClr>
                <a:srgbClr val="00AEEF"/>
              </a:buClr>
              <a:buFont typeface="Arial"/>
              <a:buChar char="•"/>
            </a:pPr>
            <a:r>
              <a:rPr sz="1500" b="0" i="0">
                <a:solidFill>
                  <a:srgbClr val="18232F"/>
                </a:solidFill>
                <a:latin typeface="Segoe UI"/>
              </a:rPr>
              <a:t>Kisi bhi tip se neeche ke paanch sawaal poochhiye.</a:t>
            </a:r>
          </a:p>
          <a:p>
            <a:pPr algn="l" marL="274320" indent="-274320">
              <a:lnSpc>
                <a:spcPct val="100000"/>
              </a:lnSpc>
              <a:buClr>
                <a:srgbClr val="00AEEF"/>
              </a:buClr>
              <a:buFont typeface="Arial"/>
              <a:buChar char="•"/>
            </a:pPr>
            <a:r>
              <a:rPr sz="1500" b="0" i="0">
                <a:solidFill>
                  <a:srgbClr val="18232F"/>
                </a:solidFill>
                <a:latin typeface="Segoe UI"/>
              </a:rPr>
              <a:t>Har sawaal Week 1 ke ek din se aata hai.</a:t>
            </a:r>
          </a:p>
        </p:txBody>
      </p:sp>
      <p:sp>
        <p:nvSpPr>
          <p:cNvPr id="5" name="Rounded Rectangle 4"/>
          <p:cNvSpPr/>
          <p:nvPr/>
        </p:nvSpPr>
        <p:spPr>
          <a:xfrm>
            <a:off x="6214720" y="1335024"/>
            <a:ext cx="5519776" cy="2202180"/>
          </a:xfrm>
          <a:prstGeom prst="roundRect">
            <a:avLst>
              <a:gd name="adj" fmla="val 498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4498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Ek forward aata hai: 'Kiran Foods Ltd, Rs 200 par buy, target Rs 210.' Kisne bheja, aur kya woh SEBI-registered hai? Kya aapka order Rs 200 ke aas-paas fill hoga, aur target tak ke Rs 10 per share mein se charges kitna kha jayenge? Stop kahan hai, aur risk ke muqable reward kitna hai? Ismein Fact kya hai, Guess kya aur Kachra kya, aur kya chart, volume aur paas ka support zone bhi yahi keh rahe hain? Is tip mein stop hai hi nahi, isliye chart kholne se pehle hi yeh teesre sawaal par fail ho gayi.</a:t>
            </a:r>
          </a:p>
        </p:txBody>
      </p:sp>
      <p:sp>
        <p:nvSpPr>
          <p:cNvPr id="8" name="Rounded Rectangle 7"/>
          <p:cNvSpPr/>
          <p:nvPr/>
        </p:nvSpPr>
        <p:spPr>
          <a:xfrm>
            <a:off x="457200" y="3701796"/>
            <a:ext cx="11277295" cy="1912620"/>
          </a:xfrm>
          <a:prstGeom prst="roundRect">
            <a:avLst>
              <a:gd name="adj" fmla="val 573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4810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tip, paanch sawaal</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Koi sawaal kachcha lage, toh Quiz Game 1 se pehle woh din dobara padhiye.</a:t>
            </a:r>
          </a:p>
        </p:txBody>
      </p:sp>
      <p:cxnSp>
        <p:nvCxnSpPr>
          <p:cNvPr id="11" name="Connector 10"/>
          <p:cNvCxnSpPr/>
          <p:nvPr/>
        </p:nvCxnSpPr>
        <p:spPr>
          <a:xfrm>
            <a:off x="1731234" y="433120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66902" y="4166616"/>
            <a:ext cx="728662"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1</a:t>
            </a:r>
          </a:p>
        </p:txBody>
      </p:sp>
      <p:sp>
        <p:nvSpPr>
          <p:cNvPr id="13" name="TextBox 12"/>
          <p:cNvSpPr txBox="1"/>
          <p:nvPr/>
        </p:nvSpPr>
        <p:spPr>
          <a:xfrm>
            <a:off x="713232" y="4623816"/>
            <a:ext cx="2036003" cy="65379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Bhej kaun raha hai?</a:t>
            </a:r>
          </a:p>
          <a:p>
            <a:pPr algn="ctr">
              <a:lnSpc>
                <a:spcPct val="100000"/>
              </a:lnSpc>
            </a:pPr>
            <a:r>
              <a:rPr sz="1150" b="0" i="0">
                <a:solidFill>
                  <a:srgbClr val="47596B"/>
                </a:solidFill>
                <a:latin typeface="Segoe UI"/>
              </a:rPr>
              <a:t>SEBI-registered, ya koi anjaan?</a:t>
            </a:r>
          </a:p>
        </p:txBody>
      </p:sp>
      <p:sp>
        <p:nvSpPr>
          <p:cNvPr id="14" name="Rounded Rectangle 13"/>
          <p:cNvSpPr/>
          <p:nvPr/>
        </p:nvSpPr>
        <p:spPr>
          <a:xfrm>
            <a:off x="3549209" y="4166616"/>
            <a:ext cx="728662"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2</a:t>
            </a:r>
          </a:p>
        </p:txBody>
      </p:sp>
      <p:sp>
        <p:nvSpPr>
          <p:cNvPr id="15" name="TextBox 14"/>
          <p:cNvSpPr txBox="1"/>
          <p:nvPr/>
        </p:nvSpPr>
        <p:spPr>
          <a:xfrm>
            <a:off x="2895539" y="4623816"/>
            <a:ext cx="2036003" cy="65379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Order fill hoga, kitne kharche mein?</a:t>
            </a:r>
          </a:p>
          <a:p>
            <a:pPr algn="ctr">
              <a:lnSpc>
                <a:spcPct val="100000"/>
              </a:lnSpc>
            </a:pPr>
            <a:r>
              <a:rPr sz="1150" b="0" i="0">
                <a:solidFill>
                  <a:srgbClr val="47596B"/>
                </a:solidFill>
                <a:latin typeface="Segoe UI"/>
              </a:rPr>
              <a:t>Order type, spread, charges</a:t>
            </a:r>
          </a:p>
        </p:txBody>
      </p:sp>
      <p:sp>
        <p:nvSpPr>
          <p:cNvPr id="16" name="Rounded Rectangle 15"/>
          <p:cNvSpPr/>
          <p:nvPr/>
        </p:nvSpPr>
        <p:spPr>
          <a:xfrm>
            <a:off x="5731516" y="4166616"/>
            <a:ext cx="728662"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3</a:t>
            </a:r>
          </a:p>
        </p:txBody>
      </p:sp>
      <p:sp>
        <p:nvSpPr>
          <p:cNvPr id="17" name="TextBox 16"/>
          <p:cNvSpPr txBox="1"/>
          <p:nvPr/>
        </p:nvSpPr>
        <p:spPr>
          <a:xfrm>
            <a:off x="5077846" y="4623816"/>
            <a:ext cx="2036003" cy="65379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Kya maths banta hai?</a:t>
            </a:r>
          </a:p>
          <a:p>
            <a:pPr algn="ctr">
              <a:lnSpc>
                <a:spcPct val="100000"/>
              </a:lnSpc>
            </a:pPr>
            <a:r>
              <a:rPr sz="1150" b="0" i="0">
                <a:solidFill>
                  <a:srgbClr val="47596B"/>
                </a:solidFill>
                <a:latin typeface="Segoe UI"/>
              </a:rPr>
              <a:t>Stop, reward vs risk, breakeven</a:t>
            </a:r>
          </a:p>
        </p:txBody>
      </p:sp>
      <p:sp>
        <p:nvSpPr>
          <p:cNvPr id="18" name="Rounded Rectangle 17"/>
          <p:cNvSpPr/>
          <p:nvPr/>
        </p:nvSpPr>
        <p:spPr>
          <a:xfrm>
            <a:off x="7913823" y="4166616"/>
            <a:ext cx="728662"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4</a:t>
            </a:r>
          </a:p>
        </p:txBody>
      </p:sp>
      <p:sp>
        <p:nvSpPr>
          <p:cNvPr id="19" name="TextBox 18"/>
          <p:cNvSpPr txBox="1"/>
          <p:nvPr/>
        </p:nvSpPr>
        <p:spPr>
          <a:xfrm>
            <a:off x="7260153" y="4623816"/>
            <a:ext cx="2036003" cy="65379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Fact, Guess ya Kachra?</a:t>
            </a:r>
          </a:p>
          <a:p>
            <a:pPr algn="ctr">
              <a:lnSpc>
                <a:spcPct val="100000"/>
              </a:lnSpc>
            </a:pPr>
            <a:r>
              <a:rPr sz="1150" b="0" i="0">
                <a:solidFill>
                  <a:srgbClr val="47596B"/>
                </a:solidFill>
                <a:latin typeface="Segoe UI"/>
              </a:rPr>
              <a:t>Bharosa karne se pehle check</a:t>
            </a:r>
          </a:p>
        </p:txBody>
      </p:sp>
      <p:sp>
        <p:nvSpPr>
          <p:cNvPr id="20" name="Rounded Rectangle 19"/>
          <p:cNvSpPr/>
          <p:nvPr/>
        </p:nvSpPr>
        <p:spPr>
          <a:xfrm>
            <a:off x="10096130" y="4166616"/>
            <a:ext cx="728662"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5-6</a:t>
            </a:r>
          </a:p>
        </p:txBody>
      </p:sp>
      <p:sp>
        <p:nvSpPr>
          <p:cNvPr id="21" name="TextBox 20"/>
          <p:cNvSpPr txBox="1"/>
          <p:nvPr/>
        </p:nvSpPr>
        <p:spPr>
          <a:xfrm>
            <a:off x="9442460" y="4623816"/>
            <a:ext cx="2036003" cy="65379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Chart kya keh raha hai?</a:t>
            </a:r>
          </a:p>
          <a:p>
            <a:pPr algn="ctr">
              <a:lnSpc>
                <a:spcPct val="100000"/>
              </a:lnSpc>
            </a:pPr>
            <a:r>
              <a:rPr sz="1150" b="0" i="0">
                <a:solidFill>
                  <a:srgbClr val="47596B"/>
                </a:solidFill>
                <a:latin typeface="Segoe UI"/>
              </a:rPr>
              <a:t>Candles, volume, trend, zones</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Kitna kama sakte hain, yeh poochhne se pehle yeh paanch sawaal poochhiye.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Shortcut Trap #1: woh scoreboard jo losses chhupata hai</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Shortcut wali soch ka matlab hai seekhna skip karke kisi aur ke jawab udhaar le lena, aur tips channels theek yahi khwahish bechte hain.</a:t>
            </a:r>
          </a:p>
          <a:p>
            <a:pPr algn="l" marL="274320" indent="-274320">
              <a:lnSpc>
                <a:spcPct val="100000"/>
              </a:lnSpc>
              <a:spcAft>
                <a:spcPts val="800"/>
              </a:spcAft>
              <a:buClr>
                <a:srgbClr val="00AEEF"/>
              </a:buClr>
              <a:buFont typeface="Arial"/>
              <a:buChar char="•"/>
            </a:pPr>
            <a:r>
              <a:rPr sz="1600" b="0" i="0">
                <a:solidFill>
                  <a:srgbClr val="18232F"/>
                </a:solidFill>
                <a:latin typeface="Segoe UI"/>
              </a:rPr>
              <a:t>Unke scoreboard mein survivorship bias hota hai: aapko sirf woh dikhta hai jo bach gaya, woh sab nahi jo hua.</a:t>
            </a:r>
          </a:p>
          <a:p>
            <a:pPr algn="l" marL="274320" indent="-274320">
              <a:lnSpc>
                <a:spcPct val="100000"/>
              </a:lnSpc>
              <a:spcAft>
                <a:spcPts val="800"/>
              </a:spcAft>
              <a:buClr>
                <a:srgbClr val="00AEEF"/>
              </a:buClr>
              <a:buFont typeface="Arial"/>
              <a:buChar char="•"/>
            </a:pPr>
            <a:r>
              <a:rPr sz="1600" b="0" i="0">
                <a:solidFill>
                  <a:srgbClr val="18232F"/>
                </a:solidFill>
                <a:latin typeface="Segoe UI"/>
              </a:rPr>
              <a:t>(Day 17 mein backtest ke saath yeh phir aayega.</a:t>
            </a:r>
          </a:p>
          <a:p>
            <a:pPr algn="l" marL="274320" indent="-274320">
              <a:lnSpc>
                <a:spcPct val="100000"/>
              </a:lnSpc>
              <a:buClr>
                <a:srgbClr val="00AEEF"/>
              </a:buClr>
              <a:buFont typeface="Arial"/>
              <a:buChar char="•"/>
            </a:pPr>
            <a:r>
              <a:rPr sz="1600" b="0" i="0">
                <a:solidFill>
                  <a:srgbClr val="18232F"/>
                </a:solidFill>
                <a:latin typeface="Segoe UI"/>
              </a:rPr>
              <a:t>Haari hui calls delete ho jaati hain, bina stop wali calls tab tak 'running' chhod di jaati hain jab tak wapas na aa jayein, aur screenshot sirf jeet ka banta hai.</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Coaching centre ki hoarding kehti hai 'Hamare 50 selections! Woh yeh nahi batati ki 5,000 students ne admission liya tha, yaani sirf 1% success. Mentor ka practice set yahi trick copy karta hai. Uske nakli channel ne ek mahine mein 20 calls di aur jin 5 posts ka stop saaf-saaf hit hua tha, unhe delete kar diya. … Jo baad mein juda, usne woh paanch losses kabhi dekhe hi nahi.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Post hui vs dikhayi gayi</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15 dikhne wali posts mein 12 jeet, 80% jaisa lagta hai. Delete hue 5 losses ginti mein aate hi nahi.</a:t>
            </a:r>
          </a:p>
        </p:txBody>
      </p:sp>
      <p:sp>
        <p:nvSpPr>
          <p:cNvPr id="11" name="TextBox 10"/>
          <p:cNvSpPr txBox="1"/>
          <p:nvPr/>
        </p:nvSpPr>
        <p:spPr>
          <a:xfrm>
            <a:off x="6397600" y="2119122"/>
            <a:ext cx="140614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Kul calls</a:t>
            </a:r>
          </a:p>
        </p:txBody>
      </p:sp>
      <p:sp>
        <p:nvSpPr>
          <p:cNvPr id="12" name="Rounded Rectangle 11"/>
          <p:cNvSpPr/>
          <p:nvPr/>
        </p:nvSpPr>
        <p:spPr>
          <a:xfrm>
            <a:off x="7913476" y="2292858"/>
            <a:ext cx="3225085"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913476" y="2292858"/>
            <a:ext cx="3225085"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230001" y="2119122"/>
            <a:ext cx="349046" cy="658368"/>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20</a:t>
            </a:r>
          </a:p>
        </p:txBody>
      </p:sp>
      <p:sp>
        <p:nvSpPr>
          <p:cNvPr id="15" name="TextBox 14"/>
          <p:cNvSpPr txBox="1"/>
          <p:nvPr/>
        </p:nvSpPr>
        <p:spPr>
          <a:xfrm>
            <a:off x="6397600" y="2777490"/>
            <a:ext cx="140614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Feed mein bachi</a:t>
            </a:r>
          </a:p>
        </p:txBody>
      </p:sp>
      <p:sp>
        <p:nvSpPr>
          <p:cNvPr id="16" name="Rounded Rectangle 15"/>
          <p:cNvSpPr/>
          <p:nvPr/>
        </p:nvSpPr>
        <p:spPr>
          <a:xfrm>
            <a:off x="7913476" y="2951226"/>
            <a:ext cx="3225085"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913476" y="2951226"/>
            <a:ext cx="2418814" cy="310896"/>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230001" y="2777490"/>
            <a:ext cx="349046" cy="658368"/>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15</a:t>
            </a:r>
          </a:p>
        </p:txBody>
      </p:sp>
      <p:sp>
        <p:nvSpPr>
          <p:cNvPr id="19" name="TextBox 18"/>
          <p:cNvSpPr txBox="1"/>
          <p:nvPr/>
        </p:nvSpPr>
        <p:spPr>
          <a:xfrm>
            <a:off x="6397600" y="3435858"/>
            <a:ext cx="140614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Jeet dikhayi</a:t>
            </a:r>
          </a:p>
        </p:txBody>
      </p:sp>
      <p:sp>
        <p:nvSpPr>
          <p:cNvPr id="20" name="Rounded Rectangle 19"/>
          <p:cNvSpPr/>
          <p:nvPr/>
        </p:nvSpPr>
        <p:spPr>
          <a:xfrm>
            <a:off x="7913476" y="3609594"/>
            <a:ext cx="3225085"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913476" y="3609594"/>
            <a:ext cx="1935051"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230001" y="3435858"/>
            <a:ext cx="349046"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12</a:t>
            </a:r>
          </a:p>
        </p:txBody>
      </p:sp>
      <p:sp>
        <p:nvSpPr>
          <p:cNvPr id="23" name="TextBox 22"/>
          <p:cNvSpPr txBox="1"/>
          <p:nvPr/>
        </p:nvSpPr>
        <p:spPr>
          <a:xfrm>
            <a:off x="6397600" y="4094226"/>
            <a:ext cx="140614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Delete hue loss</a:t>
            </a:r>
          </a:p>
        </p:txBody>
      </p:sp>
      <p:sp>
        <p:nvSpPr>
          <p:cNvPr id="24" name="Rounded Rectangle 23"/>
          <p:cNvSpPr/>
          <p:nvPr/>
        </p:nvSpPr>
        <p:spPr>
          <a:xfrm>
            <a:off x="7913476" y="4267962"/>
            <a:ext cx="3225085"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913476" y="4267962"/>
            <a:ext cx="806271"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230001" y="4094226"/>
            <a:ext cx="349046"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5</a:t>
            </a:r>
          </a:p>
        </p:txBody>
      </p:sp>
      <p:sp>
        <p:nvSpPr>
          <p:cNvPr id="27" name="Rounded Rectangle 2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9" name="TextBox 28"/>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Jab tak har call aur uska stop na dikhe, accuracy ka number kisi kaam ka nahi.</a:t>
            </a:r>
          </a:p>
        </p:txBody>
      </p:sp>
      <p:pic>
        <p:nvPicPr>
          <p:cNvPr id="30" name="Picture 29" descr="logo.png"/>
          <p:cNvPicPr>
            <a:picLocks noChangeAspect="1"/>
          </p:cNvPicPr>
          <p:nvPr/>
        </p:nvPicPr>
        <p:blipFill>
          <a:blip r:embed="rId2"/>
          <a:stretch>
            <a:fillRect/>
          </a:stretch>
        </p:blipFill>
        <p:spPr>
          <a:xfrm>
            <a:off x="457200" y="6437376"/>
            <a:ext cx="237744" cy="237744"/>
          </a:xfrm>
          <a:prstGeom prst="rect">
            <a:avLst/>
          </a:prstGeom>
        </p:spPr>
      </p:pic>
      <p:sp>
        <p:nvSpPr>
          <p:cNvPr id="3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2" name="TextBox 3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Audit: chaar fields, do rules</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Audit ka matlab hai summary par bharosa karne ke bajaye har record khud check karna.</a:t>
            </a:r>
          </a:p>
          <a:p>
            <a:pPr algn="l" marL="274320" indent="-274320">
              <a:lnSpc>
                <a:spcPct val="100000"/>
              </a:lnSpc>
              <a:spcAft>
                <a:spcPts val="800"/>
              </a:spcAft>
              <a:buClr>
                <a:srgbClr val="00AEEF"/>
              </a:buClr>
              <a:buFont typeface="Arial"/>
              <a:buChar char="•"/>
            </a:pPr>
            <a:r>
              <a:rPr sz="1600" b="0" i="0">
                <a:solidFill>
                  <a:srgbClr val="18232F"/>
                </a:solidFill>
                <a:latin typeface="Segoe UI"/>
              </a:rPr>
              <a:t>Har call ke liye chaar cheezein likhiye: entry, stop-loss, target aur result.</a:t>
            </a:r>
          </a:p>
          <a:p>
            <a:pPr algn="l" marL="274320" indent="-274320">
              <a:lnSpc>
                <a:spcPct val="100000"/>
              </a:lnSpc>
              <a:spcAft>
                <a:spcPts val="800"/>
              </a:spcAft>
              <a:buClr>
                <a:srgbClr val="00AEEF"/>
              </a:buClr>
              <a:buFont typeface="Arial"/>
              <a:buChar char="•"/>
            </a:pPr>
            <a:r>
              <a:rPr sz="1600" b="0" i="0">
                <a:solidFill>
                  <a:srgbClr val="18232F"/>
                </a:solidFill>
                <a:latin typeface="Segoe UI"/>
              </a:rPr>
              <a:t>Aisi calls alag giniye, yeh bhi audit ki ek finding hai.</a:t>
            </a:r>
          </a:p>
          <a:p>
            <a:pPr algn="l" marL="274320" indent="-274320">
              <a:lnSpc>
                <a:spcPct val="100000"/>
              </a:lnSpc>
              <a:buClr>
                <a:srgbClr val="00AEEF"/>
              </a:buClr>
              <a:buFont typeface="Arial"/>
              <a:buChar char="•"/>
            </a:pPr>
            <a:r>
              <a:rPr sz="1600" b="0" i="0">
                <a:solidFill>
                  <a:srgbClr val="18232F"/>
                </a:solidFill>
                <a:latin typeface="Segoe UI"/>
              </a:rPr>
              <a:t>Sakht rules aapko channel ke favour mein audit karne se rokte hain.</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Practice set ki call G: entry Rs 760, stop Rs 684, target Rs 798. Risk Rs 76 hai aur reward Rs 38, isliye target hit hone par +0.5R milta hai aur stop hit hone par -1R jaata hai. Tip ke teen din baad ek lambi daily candle ne Rs 800 ka high aur Rs 680 ka low bana diya. Channel ne ise 'target hit' bata kar post kar diya. Aapka audit -1R likhta hai, kyunki koi saabit nahi kar sakta ki target pehle aaya tha.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Call G: ek din mein dono touch</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Daily candle high aur low dikhati hai, yeh nahi ki pehle kya aaya. Sakht audit stop ginta hai.</a:t>
            </a:r>
          </a:p>
        </p:txBody>
      </p:sp>
      <p:cxnSp>
        <p:nvCxnSpPr>
          <p:cNvPr id="12" name="Connector 11"/>
          <p:cNvCxnSpPr/>
          <p:nvPr/>
        </p:nvCxnSpPr>
        <p:spPr>
          <a:xfrm>
            <a:off x="6812159" y="4681728"/>
            <a:ext cx="41886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670.4</a:t>
            </a:r>
          </a:p>
        </p:txBody>
      </p:sp>
      <p:cxnSp>
        <p:nvCxnSpPr>
          <p:cNvPr id="14" name="Connector 13"/>
          <p:cNvCxnSpPr/>
          <p:nvPr/>
        </p:nvCxnSpPr>
        <p:spPr>
          <a:xfrm>
            <a:off x="6812159" y="3851148"/>
            <a:ext cx="41886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7688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716.8</a:t>
            </a:r>
          </a:p>
        </p:txBody>
      </p:sp>
      <p:cxnSp>
        <p:nvCxnSpPr>
          <p:cNvPr id="16" name="Connector 15"/>
          <p:cNvCxnSpPr/>
          <p:nvPr/>
        </p:nvCxnSpPr>
        <p:spPr>
          <a:xfrm>
            <a:off x="6812159" y="3020568"/>
            <a:ext cx="41886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3827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763.2</a:t>
            </a:r>
          </a:p>
        </p:txBody>
      </p:sp>
      <p:cxnSp>
        <p:nvCxnSpPr>
          <p:cNvPr id="18" name="Connector 17"/>
          <p:cNvCxnSpPr/>
          <p:nvPr/>
        </p:nvCxnSpPr>
        <p:spPr>
          <a:xfrm>
            <a:off x="6812159" y="2189988"/>
            <a:ext cx="41886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809.6</a:t>
            </a:r>
          </a:p>
        </p:txBody>
      </p:sp>
      <p:cxnSp>
        <p:nvCxnSpPr>
          <p:cNvPr id="20" name="Connector 19"/>
          <p:cNvCxnSpPr/>
          <p:nvPr/>
        </p:nvCxnSpPr>
        <p:spPr>
          <a:xfrm>
            <a:off x="6812159" y="2397633"/>
            <a:ext cx="4225224"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1073959" y="2306193"/>
            <a:ext cx="477656"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Target</a:t>
            </a:r>
          </a:p>
        </p:txBody>
      </p:sp>
      <p:cxnSp>
        <p:nvCxnSpPr>
          <p:cNvPr id="22" name="Connector 21"/>
          <p:cNvCxnSpPr/>
          <p:nvPr/>
        </p:nvCxnSpPr>
        <p:spPr>
          <a:xfrm>
            <a:off x="6812159" y="3077849"/>
            <a:ext cx="4225224" cy="0"/>
          </a:xfrm>
          <a:prstGeom prst="line">
            <a:avLst/>
          </a:prstGeom>
          <a:ln w="19050">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073959" y="2986409"/>
            <a:ext cx="477656" cy="182880"/>
          </a:xfrm>
          <a:prstGeom prst="rect">
            <a:avLst/>
          </a:prstGeom>
          <a:noFill/>
        </p:spPr>
        <p:txBody>
          <a:bodyPr wrap="square" lIns="0" rIns="0" tIns="0" bIns="0" anchor="ctr">
            <a:noAutofit/>
          </a:bodyPr>
          <a:lstStyle/>
          <a:p>
            <a:pPr algn="l">
              <a:lnSpc>
                <a:spcPct val="100000"/>
              </a:lnSpc>
            </a:pPr>
            <a:r>
              <a:rPr sz="1000" b="1" i="0">
                <a:solidFill>
                  <a:srgbClr val="47596B"/>
                </a:solidFill>
                <a:latin typeface="Segoe UI"/>
              </a:rPr>
              <a:t>Entry</a:t>
            </a:r>
          </a:p>
        </p:txBody>
      </p:sp>
      <p:cxnSp>
        <p:nvCxnSpPr>
          <p:cNvPr id="24" name="Connector 23"/>
          <p:cNvCxnSpPr/>
          <p:nvPr/>
        </p:nvCxnSpPr>
        <p:spPr>
          <a:xfrm>
            <a:off x="6812159" y="4438282"/>
            <a:ext cx="4225224"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073959" y="4346842"/>
            <a:ext cx="477656"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a:t>
            </a:r>
          </a:p>
        </p:txBody>
      </p:sp>
      <p:cxnSp>
        <p:nvCxnSpPr>
          <p:cNvPr id="26" name="Connector 25"/>
          <p:cNvCxnSpPr/>
          <p:nvPr/>
        </p:nvCxnSpPr>
        <p:spPr>
          <a:xfrm>
            <a:off x="7161213" y="3221053"/>
            <a:ext cx="0" cy="25060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024053" y="3292655"/>
            <a:ext cx="274320" cy="10740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859321" y="3113650"/>
            <a:ext cx="0" cy="25060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722161" y="3167352"/>
            <a:ext cx="274320" cy="12530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8557429" y="3006248"/>
            <a:ext cx="0" cy="25060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420269" y="3077849"/>
            <a:ext cx="274320" cy="8950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9255537" y="2863044"/>
            <a:ext cx="0" cy="28640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9118377" y="2934646"/>
            <a:ext cx="274320" cy="14320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9953645" y="2719841"/>
            <a:ext cx="0" cy="30430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816485" y="2791442"/>
            <a:ext cx="274320" cy="14320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10651753" y="2361832"/>
            <a:ext cx="0" cy="214805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514593" y="2827243"/>
            <a:ext cx="274320" cy="150363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Isosceles Triangle 37"/>
          <p:cNvSpPr/>
          <p:nvPr/>
        </p:nvSpPr>
        <p:spPr>
          <a:xfrm>
            <a:off x="8502565" y="3302574"/>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TextBox 38"/>
          <p:cNvSpPr txBox="1"/>
          <p:nvPr/>
        </p:nvSpPr>
        <p:spPr>
          <a:xfrm>
            <a:off x="8297644" y="3412302"/>
            <a:ext cx="519571"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Tip aayi</a:t>
            </a:r>
          </a:p>
        </p:txBody>
      </p:sp>
      <p:sp>
        <p:nvSpPr>
          <p:cNvPr id="40" name="Isosceles Triangle 39"/>
          <p:cNvSpPr/>
          <p:nvPr/>
        </p:nvSpPr>
        <p:spPr>
          <a:xfrm rot="10800000">
            <a:off x="10596889" y="2224672"/>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TextBox 40"/>
          <p:cNvSpPr txBox="1"/>
          <p:nvPr/>
        </p:nvSpPr>
        <p:spPr>
          <a:xfrm>
            <a:off x="10270237" y="2014360"/>
            <a:ext cx="763032"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Dono touch</a:t>
            </a:r>
          </a:p>
        </p:txBody>
      </p:sp>
      <p:sp>
        <p:nvSpPr>
          <p:cNvPr id="42" name="Rounded Rectangle 4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ounded Rectangle 4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44" name="TextBox 4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Stop nahi, toh R nahi. Ek candle par target aur stop dono? Stop giniye.</a:t>
            </a:r>
          </a:p>
        </p:txBody>
      </p:sp>
      <p:pic>
        <p:nvPicPr>
          <p:cNvPr id="45" name="Picture 44" descr="logo.png"/>
          <p:cNvPicPr>
            <a:picLocks noChangeAspect="1"/>
          </p:cNvPicPr>
          <p:nvPr/>
        </p:nvPicPr>
        <p:blipFill>
          <a:blip r:embed="rId2"/>
          <a:stretch>
            <a:fillRect/>
          </a:stretch>
        </p:blipFill>
        <p:spPr>
          <a:xfrm>
            <a:off x="457200" y="6437376"/>
            <a:ext cx="237744" cy="237744"/>
          </a:xfrm>
          <a:prstGeom prst="rect">
            <a:avLst/>
          </a:prstGeom>
        </p:spPr>
      </p:pic>
      <p:sp>
        <p:nvSpPr>
          <p:cNvPr id="4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7" name="TextBox 4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Result: dikhaya 80%, asli 60%, aur phir bhi ghaata</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Dono rules saari 20 practice calls par lagaiye (poora set aaj ke kaam mein 'Aapka template' ke neeche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Khud ko test karna ho toh pehle task kar lijiye).</a:t>
            </a:r>
          </a:p>
          <a:p>
            <a:pPr algn="l" marL="274320" indent="-274320">
              <a:lnSpc>
                <a:spcPct val="100000"/>
              </a:lnSpc>
              <a:spcAft>
                <a:spcPts val="800"/>
              </a:spcAft>
              <a:buClr>
                <a:srgbClr val="00AEEF"/>
              </a:buClr>
              <a:buFont typeface="Arial"/>
              <a:buChar char="•"/>
            </a:pPr>
            <a:r>
              <a:rPr sz="1600" b="0" i="0">
                <a:solidFill>
                  <a:srgbClr val="18232F"/>
                </a:solidFill>
                <a:latin typeface="Segoe UI"/>
              </a:rPr>
              <a:t>Paanch calls mein stop tha hi nahi, yaani channel ki 25% calls naapi hi nahi ja sakti.</a:t>
            </a:r>
          </a:p>
          <a:p>
            <a:pPr algn="l" marL="274320" indent="-274320">
              <a:lnSpc>
                <a:spcPct val="100000"/>
              </a:lnSpc>
              <a:buClr>
                <a:srgbClr val="00AEEF"/>
              </a:buClr>
              <a:buFont typeface="Arial"/>
              <a:buChar char="•"/>
            </a:pPr>
            <a:r>
              <a:rPr sz="1600" b="0" i="0">
                <a:solidFill>
                  <a:srgbClr val="18232F"/>
                </a:solidFill>
                <a:latin typeface="Segoe UI"/>
              </a:rPr>
              <a:t>Bachi 15 measurable calls mein se 9 ne target hit kiya aur 6 ka stop hit hua: hit-rate 60%, 80% nahi.</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Channel ki 12 'jeet' mein se teen hat jaati hain: 'dono touch' wala din, aur do calls jinhone target toh chhua, lekin unmein stop kabhi tha hi nahi. Ab ise rupees mein giniye. Agar har call mein 1R = Rs 10,000 ka risk hota (Rs 10 lakh challenge capital ka 1%), toh 9 jeet se Rs 45,000 aate aur 6 haar se Rs 60,000 chale jaate: charges se pehle hi Rs 15,000 ka net loss. Aur bina stop wali paanch calls mein se do ne target chhua, ek toh pehle 25% girne ke baad; baaki teen abhi bhi 14% se 26% neeche hain.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Audit, R mein</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Rs 10,000 per R par yeh 15 calls mein -Rs 15,000 hai, charges se pehle. Breakeven ke liye lagbhag 67% jeet chahiye thi; audit mein 60% nikli.</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401999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9 target hit x 0.5R</a:t>
            </a:r>
          </a:p>
        </p:txBody>
      </p:sp>
      <p:sp>
        <p:nvSpPr>
          <p:cNvPr id="13" name="TextBox 12"/>
          <p:cNvSpPr txBox="1"/>
          <p:nvPr/>
        </p:nvSpPr>
        <p:spPr>
          <a:xfrm>
            <a:off x="10783351" y="1899666"/>
            <a:ext cx="69511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+4.5R</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503170"/>
            <a:ext cx="401999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6 stop hit x 1R</a:t>
            </a:r>
          </a:p>
        </p:txBody>
      </p:sp>
      <p:sp>
        <p:nvSpPr>
          <p:cNvPr id="17" name="TextBox 16"/>
          <p:cNvSpPr txBox="1"/>
          <p:nvPr/>
        </p:nvSpPr>
        <p:spPr>
          <a:xfrm>
            <a:off x="10783351" y="2503170"/>
            <a:ext cx="69511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6.0R</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401999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15 calls ka net</a:t>
            </a:r>
          </a:p>
        </p:txBody>
      </p:sp>
      <p:sp>
        <p:nvSpPr>
          <p:cNvPr id="21" name="TextBox 20"/>
          <p:cNvSpPr txBox="1"/>
          <p:nvPr/>
        </p:nvSpPr>
        <p:spPr>
          <a:xfrm>
            <a:off x="10783351" y="3106674"/>
            <a:ext cx="69511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-1.5R</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401999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Measurable calls</a:t>
            </a:r>
          </a:p>
        </p:txBody>
      </p:sp>
      <p:sp>
        <p:nvSpPr>
          <p:cNvPr id="25" name="TextBox 24"/>
          <p:cNvSpPr txBox="1"/>
          <p:nvPr/>
        </p:nvSpPr>
        <p:spPr>
          <a:xfrm>
            <a:off x="10783351" y="3710178"/>
            <a:ext cx="69511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15</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4019991"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Har call ka average</a:t>
            </a:r>
          </a:p>
        </p:txBody>
      </p:sp>
      <p:sp>
        <p:nvSpPr>
          <p:cNvPr id="29" name="TextBox 28"/>
          <p:cNvSpPr txBox="1"/>
          <p:nvPr/>
        </p:nvSpPr>
        <p:spPr>
          <a:xfrm>
            <a:off x="10783351" y="4368546"/>
            <a:ext cx="695112"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-0.1R</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2" name="TextBox 3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Payoff ke bina hit-rate aadha number hai. Dono maangiye, aur har call ke liye.</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Red flags: fake apps aur WhatsApp 'investment groups'</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Bade jaal ki shuruaat aksar ek tip se hoti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App mein profit tezi se badhta dikhta hai, lekin withdraw karne jaiye toh pehle 'fee' ya 'tax' bharne ko kaha jaata hai.</a:t>
            </a:r>
          </a:p>
          <a:p>
            <a:pPr algn="l" marL="274320" indent="-274320">
              <a:lnSpc>
                <a:spcPct val="100000"/>
              </a:lnSpc>
              <a:spcAft>
                <a:spcPts val="800"/>
              </a:spcAft>
              <a:buClr>
                <a:srgbClr val="00AEEF"/>
              </a:buClr>
              <a:buFont typeface="Arial"/>
              <a:buChar char="•"/>
            </a:pPr>
            <a:r>
              <a:rPr sz="1600" b="0" i="0">
                <a:solidFill>
                  <a:srgbClr val="18232F"/>
                </a:solidFill>
                <a:latin typeface="Segoe UI"/>
              </a:rPr>
              <a:t>Fake apps aksar kisi asli broker ka naam aur logo copy karte hain, isliye koi bhi trading app install karne se pehle check kijiye.</a:t>
            </a:r>
          </a:p>
          <a:p>
            <a:pPr algn="l" marL="274320" indent="-274320">
              <a:lnSpc>
                <a:spcPct val="100000"/>
              </a:lnSpc>
              <a:buClr>
                <a:srgbClr val="00AEEF"/>
              </a:buClr>
              <a:buFont typeface="Arial"/>
              <a:buChar char="•"/>
            </a:pPr>
            <a:r>
              <a:rPr sz="1600" b="0" i="0">
                <a:solidFill>
                  <a:srgbClr val="18232F"/>
                </a:solidFill>
                <a:latin typeface="Segoe UI"/>
              </a:rPr>
              <a:t>Broker ki apni website ko bhi usi listing ka link dena chahiye.</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ke ek colleague ko aise hi group mein add kiya gaya, aur usne Rs 50,000 ek aadmi ke naam wale bank account mein bhej diye. Do hafte baad app Rs 1,80,000 dikhane laga. … Registered broker paisa sirf aapke apne bank account se, broker ke naam wale account mein leta hai (UPI se ho toh sirf aisi ID par jismein '@valid' ho), aur aapka apna paisa lautane ke liye pehle se koi 'fee' ya 'tax' nahi maangta.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Scam pattern vs registered broker</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Left column ki koi ek baat bhi rukne ke liye kaafi hai.</a:t>
            </a:r>
          </a:p>
        </p:txBody>
      </p:sp>
      <p:sp>
        <p:nvSpPr>
          <p:cNvPr id="11" name="Rounded Rectangle 10"/>
          <p:cNvSpPr/>
          <p:nvPr/>
        </p:nvSpPr>
        <p:spPr>
          <a:xfrm>
            <a:off x="6397600" y="1844040"/>
            <a:ext cx="2494712" cy="334365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844040"/>
            <a:ext cx="2494712" cy="440436"/>
          </a:xfrm>
          <a:prstGeom prst="roundRect">
            <a:avLst>
              <a:gd name="adj" fmla="val 20761"/>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064258"/>
            <a:ext cx="2494712" cy="22021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844040"/>
            <a:ext cx="2494712" cy="334365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844040"/>
            <a:ext cx="2202104" cy="440436"/>
          </a:xfrm>
          <a:prstGeom prst="rect">
            <a:avLst/>
          </a:prstGeom>
          <a:noFill/>
        </p:spPr>
        <p:txBody>
          <a:bodyPr wrap="square" lIns="0" rIns="0" tIns="0" bIns="0" anchor="ctr">
            <a:noAutofit/>
          </a:bodyPr>
          <a:lstStyle/>
          <a:p>
            <a:pPr algn="l">
              <a:lnSpc>
                <a:spcPct val="100000"/>
              </a:lnSpc>
            </a:pPr>
            <a:r>
              <a:rPr sz="1450" b="1" i="0">
                <a:solidFill>
                  <a:srgbClr val="991B1B"/>
                </a:solidFill>
                <a:latin typeface="Segoe UI"/>
              </a:rPr>
              <a:t>Scam pattern</a:t>
            </a:r>
          </a:p>
        </p:txBody>
      </p:sp>
      <p:cxnSp>
        <p:nvCxnSpPr>
          <p:cNvPr id="16" name="Connector 15"/>
          <p:cNvCxnSpPr/>
          <p:nvPr/>
        </p:nvCxnSpPr>
        <p:spPr>
          <a:xfrm>
            <a:off x="6397600" y="2284476"/>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430780"/>
            <a:ext cx="2202104" cy="2720340"/>
          </a:xfrm>
          <a:prstGeom prst="rect">
            <a:avLst/>
          </a:prstGeom>
          <a:noFill/>
        </p:spPr>
        <p:txBody>
          <a:bodyPr wrap="square" lIns="0" rIns="0" tIns="0" bIns="0" anchor="t">
            <a:noAutofit/>
          </a:bodyPr>
          <a:lstStyle/>
          <a:p>
            <a:pPr algn="l" marL="201168" indent="-201168">
              <a:lnSpc>
                <a:spcPct val="100000"/>
              </a:lnSpc>
              <a:spcAft>
                <a:spcPts val="675"/>
              </a:spcAft>
              <a:buClr>
                <a:srgbClr val="F0554E"/>
              </a:buClr>
              <a:buFont typeface="Arial"/>
              <a:buChar char="•"/>
            </a:pPr>
            <a:r>
              <a:rPr sz="1350" b="0" i="0">
                <a:solidFill>
                  <a:srgbClr val="18232F"/>
                </a:solidFill>
                <a:latin typeface="Segoe UI"/>
              </a:rPr>
              <a:t>Anjaan aapko group mein add karta hai</a:t>
            </a:r>
          </a:p>
          <a:p>
            <a:pPr algn="l" marL="201168" indent="-201168">
              <a:lnSpc>
                <a:spcPct val="100000"/>
              </a:lnSpc>
              <a:spcAft>
                <a:spcPts val="675"/>
              </a:spcAft>
              <a:buClr>
                <a:srgbClr val="F0554E"/>
              </a:buClr>
              <a:buFont typeface="Arial"/>
              <a:buChar char="•"/>
            </a:pPr>
            <a:r>
              <a:rPr sz="1350" b="0" i="0">
                <a:solidFill>
                  <a:srgbClr val="18232F"/>
                </a:solidFill>
                <a:latin typeface="Segoe UI"/>
              </a:rPr>
              <a:t>App link ya APK file se bheja gaya</a:t>
            </a:r>
          </a:p>
          <a:p>
            <a:pPr algn="l" marL="201168" indent="-201168">
              <a:lnSpc>
                <a:spcPct val="100000"/>
              </a:lnSpc>
              <a:spcAft>
                <a:spcPts val="675"/>
              </a:spcAft>
              <a:buClr>
                <a:srgbClr val="F0554E"/>
              </a:buClr>
              <a:buFont typeface="Arial"/>
              <a:buChar char="•"/>
            </a:pPr>
            <a:r>
              <a:rPr sz="1350" b="0" i="0">
                <a:solidFill>
                  <a:srgbClr val="18232F"/>
                </a:solidFill>
                <a:latin typeface="Segoe UI"/>
              </a:rPr>
              <a:t>Paisa kisi aadmi ke account mein</a:t>
            </a:r>
          </a:p>
          <a:p>
            <a:pPr algn="l" marL="201168" indent="-201168">
              <a:lnSpc>
                <a:spcPct val="100000"/>
              </a:lnSpc>
              <a:spcAft>
                <a:spcPts val="675"/>
              </a:spcAft>
              <a:buClr>
                <a:srgbClr val="F0554E"/>
              </a:buClr>
              <a:buFont typeface="Arial"/>
              <a:buChar char="•"/>
            </a:pPr>
            <a:r>
              <a:rPr sz="1350" b="0" i="0">
                <a:solidFill>
                  <a:srgbClr val="18232F"/>
                </a:solidFill>
                <a:latin typeface="Segoe UI"/>
              </a:rPr>
              <a:t>Nikalne se pehle fee ki maang</a:t>
            </a:r>
          </a:p>
          <a:p>
            <a:pPr algn="l" marL="201168" indent="-201168">
              <a:lnSpc>
                <a:spcPct val="100000"/>
              </a:lnSpc>
              <a:buClr>
                <a:srgbClr val="F0554E"/>
              </a:buClr>
              <a:buFont typeface="Arial"/>
              <a:buChar char="•"/>
            </a:pPr>
            <a:r>
              <a:rPr sz="1350" b="0" i="0">
                <a:solidFill>
                  <a:srgbClr val="18232F"/>
                </a:solidFill>
                <a:latin typeface="Segoe UI"/>
              </a:rPr>
              <a:t>UPI kisi personal ID par</a:t>
            </a:r>
          </a:p>
        </p:txBody>
      </p:sp>
      <p:sp>
        <p:nvSpPr>
          <p:cNvPr id="18" name="Rounded Rectangle 17"/>
          <p:cNvSpPr/>
          <p:nvPr/>
        </p:nvSpPr>
        <p:spPr>
          <a:xfrm>
            <a:off x="9056903" y="1844040"/>
            <a:ext cx="2494712" cy="334365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844040"/>
            <a:ext cx="2494712" cy="440436"/>
          </a:xfrm>
          <a:prstGeom prst="roundRect">
            <a:avLst>
              <a:gd name="adj" fmla="val 20761"/>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064258"/>
            <a:ext cx="2494712" cy="22021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844040"/>
            <a:ext cx="2494712" cy="334365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844040"/>
            <a:ext cx="2202104" cy="440436"/>
          </a:xfrm>
          <a:prstGeom prst="rect">
            <a:avLst/>
          </a:prstGeom>
          <a:noFill/>
        </p:spPr>
        <p:txBody>
          <a:bodyPr wrap="square" lIns="0" rIns="0" tIns="0" bIns="0" anchor="ctr">
            <a:noAutofit/>
          </a:bodyPr>
          <a:lstStyle/>
          <a:p>
            <a:pPr algn="l">
              <a:lnSpc>
                <a:spcPct val="100000"/>
              </a:lnSpc>
            </a:pPr>
            <a:r>
              <a:rPr sz="1450" b="1" i="0">
                <a:solidFill>
                  <a:srgbClr val="166534"/>
                </a:solidFill>
                <a:latin typeface="Segoe UI"/>
              </a:rPr>
              <a:t>Registered broker</a:t>
            </a:r>
          </a:p>
        </p:txBody>
      </p:sp>
      <p:cxnSp>
        <p:nvCxnSpPr>
          <p:cNvPr id="23" name="Connector 22"/>
          <p:cNvCxnSpPr/>
          <p:nvPr/>
        </p:nvCxnSpPr>
        <p:spPr>
          <a:xfrm>
            <a:off x="9056903" y="2284476"/>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430780"/>
            <a:ext cx="2202104" cy="2720340"/>
          </a:xfrm>
          <a:prstGeom prst="rect">
            <a:avLst/>
          </a:prstGeom>
          <a:noFill/>
        </p:spPr>
        <p:txBody>
          <a:bodyPr wrap="square" lIns="0" rIns="0" tIns="0" bIns="0" anchor="t">
            <a:noAutofit/>
          </a:bodyPr>
          <a:lstStyle/>
          <a:p>
            <a:pPr algn="l" marL="201168" indent="-201168">
              <a:lnSpc>
                <a:spcPct val="100000"/>
              </a:lnSpc>
              <a:spcAft>
                <a:spcPts val="675"/>
              </a:spcAft>
              <a:buClr>
                <a:srgbClr val="16A34A"/>
              </a:buClr>
              <a:buFont typeface="Arial"/>
              <a:buChar char="•"/>
            </a:pPr>
            <a:r>
              <a:rPr sz="1350" b="0" i="0">
                <a:solidFill>
                  <a:srgbClr val="18232F"/>
                </a:solidFill>
                <a:latin typeface="Segoe UI"/>
              </a:rPr>
              <a:t>Aap khud chunte hain, khud account kholte hain</a:t>
            </a:r>
          </a:p>
          <a:p>
            <a:pPr algn="l" marL="201168" indent="-201168">
              <a:lnSpc>
                <a:spcPct val="100000"/>
              </a:lnSpc>
              <a:spcAft>
                <a:spcPts val="675"/>
              </a:spcAft>
              <a:buClr>
                <a:srgbClr val="16A34A"/>
              </a:buClr>
              <a:buFont typeface="Arial"/>
              <a:buChar char="•"/>
            </a:pPr>
            <a:r>
              <a:rPr sz="1350" b="0" i="0">
                <a:solidFill>
                  <a:srgbClr val="18232F"/>
                </a:solidFill>
                <a:latin typeface="Segoe UI"/>
              </a:rPr>
              <a:t>Official store ka app; publisher SEBI list se match</a:t>
            </a:r>
          </a:p>
          <a:p>
            <a:pPr algn="l" marL="201168" indent="-201168">
              <a:lnSpc>
                <a:spcPct val="100000"/>
              </a:lnSpc>
              <a:spcAft>
                <a:spcPts val="675"/>
              </a:spcAft>
              <a:buClr>
                <a:srgbClr val="16A34A"/>
              </a:buClr>
              <a:buFont typeface="Arial"/>
              <a:buChar char="•"/>
            </a:pPr>
            <a:r>
              <a:rPr sz="1350" b="0" i="0">
                <a:solidFill>
                  <a:srgbClr val="18232F"/>
                </a:solidFill>
                <a:latin typeface="Segoe UI"/>
              </a:rPr>
              <a:t>Paisa sirf broker ke naam wale account mein</a:t>
            </a:r>
          </a:p>
          <a:p>
            <a:pPr algn="l" marL="201168" indent="-201168">
              <a:lnSpc>
                <a:spcPct val="100000"/>
              </a:lnSpc>
              <a:spcAft>
                <a:spcPts val="675"/>
              </a:spcAft>
              <a:buClr>
                <a:srgbClr val="16A34A"/>
              </a:buClr>
              <a:buFont typeface="Arial"/>
              <a:buChar char="•"/>
            </a:pPr>
            <a:r>
              <a:rPr sz="1350" b="0" i="0">
                <a:solidFill>
                  <a:srgbClr val="18232F"/>
                </a:solidFill>
                <a:latin typeface="Segoe UI"/>
              </a:rPr>
              <a:t>Aapka paisa aapke bank mein wapas</a:t>
            </a:r>
          </a:p>
          <a:p>
            <a:pPr algn="l" marL="201168" indent="-201168">
              <a:lnSpc>
                <a:spcPct val="100000"/>
              </a:lnSpc>
              <a:buClr>
                <a:srgbClr val="16A34A"/>
              </a:buClr>
              <a:buFont typeface="Arial"/>
              <a:buChar char="•"/>
            </a:pPr>
            <a:r>
              <a:rPr sz="1350" b="0" i="0">
                <a:solidFill>
                  <a:srgbClr val="18232F"/>
                </a:solidFill>
                <a:latin typeface="Segoe UI"/>
              </a:rPr>
              <a:t>UPI se? ID mein '@valid'</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Apna hi paisa nikalne ke liye aur paisa maanga ja raha hai? Paisa dena band kijiye aur turant report kijiye.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Pehle verify, phir sahi tareeke se complaint</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Agar koi registered broker, adviser ya listed company aapki problem solve nahi karti, toh pehle uske grievance desk par complaint kijiye.</a:t>
            </a:r>
          </a:p>
          <a:p>
            <a:pPr algn="l" marL="274320" indent="-274320">
              <a:lnSpc>
                <a:spcPct val="100000"/>
              </a:lnSpc>
              <a:spcAft>
                <a:spcPts val="800"/>
              </a:spcAft>
              <a:buClr>
                <a:srgbClr val="00AEEF"/>
              </a:buClr>
              <a:buFont typeface="Arial"/>
              <a:buChar char="•"/>
            </a:pPr>
            <a:r>
              <a:rPr sz="1600" b="0" i="0">
                <a:solidFill>
                  <a:srgbClr val="18232F"/>
                </a:solidFill>
                <a:latin typeface="Segoe UI"/>
              </a:rPr>
              <a:t>Wahan hal na ho, toh aam taur par agla kadam SEBI ka SCORES portal hai.</a:t>
            </a:r>
          </a:p>
          <a:p>
            <a:pPr algn="l" marL="274320" indent="-274320">
              <a:lnSpc>
                <a:spcPct val="100000"/>
              </a:lnSpc>
              <a:buClr>
                <a:srgbClr val="00AEEF"/>
              </a:buClr>
              <a:buFont typeface="Arial"/>
              <a:buChar char="•"/>
            </a:pPr>
            <a:r>
              <a:rPr sz="1600" b="0" i="0">
                <a:solidFill>
                  <a:srgbClr val="18232F"/>
                </a:solidFill>
                <a:latin typeface="Segoe UI"/>
              </a:rPr>
              <a:t>Aap grievance desk ke baad seedhe, ya SCORES ke baad, SMART ODR par bhi ja sakte hain, jo market ka online dispute resolution portal hai.</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ko ek Instagram page milta hai jo Rs 9,999 mein UPI se 'RA-certified calls' bech raha hai. Page par ek INH number dikhaya gaya hai. sebi.gov.in par woh number kisi aur shehar ki, alag naam wali firm ka nikalta hai, yaani page kisi aur ka registration use kar raha hai. Priya na paisa deti hai, na message karti hai; screenshots save karke page ko Instagram par aur cybercrime.gov.in par report kar deti hai. Agar kabhi uska apna broker galat charge laga de aur sune bhi nahi, toh raasta alag hoga: pehle broker ka grievance desk, phir SCORES ya SMART ODR.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Jab registered entity madad na kare</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SMART ODR grievance desk ke baad seedhe bhi ho sakta hai. Unregistered logon ka fraud: cybercrime.gov.in par report kijiye ya 1930 par call kijiye. Latest process SEBI ki site par check kijiye.</a:t>
            </a:r>
          </a:p>
        </p:txBody>
      </p:sp>
      <p:sp>
        <p:nvSpPr>
          <p:cNvPr id="11" name="Rounded Rectangle 10"/>
          <p:cNvSpPr/>
          <p:nvPr/>
        </p:nvSpPr>
        <p:spPr>
          <a:xfrm>
            <a:off x="6397600" y="1796796"/>
            <a:ext cx="5154016" cy="522732"/>
          </a:xfrm>
          <a:prstGeom prst="roundRect">
            <a:avLst>
              <a:gd name="adj" fmla="val 17492"/>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6534760" y="1879092"/>
            <a:ext cx="4879696" cy="431292"/>
          </a:xfrm>
          <a:prstGeom prst="rect">
            <a:avLst/>
          </a:prstGeom>
          <a:noFill/>
        </p:spPr>
        <p:txBody>
          <a:bodyPr wrap="square" lIns="0" rIns="0" tIns="0" bIns="0" anchor="t">
            <a:noAutofit/>
          </a:bodyPr>
          <a:lstStyle/>
          <a:p>
            <a:pPr algn="l">
              <a:lnSpc>
                <a:spcPct val="100000"/>
              </a:lnSpc>
            </a:pPr>
            <a:r>
              <a:rPr sz="1250" b="1" i="0">
                <a:solidFill>
                  <a:srgbClr val="18232F"/>
                </a:solidFill>
                <a:latin typeface="Segoe UI"/>
              </a:rPr>
              <a:t>Proof rakhiye</a:t>
            </a:r>
          </a:p>
          <a:p>
            <a:pPr algn="l">
              <a:lnSpc>
                <a:spcPct val="100000"/>
              </a:lnSpc>
            </a:pPr>
            <a:r>
              <a:rPr sz="1100" b="0" i="0">
                <a:solidFill>
                  <a:srgbClr val="47596B"/>
                </a:solidFill>
                <a:latin typeface="Segoe UI"/>
              </a:rPr>
              <a:t>Screenshots, receipts, contract notes</a:t>
            </a:r>
          </a:p>
        </p:txBody>
      </p:sp>
      <p:sp>
        <p:nvSpPr>
          <p:cNvPr id="13" name="Down Arrow 12"/>
          <p:cNvSpPr/>
          <p:nvPr/>
        </p:nvSpPr>
        <p:spPr>
          <a:xfrm>
            <a:off x="6708496" y="2356104"/>
            <a:ext cx="219456" cy="26924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037680" y="2319528"/>
            <a:ext cx="4422496" cy="34239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phir</a:t>
            </a:r>
          </a:p>
        </p:txBody>
      </p:sp>
      <p:sp>
        <p:nvSpPr>
          <p:cNvPr id="15" name="Rounded Rectangle 14"/>
          <p:cNvSpPr/>
          <p:nvPr/>
        </p:nvSpPr>
        <p:spPr>
          <a:xfrm>
            <a:off x="6397600" y="2661920"/>
            <a:ext cx="5154016" cy="522732"/>
          </a:xfrm>
          <a:prstGeom prst="roundRect">
            <a:avLst>
              <a:gd name="adj" fmla="val 1749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6534760" y="2744216"/>
            <a:ext cx="4879696" cy="431292"/>
          </a:xfrm>
          <a:prstGeom prst="rect">
            <a:avLst/>
          </a:prstGeom>
          <a:noFill/>
        </p:spPr>
        <p:txBody>
          <a:bodyPr wrap="square" lIns="0" rIns="0" tIns="0" bIns="0" anchor="t">
            <a:noAutofit/>
          </a:bodyPr>
          <a:lstStyle/>
          <a:p>
            <a:pPr algn="l">
              <a:lnSpc>
                <a:spcPct val="100000"/>
              </a:lnSpc>
            </a:pPr>
            <a:r>
              <a:rPr sz="1250" b="1" i="0">
                <a:solidFill>
                  <a:srgbClr val="18232F"/>
                </a:solidFill>
                <a:latin typeface="Segoe UI"/>
              </a:rPr>
              <a:t>Grievance desk</a:t>
            </a:r>
          </a:p>
          <a:p>
            <a:pPr algn="l">
              <a:lnSpc>
                <a:spcPct val="100000"/>
              </a:lnSpc>
            </a:pPr>
            <a:r>
              <a:rPr sz="1100" b="0" i="0">
                <a:solidFill>
                  <a:srgbClr val="47596B"/>
                </a:solidFill>
                <a:latin typeface="Segoe UI"/>
              </a:rPr>
              <a:t>Pehle usi entity se complaint</a:t>
            </a:r>
          </a:p>
        </p:txBody>
      </p:sp>
      <p:sp>
        <p:nvSpPr>
          <p:cNvPr id="17" name="Down Arrow 16"/>
          <p:cNvSpPr/>
          <p:nvPr/>
        </p:nvSpPr>
        <p:spPr>
          <a:xfrm>
            <a:off x="6708496" y="3221228"/>
            <a:ext cx="219456" cy="26924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037680" y="3184652"/>
            <a:ext cx="4422496" cy="34239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hal nahi hua?</a:t>
            </a:r>
          </a:p>
        </p:txBody>
      </p:sp>
      <p:sp>
        <p:nvSpPr>
          <p:cNvPr id="19" name="Rounded Rectangle 18"/>
          <p:cNvSpPr/>
          <p:nvPr/>
        </p:nvSpPr>
        <p:spPr>
          <a:xfrm>
            <a:off x="6397600" y="3527044"/>
            <a:ext cx="5154016" cy="522732"/>
          </a:xfrm>
          <a:prstGeom prst="roundRect">
            <a:avLst>
              <a:gd name="adj" fmla="val 1749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534760" y="3609340"/>
            <a:ext cx="4879696" cy="431292"/>
          </a:xfrm>
          <a:prstGeom prst="rect">
            <a:avLst/>
          </a:prstGeom>
          <a:noFill/>
        </p:spPr>
        <p:txBody>
          <a:bodyPr wrap="square" lIns="0" rIns="0" tIns="0" bIns="0" anchor="t">
            <a:noAutofit/>
          </a:bodyPr>
          <a:lstStyle/>
          <a:p>
            <a:pPr algn="l">
              <a:lnSpc>
                <a:spcPct val="100000"/>
              </a:lnSpc>
            </a:pPr>
            <a:r>
              <a:rPr sz="1250" b="1" i="0">
                <a:solidFill>
                  <a:srgbClr val="18232F"/>
                </a:solidFill>
                <a:latin typeface="Segoe UI"/>
              </a:rPr>
              <a:t>SEBI SCORES</a:t>
            </a:r>
          </a:p>
          <a:p>
            <a:pPr algn="l">
              <a:lnSpc>
                <a:spcPct val="100000"/>
              </a:lnSpc>
            </a:pPr>
            <a:r>
              <a:rPr sz="1100" b="0" i="0">
                <a:solidFill>
                  <a:srgbClr val="47596B"/>
                </a:solidFill>
                <a:latin typeface="Segoe UI"/>
              </a:rPr>
              <a:t>scores.sebi.gov.in</a:t>
            </a:r>
          </a:p>
        </p:txBody>
      </p:sp>
      <p:sp>
        <p:nvSpPr>
          <p:cNvPr id="21" name="Down Arrow 20"/>
          <p:cNvSpPr/>
          <p:nvPr/>
        </p:nvSpPr>
        <p:spPr>
          <a:xfrm>
            <a:off x="6708496" y="4086352"/>
            <a:ext cx="219456" cy="26924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7037680" y="4049776"/>
            <a:ext cx="4422496" cy="34239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ab bhi atka?</a:t>
            </a:r>
          </a:p>
        </p:txBody>
      </p:sp>
      <p:sp>
        <p:nvSpPr>
          <p:cNvPr id="23" name="Rounded Rectangle 22"/>
          <p:cNvSpPr/>
          <p:nvPr/>
        </p:nvSpPr>
        <p:spPr>
          <a:xfrm>
            <a:off x="6397600" y="4392168"/>
            <a:ext cx="5154016" cy="522732"/>
          </a:xfrm>
          <a:prstGeom prst="roundRect">
            <a:avLst>
              <a:gd name="adj" fmla="val 17492"/>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34760" y="4474464"/>
            <a:ext cx="4879696" cy="431292"/>
          </a:xfrm>
          <a:prstGeom prst="rect">
            <a:avLst/>
          </a:prstGeom>
          <a:noFill/>
        </p:spPr>
        <p:txBody>
          <a:bodyPr wrap="square" lIns="0" rIns="0" tIns="0" bIns="0" anchor="t">
            <a:noAutofit/>
          </a:bodyPr>
          <a:lstStyle/>
          <a:p>
            <a:pPr algn="l">
              <a:lnSpc>
                <a:spcPct val="100000"/>
              </a:lnSpc>
            </a:pPr>
            <a:r>
              <a:rPr sz="1250" b="1" i="0">
                <a:solidFill>
                  <a:srgbClr val="18232F"/>
                </a:solidFill>
                <a:latin typeface="Segoe UI"/>
              </a:rPr>
              <a:t>SMART ODR</a:t>
            </a:r>
          </a:p>
          <a:p>
            <a:pPr algn="l">
              <a:lnSpc>
                <a:spcPct val="100000"/>
              </a:lnSpc>
            </a:pPr>
            <a:r>
              <a:rPr sz="1100" b="0" i="0">
                <a:solidFill>
                  <a:srgbClr val="47596B"/>
                </a:solidFill>
                <a:latin typeface="Segoe UI"/>
              </a:rPr>
              <a:t>Samjhauta, warna arbitrator ka faisla</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Registered ka matlab hai check ho sakta hai aur jawabdeh hai. Paisa dene se pehle check kijiye, ganwane ke baad nahi.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Survivorship bias</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Sirf bachi hui cheezon se faisla karna, jaise channel ki rakhi hui jeet, jabki losses chupchaap nazar se gayab ho jaate hain.</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6304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Hit-rate</a:t>
            </a:r>
          </a:p>
        </p:txBody>
      </p:sp>
      <p:sp>
        <p:nvSpPr>
          <p:cNvPr id="9" name="TextBox 8"/>
          <p:cNvSpPr txBox="1"/>
          <p:nvPr/>
        </p:nvSpPr>
        <p:spPr>
          <a:xfrm>
            <a:off x="6379312"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Day 3 ka win-rate, tips par: target tak pahunchne wali calls ka hissa, sirf un calls par gina jaata hai jinmein stop tha. Payoff ke bina iska matlab kam hai.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81711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Unmeasurable call</a:t>
            </a:r>
          </a:p>
        </p:txBody>
      </p:sp>
      <p:sp>
        <p:nvSpPr>
          <p:cNvPr id="12" name="TextBox 11"/>
          <p:cNvSpPr txBox="1"/>
          <p:nvPr/>
        </p:nvSpPr>
        <p:spPr>
          <a:xfrm>
            <a:off x="658368"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Bina stop-loss wali call. Planned risk hi nahi, toh result R mein gina nahi ja sakta, isliye ise alag report karte hain.</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81711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Pump-and-dump</a:t>
            </a:r>
          </a:p>
        </p:txBody>
      </p:sp>
      <p:sp>
        <p:nvSpPr>
          <p:cNvPr id="15" name="TextBox 14"/>
          <p:cNvSpPr txBox="1"/>
          <p:nvPr/>
        </p:nvSpPr>
        <p:spPr>
          <a:xfrm>
            <a:off x="6379312"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Group ek chhote, kam trade hone wale share ko hype karta hai taaki log khareedein, aur operators oopar unhi ko bech dete hain.</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SCORES</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SEBI Complaints Redress System: registered entities aur listed companies se judi problems ke liye SEBI ka online complaint portal, aam taur par entity ke apne grievance desk ke baad.</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69842"/>
            <a:ext cx="5154016" cy="208788"/>
          </a:xfrm>
          <a:prstGeom prst="rect">
            <a:avLst/>
          </a:prstGeom>
          <a:noFill/>
        </p:spPr>
        <p:txBody>
          <a:bodyPr wrap="square" lIns="0" rIns="0" tIns="0" bIns="0" anchor="t">
            <a:noAutofit/>
          </a:bodyPr>
          <a:lstStyle/>
          <a:p>
            <a:pPr algn="l">
              <a:lnSpc>
                <a:spcPct val="100000"/>
              </a:lnSpc>
            </a:pPr>
            <a:r>
              <a:rPr sz="1250" b="1" i="0">
                <a:solidFill>
                  <a:srgbClr val="095A90"/>
                </a:solidFill>
                <a:latin typeface="Segoe UI"/>
              </a:rPr>
              <a:t>SMART ODR</a:t>
            </a:r>
          </a:p>
        </p:txBody>
      </p:sp>
      <p:sp>
        <p:nvSpPr>
          <p:cNvPr id="21" name="TextBox 20"/>
          <p:cNvSpPr txBox="1"/>
          <p:nvPr/>
        </p:nvSpPr>
        <p:spPr>
          <a:xfrm>
            <a:off x="6379312" y="4315206"/>
            <a:ext cx="5154016" cy="51663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Securities market ka online dispute resolution portal. Entity ka grievance desk (ya SCORES) complaint na suljhaye, toh pehle ek conciliator dono taraf ko samjhaute tak laane ki koshish karta hai; baat na bane, toh ek arbitrator faisla karta hai.</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99710"/>
            <a:ext cx="5154016" cy="231648"/>
          </a:xfrm>
          <a:prstGeom prst="rect">
            <a:avLst/>
          </a:prstGeom>
          <a:noFill/>
        </p:spPr>
        <p:txBody>
          <a:bodyPr wrap="square" lIns="0" rIns="0" tIns="0" bIns="0" anchor="t">
            <a:noAutofit/>
          </a:bodyPr>
          <a:lstStyle/>
          <a:p>
            <a:pPr algn="l">
              <a:lnSpc>
                <a:spcPct val="100000"/>
              </a:lnSpc>
            </a:pPr>
            <a:r>
              <a:rPr sz="1400" b="1" i="0">
                <a:solidFill>
                  <a:srgbClr val="095A90"/>
                </a:solidFill>
                <a:latin typeface="Segoe UI"/>
              </a:rPr>
              <a:t>APK (sideloaded app)</a:t>
            </a:r>
          </a:p>
        </p:txBody>
      </p:sp>
      <p:sp>
        <p:nvSpPr>
          <p:cNvPr id="24" name="TextBox 23"/>
          <p:cNvSpPr txBox="1"/>
          <p:nvPr/>
        </p:nvSpPr>
        <p:spPr>
          <a:xfrm>
            <a:off x="658368" y="5567934"/>
            <a:ext cx="5154016" cy="5852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Aisi app file jo official Google Play ya App Store listing ki jagah kisi link se install ki jaaye. Fake trading apps isi tarah failte hain; broker ka app sirf us store listing se install kijiye jiska link broker ki apni website deti hai.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258568"/>
            <a:ext cx="502920" cy="15453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42875"/>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8821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44268"/>
            <a:ext cx="502920" cy="16596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7330288" y="3689604"/>
            <a:ext cx="502920" cy="114300"/>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54533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Week 1 review + Shortcut Trap #1</a:t>
            </a:r>
          </a:p>
        </p:txBody>
      </p:sp>
      <p:sp>
        <p:nvSpPr>
          <p:cNvPr id="11" name="Rounded Rectangle 10"/>
          <p:cNvSpPr/>
          <p:nvPr/>
        </p:nvSpPr>
        <p:spPr>
          <a:xfrm>
            <a:off x="640080" y="1425321"/>
            <a:ext cx="3718408" cy="1666494"/>
          </a:xfrm>
          <a:prstGeom prst="roundRect">
            <a:avLst>
              <a:gd name="adj" fmla="val 658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35049"/>
            <a:ext cx="3425800"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Paanch sawaal</a:t>
            </a:r>
          </a:p>
        </p:txBody>
      </p:sp>
      <p:sp>
        <p:nvSpPr>
          <p:cNvPr id="13" name="TextBox 12"/>
          <p:cNvSpPr txBox="1"/>
          <p:nvPr/>
        </p:nvSpPr>
        <p:spPr>
          <a:xfrm>
            <a:off x="786384" y="1859661"/>
            <a:ext cx="3425800" cy="1232154"/>
          </a:xfrm>
          <a:prstGeom prst="rect">
            <a:avLst/>
          </a:prstGeom>
          <a:noFill/>
        </p:spPr>
        <p:txBody>
          <a:bodyPr wrap="square" lIns="0" rIns="0" tIns="0" bIns="0" anchor="t">
            <a:noAutofit/>
          </a:bodyPr>
          <a:lstStyle/>
          <a:p>
            <a:pPr algn="l" marL="182880" indent="-182880">
              <a:lnSpc>
                <a:spcPct val="100000"/>
              </a:lnSpc>
              <a:spcAft>
                <a:spcPts val="450"/>
              </a:spcAft>
              <a:buClr>
                <a:srgbClr val="0093D6"/>
              </a:buClr>
              <a:buFont typeface="Arial"/>
              <a:buChar char="•"/>
            </a:pPr>
            <a:r>
              <a:rPr sz="1500" b="0" i="0">
                <a:solidFill>
                  <a:srgbClr val="18232F"/>
                </a:solidFill>
                <a:latin typeface="Segoe UI"/>
              </a:rPr>
              <a:t>Kisne bheja?</a:t>
            </a:r>
          </a:p>
          <a:p>
            <a:pPr algn="l" marL="182880" indent="-182880">
              <a:lnSpc>
                <a:spcPct val="100000"/>
              </a:lnSpc>
              <a:spcAft>
                <a:spcPts val="450"/>
              </a:spcAft>
              <a:buClr>
                <a:srgbClr val="0093D6"/>
              </a:buClr>
              <a:buFont typeface="Arial"/>
              <a:buChar char="•"/>
            </a:pPr>
            <a:r>
              <a:rPr sz="1500" b="0" i="0">
                <a:solidFill>
                  <a:srgbClr val="18232F"/>
                </a:solidFill>
                <a:latin typeface="Segoe UI"/>
              </a:rPr>
              <a:t>Fill, kharcha, maths?</a:t>
            </a:r>
          </a:p>
          <a:p>
            <a:pPr algn="l" marL="182880" indent="-182880">
              <a:lnSpc>
                <a:spcPct val="100000"/>
              </a:lnSpc>
              <a:spcAft>
                <a:spcPts val="450"/>
              </a:spcAft>
              <a:buClr>
                <a:srgbClr val="0093D6"/>
              </a:buClr>
              <a:buFont typeface="Arial"/>
              <a:buChar char="•"/>
            </a:pPr>
            <a:r>
              <a:rPr sz="1500" b="0" i="0">
                <a:solidFill>
                  <a:srgbClr val="18232F"/>
                </a:solidFill>
                <a:latin typeface="Segoe UI"/>
              </a:rPr>
              <a:t>Fact, Guess ya Kachra?</a:t>
            </a:r>
          </a:p>
          <a:p>
            <a:pPr algn="l" marL="182880" indent="-182880">
              <a:lnSpc>
                <a:spcPct val="100000"/>
              </a:lnSpc>
              <a:buClr>
                <a:srgbClr val="0093D6"/>
              </a:buClr>
              <a:buFont typeface="Arial"/>
              <a:buChar char="•"/>
            </a:pPr>
            <a:r>
              <a:rPr sz="1500" b="0" i="0">
                <a:solidFill>
                  <a:srgbClr val="18232F"/>
                </a:solidFill>
                <a:latin typeface="Segoe UI"/>
              </a:rPr>
              <a:t>Chart kya keh raha hai?</a:t>
            </a:r>
          </a:p>
        </p:txBody>
      </p:sp>
      <p:sp>
        <p:nvSpPr>
          <p:cNvPr id="14" name="Rounded Rectangle 13"/>
          <p:cNvSpPr/>
          <p:nvPr/>
        </p:nvSpPr>
        <p:spPr>
          <a:xfrm>
            <a:off x="640080" y="3256407"/>
            <a:ext cx="3718408" cy="1380744"/>
          </a:xfrm>
          <a:prstGeom prst="roundRect">
            <a:avLst>
              <a:gd name="adj" fmla="val 7947"/>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66135"/>
            <a:ext cx="3425800" cy="269748"/>
          </a:xfrm>
          <a:prstGeom prst="rect">
            <a:avLst/>
          </a:prstGeom>
          <a:noFill/>
        </p:spPr>
        <p:txBody>
          <a:bodyPr wrap="square" lIns="0" rIns="0" tIns="0" bIns="0" anchor="t">
            <a:noAutofit/>
          </a:bodyPr>
          <a:lstStyle/>
          <a:p>
            <a:pPr algn="l">
              <a:lnSpc>
                <a:spcPct val="100000"/>
              </a:lnSpc>
            </a:pPr>
            <a:r>
              <a:rPr sz="1650" b="1" i="0">
                <a:solidFill>
                  <a:srgbClr val="991B1B"/>
                </a:solidFill>
                <a:latin typeface="Segoe UI"/>
              </a:rPr>
              <a:t>Survivorship</a:t>
            </a:r>
          </a:p>
        </p:txBody>
      </p:sp>
      <p:sp>
        <p:nvSpPr>
          <p:cNvPr id="16" name="TextBox 15"/>
          <p:cNvSpPr txBox="1"/>
          <p:nvPr/>
        </p:nvSpPr>
        <p:spPr>
          <a:xfrm>
            <a:off x="786384" y="3690747"/>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F0554E"/>
              </a:buClr>
              <a:buFont typeface="Arial"/>
              <a:buChar char="•"/>
            </a:pPr>
            <a:r>
              <a:rPr sz="1500" b="0" i="0">
                <a:solidFill>
                  <a:srgbClr val="18232F"/>
                </a:solidFill>
                <a:latin typeface="Segoe UI"/>
              </a:rPr>
              <a:t>Haari posts delete ho jaati hain</a:t>
            </a:r>
          </a:p>
          <a:p>
            <a:pPr algn="l" marL="182880" indent="-182880">
              <a:lnSpc>
                <a:spcPct val="100000"/>
              </a:lnSpc>
              <a:spcAft>
                <a:spcPts val="450"/>
              </a:spcAft>
              <a:buClr>
                <a:srgbClr val="F0554E"/>
              </a:buClr>
              <a:buFont typeface="Arial"/>
              <a:buChar char="•"/>
            </a:pPr>
            <a:r>
              <a:rPr sz="1500" b="0" i="0">
                <a:solidFill>
                  <a:srgbClr val="18232F"/>
                </a:solidFill>
                <a:latin typeface="Segoe UI"/>
              </a:rPr>
              <a:t>Bina stop wali calls 'running'</a:t>
            </a:r>
          </a:p>
          <a:p>
            <a:pPr algn="l" marL="182880" indent="-182880">
              <a:lnSpc>
                <a:spcPct val="100000"/>
              </a:lnSpc>
              <a:buClr>
                <a:srgbClr val="F0554E"/>
              </a:buClr>
              <a:buFont typeface="Arial"/>
              <a:buChar char="•"/>
            </a:pPr>
            <a:r>
              <a:rPr sz="1500" b="0" i="0">
                <a:solidFill>
                  <a:srgbClr val="18232F"/>
                </a:solidFill>
                <a:latin typeface="Segoe UI"/>
              </a:rPr>
              <a:t>Har call dekhne ki maang</a:t>
            </a:r>
          </a:p>
        </p:txBody>
      </p:sp>
      <p:sp>
        <p:nvSpPr>
          <p:cNvPr id="17" name="Rounded Rectangle 16"/>
          <p:cNvSpPr/>
          <p:nvPr/>
        </p:nvSpPr>
        <p:spPr>
          <a:xfrm>
            <a:off x="640080" y="4801743"/>
            <a:ext cx="3718408" cy="1380744"/>
          </a:xfrm>
          <a:prstGeom prst="roundRect">
            <a:avLst>
              <a:gd name="adj" fmla="val 7947"/>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911471"/>
            <a:ext cx="3425800"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Audit ke rules</a:t>
            </a:r>
          </a:p>
        </p:txBody>
      </p:sp>
      <p:sp>
        <p:nvSpPr>
          <p:cNvPr id="19" name="TextBox 18"/>
          <p:cNvSpPr txBox="1"/>
          <p:nvPr/>
        </p:nvSpPr>
        <p:spPr>
          <a:xfrm>
            <a:off x="786384" y="5236083"/>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F5A524"/>
              </a:buClr>
              <a:buFont typeface="Arial"/>
              <a:buChar char="•"/>
            </a:pPr>
            <a:r>
              <a:rPr sz="1500" b="0" i="0">
                <a:solidFill>
                  <a:srgbClr val="18232F"/>
                </a:solidFill>
                <a:latin typeface="Segoe UI"/>
              </a:rPr>
              <a:t>Entry, stop, target, result</a:t>
            </a:r>
          </a:p>
          <a:p>
            <a:pPr algn="l" marL="182880" indent="-182880">
              <a:lnSpc>
                <a:spcPct val="100000"/>
              </a:lnSpc>
              <a:spcAft>
                <a:spcPts val="450"/>
              </a:spcAft>
              <a:buClr>
                <a:srgbClr val="F5A524"/>
              </a:buClr>
              <a:buFont typeface="Arial"/>
              <a:buChar char="•"/>
            </a:pPr>
            <a:r>
              <a:rPr sz="1500" b="0" i="0">
                <a:solidFill>
                  <a:srgbClr val="18232F"/>
                </a:solidFill>
                <a:latin typeface="Segoe UI"/>
              </a:rPr>
              <a:t>Stop nahi = unmeasurable</a:t>
            </a:r>
          </a:p>
          <a:p>
            <a:pPr algn="l" marL="182880" indent="-182880">
              <a:lnSpc>
                <a:spcPct val="100000"/>
              </a:lnSpc>
              <a:buClr>
                <a:srgbClr val="F5A524"/>
              </a:buClr>
              <a:buFont typeface="Arial"/>
              <a:buChar char="•"/>
            </a:pPr>
            <a:r>
              <a:rPr sz="1500" b="0" i="0">
                <a:solidFill>
                  <a:srgbClr val="18232F"/>
                </a:solidFill>
                <a:latin typeface="Segoe UI"/>
              </a:rPr>
              <a:t>Dono touch = stop hit</a:t>
            </a:r>
          </a:p>
        </p:txBody>
      </p:sp>
      <p:sp>
        <p:nvSpPr>
          <p:cNvPr id="20" name="Rounded Rectangle 19"/>
          <p:cNvSpPr/>
          <p:nvPr/>
        </p:nvSpPr>
        <p:spPr>
          <a:xfrm>
            <a:off x="7833208" y="1453896"/>
            <a:ext cx="3718408" cy="1380744"/>
          </a:xfrm>
          <a:prstGeom prst="roundRect">
            <a:avLst>
              <a:gd name="adj" fmla="val 7947"/>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563624"/>
            <a:ext cx="3425800"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Asli numbers</a:t>
            </a:r>
          </a:p>
        </p:txBody>
      </p:sp>
      <p:sp>
        <p:nvSpPr>
          <p:cNvPr id="22" name="TextBox 21"/>
          <p:cNvSpPr txBox="1"/>
          <p:nvPr/>
        </p:nvSpPr>
        <p:spPr>
          <a:xfrm>
            <a:off x="7979512" y="1888236"/>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0093D6"/>
              </a:buClr>
              <a:buFont typeface="Arial"/>
              <a:buChar char="•"/>
            </a:pPr>
            <a:r>
              <a:rPr sz="1500" b="0" i="0">
                <a:solidFill>
                  <a:srgbClr val="18232F"/>
                </a:solidFill>
                <a:latin typeface="Segoe UI"/>
              </a:rPr>
              <a:t>Dikhaya 80%, audit mein 60%</a:t>
            </a:r>
          </a:p>
          <a:p>
            <a:pPr algn="l" marL="182880" indent="-182880">
              <a:lnSpc>
                <a:spcPct val="100000"/>
              </a:lnSpc>
              <a:spcAft>
                <a:spcPts val="450"/>
              </a:spcAft>
              <a:buClr>
                <a:srgbClr val="0093D6"/>
              </a:buClr>
              <a:buFont typeface="Arial"/>
              <a:buChar char="•"/>
            </a:pPr>
            <a:r>
              <a:rPr sz="1500" b="0" i="0">
                <a:solidFill>
                  <a:srgbClr val="18232F"/>
                </a:solidFill>
                <a:latin typeface="Segoe UI"/>
              </a:rPr>
              <a:t>Breakeven lagbhag 67%</a:t>
            </a:r>
          </a:p>
          <a:p>
            <a:pPr algn="l" marL="182880" indent="-182880">
              <a:lnSpc>
                <a:spcPct val="100000"/>
              </a:lnSpc>
              <a:buClr>
                <a:srgbClr val="0093D6"/>
              </a:buClr>
              <a:buFont typeface="Arial"/>
              <a:buChar char="•"/>
            </a:pPr>
            <a:r>
              <a:rPr sz="1500" b="0" i="0">
                <a:solidFill>
                  <a:srgbClr val="18232F"/>
                </a:solidFill>
                <a:latin typeface="Segoe UI"/>
              </a:rPr>
              <a:t>Har call par average -0.1R</a:t>
            </a:r>
          </a:p>
        </p:txBody>
      </p:sp>
      <p:sp>
        <p:nvSpPr>
          <p:cNvPr id="23" name="Rounded Rectangle 22"/>
          <p:cNvSpPr/>
          <p:nvPr/>
        </p:nvSpPr>
        <p:spPr>
          <a:xfrm>
            <a:off x="7833208" y="2999232"/>
            <a:ext cx="3718408" cy="1380744"/>
          </a:xfrm>
          <a:prstGeom prst="roundRect">
            <a:avLst>
              <a:gd name="adj" fmla="val 7947"/>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108960"/>
            <a:ext cx="3425800" cy="269748"/>
          </a:xfrm>
          <a:prstGeom prst="rect">
            <a:avLst/>
          </a:prstGeom>
          <a:noFill/>
        </p:spPr>
        <p:txBody>
          <a:bodyPr wrap="square" lIns="0" rIns="0" tIns="0" bIns="0" anchor="t">
            <a:noAutofit/>
          </a:bodyPr>
          <a:lstStyle/>
          <a:p>
            <a:pPr algn="l">
              <a:lnSpc>
                <a:spcPct val="100000"/>
              </a:lnSpc>
            </a:pPr>
            <a:r>
              <a:rPr sz="1650" b="1" i="0">
                <a:solidFill>
                  <a:srgbClr val="991B1B"/>
                </a:solidFill>
                <a:latin typeface="Segoe UI"/>
              </a:rPr>
              <a:t>Scam radar</a:t>
            </a:r>
          </a:p>
        </p:txBody>
      </p:sp>
      <p:sp>
        <p:nvSpPr>
          <p:cNvPr id="25" name="TextBox 24"/>
          <p:cNvSpPr txBox="1"/>
          <p:nvPr/>
        </p:nvSpPr>
        <p:spPr>
          <a:xfrm>
            <a:off x="7979512" y="3433572"/>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F0554E"/>
              </a:buClr>
              <a:buFont typeface="Arial"/>
              <a:buChar char="•"/>
            </a:pPr>
            <a:r>
              <a:rPr sz="1500" b="0" i="0">
                <a:solidFill>
                  <a:srgbClr val="18232F"/>
                </a:solidFill>
                <a:latin typeface="Segoe UI"/>
              </a:rPr>
              <a:t>Group, app, personal account</a:t>
            </a:r>
          </a:p>
          <a:p>
            <a:pPr algn="l" marL="182880" indent="-182880">
              <a:lnSpc>
                <a:spcPct val="100000"/>
              </a:lnSpc>
              <a:spcAft>
                <a:spcPts val="450"/>
              </a:spcAft>
              <a:buClr>
                <a:srgbClr val="F0554E"/>
              </a:buClr>
              <a:buFont typeface="Arial"/>
              <a:buChar char="•"/>
            </a:pPr>
            <a:r>
              <a:rPr sz="1500" b="0" i="0">
                <a:solidFill>
                  <a:srgbClr val="18232F"/>
                </a:solidFill>
                <a:latin typeface="Segoe UI"/>
              </a:rPr>
              <a:t>Nikalne se pehle paisa bharo = fraud</a:t>
            </a:r>
          </a:p>
          <a:p>
            <a:pPr algn="l" marL="182880" indent="-182880">
              <a:lnSpc>
                <a:spcPct val="100000"/>
              </a:lnSpc>
              <a:buClr>
                <a:srgbClr val="F0554E"/>
              </a:buClr>
              <a:buFont typeface="Arial"/>
              <a:buChar char="•"/>
            </a:pPr>
            <a:r>
              <a:rPr sz="1500" b="0" i="0">
                <a:solidFill>
                  <a:srgbClr val="18232F"/>
                </a:solidFill>
                <a:latin typeface="Segoe UI"/>
              </a:rPr>
              <a:t>Red-flag words pehchaaniye</a:t>
            </a:r>
          </a:p>
        </p:txBody>
      </p:sp>
      <p:sp>
        <p:nvSpPr>
          <p:cNvPr id="26" name="Rounded Rectangle 25"/>
          <p:cNvSpPr/>
          <p:nvPr/>
        </p:nvSpPr>
        <p:spPr>
          <a:xfrm>
            <a:off x="7833208" y="4544568"/>
            <a:ext cx="3718408" cy="1609344"/>
          </a:xfrm>
          <a:prstGeom prst="roundRect">
            <a:avLst>
              <a:gd name="adj" fmla="val 6818"/>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654296"/>
            <a:ext cx="3425800" cy="269748"/>
          </a:xfrm>
          <a:prstGeom prst="rect">
            <a:avLst/>
          </a:prstGeom>
          <a:noFill/>
        </p:spPr>
        <p:txBody>
          <a:bodyPr wrap="square" lIns="0" rIns="0" tIns="0" bIns="0" anchor="t">
            <a:noAutofit/>
          </a:bodyPr>
          <a:lstStyle/>
          <a:p>
            <a:pPr algn="l">
              <a:lnSpc>
                <a:spcPct val="100000"/>
              </a:lnSpc>
            </a:pPr>
            <a:r>
              <a:rPr sz="1650" b="1" i="0">
                <a:solidFill>
                  <a:srgbClr val="166534"/>
                </a:solidFill>
                <a:latin typeface="Segoe UI"/>
              </a:rPr>
              <a:t>Khud ko bachaiye</a:t>
            </a:r>
          </a:p>
        </p:txBody>
      </p:sp>
      <p:sp>
        <p:nvSpPr>
          <p:cNvPr id="28" name="TextBox 27"/>
          <p:cNvSpPr txBox="1"/>
          <p:nvPr/>
        </p:nvSpPr>
        <p:spPr>
          <a:xfrm>
            <a:off x="7979512" y="4978908"/>
            <a:ext cx="3425800" cy="1175004"/>
          </a:xfrm>
          <a:prstGeom prst="rect">
            <a:avLst/>
          </a:prstGeom>
          <a:noFill/>
        </p:spPr>
        <p:txBody>
          <a:bodyPr wrap="square" lIns="0" rIns="0" tIns="0" bIns="0" anchor="t">
            <a:noAutofit/>
          </a:bodyPr>
          <a:lstStyle/>
          <a:p>
            <a:pPr algn="l" marL="182880" indent="-182880">
              <a:lnSpc>
                <a:spcPct val="100000"/>
              </a:lnSpc>
              <a:spcAft>
                <a:spcPts val="450"/>
              </a:spcAft>
              <a:buClr>
                <a:srgbClr val="16A34A"/>
              </a:buClr>
              <a:buFont typeface="Arial"/>
              <a:buChar char="•"/>
            </a:pPr>
            <a:r>
              <a:rPr sz="1500" b="0" i="0">
                <a:solidFill>
                  <a:srgbClr val="18232F"/>
                </a:solidFill>
                <a:latin typeface="Segoe UI"/>
              </a:rPr>
              <a:t>sebi.gov.in par INA / INH check</a:t>
            </a:r>
          </a:p>
          <a:p>
            <a:pPr algn="l" marL="182880" indent="-182880">
              <a:lnSpc>
                <a:spcPct val="100000"/>
              </a:lnSpc>
              <a:spcAft>
                <a:spcPts val="450"/>
              </a:spcAft>
              <a:buClr>
                <a:srgbClr val="16A34A"/>
              </a:buClr>
              <a:buFont typeface="Arial"/>
              <a:buChar char="•"/>
            </a:pPr>
            <a:r>
              <a:rPr sz="1500" b="0" i="0">
                <a:solidFill>
                  <a:srgbClr val="18232F"/>
                </a:solidFill>
                <a:latin typeface="Segoe UI"/>
              </a:rPr>
              <a:t>Grievance desk, SCORES, SMART ODR</a:t>
            </a:r>
          </a:p>
          <a:p>
            <a:pPr algn="l" marL="182880" indent="-182880">
              <a:lnSpc>
                <a:spcPct val="100000"/>
              </a:lnSpc>
              <a:buClr>
                <a:srgbClr val="16A34A"/>
              </a:buClr>
              <a:buFont typeface="Arial"/>
              <a:buChar char="•"/>
            </a:pPr>
            <a:r>
              <a:rPr sz="1500" b="0" i="0">
                <a:solidFill>
                  <a:srgbClr val="18232F"/>
                </a:solidFill>
                <a:latin typeface="Segoe UI"/>
              </a:rPr>
              <a:t>Fraud: cybercrime.gov.in, 1930</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Mentor ke 20 practice tips ka audit kijiye, SEBI par ek registration aur ek trading app check kijiye, journal mein apna Week 1 review likhiye, phir Quiz Game 1 dijiye.</a:t>
            </a:r>
          </a:p>
        </p:txBody>
      </p:sp>
      <p:sp>
        <p:nvSpPr>
          <p:cNvPr id="6" name="Rounded Rectangle 5"/>
          <p:cNvSpPr/>
          <p:nvPr/>
        </p:nvSpPr>
        <p:spPr>
          <a:xfrm>
            <a:off x="457200" y="203606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Neeche ki dono Practice set tables kholiye aur saari 20 calls ka aakhri column bhariye, kaagaz par ya Google Sheet ki copy mein: target hit par +0.5R, stop hit ya 'dono touch' wale din par -1R, jahan stop diya hi nahi wahan 'unmeasurable', aur jo bhi red flag dikhe woh bhi.</a:t>
            </a:r>
          </a:p>
        </p:txBody>
      </p:sp>
      <p:sp>
        <p:nvSpPr>
          <p:cNvPr id="10" name="Rounded Rectangle 9"/>
          <p:cNvSpPr/>
          <p:nvPr/>
        </p:nvSpPr>
        <p:spPr>
          <a:xfrm>
            <a:off x="457200" y="30601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6992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1882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607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Teen numbers nikaliye: stop wali calls par hit-rate, har measurable call ka average R, aur bina stop wali calls ka hissa. Apna hisaab AI Lab ke 'Practice set ka audit' prompt se check kijiye, ya AI chat na ho toh upar ke 'Result' wale topic se milaiye.</a:t>
            </a:r>
          </a:p>
        </p:txBody>
      </p:sp>
      <p:sp>
        <p:nvSpPr>
          <p:cNvPr id="14" name="Rounded Rectangle 13"/>
          <p:cNvSpPr/>
          <p:nvPr/>
        </p:nvSpPr>
        <p:spPr>
          <a:xfrm>
            <a:off x="457200" y="408432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19404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2123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18490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sebi.gov.in par 'Recognised Intermediaries' dhoondhiye, Research Analyst ya Investment Adviser ki list kholiye, aur online dekhe kisi ek adviser ya 'guru' ka registration check kijiye (koi na ho toh INH000020004): naam aur number match kijiye. Unhe message mat kijiye.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50 min</a:t>
            </a:r>
          </a:p>
        </p:txBody>
      </p:sp>
      <p:sp>
        <p:nvSpPr>
          <p:cNvPr id="5" name="Rounded Rectangle 4"/>
          <p:cNvSpPr/>
          <p:nvPr/>
        </p:nvSpPr>
        <p:spPr>
          <a:xfrm>
            <a:off x="457200" y="1335024"/>
            <a:ext cx="11277295" cy="1664208"/>
          </a:xfrm>
          <a:prstGeom prst="roundRect">
            <a:avLst>
              <a:gd name="adj" fmla="val 54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49961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Koi ek trading app check kijiye jo aap use karte hain ya jiska naam suna hai (account ki zaroorat nahi): uski official Google Play ya App Store listing par developer (publisher) ka naam padhiye, phir wahi naam SEBI ki registered stock brokers ki list (Recognised Intermediaries) mein, ya NSE ya BSE ki member directory mein dhoondhiye ('Limited' ki jagah 'Ltd' jaisa chhota farq normal hai; publisher koi doosri company ho toh check kijiye ki broker ki apni website usi store listing ka link deti hai). APK file se, ya kisi ke bheje link se, kabhi app install mat kijiye.</a:t>
            </a:r>
          </a:p>
        </p:txBody>
      </p:sp>
      <p:sp>
        <p:nvSpPr>
          <p:cNvPr id="9" name="Rounded Rectangle 8"/>
          <p:cNvSpPr/>
          <p:nvPr/>
        </p:nvSpPr>
        <p:spPr>
          <a:xfrm>
            <a:off x="457200" y="309067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320040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321868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319125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Aaj ke journal mein entry type 'Weekly review' chuniye aur neeche ke Week 1 review template ke jawab likhiye, saath mein ek line ki aap kab SCORES (scores.sebi.gov.in), SMART ODR (smartodr.in) ya 1930 use karenge. Yeh review aapke certificate mein ginta hai.</a:t>
            </a:r>
          </a:p>
        </p:txBody>
      </p:sp>
      <p:sp>
        <p:nvSpPr>
          <p:cNvPr id="13" name="Rounded Rectangle 12"/>
          <p:cNvSpPr/>
          <p:nvPr/>
        </p:nvSpPr>
        <p:spPr>
          <a:xfrm>
            <a:off x="457200" y="411480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422452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424281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421538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Aakhir mein Quiz Game 1, yaani Week 1 exam, dijiye, jab Week 1 ke paanch sawaal aasaan lagne lagein. Yeh aaj ke 50 minute ke kaam mein nahi gina gaya, lekin teenon weekly Quiz Games dena certificate ki ek shart hai.</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kisi bhi tip ko Week 1 ke paanch sawaalon se parakh payenge, calls ke ek set ka hit-rate, R aur missing stops ke liye audit kar payenge, fake app aur WhatsApp group ke red flags pehchaan payenge, SEBI registration aur trading app ka publisher check kar payenge, complaint ka raasta bata payenge (pehle grievance desk, phir SCORES ya SMART ODR), aur weekly review likh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set, calls A se J</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Mentor ka banaya set, ek nakli channel ka; calls sirf placeholders hain, asli stocks nahi. Yahan har stop entry se 10% neeche hai aur har target 5% upar.</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3"/>
        </p:xfrm>
        <a:graphic>
          <a:graphicData uri="http://schemas.openxmlformats.org/drawingml/2006/table">
            <a:tbl>
              <a:tblPr firstRow="1">
                <a:tableStyleId>{5C22544A-7EE6-4342-B048-85BDC9FD1C3A}</a:tableStyleId>
              </a:tblPr>
              <a:tblGrid>
                <a:gridCol w="735148"/>
                <a:gridCol w="1091538"/>
                <a:gridCol w="1034780"/>
                <a:gridCol w="1212152"/>
                <a:gridCol w="4956918"/>
                <a:gridCol w="1880999"/>
              </a:tblGrid>
              <a:tr h="374073">
                <a:tc>
                  <a:txBody>
                    <a:bodyPr wrap="square"/>
                    <a:lstStyle/>
                    <a:p>
                      <a:pPr algn="l"/>
                      <a:r>
                        <a:rPr sz="1500" b="1" i="0">
                          <a:solidFill>
                            <a:srgbClr val="FFFFFF"/>
                          </a:solidFill>
                          <a:latin typeface="Segoe UI"/>
                        </a:rPr>
                        <a:t>Call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Entry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Stop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Target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Kya hua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Aapka R / red flag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64929">
                <a:tc>
                  <a:txBody>
                    <a:bodyPr wrap="square"/>
                    <a:lstStyle/>
                    <a:p>
                      <a:pPr algn="l"/>
                      <a:r>
                        <a:rPr sz="1500" b="0" i="0">
                          <a:solidFill>
                            <a:srgbClr val="18232F"/>
                          </a:solidFill>
                          <a:latin typeface="Segoe UI"/>
                        </a:rPr>
                        <a: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432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 post delete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C</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357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 post delete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F</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684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798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Ek daily candle ne dono chhue; target hit bata kar post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234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273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945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 post delete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J</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147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set, calls K se T</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K se O mein bhi wahi 10% stop aur 5% target hai. P se T mein stop tha hi nahi, isliye unka R naapa nahi ja sakta: 'unmeasurable' likhiye aur note kijiye ki kya hua.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3"/>
        </p:xfrm>
        <a:graphic>
          <a:graphicData uri="http://schemas.openxmlformats.org/drawingml/2006/table">
            <a:tbl>
              <a:tblPr firstRow="1">
                <a:tableStyleId>{5C22544A-7EE6-4342-B048-85BDC9FD1C3A}</a:tableStyleId>
              </a:tblPr>
              <a:tblGrid>
                <a:gridCol w="740070"/>
                <a:gridCol w="1098846"/>
                <a:gridCol w="1041708"/>
                <a:gridCol w="1220267"/>
                <a:gridCol w="4917052"/>
                <a:gridCol w="1893593"/>
              </a:tblGrid>
              <a:tr h="374073">
                <a:tc>
                  <a:txBody>
                    <a:bodyPr wrap="square"/>
                    <a:lstStyle/>
                    <a:p>
                      <a:pPr algn="l"/>
                      <a:r>
                        <a:rPr sz="1500" b="1" i="0">
                          <a:solidFill>
                            <a:srgbClr val="FFFFFF"/>
                          </a:solidFill>
                          <a:latin typeface="Segoe UI"/>
                        </a:rPr>
                        <a:t>Call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Entry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Stop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Target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Kya hua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Aapka R / red flag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64929">
                <a:tc>
                  <a:txBody>
                    <a:bodyPr wrap="square"/>
                    <a:lstStyle/>
                    <a:p>
                      <a:pPr algn="l"/>
                      <a:r>
                        <a:rPr sz="1500" b="0" i="0">
                          <a:solidFill>
                            <a:srgbClr val="18232F"/>
                          </a:solidFill>
                          <a:latin typeface="Segoe UI"/>
                        </a:rPr>
                        <a:t>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378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441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522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 post delete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 post delete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270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Nahi diya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Ab 187 par; abhi bhi 'running'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Q</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Nahi diya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Pehle 480 tak gira, phir target; target hit bata kar post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Nahi diya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Ab 70 par; abhi bhi 'running'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Nahi diya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1650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Ab 1290 par; abhi bhi 'running'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Nahi diya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Week 1 review</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Apne jawab aaj ke journal mein entry type 'Weekly review' chun kar likhiye; yeh certificate mein ginta hai. Sirf numbers, koi asli naam nahi.</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4"/>
        </p:xfrm>
        <a:graphic>
          <a:graphicData uri="http://schemas.openxmlformats.org/drawingml/2006/table">
            <a:tbl>
              <a:tblPr firstRow="1">
                <a:tableStyleId>{5C22544A-7EE6-4342-B048-85BDC9FD1C3A}</a:tableStyleId>
              </a:tblPr>
              <a:tblGrid>
                <a:gridCol w="7590095"/>
                <a:gridCol w="3321441"/>
              </a:tblGrid>
              <a:tr h="410566">
                <a:tc>
                  <a:txBody>
                    <a:bodyPr wrap="square"/>
                    <a:lstStyle/>
                    <a:p>
                      <a:pPr algn="l"/>
                      <a:r>
                        <a:rPr sz="1500" b="1" i="0">
                          <a:solidFill>
                            <a:srgbClr val="FFFFFF"/>
                          </a:solidFill>
                          <a:latin typeface="Segoe UI"/>
                        </a:rPr>
                        <a:t>Sawaal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Aapka jawab (numbers ya ek 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01422">
                <a:tc>
                  <a:txBody>
                    <a:bodyPr wrap="square"/>
                    <a:lstStyle/>
                    <a:p>
                      <a:pPr algn="l"/>
                      <a:r>
                        <a:rPr sz="1500" b="0" i="0">
                          <a:solidFill>
                            <a:srgbClr val="18232F"/>
                          </a:solidFill>
                          <a:latin typeface="Segoe UI"/>
                        </a:rPr>
                        <a:t>Stop wali calls par mera hit-rate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Har measurable call ka mera average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Bina stop wali calls ka hissa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Yeh '80%' wale banner se kitna door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Week 1 ka sabse kachcha sawaal, aur kaunsa din dobara padhna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Registration aur app check: naam match hue?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Grievance desk, SCORES, SMART ODR ya 1930 kab use karna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Mera FII/DII flow log (Day 1): kya kisi ek shaam ke flow ne bataya ki agle din kya hua?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Ek aadat jo Week 2 mein saath le jaani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Audit race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Classmates ya family ke saath sab log ek hi waqt par wahi 20 practice calls audit karte hain.</a:t>
            </a:r>
          </a:p>
          <a:p>
            <a:pPr algn="l">
              <a:lnSpc>
                <a:spcPct val="100000"/>
              </a:lnSpc>
              <a:spcAft>
                <a:spcPts val="700"/>
              </a:spcAft>
            </a:pPr>
            <a:r>
              <a:rPr sz="2000" b="0" i="0">
                <a:solidFill>
                  <a:srgbClr val="18232F"/>
                </a:solidFill>
                <a:latin typeface="Segoe UI"/>
              </a:rPr>
              <a:t>Jo sabse pehle R column ki har row sahi bhar de, hisaab ke saath, woh jeeta; lesson ke totals sirf answer milane ke liye hain.</a:t>
            </a:r>
          </a:p>
          <a:p>
            <a:pPr algn="l">
              <a:lnSpc>
                <a:spcPct val="100000"/>
              </a:lnSpc>
            </a:pPr>
            <a:r>
              <a:rPr sz="2000" b="0" i="0">
                <a:solidFill>
                  <a:srgbClr val="18232F"/>
                </a:solidFill>
                <a:latin typeface="Segoe UI"/>
              </a:rPr>
              <a:t>Akele hain? Apna time note kijiye, phir AI Lab mein 60 second ka red-flag hunt try kijiye.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20 practice tips ka audit: aap giniye, AI check kare</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Practice set ka audit</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am a beginner doing a practice audit for my trading course. Below is a made-up set of 20 stock tips created by my course mentor for training; the stock names are placeholders and none of this is real market data.”</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60 second ka red-flag hunt</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“Create one made-up WhatsApp message of about 80 words in the style of an Indian stock-tips group, clearly labelled 'PRACTICE SCAM EXAMPLE - NOT REAL'.”</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Verify aur escalate</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“Act as a careful investor-protection guide for India, talking to a complete beginner. In short numbered steps, explain: (1) how to check on sebi.gov.in whether a person or firm is a SEBI-registered Research Analyst or Investment Adviser, and which details must match; (2) signs that someone may be using another entity's registration number; (3) the complaint path when a registered broker or adviser does not solve a problem: the entity's grievance …”</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QUICK QUIZ · SAWAAL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Mentor ke paas ek practice channel ka poora record hai: 20 calls. 4 mein stop nahi tha. Baaki 16 mein se 10 ne target hit kiya aur 6 ka stop hit hua, aur channel ne woh 6 posts delete kar di. Audit wala hit-rate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70% (bina stop wali calls ko jeet maan kar)</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63% (16 mein se 10)</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71% (feed ke 14 mein se 10)</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50% (saari 20 mein se 10)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ne apne SEBI-registered broker ke grievance desk ko contract note ke ek galat charge ki complaint likhi, lekin problem abhi tak solve nahi hui. Inmein se sahi agla kadam kaunsa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Refund milne tak uske charges dena band kijiye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Proof ke saath SEBI ke SCORES portal par le jaiye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1930 cyber helpline par report kijiye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Social media par naam lekar sabko warn kijiye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Aap daily charts par audit kar rahe hain. Ek call mein entry Rs 500, stop Rs 470 aur target Rs 530 tha. Agle din ki candle ne Rs 534 ka high aur Rs 466 ka low banaya. Ise kaise record karenge?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hit, -1R</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Breakeven, 0R</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Unmeasurable, audit se bahar</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Target hit, +1R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QUICK QUIZ · SAWAAL 4/5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ke padosi ne ek WhatsApp 'institutional' group join kiya aur Rs 40,000 ek aadmi ke naam wale account mein bhej diye. App ab Rs 1.2 lakh dikha raha hai, lekin withdraw karne se pehle 15% 'processing fee' bharni hogi. Sabse sahi agla kadam kya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SEBI SCORES par complaint daal kar SEBI ka wait kijiye</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Fee bhar dijiye, profit mein se aaram se nikal jayegi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Aur paisa nahi; proof rakhiye, 1930 par call kijiye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Kuch hafte ruk jaiye, app khud paisa release kar dega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Instagram page SEBI Research Analyst number dikhata hai aur 'premium calls' ke liye UPI se Rs 7,999 fee maangta hai. Paisa dene se pehle sabse zaroori check kaunsa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Screenshots mein bahut saare target hit dikhein</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Uske ek lakh se zyada followers hon</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Uska naam aur number SEBI ki list se match hon</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Woh apne SEBI certificate ki photo post kare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Week 1 review aur Shortcut Trap #1: tips ka audit</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The tips, channel and scam messages in this lesson are made up for training.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Weekly review (entry type mein 'Weekly review' chuniye; yeh certificate mein ginta hai): aapke audit mein hit-rate, average R aur bina stop wali calls ka hissa kitna nikla, aur woh '80%' wale banner se kitna door tha? Week 1 ke paanch sawaalon mein se kaunsa abhi bhi sabse kachcha lagta hai? Sirf numbers likhiye, kisi asli channel ya insaan ka naam kabhi nahi.</a:t>
            </a:r>
          </a:p>
        </p:txBody>
      </p:sp>
      <p:sp>
        <p:nvSpPr>
          <p:cNvPr id="8" name="Rounded Rectangle 7"/>
          <p:cNvSpPr/>
          <p:nvPr/>
        </p:nvSpPr>
        <p:spPr>
          <a:xfrm>
            <a:off x="6233008" y="1335024"/>
            <a:ext cx="5501488" cy="4008120"/>
          </a:xfrm>
          <a:prstGeom prst="roundRect">
            <a:avLst>
              <a:gd name="adj" fmla="val 3193"/>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683764"/>
            <a:ext cx="4952848" cy="172212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Shortcut jaldi pahunchane ka vada karta hai. Process sirf itna batata hai ki aap sach mein kahan khade hain, aur Week 1 ke end mein aapko theek yahi chahiye.</a:t>
            </a:r>
          </a:p>
        </p:txBody>
      </p:sp>
      <p:sp>
        <p:nvSpPr>
          <p:cNvPr id="11" name="Rounded Rectangle 10"/>
          <p:cNvSpPr/>
          <p:nvPr/>
        </p:nvSpPr>
        <p:spPr>
          <a:xfrm>
            <a:off x="457200" y="5489448"/>
            <a:ext cx="4202370"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8 · Kaam ke indicators, aur unki limits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457200"/>
            <a:ext cx="685800" cy="685800"/>
          </a:xfrm>
          <a:prstGeom prst="rect">
            <a:avLst/>
          </a:prstGeom>
        </p:spPr>
      </p:pic>
      <p:sp>
        <p:nvSpPr>
          <p:cNvPr id="3" name="TextBox 2"/>
          <p:cNvSpPr txBox="1"/>
          <p:nvPr/>
        </p:nvSpPr>
        <p:spPr>
          <a:xfrm>
            <a:off x="1371600" y="640080"/>
            <a:ext cx="7315200" cy="365760"/>
          </a:xfrm>
          <a:prstGeom prst="rect">
            <a:avLst/>
          </a:prstGeom>
          <a:noFill/>
        </p:spPr>
        <p:txBody>
          <a:bodyPr wrap="square" lIns="0" rIns="0" tIns="0" bIns="0" anchor="t">
            <a:noAutofit/>
          </a:bodyPr>
          <a:lstStyle/>
          <a:p>
            <a:pPr algn="l">
              <a:lnSpc>
                <a:spcPct val="100000"/>
              </a:lnSpc>
            </a:pPr>
            <a:r>
              <a:rPr sz="2400" b="1" i="0">
                <a:solidFill>
                  <a:srgbClr val="FFFFFF"/>
                </a:solidFill>
                <a:latin typeface="Segoe UI"/>
              </a:rPr>
              <a:t>Disclaimer</a:t>
            </a:r>
          </a:p>
        </p:txBody>
      </p:sp>
      <p:sp>
        <p:nvSpPr>
          <p:cNvPr id="4" name="Rounded Rectangle 3"/>
          <p:cNvSpPr/>
          <p:nvPr/>
        </p:nvSpPr>
        <p:spPr>
          <a:xfrm>
            <a:off x="457200" y="1554480"/>
            <a:ext cx="11277295" cy="2596896"/>
          </a:xfrm>
          <a:prstGeom prst="roundRect">
            <a:avLst>
              <a:gd name="adj" fmla="val 4929"/>
            </a:avLst>
          </a:prstGeom>
          <a:noFill/>
          <a:ln w="15875">
            <a:solidFill>
              <a:srgbClr val="00AE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731520" y="1828800"/>
            <a:ext cx="10728655" cy="2093976"/>
          </a:xfrm>
          <a:prstGeom prst="rect">
            <a:avLst/>
          </a:prstGeom>
          <a:noFill/>
        </p:spPr>
        <p:txBody>
          <a:bodyPr wrap="square" lIns="0" rIns="0" tIns="0" bIns="0" anchor="t">
            <a:noAutofit/>
          </a:bodyPr>
          <a:lstStyle/>
          <a:p>
            <a:pPr algn="l">
              <a:lnSpc>
                <a:spcPct val="112000"/>
              </a:lnSpc>
            </a:pPr>
            <a:r>
              <a:rPr sz="2000" b="0" i="0">
                <a:solidFill>
                  <a:srgbClr val="E8EEF6"/>
                </a:solidFill>
                <a:latin typeface="Segoe UI"/>
              </a:rP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6" name="TextBox 5"/>
          <p:cNvSpPr txBox="1"/>
          <p:nvPr/>
        </p:nvSpPr>
        <p:spPr>
          <a:xfrm>
            <a:off x="457200" y="4425696"/>
            <a:ext cx="11277295" cy="822960"/>
          </a:xfrm>
          <a:prstGeom prst="rect">
            <a:avLst/>
          </a:prstGeom>
          <a:noFill/>
        </p:spPr>
        <p:txBody>
          <a:bodyPr wrap="square" lIns="0" rIns="0" tIns="0" bIns="0" anchor="t">
            <a:noAutofit/>
          </a:bodyPr>
          <a:lstStyle/>
          <a:p>
            <a:pPr algn="l">
              <a:lnSpc>
                <a:spcPct val="100000"/>
              </a:lnSpc>
            </a:pPr>
            <a:r>
              <a:rPr sz="1500" b="0" i="0">
                <a:solidFill>
                  <a:srgbClr val="A8B8CE"/>
                </a:solidFill>
                <a:latin typeface="Segoe UI"/>
              </a:rPr>
              <a:t>Padhaai ki samagri. Is deck mein kuch bhi investment ki salaah ya recommendation nahi hai. Company ke naam aur chart ke prices sirf samjhane ke liye banaye gaye hain.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1   166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
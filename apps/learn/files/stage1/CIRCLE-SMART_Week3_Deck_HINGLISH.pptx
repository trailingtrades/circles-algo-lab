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CIRCLE S.M.A.R.T · Stage 1 · Week 3: Apna system banao, khud ko bachao</a:t>
            </a:r>
          </a:p>
          <a:p/>
          <a:p>
            <a:r>
              <a:t>Class ke liye week deck. Har din ka kram: divider, kahani, har topic ki ek slide, naye shabd, recap map, aaj ka kaam, template, class activity, AI Lab, 5 sawaalon ka quiz aur journal. Har slide ka talk track in notes mein hai. Quiz ke jawab is file mein nahi hain: learner app mein jawab dete hain, aur submit ke baad wahin explanation dikhta hai.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15: AI ke saath fundamental health check, aur corporate actions — 5-check health filter, market-cap tiers aur corporate actions</a:t>
            </a:r>
          </a:p>
          <a:p>
            <a:r>
              <a:t>Day 16: Algo Level 1: rules, flowchart aur alerts — Testable rules, flowchart aur alerts: machine dekhti hai, faisla aap karte hain</a:t>
            </a:r>
          </a:p>
          <a:p>
            <a:r>
              <a:t>Day 17: Backtest Level 1: haath se, samajh ke — 30-trade manual backtest, costs ke baad R mein</a:t>
            </a:r>
          </a:p>
          <a:p>
            <a:r>
              <a:t>Day 18: F&amp;O ke basics: samjho, khelo mat — Futures aur options: yeh hote kya hain, aur Stage 1 mein inhe sirf padhte kyun hain</a:t>
            </a:r>
          </a:p>
          <a:p>
            <a:r>
              <a:t>Day 19: Event calendar aur aapke no-trade days — Events, unki timing, aur har strategy ke liye no-trade rule</a:t>
            </a:r>
          </a:p>
          <a:p>
            <a:r>
              <a:t>Day 20: Trading psychology aur aapka Daily Routine Card — Rules todne wale saat biases, aur unhe pakadne wala routine</a:t>
            </a:r>
          </a:p>
          <a:p>
            <a:r>
              <a:t>Day 21: Finale: Week 3 ka review, aapka certificate aur Stage 2 ka raasta — Week 3 ek system ki tarah, process par tika result, certificate ki shartein aur Stage 2 ka raasta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15: AI ke saath fundamental health check, aur corporate actions</a:t>
            </a:r>
          </a:p>
          <a:p/>
          <a:p>
            <a:r>
              <a:t>Concept: 5-check health filter, market-cap tiers aur corporate actions</a:t>
            </a:r>
          </a:p>
          <a:p>
            <a:r>
              <a:t>AI Lab: Fill my health card: AI hisaab lagaye, aap verify karke faisla karein</a:t>
            </a:r>
          </a:p>
          <a:p>
            <a:r>
              <a:t>Mindset: Story bias: kahani ka jaadu</a:t>
            </a:r>
          </a:p>
          <a:p/>
          <a:p>
            <a:r>
              <a:t>Aaj ke baad: Is session ke baad aap kisi company ki apni filings se 5-check health filter chala paayenge, likhe hue rules se uska score nikaal paayenge, pass hue card ko Portfolio row mein badal paayenge, market-cap tiers aur sectors samjha paayenge, aur hisaab laga paayenge ki dividend, bonus, split, rights issue ya buyback aapke shares ke saath kya karta hai, uski ex-date aur record date ke saath.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Agla bada naam?</a:t>
            </a:r>
          </a:p>
          <a:p/>
          <a:p>
            <a:r>
              <a:t>(Sunday shaam, hafte ki video call. Aman pehle se join karke baitha hai, aur kaafi excited hai.)</a:t>
            </a:r>
          </a:p>
          <a:p>
            <a:r>
              <a:t>Aman: Sir, Anand Snacks agla bada naam banne wala hai. CEO ne TV par bola ki 500 naye stores kholenge, aur chart ne abhi naya high banaya hai. Aur haan, Gupta Cement ke chart mein ek hi din mein 50% ka crash dikh raha hai. Ab toh ekdum sasta mil raha hai.</a:t>
            </a:r>
          </a:p>
          <a:p>
            <a:r>
              <a:t>Mentor: Kahani toh achhi hai, Aman. Pehle do sawaal. Anand Snacks ke apne accounts kya kehte hain? Aur kya Gupta Cement ki value sach mein ek raat mein aadhi ho gayi, ya kuch aur hua?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Agla bada naam?</a:t>
            </a:r>
          </a:p>
          <a:p/>
          <a:p>
            <a:r>
              <a:t>Priya: Sir, maine NSE ki website par Anand Snacks dekha. Promoters ne apne 45% shares pledge kar rakhe hain. Aur teen saal se profit badh raha hai, lekin business se aane wala cash do saal se negative hai.</a:t>
            </a:r>
          </a:p>
          <a:p>
            <a:r>
              <a:t>Aman: Pledge? Negative cash? Interview mein toh yeh sab bataya hi nahi. Toh phir Gupta Cement ko kya hua?</a:t>
            </a:r>
          </a:p>
          <a:p>
            <a:r>
              <a:t>Mentor: 1:1 bonus hai: wahi nakli crash jo aapne Day 5 aur 6 mein dekha tha. 100 shares ab 200 ho gaye, har ek lagbhag aadhe price par. Na kuch loss hua, na kuch sasta hua. Aaj hum business ka ek chhota health check seekhenge, aur company ke woh events jo business badle bina chart hila dete hain.</a:t>
            </a:r>
          </a:p>
          <a:p/>
          <a:p>
            <a:r>
              <a:t>Seekh: Kahani batati hai ki kya ho sakta hai. Accounts batate hain ki asal mein kya hua hai. Pehle accounts padhiye.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 check, price target nahi</a:t>
            </a:r>
          </a:p>
          <a:p/>
          <a:p>
            <a:r>
              <a:t>Chart batata hai ki price kya kar raha hai, yeh nahi ki uske neeche ka business kitna healthy hai. Isliye is course mein fundamental analysis (company ke accounts padhkar uske business ko parakhna) sirf ek filter hai, price target nikalne ka tareeka nahi. Koi stock aapki swing watchlist mein aane se pehle ek chhota health check paas kare: numbers kahan milte hain yeh pata ho toh lagbhag paanch minute, pehli baar zyada time lagega. Market capitalisation yaani market cap = share price x kul shares ki ginti, matlab poori company ka price tag. Mutual funds ke liye SEBI ke rule mein market cap ke hisaab se top 100 companies large cap hain, 101 se 250 tak mid cap, aur baaki small cap. AMFI (mutual fund industry ki body) yeh list har chhe mahine mein nikalti hai, isliye company ka tier badal bhi sakta hai. Latest list amfiindia.com par dekh lijiye. Sector matlab ek hi tarah ka business karne wali companies ka group, jaise banks, IT, pharma ya cement.</a:t>
            </a:r>
          </a:p>
          <a:p/>
          <a:p>
            <a:r>
              <a:t>Udaharan: Anand Snacks Ltd ke 5 crore shares hain aur price Rs 200 hai, toh market cap Rs 1,000 crore hua. AMFI list mein iska rank 250 se bahut neeche hai, top 500 se bhi bahar: yaani small cap. Yeh toh us NIFTY 500 mein bhi nahi hai jahan se Day 11 ka screener shuru hota hai. Small caps aam taur par zyada tezi se upar-neeche hote hain aur inmein volume kam hota hai, isliye Day 2 wala spread aur slippage zyada chubhta hai. Pump-and-dump wale tip groups ko bhi yahi pasand aate hain. Sector bhi maayne rakhta hai: ek sector ke shares aksar saath chalte hain, isliye teen cement companies mein teen khule trades asal mein ek bade bet jaise hain, teen chhote nahi (Day 9). Isliye har watchlist stock ka sector, jo uske NSE quote page par likha hota hai, uske card ke saath note kijiye.</a:t>
            </a:r>
          </a:p>
          <a:p/>
          <a:p>
            <a:r>
              <a:t>Yaad rakhiye: Chart price ke baare mein batata hai, health check business ke baare mein. Dono chahiye.</a:t>
            </a:r>
          </a:p>
          <a:p/>
          <a:p>
            <a:r>
              <a:t>Slide par: Market cap aur tier · Made-up companies. Tier AMFI list ke rank se tay hota hai, kisi fixed rupee amount se nahi.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1 se 3: growth, margin, debt</a:t>
            </a:r>
          </a:p>
          <a:p/>
          <a:p>
            <a:r>
              <a:t>Jitne numbers chahiye, sab company ki apni filings mein milte hain: nseindia.com ya bseindia.com par quarterly results aur annual report. Free data sites wahi numbers copy karti hain aur kabhi-kabhi peeche reh jaati hain, isliye latest saal filing se mila lijiye. Check 1, growth: kya latest saal (saal 3) ka revenue (sales, yaani saamaan ya service bechkar kamaya paisa) teen saal mein se pehle saal (saal 1) se zyada hai? Check 2, margin: operating margin batata hai ki har Rs 100 ki sales mein se raw material, salary aur kiraye jaise chalane ke kharche nikalne ke baad kitne rupaye bachte hain; filing mein 'operating profit' ki koi line nahi hoti, isliye khud nikaaliye: sales minus (total expenses minus finance costs minus depreciation). Check 3, debt: debt-to-equity (D/E) udhaar liye paise ko business mein lage maalikon ke paise se compare karta hai, aur interest cover hai operating profit minus depreciation, bhaag finance costs (interest ka bill): yaani business ka apna profit interest ko kitni baar chuka sakta hai. Ek quarter nahi, teen saal ki direction dekhiye.</a:t>
            </a:r>
          </a:p>
          <a:p/>
          <a:p>
            <a:r>
              <a:t>Udaharan: Bharat Pumps Ltd: sales saal 1 ke Rs 4,200 crore se saal 3 mein Rs 5,000 crore ho gayi, yaani growth upar hai. Operating profit Rs 600 crore hai, matlab har Rs 100 ki sales mein Rs 12 bachte hain, lagbhag wahi 12% jo saal 1 mein tha. Depreciation (machines ki saalana ghisaai) ke Rs 150 crore ke baad interest aur tax se pehle Rs 450 crore bachte hain. Lekin company ne maalikon ke Rs 2,500 crore ke saamne Rs 3,000 crore udhaar le rakha hai, aur yeh Rs 450 crore Rs 300 crore ke interest ko sirf 1.5 baar cover karta hai. Us parivaar ki tarah sochiye jiski salary ka bada hissa EMI mein chala jaata hai: ek kharaab quarter, ya credit rating downgrade (rating agency ka maanna ki company ki udhaar chukane ki taakat kam hui hai), aur share gap-down khul sakta hai.</a:t>
            </a:r>
          </a:p>
          <a:p/>
          <a:p>
            <a:r>
              <a:t>Yaad rakhiye: Number ratne ki zaroorat nahi: teen saal ki direction padhiye, phir likhe hue cut-off lagaiye.</a:t>
            </a:r>
          </a:p>
          <a:p/>
          <a:p>
            <a:r>
              <a:t>Slide par: Bharat Pumps: check 1 se 3 · Course ka rule: debt-to-equity 1 se upar, ya interest cover 2 se neeche ho, toh debt ka flag. Is cover mein other income (jaise deposits par mila interest) shaamil nahi hai, isliye jo data site use jodti hai, woh zyada number dikha sakti hai. Yeh seekhne ke cut-off hain, kanoon nahi.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4 aur 5: promoter pledge aur cash flow</a:t>
            </a:r>
          </a:p>
          <a:p/>
          <a:p>
            <a:r>
              <a:t>Promoters matlab company ke founders ya control rakhne wale maalik. Har quarter file hone wala shareholding pattern batata hai ki unke paas kitne shares hain aur unmein se kitne pledge hain. Pledge ka matlab hai promoter ne loan ke badle apne shares girvi rakhe hain, bilkul gold loan ki tarah. Price gira toh lender aur shares ya cash maangta hai, aur girvi shares bech bhi sakta hai, jisse price aur neeche ja sakta hai. Promoter holding ka girna hamesha bechna nahi hota: company institutions ya employees ko naye shares de, toh ek bhi share beche bina promoter ka percentage kam ho jaata hai (100 crore mein se 60 crore shares = 60%; 20 crore naye shares ke baad 120 mein 60 = 50%); ise dilution kehte hain. Operating cash flow woh cash hai jo business ne saal bhar mein chalane ke kharche aur tax dene ke baad sach mein vasool kiya. Profit mein udhaar ki sales bhi gini jaati hai, isliye dono ko teen saal saath milakar dekhiye; tezi se badhti company mein ek kamzor saal normal ho sakta hai.</a:t>
            </a:r>
          </a:p>
          <a:p/>
          <a:p>
            <a:r>
              <a:t>Udaharan: Anand Snacks ke promoter ne Rs 50 crore ke loan ke liye Rs 100 crore ke shares girvi rakhe hain; lender aam taur par loan se lagbhag dugni value ke shares chahta hai. Price 40% gira toh yeh shares Rs 60 crore ke reh jaayenge, loan ke dugne se kaafi kam, aur lender aur maangega; promoter de nahi paaya toh lender bech dega aur price phir girega. Ab cash dekhiye. Teen saal mein Anand Snacks ka profit Rs 8, 10 aur 12 crore raha, kul Rs 30 crore, lekin operating cash flow Rs 2, minus 6 aur minus 8 crore raha: kul minus Rs 12 crore. Yeh us kirana dukaan jaisa hai jiske bahi-khaate mein profit dikhta hai par galla khaali rehta hai, kyunki zyadatar bikri abhi udhaar par hai.</a:t>
            </a:r>
          </a:p>
          <a:p/>
          <a:p>
            <a:r>
              <a:t>Yaad rakhiye: Profit woh hai jo bahi-khata kehta hai. Cash woh hai jo galle mein aaya.</a:t>
            </a:r>
          </a:p>
          <a:p/>
          <a:p>
            <a:r>
              <a:t>Slide par: Pledge ka chakkar · Har chakkar price ko aur neeche dhakel sakta hai. Isiliye aage ke scoring rules mein bada ya badhta pledge akele hi stock ko list se bahar kar deta hai.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Card ka score: pehle rules, kahani sabse baad mein</a:t>
            </a:r>
          </a:p>
          <a:p/>
          <a:p>
            <a:r>
              <a:t>Ab likhe hue rules se card ka score nikaaliye: is course mein promoter ke 10% se zyada shares pledge hon, ya pledge % lagatar do quarter se badh raha ho, toh sirf yahi ek baat stock ko swing watchlist se bahar kar deti hai. Baaki chaar checks gine jaate hain (saal 3 ki sales saal 1 se kam; margin saal 2 aur saal 3 dono mein gira; D/E 1 se upar ya interest cover 2 se neeche; teen saal ka cash teen saal ke profit ke aadhe se kam, ya teen saal ka profit ya cash zero ya usse neeche), aur do ya zyada counted flags aaye toh bhi stock bahar; wajah journal mein likh lijiye. Banks, NBFCs (bank ke alawa udhaar dene wali companies) aur insurance companies par yeh check fit nahi hota, kyunki udhaar lena-dena ya logon ka paisa invest karna hi unka business hai, isliye Stage 1 mein unhe swing watchlist se bahar rakhiye. Ab se card chart se pehle aata hai: jo stock ismein fail ho, woh aapke swing flowchart (Day 16) tak pahunchta hi nahi, aur jo pass ho, uska card result Portfolio row mein Full Why 1, yaani business ka reason, ban jaata hai. Hisaab-kitaab ka kaam AI se karwaiye, lekin sirf wahi numbers paste kijiye jo aapne khud copy kiye hain, AI ke har number ko check kijiye, aur faisla khud kijiye. Story bias hamari woh aadat hai jismein ek chamakdar kahani, jaise naya product, mashhoor CEO ya 'agla giant', sookhe numbers par bhaari pad jaati hai; isiliye card pehle aata hai aur kahani sabse baad mein.</a:t>
            </a:r>
          </a:p>
          <a:p/>
          <a:p>
            <a:r>
              <a:t>Udaharan: Bharat Pumps ke liye Priya ka card: growth upar, margin steady, debt par flag, pledge zero, aur teen saal ka cash Rs 270 crore, profit Rs 300 crore ke saamne. Sirf ek counted flag, isliye stock uski list mein rehta hai, journal mein 'debt: nazar rakho' ke saath. Anand Snacks: promoter ke 45% shares pledge, jo akele hi knock-out hai, upar se teen saal ka cash minus Rs 12 crore, profit Rs 30 crore ke saamne. Stock uski list mein aata hi nahi, 500 stores wali kahani chahe kitni bhi achhi lage. Aman ko kahani ab bhi pasand hai. Pasand karna chalega; us par trade karna nahi.</a:t>
            </a:r>
          </a:p>
          <a:p/>
          <a:p>
            <a:r>
              <a:t>Yaad rakhiye: Card ka score likhe hue rules dete hain. Kahani nahi, AI bhi nahi.</a:t>
            </a:r>
          </a:p>
          <a:p/>
          <a:p>
            <a:r>
              <a:t>Slide par: Card ka score kaise banta hai · Yeh seekhne ke liye bane rough rules hain, patthar ki lakeer nahi. Kisi company ko dekhne se pehle inhe likh lijiye.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Card ka score: pehle rules, kahani sabse baad mein</a:t>
            </a:r>
          </a:p>
          <a:p/>
          <a:p>
            <a:r>
              <a:t>Ab likhe hue rules se card ka score nikaaliye: is course mein promoter ke 10% se zyada shares pledge hon, ya pledge % lagatar do quarter se badh raha ho, toh sirf yahi ek baat stock ko swing watchlist se bahar kar deti hai. Baaki chaar checks gine jaate hain (saal 3 ki sales saal 1 se kam; margin saal 2 aur saal 3 dono mein gira; D/E 1 se upar ya interest cover 2 se neeche; teen saal ka cash teen saal ke profit ke aadhe se kam, ya teen saal ka profit ya cash zero ya usse neeche), aur do ya zyada counted flags aaye toh bhi stock bahar; wajah journal mein likh lijiye. Banks, NBFCs (bank ke alawa udhaar dene wali companies) aur insurance companies par yeh check fit nahi hota, kyunki udhaar lena-dena ya logon ka paisa invest karna hi unka business hai, isliye Stage 1 mein unhe swing watchlist se bahar rakhiye. Ab se card chart se pehle aata hai: jo stock ismein fail ho, woh aapke swing flowchart (Day 16) tak pahunchta hi nahi, aur jo pass ho, uska card result Portfolio row mein Full Why 1, yaani business ka reason, ban jaata hai. Hisaab-kitaab ka kaam AI se karwaiye, lekin sirf wahi numbers paste kijiye jo aapne khud copy kiye hain, AI ke har number ko check kijiye, aur faisla khud kijiye. Story bias hamari woh aadat hai jismein ek chamakdar kahani, jaise naya product, mashhoor CEO ya 'agla giant', sookhe numbers par bhaari pad jaati hai; isiliye card pehle aata hai aur kahani sabse baad mein.</a:t>
            </a:r>
          </a:p>
          <a:p/>
          <a:p>
            <a:r>
              <a:t>Udaharan: Bharat Pumps ke liye Priya ka card: growth upar, margin steady, debt par flag, pledge zero, aur teen saal ka cash Rs 270 crore, profit Rs 300 crore ke saamne. Sirf ek counted flag, isliye stock uski list mein rehta hai, journal mein 'debt: nazar rakho' ke saath. Anand Snacks: promoter ke 45% shares pledge, jo akele hi knock-out hai, upar se teen saal ka cash minus Rs 12 crore, profit Rs 30 crore ke saamne. Stock uski list mein aata hi nahi, 500 stores wali kahani chahe kitni bhi achhi lage. Aman ko kahani ab bhi pasand hai. Pasand karna chalega; us par trade karna nahi.</a:t>
            </a:r>
          </a:p>
          <a:p/>
          <a:p>
            <a:r>
              <a:t>Yaad rakhiye: Card ka score likhe hue rules dete hain. Kahani nahi, AI bhi nahi.</a:t>
            </a:r>
          </a:p>
          <a:p/>
          <a:p>
            <a:r>
              <a:t>Slide par: Card ka score kaise banta hai · Yeh seekhne ke liye bane rough rules hain, patthar ki lakeer nahi. Kisi company ko dekhne se pehle inhe likh lijiye.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Corporate actions: jab company aapke shares mein badlaav karti hai</a:t>
            </a:r>
          </a:p>
          <a:p/>
          <a:p>
            <a:r>
              <a:t>Corporate action company ka woh faisla hai jo badal deta hai ki har shareholder ke paas kya hai ya use kya milega. Dividend profit mein se har share par diya gaya cash hai, aur ex-date par price aam taur par lagbhag utna hi gir jaata hai. Bonus mein free extra shares milte hain (1:1 matlab har ek share par ek naya share), aur split mein har share chhote shares mein bant jaata hai (face value, yaani har share ki ek fixed kitaabi rakam, market price nahi, Rs 10 se Rs 2 hui toh ek share paanch ban jaata hai); dono mein price usi ratio mein adjust hota hai aur aapki kul value wahi rehti hai. Rights issue mein shareholders ko tay price par, aam taur par market se kam, naye shares offer hote hain: aap apply kar sakte hain, apna right (rights entitlement) exchange par bech sakte hain, ya chhod sakte hain, aur chhodna mehenga padta hai, kyunki price neeche adjust hota hai aur bina use kiya right bekaar ho jaata hai. Buyback mein company apne kuch shares ek announce kiye hue price par wapas khareedti hai; agar shareholders company ki zaroorat se zyada shares dein, toh aapke shares ka sirf ek hissa accept hota hai (acceptance ratio), aur chart adjust nahi hota. Dividend aur buyback ke tax ke apne rules hain: CA se poochhiye.</a:t>
            </a:r>
          </a:p>
          <a:p/>
          <a:p>
            <a:r>
              <a:t>Udaharan: Aman ka 'crash' (neeche chart): kuch hafte pehle Gupta Cement Ltd ek Thursday ko Rs 818 par band hua aur Friday ko lagbhag Rs 409 par khula, kyunki Friday 1:1 bonus ki ex-date thi. Rs 81,800 ke 100 shares ab Rs 409 ke 200 shares ban gaye, phir bhi Rs 81,800; extra 100 shares record date ke ek-do din baad demat mein aate hain, isliye Friday ko 100 hi dikhein toh ghabraiye mat. Rights aur buyback mein aapka faisla maayne rakhta hai. Maan lijiye aapke paas Rs 800 ke 100 shares hain, aur company har 4 shares par 1 naya share Rs 600 mein offer karti hai: ex-date ke baad price (4 x 800 + 600) ÷ 5 = Rs 760 ki taraf jaata hai. Apply kiya toh Rs 15,000 dekar 125 shares milte hain, jinki value Rs 95,000 hai, yaani aapke Rs 80,000 plus jo aapne diya; apne 25 rights lagbhag Rs 160 prati right (760 - 600) par beche toh bhi lagbhag Rs 80,000 bache rehte hain; chhod diye toh sirf Rs 76,000 bachte hain. Rs 900 ke buyback mein agar aapke 100 mein se sirf 10 shares accept hon, toh aapko Rs 9,000 milte hain, jo Rs 800 ke bhaav se Rs 1,000 zyada hain, aur baaki 90 shares aapke paas rehte hain. Kisi bhi achanak bahut bade gap par bharosa karne se pehle nseindia.com par corporate actions page check kijiye.</a:t>
            </a:r>
          </a:p>
          <a:p/>
          <a:p>
            <a:r>
              <a:t>Yaad rakhiye: Bonus ya split shares ki ginti badalta hai, aapki holding ki value nahi. Rights issue mein offer chhod dena hi woh ek faisla hai jo aapko nuksaan deta hai.</a:t>
            </a:r>
          </a:p>
          <a:p/>
          <a:p>
            <a:r>
              <a:t>Slide par: Crash? Nahi, 1:1 bonus · Gupta Cement ka unadjusted daily chart. 100 shares x Rs 818 = 200 shares x Rs 409 = Rs 81,800. Unadjusted data par EMA, RSI aur ATR is gap ko asli girawat samajh lete hain (Day 11).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 date aur ex-date: fayda kise milega</a:t>
            </a:r>
          </a:p>
          <a:p/>
          <a:p>
            <a:r>
              <a:t>Record date woh din hai jab company depositories se shareholders ki list leti hai; jo us list mein hai, use dividend, bonus ya rights milte hain. Ex-date woh pehla din hai jab share us fayde ke bina trade hota hai. India mein equity settlement T+1 hai, isliye ab ex-date aur record date ek hi din padte hain, aur fayda lena hai toh ex-date se pichhle trading day tak khareedna hoga. Ex-date par khareedne wale ko dividend nahi milta, kyunki uski kharid ek din late settle hoti hai; ex-date par bechne wale shareholder ko dividend phir bhi milta hai, kyunki uski bikri list banne ke baad settle hoti hai. Ex-date par price aam taur par lagbhag dividend jitna neeche khulta hai, isliye dividend free ka paisa nahi hai, aur yeh aapki taxable income mein gina jaata hai (CA se poochhiye). Dates aur rules badal sakte hain, isliye hamesha nseindia.com par corporate actions page check kijiye.</a:t>
            </a:r>
          </a:p>
          <a:p/>
          <a:p>
            <a:r>
              <a:t>Udaharan: Sharma Textiles Ltd Rs 12 ka dividend declare karti hai, aur Tuesday ex-date bhi hai aur record date bhi. Priya Monday ko Rs 612 par 50 shares khareedti hai, Rs 30,600 dekar; yeh Tuesday ko settle hote hain, toh woh list mein aa jaati hai. Tuesday ko share lagbhag Rs 600 par khulta hai. Uske 50 shares ki value ab lagbhag Rs 30,000, plus Rs 600 dividend (50 x Rs 12): Rs 30,600, tax aur kharchon se pehle lagbhag utna hi jitna usne diya tha; Rs 600 payment date par aayenge. Aman Tuesday ko Rs 600 par khareedta hai aur use dividend nahi milta, lekin usne har share par Rs 12 kam diye. Dono mein se kisi ko kuch free nahi mila. Day 19 mein ex-dates aapke no-trade calendar mein judengi.</a:t>
            </a:r>
          </a:p>
          <a:p/>
          <a:p>
            <a:r>
              <a:t>Yaad rakhiye: Fayda chahiye toh ex-date se pichhle trading day tak khareed lijiye. Price toh har haal mein adjust hota hai.</a:t>
            </a:r>
          </a:p>
          <a:p/>
          <a:p>
            <a:r>
              <a:t>Slide par: T+1 mein dividend ka calendar · Din sirf example ke liye hain. Asli ex-date aur record date NSE ke corporate actions page par milti hain.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cap: Share price x kul shares: poori company ka price tag. Rank se tay hota hai ki large, mid ya small cap.</a:t>
            </a:r>
          </a:p>
          <a:p>
            <a:r>
              <a:t>Debt-to-equity: Udhaar ka paisa ÷ business mein maalikon ka paisa. 1 se upar matlab udhaar maalikon ke apne paise se zyada.</a:t>
            </a:r>
          </a:p>
          <a:p>
            <a:r>
              <a:t>Promoter pledge: Loan ke badle girvi rakhe promoter ke shares. Price gire toh lender unhe bech sakta hai.</a:t>
            </a:r>
          </a:p>
          <a:p>
            <a:r>
              <a:t>Operating cash flow: Chalane ke kharche aur tax dene ke baad business ne saal bhar mein sach mein jo cash vasool kiya. Ise teen saal ke profit se milaiye.</a:t>
            </a:r>
          </a:p>
          <a:p>
            <a:r>
              <a:t>Corporate action: Company ka woh faisla jo shareholders ki holding ya milne wali cheez badalta hai: dividend, bonus, split, rights issue ya buyback.</a:t>
            </a:r>
          </a:p>
          <a:p>
            <a:r>
              <a:t>Ex-date aur record date: Record date: jis din shareholders ki list li jaati hai. Ex-date: pehla din jab share fayde ke bina trade hota hai. T+1 mein dono ek hi din padte hain.</a:t>
            </a:r>
          </a:p>
          <a:p>
            <a:r>
              <a:t>Interest cover: Operating profit minus depreciation, bhaag finance costs: business ka apna profit interest ka bill kitni baar chuka sakta hai. 2 se neeche course mein debt ka flag hai.</a:t>
            </a:r>
          </a:p>
          <a:p>
            <a:r>
              <a:t>Rights issue aur buyback: Rights issue: shareholders ko tay price par naye shares ka offer; aap apply kar sakte hain ya right bech sakte hain, aur chhodne se value ghatti hai. Buyback: company tay price par shares wapas khareedti hai, aur aksar aapke diye shares ka sirf ek hissa accept karti hai.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 check + corporate actions</a:t>
            </a:r>
          </a:p>
          <a:p>
            <a:r>
              <a:t>Filter, target nahi: Chart = price, card = business; Large, mid, small rank se; Ek sector = ek bada bet</a:t>
            </a:r>
          </a:p>
          <a:p>
            <a:r>
              <a:t>Check 1 se 3: Teen saal mein sales upar?; Har Rs 100 sales par margin; D/E aur interest cover</a:t>
            </a:r>
          </a:p>
          <a:p>
            <a:r>
              <a:t>Check 4 aur 5: Pledge ka chakkar girawat badha sakta hai; Dilution se bhi holding gir sakti hai; Teen saal ka cash vs profit</a:t>
            </a:r>
          </a:p>
          <a:p>
            <a:r>
              <a:t>Score: Pledge 10% se zyada ya badhta = bahar; 2+ flags = bahar; AI hisaab kare, faisla aapka; Kahani sabse baad mein</a:t>
            </a:r>
          </a:p>
          <a:p>
            <a:r>
              <a:t>Corporate actions: Dividend, bonus, split; Rights: apply, becho ya gavao; Buyback: kuch hissa accept; Unadjusted chart mein nakli gap</a:t>
            </a:r>
          </a:p>
          <a:p>
            <a:r>
              <a:t>Dates: Ex-date = record date (T+1); Ex-date se pichhle trading day tak khareedein; Price lagbhag dividend jitna girta hai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Mentor ki practice filing ko Health Card par score kijiye aur AI se check kijiye, phir apni watchlist ke ek asli stock ka card banaiye, pass ho toh use Portfolio row mein badliye, aur ek asli corporate action padhiye (step 1, 2 aur 6 mein lagbhag 55 minute; asli stock ka card aur uski Portfolio row, step 3-5, lagbhag 30 minute aur lete hain aur kal shaam, Day 16 ke flowchart se pehle, bhi kiye ja sakte hain).</a:t>
            </a:r>
          </a:p>
          <a:p/>
          <a:p>
            <a:r>
              <a:t>1. 'Aapka template' mein Kiran Foods Ltd ki practice filing (made-up numbers) kholiye aur phone calculator se Health Card ka Practice column bhariye: har saal ka operating profit aur margin, D/E, interest cover, teen saal ka cash teen saal ke profit ke saamne, aur pledge.</a:t>
            </a:r>
          </a:p>
          <a:p>
            <a:r>
              <a:t>2. Practice filing ke numbers AI Lab ke prompt 'Fill my health card' mein paste kijiye, AI ke use kiye har number ko filing se milakar tick kijiye, aur uske flags ko apne flags aur card ke neeche diye answer key se milaiye.</a:t>
            </a:r>
          </a:p>
          <a:p>
            <a:r>
              <a:t>3. Ab apni Day 11 watchlist ya kisi open paper trade ka ek asli stock lijiye (tip wala kabhi nahi; bank, NBFC ya insurer nahi). Uske nseindia.com page par sector note kijiye, aur pichhle chaar quarter ke shareholding pattern mein pledge wala hissa promoter shares ke % ke roop mein likhiye ('encumbered' bhi ginta hai; promoter na ho toh 'no promoter' likhiye).</a:t>
            </a:r>
          </a:p>
          <a:p>
            <a:r>
              <a:t>4. Usi stock ke liye teen saal ki sales, total expenses, finance costs, depreciation, net profit aur operating cash flow, aur latest borrowings aur equity, uske annual results ya kisi free data site se lijiye (latest saal filing se milakar tick kijiye), aur Aapka stock column bhariye. Result aur faisla karne wala check journal mein likhiye; naam kisi group mein kabhi post mat kijiye.</a:t>
            </a:r>
          </a:p>
          <a:p>
            <a:r>
              <a:t>5. Pass ho toh app ka Portfolio page kholiye aur ek poori row (virtual) jodiye; row sirf liye gaye trade ki nahi, padhe hue stock ki bhi ho sakti hai: jab tak paper trade enter na ho, entry date, qty aur entry price khaali chhodiye, aur yeh open trade mein nahi gini jaati. Row mein: Full Why 1 = aapka card result aur faisla karne wala check; Full Why 2 = aapka Day 11 wala chart reason; sabse bada risk aur uska aapka jawab; price-stop = aapke Day 11 plan card ka stop (entry se 1.5 x ATR 14 neeche); Why-stop = card ka woh check jo ise bahar kar dega; review point = agli results date. Fail ho toh wajah journal mein likhiye.</a:t>
            </a:r>
          </a:p>
          <a:p>
            <a:r>
              <a:t>6. nseindia.com par corporate actions ki list kholiye, koi haal ka dividend, bonus, split, rights issue ya buyback chuniye, aur made-up 100 shares ke liye 'Corporate actions, numbers mein' ki ek khaali row bhariye, uski ex-date aur record date ke saath. Dividend ho toh free TradingView chart par ex-date ka open pichhle close se milaiye.</a:t>
            </a:r>
          </a:p>
          <a:p/>
          <a:p>
            <a:r>
              <a:t>Aaj ke baad: Is session ke baad aap kisi company ki apni filings se 5-check health filter chala paayenge, likhe hue rules se uska score nikaal paayenge, pass hue card ko Portfolio row mein badal paayenge, market-cap tiers aur sectors samjha paayenge, aur hisaab laga paayenge ki dividend, bonus, split, rights issue ya buyback aapke shares ke saath kya karta hai, uski ex-date aur record date ke saath.</a:t>
            </a:r>
          </a:p>
          <a:p/>
          <a:p>
            <a:r>
              <a:t>Tools: NSE website (nseindia.com); Google Sheets; TradingView free chart; Koi bhi AI chat; App ka Portfolio page</a:t>
            </a:r>
          </a:p>
          <a:p/>
          <a:p>
            <a:r>
              <a:t>Educational content only, not investment advice. Company names and example figures are made up for illustration, and no fair value, target price or buy/sell view is given. No affiliation with any website or tool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Mentor ki practice filing ko Health Card par score kijiye aur AI se check kijiye, phir apni watchlist ke ek asli stock ka card banaiye, pass ho toh use Portfolio row mein badliye, aur ek asli corporate action padhiye (step 1, 2 aur 6 mein lagbhag 55 minute; asli stock ka card aur uski Portfolio row, step 3-5, lagbhag 30 minute aur lete hain aur kal shaam, Day 16 ke flowchart se pehle, bhi kiye ja sakte hain).</a:t>
            </a:r>
          </a:p>
          <a:p/>
          <a:p>
            <a:r>
              <a:t>1. 'Aapka template' mein Kiran Foods Ltd ki practice filing (made-up numbers) kholiye aur phone calculator se Health Card ka Practice column bhariye: har saal ka operating profit aur margin, D/E, interest cover, teen saal ka cash teen saal ke profit ke saamne, aur pledge.</a:t>
            </a:r>
          </a:p>
          <a:p>
            <a:r>
              <a:t>2. Practice filing ke numbers AI Lab ke prompt 'Fill my health card' mein paste kijiye, AI ke use kiye har number ko filing se milakar tick kijiye, aur uske flags ko apne flags aur card ke neeche diye answer key se milaiye.</a:t>
            </a:r>
          </a:p>
          <a:p>
            <a:r>
              <a:t>3. Ab apni Day 11 watchlist ya kisi open paper trade ka ek asli stock lijiye (tip wala kabhi nahi; bank, NBFC ya insurer nahi). Uske nseindia.com page par sector note kijiye, aur pichhle chaar quarter ke shareholding pattern mein pledge wala hissa promoter shares ke % ke roop mein likhiye ('encumbered' bhi ginta hai; promoter na ho toh 'no promoter' likhiye).</a:t>
            </a:r>
          </a:p>
          <a:p>
            <a:r>
              <a:t>4. Usi stock ke liye teen saal ki sales, total expenses, finance costs, depreciation, net profit aur operating cash flow, aur latest borrowings aur equity, uske annual results ya kisi free data site se lijiye (latest saal filing se milakar tick kijiye), aur Aapka stock column bhariye. Result aur faisla karne wala check journal mein likhiye; naam kisi group mein kabhi post mat kijiye.</a:t>
            </a:r>
          </a:p>
          <a:p>
            <a:r>
              <a:t>5. Pass ho toh app ka Portfolio page kholiye aur ek poori row (virtual) jodiye; row sirf liye gaye trade ki nahi, padhe hue stock ki bhi ho sakti hai: jab tak paper trade enter na ho, entry date, qty aur entry price khaali chhodiye, aur yeh open trade mein nahi gini jaati. Row mein: Full Why 1 = aapka card result aur faisla karne wala check; Full Why 2 = aapka Day 11 wala chart reason; sabse bada risk aur uska aapka jawab; price-stop = aapke Day 11 plan card ka stop (entry se 1.5 x ATR 14 neeche); Why-stop = card ka woh check jo ise bahar kar dega; review point = agli results date. Fail ho toh wajah journal mein likhiye.</a:t>
            </a:r>
          </a:p>
          <a:p>
            <a:r>
              <a:t>6. nseindia.com par corporate actions ki list kholiye, koi haal ka dividend, bonus, split, rights issue ya buyback chuniye, aur made-up 100 shares ke liye 'Corporate actions, numbers mein' ki ek khaali row bhariye, uski ex-date aur record date ke saath. Dividend ho toh free TradingView chart par ex-date ka open pichhle close se milaiye.</a:t>
            </a:r>
          </a:p>
          <a:p/>
          <a:p>
            <a:r>
              <a:t>Aaj ke baad: Is session ke baad aap kisi company ki apni filings se 5-check health filter chala paayenge, likhe hue rules se uska score nikaal paayenge, pass hue card ko Portfolio row mein badal paayenge, market-cap tiers aur sectors samjha paayenge, aur hisaab laga paayenge ki dividend, bonus, split, rights issue ya buyback aapke shares ke saath kya karta hai, uski ex-date aur record date ke saath.</a:t>
            </a:r>
          </a:p>
          <a:p/>
          <a:p>
            <a:r>
              <a:t>Tools: NSE website (nseindia.com); Google Sheets; TradingView free chart; Koi bhi AI chat; App ka Portfolio page</a:t>
            </a:r>
          </a:p>
          <a:p/>
          <a:p>
            <a:r>
              <a:t>Educational content only, not investment advice. Company names and example figures are made up for illustration, and no fair value, target price or buy/sell view is given. No affiliation with any website or tool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filing: Kiran Foods Ltd (made-up)</a:t>
            </a:r>
          </a:p>
          <a:p/>
          <a:p>
            <a:r>
              <a:t>Shareholding pattern, pichhle 4 quarter: promoters ke paas 52%, aur har quarter mein promoter shares ka 0% pledge.</a:t>
            </a:r>
          </a:p>
          <a:p/>
          <a:p>
            <a:r>
              <a:t>Line (Rs crore) | Saal 1 | Saal 2 | Saal 3</a:t>
            </a:r>
          </a:p>
          <a:p>
            <a:r>
              <a:t>Sales (revenue from operations) | 8,000 | 8,500 | 9,000</a:t>
            </a:r>
          </a:p>
          <a:p>
            <a:r>
              <a:t>Total expenses | 7,140 | 7,660 | 8,010</a:t>
            </a:r>
          </a:p>
          <a:p>
            <a:r>
              <a:t>Inmein se: finance costs | 60 | 55 | 50</a:t>
            </a:r>
          </a:p>
          <a:p>
            <a:r>
              <a:t>Inmein se: depreciation | 200 | 210 | 220</a:t>
            </a:r>
          </a:p>
          <a:p>
            <a:r>
              <a:t>Net profit | 645 | 630 | 742</a:t>
            </a:r>
          </a:p>
          <a:p>
            <a:r>
              <a:t>Net cash from operating activities | 600 | 520 | 760</a:t>
            </a:r>
          </a:p>
          <a:p>
            <a:r>
              <a:t>Total borrowings (sirf latest saal) | - | - | 900</a:t>
            </a:r>
          </a:p>
          <a:p>
            <a:r>
              <a:t>Total equity (sirf latest saal) | - | - | 4,500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 Card: model, practice aur aapka</a:t>
            </a:r>
          </a:p>
          <a:p/>
          <a:p>
            <a:r>
              <a:t>Practice column ka answer key: operating profit 1,120, 1,105 aur 1,260, yaani margin 14.0%, 13.0% aur 14.0% (ek hi baar gira, do baar nahi: flag nahi); D/E 900 ÷ 4,500 = 0.2; interest cover (1,260 - 220) ÷ 50 = 20.8x; teen saal ka cash 1,880, teen saal ke profit 2,017 ke saamne. Kiran Foods Ltd mein 0 counted flags aur koi knock-out nahi, isliye woh list mein rehta hai. Aapki ginti alag aayi? Apne stock ka card banane se pehle woh rule dhoondhiye jise aapne galat padha.</a:t>
            </a:r>
          </a:p>
          <a:p/>
          <a:p>
            <a:r>
              <a:t>Check (flag kab...) | Priya: Bharat Pumps | Practice: Kiran Foods | Aapka stock</a:t>
            </a:r>
          </a:p>
          <a:p>
            <a:r>
              <a:t>Sector | Capital goods (pumps) |  | </a:t>
            </a:r>
          </a:p>
          <a:p>
            <a:r>
              <a:t>1 Growth: saal 3 ki sales saal 1 se kam? | Rs 4,200 se 5,000 cr: upar, flag nahi |  | </a:t>
            </a:r>
          </a:p>
          <a:p>
            <a:r>
              <a:t>2 Margin: saal 2 mein gira aur saal 3 mein phir gira? | 11.9%, 12.0%, 12.0%: flag nahi |  | </a:t>
            </a:r>
          </a:p>
          <a:p>
            <a:r>
              <a:t>3 Debt: D/E 1 se upar, ya interest cover 2 se neeche? | D/E 1.2; cover 1.5x: FLAG |  | </a:t>
            </a:r>
          </a:p>
          <a:p>
            <a:r>
              <a:t>4 Pledge: 10% se zyada, ya lagatar 2 quarter se badha? (knock-out) | Chaaron quarter 0%: nahi |  | </a:t>
            </a:r>
          </a:p>
          <a:p>
            <a:r>
              <a:t>5 Cash: teen saal ka cash teen saal ke profit ke aadhe se kam, ya dono mein se koi zero ya neeche? | Rs 270 cr vs Rs 300 cr: flag nahi |  | </a:t>
            </a:r>
          </a:p>
          <a:p>
            <a:r>
              <a:t>Knock-out? | Nahi |  | </a:t>
            </a:r>
          </a:p>
          <a:p>
            <a:r>
              <a:t>Counted flags (2 ya zyada = bahar) | 1 (debt) |  | </a:t>
            </a:r>
          </a:p>
          <a:p>
            <a:r>
              <a:t>Faisla aur ek wajah | List mein; journal: 'debt: nazar rakho' |  | </a:t>
            </a:r>
          </a:p>
          <a:p>
            <a:r>
              <a:t>Portfolio row: Full Why 1 | Card: 1 flag (debt), pledge nahi, 3 saal sales upar | - |</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Corporate actions, numbers mein</a:t>
            </a:r>
          </a:p>
          <a:p/>
          <a:p>
            <a:r>
              <a:t>Jo action aapne nseindia.com par padha, uske liye khaali row bhariye: pehle cell mein uski ex-date aur record date likhiye.</a:t>
            </a:r>
          </a:p>
          <a:p/>
          <a:p>
            <a:r>
              <a:t>Action | Baad mein shares | Baad mein price | Aapki value</a:t>
            </a:r>
          </a:p>
          <a:p>
            <a:r>
              <a:t>Rs 10 dividend | 100 | ~Rs 790 | Rs 79,000 + Rs 1,000 cash</a:t>
            </a:r>
          </a:p>
          <a:p>
            <a:r>
              <a:t>1:1 bonus | 200 | ~Rs 400 | Rs 80,000</a:t>
            </a:r>
          </a:p>
          <a:p>
            <a:r>
              <a:t>Split: face value Rs 10 se Rs 2 | 500 | ~Rs 160 | Rs 80,000</a:t>
            </a:r>
          </a:p>
          <a:p>
            <a:r>
              <a:t>Rights, har 4 par 1, Rs 600 mein: apply, Rs 15,000 diye | 125 | ~Rs 760 | Rs 95,000 (80,000 + 15,000 diye)</a:t>
            </a:r>
          </a:p>
          <a:p>
            <a:r>
              <a:t>Rights: apne 25 rights beche | 100 | ~Rs 760 | Rs 76,000 + ~Rs 4,000 cash</a:t>
            </a:r>
          </a:p>
          <a:p>
            <a:r>
              <a:t>Rights: chhod diye | 100 | ~Rs 760 | Rs 76,000 (Rs 4,000 gaye)</a:t>
            </a:r>
          </a:p>
          <a:p>
            <a:r>
              <a:t>Buyback Rs 900 par: aapke 100 mein se 10 accept | 90 | ~Rs 800 | Rs 72,000 + Rs 9,000 cash = Rs 81,000</a:t>
            </a:r>
          </a:p>
          <a:p>
            <a:r>
              <a:t>+ 2 ___</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Flag-count reveal: sab log 10 minute mein akele Kiran Foods ki practice filing score karte hain, flags ki ginti ek parchi par likhte hain, aur saari parchiyan ek saath kholi jaati hain. Jiski ginti alag ho, woh zor se woh rule padhta hai jisne use uljhaya. Doosra round, Story vs Numbers: ek insaan TV anchor ki awaaz mein Aman ki '500 stores' wali line padhta hai, aur baaki batate hain ki paanch mein se kaunsa check use parkhega. Akele seekh rahe hain? Dono round Health Card ke neeche diye answer key ke saath kheliye. Kisi asli company ka naam share nahi hota.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Fill my health card</a:t>
            </a:r>
          </a:p>
          <a:p>
            <a:r>
              <a:t>You are a careful assistant helping a beginner run a 5-check health filter on one listed Indian company, or on a made-up practice company from my course. I will paste the company's sector and numbers I copied myself from its annual results (consolidated if available) for 3 years (year 1 is the oldest, year 3 the latest): sales (revenue from operations), total expenses, finance costs, depreciation, net profit and net cash from operating activities for each year; for the latest year, total borrowings (non-current plus current) and total equity (share capital plus other equity); and, for the last 4 quarters, promoter holding % and pledged shares as a % of promoter shares (or 'no promoter'). If the sector I give is a bank, NBFC or insurer, say the check does not fit and stop. Use ONLY the numbers I paste. If a number is missing, write 'missing' and never fill it from memory. For each year work out operating profit = sales - (total expenses - finance costs - depreciation) and operating margin = operating profit / sales. For the latest year work out interest cover = (operating profit - depreciation) / finance costs; this leaves out other income, so say that a data site's figure may differ. For each check (growth, margin, debt, promoter pledge, cash flow) show the calculation, the direction (better / flat / worse) and whether it triggers any of these course flags: sales in year 3 lower than year 1; operating margin lower in year 2 than year 1 AND lower in year 3 than year 2; latest debt-to-equity (total borrowings / total equity) above 1 or interest cover below 2; pledge above 10% of promoter shares or pledge % up two quarters in a row (a knock-out; if there is no promoter, write no promoter); 3-year operating cash flow below half of 3-year net profit, or 3-year net profit or 3-year operating cash flow at zero or below. If finance costs are zero, write 'no interest' and do not flag interest cover. If total equity is zero or negative, count a debt flag. Do not make the final decision for me: end with the number of knock-outs, the number of counted flags, and the list of numbers I should re-check in the filings. Do not give a valuation, fair value, target price, rating or any buy or sell view, and do not mention expected returns. Do not ask me for any personal details.</a:t>
            </a:r>
          </a:p>
          <a:p/>
          <a:p>
            <a:r>
              <a:t>Numbers:</a:t>
            </a:r>
          </a:p>
          <a:p>
            <a:r>
              <a:t>&lt;paste here&gt;</a:t>
            </a:r>
          </a:p>
          <a:p/>
          <a:p>
            <a:r>
              <a:t>Prompt 2: Kahani ya numbers?</a:t>
            </a:r>
          </a:p>
          <a:p>
            <a:r>
              <a:t>I will paste a company press release, a TV interview transcript or a news article, with the company name removed. Sort every claim in it into three labels: Fact (a past, reported number I can check in the company's filings), Guess (a plan, forecast or opinion about the future) and Kachra (hype with nothing checkable in it, such as 'game-changer' or 'the next giant'). Then tell me which of these five checks each Fact relates to: growth, margin, debt, promoter pledge or cash flow. For each Guess, name one number in future filings that would test it. Finish with two questions I should ask myself to catch story bias. Do not recommend any stock, do not give buy or sell advice, and do not mention targets or expected returns.</a:t>
            </a:r>
          </a:p>
          <a:p/>
          <a:p>
            <a:r>
              <a:t>Text:</a:t>
            </a:r>
          </a:p>
          <a:p>
            <a:r>
              <a:t>&lt;paste here&gt;</a:t>
            </a:r>
          </a:p>
          <a:p/>
          <a:p>
            <a:r>
              <a:t>Prompt 3: Mera corporate action check karo</a:t>
            </a:r>
          </a:p>
          <a:p>
            <a:r>
              <a:t>I read a corporate action on the NSE website and I will paste its type (dividend, bonus, split, rights issue or buyback), the ratio or amount, the issue or buyback price if any, the ex-date and the record date. Using a made-up holding of 100 shares at the previous close I give you, show in a simple table my number of shares, the price per share and my total value before and after. For a rights issue, show three rows (I apply, I sell my rights, I ignore them) and work out the theoretical ex-rights price step by step. For a buyback, show the result if only part of my shares is accepted, and explain what an acceptance ratio is. Then check the row I filled in myself, pasted below, and point out any line I got wrong. Explain record date versus ex-date under India's T+1 settlement in 3 short lines. Label each statement Fact, Guess or Kachra, list the facts I should confirm on the NSE website because rules can change, and say that tax questions go to a CA. Do not recommend any stock, do not give buy or sell advice, and do not mention targets or expected returns.</a:t>
            </a:r>
          </a:p>
          <a:p/>
          <a:p>
            <a:r>
              <a:t>Corporate action and previous close:</a:t>
            </a:r>
          </a:p>
          <a:p>
            <a:r>
              <a:t>&lt;paste here&gt;</a:t>
            </a:r>
          </a:p>
          <a:p/>
          <a:p>
            <a:r>
              <a:t>My row:</a:t>
            </a:r>
          </a:p>
          <a:p>
            <a:r>
              <a:t>&lt;paste here&gt;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Sharma Textiles Ltd Rs 8 ka dividend declare karti hai. Thursday ex-date bhi hai aur record date bhi. Aman dividend ke chakkar mein Wednesday ko 40 shares khareedta hai; Priya Thursday subah 40 shares khareedti hai. Normal T+1 cycle mein dividend kise milega?</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ek CEO ka interview dekhta hai jismein 500 naye stores ki baat hai, aur use poora yakeen ho jaata hai ki company achha karegi. Usne company ke accounts khole hi nahi. Kaunsi aadat use story bias se sabse achhe se bachayegi?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made-up company ke liye Priya ka card: teen saal mein sales upar, margin steady, debt-to-equity 0.4 aur teen saal ka cash flow profit ke kareeb. Lekin promoter ke 35% shares pledge hain. Course ke rules ke hisaab se kya hoga?</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Teen saal mein ek made-up company ka net profit Rs 20, 24 aur 28 crore hai. Uska operating cash flow Rs 18, 6 aur 4 crore hai. Course ka cash-flow check kya kehta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ke colleague ke paas do saal se Anand Snacks Ltd ke 50 shares hain; share Rs 200 par hai. Company har 5 shares par 1 naya share Rs 140 mein offer karti hai, aur ex-date ke baad price Rs 190 ki taraf jaata hai. Agar colleague offer ko bas chhod de, toh kya hota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Aaj raat ka journal: Kaunsi company ki kahani par aapne bina numbers dekhe bharosa kiya, TV, YouTube ya kisi dost se sunkar? Aaj ke card ke baad kya woh company aapki list mein rahegi? Likhiye ki kis check ne faisla kiya.</a:t>
            </a:r>
          </a:p>
          <a:p/>
          <a:p>
            <a:r>
              <a:t>Aaj aapne chart se pehle report padhi. Yeh dheema aur bina chamak-dhamak ka kaam hai, aur yahi woh kaam hai jise ek achhi kahani aapse skip karwana chahti hai.</a:t>
            </a:r>
          </a:p>
          <a:p/>
          <a:p>
            <a:r>
              <a:t>Agla: Day 16 · Algo Level 1: rules, flowchart aur alerts</a:t>
            </a:r>
          </a:p>
          <a:p/>
          <a:p>
            <a:r>
              <a:t>Educational content only, not investment advice. Company names and example figures are made up for illustration, and no fair value, target price or buy/sell view is given. No affiliation with any website or tool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16: Algo Level 1: rules, flowchart aur alerts</a:t>
            </a:r>
          </a:p>
          <a:p/>
          <a:p>
            <a:r>
              <a:t>Concept: Testable rules, flowchart aur alerts: machine dekhti hai, faisla aap karte hain</a:t>
            </a:r>
          </a:p>
          <a:p>
            <a:r>
              <a:t>AI Lab: Flowchart drafter: AI draft banaye, missing box aap dhoondhein</a:t>
            </a:r>
          </a:p>
          <a:p>
            <a:r>
              <a:t>Mindset: Magic bot ki chahat</a:t>
            </a:r>
          </a:p>
          <a:p/>
          <a:p>
            <a:r>
              <a:t>Aaj ke baad: Aaj ke baad aap vague trading ideas ko testable haan/na rules mein badal payenge, unka aisa flowchart bana payenge jismein har sawaal ka ek YES aur ek NO raasta ho, bata payenge ki kaunse checks free screener ya price alert kar sakta hai aur kaunse aap khud karenge, daily checks official close ke baad karenge, aur samjha payenge ki SEBI ke retail algo rules kya kehte hain aur magic bot red flag kyun hai.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Sab kuch karne wala bot</a:t>
            </a:r>
          </a:p>
          <a:p/>
          <a:p>
            <a:r>
              <a:t>(Tuesday, raat 10 baje. Aman ek Telegram ad Priya aur mentor ko forward karta hai.)</a:t>
            </a:r>
          </a:p>
          <a:p>
            <a:r>
              <a:t>Tip-wala: AI Algo Bot. Aap soiye, bot trade karega. Sure-shot entries, 10 mein se 9 trade profit mein. Bas apna broker login aur password share kijiye. Rs 4,999 mahina. Sirf 20 seats baaki.</a:t>
            </a:r>
          </a:p>
          <a:p>
            <a:r>
              <a:t>Aman: Sir, teen hafte rules likhne mein kyun lagaun? Yeh bot sab kar deta hai. Office ke time chart dekhne ka jhanjhat hi khatam.</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Sab kuch karne wala bot</a:t>
            </a:r>
          </a:p>
          <a:p/>
          <a:p>
            <a:r>
              <a:t>Mentor: Aman, pehle bechne wale se teen sawaal poochiye. Bot ke rules kya hain, haan-ya-na mein likhe hue? Iske orders kaunsa broker bhejta hai, aur kya har order par exchange ka Algo-ID, yaani number plate, lagta hai? Aur gadbad hone par jawab kaun dega? Ek baat aur: koi bhi asli service aapka password kabhi nahi maangti.</a:t>
            </a:r>
          </a:p>
          <a:p>
            <a:r>
              <a:t>Priya: Sir, kal raat maine apne Day 11 wale rules aise steps mein likhne ki koshish ki jo machine follow kar sake. Numbers toh sab the, par time par atak gayi: 'close EMA 20 se 2% ke andar'. Kaunsa close? 3:00 baje check karun, toh kya wahi close hai?</a:t>
            </a:r>
          </a:p>
          <a:p>
            <a:r>
              <a:t>Mentor: Priya, asli kaam yahi hai. Machine sirf wahi follow kar sakti hai jo aap haan-ya-na mein likh sakein. Aaj hum Algo Level 1 banayenge: rules, flowchart aur alerts. Machine dekhegi, faisla aap karenge.</a:t>
            </a:r>
          </a:p>
          <a:p/>
          <a:p>
            <a:r>
              <a:t>Seekh: Jo rules aapne likhe hi nahi, unhe koi bot follow nahi kar sakta. Pehle rules likhiye, phir kisi jaadu ki zaroorat nahi padegi.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Algo matlab likhe hue rules, jaadu nahi</a:t>
            </a:r>
          </a:p>
          <a:p/>
          <a:p>
            <a:r>
              <a:t>Algorithm, yaani algo, steps ki ek fixed list hai jo har baar bilkul ek hi tarah follow hoti hai, jaise chai ki recipe jo kehti hai '2 minute ubaalo', na ki 'thodi der ubaalo'. Discretionary trader har baar naye sire se faisla karta hai ('aaj chart achha lag raha hai'); systematic trader ek baar faisla karta hai, rule likh leta hai, aur phir usi par chalta hai. Testable rule mein teen baatein hoti hain: woh objective ho (do log padhein toh jawab ek hi aaye), measurable ho (usmein number ho) aur time-bound ho (kaunsi candle, aur kab check hogi). Paas, strong, safe ya 'lagbhag' jaise shabd is test mein fail ho jaate hain; inhe hum shayad words kehte hain. Algo Level 1 Day 11 ke screener se shuru ho gaya tha. Aaj flowchart aur alerts judenge, aur Day 17 mein haath se backtest.</a:t>
            </a:r>
          </a:p>
          <a:p/>
          <a:p>
            <a:r>
              <a:t>Udaharan: Aman ne Day 11 ka card copy hi nahi kiya tha; uske apne note mein likha tha: 'Jab uptrend wala stock EMA 20 ke paas aaye aur RSI zyada high na ho, tab enter karo; stop safe rakho.' Priya uske saath shayad-hunt karti hai aur chaar vague baatein nikalti hain. 'Uptrend' bana 'daily chart par EMA 20, EMA 50 ke upar, aur EMA 50 das trading din pehle se upar'. 'Paas' bana 'daily close EMA 20 se 2% ke andar, upar ya neeche, aur EMA 50 ke upar'; Gupta Cement Ltd par EMA 20 Rs 440 hai, toh close Rs 431.20 se Rs 448.80 ke beech hona chahiye. 'Zyada high na ho' bana 'RSI 14, 40 aur 50 ke beech', aur 'safe stop' bana 'planned entry se 1.5 x ATR 14 neeche'. Yeh bilkul Day 11 wala card hai, aur ab jo bhi padhe, jawab ek hi aayega.</a:t>
            </a:r>
          </a:p>
          <a:p/>
          <a:p>
            <a:r>
              <a:t>Yaad rakhiye: Agar do log aapka rule padhkar alag-alag jawab nikaal sakte hain, toh woh abhi rule bana hi nahi.</a:t>
            </a:r>
          </a:p>
          <a:p/>
          <a:p>
            <a:r>
              <a:t>Slide par: Shayad words vs testable rules · 'Testable' column jo bhi padhe, use jawab ek hi milega.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Flowchart: aapka rule card, haan/na ke boxes mein</a:t>
            </a:r>
          </a:p>
          <a:p/>
          <a:p>
            <a:r>
              <a:t>Flowchart aapke rules ki drawing hai, teen shapes mein: shuru aur end ke liye oval, haan/na sawaal ke liye diamond, aur kisi kaam ke liye rectangle. Har diamond se sirf do raaste nikalte hain; aapke setup mein 'haan' agle box par jaata hai aur 'na' seedha NO TRADE par. Pehle chart wale checks rakhiye, phir risk wale: stop, size, 25% exposure cap, 3 open trades ki limit, aur kya aaj ka -2R daily stop ya hafte ka -5R pause lag chuka hai. Chart wale boxes se pehle Day 11 aur Day 15 ka ek gate jodiye: stock health card pass kar chuka ho, agle 15 trading days mein uski results date na ho, aur NSE ke corporate actions page par bonus ya split na ho. Agar kisi box ko bina 'shayad' likhe draw nahi kar pa rahe, toh uske peeche ka rule abhi taiyaar nahi hai. AI aapka flowchart seconds mein draft kar deta hai, lekin aksar koi detail galat kar deta hai, jaise daily rule ke liye intraday ATR le lena ya agli subah ka gap check bhool jaana; isliye draft check karna aapka kaam hai. Notebook ya sheet mein yahi flowchart ek table ki tarah bhi likha ja sakta hai, jismein har sawaal ka ek YES aur ek NO raasta ho, jaise neeche Priya ka hai.</a:t>
            </a:r>
          </a:p>
          <a:p/>
          <a:p>
            <a:r>
              <a:t>Udaharan: Thursday ke close ke baad Priya Rs 10 lakh ke virtual capital par Gupta Cement Ltd ko apne flowchart mein daalti hai. Clear hai? Haan: health card pass hai, agle 15 trading days mein koi results date nahi, aur NSE ke corporate actions page par koi bonus ya split nahi. Trend upar? Haan: EMA 20, EMA 50 ke upar hai, aur EMA 50 das trading din pehle se upar. Tuesday ko close EMA 20 se 2% ke andar tha, RSI 14 = 45, aur 3 mahine ka RS 0 se upar hai (NIFTY 50 se aage), isliye stock pehle se watchlist par hai. Signal day? Haan: aaj ki candle Rs 445 par, Wednesday ke Rs 442 wale high ke upar close hui. Risk fit? Haan: 3 se kam open trades hain aur -2R ya -5R wala pause nahi laga. Paper plan: ATR 14 Rs 10 hai, toh stop entry se 1.5 x 10 = Rs 15 neeche hoga, aur maximum entry 445 + 0.5 x 10 = Rs 450. Size = Rs 10,000 / 15 = 666 shares (neeche round), jinki value Rs 450 par Rs 2,99,700 tak ja sakti hai; yeh Rs 2,50,000 wala 25% cap tod deti hai, isliye plan box ise 555 shares par le aata hai (Rs 450 par bhi Rs 2,49,750). Jo baat aankh se chhoot sakti thi, flowchart ne pakad li.</a:t>
            </a:r>
          </a:p>
          <a:p/>
          <a:p>
            <a:r>
              <a:t>Yaad rakhiye: Har diamond haan/na sawaal hai; kahin bhi ek 'na' aaya, toh trade nahi. Action box, jaise size, sirf hisaab karte hain.</a:t>
            </a:r>
          </a:p>
          <a:p/>
          <a:p>
            <a:r>
              <a:t>Slide par: Priya ka EMA Pullback flowchart, box dar box · Ise shaam ko, official close ke baad chalaiye. YES par list mein neeche badhiye; koi bhi NO aaye toh wahin bahar. Kaagaz par shuru aur ant ke liye oval, sawaalon ke liye diamond aur kaamon ke liye rectangle banaiye.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Flowchart: aapka rule card, haan/na ke boxes mein</a:t>
            </a:r>
          </a:p>
          <a:p/>
          <a:p>
            <a:r>
              <a:t>Flowchart aapke rules ki drawing hai, teen shapes mein: shuru aur end ke liye oval, haan/na sawaal ke liye diamond, aur kisi kaam ke liye rectangle. Har diamond se sirf do raaste nikalte hain; aapke setup mein 'haan' agle box par jaata hai aur 'na' seedha NO TRADE par. Pehle chart wale checks rakhiye, phir risk wale: stop, size, 25% exposure cap, 3 open trades ki limit, aur kya aaj ka -2R daily stop ya hafte ka -5R pause lag chuka hai. Chart wale boxes se pehle Day 11 aur Day 15 ka ek gate jodiye: stock health card pass kar chuka ho, agle 15 trading days mein uski results date na ho, aur NSE ke corporate actions page par bonus ya split na ho. Agar kisi box ko bina 'shayad' likhe draw nahi kar pa rahe, toh uske peeche ka rule abhi taiyaar nahi hai. AI aapka flowchart seconds mein draft kar deta hai, lekin aksar koi detail galat kar deta hai, jaise daily rule ke liye intraday ATR le lena ya agli subah ka gap check bhool jaana; isliye draft check karna aapka kaam hai. Notebook ya sheet mein yahi flowchart ek table ki tarah bhi likha ja sakta hai, jismein har sawaal ka ek YES aur ek NO raasta ho, jaise neeche Priya ka hai.</a:t>
            </a:r>
          </a:p>
          <a:p/>
          <a:p>
            <a:r>
              <a:t>Udaharan: Thursday ke close ke baad Priya Rs 10 lakh ke virtual capital par Gupta Cement Ltd ko apne flowchart mein daalti hai. Clear hai? Haan: health card pass hai, agle 15 trading days mein koi results date nahi, aur NSE ke corporate actions page par koi bonus ya split nahi. Trend upar? Haan: EMA 20, EMA 50 ke upar hai, aur EMA 50 das trading din pehle se upar. Tuesday ko close EMA 20 se 2% ke andar tha, RSI 14 = 45, aur 3 mahine ka RS 0 se upar hai (NIFTY 50 se aage), isliye stock pehle se watchlist par hai. Signal day? Haan: aaj ki candle Rs 445 par, Wednesday ke Rs 442 wale high ke upar close hui. Risk fit? Haan: 3 se kam open trades hain aur -2R ya -5R wala pause nahi laga. Paper plan: ATR 14 Rs 10 hai, toh stop entry se 1.5 x 10 = Rs 15 neeche hoga, aur maximum entry 445 + 0.5 x 10 = Rs 450. Size = Rs 10,000 / 15 = 666 shares (neeche round), jinki value Rs 450 par Rs 2,99,700 tak ja sakti hai; yeh Rs 2,50,000 wala 25% cap tod deti hai, isliye plan box ise 555 shares par le aata hai (Rs 450 par bhi Rs 2,49,750). Jo baat aankh se chhoot sakti thi, flowchart ne pakad li.</a:t>
            </a:r>
          </a:p>
          <a:p/>
          <a:p>
            <a:r>
              <a:t>Yaad rakhiye: Har diamond haan/na sawaal hai; kahin bhi ek 'na' aaya, toh trade nahi. Action box, jaise size, sirf hisaab karte hain.</a:t>
            </a:r>
          </a:p>
          <a:p/>
          <a:p>
            <a:r>
              <a:t>Slide par: Priya ka EMA Pullback flowchart, box dar box · Ise shaam ko, official close ke baad chalaiye. YES par list mein neeche badhiye; koi bhi NO aaye toh wahin bahar. Kaagaz par shuru aur ant ke liye oval, sawaalon ke liye diamond aur kaamon ke liye rectangle banaiye.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Alert bajta hai, faisla aap karte hain</a:t>
            </a:r>
          </a:p>
          <a:p/>
          <a:p>
            <a:r>
              <a:t>Screener bahut saare stocks scan karke unki list deta hai jo aapki conditions poori karte hain; alert woh message hai jo platform usi pal bhejta hai jab koi condition sach ho jaaye, jaise price kisi level ko cross kar de. Alert order nahi hai, kyunki use na aapka rule card dikhta hai, na position size, na open trades; jab machine sirf dekhti hai aur faisla aap lete hain, order bhi aap hi lagate hain, use semi-automation kehte hain, aur Stage 1 isse aage nahi jaata. Seedha price alert tab bhi baj jaata hai jab price level ko bas chhoo le, aksar sirf wick se, jabki aapka rule aksar candle ka level ke paar close maangta hai. Kuch alert types candle poori hone tak ruk sakte hain (TradingView ise 'Once per bar close' kehta hai), lekin free plan mein bas kuch hi active alerts milte hain, uski limits badalti rehti hain, aur is course ko kabhi indicator ya drawing alert ki zaroorat nahi padti. Free raasta seedha hai: pichhli shaam nikaale gaye level par price alert, ya close ke baad ka ek fixed check, aur har alert pressure cooker ki seeti ki tarah: seeti batati hai ki daal dekh lo, yeh nahi ki paros do. Phir alert ke baad ki 60 second wali checklist chalaiye ('Aapka template'), aur ek bhi NO aaye toh baat wahin khatam.</a:t>
            </a:r>
          </a:p>
          <a:p/>
          <a:p>
            <a:r>
              <a:t>Udaharan: Office se ek din ki chhutti par Aman optional ORB paper par try karta hai, kyunki aaj woh 9:15 se 11:00 tak dekh sakta hai. Aaj Bharat Pumps Ltd (bahut zyada trade hone wala stock, jaise Day 13 mein) ki 9:15-9:30 wali range Rs 994 se Rs 1,000 hai, isliye Rs 1,000 ka alert woh 9:30 ke baad hi laga sakta hai, jab range ban chuki ho. 9:40 par ek wick Rs 1,000 ke upar, Rs 1,001.50 tak jaati hai aur alert baj jaata hai, lekin 5-minute candle Rs 999 par close hoti hai, wapas range ke andar: rule poora nahi hua. 9:55 wali candle Rs 1,002.50 par close hoti hai, range ke upar. Ab jaakar woh alert ke baad wali checklist chalata hai, Day 13 ke VWAP aur volume checks ke saath (9:40 aur 9:55 par uske jawab 'Aapka template' mein hain); paper entry agli candle ka open, Rs 1,002.50, hai aur stop range ki doosri taraf, Rs 994 par, toh risk Rs 8.50 per share.</a:t>
            </a:r>
          </a:p>
          <a:p/>
          <a:p>
            <a:r>
              <a:t>Yaad rakhiye: Alert ka matlab 'ab dekho' hai, 'ab kharido' kabhi nahi. Rule, checklist aur order, teeno aapke haath mein.</a:t>
            </a:r>
          </a:p>
          <a:p/>
          <a:p>
            <a:r>
              <a:t>Slide par: Touch close nahi hai · 9:15 se 5-minute candles. 9:40 ki wick ne alert bajaya, lekin range ke upar pehla close 9:55 wali candle ne hi kiya.</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Daily rule ko poori bani daily candle chahiye</a:t>
            </a:r>
          </a:p>
          <a:p/>
          <a:p>
            <a:r>
              <a:t>Daily candle tabhi final hoti hai jab market band ho jaaye aur exchange official closing price tay kar de. 3 August 2026 se, jin stocks ke F&amp;O contracts hain, unmein continuous trading 3:15 baje ruk jaati hai, aur ek closing auction (lagbhag 3:15 se 3:35 tak) ek closing price tay karta hai; baaki stocks 3:30 tak trade hote hain, aur unka close lagbhag aakhri 30 minute ka volume-weighted average price hota hai (latest jaankari nseindia.com par dekhiye). Tab tak close, aur us par bani har EMA aur RSI value, badal sakti hai, isliye 3:00 baje ka alert ya scan adhoori candle padh raha hota hai, aur uska 'haan' close tak 'na' ban sakta hai. EMA Pullback jaise swing rule ke liye screener close ke baad, shaam ko chalaiye, aur plan usi shaam likhiye: entry agle din ke open par, aur maximum entry signal close plus 0.5 x ATR 14. Agli subah agar stock us maximum se upar khule, toh skip kijiye, kyunki gap aapke plan se aage nikal gaya; aur signal day ke low se neeche khule, toh bhi skip, kyunki signal pehle hi fail ho chuka hai, jaise Day 11 mein seekha tha. Alerts kam aur saaf rakhiye: har alert ka naam uske rule par rakhiye aur purane alerts har hafte delete kar dijiye, kyunki din bhar bajne wala phone aapko use ignore karna sikha deta hai.</a:t>
            </a:r>
          </a:p>
          <a:p/>
          <a:p>
            <a:r>
              <a:t>Udaharan: Kiran Foods Ltd ka kal ka high Rs 472 tha, aur Day 11 ke signal day ke liye daily close usse upar hona chahiye. 3:00 baje price Rs 474 hai, toh signal sach lagta hai, aur pre-close alert baj jaata hai. Aakhri minutes ki selling se din ka official close Rs 471 par aa jaata hai, Rs 472 se neeche: poori bani candle ka jawab NO hai. Aman ne 3:00 wale alert par paper trade le liya tha, jise ab uske apne rules hi reject kar rahe hain; Priya ne shaam 7 baje scan kiya aur aage badh gayi. Iske liye na broker app chahiye, na paid plan: pichhli shaam Rs 472 par lagaya free price alert sirf dekhne ko kehta hai, aur screener chalane ke liye shaam 7 baje ka phone reminder baaki kaam kar deta hai.</a:t>
            </a:r>
          </a:p>
          <a:p/>
          <a:p>
            <a:r>
              <a:t>Yaad rakhiye: Swing rule poori bani candle padhta hai: shaam ko scan, agli subah action.</a:t>
            </a:r>
          </a:p>
          <a:p/>
          <a:p>
            <a:r>
              <a:t>Slide par: Swing ka ek din, ek ke baad ek · 3:00 baje ka alert adhoori candle padhta hai. Aapka rule official close padhta hai. Closing ki timing Aug 2026 ke hisaab se; latest nseindia.com par dekhiye.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SEBI ke retail algo rules: sadak ke niyam</a:t>
            </a:r>
          </a:p>
          <a:p/>
          <a:p>
            <a:r>
              <a:t>1 April 2026 se retail algo trading ke liye SEBI ka framework laagu hai. Yeh har us order par laagu hota hai jo koi program broker ke API se bhejta hai (API ek software link hai jisse program order laga sake), aur us alert par bhi jo khud order laga de; jo order aap khud tap karte hain, aur jo alert sirf aapko batata hai, woh iske daayre mein nahi aate. Broker principal hai: har algo order ke liye woh exchange ko jawab deta hai aur aapki complaints sunta hai, lekin trading ka loss aapka hi rehta hai. Har algo order par exchange ka diya Algo-ID hota hai, gaadi ki number plate jaisa, aur jo algo exchange ki tay order-rate limit se zyada orders bhejta hai, use broker ke through register karwana padta hai. Khud banaya algo sirf aap aur aapki family ke liye hai (spouse, dependent bachche, dependent maa-baap); doosron ko algo dene wale ka exchange mein empanelled hona zaroori hai, aur jo apna logic chhupate hain (black-box), unhe SEBI Research Analyst registration bhi chahiye. Yeh rules badal sakte hain, isliye latest jaankari SEBI aur NSE ki website par check kijiye.</a:t>
            </a:r>
          </a:p>
          <a:p/>
          <a:p>
            <a:r>
              <a:t>Udaharan: Aman ke office ke ek colleague ne ek chhota program likha hai jo broker ke API se order lagata hai. Yeh sirf usi broker ke through chalta hai, registered static IP (internet ka fixed address) se, two-factor login (password plus OTP) ke saath, jiska session roz khatam ho jaata hai, aur har order par Algo-ID ke saath. Aman ne copy maangi toh colleague ne mana kar diya: spouse, dependent bachchon ya dependent maa-baap ke alawa kisi ko share karte hi woh algo provider ban jaata, jiske liye exchange empanelment chahiye. Stage 1 mein toh koi automated order lagta hi nahi; aapka Level 1 kit hai rules, flowchart aur alerts.</a:t>
            </a:r>
          </a:p>
          <a:p/>
          <a:p>
            <a:r>
              <a:t>Yaad rakhiye: Legal algo broker ke through chalta hai, har order par Algo-ID ke saath, aur algo bechne wale ka exchange mein empanelled hona zaroori hai. Trading loss aapka hi rehta hai.</a:t>
            </a:r>
          </a:p>
          <a:p/>
          <a:p>
            <a:r>
              <a:t>Slide par: Kaun kis baat ka zimmedar · Haath se lagaye orders aur sirf batane wale alerts framework ke bahar hain; jo alert khud order laga de, woh andar hai. Latest ke liye sebi.gov.in aur nseindia.com dekhiye.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Magic bot ki chahat</a:t>
            </a:r>
          </a:p>
          <a:p/>
          <a:p>
            <a:r>
              <a:t>Do hafte rules aur checklists ke baad ek aisa bot jo 'sab kuch kar de', raahat jaisa lagta hai. Is chahat ki aksar teen jadein hoti hain: roz faisle lene ki thakaan, office mein rehte hue move miss hone ka darr, aur bina mehnat paise ki umeed. Lekin bot sirf rules plus speed hai: jo rules aapne likhe hi nahi, woh unhe follow nahi kar sakta, aur ek kharab rule ko woh kisi bhi insaan se tez dohrata hai. Bechne wale yeh baat jeet wale dinon ke screenshots aur monthly fee ke peeche chhupa dete hain. Kisi bhi bot par bharosa karne se pehle uske rules haan/na mein, uska broker aur Algo-ID, aur complaint kaun sunega, yeh poochiye; jawab 'bas humpe bharosa rakho' ho, toh wahin se laut aaiye.</a:t>
            </a:r>
          </a:p>
          <a:p/>
          <a:p>
            <a:r>
              <a:t>Udaharan: Day 4 mein yahi hisaab ek Telegram tip bot ke liye kiya tha; is bot ki fee bhi aise hi kaam karti hai. Aman ke forward kiye bot ki fee Rs 4,999 mahina hai. Rs 1,00,000 ke account par yeh saal ka Rs 59,988 hua, yaani capital ka lagbhag 60%, aur yeh kisi trade ke jeetne ya haarne se pehle hi chala jaata hai. Rs 10 lakh ke challenge capital par bhi yeh saal ka lagbhag 6% hai, kisi trade se pehle hi. Upar se usne password maanga, koi rule nahi dikhaya, na broker ka naam liya na registration ka, 10 mein se 9 trade profit ka daava kiya aur 'sirf 20 seats' bol kar jaldi machayi: paisa lagne se pehle hi paanch red flags. Priya seedhi baat kehti hai: 'Mera flowchart free hai, aur uska har box mujhe dikhta hai.'</a:t>
            </a:r>
          </a:p>
          <a:p/>
          <a:p>
            <a:r>
              <a:t>Yaad rakhiye: Bot aapke rules ko tez dohrata hai, achhe hon ya bure. Pehle rules likhiye aur test kijiye.</a:t>
            </a:r>
          </a:p>
          <a:p/>
          <a:p>
            <a:r>
              <a:t>Slide par: Bot ki asli keemat · Kisi trading loss se pehle hi, sirf fee ek saal mein Rs 1 lakh ke account ka lagbhag 60% le jaati hai.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Algo (algorithm): Steps ki ek fixed list jo har baar ek hi tarah follow ho. Trading mein: likhe hue rules jinhe machine bina emotion ke check kar sake.</a:t>
            </a:r>
          </a:p>
          <a:p>
            <a:r>
              <a:t>Testable rule: Aisa rule jo objective ho, jismein number ho aur jo bataye kaunsi candle aur kab, taaki padhne wale har insaan ka jawab ek hi aaye.</a:t>
            </a:r>
          </a:p>
          <a:p>
            <a:r>
              <a:t>Flowchart: Aapke rules ki drawing: shuru aur end ke liye oval, haan/na sawaal ke liye diamond, kaam ke liye rectangle.</a:t>
            </a:r>
          </a:p>
          <a:p>
            <a:r>
              <a:t>Alert: Woh message jo platform kisi condition ke sach hone par bhejta hai. Yeh aapko dekhne ko kehta hai; order kabhi nahi lagata.</a:t>
            </a:r>
          </a:p>
          <a:p>
            <a:r>
              <a:t>API: Ek software link jisse koi program broker ke paas order laga sake. API se order lagane ke liye broker ke paas registered static IP aur two-factor login chahiye.</a:t>
            </a:r>
          </a:p>
          <a:p>
            <a:r>
              <a:t>Algo-ID: Exchange ki di hui pehchaan jo algo ke har order par number plate ki tarah lagti hai, taaki har order trace ho sake.</a:t>
            </a:r>
          </a:p>
          <a:p>
            <a:r>
              <a:t>Screener: Ek tool jo aapki likhi conditions se bahut saare stocks filter karta hai, aam taur par close ke baad. Kuch rules woh pakad leta hai; jo nahi pakad pata, use aap chart par aankh se check karte hain.</a:t>
            </a:r>
          </a:p>
          <a:p>
            <a:r>
              <a:t>Official close: Exchange ka tay kiya din ka closing price: F&amp;O contracts wale stocks mein closing auction se, baaki mein lagbhag aakhri 30 minute ke volume-weighted average price se. Daily rules isi price ko padhte hain.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Algo Level 1</a:t>
            </a:r>
          </a:p>
          <a:p>
            <a:r>
              <a:t>Rules: Objective, number, timing; Shayad words dhoondho; Do log, ek jawab</a:t>
            </a:r>
          </a:p>
          <a:p>
            <a:r>
              <a:t>Flowchart: Oval, diamond, rectangle; Ek bhi NO = trade nahi; AI ka draft check karo</a:t>
            </a:r>
          </a:p>
          <a:p>
            <a:r>
              <a:t>Alerts: Alert = ab dekho; Touch close nahi hai; Swing: close ke baad scan; Free: price alert ya 7 baje check</a:t>
            </a:r>
          </a:p>
          <a:p>
            <a:r>
              <a:t>SEBI ke niyam: Broker principal hai; Har order par Algo-ID; Sirf family ke saath share; Loss aapka hi</a:t>
            </a:r>
          </a:p>
          <a:p>
            <a:r>
              <a:t>Aapka mann: Koi magic bot nahi; Fee judti jaati hai; Password kabhi share nahi</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Apna Algo Level 1 kit banaiye: bina shayad ka rule card, kaagaz par flowchart, ek free price alert ya shaam 7 baje ka check, aur alert ke baad ki checklist, phir ek Portfolio row jodiye. Lagbhag 45 minute; ORB flowchart optional stretch hai, uska answer key 'Aapka template' mein hai.</a:t>
            </a:r>
          </a:p>
          <a:p/>
          <a:p>
            <a:r>
              <a:t>1. 'Aapka template' se 'Rule card, bina shayad ke' copy kijiye aur apna Day 11 EMA Pullback card line-by-line dobara likhiye: har line mein number, candle aur time chahiye, aur 'Kaun check karta hai' column batata hai ki use free screener, price alert ya aapki apni aankhen check karengi.</a:t>
            </a:r>
          </a:p>
          <a:p>
            <a:r>
              <a:t>2. Kaagaz par flowchart banaiye: shuru mein oval, har haan/na sawaal ke liye diamond, har kaam ke liye rectangle, aur har 'na' ka arrow NO TRADE par. Lesson mein Priya ki table se milaiye, phir photo le lijiye.</a:t>
            </a:r>
          </a:p>
          <a:p>
            <a:r>
              <a:t>3. Apne rule card ke saath AI Lab ka 'Flowchart drafter' prompt chalaiye, uska draft apne flowchart se milaiye, aur ek box likhiye jo usne chhoda, mila diya ya galat banaya; agar sab sahi hai, toh woh box likhiye jo aapko apni drawing mein theek karna pada.</a:t>
            </a:r>
          </a:p>
          <a:p>
            <a:r>
              <a:t>4. Free alert ka raasta: aaj ke close ke baad NIFTY 50 (ya kisi ek watchlist stock) ka aaj ka high note kijiye aur free TradingView chart par usi level par ek seedha price alert lagaiye (free sign-up, broker account nahi), naam rakhiye 'LOOK only: aaj ke high ke upar close'. Kal yeh baje toh matlab sirf itna ki dekhiye; aapka rule phir bhi kal ka official close hi padhega. Sign up nahi karna, ya free alert bacha nahi? Toh close ke baad wale check ke liye roz shaam 7 baje ka phone reminder lagaiye.</a:t>
            </a:r>
          </a:p>
          <a:p>
            <a:r>
              <a:t>5. Alert ke baad ki checklist ('Aapka template') Google Sheets ya notes mein copy kijiye, check 3 apne rule card ke hisaab se likhiye, aur chaar columns ka alert log jodiye: time, alert ka naam, valid Y/N, wajah. AI Lab ka prompt 'Alert ke baad ki checklist' ek draft bana sakta hai, jise aap check karenge.</a:t>
            </a:r>
          </a:p>
          <a:p>
            <a:r>
              <a:t>6. Ek aur Portfolio row (virtual) jodiye, kisi aise watchlist stock ke liye jo health card aur aapke flowchart ke box 2 se 4 pass kar chuka ho: Full Why 1 = uska card result; Full Why 2 = jo chart boxes pass hue (3 aur 4), card dobara nahi; sabse bada risk = 'results ka gap' aur aapka jawab = 'box 2: agle 15 trading din mein koi results date nahi'; price-stop = planned entry se 1.5 x ATR 14 neeche; Why-stop = woh box jo NO ho jaaye (jaise 'EMA 20, EMA 50 ke neeche close ho'); review point = agli results date. Koi stock pass nahi hua? Journal mein 'koi pass nahi' likhiye: flowchart apna kaam kar raha hai.</a:t>
            </a:r>
          </a:p>
          <a:p/>
          <a:p>
            <a:r>
              <a:t>Aaj ke baad: Aaj ke baad aap vague trading ideas ko testable haan/na rules mein badal payenge, unka aisa flowchart bana payenge jismein har sawaal ka ek YES aur ek NO raasta ho, bata payenge ki kaunse checks free screener ya price alert kar sakta hai aur kaunse aap khud karenge, daily checks official close ke baad karenge, aur samjha payenge ki SEBI ke retail algo rules kya kehte hain aur magic bot red flag kyun hai.</a:t>
            </a:r>
          </a:p>
          <a:p/>
          <a:p>
            <a:r>
              <a:t>Tools: Aapka Day 11 wala rule card; Kaagaz aur pen (draw.io, free diagram site, optional); TradingView free chart aur ek price alert; Google Sheets ya notes; Koi bhi AI chat; App ka Portfolio page</a:t>
            </a:r>
          </a:p>
          <a:p/>
          <a:p>
            <a:r>
              <a:t>Educational content only, not investment advice. Investment in securities market is subject to market risks. Company names, prices and the bot advert are made up for illustration; no algo, bot or algo provider is endorsed. Stage 1 uses virtual money only and places no automated orders. No affiliation with any charting or diagram site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Apna Algo Level 1 kit banaiye: bina shayad ka rule card, kaagaz par flowchart, ek free price alert ya shaam 7 baje ka check, aur alert ke baad ki checklist, phir ek Portfolio row jodiye. Lagbhag 45 minute; ORB flowchart optional stretch hai, uska answer key 'Aapka template' mein hai.</a:t>
            </a:r>
          </a:p>
          <a:p/>
          <a:p>
            <a:r>
              <a:t>1. 'Aapka template' se 'Rule card, bina shayad ke' copy kijiye aur apna Day 11 EMA Pullback card line-by-line dobara likhiye: har line mein number, candle aur time chahiye, aur 'Kaun check karta hai' column batata hai ki use free screener, price alert ya aapki apni aankhen check karengi.</a:t>
            </a:r>
          </a:p>
          <a:p>
            <a:r>
              <a:t>2. Kaagaz par flowchart banaiye: shuru mein oval, har haan/na sawaal ke liye diamond, har kaam ke liye rectangle, aur har 'na' ka arrow NO TRADE par. Lesson mein Priya ki table se milaiye, phir photo le lijiye.</a:t>
            </a:r>
          </a:p>
          <a:p>
            <a:r>
              <a:t>3. Apne rule card ke saath AI Lab ka 'Flowchart drafter' prompt chalaiye, uska draft apne flowchart se milaiye, aur ek box likhiye jo usne chhoda, mila diya ya galat banaya; agar sab sahi hai, toh woh box likhiye jo aapko apni drawing mein theek karna pada.</a:t>
            </a:r>
          </a:p>
          <a:p>
            <a:r>
              <a:t>4. Free alert ka raasta: aaj ke close ke baad NIFTY 50 (ya kisi ek watchlist stock) ka aaj ka high note kijiye aur free TradingView chart par usi level par ek seedha price alert lagaiye (free sign-up, broker account nahi), naam rakhiye 'LOOK only: aaj ke high ke upar close'. Kal yeh baje toh matlab sirf itna ki dekhiye; aapka rule phir bhi kal ka official close hi padhega. Sign up nahi karna, ya free alert bacha nahi? Toh close ke baad wale check ke liye roz shaam 7 baje ka phone reminder lagaiye.</a:t>
            </a:r>
          </a:p>
          <a:p>
            <a:r>
              <a:t>5. Alert ke baad ki checklist ('Aapka template') Google Sheets ya notes mein copy kijiye, check 3 apne rule card ke hisaab se likhiye, aur chaar columns ka alert log jodiye: time, alert ka naam, valid Y/N, wajah. AI Lab ka prompt 'Alert ke baad ki checklist' ek draft bana sakta hai, jise aap check karenge.</a:t>
            </a:r>
          </a:p>
          <a:p>
            <a:r>
              <a:t>6. Ek aur Portfolio row (virtual) jodiye, kisi aise watchlist stock ke liye jo health card aur aapke flowchart ke box 2 se 4 pass kar chuka ho: Full Why 1 = uska card result; Full Why 2 = jo chart boxes pass hue (3 aur 4), card dobara nahi; sabse bada risk = 'results ka gap' aur aapka jawab = 'box 2: agle 15 trading din mein koi results date nahi'; price-stop = planned entry se 1.5 x ATR 14 neeche; Why-stop = woh box jo NO ho jaaye (jaise 'EMA 20, EMA 50 ke neeche close ho'); review point = agli results date. Koi stock pass nahi hua? Journal mein 'koi pass nahi' likhiye: flowchart apna kaam kar raha hai.</a:t>
            </a:r>
          </a:p>
          <a:p/>
          <a:p>
            <a:r>
              <a:t>Aaj ke baad: Aaj ke baad aap vague trading ideas ko testable haan/na rules mein badal payenge, unka aisa flowchart bana payenge jismein har sawaal ka ek YES aur ek NO raasta ho, bata payenge ki kaunse checks free screener ya price alert kar sakta hai aur kaunse aap khud karenge, daily checks official close ke baad karenge, aur samjha payenge ki SEBI ke retail algo rules kya kehte hain aur magic bot red flag kyun hai.</a:t>
            </a:r>
          </a:p>
          <a:p/>
          <a:p>
            <a:r>
              <a:t>Tools: Aapka Day 11 wala rule card; Kaagaz aur pen (draw.io, free diagram site, optional); TradingView free chart aur ek price alert; Google Sheets ya notes; Koi bhi AI chat; App ka Portfolio page</a:t>
            </a:r>
          </a:p>
          <a:p/>
          <a:p>
            <a:r>
              <a:t>Educational content only, not investment advice. Investment in securities market is subject to market risks. Company names, prices and the bot advert are made up for illustration; no algo, bot or algo provider is endorsed. Stage 1 uses virtual money only and places no automated orders. No affiliation with any charting or diagram site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 card, bina shayad ke: kaun kya check karta hai</a:t>
            </a:r>
          </a:p>
          <a:p/>
          <a:p>
            <a:r>
              <a:t>Ise copy kijiye aur sirf wahi badliye jo aapka apna Day 11 card alag kehta hai. Jo rule free screener nahi pakad pata, use aap chart par aankh se check kijiye.</a:t>
            </a:r>
          </a:p>
          <a:p/>
          <a:p>
            <a:r>
              <a:t>Rule | Testable version | Kaun check karta hai | Kab</a:t>
            </a:r>
          </a:p>
          <a:p>
            <a:r>
              <a:t>Watchlist gate | Health card pass; agle 15 trading din mein results date nahi; NSE ke corporate actions page par bonus ya split nahi | Aap: card, NSE announcements aur corporate actions | Stock jodne se pehle</a:t>
            </a:r>
          </a:p>
          <a:p>
            <a:r>
              <a:t>Trend | Daily chart par EMA 20, EMA 50 ke upar | Free screener | Shaam, close ke baad</a:t>
            </a:r>
          </a:p>
          <a:p>
            <a:r>
              <a:t>Trend badh raha | EMA 50, 10 trading din pehle se upar | Aap, aankh se: free screener shayad na pakde | Shaam, close ke baad</a:t>
            </a:r>
          </a:p>
          <a:p>
            <a:r>
              <a:t>Pullback | Daily close EMA 20 se 2% ke andar, upar ya neeche, aur EMA 50 ke upar | Free screener | Shaam, close ke baad</a:t>
            </a:r>
          </a:p>
          <a:p>
            <a:r>
              <a:t>Cool-down | RSI 14, 40 aur 50 ke beech | Free screener | Shaam, close ke baad</a:t>
            </a:r>
          </a:p>
          <a:p>
            <a:r>
              <a:t>Strength | 3 mahine ka % change minus NIFTY 50 ka, 0 se upar | Aap: chart par stock/NIFTY wali line | Shaam, close ke baad</a:t>
            </a:r>
          </a:p>
          <a:p>
            <a:r>
              <a:t>Signal day | Daily close pichhle din ke high ke upar, 5 trading din ke andar | Price alert kehta hai dekho; close aap padhte hain | Shaam, close ke baad</a:t>
            </a:r>
          </a:p>
          <a:p>
            <a:r>
              <a:t>Stop aur size | Stop entry se 1.5 x ATR 14 neeche; qty = Rs 10,000 ÷ stop, max entry par 25% cap tak kam | Aap, calculator se | Shaam ka plan</a:t>
            </a:r>
          </a:p>
          <a:p>
            <a:r>
              <a:t>Entry | Agle din ka open, sirf tab jab woh signal-day low aur close + 0.5 x ATR 14 ke beech ho | Aap | Agli shaam, din ke open se</a:t>
            </a:r>
          </a:p>
          <a:p>
            <a:r>
              <a:t>Risk limits | 3 se kam open trades; -2R wala din aur -5R wala hafta pehle se nahi | Aap | Har entry se pehle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 card, bina shayad ke: kaun kya check karta hai</a:t>
            </a:r>
          </a:p>
          <a:p/>
          <a:p>
            <a:r>
              <a:t>Ise copy kijiye aur sirf wahi badliye jo aapka apna Day 11 card alag kehta hai. Jo rule free screener nahi pakad pata, use aap chart par aankh se check kijiye.</a:t>
            </a:r>
          </a:p>
          <a:p/>
          <a:p>
            <a:r>
              <a:t>Rule | Testable version | Kaun check karta hai | Kab</a:t>
            </a:r>
          </a:p>
          <a:p>
            <a:r>
              <a:t>Watchlist gate | Health card pass; agle 15 trading din mein results date nahi; NSE ke corporate actions page par bonus ya split nahi | Aap: card, NSE announcements aur corporate actions | Stock jodne se pehle</a:t>
            </a:r>
          </a:p>
          <a:p>
            <a:r>
              <a:t>Trend | Daily chart par EMA 20, EMA 50 ke upar | Free screener | Shaam, close ke baad</a:t>
            </a:r>
          </a:p>
          <a:p>
            <a:r>
              <a:t>Trend badh raha | EMA 50, 10 trading din pehle se upar | Aap, aankh se: free screener shayad na pakde | Shaam, close ke baad</a:t>
            </a:r>
          </a:p>
          <a:p>
            <a:r>
              <a:t>Pullback | Daily close EMA 20 se 2% ke andar, upar ya neeche, aur EMA 50 ke upar | Free screener | Shaam, close ke baad</a:t>
            </a:r>
          </a:p>
          <a:p>
            <a:r>
              <a:t>Cool-down | RSI 14, 40 aur 50 ke beech | Free screener | Shaam, close ke baad</a:t>
            </a:r>
          </a:p>
          <a:p>
            <a:r>
              <a:t>Strength | 3 mahine ka % change minus NIFTY 50 ka, 0 se upar | Aap: chart par stock/NIFTY wali line | Shaam, close ke baad</a:t>
            </a:r>
          </a:p>
          <a:p>
            <a:r>
              <a:t>Signal day | Daily close pichhle din ke high ke upar, 5 trading din ke andar | Price alert kehta hai dekho; close aap padhte hain | Shaam, close ke baad</a:t>
            </a:r>
          </a:p>
          <a:p>
            <a:r>
              <a:t>Stop aur size | Stop entry se 1.5 x ATR 14 neeche; qty = Rs 10,000 ÷ stop, max entry par 25% cap tak kam | Aap, calculator se | Shaam ka plan</a:t>
            </a:r>
          </a:p>
          <a:p>
            <a:r>
              <a:t>Entry | Agle din ka open, sirf tab jab woh signal-day low aur close + 0.5 x ATR 14 ke beech ho | Aap | Agli shaam, din ke open se</a:t>
            </a:r>
          </a:p>
          <a:p>
            <a:r>
              <a:t>Risk limits | 3 se kam open trades; -2R wala din aur -5R wala hafta pehle se nahi | Aap | Har entry se pehle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Alert ke baad ki checklist: 60 second, chhe haan/na checks</a:t>
            </a:r>
          </a:p>
          <a:p/>
          <a:p>
            <a:r>
              <a:t>Koi bhi NO = no trade. Shaam ke swing scan ke liye check 3 mein apne trend, pullback, RSI aur RS wale boxes likhiye.</a:t>
            </a:r>
          </a:p>
          <a:p/>
          <a:p>
            <a:r>
              <a:t># | Check | Aman, 9:40 | Aman, 9:55</a:t>
            </a:r>
          </a:p>
          <a:p>
            <a:r>
              <a:t>1 | Maine khud chart dekha, sirf alert ka message nahi | Haan | Haan</a:t>
            </a:r>
          </a:p>
          <a:p>
            <a:r>
              <a:t>2 | Mere rule wali candle level ke paar close hui (touch ya wick nahi ginta) | NO: sirf wick, close 999 par | Haan: close 1,002.50 par</a:t>
            </a:r>
          </a:p>
          <a:p>
            <a:r>
              <a:t>3 | Rule card ke woh checks jo alert nahi dekh sakta, sab pass (ORB: VWAP ki side, volume, 11:00 se pehle) | - | Haan</a:t>
            </a:r>
          </a:p>
          <a:p>
            <a:r>
              <a:t>4 | Stop aur size nikaala: 1% rule, 25% cap tak kam | - | Haan: stop Rs 994; 249 shares (25% cap)</a:t>
            </a:r>
          </a:p>
          <a:p>
            <a:r>
              <a:t>5 | 3 se kam open trades; -2R wala din ya -5R wala hafta pehle se nahi | - | Haan</a:t>
            </a:r>
          </a:p>
          <a:p>
            <a:r>
              <a:t>6 | Alert log ki row likhi: time, alert ka naam, valid Y/N, wajah | Haan: 'N, sirf touch' | Haan: 'Y, close upar'</a:t>
            </a:r>
          </a:p>
          <a:p>
            <a:r>
              <a:t> | Faisla | NO TRADE | Agle open par paper entry, Rs 1,002.50</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ORB flowchart: answer key (optional stretch)</a:t>
            </a:r>
          </a:p>
          <a:p/>
          <a:p>
            <a:r>
              <a:t>Agar aap ORB follow karte hain, toh pehle apna flowchart khud banaiye, phir box dar box milaiye. Rules Day 13 wale hain.</a:t>
            </a:r>
          </a:p>
          <a:p/>
          <a:p>
            <a:r>
              <a:t># | Sawaal ya kaam | YES | NO</a:t>
            </a:r>
          </a:p>
          <a:p>
            <a:r>
              <a:t>1 | Start: 9:15-11:00 aur phir 14:30 par dekh sakte hain? | → 2 | Aaj ORB nahi</a:t>
            </a:r>
          </a:p>
          <a:p>
            <a:r>
              <a:t>2 | NIFTY 50 ka stock jo kal ki range ke andar khula (gap nahi)? | → 3 | NO TRADE</a:t>
            </a:r>
          </a:p>
          <a:p>
            <a:r>
              <a:t>3 | Aaj results ya badi company news nahi, aur price band se door? | → 4 | NO TRADE</a:t>
            </a:r>
          </a:p>
          <a:p>
            <a:r>
              <a:t>4 | Gunjaaish baaki: -2R se upar, 2 se kam stop-out, 3 se kam open, is stock mein abhi tak ORB trade nahi? | → 5 | NO TRADE</a:t>
            </a:r>
          </a:p>
          <a:p>
            <a:r>
              <a:t>5 | 9:30 ke baad, aur 9:15-9:30 ka high aur low mark? | → 6 | Rukiye: 9:30 se pehle trade nahi</a:t>
            </a:r>
          </a:p>
          <a:p>
            <a:r>
              <a:t>6 | Koi 5-minute candle range ke bahar close hui? | → 7 | 11:00 tak dekhte rahiye</a:t>
            </a:r>
          </a:p>
          <a:p>
            <a:r>
              <a:t>7 | Long: price VWAP ke upar (short: neeche), aur us candle ka volume 20-candle average se upar? | → 8 | Yeh candle nahi: wapas 6 par</a:t>
            </a:r>
          </a:p>
          <a:p>
            <a:r>
              <a:t>8 | Kya agli candle 11:00 tak khulti hai? | → 9 | NO TRADE</a:t>
            </a:r>
          </a:p>
          <a:p>
            <a:r>
              <a:t>9 | Plan: stop range ki doosri taraf; size = 1% rule aur 25% cap mein jo chhota ho; 2R par profit exit | → 10 | -</a:t>
            </a:r>
          </a:p>
          <a:p>
            <a:r>
              <a:t>10 | Us open par paper entry; exit stop, 2R ya 14:30 par, hamesha usi din | → End | -</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Flowchart Duel: kisi classmate ya family member ke saath flowchart exchange kijiye aur har ek ko 4 mein se score dijiye: har box haan/na sawaal ya kaam hai; har 'na' NO TRADE par jaata hai; risk checks maujood hain (stop, size, 25% cap, 3 open trades, -2R daily stop, -5R weekly pause, results date); daily close ki timing likhi hai. Bonus round: partner ke rule card ki ek line zor se padhiye aur use 10 second dijiye shayad wala shabd pakadne ke liye. Akele seekh rahe hain? Apna flowchart lesson mein Priya ki table se milaiye aur chhoote hue boxes giniye.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Flowchart drafter</a:t>
            </a:r>
          </a:p>
          <a:p>
            <a:r>
              <a:t>You are a patient teacher helping a beginner turn a written swing-trading rule card into a flowchart. I will paste my rule card below (the EMA Pullback Swing on daily charts: EMA 20 above EMA 50, with EMA 50 higher than 10 trading days ago, a close within 2% of EMA 20 and above EMA 50, RSI 14 between 40 and 50, 3-month relative strength vs NIFTY 50 above zero, a signal day that closes above the previous day's high, and a stop at 1.5 x ATR 14 below entry). First, list every vague word in my card (such as near, strong, safe or about) and suggest a testable yes/no version with a number and a time (which candle, and when it is checked). Then write the flowchart as a table with the columns #, shape (oval, diamond or rectangle), question or action, YES (go to N) and NO (NO TRADE or wait). For each node, also say whether a free stock screener can check it after the close or I must check it by eye on the chart. Include nodes for: the daily candle being closed (checked in the evening, after the exchange's official close), the health-card pass, no results date in the next 15 trading days and no bonus or split on the NSE corporate actions page, the trend filter, the pullback condition, RSI, relative strength, the signal day, the stop from 1.5 x ATR 14 on the daily chart, position size from the 1% rule, the 25% exposure cap, the limit of 3 open trades, the -2R daily stop and -5R weekly pause, entry at the next day's open (skipped if it opens above the signal close plus 0.5 x ATR 14, or below the signal day's low), and a journal entry. Mark any node you added on your own as Guess so I can check it. Do not name any real stock, do not give buy or sell advice, and do not mention targets or expected returns.</a:t>
            </a:r>
          </a:p>
          <a:p/>
          <a:p>
            <a:r>
              <a:t>My rule card:</a:t>
            </a:r>
          </a:p>
          <a:p>
            <a:r>
              <a:t>&lt;paste here&gt;</a:t>
            </a:r>
          </a:p>
          <a:p/>
          <a:p>
            <a:r>
              <a:t>Prompt 2: Alert ke baad ki checklist</a:t>
            </a:r>
          </a:p>
          <a:p>
            <a:r>
              <a:t>Write a 60-second checklist I will run every time a screener or price alert fires, for a daily EMA pullback swing rule card that I will paste below. On a free charting plan I use only plain price alerts at levels I work out the evening before, so an alert can ring on a touch or a wick before any candle has closed. Give exactly 6 yes/no items. Cover: I have looked at the chart myself; the candle my rule needs has closed (a touch or a wick does not count); the rule-card conditions the alert cannot check; stop and position size computed from the 1% rule; the 25% exposure cap, the limit of 3 open trades, and no -2R daily stop or -5R weekly pause already hit; and an alert-log row with time, alert name, valid Y/N and reason. End with the line 'Any NO = no trade.' Then explain in 3 short lines why an alert is not an order. Do not name any real stock, do not give buy or sell advice, and do not mention targets or expected returns.</a:t>
            </a:r>
          </a:p>
          <a:p/>
          <a:p>
            <a:r>
              <a:t>My rule card:</a:t>
            </a:r>
          </a:p>
          <a:p>
            <a:r>
              <a:t>&lt;paste here&gt;</a:t>
            </a:r>
          </a:p>
          <a:p/>
          <a:p>
            <a:r>
              <a:t>Prompt 3: Bot pitch ka X-ray</a:t>
            </a:r>
          </a:p>
          <a:p>
            <a:r>
              <a:t>My teacher wrote this made-up advert for practice: 'AI Algo Bot. Trades for you while you sleep. 9 out of 10 trades in profit. Just share your broker login and password. Rs 4,999 a month. Only 20 seats left.' Check it against SEBI's framework for retail algo trading in India (in force since 1 April 2026): the broker as principal, an exchange Algo-ID on every algo order, empanelment of algo providers with the exchange, SEBI Research Analyst registration for black-box providers, and the family sharing limit (spouse, dependent children, dependent parents). Label each claim in the advert as Fact, Guess or Kachra with a one-line reason. Then list the red flags, the three questions I should ask any bot seller, and the points I should re-check on the SEBI or NSE website because they can change. Do not recommend any bot, stock or strategy, do not give buy or sell advice, and do not mention targets or expected returns.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apne card mein 'enter tabhi karo jab volume strong ho' jodna chahta hai. Kaunsa rewrite ise testable rule bana deta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 ke flowchart mein ek stock 'Trend upar?' box paas kar leta hai, lekin 'Pullback &amp; RS?' box par NO aata hai: RSI 14 ki value 53 hai aur rule 40 se 50 maangta hai. Chart par baaki sab theek lag raha hai. Flowchart use kya kehta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Sharma Textiles Ltd ki opening range ka high Rs 612 hai. Rs 612 par laga price alert tab baj jaata hai jab ek 5-minute wick Rs 613.20 tak jaati hai, lekin candle Rs 611.40 par close hoti hai. Aman ke rule ko range ke upar 5-minute close chahiye. Is alert ka matlab kya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ke swing trigger ko aisi daily candle chahiye jo pichhle din ke high ke upar close ho. 3:00 baje screener alert dikhata hai ki condition sach hai. Use kya karna chahiye?</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SEBI ke retail algo framework mein broker 'principal' hai. Ek trader ka apna algo, broker ke through chalte hue, loss kar deta hai. Is loss ke liye 'principal' ka matlab kya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Aaj raat ka journal: Aapke rule card ki kaunsi line testable banana sabse mushkil laga, koi shayad word ya missing time, aur aapne uski jagah kya likha? Aur imaandaari se bataiye: aapke andar ka kaunsa hissa abhi bhi chahta hai ki bot sab kar de — thakaan, kuch miss hone ka darr, ya aasaan paise ki umeed?</a:t>
            </a:r>
          </a:p>
          <a:p/>
          <a:p>
            <a:r>
              <a:t>Jo rule aap kaagaz par utaar sakte hain, use nibha bhi sakte hain. Aaj aapne apna rule ek-ek box karke utaara.</a:t>
            </a:r>
          </a:p>
          <a:p/>
          <a:p>
            <a:r>
              <a:t>Agla: Day 17 · Backtest Level 1: haath se, samajh ke</a:t>
            </a:r>
          </a:p>
          <a:p/>
          <a:p>
            <a:r>
              <a:t>Educational content only, not investment advice. Investment in securities market is subject to market risks. Company names, prices and the bot advert are made up for illustration; no algo, bot or algo provider is endorsed. Stage 1 uses virtual money only and places no automated orders. No affiliation with any charting or diagram site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17: Backtest Level 1: haath se, samajh ke</a:t>
            </a:r>
          </a:p>
          <a:p/>
          <a:p>
            <a:r>
              <a:t>Concept: 30-trade manual backtest, costs ke baad R mein</a:t>
            </a:r>
          </a:p>
          <a:p>
            <a:r>
              <a:t>AI Lab: Backtest stats sheet aur bias audit</a:t>
            </a:r>
          </a:p>
          <a:p>
            <a:r>
              <a:t>Mindset: Curve-fitting wali ummeed</a:t>
            </a:r>
          </a:p>
          <a:p/>
          <a:p>
            <a:r>
              <a:t>Aaj ke baad: Aaj ke baad aap bina aage jhaanke backtest kar payenge, har trade costs aur gaps ke baad R mein log kar payenge, win-rate, expectancy, maximum drawdown aur longest losing streak padh payenge, aur kisi bhi backtest mein, apne mein bhi, look-ahead, survivorship aur curve-fitting pakad payenge.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mein se das</a:t>
            </a:r>
          </a:p>
          <a:p/>
          <a:p>
            <a:r>
              <a:t>(Sunday raat. Aman study group mein ek chart post karta hai, hare arrows se bhara hua.)</a:t>
            </a:r>
          </a:p>
          <a:p>
            <a:r>
              <a:t>Aman: Sir, maine Bharat Pumps Ltd par EMA Pullback ka backtest kar liya. Das trades, nau winners. Phir EMA 20 ko EMA 18 kiya aur RSI band 42-48 kar diya, toh dason jeet gaye. Bas, yahi hai woh strategy.</a:t>
            </a:r>
          </a:p>
          <a:p>
            <a:r>
              <a:t>Priya: Aman, woh das trades tumne chune kaise? Aur costs minus kiye ya nahi?</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mein se das</a:t>
            </a:r>
          </a:p>
          <a:p/>
          <a:p>
            <a:r>
              <a:t>Mentor: Achhe sawaal hain. Aman, jab aap har entry mark kar rahe the, kya aage ka chart pehle se dikh raha tha? Aur EMA 18 hi kyun?</a:t>
            </a:r>
          </a:p>
          <a:p>
            <a:r>
              <a:t>Aman: Umm... haan, poora chart khula tha. EMA 18 bas un das trades par zyada fit baith raha tha.</a:t>
            </a:r>
          </a:p>
          <a:p>
            <a:r>
              <a:t>Mentor: Toh aapne rule nahi, apni yaaddasht test ki, aur upar se rule ko past ke hisaab se mod diya. Aaj hum imaandari se test karenge: stocks aur dates pehle tay, aage ka chart chhupa hua, tees trades, aur costs minus karke. Number chhota aayega. Par woh imaandar hoga.</a:t>
            </a:r>
          </a:p>
          <a:p/>
          <a:p>
            <a:r>
              <a:t>Seekh: Backtest past se poocha gaya ek sawaal hai. Imaandari se poochiye, aur tab bhi yeh aane wale kal ka koi vada nahi karta.</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Backtest nets ki practice hai, match nahi</a:t>
            </a:r>
          </a:p>
          <a:p/>
          <a:p>
            <a:r>
              <a:t>Backtest ka matlab hai apne likhe hue rules ko purane charts par chalana aur dekhna ki tab kya hota. Ise bowling machine ke saamne nets ki practice samjhiye: kaam ki cheez hai, lekin asli match ki century nahi. Day 12 ki paper trading aapke rules ko aage ke dinon par, ek-ek din karke test karti hai; backtest wahi rules pichhle saalon par chalata hai, toh 30 trades mahino ki jagah kuch ghanton mein dikh jaate hain. Pehla backtest haath se kijiye, taaki aapko pata ho ki har number kahan se aaya. Shuruaat daily chart par EMA Pullback Swing se kijiye; ORB ke test ke liye mahino ka 5-minute data chahiye, kyunki usmein ek stock par din mein zyada se zyada ek trade banta hai. Aur koi bhi chart kholne se pehle stocks, dates aur rules likh lijiye, taaki price ki chaal dekhne ke baad unhe chunne ka mauka hi na rahe.</a:t>
            </a:r>
          </a:p>
          <a:p/>
          <a:p>
            <a:r>
              <a:t>Udaharan: TradingView kholne se pehle Priya Google Sheet ke sabse upar apna test plan type karti hai: 'EMA Pullback Swing, Day 11 ka Rule Card Day 16 wale yes/no roop mein, v1 naam se save. Sharma Textiles Ltd, Gupta Cement Ltd aur Kiran Foods Ltd ke daily charts (koi bhi chart kholne se pehle likhi gayi list se random chune gaye, aur jo naam nikle sab rakhe), 1 Jan 2023 se 31 Dec 2025 tak. Signal candle ke baad agle din ke open par entry. Stop entry se 1.5 x ATR(14) neeche. Exit 2.5R par ya 15 din ke time exit par. Costs har trade par 0.1R (Day 12 wala allowance). Trade 30 tak koi rule change nahi.' Aman ke das trades ek aise stock se aaye the jiske baare mein use pehle se pata tha ki woh chadh chuka hai. Priya ke plan mein iski koi gunjaish nahi. Uska poora plan Aaj Ka Kaam mein 'Aapka template' wala model card hai.</a:t>
            </a:r>
          </a:p>
          <a:p/>
          <a:p>
            <a:r>
              <a:t>Yaad rakhiye: Stocks, dates aur rules chart khulne se pehle kaagaz par. Har result hypothetical hai.</a:t>
            </a:r>
          </a:p>
          <a:p/>
          <a:p>
            <a:r>
              <a:t>Slide par: Imaandar backtest · Har step khud ko bewakoof banane ka ek raasta band karta hai. Ek bhi chhodiye, toh result aapki jhoothi taareef karega.</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Aage ka chart chhupaiye: look-ahead bias</a:t>
            </a:r>
          </a:p>
          <a:p/>
          <a:p>
            <a:r>
              <a:t>Look-ahead bias ka matlab hai test mein aisi jaankari use karna jo decision ke waqt aapke paas ho hi nahi sakti thi. Yeh waisa hi hai jaise result jaanne ke baad match ki highlights dekhna: har shot obvious lagta hai. Yeh teen raaston se ghusta hai: poora chart saamne dikh raha ho; aap us price par khareedein jo baad mein hi pata chala, jaise pullback ka bilkul bottom; ya chupchaap koi trade chhod dein kyunki dikh raha hai ki woh loss mein gaya. Iska ilaaj ek tay tareeka hai, andaaza nahi: agar aapke TradingView account mein daily chart par Bar Replay milta hai toh use kijiye, warna chart peeche scroll karke screen ka right hissa kaagaz se dhak dijiye, aur ek baar mein ek candle kholiye. Daily signal close par hi confirm hota hai (Day 16), isliye jab koi candle signal poora kare, toh agli candle kholne se pehle apna plan likhiye: Day 11 card ke hisaab se plan ya skip, maximum entry (signal close + 0.5 x ATR), kis price ke neeche skip (signal-day low) aur stop ki doori. Phir agli candle kholiye, uska open faisla karega: dono limits ke andar ho toh wahi entry, bahar ho toh skipped: gap likhiye.</a:t>
            </a:r>
          </a:p>
          <a:p/>
          <a:p>
            <a:r>
              <a:t>Udaharan: Kiran Foods Ltd par ek pullback Rs 482 par bottom banata hai, aur agli candle Rs 497 par close hoti hai, pichhle din ke high Rs 494 ke upar: yahi signal hai. ATR(14) Rs 14 hai. Agle din open Rs 500 hai, Day 11 ki dono limits ke andar (497 + 0.5 x 14 = Rs 504 se upar nahi, signal-day low Rs 485 se neeche nahi), toh Priya ki imaandar entry Rs 500 hai. Stop 1.5 x 14 = Rs 21 neeche, yaani Rs 479 par lagega. 2.5R wala profit exit, 500 + 2.5 x 21 = Rs 552.50, kabhi nahi aata, toh 15 din wala time exit agle open par, Rs 542 par, bech deta hai: imaandar trade (542 - 500) / 21 = +2.0R banata hai. Aman poora chart dekhkar Rs 482 ke bottom par hi buy log karega, usi Rs 21 ke risk ke saath: (542 - 482) / 21 = +2.86R. Wahi trade 43% behtar dikhne lagta hai, sirf isliye ki usne aage jhaank liya.</a:t>
            </a:r>
          </a:p>
          <a:p/>
          <a:p>
            <a:r>
              <a:t>Yaad rakhiye: Jo baat us waqt aapko pata nahi ho sakti thi, woh backtest mein nahi aa sakti.</a:t>
            </a:r>
          </a:p>
          <a:p/>
          <a:p>
            <a:r>
              <a:t>Slide par: Asal mein kahan khareed sakte the? · Rs 482 ka bottom baad ki candles chadhne ke baad hi dikhta hai. Signal close par confirm hota hai, isliye asli entry agla open hai, Rs 500.</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 trade R mein likhiye, costs aur gaps ke baad</a:t>
            </a:r>
          </a:p>
          <a:p/>
          <a:p>
            <a:r>
              <a:t>1R woh risk hai jo aapne ek trade par plan kiya tha (Day 3); per share yeh entry se stop tak ki doori hai. EMA Pullback Swing sirf buy karti hai, isliye har trade par long wala formula lagega: R-multiple = (exit - entry) / (entry - stop). Agar 25% cap ne quantity kam kar di ho, tab bhi backtest mein R isi tarah per share log kijiye, kyunki backtest rule ko naapta hai; paper journal mein capped trade apne asli rupee size par hi likha jaata hai, jaise Day 14 mein. Asli trades mein costs bhi lagti hain aur thoda slippage bhi hota hai (Day 2), isliye course har trade se Day 12 wala 0.1R allowance kaatta hai. Day 12 ke fill rules yahan bhi waise hi lagenge: din mein stop touch hua toh exit stop par, stop ke paar open hua toh exit usi open par, profit exit tabhi giniye jab price uske paar trade kare, aur agar ek hi daily candle dono ko chhoo le, toh stop giniye. Shuru karne se pehle tay kar lijiye ki win ka matlab hai net R zero se upar; jo trade entry price par hi band hua, woh costs ke baad chhota sa loss ban jaata hai.</a:t>
            </a:r>
          </a:p>
          <a:p/>
          <a:p>
            <a:r>
              <a:t>Udaharan: Priya ka Kiran Foods wala trade: entry Rs 500, stop Rs 479, yaani risk Rs 21 per share. Rs 10 lakh ki practice capital par 1R = Rs 10,000, toh woh 476 shares rakhti (10,000 / 21, neeche round kiya hua), jinki value Rs 2,38,000 hai, 25% cap ke andar. Maan lijiye kisi broker ka public brokerage calculator (account ki zaroorat nahi) round trip ke charges lagbhag Rs 600 dikhata hai aur woh slippage ke liye Rs 400 jodti hai (yeh sirf misaal hai, apne figures khud dekhiye): kul Rs 1,000, yaani 1,000 / 10,000 = 0.1R, bilkul Day 12 wala allowance. Agar yeh zyada aata, toh woh apna bada number leti. Rs 542 wala time exit log mein +1.90R likha jaata hai. Baad ke ek trade mein, usi entry aur stop ke saath, close ke baad company ki ek buri khabar aa gayi aur stock Rs 470 par khula, stop ke neeche. Priya ne (470 - 500) / 21 = -1.43R likha, phir 0.1R aur ghataya, toh -1.53R, koi saaf-suthra -1R nahi: stop-loss aapke exit price ka vada nahi karta. Agar stock lower band par atka ho, toh exit us pehle din tak rukta hai jab sell fill ho sake.</a:t>
            </a:r>
          </a:p>
          <a:p/>
          <a:p>
            <a:r>
              <a:t>Yaad rakhiye: Net R log kijiye, gross R nahi. Costs aur gaps result ka hissa hain, bad luck nahi.</a:t>
            </a:r>
          </a:p>
          <a:p/>
          <a:p>
            <a:r>
              <a:t>Slide par: Ek trade, imaandari se log · Charges aur slippage sirf misaal hain. Apne charges brokerage calculator ya contract note mein dekhiye.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 padhiye: chaar numbers aur ek line</a:t>
            </a:r>
          </a:p>
          <a:p/>
          <a:p>
            <a:r>
              <a:t>30 trades log ho jaayein, toh chaar numbers padhiye. Win-rate yaani jeete hue trades ko kul trades se divide kijiye. Expectancy yaani har trade ka average net R, Day 3 wala idea, ab aapke apne rules par naapa hua. Maximum drawdown yaani aapke R ke running total ka kisi peak se baad ke low tak sabse bada girna. Longest losing streak yaani lagaataar sabse zyada kitne loss aaye. Phir equity curve banaiye: har trade ke baad aapke cumulative net R ki line.</a:t>
            </a:r>
          </a:p>
          <a:p/>
          <a:p>
            <a:r>
              <a:t>Udaharan: Yeh practice ke liye banaye gaye numbers hain, strategy ka asli test nahi. Priya ke 30 trades: 12 jeete, yaani 40% win-rate. Saat winners 2.5R wale profit exit tak pahunche, aur paanch time exit par chhote gain ke saath nikle. Net R ka jod +3.57R hai, toh expectancy +3.57 / 30, lagbhag +0.12R per trade; costs se pehle yeh +6.57R tha, yaani har trade ke 0.1R ne lagbhag aadha kha liya. Uska running total trade 19 ke baad +7.40R ke peak par tha, aur trade 27 ke baad +1.17R tak gir gaya: maximum drawdown 6.23R, yaani Rs 10 lakh par zyada se zyada Rs 62,300, agar har trade full size ka tha. Trade 30 tak curve wapas us peak tak nahi pahunchi thi. Isi giraavat ke andar lagaataar paanch loss the. Yeh normal hai. Ek simple model mein, jahan har trade ke jeetne ka chance 40% ho, 30 trades mein kahin na kahin paanch ya zyada loss lagaataar aana lagbhag teen mein se do baar hota hai. Peak se giraavat tak ke uske trades 18 se 30 'Aapka template' mein sample Backtest Log ke roop mein diye hain.</a:t>
            </a:r>
          </a:p>
          <a:p/>
          <a:p>
            <a:r>
              <a:t>Yaad rakhiye: Expectancy batati hai ki is sample mein rule mein edge tha ya nahi; drawdown batata hai ki aap uske saath tik paate ya nahi.</a:t>
            </a:r>
          </a:p>
          <a:p/>
          <a:p>
            <a:r>
              <a:t>Slide par: Priya ki 30-trade equity curve · Max drawdown = peak - low = 7.40R - 1.17R = 6.23R. Practice ke liye banaye gaye numbers.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Jab data hi jhooth bole: survivorship aur unadjusted prices</a:t>
            </a:r>
          </a:p>
          <a:p/>
          <a:p>
            <a:r>
              <a:t>Survivorship bias ka matlab hai sirf un companies par test karna jo aaj tak tiki rahin. Aaj ki NIFTY 50 list lekar 2019 tak peeche test kijiye, toh jo companies aksar lambi giraavat ke baad index se bahar ho gayin, woh list mein hain hi nahi; aapka test sirf race jeetne walon ko dekhta hai. Iska ilaaj hai point-in-time list, yaani index ke woh members jo aapki start date par the: NSE Indices Ltd, NSE group ki woh company jo NIFTY indices chalati hai, har badlaav ka press release niftyindices.com par deti hai; toh aaj ki list se shuru kijiye, start date ke baad jude naam hataiye aur jo naam bahar gaye unhe wapas jodiye. Phir random draw jo bhi naam de, sab rakhiye; jo stock aapko yaad hai ki chadha tha, use badalna bhi hindsight hi hai, bas ulti disha mein. Abhi list dobara banana bhaari lage, toh aaj ki list lijiye aur report mein 'survivorship risk' likhiye. Doosra jaal hai unadjusted data: split ya bonus issue (Day 15) raaton-raat share price kaat deta hai, kisi ka paisa doobe bina, lekin unadjusted chart ise crash ki tarah dikhata hai, jo nakli stops trigger karta hai aur hafton tak EMA, RSI aur ATR bigaadta hai; isliye adjusted charts use kijiye, aur price achanak kisi saaf hisaab se gire, jaise theek aadha ya paanchwa hissa, toh company ke corporate actions se milaiye.</a:t>
            </a:r>
          </a:p>
          <a:p/>
          <a:p>
            <a:r>
              <a:t>Udaharan: Sharma Textiles Ltd Rs 1,000 par trade ho raha hai aur har share ko paanch mein split karta hai (face value Rs 10 se Rs 2). Ex-date par price lagbhag Rs 200 par khulta hai, aur 100 shares wale ke paas ab 500 shares hain (naye shares record date ke kuch hi samay baad demat mein aa jaate hain; company ka announcement dekhiye), jinki value ab bhi lagbhag Rs 1,00,000 hai. Unadjusted chart par yeh 80% ka gap down dikhta hai. Rs 1,000 par entry aur Rs 21 ke stop wala backtest trade (200 - 1,000) / 21, yaani lagbhag -38R log karega, aisa loss jo kabhi hua hi nahi. Adjusted chart pehle ke har price ko 5 se divide kar deta hai, toh line smooth rehti hai aur test imaandar.</a:t>
            </a:r>
          </a:p>
          <a:p/>
          <a:p>
            <a:r>
              <a:t>Yaad rakhiye: Test utna hi imaandar hai jitna uska data: jo losers dikhte nahi, unhe yaad rakhiye, aur adjusted prices use kijiye.</a:t>
            </a:r>
          </a:p>
          <a:p/>
          <a:p>
            <a:r>
              <a:t>Slide par: Biased data vs behtar data · Level 1 par har bias hata nahi sakte, par use kam kar sakte hain aur report mein likh sakte hain.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Curve-fitting ki ummeed, aur 30 sirf pehli jhalak kyun hai</a:t>
            </a:r>
          </a:p>
          <a:p/>
          <a:p>
            <a:r>
              <a:t>Curve-fitting ka matlab hai rule ko tab tak tweak karte rehna jab tak woh past par bilkul fit na baith jaaye, jaise shirt ko insaan ke naap se nahi, uski ek photo ke naap se silwana. Har chhota tweak progress jaisa lagta hai, lekin zyadatar woh un khaas candles ke random noise par fit hota hai, aur woh noise dobara nahi aata. Isliye poore 30 trades tak rules freeze rakhiye; tweak ek naya rule hai, aur use apne 30 fresh trades chahiye, un dates se jo aapne abhi tak use nahi ki. 30 trades sirf pehli jhalak dete hain; lagbhag 100 trades, jo up, down aur sideways market mein faile hon, confidence dena shuru karte hain. Har trade par uske signal wale din ka NIFTY 50 phase likhiye: up jab EMA 20, EMA 50 ke upar ho aur dono apni 10 trading din pehle wali value se upar hon; down jab EMA 20, EMA 50 ke neeche ho aur dono apni 10 trading din pehle wali value se neeche hon; baaki sab sideways. Aapki apni report ko Day 14 ke paanch checks (costs, drawdown, trade count, girta market, har tweak ke liye fresh data) paas karne honge, aur us par ek line zaroor ho: hypothetical, aur past performance is not indicative of future results, yaani pichhla record aage ka vada nahi hai.</a:t>
            </a:r>
          </a:p>
          <a:p/>
          <a:p>
            <a:r>
              <a:t>Udaharan: Aman ne apna EMA 18 aur RSI 42-48 wala version imaandari se 30 fresh trades par test kiya, un dates se jo usne dekhi nahi thi. Usmein 10 jeete, yaani 33%, tuned sample wale das mein se das ke aas-paas bhi nahi. Priya ke freeze kiye rule ki kahani zyada seedhi hai, wahi practice wale numbers mein: pehle das trades mein 3 jeet, agle das mein 6, aakhri das mein 3, kul milakar 40%. Koi bhi das trades shaandaar ya bekaar dikh sakte hain. Isiliye rule ko 30 trades ke baad hi judge kijiye, aur confidence lagbhag 100 ke baad hi banaiye.</a:t>
            </a:r>
          </a:p>
          <a:p/>
          <a:p>
            <a:r>
              <a:t>Yaad rakhiye: Agar rule ko past ke hisaab se badla hai, toh ab wahi past use test nahi kar sakta.</a:t>
            </a:r>
          </a:p>
          <a:p/>
          <a:p>
            <a:r>
              <a:t>Slide par: Rule wahi, das trades alag · Priya ke freeze kiye rule ke practice numbers, asli test nahi. Chhote samples mein bada jhool hota hai; 30 trades pehli jhalak hain, 100 se confidence banta hai.</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Backtest: Apne likhe hue rules ko purane charts par chalakar dekhna ki kya hota. Results hypothetical hote hain: kaagaz par nikale gaye, asli paise se kamaye nahi.</a:t>
            </a:r>
          </a:p>
          <a:p>
            <a:r>
              <a:t>Look-ahead bias: Test mein aisi jaankari use karna jo decision ke waqt aapke paas nahi ho sakti thi, jaise baad ki candle.</a:t>
            </a:r>
          </a:p>
          <a:p>
            <a:r>
              <a:t>Survivorship bias: Sirf un companies par test karna jo aaj tak tiki rahin; jo doob gayin ya index se bahar ho gayin, woh chhoot jaati hain.</a:t>
            </a:r>
          </a:p>
          <a:p>
            <a:r>
              <a:t>Adjusted prices: Split aur bonus issue ke hisaab se sudhaare gaye purane prices, taaki corporate action crash jaisa na dikhe.</a:t>
            </a:r>
          </a:p>
          <a:p>
            <a:r>
              <a:t>Maximum drawdown: Aapke cumulative R ka kisi peak se baad ke low tak sabse bada girna. Yeh woh sabse bura daur hai jise aapko jhelna padta.</a:t>
            </a:r>
          </a:p>
          <a:p>
            <a:r>
              <a:t>Curve-fitting: Rules ko tab tak tweak karna jab tak woh purane data par perfect fit na ho jaayein. Aksar yeh random noise par fit hota hai jo dobara nahi aata.</a:t>
            </a:r>
          </a:p>
          <a:p>
            <a:r>
              <a:t>Point-in-time list: Kisi index ya stocks ki list bilkul waisi jaisi woh kisi purani date par thi, baad mein jude aur hate naamon se pehle. Backtest survivorship bias kam karne ke liye yahi use karta hai.</a:t>
            </a:r>
          </a:p>
          <a:p>
            <a:r>
              <a:t>Equity curve: Aapke net R ke chalte total ki line, trade dar trade. Peak se iski har giraavat ek drawdown hai.</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Backtest Level 1</a:t>
            </a:r>
          </a:p>
          <a:p>
            <a:r>
              <a:t>Pehle plan: Stocks aur dates kaagaz par; 30 tak Rule Card freeze; EMA Pullback, daily charts</a:t>
            </a:r>
          </a:p>
          <a:p>
            <a:r>
              <a:t>Aage ka chart chhupaiye: Bar Replay ya chart dhakiye; Agli candle se pehle faisla; Entry agle open par</a:t>
            </a:r>
          </a:p>
          <a:p>
            <a:r>
              <a:t>R mein log: (exit - entry) ÷ (entry - stop); Costs R mein minus; Gap ho toh open par exit</a:t>
            </a:r>
          </a:p>
          <a:p>
            <a:r>
              <a:t>Log padhiye: Win-rate aur expectancy; Max drawdown, losing streak; R mein equity curve</a:t>
            </a:r>
          </a:p>
          <a:p>
            <a:r>
              <a:t>Data ke jaal: Survivorship bias; Point-in-time index list; Unadjusted split aur bonus</a:t>
            </a:r>
          </a:p>
          <a:p>
            <a:r>
              <a:t>Aapka mann: Curve-fitting ki ummeed; 30 = pehli jhalak, 100 = confidence; Hypothetical, vada nahi</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Aaj ek imaandar backtest set up kijiye aur pehle 3 trades log kijiye; poore 30 agle 7 din mein khatam kijiye aur apne chaar numbers Week 3 review mein jodiye (Day 21 par, ya trade 30 baaki ho toh uske baad ke catch-up hafte mein).</a:t>
            </a:r>
          </a:p>
          <a:p/>
          <a:p>
            <a:r>
              <a:t>1. 'Aapka template' mein diya test plan aur Backtest Log Google Sheet ya notebook mein copy kijiye, stocks chhod kar plan ki har line bhariye, aur likhiye 'v1, trade 30 tak freeze'. Chahein toh AI Lab ka 'Backtest stats sheet' prompt formulas jod dega; pehle unhe Priya ki 14 sample rows par test kijiye (6.23R ka maximum drawdown aur lagaataar 5 loss dikhne chahiye).</a:t>
            </a:r>
          </a:p>
          <a:p>
            <a:r>
              <a:t>2. Apna cost number check kijiye: kisi broker ke public brokerage calculator par (account ki zaroorat nahi) lagbhag Rs 2.5 lakh ki delivery kharid-bikri ke total charges note kijiye, jo 25% cap ke hisaab se aapki sabse badi position hai, slippage ka andaaza jodiye aur Rs 10,000 se divide kijiye. Agar total 0.1R (Rs 1,000) se zyada aaye toh apna number lijiye, warna har trade par Day 12 wala 0.1R allowance.</a:t>
            </a:r>
          </a:p>
          <a:p>
            <a:r>
              <a:t>3. Koi bhi chart dekhne se pehle stocks chuniye: niftyindices.com par apni start date ke baad ke NIFTY 50 badlaav wale press releases kholiye, us din jaisi list dobara banaiye, Google Sheets mein RAND() se 3-5 naam nikaaliye aur jo naam nikle sab rakhiye, woh bhi jiske baare mein yaad hai ki chadha tha. Aaj itna bhaari lage? Aaj ki list lijiye aur plan mein 'survivorship risk' likhiye. Yeh naam sirf test ki drill hain, buy list nahi; inhe kabhi tips ki tarah share mat kijiye.</a:t>
            </a:r>
          </a:p>
          <a:p>
            <a:r>
              <a:t>4. TradingView ke free daily chart par EMA 20, EMA 50, RSI 14 aur ATR 14 lagaiye, Bar Replay on kijiye aur apni start date ko pehli candle chuniye (free sign-in lag sakta hai, broker account kabhi nahi), ya chart peeche scroll karke screen ka right hissa dhak dijiye. Agar free plan indicators ki limit laga de, toh dono EMAs ke liye ek moving-average ribbon lagaiye aur RSI aur ATR baari-baari se dekhiye, jaise Day 8 mein kiya tha.</a:t>
            </a:r>
          </a:p>
          <a:p>
            <a:r>
              <a:t>5. Card par fit baithne wale pehle 3 trades apne Backtest Log mein likhiye. Ek-ek candle aage badhiye; jab koi candle signal poora kare, toh agli candle kholne se pehle plan likhiye (max entry, kis price ke neeche skip, stop), phir uska open tay karega ki entry hai ya skipped: gap, aur stop ke paar gap ho toh exit open par likhiye.</a:t>
            </a:r>
          </a:p>
          <a:p>
            <a:r>
              <a:t>6. Stretch, agle 7 din mein kul 3-5 ghante, 30-30 minute ki baithak mein: 30 trades poore kijiye, 'Aapke chaar numbers' card bhariye, apni report par Day 14 ke paanch checks chalaiye, aur equity curve par likhiye 'Hypothetical. Past performance is not indicative of future results.' Card sambhaal kar rakhiye: Day 21 ka Week 3 review isi se hoga.</a:t>
            </a:r>
          </a:p>
          <a:p/>
          <a:p>
            <a:r>
              <a:t>Aaj ke baad: Aaj ke baad aap bina aage jhaanke backtest kar payenge, har trade costs aur gaps ke baad R mein log kar payenge, win-rate, expectancy, maximum drawdown aur longest losing streak padh payenge, aur kisi bhi backtest mein, apne mein bhi, look-ahead, survivorship aur curve-fitting pakad payenge.</a:t>
            </a:r>
          </a:p>
          <a:p/>
          <a:p>
            <a:r>
              <a:t>Tools: TradingView free chart (Bar Replay); Google Sheets; niftyindices.com ke press releases (index badlaav); Kisi broker ka public brokerage calculator (account nahi chahiye); Koi bhi AI chat</a:t>
            </a:r>
          </a:p>
          <a:p/>
          <a:p>
            <a:r>
              <a:t>Educational content only, not investment advice. Company names, chart prices and trade logs in this lesson are made up for illustration; all backtest results are hypothetical and simulated. Past performance is not indicative of future results. Stage 1 uses virtual money only. No affiliation with any charting site, broker or tool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Aaj ek imaandar backtest set up kijiye aur pehle 3 trades log kijiye; poore 30 agle 7 din mein khatam kijiye aur apne chaar numbers Week 3 review mein jodiye (Day 21 par, ya trade 30 baaki ho toh uske baad ke catch-up hafte mein).</a:t>
            </a:r>
          </a:p>
          <a:p/>
          <a:p>
            <a:r>
              <a:t>1. 'Aapka template' mein diya test plan aur Backtest Log Google Sheet ya notebook mein copy kijiye, stocks chhod kar plan ki har line bhariye, aur likhiye 'v1, trade 30 tak freeze'. Chahein toh AI Lab ka 'Backtest stats sheet' prompt formulas jod dega; pehle unhe Priya ki 14 sample rows par test kijiye (6.23R ka maximum drawdown aur lagaataar 5 loss dikhne chahiye).</a:t>
            </a:r>
          </a:p>
          <a:p>
            <a:r>
              <a:t>2. Apna cost number check kijiye: kisi broker ke public brokerage calculator par (account ki zaroorat nahi) lagbhag Rs 2.5 lakh ki delivery kharid-bikri ke total charges note kijiye, jo 25% cap ke hisaab se aapki sabse badi position hai, slippage ka andaaza jodiye aur Rs 10,000 se divide kijiye. Agar total 0.1R (Rs 1,000) se zyada aaye toh apna number lijiye, warna har trade par Day 12 wala 0.1R allowance.</a:t>
            </a:r>
          </a:p>
          <a:p>
            <a:r>
              <a:t>3. Koi bhi chart dekhne se pehle stocks chuniye: niftyindices.com par apni start date ke baad ke NIFTY 50 badlaav wale press releases kholiye, us din jaisi list dobara banaiye, Google Sheets mein RAND() se 3-5 naam nikaaliye aur jo naam nikle sab rakhiye, woh bhi jiske baare mein yaad hai ki chadha tha. Aaj itna bhaari lage? Aaj ki list lijiye aur plan mein 'survivorship risk' likhiye. Yeh naam sirf test ki drill hain, buy list nahi; inhe kabhi tips ki tarah share mat kijiye.</a:t>
            </a:r>
          </a:p>
          <a:p>
            <a:r>
              <a:t>4. TradingView ke free daily chart par EMA 20, EMA 50, RSI 14 aur ATR 14 lagaiye, Bar Replay on kijiye aur apni start date ko pehli candle chuniye (free sign-in lag sakta hai, broker account kabhi nahi), ya chart peeche scroll karke screen ka right hissa dhak dijiye. Agar free plan indicators ki limit laga de, toh dono EMAs ke liye ek moving-average ribbon lagaiye aur RSI aur ATR baari-baari se dekhiye, jaise Day 8 mein kiya tha.</a:t>
            </a:r>
          </a:p>
          <a:p>
            <a:r>
              <a:t>5. Card par fit baithne wale pehle 3 trades apne Backtest Log mein likhiye. Ek-ek candle aage badhiye; jab koi candle signal poora kare, toh agli candle kholne se pehle plan likhiye (max entry, kis price ke neeche skip, stop), phir uska open tay karega ki entry hai ya skipped: gap, aur stop ke paar gap ho toh exit open par likhiye.</a:t>
            </a:r>
          </a:p>
          <a:p>
            <a:r>
              <a:t>6. Stretch, agle 7 din mein kul 3-5 ghante, 30-30 minute ki baithak mein: 30 trades poore kijiye, 'Aapke chaar numbers' card bhariye, apni report par Day 14 ke paanch checks chalaiye, aur equity curve par likhiye 'Hypothetical. Past performance is not indicative of future results.' Card sambhaal kar rakhiye: Day 21 ka Week 3 review isi se hoga.</a:t>
            </a:r>
          </a:p>
          <a:p/>
          <a:p>
            <a:r>
              <a:t>Aaj ke baad: Aaj ke baad aap bina aage jhaanke backtest kar payenge, har trade costs aur gaps ke baad R mein log kar payenge, win-rate, expectancy, maximum drawdown aur longest losing streak padh payenge, aur kisi bhi backtest mein, apne mein bhi, look-ahead, survivorship aur curve-fitting pakad payenge.</a:t>
            </a:r>
          </a:p>
          <a:p/>
          <a:p>
            <a:r>
              <a:t>Tools: TradingView free chart (Bar Replay); Google Sheets; niftyindices.com ke press releases (index badlaav); Kisi broker ka public brokerage calculator (account nahi chahiye); Koi bhi AI chat</a:t>
            </a:r>
          </a:p>
          <a:p/>
          <a:p>
            <a:r>
              <a:t>Educational content only, not investment advice. Company names, chart prices and trade logs in this lesson are made up for illustration; all backtest results are hypothetical and simulated. Past performance is not indicative of future results. Stage 1 uses virtual money only. No affiliation with any charting site, broker or tool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plan: Priya ka model card</a:t>
            </a:r>
          </a:p>
          <a:p/>
          <a:p>
            <a:r>
              <a:t>'Aapka' column koi bhi chart kholne se pehle bhariye. Ek baar bhar gaya, toh trade 30 tak freeze rehta hai.</a:t>
            </a:r>
          </a:p>
          <a:p/>
          <a:p>
            <a:r>
              <a:t>Plan ki line | Priya (banawati) | Aapka</a:t>
            </a:r>
          </a:p>
          <a:p>
            <a:r>
              <a:t>Rule Card | EMA Pullback Swing v1: Day 11 ka card, Day 16 ka yes/no roop | </a:t>
            </a:r>
          </a:p>
          <a:p>
            <a:r>
              <a:t>Stocks, aur kaise chune | Sharma Textiles, Gupta Cement, Kiran Foods: RAND() se nikale, sab rakhe | </a:t>
            </a:r>
          </a:p>
          <a:p>
            <a:r>
              <a:t>Date range | 1 Jan 2023 se 31 Dec 2025 | </a:t>
            </a:r>
          </a:p>
          <a:p>
            <a:r>
              <a:t>Entry | Agle din ka open; signal close + 0.5 x ATR se upar ya signal-day low se neeche khule toh skip | </a:t>
            </a:r>
          </a:p>
          <a:p>
            <a:r>
              <a:t>Stop | Entry se 1.5 x ATR(14) neeche | </a:t>
            </a:r>
          </a:p>
          <a:p>
            <a:r>
              <a:t>Exits | 2.5R profit exit, ya day 15 ke baad agla open | </a:t>
            </a:r>
          </a:p>
          <a:p>
            <a:r>
              <a:t>Fill rules | Day 12 ke rules; ek candle mein stop aur profit exit dono = stop | </a:t>
            </a:r>
          </a:p>
          <a:p>
            <a:r>
              <a:t>Har trade ka cost | 0.1R | </a:t>
            </a:r>
          </a:p>
          <a:p>
            <a:r>
              <a:t>Open trades ki limit | Max 3; chautha signal = skipped: 3 open | </a:t>
            </a:r>
          </a:p>
          <a:p>
            <a:r>
              <a:t>Extra checks | RS rule aur results-date skip: dono lagaye | </a:t>
            </a:r>
          </a:p>
          <a:p>
            <a:r>
              <a:t>Market phase tag | Har signal day par NIFTY 50: up, down ya sideways | </a:t>
            </a:r>
          </a:p>
          <a:p>
            <a:r>
              <a:t>Freeze? | Haan: trade 30 tak koi rule change nahi |</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Backtest Log v1: Priya ke trades 18-30</a:t>
            </a:r>
          </a:p>
          <a:p/>
          <a:p>
            <a:r>
              <a:t>Har trade ki ek row, trade band hote hi likhi jaati hai. Priya ki rows mein peak (trade 19), lagaataar paanch loss (23 se 27) aur stop ke paar gap (25) dikhte hain. Khaali rows aapke pehle 3 trades ke liye hain.</a:t>
            </a:r>
          </a:p>
          <a:p/>
          <a:p>
            <a:r>
              <a:t># | Stock | Entry / stop / exit | Exit ka kaaran | Net R | Running total R</a:t>
            </a:r>
          </a:p>
          <a:p>
            <a:r>
              <a:t>1-17 | Trades 1-17 ek saath |  |  | +6.10 | +6.10</a:t>
            </a:r>
          </a:p>
          <a:p>
            <a:r>
              <a:t>18 | Gupta Cement Ltd | 386 / 368 / 368 | Stop hit | -1.10 | +5.00</a:t>
            </a:r>
          </a:p>
          <a:p>
            <a:r>
              <a:t>19 | Sharma Textiles Ltd | 236 / 224 / 266 | 2.5R profit exit | +2.40 | +7.40</a:t>
            </a:r>
          </a:p>
          <a:p>
            <a:r>
              <a:t>20 | Kiran Foods Ltd | 468 / 447 / 447 | Stop hit | -1.10 | +6.30</a:t>
            </a:r>
          </a:p>
          <a:p>
            <a:r>
              <a:t>21 | Gupta Cement Ltd | 398 / 380 / 380 | Stop hit | -1.10 | +5.20</a:t>
            </a:r>
          </a:p>
          <a:p>
            <a:r>
              <a:t>22 | Kiran Foods Ltd | 500 / 479 / 542 | Time exit (day 15) | +1.90 | +7.10</a:t>
            </a:r>
          </a:p>
          <a:p>
            <a:r>
              <a:t>23 | Sharma Textiles Ltd | 248 / 236 / 236 | Stop hit | -1.10 | +6.00</a:t>
            </a:r>
          </a:p>
          <a:p>
            <a:r>
              <a:t>24 | Gupta Cement Ltd | 412 / 394 / 394 | Stop hit | -1.10 | +4.90</a:t>
            </a:r>
          </a:p>
          <a:p>
            <a:r>
              <a:t>25 | Kiran Foods Ltd | 500 / 479 / 470 | Gap, stop ke paar | -1.53 | +3.37</a:t>
            </a:r>
          </a:p>
          <a:p>
            <a:r>
              <a:t>26 | Sharma Textiles Ltd | 242 / 230 / 230 | Stop hit | -1.10 | +2.27</a:t>
            </a:r>
          </a:p>
          <a:p>
            <a:r>
              <a:t>27 | Gupta Cement Ltd | 404 / 386 / 386 | Stop hit | -1.10 | +1.17</a:t>
            </a:r>
          </a:p>
          <a:p>
            <a:r>
              <a:t>28 | Kiran Foods Ltd | 490 / 469 / 542.50 | 2.5R profit exit | +2.40 | +3.57</a:t>
            </a:r>
          </a:p>
          <a:p>
            <a:r>
              <a:t>29 | Sharma Textiles Ltd | 230 / 218 / 218 | Stop hit | -1.10 | +2.47</a:t>
            </a:r>
          </a:p>
          <a:p>
            <a:r>
              <a:t>30 | Gupta Cement Ltd | 396 / 378 / 417.60 | Time exit (day 15) | +1.10 | +3.57</a:t>
            </a:r>
          </a:p>
          <a:p>
            <a:r>
              <a:t>+ 3 ___</a:t>
            </a:r>
          </a:p>
          <a:p/>
          <a:p>
            <a:r>
              <a:t>Net R = (exit - entry) ÷ (entry - stop) - 0.1R. Aapki sheet mein signal date, gross R, running peak, drawdown aur NIFTY phase ke columns bhi hon.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Backtest Log v1: Priya ke trades 18-30</a:t>
            </a:r>
          </a:p>
          <a:p/>
          <a:p>
            <a:r>
              <a:t>Har trade ki ek row, trade band hote hi likhi jaati hai. Priya ki rows mein peak (trade 19), lagaataar paanch loss (23 se 27) aur stop ke paar gap (25) dikhte hain. Khaali rows aapke pehle 3 trades ke liye hain.</a:t>
            </a:r>
          </a:p>
          <a:p/>
          <a:p>
            <a:r>
              <a:t># | Stock | Entry / stop / exit | Exit ka kaaran | Net R | Running total R</a:t>
            </a:r>
          </a:p>
          <a:p>
            <a:r>
              <a:t>1-17 | Trades 1-17 ek saath |  |  | +6.10 | +6.10</a:t>
            </a:r>
          </a:p>
          <a:p>
            <a:r>
              <a:t>18 | Gupta Cement Ltd | 386 / 368 / 368 | Stop hit | -1.10 | +5.00</a:t>
            </a:r>
          </a:p>
          <a:p>
            <a:r>
              <a:t>19 | Sharma Textiles Ltd | 236 / 224 / 266 | 2.5R profit exit | +2.40 | +7.40</a:t>
            </a:r>
          </a:p>
          <a:p>
            <a:r>
              <a:t>20 | Kiran Foods Ltd | 468 / 447 / 447 | Stop hit | -1.10 | +6.30</a:t>
            </a:r>
          </a:p>
          <a:p>
            <a:r>
              <a:t>21 | Gupta Cement Ltd | 398 / 380 / 380 | Stop hit | -1.10 | +5.20</a:t>
            </a:r>
          </a:p>
          <a:p>
            <a:r>
              <a:t>22 | Kiran Foods Ltd | 500 / 479 / 542 | Time exit (day 15) | +1.90 | +7.10</a:t>
            </a:r>
          </a:p>
          <a:p>
            <a:r>
              <a:t>23 | Sharma Textiles Ltd | 248 / 236 / 236 | Stop hit | -1.10 | +6.00</a:t>
            </a:r>
          </a:p>
          <a:p>
            <a:r>
              <a:t>24 | Gupta Cement Ltd | 412 / 394 / 394 | Stop hit | -1.10 | +4.90</a:t>
            </a:r>
          </a:p>
          <a:p>
            <a:r>
              <a:t>25 | Kiran Foods Ltd | 500 / 479 / 470 | Gap, stop ke paar | -1.53 | +3.37</a:t>
            </a:r>
          </a:p>
          <a:p>
            <a:r>
              <a:t>26 | Sharma Textiles Ltd | 242 / 230 / 230 | Stop hit | -1.10 | +2.27</a:t>
            </a:r>
          </a:p>
          <a:p>
            <a:r>
              <a:t>27 | Gupta Cement Ltd | 404 / 386 / 386 | Stop hit | -1.10 | +1.17</a:t>
            </a:r>
          </a:p>
          <a:p>
            <a:r>
              <a:t>28 | Kiran Foods Ltd | 490 / 469 / 542.50 | 2.5R profit exit | +2.40 | +3.57</a:t>
            </a:r>
          </a:p>
          <a:p>
            <a:r>
              <a:t>29 | Sharma Textiles Ltd | 230 / 218 / 218 | Stop hit | -1.10 | +2.47</a:t>
            </a:r>
          </a:p>
          <a:p>
            <a:r>
              <a:t>30 | Gupta Cement Ltd | 396 / 378 / 417.60 | Time exit (day 15) | +1.10 | +3.57</a:t>
            </a:r>
          </a:p>
          <a:p>
            <a:r>
              <a:t>+ 3 ___</a:t>
            </a:r>
          </a:p>
          <a:p/>
          <a:p>
            <a:r>
              <a:t>Net R = (exit - entry) ÷ (entry - stop) - 0.1R. Aapki sheet mein signal date, gross R, running peak, drawdown aur NIFTY phase ke columns bhi hon.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Aapke chaar numbers (Day 21 ke liye rakhiye)</a:t>
            </a:r>
          </a:p>
          <a:p/>
          <a:p>
            <a:r>
              <a:t>Trade 30 ke baad bhariye. Day 21 ka Week 3 review inhi numbers se hoga (tab tak poora na ho toh likhiye ki kitne trades log hue, aur numbers catch-up hafte mein jodiye), aur yeh 30 trades unhi frozen rules par un 100 trades mein gine jaayenge jin se asli bharosa banta hai.</a:t>
            </a:r>
          </a:p>
          <a:p/>
          <a:p>
            <a:r>
              <a:t>Number | Kaise nikaalein | Priya (banawati) | Aapka</a:t>
            </a:r>
          </a:p>
          <a:p>
            <a:r>
              <a:t>Trades | Rows giniye | 30 | </a:t>
            </a:r>
          </a:p>
          <a:p>
            <a:r>
              <a:t>Win-rate | Wins ÷ trades (win = net R 0 se upar) | 12 ÷ 30 = 40% | </a:t>
            </a:r>
          </a:p>
          <a:p>
            <a:r>
              <a:t>Expectancy | Total net R ÷ trades | +3.57 ÷ 30 = +0.12R | </a:t>
            </a:r>
          </a:p>
          <a:p>
            <a:r>
              <a:t>Maximum drawdown | Peak se baad ke low tak sabse badi giraavat | 7.40 - 1.17 = 6.23R | </a:t>
            </a:r>
          </a:p>
          <a:p>
            <a:r>
              <a:t>Longest losing streak | Lagaataar sabse zyada loss | 5 | </a:t>
            </a:r>
          </a:p>
          <a:p>
            <a:r>
              <a:t>Costs se pehle (check) | Total net R + 0.1R x trades | +3.57 + 3.00 = +6.57R | </a:t>
            </a:r>
          </a:p>
          <a:p/>
          <a:p>
            <a:r>
              <a:t>Report par likhiye: 'Hypothetical. Past performance is not indicative of future results.'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Candle curtain, jodi mein: ek insaan daily chart ko kaagaz se dhakta hai aur ek baar mein ek candle kholta hai; doosra har candle se pehle sirf Rule Card ke hisaab se 'plan' ya 'skip' bolta hai. 10 faislon ke baad jagah badal lijiye. Akele hain? Bar Replay ke saath yahi kijiye aur har faisla zor se boliye. Cohort award sabse rule-strict log ko milta hai, sabse sundar curve ko kabhi nahi, aur equity curves private rehti hain.</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Backtest stats sheet</a:t>
            </a:r>
          </a:p>
          <a:p>
            <a:r>
              <a:t>I am a beginner doing a manual backtest of a written, rule-based swing strategy on daily charts, for learning only. Give me a Google Sheets layout for a 30-trade log with these columns: trade number, signal date, instrument (a name I type), entry (the next day's open), stop, exit, exit reason (2.5R profit exit, 15-day time exit, stop, or gap through the stop), gross R computed per share as (exit - entry) / (entry - stop), even when a 25% exposure cap cut my quantity, cost in R (taken from one input cell that I fill once), net R, win (yes if net R is above zero), cumulative net R, running peak of cumulative R, drawdown from that peak, and market phase (up, down or sideways, which I type). Give the exact formula for every computed column, assuming row 2 holds the first trade. Then give summary cells with formulas for: number of trades, win-rate, expectancy (average net R), total net R, maximum drawdown in R, and longest losing streak (use a helper column if needed). Explain how to insert a line chart of cumulative net R. Add a cell with the text 'Hypothetical results. Past performance is not indicative of future results.' Then tell me to test the summary formulas on a copy of the sheet by typing these 14 practice values straight into the net R column, in order: +6.10, -1.10, +2.40, -1.10, -1.10, +1.90, -1.10, -1.10, -1.53, -1.10, -1.10, +2.40, -1.10, +1.10. A correct sheet shows a total of +3.57R, a maximum drawdown of 6.23R and a longest losing streak of 5; if mine does not, help me find the wrong formula. Keep it simple enough to build on a phone. Do not suggest any stock, entry, exit or change to my rules, and do not give buy or sell advice, targets or return expectations.</a:t>
            </a:r>
          </a:p>
          <a:p/>
          <a:p>
            <a:r>
              <a:t>Prompt 2: Mere backtest ka bias audit</a:t>
            </a:r>
          </a:p>
          <a:p>
            <a:r>
              <a:t>Act as a strict but kind backtest reviewer for a beginner. I will paste only my test plan (rules, instruments, date range, entry convention, stop, cost per trade in R) and my trade log in R; do not ask for any personal or account details. Check my work for: look-ahead bias (prices or candles I could not have known at decision time), survivorship bias (a stock list chosen with today's knowledge), unadjusted data (splits or bonus issues showing as fake gaps), cherry-picking of stocks or dates, rule changes during the test (curve-fitting), missing costs or gap losses, too few trades, and trades taken from only one kind of market. For each point, say what you found and label it Fact (visible in my data), Guess (possible, but you cannot tell from my data) or Kachra (a claim in my notes that does not hold up). End with the three most important fixes, in plain words. Do not judge whether the strategy is worth trading, do not suggest any stock, and do not give buy or sell advice, targets or return expectations.</a:t>
            </a:r>
          </a:p>
          <a:p/>
          <a:p>
            <a:r>
              <a:t>Prompt 3: Luck simulator</a:t>
            </a:r>
          </a:p>
          <a:p>
            <a:r>
              <a:t>Help me build a simple luck simulator in Google Sheets so I understand losing streaks and drawdowns. Each row is one trade: use RAND() so that each trade has a 40% chance to win +2.4R and a 60% chance to lose -1.1R (a 2.5R profit exit and a 1R stop, each less 0.1R of costs). Make 30 rows, a cumulative R column, the longest losing streak and the maximum drawdown in R. Tell me how to force a recalculation to get a new random run, and ask me to write down the longest losing streak and the maximum drawdown for 10 runs. Then change the win chance to 30% and do 10 more runs. For both cases, show the average result per trade (40%: +0.30R, 30%: -0.05R) and say plainly that 40% and 30% are assumptions for this exercise, not the win-rate of any real strategy. Then explain in plain words, for a beginner, why the same rule can look very different over 30 trades just from luck, and why about 100 trades give more confidence. Say clearly that this is a coin-flip style model, not a forecast of any real strategy. Label each general claim you make as Fact or Guess. Do not suggest any stock or strategy, and do not give buy or sell advice, targets or return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backtest mein Aman ki entry Rs 400 hai aur stop Rs 385. Ek subah, raat mein aayi buri khabar ke baad, stock Rs 376 par khulta hai, stop ke neeche, toh woh exit usi open par log karta hai. Costs har trade par 0.1R hain. Use kitna net R log karna chahiye?</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Sirf Priya ke cumulative net R ki in month-end values ke hisaab se: 0, +3, +7, +4, +2, +5, +9, +6. Ab tak uska maximum drawdown kitna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ka daily signal tabhi confirm hota hai jab trading khatam hone ke baad exchange din ka official closing price tay karta hai. Backtest mein woh har entry usi candle ke low par log karta hai. Galti kya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 aaj ki NIFTY 50 ki 50 companies par 2019 se 2025 ke data se backtest karna chahti hai. Report mein use kaunsi problem likhni chahiye?</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trades ke baad Aman EMA 20 ko EMA 18 kar deta hai aur RSI band tab tak badalta hai jab tak unhi 30 trades mein 75% win-rate na aa jaaye. Sabse imaandar agla kadam kya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Aaj raat ka journal: Pehle trades log karte waqt kitni baar aapka mann hua ki agli candle jhaank lein, ya koi aisa trade gin lein jo card se poora match nahi karta tha? Woh khinchaav kaisa laga, aur aapne uske saath kya kiya?</a:t>
            </a:r>
          </a:p>
          <a:p/>
          <a:p>
            <a:r>
              <a:t>Chhote number wala imaandar log, jhaank kar banayi gayi perfect curve se zyada keemti hai. Aaj aapne imaandar log shuru kiya; Day 21 par yahi aapke review ka hissa banega.</a:t>
            </a:r>
          </a:p>
          <a:p/>
          <a:p>
            <a:r>
              <a:t>Agla: Day 18 · F&amp;O ke basics: samjho, khelo mat</a:t>
            </a:r>
          </a:p>
          <a:p/>
          <a:p>
            <a:r>
              <a:t>Educational content only, not investment advice. Company names, chart prices and trade logs in this lesson are made up for illustration; all backtest results are hypothetical and simulated. Past performance is not indicative of future results. Stage 1 uses virtual money only. No affiliation with any charting site, broker or tool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18: F&amp;O ke basics: samjho, khelo mat</a:t>
            </a:r>
          </a:p>
          <a:p/>
          <a:p>
            <a:r>
              <a:t>Concept: Futures aur options: yeh hote kya hain, aur Stage 1 mein inhe sirf padhte kyun hain</a:t>
            </a:r>
          </a:p>
          <a:p>
            <a:r>
              <a:t>AI Lab: Option chain explainer: padhiye, trade mat kijiye</a:t>
            </a:r>
          </a:p>
          <a:p>
            <a:r>
              <a:t>Mindset: Lottery ticket wali soch</a:t>
            </a:r>
          </a:p>
          <a:p/>
          <a:p>
            <a:r>
              <a:t>Aaj ke baad: Aaj ke baad aap futures contract, margin aur MTM samjha payenge; call aur put, ITM aur OTM mein farak bata payenge; premium ko intrinsic aur time value mein baant payenge; buyer aur seller ka payoff padh payenge; bata payenge ki kaunse F&amp;O contracts delivery mein badalte hain; aur samjha payenge ki Stage 1 mein F&amp;O sirf padha kyun jaata hai.</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Woh ek ticket jiski sab baat karte hain</a:t>
            </a:r>
          </a:p>
          <a:p/>
          <a:p>
            <a:r>
              <a:t>(Thursday shaam, class ki video call ke turant baad. Aman apna phone camera ke saamne kiye hue hai. Priya ki notebook khuli hai.)</a:t>
            </a:r>
          </a:p>
          <a:p>
            <a:r>
              <a:t>Aman: Sir, dekhiye. Mere colleague ne NIFTY ke calls Rs 4 mein liye aur usi din Rs 60 mein bech diye. Lagaye the karib Rs 3,000, nikale lagbhag Rs 45,000. Aur zyada se zyada loss bas wahi Rs 3,000 tha. Yeh toh low risk hua na?</a:t>
            </a:r>
          </a:p>
          <a:p>
            <a:r>
              <a:t>Mentor: Aman, do sawaal. Isse pehle usne kitni baar aise Rs 4 wale calls khareede the? Aur unmein se kitne zero par khatam hue?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Woh ek ticket jiski sab baat karte hain</a:t>
            </a:r>
          </a:p>
          <a:p/>
          <a:p>
            <a:r>
              <a:t>Aman: Umm... unke baare mein toh woh kabhi baat hi nahi karta. Bas kehta hai ki har hafte try karta hai.</a:t>
            </a:r>
          </a:p>
          <a:p>
            <a:r>
              <a:t>Priya: Sir, matlab har hafte hone wala chhota loss asal mein chhota nahi hai? Aur woh call itna sasta tha hi kyun?</a:t>
            </a:r>
          </a:p>
          <a:p>
            <a:r>
              <a:t>Mentor: Bilkul sahi sawaal hai, Priya. Saste options kisi wajah se hi saste hote hain. Aaj hum seekhenge ki futures aur options kya hain, aur Stage 1 mein inhe sirf padhte kyun hain. F&amp;O: samjho, khelo mat.</a:t>
            </a:r>
          </a:p>
          <a:p/>
          <a:p>
            <a:r>
              <a:t>Seekh: Chhota price aur chhota risk ek baat nahi hai. Sirf jeetne wala ticket mat giniye, haarne wale bhi giniye.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Futures: deal aaj, hisaab har shaam</a:t>
            </a:r>
          </a:p>
          <a:p/>
          <a:p>
            <a:r>
              <a:t>Futures contract ek deal hai jo aaj hoti hai: price aaj tay ho jaata hai, lekin khareed-bikri aage ki ek tay date par hoti hai, jise expiry kehte hain. NSE par NIFTY 50 jaise indices aur kai stocks ke futures hote hain. Quantity aap apni marzi se nahi chun sakte: har contract ek fixed size mein aata hai jise lot kehte hain. Lot size exchange tay karta hai aur samay-samay par badalta bhi hai, aur ek lot aam taur par kai lakh rupaye ka hota hai. Poora paisa nahi dena padta. Broker sirf ek margin block karta hai, yaani ek tarah ka safety deposit jo contract value ka chhota hissa hota hai; kam se kam kitna ho, yeh exchange ki clearing corporation tay karti hai. Har shaam us din ka profit ya loss cash mein settle ho jaata hai; ise mark-to-market (MTM) kehte hain. Chhote deposit se badi value control karna leverage hai, aur yeh dono taraf kaam karta hai.</a:t>
            </a:r>
          </a:p>
          <a:p/>
          <a:p>
            <a:r>
              <a:t>Udaharan: Sochiye, September mein hi Diwali ki mithai aaj ke rate par thoda advance dekar book kar di: rate lock ho gaya, bas yahan farak ka hisaab roz hota hai. Ek banawati example lijiye: Bharat Pumps Ltd futures ka ek lot 2,000 shares ka hai, price Rs 800, yaani contract value Rs 16,00,000, aur broker Rs 3,20,000 margin block karta hai. Rs 16,00,000 ÷ Rs 3,20,000 = 5, yaani 5 guna leverage: share mein har 1% ka move aapke margin par 5% ka move hai. Agar price roz Rs 10 gire, toh har shaam account se Rs 20,000 nikal jaate hain. 5% ki girawat, yaani Rs 40 per share, ka matlab Rs 80,000 ka loss, margin ka ek-chauthai. 20% gire toh poora margin saaf, aur usse zyada gire toh loss aapke deposit se bhi bada ho jaata hai. Rs 10 lakh ki challenge capital par 1R Rs 10,000 hai, yaani sirf Rs 10 ki yeh girawat hi 2R hai, poora daily stop, aur akela yeh contract poori capital ka 1.6 guna hai.</a:t>
            </a:r>
          </a:p>
          <a:p/>
          <a:p>
            <a:r>
              <a:t>Yaad rakhiye: Margin ek deposit hai, limit nahi. Futures mein loss aapke lagaye paise se bhi bada ho sakta hai.</a:t>
            </a:r>
          </a:p>
          <a:p/>
          <a:p>
            <a:r>
              <a:t>Slide par: MTM, har shaam ka hisaab · Banawati numbers: 1 lot = 2,000 shares (Rs 16 lakh), margin Rs 3,20,000, yaani 5 guna leverage, aur account mein extra kuch nahi. Loss har shaam account se nikalta hai, sirf expiry par nahi, isliye pehle hi loss ke baad margin kam pad jaata hai.</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Options: buyer ke paas haq, seller par zimmedari</a:t>
            </a:r>
          </a:p>
          <a:p/>
          <a:p>
            <a:r>
              <a:t>Option apne buyer ko ek haq deta hai, zimmedari nahi: expiry ke din ek tay price par khareedne ya bechne ka haq. NSE ke options European style hote hain: haq sirf expiry par use hota hai, lekin option ko expiry se pehle kisi bhi trading din exchange par bech sakte hain. Call option (CE) khareedne ka haq hai; put option (PE) bechne ka haq. Woh tay price strike price kehlata hai, aur is haq ki keemat premium hai, jo buyer poori ki poori pehle hi de deta hai. Seller, jise writer bhi kehte hain, premium le leta hai aur zimmedari utha leta hai: buyer ne apna haq use kiya, toh seller ko nibhana hi padega. Stock options monthly expire hote hain; weekly expiry sirf kuch chune hue benchmark index contracts mein hai, aur pichhle kuch saalon mein expiry ke din badle bhi hain, isliye current calendar NSE ki website par check kijiye.</a:t>
            </a:r>
          </a:p>
          <a:p/>
          <a:p>
            <a:r>
              <a:t>Udaharan: Yeh flat booking ke token jaisa hai. Ek young couple Rs 50,000 ka non-refundable token deta hai, is haq ke liye ki teen mahine poore hone par flat Rs 40 lakh mein khareed sake. Yeh token extra hai; Rs 40 lakh mein adjust nahi hota. Aas-paas ke flats Rs 46 lakh ke ho gaye, toh unka haq keemti ho gaya. Daam gir gaye, toh woh chhod kar nikal jaate hain aur sirf token jaata hai. Builder ke paas token toh har haal mein rehta hai, lekin daam badhe toh use flat Rs 40 lakh mein hi dena padega. Couple call buyer hai, token premium hai, Rs 40 lakh strike hai, aur builder seller hai.</a:t>
            </a:r>
          </a:p>
          <a:p/>
          <a:p>
            <a:r>
              <a:t>Yaad rakhiye: Buyer: premium deta hai, haq rakhta hai. Seller: premium leta hai, zimmedari aur bada risk uthata hai.</a:t>
            </a:r>
          </a:p>
          <a:p/>
          <a:p>
            <a:r>
              <a:t>Slide par: Options ki table par kaun kahan · Har option ka ek buyer hota hai aur ek seller. Stage 1 mein aap in mein se kisi kursi par nahi baithte, paper par bhi nahi.</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ITM, ATM, OTM, aur premium ke andar kya hota hai</a:t>
            </a:r>
          </a:p>
          <a:p/>
          <a:p>
            <a:r>
              <a:t>Moneyness batata hai ki strike aaj ke price ke muqable kahan khada hai. Call ke liye, current price se neeche wala strike in the money (ITM) hai, uske aas-paas wala at the money (ATM), aur upar wala out of the money (OTM); put ke liye bilkul ulta. Har premium ke do hisse hote hain. Intrinsic value woh hai jo option abhi isi pal expire ho toh milegi: call ke liye current price minus strike, aur yeh zero se neeche kabhi nahi jaati; put ke liye strike minus current price, yeh bhi zero se neeche nahi. Time value baaki bacha hissa hai, is umeed ki keemat ki expiry se pehle move aa jayega; yeh roz thodi-thodi pighalti hai, jaise dhoop mein kulfi, aur ise time decay kehte hain. At-the-money option mein yeh pighalna expiry ke paas tez ho jaata hai: index wahin tika rahe, toh 30 din ke safar ke aakhri 7 din pehle 7 dinon se lagbhag chaar guna time value kha jaate hain (chart dekhiye). NIFTY ke premium points mein dikhte hain; ek point matlab lot ki har unit par Rs 1.</a:t>
            </a:r>
          </a:p>
          <a:p/>
          <a:p>
            <a:r>
              <a:t>Udaharan: NIFTY 50 24,150 par hai (illustrative; Aaj Ka Kaam wala practice option chain bhi yahi numbers leta hai, expiry se 4 din pehle). 24,000 ka call 150 points ITM hai aur uska premium 210 hai, toh intrinsic value 150 aur time value 60. 24,300 ka call OTM hai; uska 61 ka poora premium time value hi hai. Agar NIFTY expiry tak 24,150 par hi tika rahe, toh 24,000 ka call 150 par khatam hoga aur 24,300 ka call zero par. 24,000 ka put bhi OTM hai: jab market 24,150 par ho, tab 24,000 par bechne ka haq use karne mein koi fayda nahi, isliye uska 60 ka premium poora time value hai. Put ke liye ulta: 24,250 ka put 100 points ITM hai; premium 178 hai, toh intrinsic value 100 aur time value 78.</a:t>
            </a:r>
          </a:p>
          <a:p/>
          <a:p>
            <a:r>
              <a:t>Yaad rakhiye: Price tika rahe toh intrinsic value bhi tiki rehti hai. Time value roz pighalti hai, aap dekhein ya na dekhein.</a:t>
            </a:r>
          </a:p>
          <a:p/>
          <a:p>
            <a:r>
              <a:t>Slide par: Time value aakhir mein sabse tez pighalti hai · Illustrative: at-the-money NIFTY call, index 24,150 par tika hua. 30 din bache hon toh time value lagbhag 331 points, 23 din par 290, 7 din par 160 aur expiry par zero: pehla hafta lagbhag 41 points khata hai, aakhri hafta lagbhag 160. Practice chain 4 din bache hone par hai, jahan yeh 121 hai.</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Expiry par payoff: kaun kitna haar sakta hai</a:t>
            </a:r>
          </a:p>
          <a:p/>
          <a:p>
            <a:r>
              <a:t>Payoff chart dikhata hai ki expiry par har mumkin price par profit ya loss kitna hoga. Futures buyer ko price ke har ek rupaye ke move par ek rupaya fayda ya nuksaan hota hai, dono taraf. Call buyer ka poora premium doob jaata hai agar price strike par ya usse neeche khatam ho, aur paisa tabhi banta hai jab price breakeven se upar jaaye; breakeven yaani strike plus premium. Call seller ki line bilkul ulti hai: premium hi uski sabse badi kamai hai, aur price jitna upar jaaye, uska loss utna badhta jaata hai. Costs aur tax, jo aap contract note mein padhte hain, har breakeven ko thoda aur door kar dete hain.</a:t>
            </a:r>
          </a:p>
          <a:p/>
          <a:p>
            <a:r>
              <a:t>Udaharan: Ab ek naya example lijiye, upar wala 210 ka call nahi: 24,000 ka NIFTY call jo 100 points mein khareeda gaya. Expiry par NIFTY 23,800 par khatam ho ya 24,000 par, buyer ke 100 points gaye. 24,100 par woh breakeven par hai, aur 24,400 par use 300 points ka fayda. Seller ka result har level par ulta hai: 24,000 par plus 100, 24,100 par zero, aur 24,400 par minus 300. 24,000 par liya gaya futures 23,800 par minus 200 aur 24,400 par plus 400 hota. Yeh per unit, illustrative figures hain; ek lot inhe kai guna kar deta hai.</a:t>
            </a:r>
          </a:p>
          <a:p/>
          <a:p>
            <a:r>
              <a:t>Yaad rakhiye: Buyer ka sabse bura haal: premium gaya. Seller ka sabse achha haal: premium mila.</a:t>
            </a:r>
          </a:p>
          <a:p/>
          <a:p>
            <a:r>
              <a:t>Slide par: Expiry par payoff, per unit · Illustrative, per unit: 24,000 ka call 100 mein khareeda, aur 24,000 par liya future. X-axis: 23,500 se 24,500 tak, 100-100 ke steps. Har line 0 wahan cross karti hai jahan woh breakeven par hai: future 24,000 par, call buyer aur seller 24,100 par.</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Expiry, delivery aur option chain ke shabd</a:t>
            </a:r>
          </a:p>
          <a:p/>
          <a:p>
            <a:r>
              <a:t>Index F&amp;O, jaise NIFTY 50 ke contracts, cash mein settle hote hain: sirf profit ya loss ka paisa aata-jaata hai. Stock F&amp;O expiry tak rakha, toh physically settle hota hai: asli shares ka len-den poori value par hota hai, aur jo option expiry par ITM ho, woh aam taur par apne aap exercise (use) ho jaata hai, aapko yaad ho ya na ho. Stock future ya ITM call ke buyer ko poora paisa dekar shares lene pad sakte hain; future ke seller ya ITM put ke buyer ko shares dene pad sakte hain, aur option seller par iski ulti zimmedari aati hai. Option chain ek table hai jismein ek expiry ke saare strikes hote hain. Open interest (OI) matlab kitne contracts abhi khule hain; har contract ke peeche ek buyer aur ek seller hota hai, isliye OI batata hai kitna khula hai, yeh nahi ki market kis taraf jayega. PCR yaani put-call ratio (total put OI ko total call OI se divide karke) abhi ke liye bas pehchaanne wala shabd hai.</a:t>
            </a:r>
          </a:p>
          <a:p/>
          <a:p>
            <a:r>
              <a:t>Udaharan: Maan lijiye Aman ka colleague Bharat Pumps Ltd ka 780 wala call expiry se pehle band karna bhool gaya. Expiry ke din share Rs 800 par band hua, toh call ITM hai. 2,000 shares ke banawati lot ke saath ab use 2,000 x Rs 780 = Rs 15,60,000 chuka kar shares ki delivery leni pad sakti hai. Chhota sa daav ab lakhon rupaye ki maang ban gaya. Expiry ke paas exchange aisi positions par extra margin maangta hai aur kai broker unhe pehle hi band kar dete hain; har broker ke rules alag hain. Ek aur baat, option chain par: Aaj Ka Kaam wale practice chain mein 24,300 ke call par 1,41,280 contracts khule hain. Un mein se har contract ke ek taraf buyer hai aur doosri taraf seller, isliye sirf bada number yeh nahi batata ki NIFTY kis taraf jayega.</a:t>
            </a:r>
          </a:p>
          <a:p/>
          <a:p>
            <a:r>
              <a:t>Yaad rakhiye: Expiry tak rakha stock F&amp;O delivery ban sakta hai. OI khule contracts ginta hai; direction nahi batata.</a:t>
            </a:r>
          </a:p>
          <a:p/>
          <a:p>
            <a:r>
              <a:t>Slide par: Expiry tak khula chhoda stock call · Example wala banawati case: Bharat Pumps Ltd ke 2,000 shares ka lot. NIFTY jaise index options iski jagah cash mein settle hote hain. Expiry ke paas har broker ke rules alag hote hain.</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Lottery ticket ya insurance?</a:t>
            </a:r>
          </a:p>
          <a:p/>
          <a:p>
            <a:r>
              <a:t>Is course mein F&amp;O loss ka sirf yahi ek figure quote hota hai: SEBI FY26 study (Aug 2026): 87.7% individual F&amp;O traders net loss mein the, aggregate Rs 91,685 crore, average Rs 1.17 lakh per loss-making trader. Yeh study batati hai ki kya hua; har loss ki wajah nahi batati. Alag se, is course ka apna nazariya: sasta, bahut door ka OTM option safe lagta hai kyunki zyada se zyada loss chhota dikhta hai, lekin kam price ka aam matlab hai ki market ko uske chalne ka chance kam lagta hai: use sahi direction mein bada move chahiye, aur woh bhi time khatam hone se pehle. Chhota premium baar-baar gawana bhi aakhir mein haarna hi hai, jaise har match mein No. 11 batter ki century par daav lagana. Isliye yeh tools sabse zyada insurance ki tarah kaam ke hain; ise hedge kehte hain. Protective put ka matlab hai ki aapke paas ek stock hai aur aap usi par put khareedte hain, taaki badi girawat kuch had tak cover ho jaaye; keemat hai premium.</a:t>
            </a:r>
          </a:p>
          <a:p/>
          <a:p>
            <a:r>
              <a:t>Udaharan: Ek banawati case lijiye. Verma ji barson se investor hain. Unke paas Bharat Pumps Ltd ke shares hain, Rs 800 par liye hue, aur woh 760 ke put ke liye Rs 15 per share dete hain. Share Rs 680 tak gir jaaye, toh expiry par put Rs 80 ka hoga, yaani unka loss Rs 120 ki jagah Rs 55 per share (strike tak Rs 40 ki girawat plus Rs 15 premium). Expiry tak rakha stock put delivery se settle hota hai: woh shares Rs 760 par de dete hain, aur loss wahi Rs 55 rehta hai. Share badh jaaye, toh put zero par expire hoga aur Rs 15 insurance ki keemat thi. Do pench phir bhi baaki hain. Alag-alag stocks ki tokri ko NIFTY put se cover karne mein basis risk rehta hai, yaani aapke stocks aur hedge ek jaisa nahi chalte: aapke stocks 15% gire aur NIFTY sirf 8%, toh put nuksaan ka ek hissa hi cover karega. Aur ek lot aam taur par beginner ke poore portfolio se kahin bada hota hai, isliye chhoti rakam ke liye sabse sasta hedge hai chhoti position ya zyada cash.</a:t>
            </a:r>
          </a:p>
          <a:p/>
          <a:p>
            <a:r>
              <a:t>Yaad rakhiye: Sasta hona aur kam risk hona ek baat nahi. Stage 1 mein F&amp;O sirf samajhne ke liye hai: samjho, khelo mat.</a:t>
            </a:r>
          </a:p>
          <a:p/>
          <a:p>
            <a:r>
              <a:t>Slide par: Put se kya badla, per share · Banawati case: Rs 800 par liye shares Rs 680 tak gire; 760 ka put Rs 15 ka tha. Rs 15 premium har haal mein jaata hai, share badhe tab bhi.</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Futures contract: Ek lot ko aaj tay hue price par, expiry ki date par khareedne ya bechne ki deal. Dono taraf wale isse bandhe hote hain.</a:t>
            </a:r>
          </a:p>
          <a:p>
            <a:r>
              <a:t>Margin aur MTM: Margin woh deposit hai jo broker block karta hai. MTM (mark-to-market) har shaam din ka profit ya loss cash mein settle karta hai; loss margin se bada bhi ho sakta hai.</a:t>
            </a:r>
          </a:p>
          <a:p>
            <a:r>
              <a:t>Leverage: Chhote deposit se bade contract value ko control karna. Contract value ÷ margin se multiple nikalta hai: Rs 16 lakh ÷ Rs 3.2 lakh = 5 guna, yaani share ka 1% move aapke margin ka 5% hai, kisi bhi disha mein.</a:t>
            </a:r>
          </a:p>
          <a:p>
            <a:r>
              <a:t>Call (CE) aur put (PE): Call khareedne ka haq hai, put bechne ka, strike price par, expiry ke din. Buyer is haq ke liye premium deta hai; zimmedari seller ki hoti hai.</a:t>
            </a:r>
          </a:p>
          <a:p>
            <a:r>
              <a:t>ITM, ATM, OTM: Strike current price ke muqable kahan hai. Call ke liye: strike agar current price se neeche ho = in the money, price ke paas = at the money, price se upar = out of the money. Put ke liye ulta.</a:t>
            </a:r>
          </a:p>
          <a:p>
            <a:r>
              <a:t>Intrinsic value aur time value: Intrinsic value woh hai jo option abhi expire ho toh milegi. Time value premium ka baaki hissa hai; expiry tak yeh ghatkar zero ki taraf jaati hai (time decay).</a:t>
            </a:r>
          </a:p>
          <a:p>
            <a:r>
              <a:t>Open interest (OI): Kitne F&amp;O contracts abhi khule hain, uski ginti. Har contract ka ek buyer aur ek seller hota hai, isliye OI batata hai kitna khula hai, market ki direction nahi.</a:t>
            </a:r>
          </a:p>
          <a:p>
            <a:r>
              <a:t>Physical settlement: Expiry tak rakhe stock F&amp;O ka settlement delivery se hota hai: asli shares aur unki poori value ka len-den. NIFTY jaise index F&amp;O cash mein settle hote hain.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F&amp;O: samjho, khelo mat</a:t>
            </a:r>
          </a:p>
          <a:p>
            <a:r>
              <a:t>Futures: Ek lot = lakhon ka exposure; Har shaam MTM; Margin max loss nahi hai</a:t>
            </a:r>
          </a:p>
          <a:p>
            <a:r>
              <a:t>Options: Call = khareedne ka haq; Put = bechne ka haq; Zimmedari seller par</a:t>
            </a:r>
          </a:p>
          <a:p>
            <a:r>
              <a:t>Premium: Intrinsic + time value; Aakhri hafte mein sabse tez pighalti; OTM = sirf time value</a:t>
            </a:r>
          </a:p>
          <a:p>
            <a:r>
              <a:t>Payoff: Call breakeven = strike + premium; Buyer ka sabse bura = premium; Seller ka sabse achha = premium</a:t>
            </a:r>
          </a:p>
          <a:p>
            <a:r>
              <a:t>Expiry aur chain: Index F&amp;O: cash settlement; Stock F&amp;O: rakha toh delivery; OI direction nahi batata</a:t>
            </a:r>
          </a:p>
          <a:p>
            <a:r>
              <a:t>Aapka mann: Sasta matlab kam risk nahi; Hedge = insurance, daav nahi; Stage 1: F&amp;O nahi, paper par bhi nahi</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Bina trade kiye ek option chain padhiye, NSE ka live ya practice wala: ATM strike dhoondhiye, do premiums ke hisse kijiye, ek lot ka size mehsoos kijiye, aur AI se apni reading check karwaiye.</a:t>
            </a:r>
          </a:p>
          <a:p/>
          <a:p>
            <a:r>
              <a:t>1. nseindia.com par NIFTY ka public option chain kholiye (login ya broker account ki zaroorat nahi). Sabse paas wali aisi expiry chuniye jo kam se kam do trading din door ho, aur index level aur ATM strike, yaani index ke sabse paas wala strike, likh lijiye. Phone par page na khule, toh 'Aapka template' wala practice chain lijiye.</a:t>
            </a:r>
          </a:p>
          <a:p>
            <a:r>
              <a:t>2. Google Sheets ya notebook mein ATM strike ke aas-paas ki paanch rows copy kijiye: strike, call LTP, call OI, put LTP, put OI. (LTP yaani last traded price hi premium hai.)</a:t>
            </a:r>
          </a:p>
          <a:p>
            <a:r>
              <a:t>3. Premium split sheet ki do rows bhariye: ATM se do strike neeche wala call (ITM) aur do strike upar wala call (OTM). Intrinsic value = index level minus strike, zero se neeche nahi; baaki time value hai. Time value minus mein aaye, toh woh LTP purana hai; ATM ke paas wala strike lijiye.</a:t>
            </a:r>
          </a:p>
          <a:p>
            <a:r>
              <a:t>4. NSE ki website par NIFTY ka current F&amp;O market lot dhoondhiye aur 'Ek lot kitna control karta hai' card bhariye: lot x index level rupayon mein, phir use Rs 10 lakh ki challenge capital ke 25% exposure cap (Rs 2,50,000) se milaiye.</a:t>
            </a:r>
          </a:p>
          <a:p>
            <a:r>
              <a:t>5. Copy ki hui rows (live ya practice) ke saath AI Lab prompt 'Option chain explainer' chalaiye, aur har woh line mark kijiye jise AI ne Guess ya Kachra kaha. Apna PAN, client ID ya koi account detail kabhi paste mat kijiye.</a:t>
            </a:r>
          </a:p>
          <a:p>
            <a:r>
              <a:t>6. Stretch (is hafte kabhi bhi, 5 minute): kam se kam do hafte door wali expiry chuniye (monthly, ya agar is mahine ki paas hai toh agle mahine ki), aur ek door ke OTM call ka premium aur aaj ka NIFTY level note kijiye. 3 trading days baad dono dobara dekhiye. NIFTY lagbhag wahin hai, toh premium ki zyadatar girawat aam taur par time decay hai; NIFTY kaafi hil gaya, toh likhiye ki move ne bhi premium badla.</a:t>
            </a:r>
          </a:p>
          <a:p/>
          <a:p>
            <a:r>
              <a:t>Aaj ke baad: Aaj ke baad aap futures contract, margin aur MTM samjha payenge; call aur put, ITM aur OTM mein farak bata payenge; premium ko intrinsic aur time value mein baant payenge; buyer aur seller ka payoff padh payenge; bata payenge ki kaunse F&amp;O contracts delivery mein badalte hain; aur samjha payenge ki Stage 1 mein F&amp;O sirf padha kyun jaata hai.</a:t>
            </a:r>
          </a:p>
          <a:p/>
          <a:p>
            <a:r>
              <a:t>Tools: NSE website ka option chain (nseindia.com); Aaj Ka Kaam wala practice option chain (live data ki zaroorat nahi); Google Sheets; Koi bhi AI chat; Notebook aur pen</a:t>
            </a:r>
          </a:p>
          <a:p/>
          <a:p>
            <a:r>
              <a:t>Educational content only, not investment advice. Stage 1 uses virtual money only and places no F&amp;O trades, not even on paper. Company names, prices, lots, premiums and the practice option chain in this lesson are made up for illustration; the SEBI FY26 figure is quoted from SEBI's study. Check NSE for current lot sizes and expiry days.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Bina trade kiye ek option chain padhiye, NSE ka live ya practice wala: ATM strike dhoondhiye, do premiums ke hisse kijiye, ek lot ka size mehsoos kijiye, aur AI se apni reading check karwaiye.</a:t>
            </a:r>
          </a:p>
          <a:p/>
          <a:p>
            <a:r>
              <a:t>1. nseindia.com par NIFTY ka public option chain kholiye (login ya broker account ki zaroorat nahi). Sabse paas wali aisi expiry chuniye jo kam se kam do trading din door ho, aur index level aur ATM strike, yaani index ke sabse paas wala strike, likh lijiye. Phone par page na khule, toh 'Aapka template' wala practice chain lijiye.</a:t>
            </a:r>
          </a:p>
          <a:p>
            <a:r>
              <a:t>2. Google Sheets ya notebook mein ATM strike ke aas-paas ki paanch rows copy kijiye: strike, call LTP, call OI, put LTP, put OI. (LTP yaani last traded price hi premium hai.)</a:t>
            </a:r>
          </a:p>
          <a:p>
            <a:r>
              <a:t>3. Premium split sheet ki do rows bhariye: ATM se do strike neeche wala call (ITM) aur do strike upar wala call (OTM). Intrinsic value = index level minus strike, zero se neeche nahi; baaki time value hai. Time value minus mein aaye, toh woh LTP purana hai; ATM ke paas wala strike lijiye.</a:t>
            </a:r>
          </a:p>
          <a:p>
            <a:r>
              <a:t>4. NSE ki website par NIFTY ka current F&amp;O market lot dhoondhiye aur 'Ek lot kitna control karta hai' card bhariye: lot x index level rupayon mein, phir use Rs 10 lakh ki challenge capital ke 25% exposure cap (Rs 2,50,000) se milaiye.</a:t>
            </a:r>
          </a:p>
          <a:p>
            <a:r>
              <a:t>5. Copy ki hui rows (live ya practice) ke saath AI Lab prompt 'Option chain explainer' chalaiye, aur har woh line mark kijiye jise AI ne Guess ya Kachra kaha. Apna PAN, client ID ya koi account detail kabhi paste mat kijiye.</a:t>
            </a:r>
          </a:p>
          <a:p>
            <a:r>
              <a:t>6. Stretch (is hafte kabhi bhi, 5 minute): kam se kam do hafte door wali expiry chuniye (monthly, ya agar is mahine ki paas hai toh agle mahine ki), aur ek door ke OTM call ka premium aur aaj ka NIFTY level note kijiye. 3 trading days baad dono dobara dekhiye. NIFTY lagbhag wahin hai, toh premium ki zyadatar girawat aam taur par time decay hai; NIFTY kaafi hil gaya, toh likhiye ki move ne bhi premium badla.</a:t>
            </a:r>
          </a:p>
          <a:p/>
          <a:p>
            <a:r>
              <a:t>Aaj ke baad: Aaj ke baad aap futures contract, margin aur MTM samjha payenge; call aur put, ITM aur OTM mein farak bata payenge; premium ko intrinsic aur time value mein baant payenge; buyer aur seller ka payoff padh payenge; bata payenge ki kaunse F&amp;O contracts delivery mein badalte hain; aur samjha payenge ki Stage 1 mein F&amp;O sirf padha kyun jaata hai.</a:t>
            </a:r>
          </a:p>
          <a:p/>
          <a:p>
            <a:r>
              <a:t>Tools: NSE website ka option chain (nseindia.com); Aaj Ka Kaam wala practice option chain (live data ki zaroorat nahi); Google Sheets; Koi bhi AI chat; Notebook aur pen</a:t>
            </a:r>
          </a:p>
          <a:p/>
          <a:p>
            <a:r>
              <a:t>Educational content only, not investment advice. Stage 1 uses virtual money only and places no F&amp;O trades, not even on paper. Company names, prices, lots, premiums and the practice option chain in this lesson are made up for illustration; the SEBI FY26 figure is quoted from SEBI's study. Check NSE for current lot sizes and expiry days.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option chain (banawati)</a:t>
            </a:r>
          </a:p>
          <a:p/>
          <a:p>
            <a:r>
              <a:t>Jab NSE ka chain na khule, ya pehle practice karni ho, tab ise use kijiye. NSE ki tarah calls left mein aur puts right mein hain. Sirf padhne ki practice: Stage 1 mein koi F&amp;O trade nahi, paper par bhi nahi.</a:t>
            </a:r>
          </a:p>
          <a:p/>
          <a:p>
            <a:r>
              <a:t>Call OI | Call LTP | Strike | Put LTP | Put OI</a:t>
            </a:r>
          </a:p>
          <a:p>
            <a:r>
              <a:t>18,240 | 285 | 23,900 | 35 | 96,410</a:t>
            </a:r>
          </a:p>
          <a:p>
            <a:r>
              <a:t>9,870 | 246 | 23,950 | 46 | 58,300</a:t>
            </a:r>
          </a:p>
          <a:p>
            <a:r>
              <a:t>41,560 | 210 | 24,000 | 60 | 1,32,750</a:t>
            </a:r>
          </a:p>
          <a:p>
            <a:r>
              <a:t>22,130 | 177 | 24,050 | 77 | 71,920</a:t>
            </a:r>
          </a:p>
          <a:p>
            <a:r>
              <a:t>58,940 | 148 | 24,100 | 98 | 88,460</a:t>
            </a:r>
          </a:p>
          <a:p>
            <a:r>
              <a:t>64,300 | 121 | 24,150 | 121 | 62,180</a:t>
            </a:r>
          </a:p>
          <a:p>
            <a:r>
              <a:t>1,18,720 | 98 | 24,200 | 148 | 49,650</a:t>
            </a:r>
          </a:p>
          <a:p>
            <a:r>
              <a:t>76,410 | 78 | 24,250 | 178 | 21,340</a:t>
            </a:r>
          </a:p>
          <a:p>
            <a:r>
              <a:t>1,41,280 | 61 | 24,300 | 211 | 30,870</a:t>
            </a:r>
          </a:p>
          <a:p>
            <a:r>
              <a:t>52,600 | 47 | 24,350 | 247 | 8,920</a:t>
            </a:r>
          </a:p>
          <a:p>
            <a:r>
              <a:t>97,150 | 35 | 24,400 | 285 | 12,460</a:t>
            </a:r>
          </a:p>
          <a:p/>
          <a:p>
            <a:r>
              <a:t>Pehle ATM strike dhoondhiye: index level ke sabse paas wala strike.</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Premium split sheet</a:t>
            </a:r>
          </a:p>
          <a:p/>
          <a:p>
            <a:r>
              <a:t>Practice chain se chaar hal ki hui rows, NIFTY 50 24,150 par. Step 3 wale apne do calls khaali rows mein likhiye. Practice chain par jawab hain: 24,050 call = 100 + 77, aur 24,250 call = 0 + 78.</a:t>
            </a:r>
          </a:p>
          <a:p/>
          <a:p>
            <a:r>
              <a:t>Option | ITM / OTM | Premium | Intrinsic | Time value</a:t>
            </a:r>
          </a:p>
          <a:p>
            <a:r>
              <a:t>24,000 CE | ITM | 210 | 150 | 60</a:t>
            </a:r>
          </a:p>
          <a:p>
            <a:r>
              <a:t>24,300 CE | OTM | 61 | 0 | 61</a:t>
            </a:r>
          </a:p>
          <a:p>
            <a:r>
              <a:t>24,000 PE | OTM | 60 | 0 | 60</a:t>
            </a:r>
          </a:p>
          <a:p>
            <a:r>
              <a:t>24,250 PE | ITM | 178 | 100 | 78</a:t>
            </a:r>
          </a:p>
          <a:p>
            <a:r>
              <a:t>+ 3 ___</a:t>
            </a:r>
          </a:p>
          <a:p/>
          <a:p>
            <a:r>
              <a:t>Call: intrinsic = index - strike. Put: intrinsic = strike - index. Zero se neeche kabhi nahi. Time value = premium - intrinsic.</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lot kitna control karta hai</a:t>
            </a:r>
          </a:p>
          <a:p/>
          <a:p>
            <a:r>
              <a:t>Example mein 75 units ka banawati lot hai; 'Aapka' column mein NSE se aaj ka asli lot likhiye. Yeh sirf hisaab hai, trade nahi.</a:t>
            </a:r>
          </a:p>
          <a:p/>
          <a:p>
            <a:r>
              <a:t>Line | Example | Aapka</a:t>
            </a:r>
          </a:p>
          <a:p>
            <a:r>
              <a:t>NIFTY 50 level | 24,150 | </a:t>
            </a:r>
          </a:p>
          <a:p>
            <a:r>
              <a:t>Lot size (units) | 75 (banawati) | </a:t>
            </a:r>
          </a:p>
          <a:p>
            <a:r>
              <a:t>Ek lot control karta hai (lot x level) | Rs 18,11,250 | </a:t>
            </a:r>
          </a:p>
          <a:p>
            <a:r>
              <a:t>Rs 10 lakh par 25% cap | Rs 2,50,000 | Rs 2,50,000</a:t>
            </a:r>
          </a:p>
          <a:p>
            <a:r>
              <a:t>Ek lot ÷ cap | 7.2x | </a:t>
            </a:r>
          </a:p>
          <a:p>
            <a:r>
              <a:t>Ek lot par NIFTY ka 100 point move | Rs 7,500 = 0.75R | </a:t>
            </a:r>
          </a:p>
          <a:p/>
          <a:p>
            <a:r>
              <a:t>Ek lot us had se kai guna bada hai jitna Stage 1 kisi ek position mein lagane deta hai, aur 100 point ka aam din bhi use 1R ke teen-chauthai jitna hila deta hai. Samjho, khelo mat.</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Lottery ya insurance? Chhe chits par options ke chhe istemaal likhiye, jaise 'expiry se do din pehle Rs 3 ka call khareedna', 'apne paas rakhe shares par put khareedna', 'weekly income ke liye calls bechna', 'door ke OTM puts bechna kyunki woh kam hi chalte hain', 'mid-cap stocks ki tokri ko cover karne ke liye NIFTY put khareedna', 'results ke din saste calls khareedna'. Classmates ya family ke saath har chit ko Lottery, Insurance ya Chhupa bada risk mein daaliye, aur ek line mein apni wajah bataiye. Akele hain? Khud sort kijiye, phir kisi AI chat se kahiye ki aapki sorting ko challenge kare.</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Option chain explainer</a:t>
            </a:r>
          </a:p>
          <a:p>
            <a:r>
              <a:t>You are a patient teacher of Indian derivatives, explaining to a complete beginner who is only studying F&amp;O and will not trade it, not even on paper. I will paste a few rows from the public NIFTY option chain on the NSE website or from my course's made-up practice chain (strike, call premium, call OI, put premium, put OI) and the current index level. Using only my pasted numbers: (1) say which strike is ATM and why; (2) mark each strike as ITM, ATM or OTM, separately for calls and for puts; (3) split two premiums of my choice into intrinsic value and time value, showing the working; (4) explain what OI measures, why every open contract has both a buyer and a seller, and what OI cannot tell me; (5) explain in two plain lines what PCR (put-call ratio) means and why, on its own, it cannot tell me where the market will go; do not compute a PCR or read anything into one. Label every statement Fact (follows from my numbers or a definition), Guess (an opinion or estimate) or Kachra (a popular claim with no basis, such as 'max OI is a wall the market cannot cross'). Do not suggest any option to buy or sell, give no view on market direction, no strategy, no targets and no return expectations.</a:t>
            </a:r>
          </a:p>
          <a:p/>
          <a:p>
            <a:r>
              <a:t>Index level: &lt;paste here&gt;</a:t>
            </a:r>
          </a:p>
          <a:p>
            <a:r>
              <a:t>Chain rows: &lt;paste here&gt;</a:t>
            </a:r>
          </a:p>
          <a:p/>
          <a:p>
            <a:r>
              <a:t>Prompt 2: F&amp;O myth-buster</a:t>
            </a:r>
          </a:p>
          <a:p>
            <a:r>
              <a:t>List 8 beliefs that Indian beginners commonly hold about futures and options, for example 'a cheap option is low risk', 'my margin is the most I can lose', 'high OI at a strike means the market will stop there', 'stock options always settle in cash' and 'buying a NIFTY put fully protects any portfolio'. For each belief, label it Fact, Guess or Kachra, give a one-line correction in simple words, and name the official source (NSE, BSE or SEBI website, or the NISM Series VIII study material) where I can check it. Where a rule can change, such as lot sizes, expiry days or settlement rules, say so and tell me to check the latest on the NSE website. Do not recommend any stock, index or option, do not give buy or sell advice, and do not mention targets or expected returns.</a:t>
            </a:r>
          </a:p>
          <a:p/>
          <a:p>
            <a:r>
              <a:t>Prompt 3: Lottery-ticket mind check</a:t>
            </a:r>
          </a:p>
          <a:p>
            <a:r>
              <a:t>Act as a calm trading-psychology coach. Ask me 6 short questions, one at a time, to find out whether I think about options like lottery tickets: how I react to screenshots of big option wins, whether I count the losing bets behind them, how I judge a 'small' premium that I might lose every week, and what I believe a low price tells me about the chance of a payoff. After my answers, give me a plain summary of any lottery-ticket thinking you noticed and one question I can ask myself whenever I see an F&amp;O success story. Do not ask for any personal or financial details, do not suggest any stock, option or strategy, and do not give buy or sell advice, targets or return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NIFTY 50 23,880 par hai (illustrative). 23,700 ka call 230 ke premium par trade ho raha hai. Yeh premium kaise bantega?</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banawati case mein koi Kiran Foods Ltd ka 400 wala call Rs 18 premium par khareedta hai. Costs chhod dein, toh expiry par share kis price se upar jaaye tab buyer ko paisa banna shuru hoga?</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banawati case mein Gupta Cement Ltd futures ka ek lot 3,750 shares ka hai, Rs 400 par liya gaya, margin Rs 3,00,000. Us din price Rs 392 par close hota hai. Us shaam kya hoga?</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Maan lijiye kisi ke paas Sharma Textiles Ltd ka stock call hai jo expiry par in the money hai, aur woh use band karna bhool gaya. Kya ho sakta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NIFTY ka ek bahut door ka OTM call sirf Rs 3 ka hai, aur expiry mein do din bache hain. Itna kam price sabse zyada kis baat ka ishaara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Aaj raat ka journal: Aaj ki kaunsi baat ne saste option ko dekhne ka aapka nazariya badla? Aur apne shabdon mein: OI kya naapta hai, aur kya nahi batata?</a:t>
            </a:r>
          </a:p>
          <a:p/>
          <a:p>
            <a:r>
              <a:t>Aaj aapne ek taqatwar tool itna samajh liya ki aap jaante hain use abhi kyun chhod rahe hain. Bahut se traders yeh hissa kabhi nahi seekhte.</a:t>
            </a:r>
          </a:p>
          <a:p/>
          <a:p>
            <a:r>
              <a:t>Agla: Day 19 · Event calendar aur aapke no-trade days</a:t>
            </a:r>
          </a:p>
          <a:p/>
          <a:p>
            <a:r>
              <a:t>Educational content only, not investment advice. Stage 1 uses virtual money only and places no F&amp;O trades, not even on paper. Company names, prices, lots, premiums and the practice option chain in this lesson are made up for illustration; the SEBI FY26 figure is quoted from SEBI's study. Check NSE for current lot sizes and expiry days.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19: Event calendar aur aapke no-trade days</a:t>
            </a:r>
          </a:p>
          <a:p/>
          <a:p>
            <a:r>
              <a:t>Concept: Events, unki timing, aur har strategy ke liye no-trade rule</a:t>
            </a:r>
          </a:p>
          <a:p>
            <a:r>
              <a:t>AI Lab: Event calendar builder: AI draft banaye, official sites faisla karein</a:t>
            </a:r>
          </a:p>
          <a:p>
            <a:r>
              <a:t>Mindset: Bada din chhoot jaane ka dar</a:t>
            </a:r>
          </a:p>
          <a:p/>
          <a:p>
            <a:r>
              <a:t>Aaj ke baad: Aaj ke baad aap samjha payenge ki tay events gap aur tez uchhal-kood kyun laate hain, kisi bhi event ko uski jagah aur time se pehchaan payenge, har strategy ke hisaab se no-trade rules likh payenge, official sources se 30 din ka event calendar bana payenge, aur ek date se Portfolio ki ek poori row bhar payenge.</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Saal ka sabse bada din</a:t>
            </a:r>
          </a:p>
          <a:p/>
          <a:p>
            <a:r>
              <a:t>(Union Budget se pehle ki raat. Aman mentor ko video call karta hai, aur Priya Lucknow se jud jaati hai.)</a:t>
            </a:r>
          </a:p>
          <a:p>
            <a:r>
              <a:t>Aman: Sir, kal Budget hai. Sab keh rahe hain bahut bada move aayega. Paper par range tootte hi main ek ORB trade lunga, aur speech se pehle do swing trades bhi. Saal ka sabse bada din hai; main bahar nahi baith sakta.</a:t>
            </a:r>
          </a:p>
          <a:p>
            <a:r>
              <a:t>Priya: Lekin speech toh 11 baje ke aas-paas shuru hoti hai. Aapki 9:15 se 9:30 wali range tab tak ban chuki hogi, jab kisi ko pata hi nahi hoga ki Budget mein kya hai. Woh range aapko kya batayegi?</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Saal ka sabse bada din</a:t>
            </a:r>
          </a:p>
          <a:p/>
          <a:p>
            <a:r>
              <a:t>Mentor: Achha sawaal, Priya. Aman, ek sawaal mera bhi: kal market kis taraf jaayega?</a:t>
            </a:r>
          </a:p>
          <a:p>
            <a:r>
              <a:t>Aman: Sach kahun toh pata nahi. Upar ya neeche, par bada. Jaise pichhle hafte Gupta Cement mein hua: paper par 400 mein liya, stop 382, aur results ke baad 364 par khula. Mujhe toh pata bhi nahi tha ki usi shaam results hain.</a:t>
            </a:r>
          </a:p>
          <a:p>
            <a:r>
              <a:t>Mentor: Results ki woh date aapke khareedne se chhe trading days pehle NSE ki website par thi. Zyadatar bade din surprise nahi hote; woh pehle se likhe hote hain. Aaj raat hum bhi unhe likh lenge, aur har din ke saamne aapka rule bhi, woh din aane se pehle hi.</a:t>
            </a:r>
          </a:p>
          <a:p/>
          <a:p>
            <a:r>
              <a:t>Seekh: Zyadatar bade din aane se kaafi pehle calendar par likhe hote hain. Asli hunar hai pehle se tay kar lena ki us din aap kya karenge.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Events: woh gaps jo pehle se dikh jaate hain</a:t>
            </a:r>
          </a:p>
          <a:p/>
          <a:p>
            <a:r>
              <a:t>Event yaani ek tay kiya hua waqt, jab koi badi nayi jaankari ek saath market tak pahunchti hai: kisi company ke results, RBI ka policy decision, ya Union Budget. Aise mein price dheere-dheere nahi chalta, aksar seedha kood jaata hai, aur isi chhalaang ko gap kehte hain (Day 6). Day 9 mein humne dekha tha ki gap stop ke saath kya karta hai: 1R ka planned loss 2R ya usse bhi zyada ho sakta hai. Aaj ki baat yeh hai ki inmein se zyadatar chhalaangein surprise nahi hoti. Inki dates kuch din ya hafte pehle hi publish ho jaati hain. Event calendar bas in dates ki ek list hai, jo aap aisi jagah rakhte hain jahan trade se pehle nazar pad jaaye.</a:t>
            </a:r>
          </a:p>
          <a:p/>
          <a:p>
            <a:r>
              <a:t>Udaharan: Aman ka pichhle hafte ka Gupta Cement Ltd wala paper trade: 555 shares Rs 400 par, stop Rs 382 (Rs 12 ke ATR ka 1.5 guna), yaani 1R lagbhag Rs 10,000. Usi shaam results aa gaye. Agli subah stock Rs 364 par khula aur uska stop, jo SL-M order tha (Day 9), wahin ke aas-paas bik gaya: 555 x Rs 36 = Rs 19,980, lagbhag 2R. In results ki board meeting ka notice uske khareedne se chhe trading days pehle hi NSE ki website par aa chuka tha. Day 11 ke jis card ko usne kabhi copy nahi kiya tha (Day 16), us par likha bhi tha 'jis stock ke results agle 15 trading days mein hon, use skip karo'; bas usne date check hi nahi ki. Yeh Day 9 wala gap hi tha, bas ek farq ke saath: is baar date pehle se public thi.</a:t>
            </a:r>
          </a:p>
          <a:p/>
          <a:p>
            <a:r>
              <a:t>Yaad rakhiye: Results wale din ke gap mein phans jaana aksar badkismati nahi hota. Zyadatar woh ek date hoti hai jo kisi ne check hi nahi ki.</a:t>
            </a:r>
          </a:p>
          <a:p/>
          <a:p>
            <a:r>
              <a:t>Slide par: Date pehle se public thi · Results ki date entry se chhe trading days pehle announce ho chuki thi. Stop Rs 382; results ke baad pehla price hi Rs 364 tha. Loss: lagbhag 2R, 1R nahi.</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Events kahan se aate hain: aapka stock, India, duniya</a:t>
            </a:r>
          </a:p>
          <a:p/>
          <a:p>
            <a:r>
              <a:t>Events teen jagah se aate hain. Stock events sirf ek company ko hilaate hain: uske quarterly results, unhe approve karne wali board meeting, aur dividend, bonus ya split ki ex-date (Day 15), jab price ek mechanical wajah se neeche aata hai aur unadjusted chart par nakli gap dikh jaata hai. Indian market ke events lagbhag sab par asar daalte hain: RBI ke policy decisions, Union Budget, exchange holidays aur special sessions, aur F&amp;O expiry days, jin dinon index zyada uchhal-kood kar sakta hai, chahe aap F&amp;O na bhi karte hon. Index events beech mein aate hain. NSE Indices saal mein do baar NIFTY 50 ka review karta hai, aur koi bhi badlaav lagu hone se hafton pehle announce karta hai. Phir index ko copy karne wale index funds aur ETFs ko aane wala stock khareedna aur jaane wala bechna padta hai, aksar badlaav se pehle wale aakhri din ke close ke aas-paas, isliye dono mein bhaari volume dikh sakta hai jo business ke baare mein kuch nahi batata. Duniya ke events bahar se aate hain, aur unki dates bhi pehle se publish hoti hain: US Federal Reserve (America ka central bank) aur European Central Bank jaise dusre bade central banks ke decisions, aur America ke inflation aur jobs ke reports. Inmein se zyadatar India ki shaam ya raat mein aate hain, hamare market band hone ke baad. Kuch badi global khabrein bina kisi date ke achanak aa jaati hain; unhe kisi calendar par nahi likha ja sakta, aur yeh bhi ek wajah hai ki har trade mein risk sirf 1% rehta hai. Date likh lijiye; kya announce hoga, yeh guess mat kijiye.</a:t>
            </a:r>
          </a:p>
          <a:p/>
          <a:p>
            <a:r>
              <a:t>Udaharan: Priya apni paper watchlist ke liye agle 30 din likh leti hai (saari dates banaavati hain). 6 ko: RBI ka policy decision. Friday 7 ki shaam: America ka inflation data, jiska asar Monday 10 ke open par dikhega. 12 ko: Kiran Foods Ltd ke results. 18 ko: Sharma Textiles Ltd ki ex-dividend date, Rs 5 ka dividend; baaki sab waisa hi rahe toh us subah price lagbhag Rs 5 neeche aata hai, yeh adjustment hai, signal nahi. 19 ki raat: US Fed ka decision, jiska asar 20 ke open par dikhega. Friday 21 ko: exchange holiday, yaani market teen din band, aur uske kisi bhi swing trade ke liye ek lambi 'raat'. 25 ko: NIFTY ki monthly F&amp;O expiry; woh F&amp;O karti hi nahi, isliye yeh sirf note hai, block nahi. 27 ko: Desai Power Ltd ke NIFTY 50 mein aane se pehle ka aakhri din, jiska badlaav NSE Indices ne hafton pehle announce kiya tha; us din close ke aas-paas bhaari volume index funds ki khareed hai, breakout nahi. Aath dates, teen jagah, ek sheet.</a:t>
            </a:r>
          </a:p>
          <a:p/>
          <a:p>
            <a:r>
              <a:t>Yaad rakhiye: Har date ke liye pehle poochhiye: yeh mere stock se aa rahi hai, India se, ya duniya se?</a:t>
            </a:r>
          </a:p>
          <a:p/>
          <a:p>
            <a:r>
              <a:t>Slide par: Events ki teen jagah · Date aur time likhiye; kya announce hoga, iska guess kabhi nahi.</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Events kahan se aate hain: aapka stock, India, duniya</a:t>
            </a:r>
          </a:p>
          <a:p/>
          <a:p>
            <a:r>
              <a:t>Events teen jagah se aate hain. Stock events sirf ek company ko hilaate hain: uske quarterly results, unhe approve karne wali board meeting, aur dividend, bonus ya split ki ex-date (Day 15), jab price ek mechanical wajah se neeche aata hai aur unadjusted chart par nakli gap dikh jaata hai. Indian market ke events lagbhag sab par asar daalte hain: RBI ke policy decisions, Union Budget, exchange holidays aur special sessions, aur F&amp;O expiry days, jin dinon index zyada uchhal-kood kar sakta hai, chahe aap F&amp;O na bhi karte hon. Index events beech mein aate hain. NSE Indices saal mein do baar NIFTY 50 ka review karta hai, aur koi bhi badlaav lagu hone se hafton pehle announce karta hai. Phir index ko copy karne wale index funds aur ETFs ko aane wala stock khareedna aur jaane wala bechna padta hai, aksar badlaav se pehle wale aakhri din ke close ke aas-paas, isliye dono mein bhaari volume dikh sakta hai jo business ke baare mein kuch nahi batata. Duniya ke events bahar se aate hain, aur unki dates bhi pehle se publish hoti hain: US Federal Reserve (America ka central bank) aur European Central Bank jaise dusre bade central banks ke decisions, aur America ke inflation aur jobs ke reports. Inmein se zyadatar India ki shaam ya raat mein aate hain, hamare market band hone ke baad. Kuch badi global khabrein bina kisi date ke achanak aa jaati hain; unhe kisi calendar par nahi likha ja sakta, aur yeh bhi ek wajah hai ki har trade mein risk sirf 1% rehta hai. Date likh lijiye; kya announce hoga, yeh guess mat kijiye.</a:t>
            </a:r>
          </a:p>
          <a:p/>
          <a:p>
            <a:r>
              <a:t>Udaharan: Priya apni paper watchlist ke liye agle 30 din likh leti hai (saari dates banaavati hain). 6 ko: RBI ka policy decision. Friday 7 ki shaam: America ka inflation data, jiska asar Monday 10 ke open par dikhega. 12 ko: Kiran Foods Ltd ke results. 18 ko: Sharma Textiles Ltd ki ex-dividend date, Rs 5 ka dividend; baaki sab waisa hi rahe toh us subah price lagbhag Rs 5 neeche aata hai, yeh adjustment hai, signal nahi. 19 ki raat: US Fed ka decision, jiska asar 20 ke open par dikhega. Friday 21 ko: exchange holiday, yaani market teen din band, aur uske kisi bhi swing trade ke liye ek lambi 'raat'. 25 ko: NIFTY ki monthly F&amp;O expiry; woh F&amp;O karti hi nahi, isliye yeh sirf note hai, block nahi. 27 ko: Desai Power Ltd ke NIFTY 50 mein aane se pehle ka aakhri din, jiska badlaav NSE Indices ne hafton pehle announce kiya tha; us din close ke aas-paas bhaari volume index funds ki khareed hai, breakout nahi. Aath dates, teen jagah, ek sheet.</a:t>
            </a:r>
          </a:p>
          <a:p/>
          <a:p>
            <a:r>
              <a:t>Yaad rakhiye: Har date ke liye pehle poochhiye: yeh mere stock se aa rahi hai, India se, ya duniya se?</a:t>
            </a:r>
          </a:p>
          <a:p/>
          <a:p>
            <a:r>
              <a:t>Slide par: Events ki teen jagah · Date aur time likhiye; kya announce hoga, iska guess kabhi nahi.</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market ke ghanton mein ya raat mein</a:t>
            </a:r>
          </a:p>
          <a:p/>
          <a:p>
            <a:r>
              <a:t>Event ki date jitni zaroori hai, utna hi zaroori uska time hai. Kuch events market ke ghanton mein aate hain: RBI aam taur par apna policy decision subah announce karta hai, aur Budget wale din speech aksar 11 baje ke aas-paas shuru hoti hai. Yeh din ke andar hi price ko upar-neeche jhakjhor dete hain, aur isse ORB jaise intraday trades ko nuksaan hota hai. Kuch events raat mein aate hain: kai companies apne results 3:30 ke baad nikaalti hain, aur US Fed ke decisions India ki raat mein aate hain. In par aap agli subah 9:00 baje ke pre-open se pehle trade kar hi nahi sakte, aur tab tak price kood chuka hota hai, isliye yeh gap bankar aate hain, aur isse raat bhar hold kiye gaye swing trades ko nuksaan hota hai. Board meeting ke notice mein date hoti hai, time aksar nahi; agar time nahi diya, toh maan kar chaliye ki results market ke ghanton mein bhi aa sakte hain aur raat mein bhi. Time badal bhi sakta hai, isliye har baar official announcement check kijiye.</a:t>
            </a:r>
          </a:p>
          <a:p/>
          <a:p>
            <a:r>
              <a:t>Udaharan: Budget wale din Sharma Textiles Ltd jaise liquid stock ki opening range 9:30 tak ban jaati hai, lekin speech lagbhag dedh ghante baad shuru hoti hai. ORB mein 11:00 ke baad nayi entry nahi hoti (Day 13), isliye jo bhi trade aapne liya, woh speech shuru hote waqt bhi khula ho sakta hai, aur uske baad trade ka rukh aapka rule nahi, speech tay karegi. Ab Kiran Foods Ltd mein ek swing position sochiye: uske results shaam 6 baje aate hain, aur US Fed ka decision India ke time se der raat aata hai. Exit ka pehla mauka agli subah ka open hai, us price par jo market tay kare.</a:t>
            </a:r>
          </a:p>
          <a:p/>
          <a:p>
            <a:r>
              <a:t>Yaad rakhiye: Market ke ghanton wale events intraday trades ko nuksaan pahunchate hain; raat wale events swing ko. Pata hona chahiye ki aapke haath mein kaunsa trade hai.</a:t>
            </a:r>
          </a:p>
          <a:p/>
          <a:p>
            <a:r>
              <a:t>Slide par: Events aam taur par kab aate hain (IST) · Yeh sirf aam times hain; badal sakte hain. Achanak khabar kabhi bhi aa sakti hai. Hamesha official page par confirm kijiye.</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Aapke no-trade rules: event ko trade se milaiye</a:t>
            </a:r>
          </a:p>
          <a:p/>
          <a:p>
            <a:r>
              <a:t>No-trade rule aapke Rule Card ki woh line hai jo batati hai ki kin dinon aap bahar rahenge, aur yeh faisla un dinon ke aane se pehle hota hai. Aapki default strategy, EMA Pullback Swing (Day 11), raat bhar position rakhti hai, isliye uske liye raat wale events sabse zyada maayne rakhte hain. Optional ORB (Day 13) ek hi trading din ke andar khul kar band ho jaata hai (uska time exit 14:30 hai), isliye uske liye market ke ghanton wale events sabse zyada maayne rakhte hain. Aur Aman ki Budget wali subah ki do swing entries? Starter table unhe block nahi karti, kyunki speech market ke ghanton mein aati hai, jab stop aksar 1R ke aas-paas hi fill hota hai, bas tez market mein thodi slippage ke saath. Lekin Budget day par swing trade minuton mein ek ATR se zyada hil sakta hai aur shor mein hi stop hit ho sakta hai, isliye kai beginners card par seedha likh dete hain 'Budget wale din nayi swing entry nahi'; agar us din aapka mann stop khiskaane ko karta hai, toh yeh line zaroor likhiye. List chhoti rakhiye: agar rules aadha mahina hi block kar dein, toh aap unhe maanna chhod denge; teen-chaar saaf lines kaafi hain. Day 18 mein hedging ka idea aaya tha; Stage 1 mein kisi event se pehle sabse sasta bachaav hai chhoti position, ya koi position nahi. Aur haan, likhe hue rule ki wajah se chhoda gaya setup bhi adherence mein hi ginta hai (Day 12).</a:t>
            </a:r>
          </a:p>
          <a:p/>
          <a:p>
            <a:r>
              <a:t>Udaharan: Priya Sunday ko chaar lines likhti hai. Ek: jis stock ke results meri 15 trading days ki window (Day 11) ke andar hon, usmein nayi swing entry nahi. Do: agar entry ke baad results ki date announce hoti hai, toh results se pehle wale trading din close se pehle exit kar dungi, aur use planned exit likhungi. (Agar results tak hold karna hai, toh yeh bhi Sunday ko hi likh dungi aur maan lungi ki loss 2R ya usse zyada bhi ho sakta hai.) Teen: RBI policy wale din ya Budget wale din ORB nahi, aur kisi stock ke apne results wale din us stock mein ORB nahi. Chaar: ex-date par adjusted girawat ko signal nahi maanungi. Expiry ke din aur index badlaav ke din calendar par note ho jaate hain, par unka alag rule nahi: woh F&amp;O karti nahi, aur index funds ki khareed mechanical hai, isliye woh bas us din ke volume ko signal nahi maanti. Agle mahine ka uska hisaab: ek RBI wala din jab ORB nahi, aur uski watchlist ke 8 mein se 1 stock (Kiran Foods Ltd) mein nayi swing entry block. Baaki har din normal hai.</a:t>
            </a:r>
          </a:p>
          <a:p/>
          <a:p>
            <a:r>
              <a:t>Yaad rakhiye: Event ka rule Sunday ko tay kijiye, us din subah 9:14 par nahi.</a:t>
            </a:r>
          </a:p>
          <a:p/>
          <a:p>
            <a:r>
              <a:t>Slide par: Ek starter no-trade table · Yeh shuruaat hai, kanoon nahi. Apna version apne Rule Card par likhiye.</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Aapke no-trade rules: event ko trade se milaiye</a:t>
            </a:r>
          </a:p>
          <a:p/>
          <a:p>
            <a:r>
              <a:t>No-trade rule aapke Rule Card ki woh line hai jo batati hai ki kin dinon aap bahar rahenge, aur yeh faisla un dinon ke aane se pehle hota hai. Aapki default strategy, EMA Pullback Swing (Day 11), raat bhar position rakhti hai, isliye uske liye raat wale events sabse zyada maayne rakhte hain. Optional ORB (Day 13) ek hi trading din ke andar khul kar band ho jaata hai (uska time exit 14:30 hai), isliye uske liye market ke ghanton wale events sabse zyada maayne rakhte hain. Aur Aman ki Budget wali subah ki do swing entries? Starter table unhe block nahi karti, kyunki speech market ke ghanton mein aati hai, jab stop aksar 1R ke aas-paas hi fill hota hai, bas tez market mein thodi slippage ke saath. Lekin Budget day par swing trade minuton mein ek ATR se zyada hil sakta hai aur shor mein hi stop hit ho sakta hai, isliye kai beginners card par seedha likh dete hain 'Budget wale din nayi swing entry nahi'; agar us din aapka mann stop khiskaane ko karta hai, toh yeh line zaroor likhiye. List chhoti rakhiye: agar rules aadha mahina hi block kar dein, toh aap unhe maanna chhod denge; teen-chaar saaf lines kaafi hain. Day 18 mein hedging ka idea aaya tha; Stage 1 mein kisi event se pehle sabse sasta bachaav hai chhoti position, ya koi position nahi. Aur haan, likhe hue rule ki wajah se chhoda gaya setup bhi adherence mein hi ginta hai (Day 12).</a:t>
            </a:r>
          </a:p>
          <a:p/>
          <a:p>
            <a:r>
              <a:t>Udaharan: Priya Sunday ko chaar lines likhti hai. Ek: jis stock ke results meri 15 trading days ki window (Day 11) ke andar hon, usmein nayi swing entry nahi. Do: agar entry ke baad results ki date announce hoti hai, toh results se pehle wale trading din close se pehle exit kar dungi, aur use planned exit likhungi. (Agar results tak hold karna hai, toh yeh bhi Sunday ko hi likh dungi aur maan lungi ki loss 2R ya usse zyada bhi ho sakta hai.) Teen: RBI policy wale din ya Budget wale din ORB nahi, aur kisi stock ke apne results wale din us stock mein ORB nahi. Chaar: ex-date par adjusted girawat ko signal nahi maanungi. Expiry ke din aur index badlaav ke din calendar par note ho jaate hain, par unka alag rule nahi: woh F&amp;O karti nahi, aur index funds ki khareed mechanical hai, isliye woh bas us din ke volume ko signal nahi maanti. Agle mahine ka uska hisaab: ek RBI wala din jab ORB nahi, aur uski watchlist ke 8 mein se 1 stock (Kiran Foods Ltd) mein nayi swing entry block. Baaki har din normal hai.</a:t>
            </a:r>
          </a:p>
          <a:p/>
          <a:p>
            <a:r>
              <a:t>Yaad rakhiye: Event ka rule Sunday ko tay kijiye, us din subah 9:14 par nahi.</a:t>
            </a:r>
          </a:p>
          <a:p/>
          <a:p>
            <a:r>
              <a:t>Slide par: Ek starter no-trade table · Yeh shuruaat hai, kanoon nahi. Apna version apne Rule Card par likhiye.</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Official sources se apna 30 din ka calendar banaiye</a:t>
            </a:r>
          </a:p>
          <a:p/>
          <a:p>
            <a:r>
              <a:t>Aapka calendar ek seedhi-saadi sheet hai, chhe columns ke saath: date, event, jagah aur time (jaise 'stock, raat'), kis strategy par asar, aapka rule, aur 'source checked'. Har date kisi official page se aani chahiye: NSE ki holiday list aur circulars; nseindia.com par NIFTY option chain ki expiry list mein expiry dates (Day 18); NSE ya BSE ke corporate announcements mein board meeting aur corporate action ke notice; index changes ke liye NSE Indices ki press releases (niftyindices.com); RBI ki woh press release jismein policy meetings ka schedule hota hai; Budget par sarkar ki official ghoshna; aur US Federal Reserve ka apna meeting calendar. AI khaali table ek minute mein bana dega, lekin woh apni taraf se dates bana bhi deta hai ya aapas mein mila deta hai, aur galat date bahut mehnga hallucination hai (Day 4). Har Sunday sheet update kijiye, kyunki board meeting ke naye notice aate hi rehte hain. Board meeting ka notice kabhi-kabhi meeting se bas kuch working days pehle aata hai, isliye har nayi swing entry se pehle us ek stock ka NSE announcements page bhi khol lijiye. Aur results season yaad rakhiye. SEBI ke abhi ke rules mein companies ko quarter khatam hone ke 45 din ke andar results dene hote hain, aur saal ke aakhri quarter ke liye 60 din. Toh March, June, September aur December khatam hone ke baad lagbhag chhe se nau hafte tak naya notice kabhi bhi aa sakta hai. Yeh deadlines badal sakti hain; latest ke liye SEBI ki site dekhiye. Kal, Day 20 mein, yahi calendar check aapke Daily Routine Card ki pehli line ban jaayega.</a:t>
            </a:r>
          </a:p>
          <a:p/>
          <a:p>
            <a:r>
              <a:t>Udaharan: Priya ki sheet ki ek row aisi hai: '12 | Kiran Foods Ltd results | stock, time nahi diya: dono ho sakta hai | dono | results aane tak nayi swing entry nahi; hold ho toh 11 ko close se pehle exit; 12 ko is stock mein ORB nahi | NSE announcement, checked'. Usne har action wale din se ek shaam pehle, raat 8 baje ka phone reminder bhi laga diya hai: is row ke liye 10 tareekh ko, kyunki exit 11 ko close se pehle karna hai. Is tarah rule market khulne se pehle hi uske saamne hota hai. Pehli baar poori sheet banane mein use lagbhag 40 minute lage; har Sunday ke update mein bas 10 ke aas-paas. Uska poora mahina aaj ke task mein model calendar ke roop mein diya hai.</a:t>
            </a:r>
          </a:p>
          <a:p/>
          <a:p>
            <a:r>
              <a:t>Yaad rakhiye: Table AI banaye; dates official sites se bhariye.</a:t>
            </a:r>
          </a:p>
          <a:p/>
          <a:p>
            <a:r>
              <a:t>Slide par: Official page se Rule Card tak · 'Source checked' par tick tabhi lagaiye jab date aapne khud official page par dekh li ho.</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Bada din chhoot jaane ka dar</a:t>
            </a:r>
          </a:p>
          <a:p/>
          <a:p>
            <a:r>
              <a:t>Bade event wale din Diwali sale jaise lagte hain: news channels countdown chalate hain, groups mein shor mach jaata hai, aur bahar rehna aisa lagta hai jaise saal ka sabse zaroori din hi chhoot gaya. Day 13 mein FOMO, yaani kuch chhoot jaane ka dar, humne bhaagte breakout mein dekha tha; yahan woh ek date ka roop lekar aata hai. Aise dinon mein price aksar minuton mein dono taraf jhoolta hai, spread chauda ho jaata hai (Day 2), aur move ek aisi khabar ka reaction hota hai jo pehle se kisi ko pata nahi thi. Cyclone warning wale din kinare par ruka machhuara darpok nahi hai; woh aane wale kai saal tak machhli pakadna chahta hai. Rule ki wajah se chhoda gaya trade aapka ek paisa nahi leta, bas ek mauka jaata hai, jabki bade din ka 2R ya 3R ka loss hafton ki mehnat par paani pher sakta hai.</a:t>
            </a:r>
          </a:p>
          <a:p/>
          <a:p>
            <a:r>
              <a:t>Udaharan: Is udaharan wale Budget day mein, speech shuru hone ke thodi der baad, 11:30 tak NIFTY 50 apne open se 1.6% upar tha. Do ghante baad woh open se 1.1% neeche tha, aur din 0.4% girkar band hua. Pehli tezi ke peeche bhaagne wala aur baad ki girawat mein bechne wala, dono ka stop ek hi din mein hit ho sakta tha. Aman ne us din trade karne ke liye chhutti li thi, lekin usne woh subah notebook lekar sirf dekhne mein bitaayi, aur likhta gaya ki price ne kaise react kiya. Journal mein uski entry: no-trade day, rule follow kiya.</a:t>
            </a:r>
          </a:p>
          <a:p/>
          <a:p>
            <a:r>
              <a:t>Yaad rakhiye: Rule se chhoda trade paisa nahi leta. Ek bura bada din hafton ki mehnat par paani pher sakta hai.</a:t>
            </a:r>
          </a:p>
          <a:p/>
          <a:p>
            <a:r>
              <a:t>Slide par: Ek Budget day, dono taraf · Open = 100. 11:30 tak 1.6% upar, 13:30 tak 1.1% neeche, aur 0.4% neeche band. 9:15 par direction kisi ko pata nahi thi.</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 Ek tay waqt jab badi nayi jaankari ek saath market tak pahunchti hai, jaise results, RBI ka policy decision ya Budget.</a:t>
            </a:r>
          </a:p>
          <a:p>
            <a:r>
              <a:t>Event calendar: Aane wale events ki dates ki aapki list, har date official site par check ki hui, aur uske saamne aapka rule likha hua.</a:t>
            </a:r>
          </a:p>
          <a:p>
            <a:r>
              <a:t>No-trade day: Woh din jab aapke likhe hue rules aapko kisi strategy se bahar rakhte hain. Us din bahar rehna adherence mein ginta hai.</a:t>
            </a:r>
          </a:p>
          <a:p>
            <a:r>
              <a:t>Board meeting notice: Woh notice jo company NSE ya BSE ke corporate announcements mein pehle se daalti hai, ki results approve karne wali board meeting kis din hogi.</a:t>
            </a:r>
          </a:p>
          <a:p>
            <a:r>
              <a:t>Overnight event: Aisi khabar jo market band hone par aati hai aur aksar agle open par gap bankar dikhti hai.</a:t>
            </a:r>
          </a:p>
          <a:p>
            <a:r>
              <a:t>Results season: Har quarter khatam hone ke baad ke woh hafte jab companies results nikaalti hain; board meeting ke notice kabhi bhi aa sakte hain.</a:t>
            </a:r>
          </a:p>
          <a:p>
            <a:r>
              <a:t>Index rebalance: NIFTY 50 jaise index ki stocks wali list mein badlaav, jo hafton pehle announce hota hai. Index funds aane wala stock khareedte hain aur jaane wala bechte hain, aksar badlaav se pehle wale aakhri din ke close ke aas-paas, isliye woh volume mechanical hai, signal nahi.</a:t>
            </a:r>
          </a:p>
          <a:p>
            <a:r>
              <a:t>Expiry day: Woh din jab koi F&amp;O contract khatam hota hai, jo exchange tay karta hai (Day 18). Us din index zyada uchhal-kood kar sakta hai. Stage 1 mein F&amp;O trade hota hi nahi, isliye yeh calendar par ek note hai, no-trade day nahi.</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 calendar aur no-trade days</a:t>
            </a:r>
          </a:p>
          <a:p>
            <a:r>
              <a:t>Events kyun maayne rakhte hain: Badi khabar ek saath aati hai; Gap 1R ko 2R bana sakta hai; Zyadatar dates pehle se public</a:t>
            </a:r>
          </a:p>
          <a:p>
            <a:r>
              <a:t>Teen jagah: Stock: results, ex-dates; India: RBI, Budget, holidays, expiry; Index badlaav: volume mechanical hai; Duniya: Fed, US data, achanak khabrein</a:t>
            </a:r>
          </a:p>
          <a:p>
            <a:r>
              <a:t>Timing: Market ke ghante: ORB par asar; Raat: swing par asar; Official time confirm karein</a:t>
            </a:r>
          </a:p>
          <a:p>
            <a:r>
              <a:t>Aapke rules: Window mein results: nayi swing nahi; RBI ya Budget day: ORB nahi; List chhoti rakhiye; Rule se skip = adherence</a:t>
            </a:r>
          </a:p>
          <a:p>
            <a:r>
              <a:t>Aapka calendar: Sirf official pages; AI draft kare, aap verify karein; Har Sunday update</a:t>
            </a:r>
          </a:p>
          <a:p>
            <a:r>
              <a:t>Aapka mann: Bade din ka FOMO; Chhodne mein paisa nahi jaata</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Apna pehla 30 din ka event calendar sirf official dates se banaiye, har date ke saath woh rule jo aap follow karenge, aur ek date se Portfolio ki ek row bhariye.</a:t>
            </a:r>
          </a:p>
          <a:p/>
          <a:p>
            <a:r>
              <a:t>1. Ek nayi Google Sheet (ya notebook ka ek page) kholiye aur neeche diye khaali template ke chhe column heads copy kijiye: Date, Event, Jagah-time, Kis par asar, Mera rule, Source checked. Agle steps mein har date daalte hi, aaj ki starter table se uska rule bhi turant likhiye.</a:t>
            </a:r>
          </a:p>
          <a:p>
            <a:r>
              <a:t>2. nseindia.com par holiday list se agle 30 din ki har trading holiday, NSE circulars se koi bhi special session (jaise Muhurat trading), aur option chain ki expiry list se NIFTY ki monthly expiry date (Day 18) sheet mein daaliye; uske saamne 'sirf note' likhiye.</a:t>
            </a:r>
          </a:p>
          <a:p>
            <a:r>
              <a:t>3. rbi.org.in par is saal ka monetary policy meeting schedule aur federalreserve.gov par Fed ka meeting calendar dhoondhiye; aapke 30 din mein jo bhi decision day pade, use sheet mein daaliye (RBI: meeting ka aakhri din; Fed: India ki agli trading subah likhiye, jab iska asar dikhega).</a:t>
            </a:r>
          </a:p>
          <a:p>
            <a:r>
              <a:t>4. Apni paper watchlist ke teen stocks ke liye NSE ya BSE ke corporate announcements search kijiye, aur agle 30 din mein aane wali results ki board meeting ya ex-date daaliye (agar abhi kuch announce nahi hua, toh 'none yet' likhiye aur Sunday ko dobara check kijiye). Phir niftyindices.com par NIFTY 50 ke badlaav ka latest announcement kholiye aur note kijiye ki inmein se koi aa ya ja raha hai kya.</a:t>
            </a:r>
          </a:p>
          <a:p>
            <a:r>
              <a:t>5. App ke Portfolio page par in teen mein se ek stock ki ek poori row bhariye, sirf virtual paise mein, Day 12 wale saaton hisson ke saath. Uske agle results ki date ko review point banaiye (abhi announce na hui ho toh 'board meeting ka agla notice'), aur 'results wale din ka gap' ko top risk, jiske jawab mein aapka likha hua rule ho.</a:t>
            </a:r>
          </a:p>
          <a:p>
            <a:r>
              <a:t>6. Stretch, lagbhag 15 minute aur: AI Lab ka 'Event calendar template' prompt chalaiye, aur AI jo bhi date ya time bataye use apni sheet se milaiye; jo match na kare use Kachra mark kijiye.</a:t>
            </a:r>
          </a:p>
          <a:p/>
          <a:p>
            <a:r>
              <a:t>Aaj ke baad: Aaj ke baad aap samjha payenge ki tay events gap aur tez uchhal-kood kyun laate hain, kisi bhi event ko uski jagah aur time se pehchaan payenge, har strategy ke hisaab se no-trade rules likh payenge, official sources se 30 din ka event calendar bana payenge, aur ek date se Portfolio ki ek poori row bhar payenge.</a:t>
            </a:r>
          </a:p>
          <a:p/>
          <a:p>
            <a:r>
              <a:t>Tools: NSE aur BSE websites (nseindia.com, bseindia.com); NIFTY Indices website (niftyindices.com); RBI aur US Fed websites (rbi.org.in, federalreserve.gov); Google Sheets ya Google Calendar; App ka Portfolio page; Koi bhi AI chat</a:t>
            </a:r>
          </a:p>
          <a:p/>
          <a:p>
            <a:r>
              <a:t>Educational content only, not investment advice. Stage 1 uses virtual money only. Company names, dates and chart prices are made up for illustration; confirm real event dates and times on the official NSE, BSE, NSE Indices, RBI, government, US Federal Reserve or US Bureau of Labor Statistics page.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Apna pehla 30 din ka event calendar sirf official dates se banaiye, har date ke saath woh rule jo aap follow karenge, aur ek date se Portfolio ki ek row bhariye.</a:t>
            </a:r>
          </a:p>
          <a:p/>
          <a:p>
            <a:r>
              <a:t>1. Ek nayi Google Sheet (ya notebook ka ek page) kholiye aur neeche diye khaali template ke chhe column heads copy kijiye: Date, Event, Jagah-time, Kis par asar, Mera rule, Source checked. Agle steps mein har date daalte hi, aaj ki starter table se uska rule bhi turant likhiye.</a:t>
            </a:r>
          </a:p>
          <a:p>
            <a:r>
              <a:t>2. nseindia.com par holiday list se agle 30 din ki har trading holiday, NSE circulars se koi bhi special session (jaise Muhurat trading), aur option chain ki expiry list se NIFTY ki monthly expiry date (Day 18) sheet mein daaliye; uske saamne 'sirf note' likhiye.</a:t>
            </a:r>
          </a:p>
          <a:p>
            <a:r>
              <a:t>3. rbi.org.in par is saal ka monetary policy meeting schedule aur federalreserve.gov par Fed ka meeting calendar dhoondhiye; aapke 30 din mein jo bhi decision day pade, use sheet mein daaliye (RBI: meeting ka aakhri din; Fed: India ki agli trading subah likhiye, jab iska asar dikhega).</a:t>
            </a:r>
          </a:p>
          <a:p>
            <a:r>
              <a:t>4. Apni paper watchlist ke teen stocks ke liye NSE ya BSE ke corporate announcements search kijiye, aur agle 30 din mein aane wali results ki board meeting ya ex-date daaliye (agar abhi kuch announce nahi hua, toh 'none yet' likhiye aur Sunday ko dobara check kijiye). Phir niftyindices.com par NIFTY 50 ke badlaav ka latest announcement kholiye aur note kijiye ki inmein se koi aa ya ja raha hai kya.</a:t>
            </a:r>
          </a:p>
          <a:p>
            <a:r>
              <a:t>5. App ke Portfolio page par in teen mein se ek stock ki ek poori row bhariye, sirf virtual paise mein, Day 12 wale saaton hisson ke saath. Uske agle results ki date ko review point banaiye (abhi announce na hui ho toh 'board meeting ka agla notice'), aur 'results wale din ka gap' ko top risk, jiske jawab mein aapka likha hua rule ho.</a:t>
            </a:r>
          </a:p>
          <a:p>
            <a:r>
              <a:t>6. Stretch, lagbhag 15 minute aur: AI Lab ka 'Event calendar template' prompt chalaiye, aur AI jo bhi date ya time bataye use apni sheet se milaiye; jo match na kare use Kachra mark kijiye.</a:t>
            </a:r>
          </a:p>
          <a:p/>
          <a:p>
            <a:r>
              <a:t>Aaj ke baad: Aaj ke baad aap samjha payenge ki tay events gap aur tez uchhal-kood kyun laate hain, kisi bhi event ko uski jagah aur time se pehchaan payenge, har strategy ke hisaab se no-trade rules likh payenge, official sources se 30 din ka event calendar bana payenge, aur ek date se Portfolio ki ek poori row bhar payenge.</a:t>
            </a:r>
          </a:p>
          <a:p/>
          <a:p>
            <a:r>
              <a:t>Tools: NSE aur BSE websites (nseindia.com, bseindia.com); NIFTY Indices website (niftyindices.com); RBI aur US Fed websites (rbi.org.in, federalreserve.gov); Google Sheets ya Google Calendar; App ka Portfolio page; Koi bhi AI chat</a:t>
            </a:r>
          </a:p>
          <a:p/>
          <a:p>
            <a:r>
              <a:t>Educational content only, not investment advice. Stage 1 uses virtual money only. Company names, dates and chart prices are made up for illustration; confirm real event dates and times on the official NSE, BSE, NSE Indices, RBI, government, US Federal Reserve or US Bureau of Labor Statistics page.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 ka 30 din ka event calendar (model)</a:t>
            </a:r>
          </a:p>
          <a:p/>
          <a:p>
            <a:r>
              <a:t>Saari dates aur naam banaavati hain. Har asli date likhne se pehle official page par confirm kijiye.</a:t>
            </a:r>
          </a:p>
          <a:p/>
          <a:p>
            <a:r>
              <a:t>Date | Event | Jagah, time | Kis par asar | Mera rule | Source checked</a:t>
            </a:r>
          </a:p>
          <a:p>
            <a:r>
              <a:t>6 tareekh | RBI policy decision | India, ~10 baje | ORB | Aaj ORB nahi | RBI site, haan</a:t>
            </a:r>
          </a:p>
          <a:p>
            <a:r>
              <a:t>7 (Friday) | US inflation data | Duniya, shaam: Monday 10 ka open | Swing | Sirf note; stop wahi | bls.gov, haan</a:t>
            </a:r>
          </a:p>
          <a:p>
            <a:r>
              <a:t>12 tareekh | Kiran Foods Ltd results | Stock, time nahi diya | Dono | Nayi swing entry nahi; hold ho toh 11 ko close se pehle exit; 12 ko ismein ORB nahi | NSE notice, haan</a:t>
            </a:r>
          </a:p>
          <a:p>
            <a:r>
              <a:t>18 tareekh | Sharma Textiles Ltd ex-dividend, Rs 5 | Stock, open par | Swing | Lagbhag Rs 5 girawat = adjustment, signal nahi | NSE actions, haan</a:t>
            </a:r>
          </a:p>
          <a:p>
            <a:r>
              <a:t>19 tareekh | US Fed decision | Duniya, raat: 20 ka open | Swing | Sirf note; stop wahi | Fed site, haan</a:t>
            </a:r>
          </a:p>
          <a:p>
            <a:r>
              <a:t>21 (Friday) | Exchange holiday | India, 3 din band | Swing | Note: lambi raat | NSE list, haan</a:t>
            </a:r>
          </a:p>
          <a:p>
            <a:r>
              <a:t>25 tareekh | NIFTY monthly F&amp;O expiry | India, market ke ghante | Koi nahi: F&amp;O nahi | Sirf note, block nahi | Option chain, haan</a:t>
            </a:r>
          </a:p>
          <a:p>
            <a:r>
              <a:t>27 tareekh | Desai Power Ltd ke NIFTY 50 mein aane se pehle ka aakhri din | Index, close ke paas | Swing | Sirf note: close ka volume index funds ka hai, breakout nahi | niftyindices.com, haan</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Aapka 30 din ka event calendar (template)</a:t>
            </a:r>
          </a:p>
          <a:p/>
          <a:p>
            <a:r>
              <a:t>Ise Google Sheet ya apni notebook mein copy kijiye. 'Source checked' tabhi tick kijiye jab aapne date official page par khud dekh li ho. Har Sunday ise update kijiye.</a:t>
            </a:r>
          </a:p>
          <a:p/>
          <a:p>
            <a:r>
              <a:t>Date | Event | Jagah, time | Kis par asar | Mera rule | Source checked</a:t>
            </a:r>
          </a:p>
          <a:p>
            <a:r>
              <a:t>+ 10 ___</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Calendar treasure hunt: 10 minute ka timer lagaiye aur official pages par teen dates dhoondhiye: NSE ki agli market holiday, RBI ka agla policy decision, aur apni watchlist ke kisi stock ki ek board meeting (ya confirm kijiye ki abhi koi announce nahi hui). Har source page ka screenshot le lijiye. Classmates ke saath answers milaiye; agar do logon ko alag dates mili hain, toh pata lagaiye ki kaunsa page sahi tha aur kyun. Akele hain? Agle Sunday apna hi time beat karke dikhaiye.</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Event calendar template</a:t>
            </a:r>
          </a:p>
          <a:p>
            <a:r>
              <a:t>Build a blank 30-day event calendar template for an Indian beginner who paper-trades NSE cash stocks with two strategies: an EMA pullback swing strategy that holds positions overnight, and an optional opening range breakout that is intraday only. Use six columns: Date, Event, Place and time (my stock / Indian market / index / world; during market hours / overnight), Strategy affected (swing / ORB / both / none), My rule, Source checked (Y/N). Include example rows, with the date left blank, for these event types: company results and board meetings, dividend/bonus/split ex-dates, RBI monetary policy decisions, the Union Budget, exchange holidays and special sessions, F&amp;O expiry days, NIFTY 50 index changes, US Federal Reserve decisions and US inflation and jobs reports. For each event type, name the official page where I can confirm the date, such as the NSE holiday list, the expiry list in the NSE option chain, NSE or BSE corporate announcements, NSE Indices press releases on niftyindices.com, the RBI press release, the official Union Budget announcement, the Federal Reserve's meeting calendar or the US Bureau of Labor Statistics release calendar. Mark expiry days and index-change days 'note only' unless I tell you otherwise. Do not fill in any dates yourself. If you mention a typical time of day, label it Guess and tell me where to confirm it. Do not recommend any stock, do not predict what any event will announce or how the market will move, and do not give buy or sell advice, targets or return expectations.</a:t>
            </a:r>
          </a:p>
          <a:p/>
          <a:p>
            <a:r>
              <a:t>Prompt 2: Event ya shor?</a:t>
            </a:r>
          </a:p>
          <a:p>
            <a:r>
              <a:t>I will paste up to 10 items I collected about the coming month: headlines, forwarded messages and my own notes. Before pasting, I will remove names, phone numbers, group names, links and any personal details. If an item tells me to buy or sell a stock, or gives a price target or a return, label it Kachra and do not discuss it as a trade. A dated company event, such as a results board meeting or an ex-date, is fine to sort. For each item, tell me: (1) is it a scheduled event with a date I can verify, or just noise; (2) place: one stock, the Indian market, or the world; (3) timing: during Indian market hours or overnight; (4) which kind of trade it matters for: an overnight swing trade, an intraday opening-range trade, or neither. Label every claim in your answer Fact (I can confirm it on an official site you name), Guess (plausible but unconfirmed) or Kachra (rumour, hype, or something nobody can know in advance, such as what a policy will announce). Do not predict outcomes or market direction, do not recommend any stock, and do not give buy or sell advice, targets or return expectations.</a:t>
            </a:r>
          </a:p>
          <a:p/>
          <a:p>
            <a:r>
              <a:t>Prompt 3: Big-day FOMO check</a:t>
            </a:r>
          </a:p>
          <a:p>
            <a:r>
              <a:t>Act as a calm trading-psychology coach. Ask me 5 short questions, one at a time, about how I feel and behave on big market days such as Budget day, an RBI policy day or a results day for a stock I follow: what I watch, whom I listen to, and what I did the last time I felt I might miss out. After my answers, summarise in plain words where FOMO is pulling me, and help me write one short line for my Rule Card that says what I will do instead of trading on such days. Do not ask for any personal or financial details, do not predict any event or market move, and do not give buy or sell advice, targets or return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ke paas Bharat Pumps Ltd ke 250 shares hain, Rs 800 par khareede, stop Rs 760 par, yaani 1R = Rs 10,000. Market band hone ke baad results aate hain, aur agli subah stock Rs 680 par khulta hai. Stop open par hi fill hota hai. Is trade mein kitna loss hua?</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Office se ek din ki chhutti par Aman ek liquid cash stock mein optional ORB paper par trade karta hai. Aaj RBI ka policy decision subah lagbhag 10 baje aana hai, aur uski opening range 9:15 se 9:30 ke beech banti hai. Ek samajhdaar no-trade list use kya kehti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Aapki swing position raat bhar hold hai. Kaunsa event uspar din ke jhatkon ki tarah nahi, balki agli subah ke open par gap bankar sabse zyada asar karega?</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AI chat aapko batati hai ki Kiran Foods Ltd 14 tareekh ko results announce karegi. Us date par no-trade rule mark karne se pehle aapko kya karna chahiye?</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saal baad Aman phir Budget day ki chhutti leta hai taaki ORB paper par trade kare, lekin uske calendar mein woh din ORB ke liye no-trade day mark hai, isliye woh bahar rehta hai. Close tak NIFTY 50 1% upar hai. Use journal mein yeh din kaise likhna chahiye?</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Aaj raat ka journal: Aapke naye calendar ki kaunsi date aapko sabse zyada kheenchti hai, aur kyun? Us din ka exact rule likhiye, aur giniye ki agle 30 din mein aapke rules kitne trading days block karte hain. Kya yeh aisi list hai jise aap sach mein maanenge?</a:t>
            </a:r>
          </a:p>
          <a:p/>
          <a:p>
            <a:r>
              <a:t>Aaj aapne market ke bade din unke aane se pehle hi kaagaz par utaar liye. Sunday ko shaanti se liya gaya faisla hi Budget wali subah aapko shaant rakhta hai.</a:t>
            </a:r>
          </a:p>
          <a:p/>
          <a:p>
            <a:r>
              <a:t>Agla: Day 20 · Trading psychology aur aapka Daily Routine Card</a:t>
            </a:r>
          </a:p>
          <a:p/>
          <a:p>
            <a:r>
              <a:t>Educational content only, not investment advice. Stage 1 uses virtual money only. Company names, dates and chart prices are made up for illustration; confirm real event dates and times on the official NSE, BSE, NSE Indices, RBI, government, US Federal Reserve or US Bureau of Labor Statistics page.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20: Trading psychology aur aapka Daily Routine Card</a:t>
            </a:r>
          </a:p>
          <a:p/>
          <a:p>
            <a:r>
              <a:t>Concept: Rules todne wale saat biases, aur unhe pakadne wala routine</a:t>
            </a:r>
          </a:p>
          <a:p>
            <a:r>
              <a:t>AI Lab: End-of-day process review: AI process check kare, trade kabhi na chune</a:t>
            </a:r>
          </a:p>
          <a:p>
            <a:r>
              <a:t>Mindset: Loss ke baad ka ego</a:t>
            </a:r>
          </a:p>
          <a:p/>
          <a:p>
            <a:r>
              <a:t>Aaj ke baad: Aaj ke baad aap trading rules todne wale saat biases pehchaan payenge aur har ek ka jawab likh payenge, journal mein apna sabse mehenga emotion dhoondh payenge, aisa kill-switch set kar payenge jo aasaani se na toote, chaar block wala Daily Routine Card chala payenge, aur pehchaan payenge ki kab trading jua banne lagi hai.</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Aaj hi sab wapas nikaal loonga</a:t>
            </a:r>
          </a:p>
          <a:p/>
          <a:p>
            <a:r>
              <a:t>(Thursday, raat 8 baje. Aman paper-trading sheet khol kar class call join karta hai. Aakhri do rows gehri laal hain.)</a:t>
            </a:r>
          </a:p>
          <a:p>
            <a:r>
              <a:t>Aman: Sir, kal mera Bharat Pumps wala trade stop par nikal gaya: minus Rs 10,000, theek 1R, plan ke hisaab se. Lekin laga jaise market ne mujhe bewakoof bana diya. Toh aaj subah, meeting ke beech, sab wapas nikaalne ke liye maine do aur stocks double size par khareed liye. Koi setup nahi tha. Lunch tak dono ka stop hit ho gaya.</a:t>
            </a:r>
          </a:p>
          <a:p>
            <a:r>
              <a:t>Mentor: Sirf aaj -4R, yaani aapke -2R daily stop ka dugna. Kal ko milakar -5R, yaani Rs 50,000 ka virtual paisa: weekly pause lag chuka hai, aur abhi sirf Thursday hai. Aman, ek sawaal. Pehle loss ke baad aap apna card follow kar rahe the, ya market ko galat saabit karne ki koshish kar rahe the?</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Aaj hi sab wapas nikaal loonga</a:t>
            </a:r>
          </a:p>
          <a:p/>
          <a:p>
            <a:r>
              <a:t>Aman: ...Galat saabit karne ki. Baat dil par lag gayi thi.</a:t>
            </a:r>
          </a:p>
          <a:p>
            <a:r>
              <a:t>Priya: Sir, maine bhi kuch aisa hi kiya, bas chhote level par. Mera stop hit hone wala tha, toh maine use neeche khiska diya, bas isliye ki journal mein loss na likhna pade. Kya yeh bhi wahi cheez hai?</a:t>
            </a:r>
          </a:p>
          <a:p>
            <a:r>
              <a:t>Mentor: Jad ek hi hai, bas shaakh alag. Loss jeb se zyada ego ko chubhta hai, isliye hum use mitaane ki koshish karte hain. Aaj hum ek aisa routine banayenge jo aapko usi pal pakad le, kyunki theek usi waqt willpower saath chhod deti hai.</a:t>
            </a:r>
          </a:p>
          <a:p/>
          <a:p>
            <a:r>
              <a:t>Seekh: Loss ek trade ki keemat hai, aapke baare mein faisla nahi. Routine shaant din par banaiye, taaki gusse wale din woh aapko bachaye.</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Loss ke baad ka ego: revenge trading</a:t>
            </a:r>
          </a:p>
          <a:p/>
          <a:p>
            <a:r>
              <a:t>Loss ek baar paisa leta hai aur doosri baar izzat, aur aksar izzat wali chot zyada dukhti hai. Ego yahan hamara woh hissa hai jise hamesha sahi saabit hona hai. Stop hit hote hi (ise stop-out kehte hain) ego ek jaldi wali jeet chahta hai jo loss ko mita de, aur hum revenge trade le lete hain: aisa trade jo paisa wapas nikaalne ke liye liya gaya, kisi rule ke setup ki wajah se nahi. Revenge trade aksar bada hota hai, jaldbaazi mein liya jaata hai, chart theek se dekhe bina, isliye aksar normal trade se zyada nuksaan kar deta hai. Ilaaj bhasha se shuru hota hai: 'main haar gaya' nahi, 'trade ne 1R khoya' kahiye. Aur Day 14 yaad rakhiye: har rule follow karke hua loss ek sahi trade hai.</a:t>
            </a:r>
          </a:p>
          <a:p/>
          <a:p>
            <a:r>
              <a:t>Udaharan: Ab Aman ke yeh do din uske card ke hisaab se dobara dekhiye. Uska hafta 0R se shuru hua tha; Day 19 wala Gupta Cement ka gap pichhle hafte ki baat thi. Kal ka stop: -1R, yaani Rs 10,000. Aaj koi setup nahi tha, toh card kehta hai: koi trade nahi, aur uska hafta -1R par rehta. Ego wala version: double size par do trade, har ek -2R, toh -1R - 2R - 2R = -5R, yaani Rs 50,000, aur Thursday tak poora weekly pause. Dono versions ke beech ka farq, Rs 40,000, market ne nahi kiya; yeh ego ka bill tha. Har stop-out ke baad ek simple cooling-off rule: chart band kijiye, journal row emotion tag ke saath bhariye, aur 10 minute rukiye; uske baad bhi sirf wahi trade jo kal raat ke plan card par pehle se hai. (Hisaab simple rakhne ke liye yahan R, Day 12 ke 0.1R per trade cost allowance se pehle ka hai.)</a:t>
            </a:r>
          </a:p>
          <a:p/>
          <a:p>
            <a:r>
              <a:t>Yaad rakhiye: Market ko pata bhi nahi ki aap hain. Stop-out ek kharcha hai, bezzati nahi.</a:t>
            </a:r>
          </a:p>
          <a:p/>
          <a:p>
            <a:r>
              <a:t>Slide par: Revenge ka chakkar · Kill-switch na ho, toh chautha box seedha doosre par wapas le jaata hai. -2R ka daily stop is chakkar ko kaat deta hai.</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FOMO aur overtrading: journal dushman ka naam batata hai</a:t>
            </a:r>
          </a:p>
          <a:p/>
          <a:p>
            <a:r>
              <a:t>FOMO yaani fear of missing out, matlab 'kahin yeh move chhoot na jaaye' wala darr: yeh aapko bina setup ke aise move mein ghusa deta hai jo pehle hi chal chuka hai. Yeh platform chhod chuki Mumbai local ke peeche bhaagne jaisa hai: pakad bhi sakte hain, gir bhi sakte hain, aur agli local kuch minute mein aa hi jaati hai. Overtrading ka matlab hai aapke rules jitne trade dete hain, usse zyada lena, aksar boriyat ya kuch karte rehne ki khujli mein, jaise bina bhookh ke snacks khaate rehna. Har extra trade costs aur slippage (Day 2) bharta hai, aur edge ke bina aapki expectancy neeche kheench leta hai (Day 3). Aapka dushman kaunsa hai, iska andaaza lagane ki zaroorat nahi. Day 12 se aapka journal har trade par emotion tag laga raha hai; har tag ka R jodiye, dushman khud saamne aa jaayega.</a:t>
            </a:r>
          </a:p>
          <a:p/>
          <a:p>
            <a:r>
              <a:t>Udaharan: Aman Day 12 se ab tak ke apne 20 paper trades jodta hai. Sirf 8 trade rule card se aaye, tag 'calm': +2.4R. Baaki 12 mein 6 FOMO trade (-2.1R), 4 'bore' wale (-1.6R) aur 2 'gussa' wale trade the, yaani aaj subah ke do revenge trade (-4.0R); kul milakar -7.7R. Uska total -5.3R hai, yaani -Rs 53,000 virtual paisa, jabki sirf 8 rule wale trade +2.4R dikhate hain. Swing plan par, jismein ek saath sirf teen trade khule reh sakte hain, do hafte se kam mein 20 trade khud ek ishaara hai: rule card ne sirf 8 diye. FOMO sabse zyada baar aata hai; gussa sabse mehenga hai, har trade par -2.0R.</a:t>
            </a:r>
          </a:p>
          <a:p/>
          <a:p>
            <a:r>
              <a:t>Yaad rakhiye: Kitne trade lene hain, yeh rules tay karte hain. Boriyat aur darr ko vote nahi milta.</a:t>
            </a:r>
          </a:p>
          <a:p/>
          <a:p>
            <a:r>
              <a:t>Slide par: Emotion tag ke hisaab se Aman ka R · Example ke liye 20 paper trades, bracket mein ginti; R, 0.1R cost allowance se pehle. Sirf calm, rule wale trades ne R joda.</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Rules ko modne wale chaar chupe biases</a:t>
            </a:r>
          </a:p>
          <a:p/>
          <a:p>
            <a:r>
              <a:t>Bias soch ka ek andar baitha shortcut hai, jo har insaan ko ek hi galat taraf kheenchta hai. Revenge, FOMO aur overtrading khule jaal hain; yeh chaar chupe hue hain. Sach kahein toh khule teen jazbaat se bani aadatein hain aur chupe chaar asli biases; short mein aaj hum saaton ko biases keh rahe hain. Loss aversion: behaviour par hui studies ke mutabik ek loss ka dard, utne hi gain ki khushi se lagbhag dugna hota hai, isliye loss book na karna pade, is chakkar mein hum stop khiska dete hain. Sunk cost: jo paisa doob chuka, uske chakkar mein hum sochte hain 'wapas aane tak hold kar leta hoon', jabki market ko hamara buying price pata hi nahi. Confirmation bias: entry ke baad hum sirf woh posts aur videos dhoondhte hain jo humse sehmat hon, baaki skip kar dete hain. Recency: pichhle teen trade hi poora sach lagne lagte hain, aur chhoti si losing streak ke baad hum rule chhod dete hain. Har bias ka ek likha hua jawab aapke card par hona chahiye, jo aapne shaant dimaag se tay kiya ho.</a:t>
            </a:r>
          </a:p>
          <a:p/>
          <a:p>
            <a:r>
              <a:t>Udaharan: Loss aversion: Priya ka Desai Power Ltd mein paper trade, 500 shares Rs 500 par (uski maximum planned entry bhi Rs 500 thi, isliye 25% cap ne theek 500 shares ki ijaazat di), stop Rs 480, yaani 1R = Rs 10,000. Rs 483 par usne stop khiska kar Rs 460 kar diya, 'thodi jagah dene ke liye'; price Rs 480 ke neeche gaya, phir Rs 460 ke bhi, aur loss hua 500 x Rs 40 = Rs 20,000, yaani 2R. Sunk cost: uska Sharma Textiles Ltd wala paper trade, 400 shares Rs 600 par, stop Rs 575, 15 din wale time exit par Rs 580 par khada hai, yaani 400 x Rs 20 = Rs 8,000 (0.8R) ka nuksaan. Mann kehta hai 'bas 600 wapas aa jaaye, tab tak hold'. Uska card poochhta hai: 'Agar yeh mere paas na hota, toh kya main ise aaj khareedti?' Koi setup nahi hai, toh woh exit kar deti hai: -0.8R, rule follow hua. Confirmation: Kiran Foods Ltd ke peeche bhaag kar entry lene ke baad Aman teen aise videos save karta hai jo uski taareef karte hain, aur company ki woh filing scroll karke nikal jaata hai jismein likha hai ki uske sabse bade customer ne orders ghata diye. Iska jawab dene wali card line: 'Har hafte, har khule trade ke khilaaf ek raay padhna, aur use uske Why-stop se milaana.' Recency: 40% win-rate par koi bhi teen trade lagataar haarne ka chance lagbhag 22% hai (0.6 x 0.6 x 0.6 = 0.216), isliye teen loss ki streak akele kisi rule ke baare mein bahut kam batati hai.</a:t>
            </a:r>
          </a:p>
          <a:p/>
          <a:p>
            <a:r>
              <a:t>Yaad rakhiye: Trade lene ke baad stop wahi rehta hai jahan plan card ne rakha tha. Loss se bachne ke liye use neeche kabhi mat khiskaiye.</a:t>
            </a:r>
          </a:p>
          <a:p/>
          <a:p>
            <a:r>
              <a:t>Slide par: Khiska hua stop · Plan wale stop Rs 480 ke paas exit hota toh -1R lagta. Stop khiskane ke baad Rs 460 ke paas exit -2R pada.</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Insaanon ka kill-switch: willpower nahi, design</a:t>
            </a:r>
          </a:p>
          <a:p/>
          <a:p>
            <a:r>
              <a:t>Day 9 ne aapko kill-switch diya tha: -2R par us din ke liye stop, aur hafte mein -5R par pause aur review. Ghar ke switchboard mein laga MCB sochiye, yaani chhota circuit breaker: wiring jalne se pehle hi trip ho jaata hai, aur usse koi behes nahi karta. Dikkat yeh hai ki apna switch aapko khud girana hai, theek us pal jab aapki samajh sabse kamzor hoti hai. Isliye willpower ke bharose mat rahiye; apna din aise design kijiye ki rule todne mein mehnat lage. Apne shareer ke liye bhi ek rule jodiye: gussa ho, tabiyat kharab ho ya neend poori na hui ho, toh koi naya trade nahi. Thaka hua dimaag achha risk manager nahi hota.</a:t>
            </a:r>
          </a:p>
          <a:p/>
          <a:p>
            <a:r>
              <a:t>Udaharan: Rs 10 lakh ki virtual capital par 1R = Rs 10,000, toh Aman apne card ke upar likhta hai: 'Daily stop: -Rs 20,000. Weekly pause: -Rs 50,000.' Phir woh apna din design karta hai. Office ke time chart aur paper-trading apps phone ki home screen se hat jaate hain, aur woh saare tip groups chhod deta hai. Alerts sirf kal raat ke plan card ke entry aur stop levels par lagte hain. Har order se pehle woh journal row kholta hai, baad mein nahi. Aur switch trip hote hi woh aur Priya ek-doosre ko message kar dete hain: 'aaj ke liye band'. Is sab ke liye us pal himmat nahi chahiye; sab kuch ek shaant Sunday ko tay ho chuka tha.</a:t>
            </a:r>
          </a:p>
          <a:p/>
          <a:p>
            <a:r>
              <a:t>Yaad rakhiye: Discipline us pal ki feeling nahi hai. Yeh pehle liya gaya, likha hua faisla hai.</a:t>
            </a:r>
          </a:p>
          <a:p/>
          <a:p>
            <a:r>
              <a:t>Slide par: Willpower vs design · Willpower nahi, design: din aisa banaiye ki sahi kaam hi aasaan kaam ho.</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Daily Routine Card: chaar block, har din</a:t>
            </a:r>
          </a:p>
          <a:p/>
          <a:p>
            <a:r>
              <a:t>Daily Routine Card ek page hai, screen ke paas ya phone mein photo ki tarah, jo batata hai ki kab kya karna hai. Ismein chaar block hain. Market khulne se pehle, 10 minute (maan lijiye 8:45 se 8:55, 9:00 ke pre-open se pehle): Day 19 ka calendar dekhiye ki aaj no-trade day toh nahi, kal ki journal line padhiye, apna daily stop likhiye, neend aur mood check kijiye, aur likhiye 'Aaj ka kaam: sirf card follow karna.' Market hours mein: sirf alerts aur checklist, na tip groups, na news debates. Close ke baad, 20 minute: journal bhariye (no-trade days bhi), poori ban chuki daily candles scan kijiye (Day 16), kisi setup ke liye kal ka plan card likh lijiye, aur end-of-day AI review chalaiye. Weekend par, 30 minute: hafte ka review kijiye; rule sirf tabhi badalta hai, likh kar, aur woh bhi 30 trades log hone ke baad hi (Day 12).</a:t>
            </a:r>
          </a:p>
          <a:p/>
          <a:p>
            <a:r>
              <a:t>Udaharan: Priya ka weekend block har Saturday wahi paanch sawaal poochta hai. Kul decisions mein se, no-trade days milakar, kitno mein har rule follow hua? Kis emotion tag ne sabse zyada R khaya? Daily stop ya weekly pause laga kya, aur maine use maana? Agle hafte kaunsi ek aadat sudhaarni hai? Maine kya achha kiya? Pehla card likhne mein use 25 minute lage. Ab har block utne hi time mein ho jaata hai jitna card par likha hai, aur jis din koi setup nahi, us din bhi card par tick lagta hai: no-trade day bhi rule follow karna hi hai. Uska poora bhara hua card aaj ke task mein hai, aur aapke liye ek khaali card bhi.</a:t>
            </a:r>
          </a:p>
          <a:p/>
          <a:p>
            <a:r>
              <a:t>Yaad rakhiye: Market khulne se pehle plan, session ke dauraan card, close ke baad review.</a:t>
            </a:r>
          </a:p>
          <a:p/>
          <a:p>
            <a:r>
              <a:t>Slide par: Card par ek din · Naukri wale swing traders pehla block kaam se pehle aur close ke baad wala block shaam ko karte hain. Time sirf ek template hai: apne din ke hisaab se badliye.</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Aapki protection checklist: paisa bhi bachaiye, mann bhi</a:t>
            </a:r>
          </a:p>
          <a:p/>
          <a:p>
            <a:r>
              <a:t>Paise ke liye paanch checks, sab Week 1 se. Kisi bhi adviser ya analyst ko paise dene se pehle sebi.gov.in par verify kijiye; paisa sirf usi registered naam wale account mein bhejiye, SEBI Check (Day 7) par check karke; OTP, TPIN ya password kabhi share mat kijiye; complaint pehle broker ya adviser ke apne grievance desk par, phir SCORES ya SMART ODR par; aur fraud ho toh cybercrime.gov.in ya 1930 par report kijiye. Mann ke liye bhi checks chahiye, kyunki trading chupchaap jua ban sakti hai aur kisi ko pata bhi nahi chalta. Warning signs yeh hain: trade ke liye udhaar lena, family se loss chhupana, loss ka peecha karna, positions ki wajah se neend na aana, aur office mein chhupke trade karna. Inmein se ek bhi dikhe, toh ek hafte ke liye trading band kijiye, kisi bharosemand insaan ko bataiye, aur phir bhi mann bhaari lage toh counsellor se baat kijiye, ya sarkar ki free mental-health helpline Tele-MANAS ko 14416 par call kijiye. Madad maangna mazbooti hai, kamzori nahi.</a:t>
            </a:r>
          </a:p>
          <a:p/>
          <a:p>
            <a:r>
              <a:t>Udaharan: Aman apne hafte ko imaandaari se dekhta hai: office meetings ke beech chhupke lagaye do trade, aur Rs 50,000 ka card loan lene ka khayal, 'asli paise se sab wapas nikaalne ke liye'. Yeh teen warning signs hain: loss ka peecha, office mein chhupke trade, aur udhaar ka plan. Woh poore ek hafte ke liye paper trading rok deta hai, jismein -5R wala weekly pause bhi aa jaata hai, Priya aur apne bade bhai ko bata deta hai, aur card par ek line jod deta hai: 'Trading ka paisa loan ya card se, kabhi nahi.' Stage 1 virtual paise par chalta hai, isliye aisi aadat pakadne ki isse sasti jagah koi nahi.</a:t>
            </a:r>
          </a:p>
          <a:p/>
          <a:p>
            <a:r>
              <a:t>Yaad rakhiye: Paise ko checks se bachaiye, mann ko logon se. Dono akele karne ki zaroorat nahi.</a:t>
            </a:r>
          </a:p>
          <a:p/>
          <a:p>
            <a:r>
              <a:t>Slide par: Agar warning sign dikhe · Tele-MANAS: 14416, free, 24x7, kai Indian bhashaon mein. Latest jaankari telemanas.mohfw.gov.in par dekhiye.</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Revenge trade: Loss wapas nikaalne ke liye liya gaya trade, kisi rule ke setup ki wajah se nahi. Aksar normal se bada aur jaldbaazi wala.</a:t>
            </a:r>
          </a:p>
          <a:p>
            <a:r>
              <a:t>FOMO: 'Kahin chhoot na jaaye' wala darr: bina setup ke aise move mein kood jaana jo pehle hi chal chuka hai.</a:t>
            </a:r>
          </a:p>
          <a:p>
            <a:r>
              <a:t>Loss aversion: Loss utne hi bade gain ki khushi se zyada dukhta hai, isliye hum loss book karne se bachte hain, jaise stop khiska kar.</a:t>
            </a:r>
          </a:p>
          <a:p>
            <a:r>
              <a:t>Sunk cost: Woh paisa jo ja chuka. Aaj ka faisla woh tay na kare, kyunki market ko aapka buying price pata hi nahi.</a:t>
            </a:r>
          </a:p>
          <a:p>
            <a:r>
              <a:t>Confirmation bias: Trade lene ke baad sirf wahi views dhoondhna jo aapse sehmat hon.</a:t>
            </a:r>
          </a:p>
          <a:p>
            <a:r>
              <a:t>Recency bias: Pichhle kuch trades ko zaroorat se zyada weight dena, jaise teen loss ke baad rule chhod dena.</a:t>
            </a:r>
          </a:p>
          <a:p>
            <a:r>
              <a:t>Daily Routine Card: Ek page jo batata hai ki kab kya karna hai: upar aapka kill-switch, chaar time wale block, saaton biases ka likha hua jawab, aur aapki protection checklist.</a:t>
            </a:r>
          </a:p>
          <a:p>
            <a:r>
              <a:t>Insaano ka kill-switch: Din ka likha hua stop (-2R) aur hafte ka pause (-5R), rupees mein, jo ek shaant din tay kiya gaya ho, taaki loss ki garmi mein kabhi tay na karna pade.</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Mann aur routine</a:t>
            </a:r>
          </a:p>
          <a:p>
            <a:r>
              <a:t>Teen khule dushman: Revenge: wapas nikaalne wale trade; FOMO: nikal chuke move ka peecha; Overtrading: boriyat ke trade; Journal tags dushman batate hain</a:t>
            </a:r>
          </a:p>
          <a:p>
            <a:r>
              <a:t>Chaar chupe dushman: Loss aversion: khiska hua stop; Sunk cost: 'wapas aane tak'; Confirmation: sirf sehmat views; Recency: teen trade se faisla</a:t>
            </a:r>
          </a:p>
          <a:p>
            <a:r>
              <a:t>Kill-switch: -2R: aaj ke liye bas; -5R: pause aur review; Gussa, bimaari, thakaan: trade nahi; Willpower nahi, design</a:t>
            </a:r>
          </a:p>
          <a:p>
            <a:r>
              <a:t>Routine Card: Market khulne se pehle: 10 minute; Market hours: sirf alerts; Close ke baad: journal, plan, AI review; Weekend: paanch sawaal</a:t>
            </a:r>
          </a:p>
          <a:p>
            <a:r>
              <a:t>Protection: Paise se pehle SEBI check; OTP aur TPIN sirf aapke paas; Warning sign: rukiye, bataiye, madad lijiye</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Apna Daily Routine Card banaiye: sabse mehenga emotion dhoondhiye, kill-switch rupees mein set kijiye, saaton biases ka jawab likhiye aur protection checklist jodiye.</a:t>
            </a:r>
          </a:p>
          <a:p/>
          <a:p>
            <a:r>
              <a:t>1. Apni Day 12 wali journal sheet (Google Sheets) kholiye. Day 12 se har emotion tag ka R jodiye aur trades giniye, phir divide karke har trade ka R nikaaliye. Jis tag ne har trade par sabse zyada R khaya, use highlight kar dijiye.</a:t>
            </a:r>
          </a:p>
          <a:p>
            <a:r>
              <a:t>2. Aaj ke task ka khaali Daily Routine Card ek page ya Google Sheet par copy kijiye, aur chaaron block apne time ke saath bhariye: market khulne se pehle, market hours, close ke baad aur weekend.</a:t>
            </a:r>
          </a:p>
          <a:p>
            <a:r>
              <a:t>3. Card ke upar apna kill-switch rupees aur R dono mein likhiye: Rs 10 lakh par daily stop -Rs 20,000 (-2R) aur weekly pause -Rs 50,000 (-5R), saath mein body rule: gussa, bimaari ya kam neend ho toh koi naya trade nahi.</a:t>
            </a:r>
          </a:p>
          <a:p>
            <a:r>
              <a:t>4. Uske neeche saaton ka ek-ek line mein jawab apne shabdon mein likhiye, jaise 'Stop-out ke baad 10 minute chart band' (revenge), 'Setup nahi toh trade nahi' (FOMO, overtrading), 'Mera buying price koi level nahi' (sunk cost) aur 'Rule ka faisla sirf 30 trades ke baad' (recency). Priya ke card mein saaton hain.</a:t>
            </a:r>
          </a:p>
          <a:p>
            <a:r>
              <a:t>5. Sabse neeche Priya ke card se paise ke paanch checks aur warning signs copy kijiye, saath mein Tele-MANAS 14416.</a:t>
            </a:r>
          </a:p>
          <a:p>
            <a:r>
              <a:t>6. AI Lab ka 'End-of-day process review' prompt is hafte ki journal rows par chalaiye: market band ho chuka ho toh abhi, warna aaj shaam 3:30 ke baad. Sirf journal ke das columns paste kijiye; naam, account number ya koi personal detail kabhi nahi.</a:t>
            </a:r>
          </a:p>
          <a:p/>
          <a:p>
            <a:r>
              <a:t>Aaj ke baad: Aaj ke baad aap trading rules todne wale saat biases pehchaan payenge aur har ek ka jawab likh payenge, journal mein apna sabse mehenga emotion dhoondh payenge, aisa kill-switch set kar payenge jo aasaani se na toote, chaar block wala Daily Routine Card chala payenge, aur pehchaan payenge ki kab trading jua banne lagi hai.</a:t>
            </a:r>
          </a:p>
          <a:p/>
          <a:p>
            <a:r>
              <a:t>Tools: Aapki Day 12 wali journal sheet (Google Sheets); Card ke liye paper ya Google Sheets; Koi bhi AI chat; SEBI website (sebi.gov.in) aur Tele-MANAS (14416)</a:t>
            </a:r>
          </a:p>
          <a:p/>
          <a:p>
            <a:r>
              <a:t>Educational content only, not investment advice and not counselling. Company names, prices and paper results in this lesson are made up for illustration; paper results are hypothetical, and past performance is not indicative of future results. For mental-health support, call Tele-MANAS on 14416.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Apna Daily Routine Card banaiye: sabse mehenga emotion dhoondhiye, kill-switch rupees mein set kijiye, saaton biases ka jawab likhiye aur protection checklist jodiye.</a:t>
            </a:r>
          </a:p>
          <a:p/>
          <a:p>
            <a:r>
              <a:t>1. Apni Day 12 wali journal sheet (Google Sheets) kholiye. Day 12 se har emotion tag ka R jodiye aur trades giniye, phir divide karke har trade ka R nikaaliye. Jis tag ne har trade par sabse zyada R khaya, use highlight kar dijiye.</a:t>
            </a:r>
          </a:p>
          <a:p>
            <a:r>
              <a:t>2. Aaj ke task ka khaali Daily Routine Card ek page ya Google Sheet par copy kijiye, aur chaaron block apne time ke saath bhariye: market khulne se pehle, market hours, close ke baad aur weekend.</a:t>
            </a:r>
          </a:p>
          <a:p>
            <a:r>
              <a:t>3. Card ke upar apna kill-switch rupees aur R dono mein likhiye: Rs 10 lakh par daily stop -Rs 20,000 (-2R) aur weekly pause -Rs 50,000 (-5R), saath mein body rule: gussa, bimaari ya kam neend ho toh koi naya trade nahi.</a:t>
            </a:r>
          </a:p>
          <a:p>
            <a:r>
              <a:t>4. Uske neeche saaton ka ek-ek line mein jawab apne shabdon mein likhiye, jaise 'Stop-out ke baad 10 minute chart band' (revenge), 'Setup nahi toh trade nahi' (FOMO, overtrading), 'Mera buying price koi level nahi' (sunk cost) aur 'Rule ka faisla sirf 30 trades ke baad' (recency). Priya ke card mein saaton hain.</a:t>
            </a:r>
          </a:p>
          <a:p>
            <a:r>
              <a:t>5. Sabse neeche Priya ke card se paise ke paanch checks aur warning signs copy kijiye, saath mein Tele-MANAS 14416.</a:t>
            </a:r>
          </a:p>
          <a:p>
            <a:r>
              <a:t>6. AI Lab ka 'End-of-day process review' prompt is hafte ki journal rows par chalaiye: market band ho chuka ho toh abhi, warna aaj shaam 3:30 ke baad. Sirf journal ke das columns paste kijiye; naam, account number ya koi personal detail kabhi nahi.</a:t>
            </a:r>
          </a:p>
          <a:p/>
          <a:p>
            <a:r>
              <a:t>Aaj ke baad: Aaj ke baad aap trading rules todne wale saat biases pehchaan payenge aur har ek ka jawab likh payenge, journal mein apna sabse mehenga emotion dhoondh payenge, aisa kill-switch set kar payenge jo aasaani se na toote, chaar block wala Daily Routine Card chala payenge, aur pehchaan payenge ki kab trading jua banne lagi hai.</a:t>
            </a:r>
          </a:p>
          <a:p/>
          <a:p>
            <a:r>
              <a:t>Tools: Aapki Day 12 wali journal sheet (Google Sheets); Card ke liye paper ya Google Sheets; Koi bhi AI chat; SEBI website (sebi.gov.in) aur Tele-MANAS (14416)</a:t>
            </a:r>
          </a:p>
          <a:p/>
          <a:p>
            <a:r>
              <a:t>Educational content only, not investment advice and not counselling. Company names, prices and paper results in this lesson are made up for illustration; paper results are hypothetical, and past performance is not indicative of future results. For mental-health support, call Tele-MANAS on 14416.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 ka Daily Routine Card: uska din (model)</a:t>
            </a:r>
          </a:p>
          <a:p/>
          <a:p>
            <a:r>
              <a:t>Rs 10 lakh ki virtual capital par 1R = Rs 10,000. Priya ke office hours mein live ORB mumkin nahi, isliye uska card swing trading ke liye bana hai, aur close ke baad wala block shaam 7 baje hai.</a:t>
            </a:r>
          </a:p>
          <a:p/>
          <a:p>
            <a:r>
              <a:t>Hissa | Kab | Woh kya karti hai</a:t>
            </a:r>
          </a:p>
          <a:p>
            <a:r>
              <a:t>Daily stop | -2R | -Rs 20,000 par: kal tak screen band</a:t>
            </a:r>
          </a:p>
          <a:p>
            <a:r>
              <a:t>Weekly pause | -5R | -Rs 50,000 par: koi naya trade nahi; weekend par review</a:t>
            </a:r>
          </a:p>
          <a:p>
            <a:r>
              <a:t>Body rule | Har subah | Gussa, bimaari ya kam neend: aaj koi naya trade nahi</a:t>
            </a:r>
          </a:p>
          <a:p>
            <a:r>
              <a:t>Market khulne se pehle | 8:45-8:55 | Day 19 calendar: aaj no-trade day? Kal ki journal line. Daily stop rupees mein. Neend aur mood. 'Aaj ka kaam: card follow karna.'</a:t>
            </a:r>
          </a:p>
          <a:p>
            <a:r>
              <a:t>Market hours | 9:15-15:30 | Sirf plan card ke levels par alerts aur checklist. Na tip groups, na news debates.</a:t>
            </a:r>
          </a:p>
          <a:p>
            <a:r>
              <a:t>Close ke baad | 19:00-19:20 | Journal row (no-trade days bhi), daily close scan, kal ka plan card, end-of-day AI review</a:t>
            </a:r>
          </a:p>
          <a:p>
            <a:r>
              <a:t>Weekend | Saturday, 30 minute | Paanch sawaal. Rule sirf yahin badalta hai, likh kar, 30 trades ke baad.</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 ka card: saat jawab aur uski protection checklist (model)</a:t>
            </a:r>
          </a:p>
          <a:p/>
          <a:p>
            <a:r>
              <a:t>Saat jawab apne shabdon mein likhiye. Paise ke paanch checks aur warning signs sabke liye ek jaise hain: unhe waise hi copy kijiye.</a:t>
            </a:r>
          </a:p>
          <a:p/>
          <a:p>
            <a:r>
              <a:t>Kisse bachaav | Uske card ki line</a:t>
            </a:r>
          </a:p>
          <a:p>
            <a:r>
              <a:t>Revenge | Har stop-out ke baad: chart band, journal row bhari, 10 minute ruko; phir sirf wahi trade jo kal raat ke plan card par pehle se hai</a:t>
            </a:r>
          </a:p>
          <a:p>
            <a:r>
              <a:t>FOMO | Setup nahi toh trade nahi. Chhoota hua move journal mein jaata hai, order mein nahi.</a:t>
            </a:r>
          </a:p>
          <a:p>
            <a:r>
              <a:t>Overtrading | Trade sirf shaam ke scan aur plan card se; 3 se zyada khule kabhi nahi</a:t>
            </a:r>
          </a:p>
          <a:p>
            <a:r>
              <a:t>Loss aversion | Mera stop wahin rahega jahan plan card ne rakha</a:t>
            </a:r>
          </a:p>
          <a:p>
            <a:r>
              <a:t>Sunk cost | Mera buying price koi level nahi. Time exit par poochhti hoon: kya main ise aaj khareedti?</a:t>
            </a:r>
          </a:p>
          <a:p>
            <a:r>
              <a:t>Confirmation | Har hafte, har khule trade ke khilaaf ek raay, uske Why-stop se milakar</a:t>
            </a:r>
          </a:p>
          <a:p>
            <a:r>
              <a:t>Recency | Rule ka faisla sirf 30 trades ke baad</a:t>
            </a:r>
          </a:p>
          <a:p>
            <a:r>
              <a:t>Paisa: nakli adviser | Paisa dene se pehle har adviser ya analyst ko sebi.gov.in par verify karo</a:t>
            </a:r>
          </a:p>
          <a:p>
            <a:r>
              <a:t>Paisa: galat payee | Sirf registered naam wale account mein paisa, SEBI Check par check karke</a:t>
            </a:r>
          </a:p>
          <a:p>
            <a:r>
              <a:t>Paisa: account par kabza | OTP, TPIN aur password kabhi kisi ko nahi</a:t>
            </a:r>
          </a:p>
          <a:p>
            <a:r>
              <a:t>Paisa: koi jhagda | Pehle grievance desk, phir SCORES, phir SMART ODR</a:t>
            </a:r>
          </a:p>
          <a:p>
            <a:r>
              <a:t>Paisa: fraud | cybercrime.gov.in par report ya turant 1930 par call</a:t>
            </a:r>
          </a:p>
          <a:p>
            <a:r>
              <a:t>Mann: warning signs | Udhaar, loss chhupana, peecha karna, neend udna, chhupke trading: ek hafta ruko, kisi ko batao, Tele-MANAS 14416</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Aapka Daily Routine Card (template)</a:t>
            </a:r>
          </a:p>
          <a:p/>
          <a:p>
            <a:r>
              <a:t>Har row apne shabdon mein bhariye, aur chaaron block ke liye apna time likhiye. Ise print kijiye ya photo chart ke paas rakhiye, aur sabse neeche Priya ke card se paise ke checks aur warning signs jodiye.</a:t>
            </a:r>
          </a:p>
          <a:p/>
          <a:p>
            <a:r>
              <a:t>Hissa | Meri line, time ke saath</a:t>
            </a:r>
          </a:p>
          <a:p>
            <a:r>
              <a:t>Daily stop | </a:t>
            </a:r>
          </a:p>
          <a:p>
            <a:r>
              <a:t>Weekly pause | </a:t>
            </a:r>
          </a:p>
          <a:p>
            <a:r>
              <a:t>Body rule | </a:t>
            </a:r>
          </a:p>
          <a:p>
            <a:r>
              <a:t>Market khulne se pehle | </a:t>
            </a:r>
          </a:p>
          <a:p>
            <a:r>
              <a:t>Market hours | </a:t>
            </a:r>
          </a:p>
          <a:p>
            <a:r>
              <a:t>Close ke baad | </a:t>
            </a:r>
          </a:p>
          <a:p>
            <a:r>
              <a:t>Weekend | </a:t>
            </a:r>
          </a:p>
          <a:p>
            <a:r>
              <a:t>Revenge | </a:t>
            </a:r>
          </a:p>
          <a:p>
            <a:r>
              <a:t>FOMO | </a:t>
            </a:r>
          </a:p>
          <a:p>
            <a:r>
              <a:t>Overtrading | </a:t>
            </a:r>
          </a:p>
          <a:p>
            <a:r>
              <a:t>Loss aversion | </a:t>
            </a:r>
          </a:p>
          <a:p>
            <a:r>
              <a:t>Sunk cost | </a:t>
            </a:r>
          </a:p>
          <a:p>
            <a:r>
              <a:t>Confirmation | </a:t>
            </a:r>
          </a:p>
          <a:p>
            <a:r>
              <a:t>Recency |</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'Yeh kaunsa bias hai?' Yeh aath trader confessions parchiyon par likhiye. 1: 'Bas is baar stop khiska diya, thodi jagah dene ke liye.' 2: 'Subah 1R gaya, toh lunch se pehle wapas nikaalne ke liye size double kar diya.' 3: 'Group mein sab khareed rahe the, toh bina setup 11 baje kood gaya.' 4: 'Market dheema tha, toh bas kuch karne ke liye teen chhote trade le liye.' 5: 'Jab tak mera buying price wapas nahi aata, nahi bechunga.' 6: 'Main sirf woh channels dekhta hoon jinhe mera stock pasand hai; negative wale toh bas jalte hain.' 7: 'Lagataar teen loss, yeh strategy bekaar hai; kal se badal raha hoon.' 8: 'Chhota sa card loan le leta hoon, asli paise se sab wapas nikaal lunga.' Classmates ya family ke saath baari-baari ek parchi padhiye; baaki log bias ka naam aur card ki woh line batayein jo iska jawab hai. Parchi 8 bias nahi, warning sign hai: iska jawab hai ek hafte ke liye rukna, kisi ko batana, aur mann bhaari lage toh Tele-MANAS 14416 par call karna. Akele hain? Parchiyan baantiye, har parchi ke peeche jawab likhiye, phir Priya ke card se milaiye.</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End-of-day process review</a:t>
            </a:r>
          </a:p>
          <a:p>
            <a:r>
              <a:t>You are my end-of-day process reviewer, not a market analyst. I paper-trade with virtual money. I will paste this week's journal rows with these ten columns: Date, Stock, Setup, Entry, Stop, Qty, Exit, R result, Rule broken?, Emotion (one of calm, FOMO, fear, bored, angry, overconfident). My kill-switch: daily stop at -2R, weekly pause at -5R. Reply in exactly five short lines: (1) rules followed vs broken, as a count; (2) the emotion tag most linked to a broken rule; (3) whether the daily stop or the weekly pause should have fired, and after which row; (4) one specific behaviour to change tomorrow; (5) one thing I did well. Label each line Fact (read directly from my rows) or Guess (your inference). If a field is missing, ask me instead of assuming. Do not comment on rupee profit or loss, do not suggest any stock, trade, entry, target or expected return for tomorrow, and do not give buy or sell advice. I will not paste names, account numbers or other personal details, so do not ask for them.</a:t>
            </a:r>
          </a:p>
          <a:p/>
          <a:p>
            <a:r>
              <a:t>Prompt 2: Yeh kaunsa bias hai?</a:t>
            </a:r>
          </a:p>
          <a:p>
            <a:r>
              <a:t>Act as a calm trading-psychology coach for an Indian beginner who paper-trades with virtual money. Give me 8 short, made-up trader confessions, one at a time, for example 'I moved my stop lower just this once'. After each one, wait for my answer on which bias it shows: revenge trading, FOMO, overtrading, loss aversion, sunk cost, confirmation bias or recency bias. Then tell me whether I was right, explain in two simple sentences, and suggest one written rule that would prevent it. At the end, list the biases I missed most often. Use only made-up company names. Do not ask for personal or financial details, and do not give buy or sell advice, targets or return expectations.</a:t>
            </a:r>
          </a:p>
          <a:p/>
          <a:p>
            <a:r>
              <a:t>Prompt 3: Mere Routine Card ka stress-test</a:t>
            </a:r>
          </a:p>
          <a:p>
            <a:r>
              <a:t>Here is my Daily Routine Card for paper trading with virtual money: &lt;paste your card&gt;. Act as a strict but kind reviewer. For each block (before the bell, market hours, after the close, weekend), point out any step that is vague, depends on willpower instead of design, or would be easy to skip on a bad day, and suggest a more concrete version. Check that my kill-switch is written in both rupees and R, that I have a rule against trading when angry, unwell or short of sleep, and that my protection checklist and warning signs are included. Label each point Fact (it is in my card, or clearly missing from it) or Guess (your assumption about my habits). If my card contains a belief that sounds like a myth, such as 'I will stop when I feel it is enough', label it Kachra and explain why. Do not suggest any stock, trade idea, target or expected return, and do not give buy or sell advice.</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classmate ka Day 12 se journal: 10 calm trades ne +3.0R kamaya, 6 FOMO trades ne 2.4R ganwaya, aur 2 'gussa' wale trades ne, jo dono revenge trade the, 3.0R ganwaya. Kaunsi baat sahi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classmate Rs 300 par 400 shares khareedta hai, stop Rs 275 par, yaani 1R = Rs 10,000. Rs 276 ke paas woh stop neeche khiska kar Rs 250 kar deta hai, aur baad mein trade wahin exit hota hai. Stop khiskane ki keemat kya padi?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Maan lijiye kisi rule ke har trade ke jeetne ka chance lagbhag 40% hai. Rule abhi lagataar teen trade haara hai, aur Aman use chhodna chahta hai. Maths kya kehti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baar-baar apna -2R daily stop tod deta hai. 'Willpower nahi, design' ki sabse achhi misaal kaunsa badlaav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dost Priya ko apne mahine ke baare mein batata hai. Inmein se kaunsi baat warning sign hai ki trading jua ban rahi hai, aur rukne aur kisi ko batane ka waqt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Aaj raat ka journal: Ab tak ka apna sabse bura trading pal yaad kijiye, paper par ya asli. Usse theek pehle aapke ego ne kya kaha tha, bilkul unhi shabdon mein? Aapke naye card ki kaunsi line aapko rok leti? Aur kya is hafte aapne khud mein koi warning sign dekha?</a:t>
            </a:r>
          </a:p>
          <a:p/>
          <a:p>
            <a:r>
              <a:t>Yeh card aapne ek shaant din par likha. Gusse wale din yahi card aapke rules yaad rakhega.</a:t>
            </a:r>
          </a:p>
          <a:p/>
          <a:p>
            <a:r>
              <a:t>Agla: Day 21 · Finale: Week 3 ka review, aapka certificate aur Stage 2 ka raasta</a:t>
            </a:r>
          </a:p>
          <a:p/>
          <a:p>
            <a:r>
              <a:t>Educational content only, not investment advice and not counselling. Company names, prices and paper results in this lesson are made up for illustration; paper results are hypothetical, and past performance is not indicative of future results. For mental-health support, call Tele-MANAS on 14416.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21: Finale: Week 3 ka review, aapka certificate aur Stage 2 ka raasta</a:t>
            </a:r>
          </a:p>
          <a:p/>
          <a:p>
            <a:r>
              <a:t>Concept: Week 3 ek system ki tarah, process par tika result, certificate ki shartein aur Stage 2 ka raasta</a:t>
            </a:r>
          </a:p>
          <a:p>
            <a:r>
              <a:t>AI Lab: Aakhri journal review: AI ginti kare, habits aap chunein</a:t>
            </a:r>
          </a:p>
          <a:p>
            <a:r>
              <a:t>Mindset: Finish line wala overconfidence</a:t>
            </a:r>
          </a:p>
          <a:p/>
          <a:p>
            <a:r>
              <a:t>Aaj ke baad: Aaj ke baad aap ek stock ko Week 3 ke saare rules se guzaar payenge, 'hum aapke liye trade karenge' wala offer pehchaan payenge, Day 12 se apni paper trading ko process par score kar payenge, certificate ke chhe checks gina payenge, A/C/D guide se Portfolio row ko grade kar payenge, bata payenge ki Stage 1 ki har skill ko Stage 2 ka kaunsa chapter aage le jaata hai, aur samjha payenge ki course khatam karna real paise ke liye ready hona nahi hai.</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khatam, toh main ready hoon?</a:t>
            </a:r>
          </a:p>
          <a:p/>
          <a:p>
            <a:r>
              <a:t>(Sunday shaam, Stage 1 ki aakhri weekend call. Aman late join karta hai, phone par kuch padhte hue.)</a:t>
            </a:r>
          </a:p>
          <a:p>
            <a:r>
              <a:t>Tip-wala: Course complete karne ki badhai! Ab hamara AI algo aapke liye options trade karega. Bas apna login ID aur ek OTP share kijiye. Har mahine 5%, assured. Zero mehnat. Sirf 10 seats bachi hain.</a:t>
            </a:r>
          </a:p>
          <a:p>
            <a:r>
              <a:t>Aman: Sir, aaj course khatam ho gaya, certificate bhi apne aap aa jayega. Das din ki paper trading kaafi hai na? Yeh algo toh office mein baithe-baithe chal jayega.</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khatam, toh main ready hoon?</a:t>
            </a:r>
          </a:p>
          <a:p/>
          <a:p>
            <a:r>
              <a:t>Priya: Sir, mere backtest mein 30 trades hain aur paper log mein sirf 7. Certificate milne ke baad hum asal mein kya kar sakte hain?</a:t>
            </a:r>
          </a:p>
          <a:p>
            <a:r>
              <a:t>Mentor: Dono ke sawaal achhe hain. Aman, Day 16 mein legal algo ke liye kya chahiye tha: kaunsa broker, kaunsa Algo-ID? Is message mein dono nahi hain, aur yeh aapka OTP maang raha hai. Koi anjaan aadmi badhai de de, toh kya aap use ghar ki chaabi de denge?</a:t>
            </a:r>
          </a:p>
          <a:p>
            <a:r>
              <a:t>Mentor: Aaj hum Week 3 ko ek baar palat kar dekhenge, certificate ka asli matlab samjhenge, likhenge ki real paise ke baare mein sochne se pehle kaun-kaun si shartein poori honi chahiye, aur dekhenge ki Stage 2 har skill ko aage kahan le jaata hai. Course khatam karna ek baat hai. Ready hona doosri.</a:t>
            </a:r>
          </a:p>
          <a:p/>
          <a:p>
            <a:r>
              <a:t>Seekh: Certificate batata hai ki aapne basics seekh liye. Ready hain ya nahi, yeh dheere-dheere dikhta hai, us routine mein jo aap nibhate hain.</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 3 ek shaam mein</a:t>
            </a:r>
          </a:p>
          <a:p/>
          <a:p>
            <a:r>
              <a:t>Week 3 ne aapke rules ko ek system bana diya. Day 15 mein aapne 5 checks wala health filter seekha, aur dekha ki dividend, bonus ya split jaise corporate actions ex-date par price ko kaise badal dete hain. Day 16 ne rule card ko yes/no flowchart mein badal diya, aur aise alerts diye jo sirf 'ab dekhiye' kehte hain. Day 17 mein aapne rule ko haath se 30 trades par test kiya, R mein, costs ke baad. Day 18 ne F&amp;O samjhaya, par darwaza band hi rehta hai: samjho, khelo mat. Day 19 ne woh din mark kiye jab aap bahar rehte hain, aur Day 20 ne sab kuch ek Daily Routine Card par rakh diya, ek din mein -2R ke baad kill-switch ke saath. Quiz Game 3 aur final exam aapki seekhi hui cheezein check karte hain.</a:t>
            </a:r>
          </a:p>
          <a:p/>
          <a:p>
            <a:r>
              <a:t>Udaharan: Shaam 7 baje, market band hone ke baad. Priya ke screener mein Kiran Foods Ltd aata hai. Paanchon health checks pass, aur uske corporate actions page par aisa koi bonus ya split nahi jo chart par nakli move dikhaye. Flowchart: EMA 20, badhte hue EMA 50 ke upar hai; Rs 470 ka close, Rs 464 wale EMA 20 ke upar hai aur usse 2% ke andar; RSI 14 hai 46; 3 mahine mein yeh NIFTY 50 se aage hai; aur aaj ka close kal ke high ke upar hai. Har chart box yes kehta hai, aur rule ke peeche uska haath se bana 30 trades ka backtest bhi hai. Phir calendar: quarterly results 3 trading days mein aane wale hain, isliye box 2, yaani uske Day 11 card se aaya results gate, no kehta hai: results agle 15 trading days mein hon toh koi nayi swing entry nahi. Woh journal mein likhti hai 'Setup valid tha, skip kiya: results rule', aur 7:20 par laptop band kar deti hai.</a:t>
            </a:r>
          </a:p>
          <a:p/>
          <a:p>
            <a:r>
              <a:t>Yaad rakhiye: System matlab saare rules ek saath. Kisi bhi hafte ke kisi bhi rule ka ek NO, yaani no trade.</a:t>
            </a:r>
          </a:p>
          <a:p/>
          <a:p>
            <a:r>
              <a:t>Slide par: Week 3, ek shaam mein · Kahin bhi ek NO aaya, toh chain wahin khatam. Valid setup ko sahi wajah se chhodna bhi rule follow karna hai.</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Shortcut Trap #3: 'hum aapke liye trade karenge'</a:t>
            </a:r>
          </a:p>
          <a:p/>
          <a:p>
            <a:r>
              <a:t>Course khatam hote hi ek naye type ka offer aane lagta hai. Copy-trading ka matlab hai ki aapka account kisi aur ke trades apne aap copy karta hai; 'account handling' ka matlab hai ki koi anjaan aapke account mein trade karta hai; aur ek 'fully automatic' algo fees ya profit share ke badle wahin chalta hai. Maang lagbhag hamesha ek hi hoti hai: aapka login ID aur password, 'bas ek baar' OTP, ya woh TPIN jisse demat se shares bechne ki approval jaati hai. Jiske paas yeh aa gaye, woh aapke naam se koi bhi order laga sakta hai, aur har loss aapka hi rehta hai. Offer ko Day 16 ke road rules se check kijiye: legal algo aapke broker ke through, exchange ke Algo-ID ke saath chalta hai; algo bechne walon ka exchange se empanelled, yaani approved aur listed, hona zaroori hai; aur black-box bechne walon ko SEBI-registered Research Analyst bhi hona padta hai. Registered advisers aur analysts returns ka vada nahi kar sakte, isliye har mahine ka tay figure khud ek red flag hai. Yeh rules badal sakte hain, isliye sebi.gov.in aur nseindia.com par check kar lijiye.</a:t>
            </a:r>
          </a:p>
          <a:p/>
          <a:p>
            <a:r>
              <a:t>Udaharan: Aman ki story wala message lijiye. '5% mahina' sunne mein chhota lagta hai, lekin saal bhar compound karein toh barah 1.05 aapas mein guna hote hain, lagbhag 1.80: yaani saal ka qareeb 80%, aur ek bhi ghate wala mahina nahi. Day 17 mein Priya ke imaandaar 30 trades wale backtest ke andar bhi 6.23R ka drawdown tha; jis record mein ek bhi bura mahina na ho, woh wahi Day 14 wala brochure hai. Aur login aur OTP se ek anjaan aadmi Aman ke account mein options trade kar sakta hai, jabki Stage 1 mein F&amp;O ka ek bhi trade nahi hota, paper par bhi nahi. Aman kuch share nahi karta, screenshot rakh leta hai, number block kar deta hai aur message ko cybercrime.gov.in par report kar deta hai; paisa chala gaya hota toh turant 1930 par call bhi karta.</a:t>
            </a:r>
          </a:p>
          <a:p/>
          <a:p>
            <a:r>
              <a:t>Yaad rakhiye: Login, OTP aur TPIN kabhi aapke paas se bahar nahi jaate. Jise 'madad' ke liye inki zaroorat ho, wahi trap hai.</a:t>
            </a:r>
          </a:p>
          <a:p/>
          <a:p>
            <a:r>
              <a:t>Slide par: Offer vs aapke checks · Mana karne ke liye ek fail check hi kaafi hai. Stage 1 mein koi automated order lagta hi nahi.</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Aapka challenge result ek process score hai</a:t>
            </a:r>
          </a:p>
          <a:p/>
          <a:p>
            <a:r>
              <a:t>Day 12 se aapka paper account upar gaya ho ya neeche, challenge us number ko jaan-boojh kar ignore karta hai. Lagbhag das dinon mein aapne shayad 5 se 20 paper trades log kiye hain, jo kisi rule ko judge karne ke liye zaroori 30 se bhi kam hain; itne kam trades ka profit ya loss zyadatar luck hi hota hai. Aapka challenge score, 1,000 points mein se, sirf un cheezon se banta hai jo aapke haath mein hain: attendance, quizzes, exams, mentor ka grade kiya hua practice kaam, aur discipline, jaise time par weekly review aur imaandaar galti log. Points ka batwara: attendance 200, quizzes 200, exams 250, practice kaam 250, discipline 100. Paper profit ka ek bhi point nahi milta. Apne review ke liye Day 12 wala adherence score use kijiye: jo decisions aapke likhe rules ke hisaab se hue, unhe saare decisions se divide kijiye; likhe rule ki wajah se chhoda gaya setup, ya bina setup wala din jab aap bahar rahe, bhi ek sahi decision ginta hai.</a:t>
            </a:r>
          </a:p>
          <a:p/>
          <a:p>
            <a:r>
              <a:t>Udaharan: Aman ki sheet Day 12 se, wahi jo usne Day 20 par joda tha: 20 paper trades, jinmein se 12 mein rule toota, aur 3 baar woh sahi wajah se bahar raha (do din koi setup nahi tha, aur ek setup usne chhoda kyunki woh uski maximum entry se upar gap karke khula). 23 decisions mein se 11 rule ke hisaab se the (8 rule wale trades + 3 baar bahar), yaani adherence lagbhag 48%, aur virtual account Rs 53,000 neeche hai. Priya ne 7 trades liye aur uska account Rs 6,000 neeche hai. Uske 3 trades mein rule toota (ek baar signal se ek din pehle entry, ek baar rounding ki galti se formula se bada size, aur ek baar stop neeche khiska), aur 8 baar woh sahi wajah se bahar rahi: 15 mein se 12, yaani 80%. Aman ke 8 rule wale trades ne +2.4R kamaye; 12 toote rules wale trades ne 7.7R gawaa diye. Agar woh toote trades luck se jeet jaate, toh woh galat sabak seekhta: rule todkar mili jeet ko inaam dena sabse khatarnaak aadat hai.</a:t>
            </a:r>
          </a:p>
          <a:p/>
          <a:p>
            <a:r>
              <a:t>Yaad rakhiye: Kuch paper trades ka profit zyadatar luck hota hai. Adherence woh number hai jo aap har din sudhaar sakte hain.</a:t>
            </a:r>
          </a:p>
          <a:p/>
          <a:p>
            <a:r>
              <a:t>Slide par: Priya ka adherence score · Aman ka adherence 48% tha, aur uske 12 rule todne wale trades ne 7.7R gawaa diye. Adherence hi woh number hai jo roz aapke haath mein hai.</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 se paanch habits tak</a:t>
            </a:r>
          </a:p>
          <a:p/>
          <a:p>
            <a:r>
              <a:t>Aapke journal mein ab Day 12 se har paper decision hai, uske emotion tag aur toote rule ke saath. Ise coach ki tarah padhiye, judge ki tarah nahi: ginti kijiye ki kaunsa rule kitni baar toota, yeh nahi ki kitna paisa hila. Apni top 3 galtiyan unki ginti ke saath nikaaliye, top 3 strengths, aur woh ek emotion jo sabse zyada baar toote rule ke saath dikhta hai. Phir agle 4 hafton ke liye 5 habits likhiye, har ek aisa action jo aapke control mein ho ('stop order ke saath hi lagega'), paise ka goal kabhi nahi. Yahi aapka improvement plan hai. Calendar mein ek check-in date daal dijiye, aur ho sake toh plan kisi ek study partner ke saath share kijiye. Naam aur personal details hata dein, toh ginti AI kar sakta hai; uski ginti check karna aur habits chunna aapka hi kaam hai.</a:t>
            </a:r>
          </a:p>
          <a:p/>
          <a:p>
            <a:r>
              <a:t>Udaharan: Aman ki ginti: 20 mein se 12 trades mein rule toota. Paanch bina setup ke the, aur unmein se chaar formula se bade size ke bhi: Kiran Foods ke do shuruaati chase trades aur Thursday ki revenge wali jodi. Chaar entries daily close se signal confirm hone se pehle hui. Stop do baar neeche khiskaya, aur ek baar results rule ignore kiya. Uski strengths: kabhi 3 se zyada open trades nahi, roz journal ki row, aur har row par imaandaar emotion tag. 'FOMO' tag uske 12 mein se 6 toote rules ke saath dikhta hai. Uski paanch habits: stop order ke saath lagega aur kabhi neeche nahi khiskega; faisla sirf 3:30 ke baad; screener par setup nahi toh trade nahi; FOMO feel ho toh idea likh kar evening scan ka intezaar karega; aur har Sunday 20 minute ka review. Uska check-in aaj se 4 hafte baad hai, aur Priya uski study partner hai.</a:t>
            </a:r>
          </a:p>
          <a:p/>
          <a:p>
            <a:r>
              <a:t>Yaad rakhiye: Habits likhiye, paise ke goal nahi. Jo habit aap roz tick kar sakein, woh us target se behtar hai jo aapke control mein hi nahi.</a:t>
            </a:r>
          </a:p>
          <a:p/>
          <a:p>
            <a:r>
              <a:t>Slide par: Aman ke 12 toote rules, kism ke hisaab se · Uske 20 mein se 12 paper trades mein rule toota, aur FOMO in 12 mein se 6 ke saath tha. Rupees nahi, toote rules giniye: sabse lamba bar agle mahine ki pehli habit hai.</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Certificate: chhe checks, profit ka koi test nahi</a:t>
            </a:r>
          </a:p>
          <a:p/>
          <a:p>
            <a:r>
              <a:t>Chhe checks poore hote hi certificate apne aap issue ho jaata hai, aur certificate page par har check ke aage tick dikhta hai. Ek: kam se kam 90% sessions poore, yaani 21 mein se 19; session tab poora ginta hai jab uska quiz submit ho jaaye aur journal entry likh di jaaye. Do: final exam 60% ya usse zyada (30 mein se 18) se pass; ismein 30 sawaal aur 60 minute hain. Pehli baar pass na ho toh ek aur mauka milta hai. Distinction sirf pehle attempt mein 30 mein se 26 ya zyada par milta hai. Teen: teenon weekly Quiz Games attempt kiye hon (certificate page par inka naam weekly exams hai). Chaar: practice artefact ladder, yaani Portfolio page par paanch poori rows, wahi saat hisson wali row jo aapne Day 12 par dekhi thi, har ek ko mentor ne process par C ya behtar grade diya ho (page par: Practice tasks par mentor ka grade C ya behtar). Paanch: 3 mein se kam se kam 2 hafton ka weekly review, Day 7, 14 ya 21 ko journal mein 'Weekly review' chun kar likha gaya ho. Chhe: account active ho, suspended nahi. Koi Portfolio row ya weekly review chhoot gaya? Koi baat nahi, aap unhe abhi bhi jod sakte hain. Path se Day 7 ya 14 kholiye aur review wahin likhiye, ya Portfolio page par rows jodiye. Agle 7 din ko apni catch-up window maaniye; aakhri check green hote hi certificate apne aap issue ho jaata hai.</a:t>
            </a:r>
          </a:p>
          <a:p/>
          <a:p>
            <a:r>
              <a:t>Udaharan: Portfolio ki ek poori row, sirf virtual paise mein, saat hisson ki hoti hai. Yeh rahi Kiran Foods Ltd par Priya ki row, wahi stock jo usne aaj shaam skip kiya. Full Why 1, business: usne Day 15 ke paanchon health checks paas kiye. Full Why 2, doosra reason jo pehle par tika na ho: uske Day 16 flowchart ke har chart box (3 se 5) ne haan kaha, NIFTY 50 ko 3 mahine mein peeche chhodna bhi. Top risk: results 3 trading days mein aane hain, aur results ka gap 1R ko 2R bana sakta hai. Uska jawab: results aane tak entry nahi (uska Day 11 card). Price-stop: Rs 452, yaani Rs 470 ke close se Rs 12 ke ATR ka 1.5 guna neeche. Why-stop: 'lagataar do quarter sales giri'. Review point: results ke baad wali shaam, jab woh health card aur flowchart dobara chalayegi. Do alag-alag Why, ek stop price ke liye aur ek idea ke liye: A grade isi se milta hai, aur aaj ke task mein grading guide diya hai. Certificate par ek number aur QR code hota hai, jo ek public verify page kholta hai. Yeh certify karta hai ki aapne course poora kiya. Yeh SEBI ya NISM certification nahi hai, advice dene ka licence nahi hai, aur is baat ka signal bhi nahi ki aap real paise ke liye ready hain.</a:t>
            </a:r>
          </a:p>
          <a:p/>
          <a:p>
            <a:r>
              <a:t>Yaad rakhiye: Certificate dikhata hai ki aapne course poora kiya. Aap trade kaise karte hain, yeh sirf aapka journal dikha sakta hai.</a:t>
            </a:r>
          </a:p>
          <a:p/>
          <a:p>
            <a:r>
              <a:t>Slide par: Certificate ke chhe checks · Certificate page par yahi chhe checks dikhte hain. Inmein se koi bhi profit nahi maangta.</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paise se pehle: 'abhi nahi' list, aur Stage 2</a:t>
            </a:r>
          </a:p>
          <a:p/>
          <a:p>
            <a:r>
              <a:t>Stage 1 poora karne ka matlab hai ki aapne basics seekh liye. Iska matlab yeh nahi ki aap real paisa risk karne ke liye ready hain, aur koi certificate, course ya AI aapko yeh nahi bata sakta. Is baare mein sochne se pehle bhi kuch shartein poori honi chahiye. Daily Routine Card kam se kam chaar aur hafte paper trading par chal chuka ho. Same frozen rules par lagbhag 100 trades log ho chuke hon, backtest aur paper milakar, up, down aur sideways, teeno tarah ke market mein. Loss wale dinon mein bhi adherence achha bana rahe. 3 se 6 mahine ke zaroori kharche jitna emergency fund taiyaar ho (Day 10), aur lage toh sirf risk capital, yaani woh paisa jo doob jaaye toh ghar ka kharcha na ruke; udhaar ka paisa kabhi nahi. F&amp;O ka darwaza band rehta hai: samjho, khelo mat. Stage 2 ise samjhata hai, lekin koi mentor, course ya AI aapko nahi batayega ki ise trade karna kab shuru karein. Stage 2, CIRCLE W.I.N.N.E.R.S, 5 Circles Academy ka agla stage hai, aur yeh in 21 dinon ko dohraata nahi. Jahan koi chapter Stage 1 ke topic ko chhoota hai, wahan woh ek chhote recap se shuru hota hai jo us din ka naam leta hai, phir aage gehraai mein jaata hai: numbers mein naapi gayi candles, poori financial statements, options aur futures step by step, risk aur psychology gehraai se. Har chapter ek AI Lab par khatam hota hai jismein lagbhag chhe prompts hote hain, unmein se ek algo level ka, aur AI analyst hi rehta hai, trigger aap hi rehte hain. Apna journal, event calendar aur Routine Card saath laaiye; Stage 2 unhe dobara nahi padhata. Stage 1 poora hone ke baad aapke mentor ise kholte hain, aur aaj ka skill map dikhata hai ki Stage 1 ki kaunsi skill kaunsa chapter aage le jaata hai.</a:t>
            </a:r>
          </a:p>
          <a:p/>
          <a:p>
            <a:r>
              <a:t>Udaharan: Maan lijiye Aman yeh list ignore karke, un rules par jinhe woh abhi bhi badal raha hai, Rs 2,00,000 real paisa laga deta hai, aur ek bura mahina 25% le jaata hai: bache Rs 1,50,000. Wapas Rs 2,00,000 tak pahunchne ke liye ab use Rs 50,000 chahiye, jo bache hue paise ka 33% hai, 25% nahi. Woh chaar hafte aur paper par rehta, toh uska kuch nahi jaata, bas sabr lagta. Yahi Day 3 ka loss-recovery wala hisaab hai, aur isiliye 'abhi nahi' aksar sabse samajhdaar jawab hota hai.</a:t>
            </a:r>
          </a:p>
          <a:p/>
          <a:p>
            <a:r>
              <a:t>Yaad rakhiye: 'Abhi nahi' apne aap mein poora jawab hai. Kisi bhi real rupaye se pehle routine, sample size aur savings.</a:t>
            </a:r>
          </a:p>
          <a:p/>
          <a:p>
            <a:r>
              <a:t>Slide par: Loss bharne ke liye kitna gain chahiye · Jitni gehri girawat, utni khadi chadhai. Paper par intezaar kahin sasta padta hai.</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Adherence score: Likhe rules ke hisaab se hue decisions, saare decisions se divide. Likhe rule ki wajah se chhoda gaya setup, ya bina setup wala din jab aap bahar rahe, bhi sahi decision ginta hai.</a:t>
            </a:r>
          </a:p>
          <a:p>
            <a:r>
              <a:t>Copy-trading aur account handling: Aise offers jo kisi aur ke trades aapke account mein copy karein, ya aapke liye trade karein. Kai offers aapka login ya OTP maangte hain, aur trade koi bhi kare, har loss aapka hi rehta hai.</a:t>
            </a:r>
          </a:p>
          <a:p>
            <a:r>
              <a:t>Practice artefact ladder: Portfolio page par saat hisson wali paanch poori rows (Day 12), har ek ko mentor process par grade karte hain. Paanchon par C ya behtar, certificate ka ek check hai.</a:t>
            </a:r>
          </a:p>
          <a:p>
            <a:r>
              <a:t>Improvement plan: Agle chaar hafton ki paanch habits, journal ki ginti se bani, ek check-in date ke saath.</a:t>
            </a:r>
          </a:p>
          <a:p>
            <a:r>
              <a:t>Certificate of Completion: Course poora karne ka saboot, verify karne ke liye number aur QR code ke saath. SEBI ya NISM certification nahi, licence nahi, ready hone ka signal bhi nahi.</a:t>
            </a:r>
          </a:p>
          <a:p>
            <a:r>
              <a:t>Challenge score: Stage 1 ka 1,000 mein se score: attendance 200, quizzes 200, exams 250, practice kaam 250, discipline 100. Paper profit ke zero points.</a:t>
            </a:r>
          </a:p>
          <a:p>
            <a:r>
              <a:t>Full Why: Portfolio row ka ek poora, check kiya ja sakne wala reason. Har row mein aise do chahiye jo ek-doosre par tike na hon, jaise health card ka result aur trend signal. Tip kabhi Full Why nahi hoti.</a:t>
            </a:r>
          </a:p>
          <a:p>
            <a:r>
              <a:t>Why-stop: Woh line jo kehti hai 'idea galat saabit hoga agar...', jaise 'lagataar do quarter sales giri'. Price-stop hit na hua ho, tab bhi yeh idea ko khatam kar deti hai.</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Finish line hi start line hai</a:t>
            </a:r>
          </a:p>
          <a:p>
            <a:r>
              <a:t>Week 3 ka system: Health-check aur ex-dates; Flowchart; alert sirf 'dekho'; Net R mein 30 trades ka backtest; Calendar, routine card, -2R stop</a:t>
            </a:r>
          </a:p>
          <a:p>
            <a:r>
              <a:t>Shortcut Trap #3: Login, OTP, TPIN kabhi share nahi; Legal algo: broker aur Algo-ID; Monthly return ka vada = red flag</a:t>
            </a:r>
          </a:p>
          <a:p>
            <a:r>
              <a:t>Process score: Paper profit = 0 points; No-trade days bhi ginte hain; 5 habits, ek check-in date</a:t>
            </a:r>
          </a:p>
          <a:p>
            <a:r>
              <a:t>Certificate: Chhe checks, profit ka koi nahi; 5 Portfolio rows, C ya behtar; SEBI/NISM nahi, licence nahi; Kuch chhoota? 7 din ka catch-up</a:t>
            </a:r>
          </a:p>
          <a:p>
            <a:r>
              <a:t>Abhi nahi: 4 aur hafte routine; Same rules par lagbhag 100 trades; Emergency fund; udhaar kabhi nahi; F&amp;O: samjho, khelo mat</a:t>
            </a:r>
          </a:p>
          <a:p>
            <a:r>
              <a:t>Agla kadam: Stage 2: CIRCLE W.I.N.N.E.R.S; Chhota recap, phir gehraai; Har chapter mein AI Lab; Stage 1 ke baad mentor kholte hain</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1 ko theek se band kijiye: AI ke saath Day 12 se ab tak ka journal review kijiye, check-in date ke saath paanch habits likhiye, certificate ke chhe checks dekhiye aur zaroorat ho toh ek Portfolio row bhariye, phir Quiz Game 3 aur final exam dijiye.</a:t>
            </a:r>
          </a:p>
          <a:p/>
          <a:p>
            <a:r>
              <a:t>1. Day 12 se ab tak ki journal entries ek note mein copy kijiye, aur har personal naam, PAN, client ID aur account detail hata dijiye.</a:t>
            </a:r>
          </a:p>
          <a:p>
            <a:r>
              <a:t>2. Us note par AI Lab ka 'Final journal review' prompt chalaiye, aur har ginti ko apne journal se mila kar hi tick kijiye.</a:t>
            </a:r>
          </a:p>
          <a:p>
            <a:r>
              <a:t>3. Aaj ke journal mein 'Weekly review' chuniye aur Week 3 ka review likhiye: shuruaat Day 17 ke backtest wale 'Aapke chaar numbers' card se kijiye (win-rate, expectancy, maximum drawdown, sabse lambi losing streak; test poora na hua ho toh likhiye ki 30 mein se kitne trades ho gaye), ant paanch habits se kijiye, aur phone mein aaj se chaar hafte baad ka reminder lagaiye: 'Check my five habits'.</a:t>
            </a:r>
          </a:p>
          <a:p>
            <a:r>
              <a:t>4. Certificate page kholiye aur jo check abhi baaki hai, use uske liye zaroori ek kaam ke saath likh lijiye. Agar Day 7 ya Day 14 ka weekly review nahi likha, toh Path se woh din kholiye, 'Weekly review' chuniye aur abhi likhiye; jo bhi baaki hai, uske liye aapke paas 7 din ki catch-up window hai.</a:t>
            </a:r>
          </a:p>
          <a:p>
            <a:r>
              <a:t>5. Portfolio page kholiye aur 'Poori' wali rows giniye; certificate ke liye paanch chahiye, har ek saaton hisson ke saath. Apni ek row ko aaj ke task mein diye Priya ke model row aur grading guide se milaiye, aur uska sabse kamzor hissa theek kijiye. Paanch se kam hain, toh abhi ek aur row bhariye, sirf virtual paise mein, aur baaki catch-up window ke andar jodiye; mentor har row ko grade karte hain.</a:t>
            </a:r>
          </a:p>
          <a:p>
            <a:r>
              <a:t>6. Pehle aaj ka quiz submit kijiye, taaki saare 21 din poore ho jaayein. Phir Quiz Game 3 dijiye (15 sawaal, 30 minute), thoda break lijiye, aur fresh dimaag se final exam dijiye (30 sawaal, 60 minute), aaj ya kal. Inmein se koi bhi upar ke minutes mein shaamil nahi hai.</a:t>
            </a:r>
          </a:p>
          <a:p/>
          <a:p>
            <a:r>
              <a:t>Aaj ke baad: Aaj ke baad aap ek stock ko Week 3 ke saare rules se guzaar payenge, 'hum aapke liye trade karenge' wala offer pehchaan payenge, Day 12 se apni paper trading ko process par score kar payenge, certificate ke chhe checks gina payenge, A/C/D guide se Portfolio row ko grade kar payenge, bata payenge ki Stage 1 ki har skill ko Stage 2 ka kaunsa chapter aage le jaata hai, aur samjha payenge ki course khatam karna real paise ke liye ready hona nahi hai.</a:t>
            </a:r>
          </a:p>
          <a:p/>
          <a:p>
            <a:r>
              <a:t>Tools: Koi bhi AI chat; Aapka journal (app ya Google Sheets); App ke certificate aur Portfolio pages; SEBI aur NSE websites (sebi.gov.in, nseindia.com); Cyber crime portal (cybercrime.gov.in) aur helpline 1930; Phone calendar</a:t>
            </a:r>
          </a:p>
          <a:p/>
          <a:p>
            <a:r>
              <a:t>Educational content only, not investment advice. Company names, prices and paper results in this lesson are made up for illustration; paper and backtest results are hypothetical. Stage 1 uses virtual money only and places no automated or F&amp;O orders. The course certificate certifies completion only; it is not a SEBI or NISM certification, confers no licence to advise, and is not a signal to trade with real money. Past performance is not indicative of future results.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1 ko theek se band kijiye: AI ke saath Day 12 se ab tak ka journal review kijiye, check-in date ke saath paanch habits likhiye, certificate ke chhe checks dekhiye aur zaroorat ho toh ek Portfolio row bhariye, phir Quiz Game 3 aur final exam dijiye.</a:t>
            </a:r>
          </a:p>
          <a:p/>
          <a:p>
            <a:r>
              <a:t>1. Day 12 se ab tak ki journal entries ek note mein copy kijiye, aur har personal naam, PAN, client ID aur account detail hata dijiye.</a:t>
            </a:r>
          </a:p>
          <a:p>
            <a:r>
              <a:t>2. Us note par AI Lab ka 'Final journal review' prompt chalaiye, aur har ginti ko apne journal se mila kar hi tick kijiye.</a:t>
            </a:r>
          </a:p>
          <a:p>
            <a:r>
              <a:t>3. Aaj ke journal mein 'Weekly review' chuniye aur Week 3 ka review likhiye: shuruaat Day 17 ke backtest wale 'Aapke chaar numbers' card se kijiye (win-rate, expectancy, maximum drawdown, sabse lambi losing streak; test poora na hua ho toh likhiye ki 30 mein se kitne trades ho gaye), ant paanch habits se kijiye, aur phone mein aaj se chaar hafte baad ka reminder lagaiye: 'Check my five habits'.</a:t>
            </a:r>
          </a:p>
          <a:p>
            <a:r>
              <a:t>4. Certificate page kholiye aur jo check abhi baaki hai, use uske liye zaroori ek kaam ke saath likh lijiye. Agar Day 7 ya Day 14 ka weekly review nahi likha, toh Path se woh din kholiye, 'Weekly review' chuniye aur abhi likhiye; jo bhi baaki hai, uske liye aapke paas 7 din ki catch-up window hai.</a:t>
            </a:r>
          </a:p>
          <a:p>
            <a:r>
              <a:t>5. Portfolio page kholiye aur 'Poori' wali rows giniye; certificate ke liye paanch chahiye, har ek saaton hisson ke saath. Apni ek row ko aaj ke task mein diye Priya ke model row aur grading guide se milaiye, aur uska sabse kamzor hissa theek kijiye. Paanch se kam hain, toh abhi ek aur row bhariye, sirf virtual paise mein, aur baaki catch-up window ke andar jodiye; mentor har row ko grade karte hain.</a:t>
            </a:r>
          </a:p>
          <a:p>
            <a:r>
              <a:t>6. Pehle aaj ka quiz submit kijiye, taaki saare 21 din poore ho jaayein. Phir Quiz Game 3 dijiye (15 sawaal, 30 minute), thoda break lijiye, aur fresh dimaag se final exam dijiye (30 sawaal, 60 minute), aaj ya kal. Inmein se koi bhi upar ke minutes mein shaamil nahi hai.</a:t>
            </a:r>
          </a:p>
          <a:p/>
          <a:p>
            <a:r>
              <a:t>Aaj ke baad: Aaj ke baad aap ek stock ko Week 3 ke saare rules se guzaar payenge, 'hum aapke liye trade karenge' wala offer pehchaan payenge, Day 12 se apni paper trading ko process par score kar payenge, certificate ke chhe checks gina payenge, A/C/D guide se Portfolio row ko grade kar payenge, bata payenge ki Stage 1 ki har skill ko Stage 2 ka kaunsa chapter aage le jaata hai, aur samjha payenge ki course khatam karna real paise ke liye ready hona nahi hai.</a:t>
            </a:r>
          </a:p>
          <a:p/>
          <a:p>
            <a:r>
              <a:t>Tools: Koi bhi AI chat; Aapka journal (app ya Google Sheets); App ke certificate aur Portfolio pages; SEBI aur NSE websites (sebi.gov.in, nseindia.com); Cyber crime portal (cybercrime.gov.in) aur helpline 1930; Phone calendar</a:t>
            </a:r>
          </a:p>
          <a:p/>
          <a:p>
            <a:r>
              <a:t>Educational content only, not investment advice. Company names, prices and paper results in this lesson are made up for illustration; paper and backtest results are hypothetical. Stage 1 uses virtual money only and places no automated or F&amp;O orders. The course certificate certifies completion only; it is not a SEBI or NISM certification, confers no licence to advise, and is not a signal to trade with real money. Past performance is not indicative of future results.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 ki Portfolio row: Kiran Foods Ltd (model)</a:t>
            </a:r>
          </a:p>
          <a:p/>
          <a:p>
            <a:r>
              <a:t>Sirf virtual paisa; company aur prices banaavati hain. Row ek plan aur reason hai, tip nahi: ise tip ki tarah share mat kijiye.</a:t>
            </a:r>
          </a:p>
          <a:p/>
          <a:p>
            <a:r>
              <a:t>Hissa | Priya ki entry</a:t>
            </a:r>
          </a:p>
          <a:p>
            <a:r>
              <a:t>Full Why 1 (business) | Day 15 ke paanchon health checks paas: teen saal mein sales badhi, margin tika, D/E 1 se kam, koi pledge nahi, cash profit ke kareeb</a:t>
            </a:r>
          </a:p>
          <a:p>
            <a:r>
              <a:t>Full Why 2 (alag) | Day 16 flowchart ka har chart box (3 se 5) haan: EMA 20 badhte EMA 50 ke upar, close kal ke high ke upar, 3 mahine mein NIFTY 50 se aage</a:t>
            </a:r>
          </a:p>
          <a:p>
            <a:r>
              <a:t>Top risk | 3 trading days mein results: gap 1R ko 2R bana sakta hai</a:t>
            </a:r>
          </a:p>
          <a:p>
            <a:r>
              <a:t>Uska jawab | Results aane tak entry nahi (Day 11 card); journal mein 'Skipped: results rule'</a:t>
            </a:r>
          </a:p>
          <a:p>
            <a:r>
              <a:t>Price-stop | Rs 452: Rs 470 ke close se Rs 12 ke ATR ka 1.5 guna neeche</a:t>
            </a:r>
          </a:p>
          <a:p>
            <a:r>
              <a:t>Why-stop | Lagataar do quarter sales giri</a:t>
            </a:r>
          </a:p>
          <a:p>
            <a:r>
              <a:t>Review point | Results ke baad wali shaam: health card aur flowchart dobara</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 ka grade kaise hota hai: A, C aur D</a:t>
            </a:r>
          </a:p>
          <a:p/>
          <a:p>
            <a:r>
              <a:t>B, A aur C ke beech hai. D ya usse neeche grade wali row abhi nahi ginti: kamzor hissa theek kijiye aur mentor se dobara grade karne ko kahiye. Profit se grade kabhi nahi badalta.</a:t>
            </a:r>
          </a:p>
          <a:p/>
          <a:p>
            <a:r>
              <a:t>Grade | Row mein kya dikhta hai | Do Why, udaaharan</a:t>
            </a:r>
          </a:p>
          <a:p>
            <a:r>
              <a:t>A | Saaton hisse. Do saaf Why jo ek-doosre par tike na hon, rupees mein price-stop, test ho sakne wala Why-stop, aur review ki date ya trigger. | 'Health card 5/5' aur 'chart box sab haan, NIFTY 50 se aage'</a:t>
            </a:r>
          </a:p>
          <a:p>
            <a:r>
              <a:t>C | Saaton hisse bhare, par ek dhundhla: Why 2 Why 1 ko hi dohraata hai, Why-stop test nahi ho sakta, ya review point mein bas 'baad mein' likha hai. | 'Health card 5/5' aur 'achhi company'</a:t>
            </a:r>
          </a:p>
          <a:p>
            <a:r>
              <a:t>D | Koi hissa gayab ya copy kiya hua, tip ya 'sab khareed rahe hain' ko Why banaya, ya Why-stop hai hi nahi. | 'Dost ki tip' aur 'results ke baad badhega'</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1 se Stage 2: aapka skill map</a:t>
            </a:r>
          </a:p>
          <a:p/>
          <a:p>
            <a:r>
              <a:t>Stage 2 har chapter ko Stage 1 ke us din ke chhote recap se shuru karta hai aur phir gehraai mein jaata hai, isliye yahan kuch bhi do baar nahi padhaya jaata. Stage 1 poora hone ke baad mentor Stage 2 kholte hain.</a:t>
            </a:r>
          </a:p>
          <a:p/>
          <a:p>
            <a:r>
              <a:t>Stage 1 ne diya | Stage 2 chapter | Wahan naya kya hai</a:t>
            </a:r>
          </a:p>
          <a:p>
            <a:r>
              <a:t>Market basics, orders, costs, tax heads (Day 1-2) | Chapter 1 Paisa aur Arthvyavastha; Chapter 2 Markets aur Taxation | Paisa aur economy market ko kaise hilaate hain; tax gehraai se, date wale figures ke saath jinhe check karna hai</a:t>
            </a:r>
          </a:p>
          <a:p>
            <a:r>
              <a:t>Candles aur volume (Day 5-6) | Chapter 3 Candles, Numbers Ki Zubaan Mein; Chapter 4 Candlestick Patterns | Candles naapi jaati hain: body aur wick %, ATR mein size, relative volume; patterns rule se test</a:t>
            </a:r>
          </a:p>
          <a:p>
            <a:r>
              <a:t>Trend, support, resistance, gaps (Day 6) | Chapter 5 Chart Patterns; Chapter 6 Elliott Wave aur Harmonics | Bade chart shapes aur wave counts, likhe hue rules ke saath ki woh kab fail hote hain</a:t>
            </a:r>
          </a:p>
          <a:p>
            <a:r>
              <a:t>Health check, corporate actions (Day 15) | Chapter 7 Stock Investing; Chapter 8 Numbers Padhna | Poori financial statements, paanch checks se kahin aage</a:t>
            </a:r>
          </a:p>
          <a:p>
            <a:r>
              <a:t>F&amp;O basics: samjho, khelo mat (Day 18) | Chapter 9 Basic Options se Chapter 12 Futures, Amal Mein tak | Expiry ka mechanism, Greeks, strategies, futures: gehraai se samjhaaye jaate hain, trade karne ka ishaara kabhi nahi</a:t>
            </a:r>
          </a:p>
          <a:p>
            <a:r>
              <a:t>Risk, sizing, psychology (Day 3, 9, 20) | Chapter 13 Risk Management aur Trading Psychology | Risk aur mann par gehra kaam, aapke 1% wale starter rule ke upar</a:t>
            </a:r>
          </a:p>
          <a:p>
            <a:r>
              <a:t>AI co-pilot, flowchart, haath se backtest (Day 4, 16, 17) | Har chapter ke aakhir mein AI Lab | Har chapter mein lagbhag chhe prompts, ek algo level ka; AI analyst rehta hai, trigger aap</a:t>
            </a:r>
          </a:p>
          <a:p>
            <a:r>
              <a:t>Journal, event calendar, Routine Card (Day 12, 19, 20) | Har chapter | Dobara nahi padhaaye jaate: inhe chalate rahiye</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Convocation, apni marzi se aur bina kisi number ke: har learner apne Day 1 ke journal ki ek line aur aaj ki ek line saath-saath padhta hai. Phir kheliye 'Kis din ne yeh tod diya?': ek insaan koi purani soch padhta hai, jaise 'stop-loss mera exit price pakka kar deta hai', 'AI ka jawab fact hai' ya 'certificate matlab main ready hoon', aur jo sabse pehle us din ka naam bataye jisne ise sudhaara, agli soch wahi padhta hai. Agar aapka batch awards deta hai, toh sirf process par: Discipline, Best Journal, aur Best Screener, is baat par ki rules kitni saafai se screener conditions bane, is par kabhi nahi ki uske picks upar gaye ya nahi. Akele hain? Apne Day 1 wale khud ko paanch line ki chitthi likhiye aur use check-in date par kholiye.</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Final journal review</a:t>
            </a:r>
          </a:p>
          <a:p>
            <a:r>
              <a:t>You are a calm trading coach reviewing a beginner's paper-trade journal from a 21-day course that scores process, never profit. I will paste my paper-trade journal rows since I started paper trading (about ten days), with all personal details removed: date, stock (I may replace names with Stock A, Stock B), setup, whether each rule was followed, emotion tag and notes, plus the days I took no trade. Do five things. (1) Count how often each rule was broken and list my top 3 process mistakes with their counts. (2) List my top 3 strengths: rules I kept every time, and days I correctly stayed out. (3) Name the emotion tag that appears most often next to a broken rule. (4) Work out my adherence score: decisions that followed my rules divided by all decisions. A trade that kept every rule, a setup I skipped because a written rule said so, and a no-setup day on which I stayed out each count as one decision followed; a trade with any broken rule counts as one decision not followed. (5) Draft 5 habits for the next 4 weeks, each written as an action I control, never as a money goal. Label every finding Fact (counted directly from my rows, with the row dates) or Guess (your interpretation). Do not comment on profit or loss, do not suggest new strategies or stocks, do not give buy or sell advice, and do not mention targets or expected returns.</a:t>
            </a:r>
          </a:p>
          <a:p/>
          <a:p>
            <a:r>
              <a:t>Journal:</a:t>
            </a:r>
          </a:p>
          <a:p>
            <a:r>
              <a:t>&lt;paste here&gt;</a:t>
            </a:r>
          </a:p>
          <a:p/>
          <a:p>
            <a:r>
              <a:t>Prompt 2: 'We trade for you' offer check</a:t>
            </a:r>
          </a:p>
          <a:p>
            <a:r>
              <a:t>I received a message offering copy-trading, 'account handling' or an automatic algo that would trade in my account for a monthly fee or a profit share. I will paste the message with all names, numbers and links removed. Do not ask me for any personal or account details. Check the message against these points, as you understand India's rules: who may give buy or sell advice for a fee, whether algo orders must go through a broker and carry an exchange Algo-ID, whether algo sellers must be empanelled with an exchange, whether black-box algo sellers must be SEBI-registered Research Analysts, whether registered advisers may promise returns, and what can happen if I share my login, password, OTP or TPIN. Label every claim in the message Fact, Guess or Kachra. List the red flags from most to least serious, and tell me which rules I should confirm myself on sebi.gov.in or nseindia.com, because rules change and your knowledge has a cutoff date. End with safe next steps: share nothing, keep screenshots, block and report at cybercrime.gov.in, and call 1930 if money has already gone. Do not recommend any product, algo, broker or stock, do not give buy or sell advice, and do not mention targets or returns.</a:t>
            </a:r>
          </a:p>
          <a:p/>
          <a:p>
            <a:r>
              <a:t>Message:</a:t>
            </a:r>
          </a:p>
          <a:p>
            <a:r>
              <a:t>&lt;paste here&gt;</a:t>
            </a:r>
          </a:p>
          <a:p/>
          <a:p>
            <a:r>
              <a:t>Prompt 3: Ready ya abhi nahi</a:t>
            </a:r>
          </a:p>
          <a:p>
            <a:r>
              <a:t>Act as a careful, honest mentor for an Indian beginner who has just finished a 21-day course using only virtual money. Ask me 8 short questions, one at a time, about: how many weeks I have followed a written daily routine, how many trades I have logged on the same frozen rules (backtest and paper together), my adherence on losing days, whether I have an emergency fund, whether any money I might use is borrowed, whether I understand contract notes and the basic tax heads, how I behaved during my worst losing streak, and who I would talk to before deciding anything. After my answers, give me a 'Not yet' list of what is still missing, with one small next step for each. Never tell me I am ready to trade with real money, never suggest an amount, and never suggest F&amp;O. Do not recommend any stock, strategy or product, do not give buy or sell advice, and do not mention targets or return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Shaam 7 baje Priya ka EMA Pullback rule Bharat Pumps Ltd par valid setup deta hai, flowchart ka har chart box yes kehta hai, aur uske backtest ne positive edge dikhaya tha. Uske Day 11 wale card ka no-trade rule kehta hai: company ke results agle 15 trading days ke andar hon toh koi nayi swing entry nahi. Results 2 trading days mein aane wale hain. Uska system kya kehta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trading shuru hone ke baad ek learner ne 10 paper trades liye: 8 mein har rule follow hua aur 2 mein ek rule toota, halaanki un dono mein profit hua. 6 aur din koi setup nahi tha, aur woh sahi wajah se bahar rahi. Uska adherence score kya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message Aman ko 'fully automatic algo' offer karta hai jo 30% profit share ke badle uske account mein options trade karega. Isse uska login ID aur ek baar ka OTP chahiye, aur isne na koi broker, na Algo-ID, na registration bataya hai. Aman ko kya karna chahiye?</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learner final exam Distinction ke saath pass karti hai. Uske paper account mein Day 12 se 12 trades par +Rs 38,000 dikh raha hai, aur unmein se 5 trades mein rule toota tha. Iska sabse sahi matlab kya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Koi 'abhi nahi' list skip kar deta hai, aur ek bura mahina Rs 5,00,000 ka 20% le jaata hai: bachte hain Rs 4,00,000. Sirf wapas Rs 5,00,000 tak aane ke liye Rs 4,00,000 par kitna gain chahiye?</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Aaj raat ka journal: Apni Day 1 ki journal entry dobara padhiye. Tab market ke baare mein aap kya maante the jo ab nahi maante? Aur aapki paanch habits mein se kaunsi agle chaar hafton mein nibhana sabse mushkil hoga, aur kyun?</a:t>
            </a:r>
          </a:p>
          <a:p/>
          <a:p>
            <a:r>
              <a:t>Ikkees din pehle aap jaanna chahte the ki Buy dabane ke baad kya hota hai. Aaj aap yeh bhi jaante hain ki kab nahi dabana, aur kyun. Journal chalate rahiye; yeh aapko kisi bhi certificate se zyada sikhayega.</a:t>
            </a:r>
          </a:p>
          <a:p/>
          <a:p>
            <a:r>
              <a:t>Agla: Stage 2: CIRCLE W.I.N.N.E.R.S</a:t>
            </a:r>
          </a:p>
          <a:p/>
          <a:p>
            <a:r>
              <a:t>Educational content only, not investment advice. Company names, prices and paper results in this lesson are made up for illustration; paper and backtest results are hypothetical. Stage 1 uses virtual money only and places no automated or F&amp;O orders. The course certificate certifies completion only; it is not a SEBI or NISM certification, confers no licence to advise, and is not a signal to trade with real money. Past performance is not indicative of future results.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Investment in securities market is subject to market risks. Read all related documents carefully before investing. Registration granted by SEBI and certification from NISM in no way guarantee performance of the intermediary or provide any assurance of returns to investors. Past performance is not indicative of future results. The analyst or dependents may hold positions in the securities discussed.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457200" y="502920"/>
            <a:ext cx="960120" cy="960120"/>
          </a:xfrm>
          <a:prstGeom prst="rect">
            <a:avLst/>
          </a:prstGeom>
        </p:spPr>
      </p:pic>
      <p:sp>
        <p:nvSpPr>
          <p:cNvPr id="3" name="TextBox 2"/>
          <p:cNvSpPr txBox="1"/>
          <p:nvPr/>
        </p:nvSpPr>
        <p:spPr>
          <a:xfrm>
            <a:off x="1645920" y="640080"/>
            <a:ext cx="7315200" cy="310896"/>
          </a:xfrm>
          <a:prstGeom prst="rect">
            <a:avLst/>
          </a:prstGeom>
          <a:noFill/>
        </p:spPr>
        <p:txBody>
          <a:bodyPr wrap="square" lIns="0" rIns="0" tIns="0" bIns="0" anchor="t">
            <a:noAutofit/>
          </a:bodyPr>
          <a:lstStyle/>
          <a:p>
            <a:pPr algn="l">
              <a:lnSpc>
                <a:spcPct val="100000"/>
              </a:lnSpc>
            </a:pPr>
            <a:r>
              <a:rPr sz="1500" b="1" i="0">
                <a:solidFill>
                  <a:srgbClr val="00AEEF"/>
                </a:solidFill>
                <a:latin typeface="Segoe UI"/>
              </a:rPr>
              <a:t>CIRCLE S.M.A.R.T</a:t>
            </a:r>
          </a:p>
        </p:txBody>
      </p:sp>
      <p:sp>
        <p:nvSpPr>
          <p:cNvPr id="4" name="TextBox 3"/>
          <p:cNvSpPr txBox="1"/>
          <p:nvPr/>
        </p:nvSpPr>
        <p:spPr>
          <a:xfrm>
            <a:off x="1645920" y="987552"/>
            <a:ext cx="7315200" cy="310896"/>
          </a:xfrm>
          <a:prstGeom prst="rect">
            <a:avLst/>
          </a:prstGeom>
          <a:noFill/>
        </p:spPr>
        <p:txBody>
          <a:bodyPr wrap="square" lIns="0" rIns="0" tIns="0" bIns="0" anchor="t">
            <a:noAutofit/>
          </a:bodyPr>
          <a:lstStyle/>
          <a:p>
            <a:pPr algn="l">
              <a:lnSpc>
                <a:spcPct val="100000"/>
              </a:lnSpc>
            </a:pPr>
            <a:r>
              <a:rPr sz="1500" b="1" i="0">
                <a:solidFill>
                  <a:srgbClr val="A8B8CE"/>
                </a:solidFill>
                <a:latin typeface="Segoe UI"/>
              </a:rPr>
              <a:t>Stage 1 · Week 3</a:t>
            </a:r>
          </a:p>
        </p:txBody>
      </p:sp>
      <p:sp>
        <p:nvSpPr>
          <p:cNvPr id="5" name="TextBox 4"/>
          <p:cNvSpPr txBox="1"/>
          <p:nvPr/>
        </p:nvSpPr>
        <p:spPr>
          <a:xfrm>
            <a:off x="457200" y="2331720"/>
            <a:ext cx="10241280" cy="1447800"/>
          </a:xfrm>
          <a:prstGeom prst="rect">
            <a:avLst/>
          </a:prstGeom>
          <a:noFill/>
        </p:spPr>
        <p:txBody>
          <a:bodyPr wrap="square" lIns="0" rIns="0" tIns="0" bIns="0" anchor="t">
            <a:noAutofit/>
          </a:bodyPr>
          <a:lstStyle/>
          <a:p>
            <a:pPr algn="l">
              <a:lnSpc>
                <a:spcPct val="100000"/>
              </a:lnSpc>
            </a:pPr>
            <a:r>
              <a:rPr sz="4600" b="1" i="0">
                <a:solidFill>
                  <a:srgbClr val="FFFFFF"/>
                </a:solidFill>
                <a:latin typeface="Segoe UI"/>
              </a:rPr>
              <a:t>Apna system banao, khud ko bachao</a:t>
            </a:r>
          </a:p>
        </p:txBody>
      </p:sp>
      <p:sp>
        <p:nvSpPr>
          <p:cNvPr id="6" name="TextBox 5"/>
          <p:cNvSpPr txBox="1"/>
          <p:nvPr/>
        </p:nvSpPr>
        <p:spPr>
          <a:xfrm>
            <a:off x="457200" y="4008120"/>
            <a:ext cx="10058400" cy="365760"/>
          </a:xfrm>
          <a:prstGeom prst="rect">
            <a:avLst/>
          </a:prstGeom>
          <a:noFill/>
        </p:spPr>
        <p:txBody>
          <a:bodyPr wrap="square" lIns="0" rIns="0" tIns="0" bIns="0" anchor="t">
            <a:noAutofit/>
          </a:bodyPr>
          <a:lstStyle/>
          <a:p>
            <a:pPr algn="l">
              <a:lnSpc>
                <a:spcPct val="100000"/>
              </a:lnSpc>
            </a:pPr>
            <a:r>
              <a:rPr sz="1800" b="1" i="0">
                <a:solidFill>
                  <a:srgbClr val="00AEEF"/>
                </a:solidFill>
                <a:latin typeface="Segoe UI"/>
              </a:rPr>
              <a:t>Day 15-21</a:t>
            </a:r>
          </a:p>
        </p:txBody>
      </p:sp>
      <p:sp>
        <p:nvSpPr>
          <p:cNvPr id="7" name="TextBox 6"/>
          <p:cNvSpPr txBox="1"/>
          <p:nvPr/>
        </p:nvSpPr>
        <p:spPr>
          <a:xfrm>
            <a:off x="457200" y="4447032"/>
            <a:ext cx="10058400" cy="365760"/>
          </a:xfrm>
          <a:prstGeom prst="rect">
            <a:avLst/>
          </a:prstGeom>
          <a:noFill/>
        </p:spPr>
        <p:txBody>
          <a:bodyPr wrap="square" lIns="0" rIns="0" tIns="0" bIns="0" anchor="t">
            <a:noAutofit/>
          </a:bodyPr>
          <a:lstStyle/>
          <a:p>
            <a:pPr algn="l">
              <a:lnSpc>
                <a:spcPct val="100000"/>
              </a:lnSpc>
            </a:pPr>
            <a:r>
              <a:rPr sz="1700" b="0" i="0">
                <a:solidFill>
                  <a:srgbClr val="A8B8CE"/>
                </a:solidFill>
                <a:latin typeface="Segoe UI"/>
              </a:rPr>
              <a:t>Sirf virtual paisa. Score process ka hota hai, profit ka nahi.</a:t>
            </a:r>
          </a:p>
        </p:txBody>
      </p:sp>
      <p:sp>
        <p:nvSpPr>
          <p:cNvPr id="8" name="Rounded Rectangle 7"/>
          <p:cNvSpPr/>
          <p:nvPr/>
        </p:nvSpPr>
        <p:spPr>
          <a:xfrm>
            <a:off x="457200" y="5074920"/>
            <a:ext cx="1867650"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Class deck · Hinglish</a:t>
            </a:r>
          </a:p>
        </p:txBody>
      </p:sp>
      <p:pic>
        <p:nvPicPr>
          <p:cNvPr id="9" name="Picture 8" descr="logo.png"/>
          <p:cNvPicPr>
            <a:picLocks noChangeAspect="1"/>
          </p:cNvPicPr>
          <p:nvPr/>
        </p:nvPicPr>
        <p:blipFill>
          <a:blip r:embed="rId2"/>
          <a:stretch>
            <a:fillRect/>
          </a:stretch>
        </p:blipFill>
        <p:spPr>
          <a:xfrm>
            <a:off x="457200" y="6437376"/>
            <a:ext cx="237744" cy="237744"/>
          </a:xfrm>
          <a:prstGeom prst="rect">
            <a:avLst/>
          </a:prstGeom>
        </p:spPr>
      </p:pic>
      <p:sp>
        <p:nvSpPr>
          <p:cNvPr id="1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A8B8CE"/>
                </a:solidFill>
                <a:latin typeface="Segoe UI"/>
              </a:rPr>
              <a:t>5 Circles Pvt Ltd · SEBI RA INH000020004</a:t>
            </a:r>
          </a:p>
        </p:txBody>
      </p:sp>
      <p:sp>
        <p:nvSpPr>
          <p:cNvPr id="11" name="TextBox 1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A8B8CE"/>
                </a:solidFill>
                <a:latin typeface="Segoe UI"/>
              </a:rPr>
              <a:t>Week 3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WEEK 3 · APNA SYSTEM BANAO, KHUD KO BACHAO</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Is hafte ka plan, din-ba-din</a:t>
            </a:r>
          </a:p>
        </p:txBody>
      </p:sp>
      <p:sp>
        <p:nvSpPr>
          <p:cNvPr id="4" name="Rounded Rectangle 3"/>
          <p:cNvSpPr/>
          <p:nvPr/>
        </p:nvSpPr>
        <p:spPr>
          <a:xfrm>
            <a:off x="457200" y="1335024"/>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Rounded Rectangle 4"/>
          <p:cNvSpPr/>
          <p:nvPr/>
        </p:nvSpPr>
        <p:spPr>
          <a:xfrm>
            <a:off x="585216" y="1447365"/>
            <a:ext cx="960120" cy="402336"/>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Day 15</a:t>
            </a:r>
          </a:p>
        </p:txBody>
      </p:sp>
      <p:sp>
        <p:nvSpPr>
          <p:cNvPr id="6" name="TextBox 5"/>
          <p:cNvSpPr txBox="1"/>
          <p:nvPr/>
        </p:nvSpPr>
        <p:spPr>
          <a:xfrm>
            <a:off x="1737360" y="1410789"/>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AI ke saath fundamental health check, aur corporate actions</a:t>
            </a:r>
          </a:p>
        </p:txBody>
      </p:sp>
      <p:sp>
        <p:nvSpPr>
          <p:cNvPr id="7" name="TextBox 6"/>
          <p:cNvSpPr txBox="1"/>
          <p:nvPr/>
        </p:nvSpPr>
        <p:spPr>
          <a:xfrm>
            <a:off x="1737360" y="1666821"/>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5-check health filter, market-cap tiers aur corporate actions</a:t>
            </a:r>
          </a:p>
        </p:txBody>
      </p:sp>
      <p:sp>
        <p:nvSpPr>
          <p:cNvPr id="8" name="TextBox 7"/>
          <p:cNvSpPr txBox="1"/>
          <p:nvPr/>
        </p:nvSpPr>
        <p:spPr>
          <a:xfrm>
            <a:off x="10271455" y="1335024"/>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sp>
        <p:nvSpPr>
          <p:cNvPr id="9" name="Rounded Rectangle 8"/>
          <p:cNvSpPr/>
          <p:nvPr/>
        </p:nvSpPr>
        <p:spPr>
          <a:xfrm>
            <a:off x="457200" y="2053481"/>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Rounded Rectangle 9"/>
          <p:cNvSpPr/>
          <p:nvPr/>
        </p:nvSpPr>
        <p:spPr>
          <a:xfrm>
            <a:off x="585216" y="2165822"/>
            <a:ext cx="960120" cy="402336"/>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Day 16</a:t>
            </a:r>
          </a:p>
        </p:txBody>
      </p:sp>
      <p:sp>
        <p:nvSpPr>
          <p:cNvPr id="11" name="TextBox 10"/>
          <p:cNvSpPr txBox="1"/>
          <p:nvPr/>
        </p:nvSpPr>
        <p:spPr>
          <a:xfrm>
            <a:off x="1737360" y="2129246"/>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Algo Level 1: rules, flowchart aur alerts</a:t>
            </a:r>
          </a:p>
        </p:txBody>
      </p:sp>
      <p:sp>
        <p:nvSpPr>
          <p:cNvPr id="12" name="TextBox 11"/>
          <p:cNvSpPr txBox="1"/>
          <p:nvPr/>
        </p:nvSpPr>
        <p:spPr>
          <a:xfrm>
            <a:off x="1737360" y="2385278"/>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Testable rules, flowchart aur alerts: machine dekhti hai, faisla aap karte hain</a:t>
            </a:r>
          </a:p>
        </p:txBody>
      </p:sp>
      <p:sp>
        <p:nvSpPr>
          <p:cNvPr id="13" name="TextBox 12"/>
          <p:cNvSpPr txBox="1"/>
          <p:nvPr/>
        </p:nvSpPr>
        <p:spPr>
          <a:xfrm>
            <a:off x="10271455" y="2053481"/>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sp>
        <p:nvSpPr>
          <p:cNvPr id="14" name="Rounded Rectangle 13"/>
          <p:cNvSpPr/>
          <p:nvPr/>
        </p:nvSpPr>
        <p:spPr>
          <a:xfrm>
            <a:off x="457200" y="2771938"/>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Rounded Rectangle 14"/>
          <p:cNvSpPr/>
          <p:nvPr/>
        </p:nvSpPr>
        <p:spPr>
          <a:xfrm>
            <a:off x="585216" y="2884279"/>
            <a:ext cx="960120" cy="402336"/>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Day 17</a:t>
            </a:r>
          </a:p>
        </p:txBody>
      </p:sp>
      <p:sp>
        <p:nvSpPr>
          <p:cNvPr id="16" name="TextBox 15"/>
          <p:cNvSpPr txBox="1"/>
          <p:nvPr/>
        </p:nvSpPr>
        <p:spPr>
          <a:xfrm>
            <a:off x="1737360" y="2847703"/>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Backtest Level 1: haath se, samajh ke</a:t>
            </a:r>
          </a:p>
        </p:txBody>
      </p:sp>
      <p:sp>
        <p:nvSpPr>
          <p:cNvPr id="17" name="TextBox 16"/>
          <p:cNvSpPr txBox="1"/>
          <p:nvPr/>
        </p:nvSpPr>
        <p:spPr>
          <a:xfrm>
            <a:off x="1737360" y="3103735"/>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30-trade manual backtest, costs ke baad R mein</a:t>
            </a:r>
          </a:p>
        </p:txBody>
      </p:sp>
      <p:sp>
        <p:nvSpPr>
          <p:cNvPr id="18" name="TextBox 17"/>
          <p:cNvSpPr txBox="1"/>
          <p:nvPr/>
        </p:nvSpPr>
        <p:spPr>
          <a:xfrm>
            <a:off x="10271455" y="2771938"/>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90 min</a:t>
            </a:r>
          </a:p>
        </p:txBody>
      </p:sp>
      <p:sp>
        <p:nvSpPr>
          <p:cNvPr id="19" name="Rounded Rectangle 18"/>
          <p:cNvSpPr/>
          <p:nvPr/>
        </p:nvSpPr>
        <p:spPr>
          <a:xfrm>
            <a:off x="457200" y="3490395"/>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ounded Rectangle 19"/>
          <p:cNvSpPr/>
          <p:nvPr/>
        </p:nvSpPr>
        <p:spPr>
          <a:xfrm>
            <a:off x="585216" y="3602736"/>
            <a:ext cx="960120" cy="402336"/>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Day 18</a:t>
            </a:r>
          </a:p>
        </p:txBody>
      </p:sp>
      <p:sp>
        <p:nvSpPr>
          <p:cNvPr id="21" name="TextBox 20"/>
          <p:cNvSpPr txBox="1"/>
          <p:nvPr/>
        </p:nvSpPr>
        <p:spPr>
          <a:xfrm>
            <a:off x="1737360" y="3566160"/>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F&amp;O ke basics: samjho, khelo mat</a:t>
            </a:r>
          </a:p>
        </p:txBody>
      </p:sp>
      <p:sp>
        <p:nvSpPr>
          <p:cNvPr id="22" name="TextBox 21"/>
          <p:cNvSpPr txBox="1"/>
          <p:nvPr/>
        </p:nvSpPr>
        <p:spPr>
          <a:xfrm>
            <a:off x="1737360" y="3822192"/>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Futures aur options: yeh hote kya hain, aur Stage 1 mein inhe sirf padhte kyun hain</a:t>
            </a:r>
          </a:p>
        </p:txBody>
      </p:sp>
      <p:sp>
        <p:nvSpPr>
          <p:cNvPr id="23" name="TextBox 22"/>
          <p:cNvSpPr txBox="1"/>
          <p:nvPr/>
        </p:nvSpPr>
        <p:spPr>
          <a:xfrm>
            <a:off x="10271455" y="3490395"/>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sp>
        <p:nvSpPr>
          <p:cNvPr id="24" name="Rounded Rectangle 23"/>
          <p:cNvSpPr/>
          <p:nvPr/>
        </p:nvSpPr>
        <p:spPr>
          <a:xfrm>
            <a:off x="457200" y="4208853"/>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585216" y="4321193"/>
            <a:ext cx="960120" cy="402336"/>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Day 19</a:t>
            </a:r>
          </a:p>
        </p:txBody>
      </p:sp>
      <p:sp>
        <p:nvSpPr>
          <p:cNvPr id="26" name="TextBox 25"/>
          <p:cNvSpPr txBox="1"/>
          <p:nvPr/>
        </p:nvSpPr>
        <p:spPr>
          <a:xfrm>
            <a:off x="1737360" y="4284617"/>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Event calendar aur aapke no-trade days</a:t>
            </a:r>
          </a:p>
        </p:txBody>
      </p:sp>
      <p:sp>
        <p:nvSpPr>
          <p:cNvPr id="27" name="TextBox 26"/>
          <p:cNvSpPr txBox="1"/>
          <p:nvPr/>
        </p:nvSpPr>
        <p:spPr>
          <a:xfrm>
            <a:off x="1737360" y="4540649"/>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Events, unki timing, aur har strategy ke liye no-trade rule</a:t>
            </a:r>
          </a:p>
        </p:txBody>
      </p:sp>
      <p:sp>
        <p:nvSpPr>
          <p:cNvPr id="28" name="TextBox 27"/>
          <p:cNvSpPr txBox="1"/>
          <p:nvPr/>
        </p:nvSpPr>
        <p:spPr>
          <a:xfrm>
            <a:off x="10271455" y="4208853"/>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sp>
        <p:nvSpPr>
          <p:cNvPr id="29" name="Rounded Rectangle 28"/>
          <p:cNvSpPr/>
          <p:nvPr/>
        </p:nvSpPr>
        <p:spPr>
          <a:xfrm>
            <a:off x="457200" y="4927310"/>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ounded Rectangle 29"/>
          <p:cNvSpPr/>
          <p:nvPr/>
        </p:nvSpPr>
        <p:spPr>
          <a:xfrm>
            <a:off x="585216" y="5039650"/>
            <a:ext cx="960120" cy="402336"/>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Day 20</a:t>
            </a:r>
          </a:p>
        </p:txBody>
      </p:sp>
      <p:sp>
        <p:nvSpPr>
          <p:cNvPr id="31" name="TextBox 30"/>
          <p:cNvSpPr txBox="1"/>
          <p:nvPr/>
        </p:nvSpPr>
        <p:spPr>
          <a:xfrm>
            <a:off x="1737360" y="5003074"/>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Trading psychology aur aapka Daily Routine Card</a:t>
            </a:r>
          </a:p>
        </p:txBody>
      </p:sp>
      <p:sp>
        <p:nvSpPr>
          <p:cNvPr id="32" name="TextBox 31"/>
          <p:cNvSpPr txBox="1"/>
          <p:nvPr/>
        </p:nvSpPr>
        <p:spPr>
          <a:xfrm>
            <a:off x="1737360" y="5259106"/>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Rules todne wale saat biases, aur unhe pakadne wala routine</a:t>
            </a:r>
          </a:p>
        </p:txBody>
      </p:sp>
      <p:sp>
        <p:nvSpPr>
          <p:cNvPr id="33" name="TextBox 32"/>
          <p:cNvSpPr txBox="1"/>
          <p:nvPr/>
        </p:nvSpPr>
        <p:spPr>
          <a:xfrm>
            <a:off x="10271455" y="4927310"/>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sp>
        <p:nvSpPr>
          <p:cNvPr id="34" name="Rounded Rectangle 33"/>
          <p:cNvSpPr/>
          <p:nvPr/>
        </p:nvSpPr>
        <p:spPr>
          <a:xfrm>
            <a:off x="457200" y="5645767"/>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ounded Rectangle 34"/>
          <p:cNvSpPr/>
          <p:nvPr/>
        </p:nvSpPr>
        <p:spPr>
          <a:xfrm>
            <a:off x="585216" y="5758107"/>
            <a:ext cx="960120" cy="402336"/>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Day 21</a:t>
            </a:r>
          </a:p>
        </p:txBody>
      </p:sp>
      <p:sp>
        <p:nvSpPr>
          <p:cNvPr id="36" name="TextBox 35"/>
          <p:cNvSpPr txBox="1"/>
          <p:nvPr/>
        </p:nvSpPr>
        <p:spPr>
          <a:xfrm>
            <a:off x="1737360" y="5721531"/>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Finale: Week 3 ka review, aapka certificate aur Stage 2 ka raasta</a:t>
            </a:r>
          </a:p>
        </p:txBody>
      </p:sp>
      <p:sp>
        <p:nvSpPr>
          <p:cNvPr id="37" name="TextBox 36"/>
          <p:cNvSpPr txBox="1"/>
          <p:nvPr/>
        </p:nvSpPr>
        <p:spPr>
          <a:xfrm>
            <a:off x="1737360" y="5977563"/>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Week 3 ek system ki tarah, process par tika result, certificate ki shartein aur Stage 2 ka raasta</a:t>
            </a:r>
          </a:p>
        </p:txBody>
      </p:sp>
      <p:sp>
        <p:nvSpPr>
          <p:cNvPr id="38" name="Rounded Rectangle 37"/>
          <p:cNvSpPr/>
          <p:nvPr/>
        </p:nvSpPr>
        <p:spPr>
          <a:xfrm>
            <a:off x="10444616" y="5831259"/>
            <a:ext cx="1120239" cy="256032"/>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92400E"/>
                </a:solidFill>
                <a:latin typeface="Segoe UI"/>
              </a:rPr>
              <a:t>Weekly review</a:t>
            </a:r>
          </a:p>
        </p:txBody>
      </p:sp>
      <p:sp>
        <p:nvSpPr>
          <p:cNvPr id="39" name="TextBox 38"/>
          <p:cNvSpPr txBox="1"/>
          <p:nvPr/>
        </p:nvSpPr>
        <p:spPr>
          <a:xfrm>
            <a:off x="9530216" y="5645767"/>
            <a:ext cx="822960"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pic>
        <p:nvPicPr>
          <p:cNvPr id="40" name="Picture 39" descr="logo.png"/>
          <p:cNvPicPr>
            <a:picLocks noChangeAspect="1"/>
          </p:cNvPicPr>
          <p:nvPr/>
        </p:nvPicPr>
        <p:blipFill>
          <a:blip r:embed="rId2"/>
          <a:stretch>
            <a:fillRect/>
          </a:stretch>
        </p:blipFill>
        <p:spPr>
          <a:xfrm>
            <a:off x="457200" y="6437376"/>
            <a:ext cx="237744" cy="237744"/>
          </a:xfrm>
          <a:prstGeom prst="rect">
            <a:avLst/>
          </a:prstGeom>
        </p:spPr>
      </p:pic>
      <p:sp>
        <p:nvSpPr>
          <p:cNvPr id="4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2" name="TextBox 4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0B1B33"/>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0B1B33"/>
                </a:solidFill>
                <a:latin typeface="Segoe UI"/>
              </a:rPr>
              <a:t>15</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0B1B33"/>
                </a:solidFill>
                <a:latin typeface="Segoe UI"/>
              </a:rPr>
              <a:t>WEEK 3</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0B1B33"/>
                </a:solidFill>
                <a:latin typeface="Segoe UI"/>
              </a:rPr>
              <a:t>Apna system banao, khud ko bachao</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AI ke saath fundamental health check, aur corporate actions</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7744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5-check health filter, market-cap tiers aur corporate actions</a:t>
            </a:r>
          </a:p>
        </p:txBody>
      </p:sp>
      <p:sp>
        <p:nvSpPr>
          <p:cNvPr id="12" name="Rounded Rectangle 11"/>
          <p:cNvSpPr/>
          <p:nvPr/>
        </p:nvSpPr>
        <p:spPr>
          <a:xfrm>
            <a:off x="4572000" y="315468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3145536"/>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Fill my health card: AI hisaab lagaye, aap verify karke faisla karein</a:t>
            </a:r>
          </a:p>
        </p:txBody>
      </p:sp>
      <p:sp>
        <p:nvSpPr>
          <p:cNvPr id="14" name="Rounded Rectangle 13"/>
          <p:cNvSpPr/>
          <p:nvPr/>
        </p:nvSpPr>
        <p:spPr>
          <a:xfrm>
            <a:off x="4572000" y="3922776"/>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922776"/>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Story bias: kahani ka jaadu</a:t>
            </a:r>
          </a:p>
        </p:txBody>
      </p:sp>
      <p:sp>
        <p:nvSpPr>
          <p:cNvPr id="16" name="TextBox 15"/>
          <p:cNvSpPr txBox="1"/>
          <p:nvPr/>
        </p:nvSpPr>
        <p:spPr>
          <a:xfrm>
            <a:off x="4572000" y="4608576"/>
            <a:ext cx="7162495"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AAJ KE BAAD</a:t>
            </a:r>
          </a:p>
        </p:txBody>
      </p:sp>
      <p:sp>
        <p:nvSpPr>
          <p:cNvPr id="17" name="TextBox 16"/>
          <p:cNvSpPr txBox="1"/>
          <p:nvPr/>
        </p:nvSpPr>
        <p:spPr>
          <a:xfrm>
            <a:off x="4572000" y="4882896"/>
            <a:ext cx="7162495" cy="1141476"/>
          </a:xfrm>
          <a:prstGeom prst="rect">
            <a:avLst/>
          </a:prstGeom>
          <a:noFill/>
        </p:spPr>
        <p:txBody>
          <a:bodyPr wrap="square" lIns="0" rIns="0" tIns="0" bIns="0" anchor="t">
            <a:noAutofit/>
          </a:bodyPr>
          <a:lstStyle/>
          <a:p>
            <a:pPr algn="l">
              <a:lnSpc>
                <a:spcPct val="100000"/>
              </a:lnSpc>
            </a:pPr>
            <a:r>
              <a:rPr sz="1450" b="0" i="0">
                <a:solidFill>
                  <a:srgbClr val="47596B"/>
                </a:solidFill>
                <a:latin typeface="Segoe UI"/>
              </a:rPr>
              <a:t>Is session ke baad aap kisi company ki apni filings se 5-check health filter chala paayenge, likhe hue rules se uska score nikaal paayenge, pass hue card ko Portfolio row mein badal paayenge, market-cap tiers aur sectors samjha paayenge, aur hisaab laga paayenge ki dividend, bonus, split, rights issue ya buyback aapke shares ke saath kya karta hai, uski ex-date aur record date ke saath.</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KAHANI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Agla bada naam?</a:t>
            </a:r>
          </a:p>
        </p:txBody>
      </p:sp>
      <p:sp>
        <p:nvSpPr>
          <p:cNvPr id="4" name="Rounded Rectangle 3"/>
          <p:cNvSpPr/>
          <p:nvPr/>
        </p:nvSpPr>
        <p:spPr>
          <a:xfrm>
            <a:off x="457200" y="1426464"/>
            <a:ext cx="3649370" cy="3895344"/>
          </a:xfrm>
          <a:prstGeom prst="roundRect">
            <a:avLst>
              <a:gd name="adj" fmla="val 3507"/>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343814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Sunday shaam, hafte ki video call. Aman pehle se join karke baitha hai, aur kaafi excited hai.</a:t>
            </a:r>
          </a:p>
        </p:txBody>
      </p:sp>
      <p:sp>
        <p:nvSpPr>
          <p:cNvPr id="7" name="Rounded Rectangle 6"/>
          <p:cNvSpPr/>
          <p:nvPr/>
        </p:nvSpPr>
        <p:spPr>
          <a:xfrm>
            <a:off x="4271162"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2660904"/>
          </a:xfrm>
          <a:prstGeom prst="wedgeRoundRectCallout">
            <a:avLst>
              <a:gd name="adj1" fmla="val -41915"/>
              <a:gd name="adj2" fmla="val -56872"/>
              <a:gd name="adj3" fmla="val 4123"/>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23682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Anand Snacks agla bada naam banne wala hai. CEO ne TV par bola ki 500 naye stores kholenge, aur chart ne abhi naya high banaya hai. Aur haan, Gupta Cement ke chart mein ek hi din mein 50% ka crash dikh raha hai. Ab toh ekdum sasta mil raha hai.</a:t>
            </a:r>
          </a:p>
        </p:txBody>
      </p:sp>
      <p:sp>
        <p:nvSpPr>
          <p:cNvPr id="13" name="Rounded Rectangle 12"/>
          <p:cNvSpPr/>
          <p:nvPr/>
        </p:nvSpPr>
        <p:spPr>
          <a:xfrm>
            <a:off x="8085125"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883664"/>
          </a:xfrm>
          <a:prstGeom prst="wedgeRoundRectCallout">
            <a:avLst>
              <a:gd name="adj1" fmla="val -41915"/>
              <a:gd name="adj2" fmla="val -59708"/>
              <a:gd name="adj3" fmla="val 582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15910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Kahani toh achhi hai, Aman. Pehle do sawaal. Anand Snacks ke apne accounts kya kehte hain? Aur kya Gupta Cement ki value sach mein ek raat mein aadhi ho gayi, ya kuch aur hua?</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KAHANI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Agla bada naam?</a:t>
            </a:r>
          </a:p>
        </p:txBody>
      </p:sp>
      <p:sp>
        <p:nvSpPr>
          <p:cNvPr id="4" name="Rounded Rectangle 3"/>
          <p:cNvSpPr/>
          <p:nvPr/>
        </p:nvSpPr>
        <p:spPr>
          <a:xfrm>
            <a:off x="457200" y="1426464"/>
            <a:ext cx="3649370" cy="415442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2142744"/>
          </a:xfrm>
          <a:prstGeom prst="wedgeRoundRectCallout">
            <a:avLst>
              <a:gd name="adj1" fmla="val -41915"/>
              <a:gd name="adj2" fmla="val -58534"/>
              <a:gd name="adj3" fmla="val 5120"/>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185013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maine NSE ki website par Anand Snacks dekha. Promoters ne apne 45% shares pledge kar rakhe hain. Aur teen saal se profit badh raha hai, lekin business se aane wala cash do saal se negative hai.</a:t>
            </a:r>
          </a:p>
        </p:txBody>
      </p:sp>
      <p:sp>
        <p:nvSpPr>
          <p:cNvPr id="10" name="Rounded Rectangle 9"/>
          <p:cNvSpPr/>
          <p:nvPr/>
        </p:nvSpPr>
        <p:spPr>
          <a:xfrm>
            <a:off x="4271162" y="1426464"/>
            <a:ext cx="3649370" cy="415442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Pledge? Negative cash? Interview mein toh yeh sab bataya hi nahi. Toh phir Gupta Cement ko kya hua?</a:t>
            </a:r>
          </a:p>
        </p:txBody>
      </p:sp>
      <p:sp>
        <p:nvSpPr>
          <p:cNvPr id="16" name="Rounded Rectangle 15"/>
          <p:cNvSpPr/>
          <p:nvPr/>
        </p:nvSpPr>
        <p:spPr>
          <a:xfrm>
            <a:off x="8085125" y="1426464"/>
            <a:ext cx="3649370" cy="415442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2919984"/>
          </a:xfrm>
          <a:prstGeom prst="wedgeRoundRectCallout">
            <a:avLst>
              <a:gd name="adj1" fmla="val -41915"/>
              <a:gd name="adj2" fmla="val -56263"/>
              <a:gd name="adj3" fmla="val 3757"/>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26273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1:1 bonus hai: wahi nakli crash jo aapne Day 5 aur 6 mein dekha tha. 100 shares ab 200 ho gaye, har ek lagbhag aadhe price par. Na kuch loss hua, na kuch sasta hua. Aaj hum business ka ek chhota health check seekhenge, aur company ke woh events jo business badle bina chart hila dete hain.</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6429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Seekh</a:t>
            </a:r>
          </a:p>
        </p:txBody>
      </p:sp>
      <p:sp>
        <p:nvSpPr>
          <p:cNvPr id="24" name="TextBox 23"/>
          <p:cNvSpPr txBox="1"/>
          <p:nvPr/>
        </p:nvSpPr>
        <p:spPr>
          <a:xfrm>
            <a:off x="1411050" y="5760720"/>
            <a:ext cx="1014056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Kahani batati hai ki kya ho sakta hai. Accounts batate hain ki asal mein kya hua hai. Pehle accounts padhiye.</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Health check, price target nahi</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Chart batata hai ki price kya kar raha hai, yeh nahi ki uske neeche ka business kitna healthy hai.</a:t>
            </a:r>
          </a:p>
          <a:p>
            <a:pPr algn="l" marL="274320" indent="-274320">
              <a:lnSpc>
                <a:spcPct val="100000"/>
              </a:lnSpc>
              <a:spcAft>
                <a:spcPts val="800"/>
              </a:spcAft>
              <a:buClr>
                <a:srgbClr val="F5A623"/>
              </a:buClr>
              <a:buFont typeface="Arial"/>
              <a:buChar char="•"/>
            </a:pPr>
            <a:r>
              <a:rPr sz="1600" b="0" i="0">
                <a:solidFill>
                  <a:srgbClr val="18232F"/>
                </a:solidFill>
                <a:latin typeface="Segoe UI"/>
              </a:rPr>
              <a:t>Isliye is course mein fundamental analysis (company ke accounts padhkar uske business ko parakhna) sirf ek filter hai, price target nikalne ka tareeka nahi.</a:t>
            </a:r>
          </a:p>
          <a:p>
            <a:pPr algn="l" marL="274320" indent="-274320">
              <a:lnSpc>
                <a:spcPct val="100000"/>
              </a:lnSpc>
              <a:spcAft>
                <a:spcPts val="800"/>
              </a:spcAft>
              <a:buClr>
                <a:srgbClr val="F5A623"/>
              </a:buClr>
              <a:buFont typeface="Arial"/>
              <a:buChar char="•"/>
            </a:pPr>
            <a:r>
              <a:rPr sz="1600" b="0" i="0">
                <a:solidFill>
                  <a:srgbClr val="18232F"/>
                </a:solidFill>
                <a:latin typeface="Segoe UI"/>
              </a:rPr>
              <a:t>Koi stock aapki swing watchlist mein aane se pehle ek chhota health check paas kare.</a:t>
            </a:r>
          </a:p>
          <a:p>
            <a:pPr algn="l" marL="274320" indent="-274320">
              <a:lnSpc>
                <a:spcPct val="100000"/>
              </a:lnSpc>
              <a:buClr>
                <a:srgbClr val="F5A623"/>
              </a:buClr>
              <a:buFont typeface="Arial"/>
              <a:buChar char="•"/>
            </a:pPr>
            <a:r>
              <a:rPr sz="1600" b="0" i="0">
                <a:solidFill>
                  <a:srgbClr val="18232F"/>
                </a:solidFill>
                <a:latin typeface="Segoe UI"/>
              </a:rPr>
              <a:t>Market capitalisation yaani market cap = share price x kul shares ki ginti, matlab poori company ka price tag.</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Anand Snacks Ltd ke 5 crore shares hain aur price Rs 200 hai, toh market cap Rs 1,000 crore hua. AMFI list mein iska rank 250 se bahut neeche hai, top 500 se bhi bahar: yaani small cap. Yeh toh us NIFTY 500 mein bhi nahi hai jahan se Day 11 ka screener shuru hota hai. … Isliye har watchlist stock ka sector, jo uske NSE quote page par likha hota hai, uske card ke saath note kijiye.</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Market cap aur tier</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Made-up companies. Tier AMFI list ke rank se tay hota hai, kisi fixed rupee amount se nahi.</a:t>
            </a:r>
          </a:p>
        </p:txBody>
      </p:sp>
      <p:sp>
        <p:nvSpPr>
          <p:cNvPr id="11" name="TextBox 10"/>
          <p:cNvSpPr txBox="1"/>
          <p:nvPr/>
        </p:nvSpPr>
        <p:spPr>
          <a:xfrm>
            <a:off x="6397600" y="2448306"/>
            <a:ext cx="1821629"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Gupta Cement (large)</a:t>
            </a:r>
          </a:p>
        </p:txBody>
      </p:sp>
      <p:sp>
        <p:nvSpPr>
          <p:cNvPr id="12" name="Rounded Rectangle 11"/>
          <p:cNvSpPr/>
          <p:nvPr/>
        </p:nvSpPr>
        <p:spPr>
          <a:xfrm>
            <a:off x="8328957" y="2622042"/>
            <a:ext cx="1821110"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8328957" y="2622042"/>
            <a:ext cx="1821110" cy="310896"/>
          </a:xfrm>
          <a:prstGeom prst="roundRect">
            <a:avLst>
              <a:gd name="adj" fmla="val 50000"/>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0241507" y="2448306"/>
            <a:ext cx="1337540" cy="658368"/>
          </a:xfrm>
          <a:prstGeom prst="rect">
            <a:avLst/>
          </a:prstGeom>
          <a:noFill/>
        </p:spPr>
        <p:txBody>
          <a:bodyPr wrap="square" lIns="0" rIns="0" tIns="0" bIns="0" anchor="ctr">
            <a:noAutofit/>
          </a:bodyPr>
          <a:lstStyle/>
          <a:p>
            <a:pPr algn="l">
              <a:lnSpc>
                <a:spcPct val="100000"/>
              </a:lnSpc>
            </a:pPr>
            <a:r>
              <a:rPr sz="1400" b="1" i="0">
                <a:solidFill>
                  <a:srgbClr val="095A90"/>
                </a:solidFill>
                <a:latin typeface="Segoe UI"/>
              </a:rPr>
              <a:t>Rs 1,50,000 cr</a:t>
            </a:r>
          </a:p>
        </p:txBody>
      </p:sp>
      <p:sp>
        <p:nvSpPr>
          <p:cNvPr id="15" name="TextBox 14"/>
          <p:cNvSpPr txBox="1"/>
          <p:nvPr/>
        </p:nvSpPr>
        <p:spPr>
          <a:xfrm>
            <a:off x="6397600" y="3106674"/>
            <a:ext cx="1821629"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Sharma Textiles (mid)</a:t>
            </a:r>
          </a:p>
        </p:txBody>
      </p:sp>
      <p:sp>
        <p:nvSpPr>
          <p:cNvPr id="16" name="Rounded Rectangle 15"/>
          <p:cNvSpPr/>
          <p:nvPr/>
        </p:nvSpPr>
        <p:spPr>
          <a:xfrm>
            <a:off x="8328957" y="3280410"/>
            <a:ext cx="1821110"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8328957" y="3280410"/>
            <a:ext cx="728444" cy="310896"/>
          </a:xfrm>
          <a:prstGeom prst="roundRect">
            <a:avLst>
              <a:gd name="adj" fmla="val 50000"/>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0241507" y="3106674"/>
            <a:ext cx="1337540" cy="658368"/>
          </a:xfrm>
          <a:prstGeom prst="rect">
            <a:avLst/>
          </a:prstGeom>
          <a:noFill/>
        </p:spPr>
        <p:txBody>
          <a:bodyPr wrap="square" lIns="0" rIns="0" tIns="0" bIns="0" anchor="ctr">
            <a:noAutofit/>
          </a:bodyPr>
          <a:lstStyle/>
          <a:p>
            <a:pPr algn="l">
              <a:lnSpc>
                <a:spcPct val="100000"/>
              </a:lnSpc>
            </a:pPr>
            <a:r>
              <a:rPr sz="1400" b="1" i="0">
                <a:solidFill>
                  <a:srgbClr val="92400E"/>
                </a:solidFill>
                <a:latin typeface="Segoe UI"/>
              </a:rPr>
              <a:t>Rs 60,000 cr</a:t>
            </a:r>
          </a:p>
        </p:txBody>
      </p:sp>
      <p:sp>
        <p:nvSpPr>
          <p:cNvPr id="19" name="TextBox 18"/>
          <p:cNvSpPr txBox="1"/>
          <p:nvPr/>
        </p:nvSpPr>
        <p:spPr>
          <a:xfrm>
            <a:off x="6397600" y="3765042"/>
            <a:ext cx="1821629"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Anand Snacks (small)</a:t>
            </a:r>
          </a:p>
        </p:txBody>
      </p:sp>
      <p:sp>
        <p:nvSpPr>
          <p:cNvPr id="20" name="Rounded Rectangle 19"/>
          <p:cNvSpPr/>
          <p:nvPr/>
        </p:nvSpPr>
        <p:spPr>
          <a:xfrm>
            <a:off x="8328957" y="3938778"/>
            <a:ext cx="1821110"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8328957" y="3938778"/>
            <a:ext cx="45720" cy="31089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0241507" y="3765042"/>
            <a:ext cx="1337540" cy="658368"/>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Rs 1,000 cr</a:t>
            </a:r>
          </a:p>
        </p:txBody>
      </p:sp>
      <p:sp>
        <p:nvSpPr>
          <p:cNvPr id="23" name="Rounded Rectangle 22"/>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Rounded Rectangle 23"/>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5" name="TextBox 24"/>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Chart price ke baare mein batata hai, health check business ke baare mein. Dono chahiye.</a:t>
            </a:r>
          </a:p>
        </p:txBody>
      </p:sp>
      <p:pic>
        <p:nvPicPr>
          <p:cNvPr id="26" name="Picture 25" descr="logo.png"/>
          <p:cNvPicPr>
            <a:picLocks noChangeAspect="1"/>
          </p:cNvPicPr>
          <p:nvPr/>
        </p:nvPicPr>
        <p:blipFill>
          <a:blip r:embed="rId2"/>
          <a:stretch>
            <a:fillRect/>
          </a:stretch>
        </p:blipFill>
        <p:spPr>
          <a:xfrm>
            <a:off x="457200" y="6437376"/>
            <a:ext cx="237744" cy="237744"/>
          </a:xfrm>
          <a:prstGeom prst="rect">
            <a:avLst/>
          </a:prstGeom>
        </p:spPr>
      </p:pic>
      <p:sp>
        <p:nvSpPr>
          <p:cNvPr id="27"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8" name="TextBox 27"/>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Check 1 se 3: growth, margin, debt</a:t>
            </a:r>
          </a:p>
        </p:txBody>
      </p:sp>
      <p:sp>
        <p:nvSpPr>
          <p:cNvPr id="4" name="TextBox 3"/>
          <p:cNvSpPr txBox="1"/>
          <p:nvPr/>
        </p:nvSpPr>
        <p:spPr>
          <a:xfrm>
            <a:off x="457200" y="1335024"/>
            <a:ext cx="5519776" cy="244348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Jitne numbers chahiye, sab company ki apni filings mein milte hain: nseindia.com ya bseindia.com par quarterly results aur annual report.</a:t>
            </a:r>
          </a:p>
          <a:p>
            <a:pPr algn="l" marL="274320" indent="-274320">
              <a:lnSpc>
                <a:spcPct val="100000"/>
              </a:lnSpc>
              <a:spcAft>
                <a:spcPts val="800"/>
              </a:spcAft>
              <a:buClr>
                <a:srgbClr val="F5A623"/>
              </a:buClr>
              <a:buFont typeface="Arial"/>
              <a:buChar char="•"/>
            </a:pPr>
            <a:r>
              <a:rPr sz="1600" b="0" i="0">
                <a:solidFill>
                  <a:srgbClr val="18232F"/>
                </a:solidFill>
                <a:latin typeface="Segoe UI"/>
              </a:rPr>
              <a:t>Free data sites wahi numbers copy karti hain aur kabhi-kabhi peeche reh jaati hain, isliye latest saal filing se mila lijiye.</a:t>
            </a:r>
          </a:p>
          <a:p>
            <a:pPr algn="l" marL="274320" indent="-274320">
              <a:lnSpc>
                <a:spcPct val="100000"/>
              </a:lnSpc>
              <a:buClr>
                <a:srgbClr val="F5A623"/>
              </a:buClr>
              <a:buFont typeface="Arial"/>
              <a:buChar char="•"/>
            </a:pPr>
            <a:r>
              <a:rPr sz="1600" b="0" i="0">
                <a:solidFill>
                  <a:srgbClr val="18232F"/>
                </a:solidFill>
                <a:latin typeface="Segoe UI"/>
              </a:rPr>
              <a:t>Check 1, growth: kya latest saal (saal 3) ka revenue (sales, yaani saamaan ya service bechkar kamaya paisa) teen saal mein se pehle saal (saal 1) se zyada hai?</a:t>
            </a:r>
          </a:p>
        </p:txBody>
      </p:sp>
      <p:sp>
        <p:nvSpPr>
          <p:cNvPr id="5" name="Rounded Rectangle 4"/>
          <p:cNvSpPr/>
          <p:nvPr/>
        </p:nvSpPr>
        <p:spPr>
          <a:xfrm>
            <a:off x="457200" y="3933952"/>
            <a:ext cx="5519776" cy="1680464"/>
          </a:xfrm>
          <a:prstGeom prst="roundRect">
            <a:avLst>
              <a:gd name="adj" fmla="val 652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0619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318000"/>
            <a:ext cx="5154016" cy="12232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Bharat Pumps Ltd: sales saal 1 ke Rs 4,200 crore se saal 3 mein Rs 5,000 crore ho gayi, yaani growth upar hai. … Us parivaar ki tarah sochiye jiski salary ka bada hissa EMI mein chala jaata hai: ek kharaab quarter, ya credit rating downgrade (rating agency ka maanna ki company ki udhaar chukane ki taakat kam hui hai), aur share gap-down khul sakta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Bharat Pumps: check 1 se 3</a:t>
            </a:r>
          </a:p>
        </p:txBody>
      </p:sp>
      <p:sp>
        <p:nvSpPr>
          <p:cNvPr id="10" name="TextBox 9"/>
          <p:cNvSpPr txBox="1"/>
          <p:nvPr/>
        </p:nvSpPr>
        <p:spPr>
          <a:xfrm>
            <a:off x="6397600" y="4846320"/>
            <a:ext cx="5154016" cy="65836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Course ka rule: debt-to-equity 1 se upar, ya interest cover 2 se neeche ho, toh debt ka flag. Is cover mein other income (jaise deposits par mila interest) shaamil nahi hai, isliye jo data site use jodti hai, woh zyada number dikha sakti hai. Yeh seekhne ke cut-off hain, kanoon nahi.</a:t>
            </a:r>
          </a:p>
        </p:txBody>
      </p:sp>
      <p:sp>
        <p:nvSpPr>
          <p:cNvPr id="11" name="TextBox 10"/>
          <p:cNvSpPr txBox="1"/>
          <p:nvPr/>
        </p:nvSpPr>
        <p:spPr>
          <a:xfrm>
            <a:off x="6397600" y="1805940"/>
            <a:ext cx="329184" cy="48082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1805940"/>
            <a:ext cx="3532522" cy="48082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Saal 1 ki sales</a:t>
            </a:r>
          </a:p>
        </p:txBody>
      </p:sp>
      <p:sp>
        <p:nvSpPr>
          <p:cNvPr id="13" name="TextBox 12"/>
          <p:cNvSpPr txBox="1"/>
          <p:nvPr/>
        </p:nvSpPr>
        <p:spPr>
          <a:xfrm>
            <a:off x="10295881" y="1805940"/>
            <a:ext cx="1182582" cy="48082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4,200 cr</a:t>
            </a:r>
          </a:p>
        </p:txBody>
      </p:sp>
      <p:cxnSp>
        <p:nvCxnSpPr>
          <p:cNvPr id="14" name="Connector 13"/>
          <p:cNvCxnSpPr/>
          <p:nvPr/>
        </p:nvCxnSpPr>
        <p:spPr>
          <a:xfrm>
            <a:off x="6397600" y="2286762"/>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286762"/>
            <a:ext cx="329184" cy="48082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6" name="TextBox 15"/>
          <p:cNvSpPr txBox="1"/>
          <p:nvPr/>
        </p:nvSpPr>
        <p:spPr>
          <a:xfrm>
            <a:off x="6726784" y="2286762"/>
            <a:ext cx="3532522" cy="48082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Saal 3 ki sales: growth upar</a:t>
            </a:r>
          </a:p>
        </p:txBody>
      </p:sp>
      <p:sp>
        <p:nvSpPr>
          <p:cNvPr id="17" name="TextBox 16"/>
          <p:cNvSpPr txBox="1"/>
          <p:nvPr/>
        </p:nvSpPr>
        <p:spPr>
          <a:xfrm>
            <a:off x="10295881" y="2286762"/>
            <a:ext cx="1182582" cy="48082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5,000 cr</a:t>
            </a:r>
          </a:p>
        </p:txBody>
      </p:sp>
      <p:cxnSp>
        <p:nvCxnSpPr>
          <p:cNvPr id="18" name="Connector 17"/>
          <p:cNvCxnSpPr/>
          <p:nvPr/>
        </p:nvCxnSpPr>
        <p:spPr>
          <a:xfrm>
            <a:off x="6397600" y="276758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767584"/>
            <a:ext cx="329184" cy="48082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20" name="TextBox 19"/>
          <p:cNvSpPr txBox="1"/>
          <p:nvPr/>
        </p:nvSpPr>
        <p:spPr>
          <a:xfrm>
            <a:off x="6726784" y="2767584"/>
            <a:ext cx="3532522" cy="48082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Operating margin: 600 ÷ 5,000</a:t>
            </a:r>
          </a:p>
        </p:txBody>
      </p:sp>
      <p:sp>
        <p:nvSpPr>
          <p:cNvPr id="21" name="TextBox 20"/>
          <p:cNvSpPr txBox="1"/>
          <p:nvPr/>
        </p:nvSpPr>
        <p:spPr>
          <a:xfrm>
            <a:off x="10295881" y="2767584"/>
            <a:ext cx="1182582" cy="48082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12%</a:t>
            </a:r>
          </a:p>
        </p:txBody>
      </p:sp>
      <p:cxnSp>
        <p:nvCxnSpPr>
          <p:cNvPr id="22" name="Connector 21"/>
          <p:cNvCxnSpPr/>
          <p:nvPr/>
        </p:nvCxnSpPr>
        <p:spPr>
          <a:xfrm>
            <a:off x="6397600" y="3248406"/>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248406"/>
            <a:ext cx="329184" cy="48082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24" name="TextBox 23"/>
          <p:cNvSpPr txBox="1"/>
          <p:nvPr/>
        </p:nvSpPr>
        <p:spPr>
          <a:xfrm>
            <a:off x="6726784" y="3248406"/>
            <a:ext cx="3532522" cy="48082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Debt-to-equity: 3,000 ÷ 2,500</a:t>
            </a:r>
          </a:p>
        </p:txBody>
      </p:sp>
      <p:sp>
        <p:nvSpPr>
          <p:cNvPr id="25" name="TextBox 24"/>
          <p:cNvSpPr txBox="1"/>
          <p:nvPr/>
        </p:nvSpPr>
        <p:spPr>
          <a:xfrm>
            <a:off x="10295881" y="3248406"/>
            <a:ext cx="1182582" cy="48082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1.2</a:t>
            </a:r>
          </a:p>
        </p:txBody>
      </p:sp>
      <p:cxnSp>
        <p:nvCxnSpPr>
          <p:cNvPr id="26" name="Connector 25"/>
          <p:cNvCxnSpPr/>
          <p:nvPr/>
        </p:nvCxnSpPr>
        <p:spPr>
          <a:xfrm>
            <a:off x="6397600" y="3729228"/>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397600" y="3729228"/>
            <a:ext cx="329184" cy="48082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28" name="TextBox 27"/>
          <p:cNvSpPr txBox="1"/>
          <p:nvPr/>
        </p:nvSpPr>
        <p:spPr>
          <a:xfrm>
            <a:off x="6726784" y="3729228"/>
            <a:ext cx="3532522" cy="48082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Interest cover: (600 - 150) ÷ 300</a:t>
            </a:r>
          </a:p>
        </p:txBody>
      </p:sp>
      <p:sp>
        <p:nvSpPr>
          <p:cNvPr id="29" name="TextBox 28"/>
          <p:cNvSpPr txBox="1"/>
          <p:nvPr/>
        </p:nvSpPr>
        <p:spPr>
          <a:xfrm>
            <a:off x="10295881" y="3729228"/>
            <a:ext cx="1182582" cy="48082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1.5x</a:t>
            </a:r>
          </a:p>
        </p:txBody>
      </p:sp>
      <p:sp>
        <p:nvSpPr>
          <p:cNvPr id="30" name="Rounded Rectangle 29"/>
          <p:cNvSpPr/>
          <p:nvPr/>
        </p:nvSpPr>
        <p:spPr>
          <a:xfrm>
            <a:off x="6397600" y="4264914"/>
            <a:ext cx="5154016" cy="480822"/>
          </a:xfrm>
          <a:prstGeom prst="roundRect">
            <a:avLst>
              <a:gd name="adj" fmla="val 15213"/>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TextBox 30"/>
          <p:cNvSpPr txBox="1"/>
          <p:nvPr/>
        </p:nvSpPr>
        <p:spPr>
          <a:xfrm>
            <a:off x="6397600" y="4264914"/>
            <a:ext cx="329184" cy="48082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32" name="TextBox 31"/>
          <p:cNvSpPr txBox="1"/>
          <p:nvPr/>
        </p:nvSpPr>
        <p:spPr>
          <a:xfrm>
            <a:off x="6726784" y="4264914"/>
            <a:ext cx="3532522" cy="480822"/>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Ab tak ke flags (sirf debt)</a:t>
            </a:r>
          </a:p>
        </p:txBody>
      </p:sp>
      <p:sp>
        <p:nvSpPr>
          <p:cNvPr id="33" name="TextBox 32"/>
          <p:cNvSpPr txBox="1"/>
          <p:nvPr/>
        </p:nvSpPr>
        <p:spPr>
          <a:xfrm>
            <a:off x="10295881" y="4264914"/>
            <a:ext cx="1182582" cy="480822"/>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1</a:t>
            </a:r>
          </a:p>
        </p:txBody>
      </p:sp>
      <p:sp>
        <p:nvSpPr>
          <p:cNvPr id="34" name="Rounded Rectangle 33"/>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ounded Rectangle 34"/>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6" name="TextBox 35"/>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Number ratne ki zaroorat nahi: teen saal ki direction padhiye, phir likhe hue cut-off lagaiye.</a:t>
            </a:r>
          </a:p>
        </p:txBody>
      </p:sp>
      <p:pic>
        <p:nvPicPr>
          <p:cNvPr id="37" name="Picture 36" descr="logo.png"/>
          <p:cNvPicPr>
            <a:picLocks noChangeAspect="1"/>
          </p:cNvPicPr>
          <p:nvPr/>
        </p:nvPicPr>
        <p:blipFill>
          <a:blip r:embed="rId2"/>
          <a:stretch>
            <a:fillRect/>
          </a:stretch>
        </p:blipFill>
        <p:spPr>
          <a:xfrm>
            <a:off x="457200" y="6437376"/>
            <a:ext cx="237744" cy="237744"/>
          </a:xfrm>
          <a:prstGeom prst="rect">
            <a:avLst/>
          </a:prstGeom>
        </p:spPr>
      </p:pic>
      <p:sp>
        <p:nvSpPr>
          <p:cNvPr id="3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9" name="TextBox 3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Check 4 aur 5: promoter pledge aur cash flow</a:t>
            </a:r>
          </a:p>
        </p:txBody>
      </p:sp>
      <p:sp>
        <p:nvSpPr>
          <p:cNvPr id="4" name="TextBox 3"/>
          <p:cNvSpPr txBox="1"/>
          <p:nvPr/>
        </p:nvSpPr>
        <p:spPr>
          <a:xfrm>
            <a:off x="457200" y="1335024"/>
            <a:ext cx="5519776" cy="1836420"/>
          </a:xfrm>
          <a:prstGeom prst="rect">
            <a:avLst/>
          </a:prstGeom>
          <a:noFill/>
        </p:spPr>
        <p:txBody>
          <a:bodyPr wrap="square" lIns="0" rIns="0" tIns="0" bIns="0" anchor="t">
            <a:noAutofit/>
          </a:bodyPr>
          <a:lstStyle/>
          <a:p>
            <a:pPr algn="l" marL="274320" indent="-274320">
              <a:lnSpc>
                <a:spcPct val="100000"/>
              </a:lnSpc>
              <a:spcAft>
                <a:spcPts val="750"/>
              </a:spcAft>
              <a:buClr>
                <a:srgbClr val="F5A623"/>
              </a:buClr>
              <a:buFont typeface="Arial"/>
              <a:buChar char="•"/>
            </a:pPr>
            <a:r>
              <a:rPr sz="1500" b="0" i="0">
                <a:solidFill>
                  <a:srgbClr val="18232F"/>
                </a:solidFill>
                <a:latin typeface="Segoe UI"/>
              </a:rPr>
              <a:t>Promoters matlab company ke founders ya control rakhne wale maalik.</a:t>
            </a:r>
          </a:p>
          <a:p>
            <a:pPr algn="l" marL="274320" indent="-274320">
              <a:lnSpc>
                <a:spcPct val="100000"/>
              </a:lnSpc>
              <a:spcAft>
                <a:spcPts val="750"/>
              </a:spcAft>
              <a:buClr>
                <a:srgbClr val="F5A623"/>
              </a:buClr>
              <a:buFont typeface="Arial"/>
              <a:buChar char="•"/>
            </a:pPr>
            <a:r>
              <a:rPr sz="1500" b="0" i="0">
                <a:solidFill>
                  <a:srgbClr val="18232F"/>
                </a:solidFill>
                <a:latin typeface="Segoe UI"/>
              </a:rPr>
              <a:t>Har quarter file hone wala shareholding pattern batata hai ki unke paas kitne shares hain aur unmein se kitne pledge hain.</a:t>
            </a:r>
          </a:p>
          <a:p>
            <a:pPr algn="l" marL="274320" indent="-274320">
              <a:lnSpc>
                <a:spcPct val="100000"/>
              </a:lnSpc>
              <a:buClr>
                <a:srgbClr val="F5A623"/>
              </a:buClr>
              <a:buFont typeface="Arial"/>
              <a:buChar char="•"/>
            </a:pPr>
            <a:r>
              <a:rPr sz="1500" b="0" i="0">
                <a:solidFill>
                  <a:srgbClr val="18232F"/>
                </a:solidFill>
                <a:latin typeface="Segoe UI"/>
              </a:rPr>
              <a:t>Pledge ka matlab hai promoter ne loan ke badle apne shares girvi rakhe hain, bilkul gold loan ki tarah.</a:t>
            </a:r>
          </a:p>
        </p:txBody>
      </p:sp>
      <p:sp>
        <p:nvSpPr>
          <p:cNvPr id="5" name="Rounded Rectangle 4"/>
          <p:cNvSpPr/>
          <p:nvPr/>
        </p:nvSpPr>
        <p:spPr>
          <a:xfrm>
            <a:off x="6214720" y="1335024"/>
            <a:ext cx="5519776" cy="2337816"/>
          </a:xfrm>
          <a:prstGeom prst="roundRect">
            <a:avLst>
              <a:gd name="adj" fmla="val 469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1880616"/>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Anand Snacks ke promoter ne Rs 50 crore ke loan ke liye Rs 100 crore ke shares girvi rakhe hain; lender aam taur par loan se lagbhag dugni value ke shares chahta hai. Price 40% gira toh yeh shares Rs 60 crore ke reh jaayenge, loan ke dugne se kaafi kam, aur lender aur maangega; promoter de nahi paaya toh lender bech dega aur price phir girega. Ab cash dekhiye. Teen saal mein Anand Snacks ka profit Rs 8, 10 aur 12 crore raha, kul Rs 30 crore, lekin operating cash flow Rs 2, minus 6 aur minus 8 crore raha: kul minus Rs 12 crore. Yeh us kirana dukaan jaisa hai jiske bahi-khaate mein profit dikhta hai par galla khaali rehta hai, kyunki zyadatar bikri abhi udhaar par hai.</a:t>
            </a:r>
          </a:p>
        </p:txBody>
      </p:sp>
      <p:sp>
        <p:nvSpPr>
          <p:cNvPr id="8" name="Rounded Rectangle 7"/>
          <p:cNvSpPr/>
          <p:nvPr/>
        </p:nvSpPr>
        <p:spPr>
          <a:xfrm>
            <a:off x="457200" y="3837432"/>
            <a:ext cx="11277295" cy="1776984"/>
          </a:xfrm>
          <a:prstGeom prst="roundRect">
            <a:avLst>
              <a:gd name="adj" fmla="val 61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983736"/>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Pledge ka chakkar</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Har chakkar price ko aur neeche dhakel sakta hai. Isiliye aage ke scoring rules mein bada ya badhta pledge akele hi stock ko list se bahar kar deta hai.</a:t>
            </a:r>
          </a:p>
        </p:txBody>
      </p:sp>
      <p:sp>
        <p:nvSpPr>
          <p:cNvPr id="11" name="Rounded Rectangle 10"/>
          <p:cNvSpPr/>
          <p:nvPr/>
        </p:nvSpPr>
        <p:spPr>
          <a:xfrm>
            <a:off x="640080" y="4310634"/>
            <a:ext cx="1611721" cy="912876"/>
          </a:xfrm>
          <a:prstGeom prst="roundRect">
            <a:avLst>
              <a:gd name="adj" fmla="val 10016"/>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49808" y="4310634"/>
            <a:ext cx="1392265" cy="91287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Price girta hai</a:t>
            </a:r>
          </a:p>
          <a:p>
            <a:pPr algn="ctr">
              <a:lnSpc>
                <a:spcPct val="100000"/>
              </a:lnSpc>
            </a:pPr>
            <a:r>
              <a:rPr sz="1100" b="0" i="0">
                <a:solidFill>
                  <a:srgbClr val="47596B"/>
                </a:solidFill>
                <a:latin typeface="Segoe UI"/>
              </a:rPr>
              <a:t>Buri khabar ya kamzor market</a:t>
            </a:r>
          </a:p>
        </p:txBody>
      </p:sp>
      <p:sp>
        <p:nvSpPr>
          <p:cNvPr id="13" name="Right Arrow 12"/>
          <p:cNvSpPr/>
          <p:nvPr/>
        </p:nvSpPr>
        <p:spPr>
          <a:xfrm>
            <a:off x="2471257" y="467563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2279233" y="4501896"/>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value ghati</a:t>
            </a:r>
          </a:p>
        </p:txBody>
      </p:sp>
      <p:sp>
        <p:nvSpPr>
          <p:cNvPr id="15" name="Rounded Rectangle 14"/>
          <p:cNvSpPr/>
          <p:nvPr/>
        </p:nvSpPr>
        <p:spPr>
          <a:xfrm>
            <a:off x="2965033" y="4310634"/>
            <a:ext cx="1611721" cy="912876"/>
          </a:xfrm>
          <a:prstGeom prst="roundRect">
            <a:avLst>
              <a:gd name="adj" fmla="val 10016"/>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3074761" y="4310634"/>
            <a:ext cx="1392265" cy="91287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Cover ghat gaya</a:t>
            </a:r>
          </a:p>
          <a:p>
            <a:pPr algn="ctr">
              <a:lnSpc>
                <a:spcPct val="100000"/>
              </a:lnSpc>
            </a:pPr>
            <a:r>
              <a:rPr sz="1100" b="0" i="0">
                <a:solidFill>
                  <a:srgbClr val="47596B"/>
                </a:solidFill>
                <a:latin typeface="Segoe UI"/>
              </a:rPr>
              <a:t>Girvi shares ab loan ka kam hissa cover karte hain</a:t>
            </a:r>
          </a:p>
        </p:txBody>
      </p:sp>
      <p:sp>
        <p:nvSpPr>
          <p:cNvPr id="17" name="Right Arrow 16"/>
          <p:cNvSpPr/>
          <p:nvPr/>
        </p:nvSpPr>
        <p:spPr>
          <a:xfrm>
            <a:off x="4796211" y="467563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4604187" y="4364736"/>
            <a:ext cx="658368" cy="29260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lender ko fikr</a:t>
            </a:r>
          </a:p>
        </p:txBody>
      </p:sp>
      <p:sp>
        <p:nvSpPr>
          <p:cNvPr id="19" name="Rounded Rectangle 18"/>
          <p:cNvSpPr/>
          <p:nvPr/>
        </p:nvSpPr>
        <p:spPr>
          <a:xfrm>
            <a:off x="5289987" y="4310634"/>
            <a:ext cx="1611721" cy="912876"/>
          </a:xfrm>
          <a:prstGeom prst="roundRect">
            <a:avLst>
              <a:gd name="adj" fmla="val 10016"/>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5399715" y="4310634"/>
            <a:ext cx="1392265" cy="91287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Top-up ki maang</a:t>
            </a:r>
          </a:p>
          <a:p>
            <a:pPr algn="ctr">
              <a:lnSpc>
                <a:spcPct val="100000"/>
              </a:lnSpc>
            </a:pPr>
            <a:r>
              <a:rPr sz="1100" b="0" i="0">
                <a:solidFill>
                  <a:srgbClr val="47596B"/>
                </a:solidFill>
                <a:latin typeface="Segoe UI"/>
              </a:rPr>
              <a:t>Lender aur shares ya cash maangta hai</a:t>
            </a:r>
          </a:p>
        </p:txBody>
      </p:sp>
      <p:sp>
        <p:nvSpPr>
          <p:cNvPr id="21" name="Right Arrow 20"/>
          <p:cNvSpPr/>
          <p:nvPr/>
        </p:nvSpPr>
        <p:spPr>
          <a:xfrm>
            <a:off x="7121164" y="467563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6929140" y="4364736"/>
            <a:ext cx="658368" cy="29260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na chukaya toh</a:t>
            </a:r>
          </a:p>
        </p:txBody>
      </p:sp>
      <p:sp>
        <p:nvSpPr>
          <p:cNvPr id="23" name="Rounded Rectangle 22"/>
          <p:cNvSpPr/>
          <p:nvPr/>
        </p:nvSpPr>
        <p:spPr>
          <a:xfrm>
            <a:off x="7614940" y="4310634"/>
            <a:ext cx="1611721" cy="912876"/>
          </a:xfrm>
          <a:prstGeom prst="roundRect">
            <a:avLst>
              <a:gd name="adj" fmla="val 10016"/>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724668" y="4310634"/>
            <a:ext cx="1392265" cy="91287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Lender bechta hai</a:t>
            </a:r>
          </a:p>
          <a:p>
            <a:pPr algn="ctr">
              <a:lnSpc>
                <a:spcPct val="100000"/>
              </a:lnSpc>
            </a:pPr>
            <a:r>
              <a:rPr sz="1100" b="0" i="0">
                <a:solidFill>
                  <a:srgbClr val="47596B"/>
                </a:solidFill>
                <a:latin typeface="Segoe UI"/>
              </a:rPr>
              <a:t>Girvi shares market mein aa jaate hain</a:t>
            </a:r>
          </a:p>
        </p:txBody>
      </p:sp>
      <p:sp>
        <p:nvSpPr>
          <p:cNvPr id="25" name="Right Arrow 24"/>
          <p:cNvSpPr/>
          <p:nvPr/>
        </p:nvSpPr>
        <p:spPr>
          <a:xfrm>
            <a:off x="9446118" y="467563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9254094" y="4501896"/>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seller badhe</a:t>
            </a:r>
          </a:p>
        </p:txBody>
      </p:sp>
      <p:sp>
        <p:nvSpPr>
          <p:cNvPr id="27" name="Rounded Rectangle 26"/>
          <p:cNvSpPr/>
          <p:nvPr/>
        </p:nvSpPr>
        <p:spPr>
          <a:xfrm>
            <a:off x="9939894" y="4310634"/>
            <a:ext cx="1611721" cy="912876"/>
          </a:xfrm>
          <a:prstGeom prst="roundRect">
            <a:avLst>
              <a:gd name="adj" fmla="val 10016"/>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TextBox 27"/>
          <p:cNvSpPr txBox="1"/>
          <p:nvPr/>
        </p:nvSpPr>
        <p:spPr>
          <a:xfrm>
            <a:off x="10049622" y="4310634"/>
            <a:ext cx="1392265" cy="91287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Price aur girta hai</a:t>
            </a:r>
          </a:p>
          <a:p>
            <a:pPr algn="ctr">
              <a:lnSpc>
                <a:spcPct val="100000"/>
              </a:lnSpc>
            </a:pPr>
            <a:r>
              <a:rPr sz="1100" b="0" i="0">
                <a:solidFill>
                  <a:srgbClr val="47596B"/>
                </a:solidFill>
                <a:latin typeface="Segoe UI"/>
              </a:rPr>
              <a:t>Aur chakkar phir shuru ho sakta hai</a:t>
            </a:r>
          </a:p>
        </p:txBody>
      </p:sp>
      <p:sp>
        <p:nvSpPr>
          <p:cNvPr id="29" name="Rounded Rectangle 28"/>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ounded Rectangle 29"/>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1" name="TextBox 30"/>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Profit woh hai jo bahi-khata kehta hai. Cash woh hai jo galle mein aaya.</a:t>
            </a:r>
          </a:p>
        </p:txBody>
      </p:sp>
      <p:pic>
        <p:nvPicPr>
          <p:cNvPr id="32" name="Picture 31" descr="logo.png"/>
          <p:cNvPicPr>
            <a:picLocks noChangeAspect="1"/>
          </p:cNvPicPr>
          <p:nvPr/>
        </p:nvPicPr>
        <p:blipFill>
          <a:blip r:embed="rId2"/>
          <a:stretch>
            <a:fillRect/>
          </a:stretch>
        </p:blipFill>
        <p:spPr>
          <a:xfrm>
            <a:off x="457200" y="6437376"/>
            <a:ext cx="237744" cy="237744"/>
          </a:xfrm>
          <a:prstGeom prst="rect">
            <a:avLst/>
          </a:prstGeom>
        </p:spPr>
      </p:pic>
      <p:sp>
        <p:nvSpPr>
          <p:cNvPr id="3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4" name="TextBox 3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Card ka score: pehle rules, kahani sabse baad mein</a:t>
            </a:r>
          </a:p>
        </p:txBody>
      </p:sp>
      <p:sp>
        <p:nvSpPr>
          <p:cNvPr id="4" name="TextBox 3"/>
          <p:cNvSpPr txBox="1"/>
          <p:nvPr/>
        </p:nvSpPr>
        <p:spPr>
          <a:xfrm>
            <a:off x="457200" y="1335024"/>
            <a:ext cx="5519776" cy="4279392"/>
          </a:xfrm>
          <a:prstGeom prst="rect">
            <a:avLst/>
          </a:prstGeom>
          <a:noFill/>
        </p:spPr>
        <p:txBody>
          <a:bodyPr wrap="square" lIns="0" rIns="0" tIns="0" bIns="0" anchor="t">
            <a:noAutofit/>
          </a:bodyPr>
          <a:lstStyle/>
          <a:p>
            <a:pPr algn="l" marL="274320" indent="-274320">
              <a:lnSpc>
                <a:spcPct val="100000"/>
              </a:lnSpc>
              <a:spcAft>
                <a:spcPts val="850"/>
              </a:spcAft>
              <a:buClr>
                <a:srgbClr val="F5A623"/>
              </a:buClr>
              <a:buFont typeface="Arial"/>
              <a:buChar char="•"/>
            </a:pPr>
            <a:r>
              <a:rPr sz="1700" b="0" i="0">
                <a:solidFill>
                  <a:srgbClr val="18232F"/>
                </a:solidFill>
                <a:latin typeface="Segoe UI"/>
              </a:rPr>
              <a:t>Ab likhe hue rules se card ka score nikaaliye.</a:t>
            </a:r>
          </a:p>
          <a:p>
            <a:pPr algn="l" marL="274320" indent="-274320">
              <a:lnSpc>
                <a:spcPct val="100000"/>
              </a:lnSpc>
              <a:spcAft>
                <a:spcPts val="850"/>
              </a:spcAft>
              <a:buClr>
                <a:srgbClr val="F5A623"/>
              </a:buClr>
              <a:buFont typeface="Arial"/>
              <a:buChar char="•"/>
            </a:pPr>
            <a:r>
              <a:rPr sz="1700" b="0" i="0">
                <a:solidFill>
                  <a:srgbClr val="18232F"/>
                </a:solidFill>
                <a:latin typeface="Segoe UI"/>
              </a:rPr>
              <a:t>Baaki chaar checks gine jaate hain (saal 3 ki sales saal 1 se kam.</a:t>
            </a:r>
          </a:p>
          <a:p>
            <a:pPr algn="l" marL="274320" indent="-274320">
              <a:lnSpc>
                <a:spcPct val="100000"/>
              </a:lnSpc>
              <a:spcAft>
                <a:spcPts val="850"/>
              </a:spcAft>
              <a:buClr>
                <a:srgbClr val="F5A623"/>
              </a:buClr>
              <a:buFont typeface="Arial"/>
              <a:buChar char="•"/>
            </a:pPr>
            <a:r>
              <a:rPr sz="1700" b="0" i="0">
                <a:solidFill>
                  <a:srgbClr val="18232F"/>
                </a:solidFill>
                <a:latin typeface="Segoe UI"/>
              </a:rPr>
              <a:t>Margin saal 2 aur saal 3 dono mein gira.</a:t>
            </a:r>
          </a:p>
          <a:p>
            <a:pPr algn="l" marL="274320" indent="-274320">
              <a:lnSpc>
                <a:spcPct val="100000"/>
              </a:lnSpc>
              <a:spcAft>
                <a:spcPts val="850"/>
              </a:spcAft>
              <a:buClr>
                <a:srgbClr val="F5A623"/>
              </a:buClr>
              <a:buFont typeface="Arial"/>
              <a:buChar char="•"/>
            </a:pPr>
            <a:r>
              <a:rPr sz="1700" b="0" i="0">
                <a:solidFill>
                  <a:srgbClr val="18232F"/>
                </a:solidFill>
                <a:latin typeface="Segoe UI"/>
              </a:rPr>
              <a:t>D/E 1 se upar ya interest cover 2 se neeche.</a:t>
            </a:r>
          </a:p>
          <a:p>
            <a:pPr algn="l" marL="274320" indent="-274320">
              <a:lnSpc>
                <a:spcPct val="100000"/>
              </a:lnSpc>
              <a:buClr>
                <a:srgbClr val="F5A623"/>
              </a:buClr>
              <a:buFont typeface="Arial"/>
              <a:buChar char="•"/>
            </a:pPr>
            <a:r>
              <a:rPr sz="1700" b="0" i="0">
                <a:solidFill>
                  <a:srgbClr val="18232F"/>
                </a:solidFill>
                <a:latin typeface="Segoe UI"/>
              </a:rPr>
              <a:t>Teen saal ka cash teen saal ke profit ke aadhe se kam, ya teen saal ka profit ya cash zero ya usse neeche), aur do ya zyada counted flags aaye toh bhi stock bahar.</a:t>
            </a:r>
          </a:p>
        </p:txBody>
      </p:sp>
      <p:sp>
        <p:nvSpPr>
          <p:cNvPr id="5" name="Rounded Rectangle 4"/>
          <p:cNvSpPr/>
          <p:nvPr/>
        </p:nvSpPr>
        <p:spPr>
          <a:xfrm>
            <a:off x="6214720" y="1335024"/>
            <a:ext cx="5519776" cy="4279392"/>
          </a:xfrm>
          <a:prstGeom prst="roundRect">
            <a:avLst>
              <a:gd name="adj" fmla="val 2564"/>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3822192"/>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Bharat Pumps ke liye Priya ka card: growth upar, margin steady, debt par flag, pledge zero, aur teen saal ka cash Rs 270 crore, profit Rs 300 crore ke saamne. Sirf ek counted flag, isliye stock uski list mein rehta hai, journal mein 'debt: nazar rakho' ke saath. Anand Snacks: promoter ke 45% shares pledge, jo akele hi knock-out hai, upar se teen saal ka cash minus Rs 12 crore, profit Rs 30 crore ke saamne. Stock uski list mein aata hi nahi, 500 stores wali kahani chahe kitni bhi achhi lage. Aman ko kahani ab bhi pasand hai. Pasand karna chalega; us par trade karna nahi.</a:t>
            </a:r>
          </a:p>
        </p:txBody>
      </p:sp>
      <p:sp>
        <p:nvSpPr>
          <p:cNvPr id="8" name="Rounded Rectangle 7"/>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10" name="TextBox 9"/>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Card ka score likhe hue rules dete hain. Kahani nahi, AI bhi nahi.</a:t>
            </a:r>
          </a:p>
        </p:txBody>
      </p:sp>
      <p:pic>
        <p:nvPicPr>
          <p:cNvPr id="11" name="Picture 10" descr="logo.png"/>
          <p:cNvPicPr>
            <a:picLocks noChangeAspect="1"/>
          </p:cNvPicPr>
          <p:nvPr/>
        </p:nvPicPr>
        <p:blipFill>
          <a:blip r:embed="rId2"/>
          <a:stretch>
            <a:fillRect/>
          </a:stretch>
        </p:blipFill>
        <p:spPr>
          <a:xfrm>
            <a:off x="457200" y="6437376"/>
            <a:ext cx="237744" cy="237744"/>
          </a:xfrm>
          <a:prstGeom prst="rect">
            <a:avLst/>
          </a:prstGeom>
        </p:spPr>
      </p:pic>
      <p:sp>
        <p:nvSpPr>
          <p:cNvPr id="12"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3" name="TextBox 12"/>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TOPIC 4/6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Card ka score: pehle rules, kahani sabse baad mein</a:t>
            </a:r>
          </a:p>
        </p:txBody>
      </p:sp>
      <p:sp>
        <p:nvSpPr>
          <p:cNvPr id="4" name="Rounded Rectangle 3"/>
          <p:cNvSpPr/>
          <p:nvPr/>
        </p:nvSpPr>
        <p:spPr>
          <a:xfrm>
            <a:off x="457200" y="1335024"/>
            <a:ext cx="11277295" cy="4937760"/>
          </a:xfrm>
          <a:prstGeom prst="roundRect">
            <a:avLst>
              <a:gd name="adj" fmla="val 222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40080" y="1481328"/>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Card ka score kaise banta hai</a:t>
            </a:r>
          </a:p>
        </p:txBody>
      </p:sp>
      <p:sp>
        <p:nvSpPr>
          <p:cNvPr id="6" name="TextBox 5"/>
          <p:cNvSpPr txBox="1"/>
          <p:nvPr/>
        </p:nvSpPr>
        <p:spPr>
          <a:xfrm>
            <a:off x="640080" y="5984748"/>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Yeh seekhne ke liye bane rough rules hain, patthar ki lakeer nahi. Kisi company ko dekhne se pehle inhe likh lijiye.</a:t>
            </a:r>
          </a:p>
        </p:txBody>
      </p:sp>
      <p:sp>
        <p:nvSpPr>
          <p:cNvPr id="7" name="Rounded Rectangle 6"/>
          <p:cNvSpPr/>
          <p:nvPr/>
        </p:nvSpPr>
        <p:spPr>
          <a:xfrm>
            <a:off x="640080" y="2533269"/>
            <a:ext cx="3527450" cy="2623566"/>
          </a:xfrm>
          <a:prstGeom prst="roundRect">
            <a:avLst>
              <a:gd name="adj" fmla="val 348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Rounded Rectangle 7"/>
          <p:cNvSpPr/>
          <p:nvPr/>
        </p:nvSpPr>
        <p:spPr>
          <a:xfrm>
            <a:off x="640080" y="2533269"/>
            <a:ext cx="3527450" cy="463296"/>
          </a:xfrm>
          <a:prstGeom prst="roundRect">
            <a:avLst>
              <a:gd name="adj" fmla="val 19736"/>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ectangle 8"/>
          <p:cNvSpPr/>
          <p:nvPr/>
        </p:nvSpPr>
        <p:spPr>
          <a:xfrm>
            <a:off x="640080" y="2764917"/>
            <a:ext cx="3527450" cy="23164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Rounded Rectangle 9"/>
          <p:cNvSpPr/>
          <p:nvPr/>
        </p:nvSpPr>
        <p:spPr>
          <a:xfrm>
            <a:off x="640080" y="2533269"/>
            <a:ext cx="3527450" cy="2623566"/>
          </a:xfrm>
          <a:prstGeom prst="roundRect">
            <a:avLst>
              <a:gd name="adj" fmla="val 3485"/>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786384" y="2533269"/>
            <a:ext cx="3234842" cy="463296"/>
          </a:xfrm>
          <a:prstGeom prst="rect">
            <a:avLst/>
          </a:prstGeom>
          <a:noFill/>
        </p:spPr>
        <p:txBody>
          <a:bodyPr wrap="square" lIns="0" rIns="0" tIns="0" bIns="0" anchor="ctr">
            <a:noAutofit/>
          </a:bodyPr>
          <a:lstStyle/>
          <a:p>
            <a:pPr algn="l">
              <a:lnSpc>
                <a:spcPct val="100000"/>
              </a:lnSpc>
            </a:pPr>
            <a:r>
              <a:rPr sz="1600" b="1" i="0">
                <a:solidFill>
                  <a:srgbClr val="991B1B"/>
                </a:solidFill>
                <a:latin typeface="Segoe UI"/>
              </a:rPr>
              <a:t>Knock-out: ek hi kaafi</a:t>
            </a:r>
          </a:p>
        </p:txBody>
      </p:sp>
      <p:cxnSp>
        <p:nvCxnSpPr>
          <p:cNvPr id="12" name="Connector 11"/>
          <p:cNvCxnSpPr/>
          <p:nvPr/>
        </p:nvCxnSpPr>
        <p:spPr>
          <a:xfrm>
            <a:off x="640080" y="2996565"/>
            <a:ext cx="3527450"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86384" y="3142869"/>
            <a:ext cx="3234842" cy="1977390"/>
          </a:xfrm>
          <a:prstGeom prst="rect">
            <a:avLst/>
          </a:prstGeom>
          <a:noFill/>
        </p:spPr>
        <p:txBody>
          <a:bodyPr wrap="square" lIns="0" rIns="0" tIns="0" bIns="0" anchor="t">
            <a:noAutofit/>
          </a:bodyPr>
          <a:lstStyle/>
          <a:p>
            <a:pPr algn="l" marL="201168" indent="-201168">
              <a:lnSpc>
                <a:spcPct val="100000"/>
              </a:lnSpc>
              <a:spcAft>
                <a:spcPts val="750"/>
              </a:spcAft>
              <a:buClr>
                <a:srgbClr val="F0554E"/>
              </a:buClr>
              <a:buFont typeface="Arial"/>
              <a:buChar char="•"/>
            </a:pPr>
            <a:r>
              <a:rPr sz="1500" b="0" i="0">
                <a:solidFill>
                  <a:srgbClr val="18232F"/>
                </a:solidFill>
                <a:latin typeface="Segoe UI"/>
              </a:rPr>
              <a:t>Promoter ke 10% se zyada shares pledge</a:t>
            </a:r>
          </a:p>
          <a:p>
            <a:pPr algn="l" marL="201168" indent="-201168">
              <a:lnSpc>
                <a:spcPct val="100000"/>
              </a:lnSpc>
              <a:buClr>
                <a:srgbClr val="F0554E"/>
              </a:buClr>
              <a:buFont typeface="Arial"/>
              <a:buChar char="•"/>
            </a:pPr>
            <a:r>
              <a:rPr sz="1500" b="0" i="0">
                <a:solidFill>
                  <a:srgbClr val="18232F"/>
                </a:solidFill>
                <a:latin typeface="Segoe UI"/>
              </a:rPr>
              <a:t>Pledge % lagatar do quarter se badha</a:t>
            </a:r>
          </a:p>
        </p:txBody>
      </p:sp>
      <p:sp>
        <p:nvSpPr>
          <p:cNvPr id="14" name="Rounded Rectangle 13"/>
          <p:cNvSpPr/>
          <p:nvPr/>
        </p:nvSpPr>
        <p:spPr>
          <a:xfrm>
            <a:off x="4332122" y="2533269"/>
            <a:ext cx="3527450" cy="2623566"/>
          </a:xfrm>
          <a:prstGeom prst="roundRect">
            <a:avLst>
              <a:gd name="adj" fmla="val 348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Rounded Rectangle 14"/>
          <p:cNvSpPr/>
          <p:nvPr/>
        </p:nvSpPr>
        <p:spPr>
          <a:xfrm>
            <a:off x="4332122" y="2533269"/>
            <a:ext cx="3527450" cy="463296"/>
          </a:xfrm>
          <a:prstGeom prst="roundRect">
            <a:avLst>
              <a:gd name="adj" fmla="val 19736"/>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Rectangle 15"/>
          <p:cNvSpPr/>
          <p:nvPr/>
        </p:nvSpPr>
        <p:spPr>
          <a:xfrm>
            <a:off x="4332122" y="2764917"/>
            <a:ext cx="3527450" cy="231648"/>
          </a:xfrm>
          <a:prstGeom prst="rect">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4332122" y="2533269"/>
            <a:ext cx="3527450" cy="2623566"/>
          </a:xfrm>
          <a:prstGeom prst="roundRect">
            <a:avLst>
              <a:gd name="adj" fmla="val 3485"/>
            </a:avLst>
          </a:prstGeom>
          <a:noFill/>
          <a:ln w="15875">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4478426" y="2533269"/>
            <a:ext cx="3234842" cy="463296"/>
          </a:xfrm>
          <a:prstGeom prst="rect">
            <a:avLst/>
          </a:prstGeom>
          <a:noFill/>
        </p:spPr>
        <p:txBody>
          <a:bodyPr wrap="square" lIns="0" rIns="0" tIns="0" bIns="0" anchor="ctr">
            <a:noAutofit/>
          </a:bodyPr>
          <a:lstStyle/>
          <a:p>
            <a:pPr algn="l">
              <a:lnSpc>
                <a:spcPct val="100000"/>
              </a:lnSpc>
            </a:pPr>
            <a:r>
              <a:rPr sz="1600" b="1" i="0">
                <a:solidFill>
                  <a:srgbClr val="92400E"/>
                </a:solidFill>
                <a:latin typeface="Segoe UI"/>
              </a:rPr>
              <a:t>Counted: do ya zyada = bahar</a:t>
            </a:r>
          </a:p>
        </p:txBody>
      </p:sp>
      <p:cxnSp>
        <p:nvCxnSpPr>
          <p:cNvPr id="19" name="Connector 18"/>
          <p:cNvCxnSpPr/>
          <p:nvPr/>
        </p:nvCxnSpPr>
        <p:spPr>
          <a:xfrm>
            <a:off x="4332122" y="2996565"/>
            <a:ext cx="3527451" cy="0"/>
          </a:xfrm>
          <a:prstGeom prst="line">
            <a:avLst/>
          </a:prstGeom>
          <a:ln w="15875">
            <a:solidFill>
              <a:srgbClr val="F5A524"/>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478426" y="3142869"/>
            <a:ext cx="3234842" cy="1977390"/>
          </a:xfrm>
          <a:prstGeom prst="rect">
            <a:avLst/>
          </a:prstGeom>
          <a:noFill/>
        </p:spPr>
        <p:txBody>
          <a:bodyPr wrap="square" lIns="0" rIns="0" tIns="0" bIns="0" anchor="t">
            <a:noAutofit/>
          </a:bodyPr>
          <a:lstStyle/>
          <a:p>
            <a:pPr algn="l" marL="201168" indent="-201168">
              <a:lnSpc>
                <a:spcPct val="100000"/>
              </a:lnSpc>
              <a:spcAft>
                <a:spcPts val="750"/>
              </a:spcAft>
              <a:buClr>
                <a:srgbClr val="F5A524"/>
              </a:buClr>
              <a:buFont typeface="Arial"/>
              <a:buChar char="•"/>
            </a:pPr>
            <a:r>
              <a:rPr sz="1500" b="0" i="0">
                <a:solidFill>
                  <a:srgbClr val="18232F"/>
                </a:solidFill>
                <a:latin typeface="Segoe UI"/>
              </a:rPr>
              <a:t>Sales: saal 3, saal 1 se kam</a:t>
            </a:r>
          </a:p>
          <a:p>
            <a:pPr algn="l" marL="201168" indent="-201168">
              <a:lnSpc>
                <a:spcPct val="100000"/>
              </a:lnSpc>
              <a:spcAft>
                <a:spcPts val="750"/>
              </a:spcAft>
              <a:buClr>
                <a:srgbClr val="F5A524"/>
              </a:buClr>
              <a:buFont typeface="Arial"/>
              <a:buChar char="•"/>
            </a:pPr>
            <a:r>
              <a:rPr sz="1500" b="0" i="0">
                <a:solidFill>
                  <a:srgbClr val="18232F"/>
                </a:solidFill>
                <a:latin typeface="Segoe UI"/>
              </a:rPr>
              <a:t>Margin saal 2 aur saal 3 dono mein gira</a:t>
            </a:r>
          </a:p>
          <a:p>
            <a:pPr algn="l" marL="201168" indent="-201168">
              <a:lnSpc>
                <a:spcPct val="100000"/>
              </a:lnSpc>
              <a:spcAft>
                <a:spcPts val="750"/>
              </a:spcAft>
              <a:buClr>
                <a:srgbClr val="F5A524"/>
              </a:buClr>
              <a:buFont typeface="Arial"/>
              <a:buChar char="•"/>
            </a:pPr>
            <a:r>
              <a:rPr sz="1500" b="0" i="0">
                <a:solidFill>
                  <a:srgbClr val="18232F"/>
                </a:solidFill>
                <a:latin typeface="Segoe UI"/>
              </a:rPr>
              <a:t>D/E 1 se upar ya cover 2 se neeche</a:t>
            </a:r>
          </a:p>
          <a:p>
            <a:pPr algn="l" marL="201168" indent="-201168">
              <a:lnSpc>
                <a:spcPct val="100000"/>
              </a:lnSpc>
              <a:buClr>
                <a:srgbClr val="F5A524"/>
              </a:buClr>
              <a:buFont typeface="Arial"/>
              <a:buChar char="•"/>
            </a:pPr>
            <a:r>
              <a:rPr sz="1500" b="0" i="0">
                <a:solidFill>
                  <a:srgbClr val="18232F"/>
                </a:solidFill>
                <a:latin typeface="Segoe UI"/>
              </a:rPr>
              <a:t>Teen saal ka cash profit ke aadhe se kam, ya loss</a:t>
            </a:r>
          </a:p>
        </p:txBody>
      </p:sp>
      <p:sp>
        <p:nvSpPr>
          <p:cNvPr id="21" name="Rounded Rectangle 20"/>
          <p:cNvSpPr/>
          <p:nvPr/>
        </p:nvSpPr>
        <p:spPr>
          <a:xfrm>
            <a:off x="8024165" y="2533269"/>
            <a:ext cx="3527450" cy="2623566"/>
          </a:xfrm>
          <a:prstGeom prst="roundRect">
            <a:avLst>
              <a:gd name="adj" fmla="val 348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Rounded Rectangle 21"/>
          <p:cNvSpPr/>
          <p:nvPr/>
        </p:nvSpPr>
        <p:spPr>
          <a:xfrm>
            <a:off x="8024165" y="2533269"/>
            <a:ext cx="3527450" cy="463296"/>
          </a:xfrm>
          <a:prstGeom prst="roundRect">
            <a:avLst>
              <a:gd name="adj" fmla="val 19736"/>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ectangle 22"/>
          <p:cNvSpPr/>
          <p:nvPr/>
        </p:nvSpPr>
        <p:spPr>
          <a:xfrm>
            <a:off x="8024165" y="2764917"/>
            <a:ext cx="3527450" cy="231648"/>
          </a:xfrm>
          <a:prstGeom prst="rect">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Rounded Rectangle 23"/>
          <p:cNvSpPr/>
          <p:nvPr/>
        </p:nvSpPr>
        <p:spPr>
          <a:xfrm>
            <a:off x="8024165" y="2533269"/>
            <a:ext cx="3527450" cy="2623566"/>
          </a:xfrm>
          <a:prstGeom prst="roundRect">
            <a:avLst>
              <a:gd name="adj" fmla="val 3485"/>
            </a:avLst>
          </a:prstGeom>
          <a:no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TextBox 24"/>
          <p:cNvSpPr txBox="1"/>
          <p:nvPr/>
        </p:nvSpPr>
        <p:spPr>
          <a:xfrm>
            <a:off x="8170469" y="2533269"/>
            <a:ext cx="3234842" cy="463296"/>
          </a:xfrm>
          <a:prstGeom prst="rect">
            <a:avLst/>
          </a:prstGeom>
          <a:noFill/>
        </p:spPr>
        <p:txBody>
          <a:bodyPr wrap="square" lIns="0" rIns="0" tIns="0" bIns="0" anchor="ctr">
            <a:noAutofit/>
          </a:bodyPr>
          <a:lstStyle/>
          <a:p>
            <a:pPr algn="l">
              <a:lnSpc>
                <a:spcPct val="100000"/>
              </a:lnSpc>
            </a:pPr>
            <a:r>
              <a:rPr sz="1600" b="1" i="0">
                <a:solidFill>
                  <a:srgbClr val="47596B"/>
                </a:solidFill>
                <a:latin typeface="Segoe UI"/>
              </a:rPr>
              <a:t>Check fit nahi hota</a:t>
            </a:r>
          </a:p>
        </p:txBody>
      </p:sp>
      <p:cxnSp>
        <p:nvCxnSpPr>
          <p:cNvPr id="26" name="Connector 25"/>
          <p:cNvCxnSpPr/>
          <p:nvPr/>
        </p:nvCxnSpPr>
        <p:spPr>
          <a:xfrm>
            <a:off x="8024165" y="2996565"/>
            <a:ext cx="3527450" cy="0"/>
          </a:xfrm>
          <a:prstGeom prst="line">
            <a:avLst/>
          </a:prstGeom>
          <a:ln w="1587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170469" y="3142869"/>
            <a:ext cx="3234842" cy="1977390"/>
          </a:xfrm>
          <a:prstGeom prst="rect">
            <a:avLst/>
          </a:prstGeom>
          <a:noFill/>
        </p:spPr>
        <p:txBody>
          <a:bodyPr wrap="square" lIns="0" rIns="0" tIns="0" bIns="0" anchor="t">
            <a:noAutofit/>
          </a:bodyPr>
          <a:lstStyle/>
          <a:p>
            <a:pPr algn="l" marL="201168" indent="-201168">
              <a:lnSpc>
                <a:spcPct val="100000"/>
              </a:lnSpc>
              <a:spcAft>
                <a:spcPts val="750"/>
              </a:spcAft>
              <a:buClr>
                <a:srgbClr val="57687A"/>
              </a:buClr>
              <a:buFont typeface="Arial"/>
              <a:buChar char="•"/>
            </a:pPr>
            <a:r>
              <a:rPr sz="1500" b="0" i="0">
                <a:solidFill>
                  <a:srgbClr val="18232F"/>
                </a:solidFill>
                <a:latin typeface="Segoe UI"/>
              </a:rPr>
              <a:t>Banks, NBFCs aur insurers</a:t>
            </a:r>
          </a:p>
          <a:p>
            <a:pPr algn="l" marL="201168" indent="-201168">
              <a:lnSpc>
                <a:spcPct val="100000"/>
              </a:lnSpc>
              <a:spcAft>
                <a:spcPts val="750"/>
              </a:spcAft>
              <a:buClr>
                <a:srgbClr val="57687A"/>
              </a:buClr>
              <a:buFont typeface="Arial"/>
              <a:buChar char="•"/>
            </a:pPr>
            <a:r>
              <a:rPr sz="1500" b="0" i="0">
                <a:solidFill>
                  <a:srgbClr val="18232F"/>
                </a:solidFill>
                <a:latin typeface="Segoe UI"/>
              </a:rPr>
              <a:t>Udhaar ya insurance hi unka business</a:t>
            </a:r>
          </a:p>
          <a:p>
            <a:pPr algn="l" marL="201168" indent="-201168">
              <a:lnSpc>
                <a:spcPct val="100000"/>
              </a:lnSpc>
              <a:buClr>
                <a:srgbClr val="57687A"/>
              </a:buClr>
              <a:buFont typeface="Arial"/>
              <a:buChar char="•"/>
            </a:pPr>
            <a:r>
              <a:rPr sz="1500" b="0" i="0">
                <a:solidFill>
                  <a:srgbClr val="18232F"/>
                </a:solidFill>
                <a:latin typeface="Segoe UI"/>
              </a:rPr>
              <a:t>Stage 1 mein list se bahar</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Corporate actions: jab company aapke shares mein badlaav karti hai</a:t>
            </a:r>
          </a:p>
        </p:txBody>
      </p:sp>
      <p:sp>
        <p:nvSpPr>
          <p:cNvPr id="4" name="TextBox 3"/>
          <p:cNvSpPr txBox="1"/>
          <p:nvPr/>
        </p:nvSpPr>
        <p:spPr>
          <a:xfrm>
            <a:off x="457200" y="1335024"/>
            <a:ext cx="5519776" cy="219964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Corporate action company ka woh faisla hai jo badal deta hai ki har shareholder ke paas kya hai ya use kya milega.</a:t>
            </a:r>
          </a:p>
          <a:p>
            <a:pPr algn="l" marL="274320" indent="-274320">
              <a:lnSpc>
                <a:spcPct val="100000"/>
              </a:lnSpc>
              <a:spcAft>
                <a:spcPts val="800"/>
              </a:spcAft>
              <a:buClr>
                <a:srgbClr val="F5A623"/>
              </a:buClr>
              <a:buFont typeface="Arial"/>
              <a:buChar char="•"/>
            </a:pPr>
            <a:r>
              <a:rPr sz="1600" b="0" i="0">
                <a:solidFill>
                  <a:srgbClr val="18232F"/>
                </a:solidFill>
                <a:latin typeface="Segoe UI"/>
              </a:rPr>
              <a:t>Dividend profit mein se har share par diya gaya cash hai, aur ex-date par price aam taur par lagbhag utna hi gir jaata hai.</a:t>
            </a:r>
          </a:p>
          <a:p>
            <a:pPr algn="l" marL="274320" indent="-274320">
              <a:lnSpc>
                <a:spcPct val="100000"/>
              </a:lnSpc>
              <a:buClr>
                <a:srgbClr val="F5A623"/>
              </a:buClr>
              <a:buFont typeface="Arial"/>
              <a:buChar char="•"/>
            </a:pPr>
            <a:r>
              <a:rPr sz="1600" b="0" i="0">
                <a:solidFill>
                  <a:srgbClr val="18232F"/>
                </a:solidFill>
                <a:latin typeface="Segoe UI"/>
              </a:rPr>
              <a:t>Rights issue mein shareholders ko tay price par, aam taur par market se kam, naye shares offer hote hain.</a:t>
            </a:r>
          </a:p>
        </p:txBody>
      </p:sp>
      <p:sp>
        <p:nvSpPr>
          <p:cNvPr id="5" name="Rounded Rectangle 4"/>
          <p:cNvSpPr/>
          <p:nvPr/>
        </p:nvSpPr>
        <p:spPr>
          <a:xfrm>
            <a:off x="457200" y="3690112"/>
            <a:ext cx="5519776" cy="1924304"/>
          </a:xfrm>
          <a:prstGeom prst="roundRect">
            <a:avLst>
              <a:gd name="adj" fmla="val 5702"/>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8181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074160"/>
            <a:ext cx="5154016" cy="14671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 ka 'crash' (neeche chart): kuch hafte pehle Gupta Cement Ltd ek Thursday ko Rs 818 par band hua aur Friday ko lagbhag Rs 409 par khula, kyunki Friday 1:1 bonus ki ex-date thi. Rs 81,800 ke 100 shares ab Rs 409 ke 200 shares ban gaye, phir bhi Rs 81,800; extra 100 shares record date ke ek-do din baad demat mein aate hain, isliye Friday ko 100 hi dikhein toh ghabraiye mat. Rights aur buyback mein aapka faisla maayne rakhta hai. … Kisi bhi achanak bahut bade gap par bharosa karne se pehle nseindia.com par corporate actions page check kijiye.</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Crash? Nahi, 1:1 bonus</a:t>
            </a:r>
          </a:p>
        </p:txBody>
      </p:sp>
      <p:sp>
        <p:nvSpPr>
          <p:cNvPr id="11" name="TextBox 10"/>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Gupta Cement ka unadjusted daily chart. 100 shares x Rs 818 = 200 shares x Rs 409 = Rs 81,800. Unadjusted data par EMA, RSI aur ATR is gap ko asli girawat samajh lete hain (Day 11).</a:t>
            </a:r>
          </a:p>
        </p:txBody>
      </p:sp>
      <p:cxnSp>
        <p:nvCxnSpPr>
          <p:cNvPr id="12" name="Connector 11"/>
          <p:cNvCxnSpPr/>
          <p:nvPr/>
        </p:nvCxnSpPr>
        <p:spPr>
          <a:xfrm>
            <a:off x="6812159" y="4521708"/>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43941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370.4</a:t>
            </a:r>
          </a:p>
        </p:txBody>
      </p:sp>
      <p:cxnSp>
        <p:nvCxnSpPr>
          <p:cNvPr id="14" name="Connector 13"/>
          <p:cNvCxnSpPr/>
          <p:nvPr/>
        </p:nvCxnSpPr>
        <p:spPr>
          <a:xfrm>
            <a:off x="6812159" y="3744468"/>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66217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532.8</a:t>
            </a:r>
          </a:p>
        </p:txBody>
      </p:sp>
      <p:cxnSp>
        <p:nvCxnSpPr>
          <p:cNvPr id="16" name="Connector 15"/>
          <p:cNvCxnSpPr/>
          <p:nvPr/>
        </p:nvCxnSpPr>
        <p:spPr>
          <a:xfrm>
            <a:off x="6812159" y="2967228"/>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88493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695.2</a:t>
            </a:r>
          </a:p>
        </p:txBody>
      </p:sp>
      <p:cxnSp>
        <p:nvCxnSpPr>
          <p:cNvPr id="18" name="Connector 17"/>
          <p:cNvCxnSpPr/>
          <p:nvPr/>
        </p:nvCxnSpPr>
        <p:spPr>
          <a:xfrm>
            <a:off x="6812159" y="2189988"/>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10769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857.6</a:t>
            </a:r>
          </a:p>
        </p:txBody>
      </p:sp>
      <p:cxnSp>
        <p:nvCxnSpPr>
          <p:cNvPr id="20" name="Connector 19"/>
          <p:cNvCxnSpPr/>
          <p:nvPr/>
        </p:nvCxnSpPr>
        <p:spPr>
          <a:xfrm>
            <a:off x="7024264" y="2456087"/>
            <a:ext cx="0" cy="86148"/>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897001" y="2475231"/>
            <a:ext cx="254526" cy="38288"/>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2" name="Connector 21"/>
          <p:cNvCxnSpPr/>
          <p:nvPr/>
        </p:nvCxnSpPr>
        <p:spPr>
          <a:xfrm>
            <a:off x="7448474" y="2408228"/>
            <a:ext cx="0" cy="86147"/>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7321211" y="2427372"/>
            <a:ext cx="254526" cy="478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4" name="Connector 23"/>
          <p:cNvCxnSpPr/>
          <p:nvPr/>
        </p:nvCxnSpPr>
        <p:spPr>
          <a:xfrm>
            <a:off x="7872683" y="2393870"/>
            <a:ext cx="0" cy="71789"/>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7745420" y="2427372"/>
            <a:ext cx="254526" cy="19144"/>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6" name="Connector 25"/>
          <p:cNvCxnSpPr/>
          <p:nvPr/>
        </p:nvCxnSpPr>
        <p:spPr>
          <a:xfrm>
            <a:off x="8296892" y="2379512"/>
            <a:ext cx="0" cy="81361"/>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8169630" y="2393870"/>
            <a:ext cx="254526" cy="5264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8" name="Connector 27"/>
          <p:cNvCxnSpPr/>
          <p:nvPr/>
        </p:nvCxnSpPr>
        <p:spPr>
          <a:xfrm>
            <a:off x="8721102" y="2360368"/>
            <a:ext cx="0" cy="6221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8593839" y="2393870"/>
            <a:ext cx="254526" cy="18288"/>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9145311" y="2350796"/>
            <a:ext cx="0" cy="7657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9018048" y="2379512"/>
            <a:ext cx="254526" cy="2871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9569521" y="4303468"/>
            <a:ext cx="0" cy="5743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9442258" y="4317826"/>
            <a:ext cx="254526" cy="18288"/>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4" name="Connector 33"/>
          <p:cNvCxnSpPr/>
          <p:nvPr/>
        </p:nvCxnSpPr>
        <p:spPr>
          <a:xfrm>
            <a:off x="9993730" y="4289110"/>
            <a:ext cx="0" cy="4786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9866467" y="4298682"/>
            <a:ext cx="254526" cy="1914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10417940" y="4279538"/>
            <a:ext cx="0" cy="4786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10290677" y="4298682"/>
            <a:ext cx="254526" cy="18288"/>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8" name="Connector 37"/>
          <p:cNvCxnSpPr/>
          <p:nvPr/>
        </p:nvCxnSpPr>
        <p:spPr>
          <a:xfrm>
            <a:off x="10842149" y="4274752"/>
            <a:ext cx="0" cy="4786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10714886" y="4284324"/>
            <a:ext cx="254526" cy="2871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0" name="Connector 39"/>
          <p:cNvCxnSpPr/>
          <p:nvPr/>
        </p:nvCxnSpPr>
        <p:spPr>
          <a:xfrm>
            <a:off x="11266358" y="4255609"/>
            <a:ext cx="0" cy="4785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1139096" y="4269966"/>
            <a:ext cx="254526" cy="18288"/>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2" name="Isosceles Triangle 41"/>
          <p:cNvSpPr/>
          <p:nvPr/>
        </p:nvSpPr>
        <p:spPr>
          <a:xfrm rot="10800000">
            <a:off x="9090447" y="2213636"/>
            <a:ext cx="109728" cy="91440"/>
          </a:xfrm>
          <a:prstGeom prst="triangle">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3" name="TextBox 42"/>
          <p:cNvSpPr txBox="1"/>
          <p:nvPr/>
        </p:nvSpPr>
        <p:spPr>
          <a:xfrm>
            <a:off x="8830909" y="2003324"/>
            <a:ext cx="628804" cy="192024"/>
          </a:xfrm>
          <a:prstGeom prst="rect">
            <a:avLst/>
          </a:prstGeom>
          <a:noFill/>
        </p:spPr>
        <p:txBody>
          <a:bodyPr wrap="square" lIns="0" rIns="0" tIns="0" bIns="0" anchor="ctr">
            <a:noAutofit/>
          </a:bodyPr>
          <a:lstStyle/>
          <a:p>
            <a:pPr algn="ctr">
              <a:lnSpc>
                <a:spcPct val="100000"/>
              </a:lnSpc>
            </a:pPr>
            <a:r>
              <a:rPr sz="1000" b="1" i="0">
                <a:solidFill>
                  <a:srgbClr val="47596B"/>
                </a:solidFill>
                <a:latin typeface="Segoe UI"/>
              </a:rPr>
              <a:t>Close 818</a:t>
            </a:r>
          </a:p>
        </p:txBody>
      </p:sp>
      <p:sp>
        <p:nvSpPr>
          <p:cNvPr id="44" name="Isosceles Triangle 43"/>
          <p:cNvSpPr/>
          <p:nvPr/>
        </p:nvSpPr>
        <p:spPr>
          <a:xfrm>
            <a:off x="9514657" y="4406620"/>
            <a:ext cx="109728" cy="91440"/>
          </a:xfrm>
          <a:prstGeom prst="triangl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5" name="TextBox 44"/>
          <p:cNvSpPr txBox="1"/>
          <p:nvPr/>
        </p:nvSpPr>
        <p:spPr>
          <a:xfrm>
            <a:off x="9106409" y="4516348"/>
            <a:ext cx="926224" cy="192024"/>
          </a:xfrm>
          <a:prstGeom prst="rect">
            <a:avLst/>
          </a:prstGeom>
          <a:noFill/>
        </p:spPr>
        <p:txBody>
          <a:bodyPr wrap="square" lIns="0" rIns="0" tIns="0" bIns="0" anchor="ctr">
            <a:noAutofit/>
          </a:bodyPr>
          <a:lstStyle/>
          <a:p>
            <a:pPr algn="ctr">
              <a:lnSpc>
                <a:spcPct val="100000"/>
              </a:lnSpc>
            </a:pPr>
            <a:r>
              <a:rPr sz="1000" b="1" i="0">
                <a:solidFill>
                  <a:srgbClr val="92400E"/>
                </a:solidFill>
                <a:latin typeface="Segoe UI"/>
              </a:rPr>
              <a:t>Bonus ex-date</a:t>
            </a:r>
          </a:p>
        </p:txBody>
      </p:sp>
      <p:sp>
        <p:nvSpPr>
          <p:cNvPr id="46" name="Rounded Rectangle 45"/>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7" name="Rounded Rectangle 46"/>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48" name="TextBox 47"/>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Bonus ya split shares ki ginti badalta hai, aapki holding ki value nahi. Rights issue mein offer chhod dena hi woh ek faisla hai jo aapko nuksaan deta hai.</a:t>
            </a:r>
          </a:p>
        </p:txBody>
      </p:sp>
      <p:pic>
        <p:nvPicPr>
          <p:cNvPr id="49" name="Picture 48" descr="logo.png"/>
          <p:cNvPicPr>
            <a:picLocks noChangeAspect="1"/>
          </p:cNvPicPr>
          <p:nvPr/>
        </p:nvPicPr>
        <p:blipFill>
          <a:blip r:embed="rId2"/>
          <a:stretch>
            <a:fillRect/>
          </a:stretch>
        </p:blipFill>
        <p:spPr>
          <a:xfrm>
            <a:off x="457200" y="6437376"/>
            <a:ext cx="237744" cy="237744"/>
          </a:xfrm>
          <a:prstGeom prst="rect">
            <a:avLst/>
          </a:prstGeom>
        </p:spPr>
      </p:pic>
      <p:sp>
        <p:nvSpPr>
          <p:cNvPr id="5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51" name="TextBox 5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Record date aur ex-date: fayda kise milega</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Record date woh din hai jab company depositories se shareholders ki list leti hai.</a:t>
            </a:r>
          </a:p>
          <a:p>
            <a:pPr algn="l" marL="274320" indent="-274320">
              <a:lnSpc>
                <a:spcPct val="100000"/>
              </a:lnSpc>
              <a:spcAft>
                <a:spcPts val="800"/>
              </a:spcAft>
              <a:buClr>
                <a:srgbClr val="F5A623"/>
              </a:buClr>
              <a:buFont typeface="Arial"/>
              <a:buChar char="•"/>
            </a:pPr>
            <a:r>
              <a:rPr sz="1600" b="0" i="0">
                <a:solidFill>
                  <a:srgbClr val="18232F"/>
                </a:solidFill>
                <a:latin typeface="Segoe UI"/>
              </a:rPr>
              <a:t>Jo us list mein hai, use dividend, bonus ya rights milte hain.</a:t>
            </a:r>
          </a:p>
          <a:p>
            <a:pPr algn="l" marL="274320" indent="-274320">
              <a:lnSpc>
                <a:spcPct val="100000"/>
              </a:lnSpc>
              <a:spcAft>
                <a:spcPts val="800"/>
              </a:spcAft>
              <a:buClr>
                <a:srgbClr val="F5A623"/>
              </a:buClr>
              <a:buFont typeface="Arial"/>
              <a:buChar char="•"/>
            </a:pPr>
            <a:r>
              <a:rPr sz="1600" b="0" i="0">
                <a:solidFill>
                  <a:srgbClr val="18232F"/>
                </a:solidFill>
                <a:latin typeface="Segoe UI"/>
              </a:rPr>
              <a:t>Ex-date woh pehla din hai jab share us fayde ke bina trade hota hai.</a:t>
            </a:r>
          </a:p>
          <a:p>
            <a:pPr algn="l" marL="274320" indent="-274320">
              <a:lnSpc>
                <a:spcPct val="100000"/>
              </a:lnSpc>
              <a:buClr>
                <a:srgbClr val="F5A623"/>
              </a:buClr>
              <a:buFont typeface="Arial"/>
              <a:buChar char="•"/>
            </a:pPr>
            <a:r>
              <a:rPr sz="1600" b="0" i="0">
                <a:solidFill>
                  <a:srgbClr val="18232F"/>
                </a:solidFill>
                <a:latin typeface="Segoe UI"/>
              </a:rPr>
              <a:t>India mein equity settlement T+1 hai, isliye ab ex-date aur record date ek hi din padte hain, aur fayda lena hai toh ex-date se pichhle trading day tak khareedna hoga.</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Sharma Textiles Ltd Rs 12 ka dividend declare karti hai, aur Tuesday ex-date bhi hai aur record date bhi. Priya Monday ko Rs 612 par 50 shares khareedti hai, Rs 30,600 dekar; yeh Tuesday ko settle hote hain, toh woh list mein aa jaati hai. Tuesday ko share lagbhag Rs 600 par khulta hai. … Day 19 mein ex-dates aapke no-trade calendar mein judengi.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T+1 mein dividend ka calendar</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Din sirf example ke liye hain. Asli ex-date aur record date NSE ke corporate actions page par milti hain.</a:t>
            </a:r>
          </a:p>
        </p:txBody>
      </p:sp>
      <p:cxnSp>
        <p:nvCxnSpPr>
          <p:cNvPr id="11" name="Connector 10"/>
          <p:cNvCxnSpPr/>
          <p:nvPr/>
        </p:nvCxnSpPr>
        <p:spPr>
          <a:xfrm>
            <a:off x="6637598" y="2257806"/>
            <a:ext cx="0" cy="2281428"/>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397600" y="2093214"/>
            <a:ext cx="479996"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a:t>
            </a:r>
          </a:p>
        </p:txBody>
      </p:sp>
      <p:sp>
        <p:nvSpPr>
          <p:cNvPr id="13" name="TextBox 12"/>
          <p:cNvSpPr txBox="1"/>
          <p:nvPr/>
        </p:nvSpPr>
        <p:spPr>
          <a:xfrm>
            <a:off x="7060476" y="2111502"/>
            <a:ext cx="4491139"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Dividend announce hua</a:t>
            </a:r>
          </a:p>
          <a:p>
            <a:pPr algn="l">
              <a:lnSpc>
                <a:spcPct val="100000"/>
              </a:lnSpc>
            </a:pPr>
            <a:r>
              <a:rPr sz="1250" b="0" i="0">
                <a:solidFill>
                  <a:srgbClr val="47596B"/>
                </a:solidFill>
                <a:latin typeface="Segoe UI"/>
              </a:rPr>
              <a:t>Har share par Rs 12; record date Tuesday tay</a:t>
            </a:r>
          </a:p>
        </p:txBody>
      </p:sp>
      <p:sp>
        <p:nvSpPr>
          <p:cNvPr id="14" name="Rounded Rectangle 13"/>
          <p:cNvSpPr/>
          <p:nvPr/>
        </p:nvSpPr>
        <p:spPr>
          <a:xfrm>
            <a:off x="6397600" y="2853690"/>
            <a:ext cx="479996"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T</a:t>
            </a:r>
          </a:p>
        </p:txBody>
      </p:sp>
      <p:sp>
        <p:nvSpPr>
          <p:cNvPr id="15" name="TextBox 14"/>
          <p:cNvSpPr txBox="1"/>
          <p:nvPr/>
        </p:nvSpPr>
        <p:spPr>
          <a:xfrm>
            <a:off x="7060476" y="2871978"/>
            <a:ext cx="4491139"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Monday: khareedne ka aakhri din</a:t>
            </a:r>
          </a:p>
          <a:p>
            <a:pPr algn="l">
              <a:lnSpc>
                <a:spcPct val="100000"/>
              </a:lnSpc>
            </a:pPr>
            <a:r>
              <a:rPr sz="1250" b="0" i="0">
                <a:solidFill>
                  <a:srgbClr val="47596B"/>
                </a:solidFill>
                <a:latin typeface="Segoe UI"/>
              </a:rPr>
              <a:t>Shares Tuesday ko settle (T+1), aap list mein</a:t>
            </a:r>
          </a:p>
        </p:txBody>
      </p:sp>
      <p:sp>
        <p:nvSpPr>
          <p:cNvPr id="16" name="Rounded Rectangle 15"/>
          <p:cNvSpPr/>
          <p:nvPr/>
        </p:nvSpPr>
        <p:spPr>
          <a:xfrm>
            <a:off x="6397600" y="3614166"/>
            <a:ext cx="479996"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T+1</a:t>
            </a:r>
          </a:p>
        </p:txBody>
      </p:sp>
      <p:sp>
        <p:nvSpPr>
          <p:cNvPr id="17" name="TextBox 16"/>
          <p:cNvSpPr txBox="1"/>
          <p:nvPr/>
        </p:nvSpPr>
        <p:spPr>
          <a:xfrm>
            <a:off x="7060476" y="3632454"/>
            <a:ext cx="4491139"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Tuesday: ex-date = record date</a:t>
            </a:r>
          </a:p>
          <a:p>
            <a:pPr algn="l">
              <a:lnSpc>
                <a:spcPct val="100000"/>
              </a:lnSpc>
            </a:pPr>
            <a:r>
              <a:rPr sz="1250" b="0" i="0">
                <a:solidFill>
                  <a:srgbClr val="47596B"/>
                </a:solidFill>
                <a:latin typeface="Segoe UI"/>
              </a:rPr>
              <a:t>Price lagbhag Rs 12 neeche khulta hai; list ban jaati hai</a:t>
            </a:r>
          </a:p>
        </p:txBody>
      </p:sp>
      <p:sp>
        <p:nvSpPr>
          <p:cNvPr id="18" name="Rounded Rectangle 17"/>
          <p:cNvSpPr/>
          <p:nvPr/>
        </p:nvSpPr>
        <p:spPr>
          <a:xfrm>
            <a:off x="6397600" y="4374642"/>
            <a:ext cx="479996"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4</a:t>
            </a:r>
          </a:p>
        </p:txBody>
      </p:sp>
      <p:sp>
        <p:nvSpPr>
          <p:cNvPr id="19" name="TextBox 18"/>
          <p:cNvSpPr txBox="1"/>
          <p:nvPr/>
        </p:nvSpPr>
        <p:spPr>
          <a:xfrm>
            <a:off x="7060476" y="4392930"/>
            <a:ext cx="4491139"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Payment date</a:t>
            </a:r>
          </a:p>
          <a:p>
            <a:pPr algn="l">
              <a:lnSpc>
                <a:spcPct val="100000"/>
              </a:lnSpc>
            </a:pPr>
            <a:r>
              <a:rPr sz="1250" b="0" i="0">
                <a:solidFill>
                  <a:srgbClr val="47596B"/>
                </a:solidFill>
                <a:latin typeface="Segoe UI"/>
              </a:rPr>
              <a:t>Har share par Rs 12, holders ke bank account mein</a:t>
            </a:r>
          </a:p>
        </p:txBody>
      </p:sp>
      <p:sp>
        <p:nvSpPr>
          <p:cNvPr id="20" name="Rounded Rectangle 19"/>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2" name="TextBox 21"/>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50" b="1" i="0">
                <a:solidFill>
                  <a:srgbClr val="FFFFFF"/>
                </a:solidFill>
                <a:latin typeface="Segoe UI"/>
              </a:rPr>
              <a:t>Fayda chahiye toh ex-date se pichhle trading day tak khareed lijiye. Price toh har haal mein adjust hota hai.</a:t>
            </a:r>
          </a:p>
        </p:txBody>
      </p:sp>
      <p:pic>
        <p:nvPicPr>
          <p:cNvPr id="23" name="Picture 22" descr="logo.png"/>
          <p:cNvPicPr>
            <a:picLocks noChangeAspect="1"/>
          </p:cNvPicPr>
          <p:nvPr/>
        </p:nvPicPr>
        <p:blipFill>
          <a:blip r:embed="rId2"/>
          <a:stretch>
            <a:fillRect/>
          </a:stretch>
        </p:blipFill>
        <p:spPr>
          <a:xfrm>
            <a:off x="457200" y="6437376"/>
            <a:ext cx="237744" cy="237744"/>
          </a:xfrm>
          <a:prstGeom prst="rect">
            <a:avLst/>
          </a:prstGeom>
        </p:spPr>
      </p:pic>
      <p:sp>
        <p:nvSpPr>
          <p:cNvPr id="24"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5" name="TextBox 24"/>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ke naye shabd</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530096"/>
            <a:ext cx="5154016" cy="254508"/>
          </a:xfrm>
          <a:prstGeom prst="rect">
            <a:avLst/>
          </a:prstGeom>
          <a:noFill/>
        </p:spPr>
        <p:txBody>
          <a:bodyPr wrap="square" lIns="0" rIns="0" tIns="0" bIns="0" anchor="t">
            <a:noAutofit/>
          </a:bodyPr>
          <a:lstStyle/>
          <a:p>
            <a:pPr algn="l">
              <a:lnSpc>
                <a:spcPct val="100000"/>
              </a:lnSpc>
            </a:pPr>
            <a:r>
              <a:rPr sz="1550" b="1" i="0">
                <a:solidFill>
                  <a:srgbClr val="92400E"/>
                </a:solidFill>
                <a:latin typeface="Segoe UI"/>
              </a:rPr>
              <a:t>Market cap</a:t>
            </a:r>
          </a:p>
        </p:txBody>
      </p:sp>
      <p:sp>
        <p:nvSpPr>
          <p:cNvPr id="6" name="TextBox 5"/>
          <p:cNvSpPr txBox="1"/>
          <p:nvPr/>
        </p:nvSpPr>
        <p:spPr>
          <a:xfrm>
            <a:off x="658368" y="1821180"/>
            <a:ext cx="5154016" cy="44805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Share price x kul shares: poori company ka price tag. Rank se tay hota hai ki large, mid ya small cap.</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530096"/>
            <a:ext cx="5154016" cy="254508"/>
          </a:xfrm>
          <a:prstGeom prst="rect">
            <a:avLst/>
          </a:prstGeom>
          <a:noFill/>
        </p:spPr>
        <p:txBody>
          <a:bodyPr wrap="square" lIns="0" rIns="0" tIns="0" bIns="0" anchor="t">
            <a:noAutofit/>
          </a:bodyPr>
          <a:lstStyle/>
          <a:p>
            <a:pPr algn="l">
              <a:lnSpc>
                <a:spcPct val="100000"/>
              </a:lnSpc>
            </a:pPr>
            <a:r>
              <a:rPr sz="1550" b="1" i="0">
                <a:solidFill>
                  <a:srgbClr val="92400E"/>
                </a:solidFill>
                <a:latin typeface="Segoe UI"/>
              </a:rPr>
              <a:t>Debt-to-equity</a:t>
            </a:r>
          </a:p>
        </p:txBody>
      </p:sp>
      <p:sp>
        <p:nvSpPr>
          <p:cNvPr id="9" name="TextBox 8"/>
          <p:cNvSpPr txBox="1"/>
          <p:nvPr/>
        </p:nvSpPr>
        <p:spPr>
          <a:xfrm>
            <a:off x="6379312" y="1821180"/>
            <a:ext cx="5154016" cy="44805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Udhaar ka paisa ÷ business mein maalikon ka paisa. 1 se upar matlab udhaar maalikon ke apne paise se zyada.</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805684"/>
            <a:ext cx="5154016" cy="254508"/>
          </a:xfrm>
          <a:prstGeom prst="rect">
            <a:avLst/>
          </a:prstGeom>
          <a:noFill/>
        </p:spPr>
        <p:txBody>
          <a:bodyPr wrap="square" lIns="0" rIns="0" tIns="0" bIns="0" anchor="t">
            <a:noAutofit/>
          </a:bodyPr>
          <a:lstStyle/>
          <a:p>
            <a:pPr algn="l">
              <a:lnSpc>
                <a:spcPct val="100000"/>
              </a:lnSpc>
            </a:pPr>
            <a:r>
              <a:rPr sz="1550" b="1" i="0">
                <a:solidFill>
                  <a:srgbClr val="92400E"/>
                </a:solidFill>
                <a:latin typeface="Segoe UI"/>
              </a:rPr>
              <a:t>Promoter pledge</a:t>
            </a:r>
          </a:p>
        </p:txBody>
      </p:sp>
      <p:sp>
        <p:nvSpPr>
          <p:cNvPr id="12" name="TextBox 11"/>
          <p:cNvSpPr txBox="1"/>
          <p:nvPr/>
        </p:nvSpPr>
        <p:spPr>
          <a:xfrm>
            <a:off x="658368" y="3096768"/>
            <a:ext cx="5154016" cy="44805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Loan ke badle girvi rakhe promoter ke shares. Price gire toh lender unhe bech sakta hai.</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817114"/>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Operating cash flow</a:t>
            </a:r>
          </a:p>
        </p:txBody>
      </p:sp>
      <p:sp>
        <p:nvSpPr>
          <p:cNvPr id="15" name="TextBox 14"/>
          <p:cNvSpPr txBox="1"/>
          <p:nvPr/>
        </p:nvSpPr>
        <p:spPr>
          <a:xfrm>
            <a:off x="6379312" y="3100578"/>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Chalane ke kharche aur tax dene ke baad business ne saal bhar mein sach mein jo cash vasool kiya. Ise teen saal ke profit se milaiye.</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81272"/>
            <a:ext cx="5154016" cy="254508"/>
          </a:xfrm>
          <a:prstGeom prst="rect">
            <a:avLst/>
          </a:prstGeom>
          <a:noFill/>
        </p:spPr>
        <p:txBody>
          <a:bodyPr wrap="square" lIns="0" rIns="0" tIns="0" bIns="0" anchor="t">
            <a:noAutofit/>
          </a:bodyPr>
          <a:lstStyle/>
          <a:p>
            <a:pPr algn="l">
              <a:lnSpc>
                <a:spcPct val="100000"/>
              </a:lnSpc>
            </a:pPr>
            <a:r>
              <a:rPr sz="1550" b="1" i="0">
                <a:solidFill>
                  <a:srgbClr val="92400E"/>
                </a:solidFill>
                <a:latin typeface="Segoe UI"/>
              </a:rPr>
              <a:t>Corporate action</a:t>
            </a:r>
          </a:p>
        </p:txBody>
      </p:sp>
      <p:sp>
        <p:nvSpPr>
          <p:cNvPr id="18" name="TextBox 17"/>
          <p:cNvSpPr txBox="1"/>
          <p:nvPr/>
        </p:nvSpPr>
        <p:spPr>
          <a:xfrm>
            <a:off x="658368" y="4372356"/>
            <a:ext cx="5154016" cy="44805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Company ka woh faisla jo shareholders ki holding ya milne wali cheez badalta hai: dividend, bonus, split, rights issue ya buyback.</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14216"/>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Ex-date aur record date</a:t>
            </a:r>
          </a:p>
        </p:txBody>
      </p:sp>
      <p:sp>
        <p:nvSpPr>
          <p:cNvPr id="21" name="TextBox 20"/>
          <p:cNvSpPr txBox="1"/>
          <p:nvPr/>
        </p:nvSpPr>
        <p:spPr>
          <a:xfrm>
            <a:off x="6379312"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Record date: jis din shareholders ki list li jaati hai. Ex-date: pehla din jab share fayde ke bina trade hota hai. T+1 mein dono ek hi din padte hain.</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289804"/>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Interest cover</a:t>
            </a:r>
          </a:p>
        </p:txBody>
      </p:sp>
      <p:sp>
        <p:nvSpPr>
          <p:cNvPr id="24" name="TextBox 23"/>
          <p:cNvSpPr txBox="1"/>
          <p:nvPr/>
        </p:nvSpPr>
        <p:spPr>
          <a:xfrm>
            <a:off x="658368"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Operating profit minus depreciation, bhaag finance costs: business ka apna profit interest ka bill kitni baar chuka sakta hai. 2 se neeche course mein debt ka flag hai.</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289804"/>
            <a:ext cx="5154016" cy="208788"/>
          </a:xfrm>
          <a:prstGeom prst="rect">
            <a:avLst/>
          </a:prstGeom>
          <a:noFill/>
        </p:spPr>
        <p:txBody>
          <a:bodyPr wrap="square" lIns="0" rIns="0" tIns="0" bIns="0" anchor="t">
            <a:noAutofit/>
          </a:bodyPr>
          <a:lstStyle/>
          <a:p>
            <a:pPr algn="l">
              <a:lnSpc>
                <a:spcPct val="100000"/>
              </a:lnSpc>
            </a:pPr>
            <a:r>
              <a:rPr sz="1250" b="1" i="0">
                <a:solidFill>
                  <a:srgbClr val="92400E"/>
                </a:solidFill>
                <a:latin typeface="Segoe UI"/>
              </a:rPr>
              <a:t>Rights issue aur buyback</a:t>
            </a:r>
          </a:p>
        </p:txBody>
      </p:sp>
      <p:sp>
        <p:nvSpPr>
          <p:cNvPr id="27" name="TextBox 26"/>
          <p:cNvSpPr txBox="1"/>
          <p:nvPr/>
        </p:nvSpPr>
        <p:spPr>
          <a:xfrm>
            <a:off x="6379312" y="5535168"/>
            <a:ext cx="5154016" cy="676656"/>
          </a:xfrm>
          <a:prstGeom prst="rect">
            <a:avLst/>
          </a:prstGeom>
          <a:noFill/>
        </p:spPr>
        <p:txBody>
          <a:bodyPr wrap="square" lIns="0" rIns="0" tIns="0" bIns="0" anchor="t">
            <a:noAutofit/>
          </a:bodyPr>
          <a:lstStyle/>
          <a:p>
            <a:pPr algn="l">
              <a:lnSpc>
                <a:spcPct val="100000"/>
              </a:lnSpc>
            </a:pPr>
            <a:r>
              <a:rPr sz="1050" b="0" i="0">
                <a:solidFill>
                  <a:srgbClr val="18232F"/>
                </a:solidFill>
                <a:latin typeface="Segoe UI"/>
              </a:rPr>
              <a:t>Rights issue: shareholders ko tay price par naye shares ka offer; aap apply kar sakte hain ya right bech sakte hain, aur chhodne se value ghatti hai. Buyback: company tay price par shares wapas khareedti hai, aur aksar aapke diye shares ka sirf ek hissa accept karti hai.</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saar, ek page par</a:t>
            </a:r>
          </a:p>
        </p:txBody>
      </p:sp>
      <p:cxnSp>
        <p:nvCxnSpPr>
          <p:cNvPr id="4" name="Connector 3"/>
          <p:cNvCxnSpPr/>
          <p:nvPr/>
        </p:nvCxnSpPr>
        <p:spPr>
          <a:xfrm flipH="1" flipV="1">
            <a:off x="4358488" y="2258568"/>
            <a:ext cx="502920" cy="154533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flipV="1">
            <a:off x="4358488" y="3701034"/>
            <a:ext cx="502920" cy="102870"/>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442466"/>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129980"/>
            <a:ext cx="502920" cy="1673924"/>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25717"/>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699641"/>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Health check + corporate actions</a:t>
            </a:r>
          </a:p>
        </p:txBody>
      </p:sp>
      <p:sp>
        <p:nvSpPr>
          <p:cNvPr id="11" name="Rounded Rectangle 10"/>
          <p:cNvSpPr/>
          <p:nvPr/>
        </p:nvSpPr>
        <p:spPr>
          <a:xfrm>
            <a:off x="640080" y="1619631"/>
            <a:ext cx="3718408" cy="1277874"/>
          </a:xfrm>
          <a:prstGeom prst="roundRect">
            <a:avLst>
              <a:gd name="adj" fmla="val 8586"/>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729359"/>
            <a:ext cx="3425800"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Filter, target nahi</a:t>
            </a:r>
          </a:p>
        </p:txBody>
      </p:sp>
      <p:sp>
        <p:nvSpPr>
          <p:cNvPr id="13" name="TextBox 12"/>
          <p:cNvSpPr txBox="1"/>
          <p:nvPr/>
        </p:nvSpPr>
        <p:spPr>
          <a:xfrm>
            <a:off x="786384" y="2031111"/>
            <a:ext cx="3425800" cy="866394"/>
          </a:xfrm>
          <a:prstGeom prst="rect">
            <a:avLst/>
          </a:prstGeom>
          <a:noFill/>
        </p:spPr>
        <p:txBody>
          <a:bodyPr wrap="square" lIns="0" rIns="0" tIns="0" bIns="0" anchor="t">
            <a:noAutofit/>
          </a:bodyPr>
          <a:lstStyle/>
          <a:p>
            <a:pPr algn="l" marL="182880" indent="-182880">
              <a:lnSpc>
                <a:spcPct val="100000"/>
              </a:lnSpc>
              <a:spcAft>
                <a:spcPts val="405"/>
              </a:spcAft>
              <a:buClr>
                <a:srgbClr val="0093D6"/>
              </a:buClr>
              <a:buFont typeface="Arial"/>
              <a:buChar char="•"/>
            </a:pPr>
            <a:r>
              <a:rPr sz="1350" b="0" i="0">
                <a:solidFill>
                  <a:srgbClr val="18232F"/>
                </a:solidFill>
                <a:latin typeface="Segoe UI"/>
              </a:rPr>
              <a:t>Chart = price, card = business</a:t>
            </a:r>
          </a:p>
          <a:p>
            <a:pPr algn="l" marL="182880" indent="-182880">
              <a:lnSpc>
                <a:spcPct val="100000"/>
              </a:lnSpc>
              <a:spcAft>
                <a:spcPts val="405"/>
              </a:spcAft>
              <a:buClr>
                <a:srgbClr val="0093D6"/>
              </a:buClr>
              <a:buFont typeface="Arial"/>
              <a:buChar char="•"/>
            </a:pPr>
            <a:r>
              <a:rPr sz="1350" b="0" i="0">
                <a:solidFill>
                  <a:srgbClr val="18232F"/>
                </a:solidFill>
                <a:latin typeface="Segoe UI"/>
              </a:rPr>
              <a:t>Large, mid, small rank se</a:t>
            </a:r>
          </a:p>
          <a:p>
            <a:pPr algn="l" marL="182880" indent="-182880">
              <a:lnSpc>
                <a:spcPct val="100000"/>
              </a:lnSpc>
              <a:buClr>
                <a:srgbClr val="0093D6"/>
              </a:buClr>
              <a:buFont typeface="Arial"/>
              <a:buChar char="•"/>
            </a:pPr>
            <a:r>
              <a:rPr sz="1350" b="0" i="0">
                <a:solidFill>
                  <a:srgbClr val="18232F"/>
                </a:solidFill>
                <a:latin typeface="Segoe UI"/>
              </a:rPr>
              <a:t>Ek sector = ek bada bet</a:t>
            </a:r>
          </a:p>
        </p:txBody>
      </p:sp>
      <p:sp>
        <p:nvSpPr>
          <p:cNvPr id="14" name="Rounded Rectangle 13"/>
          <p:cNvSpPr/>
          <p:nvPr/>
        </p:nvSpPr>
        <p:spPr>
          <a:xfrm>
            <a:off x="640080" y="3062097"/>
            <a:ext cx="3718408" cy="1277874"/>
          </a:xfrm>
          <a:prstGeom prst="roundRect">
            <a:avLst>
              <a:gd name="adj" fmla="val 8586"/>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171825"/>
            <a:ext cx="3425800"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Check 1 se 3</a:t>
            </a:r>
          </a:p>
        </p:txBody>
      </p:sp>
      <p:sp>
        <p:nvSpPr>
          <p:cNvPr id="16" name="TextBox 15"/>
          <p:cNvSpPr txBox="1"/>
          <p:nvPr/>
        </p:nvSpPr>
        <p:spPr>
          <a:xfrm>
            <a:off x="786384" y="3473577"/>
            <a:ext cx="3425800" cy="866394"/>
          </a:xfrm>
          <a:prstGeom prst="rect">
            <a:avLst/>
          </a:prstGeom>
          <a:noFill/>
        </p:spPr>
        <p:txBody>
          <a:bodyPr wrap="square" lIns="0" rIns="0" tIns="0" bIns="0" anchor="t">
            <a:noAutofit/>
          </a:bodyPr>
          <a:lstStyle/>
          <a:p>
            <a:pPr algn="l" marL="182880" indent="-182880">
              <a:lnSpc>
                <a:spcPct val="100000"/>
              </a:lnSpc>
              <a:spcAft>
                <a:spcPts val="405"/>
              </a:spcAft>
              <a:buClr>
                <a:srgbClr val="F5A524"/>
              </a:buClr>
              <a:buFont typeface="Arial"/>
              <a:buChar char="•"/>
            </a:pPr>
            <a:r>
              <a:rPr sz="1350" b="0" i="0">
                <a:solidFill>
                  <a:srgbClr val="18232F"/>
                </a:solidFill>
                <a:latin typeface="Segoe UI"/>
              </a:rPr>
              <a:t>Teen saal mein sales upar?</a:t>
            </a:r>
          </a:p>
          <a:p>
            <a:pPr algn="l" marL="182880" indent="-182880">
              <a:lnSpc>
                <a:spcPct val="100000"/>
              </a:lnSpc>
              <a:spcAft>
                <a:spcPts val="405"/>
              </a:spcAft>
              <a:buClr>
                <a:srgbClr val="F5A524"/>
              </a:buClr>
              <a:buFont typeface="Arial"/>
              <a:buChar char="•"/>
            </a:pPr>
            <a:r>
              <a:rPr sz="1350" b="0" i="0">
                <a:solidFill>
                  <a:srgbClr val="18232F"/>
                </a:solidFill>
                <a:latin typeface="Segoe UI"/>
              </a:rPr>
              <a:t>Har Rs 100 sales par margin</a:t>
            </a:r>
          </a:p>
          <a:p>
            <a:pPr algn="l" marL="182880" indent="-182880">
              <a:lnSpc>
                <a:spcPct val="100000"/>
              </a:lnSpc>
              <a:buClr>
                <a:srgbClr val="F5A524"/>
              </a:buClr>
              <a:buFont typeface="Arial"/>
              <a:buChar char="•"/>
            </a:pPr>
            <a:r>
              <a:rPr sz="1350" b="0" i="0">
                <a:solidFill>
                  <a:srgbClr val="18232F"/>
                </a:solidFill>
                <a:latin typeface="Segoe UI"/>
              </a:rPr>
              <a:t>D/E aur interest cover</a:t>
            </a:r>
          </a:p>
        </p:txBody>
      </p:sp>
      <p:sp>
        <p:nvSpPr>
          <p:cNvPr id="17" name="Rounded Rectangle 16"/>
          <p:cNvSpPr/>
          <p:nvPr/>
        </p:nvSpPr>
        <p:spPr>
          <a:xfrm>
            <a:off x="640080" y="4504563"/>
            <a:ext cx="3718408" cy="1483614"/>
          </a:xfrm>
          <a:prstGeom prst="roundRect">
            <a:avLst>
              <a:gd name="adj" fmla="val 7395"/>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614291"/>
            <a:ext cx="3425800" cy="246888"/>
          </a:xfrm>
          <a:prstGeom prst="rect">
            <a:avLst/>
          </a:prstGeom>
          <a:noFill/>
        </p:spPr>
        <p:txBody>
          <a:bodyPr wrap="square" lIns="0" rIns="0" tIns="0" bIns="0" anchor="t">
            <a:noAutofit/>
          </a:bodyPr>
          <a:lstStyle/>
          <a:p>
            <a:pPr algn="l">
              <a:lnSpc>
                <a:spcPct val="100000"/>
              </a:lnSpc>
            </a:pPr>
            <a:r>
              <a:rPr sz="1500" b="1" i="0">
                <a:solidFill>
                  <a:srgbClr val="991B1B"/>
                </a:solidFill>
                <a:latin typeface="Segoe UI"/>
              </a:rPr>
              <a:t>Check 4 aur 5</a:t>
            </a:r>
          </a:p>
        </p:txBody>
      </p:sp>
      <p:sp>
        <p:nvSpPr>
          <p:cNvPr id="19" name="TextBox 18"/>
          <p:cNvSpPr txBox="1"/>
          <p:nvPr/>
        </p:nvSpPr>
        <p:spPr>
          <a:xfrm>
            <a:off x="786384" y="4916043"/>
            <a:ext cx="3425800" cy="1072134"/>
          </a:xfrm>
          <a:prstGeom prst="rect">
            <a:avLst/>
          </a:prstGeom>
          <a:noFill/>
        </p:spPr>
        <p:txBody>
          <a:bodyPr wrap="square" lIns="0" rIns="0" tIns="0" bIns="0" anchor="t">
            <a:noAutofit/>
          </a:bodyPr>
          <a:lstStyle/>
          <a:p>
            <a:pPr algn="l" marL="182880" indent="-182880">
              <a:lnSpc>
                <a:spcPct val="100000"/>
              </a:lnSpc>
              <a:spcAft>
                <a:spcPts val="405"/>
              </a:spcAft>
              <a:buClr>
                <a:srgbClr val="F0554E"/>
              </a:buClr>
              <a:buFont typeface="Arial"/>
              <a:buChar char="•"/>
            </a:pPr>
            <a:r>
              <a:rPr sz="1350" b="0" i="0">
                <a:solidFill>
                  <a:srgbClr val="18232F"/>
                </a:solidFill>
                <a:latin typeface="Segoe UI"/>
              </a:rPr>
              <a:t>Pledge ka chakkar girawat badha sakta hai</a:t>
            </a:r>
          </a:p>
          <a:p>
            <a:pPr algn="l" marL="182880" indent="-182880">
              <a:lnSpc>
                <a:spcPct val="100000"/>
              </a:lnSpc>
              <a:spcAft>
                <a:spcPts val="405"/>
              </a:spcAft>
              <a:buClr>
                <a:srgbClr val="F0554E"/>
              </a:buClr>
              <a:buFont typeface="Arial"/>
              <a:buChar char="•"/>
            </a:pPr>
            <a:r>
              <a:rPr sz="1350" b="0" i="0">
                <a:solidFill>
                  <a:srgbClr val="18232F"/>
                </a:solidFill>
                <a:latin typeface="Segoe UI"/>
              </a:rPr>
              <a:t>Dilution se bhi holding gir sakti hai</a:t>
            </a:r>
          </a:p>
          <a:p>
            <a:pPr algn="l" marL="182880" indent="-182880">
              <a:lnSpc>
                <a:spcPct val="100000"/>
              </a:lnSpc>
              <a:buClr>
                <a:srgbClr val="F0554E"/>
              </a:buClr>
              <a:buFont typeface="Arial"/>
              <a:buChar char="•"/>
            </a:pPr>
            <a:r>
              <a:rPr sz="1350" b="0" i="0">
                <a:solidFill>
                  <a:srgbClr val="18232F"/>
                </a:solidFill>
                <a:latin typeface="Segoe UI"/>
              </a:rPr>
              <a:t>Teen saal ka cash vs profit</a:t>
            </a:r>
          </a:p>
        </p:txBody>
      </p:sp>
      <p:sp>
        <p:nvSpPr>
          <p:cNvPr id="20" name="Rounded Rectangle 19"/>
          <p:cNvSpPr/>
          <p:nvPr/>
        </p:nvSpPr>
        <p:spPr>
          <a:xfrm>
            <a:off x="7833208" y="1362456"/>
            <a:ext cx="3718408" cy="1535049"/>
          </a:xfrm>
          <a:prstGeom prst="roundRect">
            <a:avLst>
              <a:gd name="adj" fmla="val 7148"/>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472184"/>
            <a:ext cx="3425800" cy="246888"/>
          </a:xfrm>
          <a:prstGeom prst="rect">
            <a:avLst/>
          </a:prstGeom>
          <a:noFill/>
        </p:spPr>
        <p:txBody>
          <a:bodyPr wrap="square" lIns="0" rIns="0" tIns="0" bIns="0" anchor="t">
            <a:noAutofit/>
          </a:bodyPr>
          <a:lstStyle/>
          <a:p>
            <a:pPr algn="l">
              <a:lnSpc>
                <a:spcPct val="100000"/>
              </a:lnSpc>
            </a:pPr>
            <a:r>
              <a:rPr sz="1500" b="1" i="0">
                <a:solidFill>
                  <a:srgbClr val="166534"/>
                </a:solidFill>
                <a:latin typeface="Segoe UI"/>
              </a:rPr>
              <a:t>Score</a:t>
            </a:r>
          </a:p>
        </p:txBody>
      </p:sp>
      <p:sp>
        <p:nvSpPr>
          <p:cNvPr id="22" name="TextBox 21"/>
          <p:cNvSpPr txBox="1"/>
          <p:nvPr/>
        </p:nvSpPr>
        <p:spPr>
          <a:xfrm>
            <a:off x="7979512" y="1773936"/>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16A34A"/>
              </a:buClr>
              <a:buFont typeface="Arial"/>
              <a:buChar char="•"/>
            </a:pPr>
            <a:r>
              <a:rPr sz="1350" b="0" i="0">
                <a:solidFill>
                  <a:srgbClr val="18232F"/>
                </a:solidFill>
                <a:latin typeface="Segoe UI"/>
              </a:rPr>
              <a:t>Pledge 10% se zyada ya badhta = bahar</a:t>
            </a:r>
          </a:p>
          <a:p>
            <a:pPr algn="l" marL="182880" indent="-182880">
              <a:lnSpc>
                <a:spcPct val="100000"/>
              </a:lnSpc>
              <a:spcAft>
                <a:spcPts val="405"/>
              </a:spcAft>
              <a:buClr>
                <a:srgbClr val="16A34A"/>
              </a:buClr>
              <a:buFont typeface="Arial"/>
              <a:buChar char="•"/>
            </a:pPr>
            <a:r>
              <a:rPr sz="1350" b="0" i="0">
                <a:solidFill>
                  <a:srgbClr val="18232F"/>
                </a:solidFill>
                <a:latin typeface="Segoe UI"/>
              </a:rPr>
              <a:t>2+ flags = bahar</a:t>
            </a:r>
          </a:p>
          <a:p>
            <a:pPr algn="l" marL="182880" indent="-182880">
              <a:lnSpc>
                <a:spcPct val="100000"/>
              </a:lnSpc>
              <a:spcAft>
                <a:spcPts val="405"/>
              </a:spcAft>
              <a:buClr>
                <a:srgbClr val="16A34A"/>
              </a:buClr>
              <a:buFont typeface="Arial"/>
              <a:buChar char="•"/>
            </a:pPr>
            <a:r>
              <a:rPr sz="1350" b="0" i="0">
                <a:solidFill>
                  <a:srgbClr val="18232F"/>
                </a:solidFill>
                <a:latin typeface="Segoe UI"/>
              </a:rPr>
              <a:t>AI hisaab kare, faisla aapka</a:t>
            </a:r>
          </a:p>
          <a:p>
            <a:pPr algn="l" marL="182880" indent="-182880">
              <a:lnSpc>
                <a:spcPct val="100000"/>
              </a:lnSpc>
              <a:buClr>
                <a:srgbClr val="16A34A"/>
              </a:buClr>
              <a:buFont typeface="Arial"/>
              <a:buChar char="•"/>
            </a:pPr>
            <a:r>
              <a:rPr sz="1350" b="0" i="0">
                <a:solidFill>
                  <a:srgbClr val="18232F"/>
                </a:solidFill>
                <a:latin typeface="Segoe UI"/>
              </a:rPr>
              <a:t>Kahani sabse baad mein</a:t>
            </a:r>
          </a:p>
        </p:txBody>
      </p:sp>
      <p:sp>
        <p:nvSpPr>
          <p:cNvPr id="23" name="Rounded Rectangle 22"/>
          <p:cNvSpPr/>
          <p:nvPr/>
        </p:nvSpPr>
        <p:spPr>
          <a:xfrm>
            <a:off x="7833208" y="3062097"/>
            <a:ext cx="3718408" cy="1535049"/>
          </a:xfrm>
          <a:prstGeom prst="roundRect">
            <a:avLst>
              <a:gd name="adj" fmla="val 7148"/>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171825"/>
            <a:ext cx="3425800"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Corporate actions</a:t>
            </a:r>
          </a:p>
        </p:txBody>
      </p:sp>
      <p:sp>
        <p:nvSpPr>
          <p:cNvPr id="25" name="TextBox 24"/>
          <p:cNvSpPr txBox="1"/>
          <p:nvPr/>
        </p:nvSpPr>
        <p:spPr>
          <a:xfrm>
            <a:off x="7979512" y="3473577"/>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0093D6"/>
              </a:buClr>
              <a:buFont typeface="Arial"/>
              <a:buChar char="•"/>
            </a:pPr>
            <a:r>
              <a:rPr sz="1350" b="0" i="0">
                <a:solidFill>
                  <a:srgbClr val="18232F"/>
                </a:solidFill>
                <a:latin typeface="Segoe UI"/>
              </a:rPr>
              <a:t>Dividend, bonus, split</a:t>
            </a:r>
          </a:p>
          <a:p>
            <a:pPr algn="l" marL="182880" indent="-182880">
              <a:lnSpc>
                <a:spcPct val="100000"/>
              </a:lnSpc>
              <a:spcAft>
                <a:spcPts val="405"/>
              </a:spcAft>
              <a:buClr>
                <a:srgbClr val="0093D6"/>
              </a:buClr>
              <a:buFont typeface="Arial"/>
              <a:buChar char="•"/>
            </a:pPr>
            <a:r>
              <a:rPr sz="1350" b="0" i="0">
                <a:solidFill>
                  <a:srgbClr val="18232F"/>
                </a:solidFill>
                <a:latin typeface="Segoe UI"/>
              </a:rPr>
              <a:t>Rights: apply, becho ya gavao</a:t>
            </a:r>
          </a:p>
          <a:p>
            <a:pPr algn="l" marL="182880" indent="-182880">
              <a:lnSpc>
                <a:spcPct val="100000"/>
              </a:lnSpc>
              <a:spcAft>
                <a:spcPts val="405"/>
              </a:spcAft>
              <a:buClr>
                <a:srgbClr val="0093D6"/>
              </a:buClr>
              <a:buFont typeface="Arial"/>
              <a:buChar char="•"/>
            </a:pPr>
            <a:r>
              <a:rPr sz="1350" b="0" i="0">
                <a:solidFill>
                  <a:srgbClr val="18232F"/>
                </a:solidFill>
                <a:latin typeface="Segoe UI"/>
              </a:rPr>
              <a:t>Buyback: kuch hissa accept</a:t>
            </a:r>
          </a:p>
          <a:p>
            <a:pPr algn="l" marL="182880" indent="-182880">
              <a:lnSpc>
                <a:spcPct val="100000"/>
              </a:lnSpc>
              <a:buClr>
                <a:srgbClr val="0093D6"/>
              </a:buClr>
              <a:buFont typeface="Arial"/>
              <a:buChar char="•"/>
            </a:pPr>
            <a:r>
              <a:rPr sz="1350" b="0" i="0">
                <a:solidFill>
                  <a:srgbClr val="18232F"/>
                </a:solidFill>
                <a:latin typeface="Segoe UI"/>
              </a:rPr>
              <a:t>Unadjusted chart mein nakli gap</a:t>
            </a:r>
          </a:p>
        </p:txBody>
      </p:sp>
      <p:sp>
        <p:nvSpPr>
          <p:cNvPr id="26" name="Rounded Rectangle 25"/>
          <p:cNvSpPr/>
          <p:nvPr/>
        </p:nvSpPr>
        <p:spPr>
          <a:xfrm>
            <a:off x="7833208" y="4761738"/>
            <a:ext cx="3718408" cy="1483614"/>
          </a:xfrm>
          <a:prstGeom prst="roundRect">
            <a:avLst>
              <a:gd name="adj" fmla="val 7395"/>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4871466"/>
            <a:ext cx="3425800"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Dates</a:t>
            </a:r>
          </a:p>
        </p:txBody>
      </p:sp>
      <p:sp>
        <p:nvSpPr>
          <p:cNvPr id="28" name="TextBox 27"/>
          <p:cNvSpPr txBox="1"/>
          <p:nvPr/>
        </p:nvSpPr>
        <p:spPr>
          <a:xfrm>
            <a:off x="7979512" y="5173218"/>
            <a:ext cx="3425800" cy="1072134"/>
          </a:xfrm>
          <a:prstGeom prst="rect">
            <a:avLst/>
          </a:prstGeom>
          <a:noFill/>
        </p:spPr>
        <p:txBody>
          <a:bodyPr wrap="square" lIns="0" rIns="0" tIns="0" bIns="0" anchor="t">
            <a:noAutofit/>
          </a:bodyPr>
          <a:lstStyle/>
          <a:p>
            <a:pPr algn="l" marL="182880" indent="-182880">
              <a:lnSpc>
                <a:spcPct val="100000"/>
              </a:lnSpc>
              <a:spcAft>
                <a:spcPts val="405"/>
              </a:spcAft>
              <a:buClr>
                <a:srgbClr val="F5A524"/>
              </a:buClr>
              <a:buFont typeface="Arial"/>
              <a:buChar char="•"/>
            </a:pPr>
            <a:r>
              <a:rPr sz="1350" b="0" i="0">
                <a:solidFill>
                  <a:srgbClr val="18232F"/>
                </a:solidFill>
                <a:latin typeface="Segoe UI"/>
              </a:rPr>
              <a:t>Ex-date = record date (T+1)</a:t>
            </a:r>
          </a:p>
          <a:p>
            <a:pPr algn="l" marL="182880" indent="-182880">
              <a:lnSpc>
                <a:spcPct val="100000"/>
              </a:lnSpc>
              <a:spcAft>
                <a:spcPts val="405"/>
              </a:spcAft>
              <a:buClr>
                <a:srgbClr val="F5A524"/>
              </a:buClr>
              <a:buFont typeface="Arial"/>
              <a:buChar char="•"/>
            </a:pPr>
            <a:r>
              <a:rPr sz="1350" b="0" i="0">
                <a:solidFill>
                  <a:srgbClr val="18232F"/>
                </a:solidFill>
                <a:latin typeface="Segoe UI"/>
              </a:rPr>
              <a:t>Ex-date se pichhle trading day tak khareedein</a:t>
            </a:r>
          </a:p>
          <a:p>
            <a:pPr algn="l" marL="182880" indent="-182880">
              <a:lnSpc>
                <a:spcPct val="100000"/>
              </a:lnSpc>
              <a:buClr>
                <a:srgbClr val="F5A524"/>
              </a:buClr>
              <a:buFont typeface="Arial"/>
              <a:buChar char="•"/>
            </a:pPr>
            <a:r>
              <a:rPr sz="1350" b="0" i="0">
                <a:solidFill>
                  <a:srgbClr val="18232F"/>
                </a:solidFill>
                <a:latin typeface="Segoe UI"/>
              </a:rPr>
              <a:t>Price lagbhag dividend jitna girta hai</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AAJ KA KAAM</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55 min</a:t>
            </a:r>
          </a:p>
        </p:txBody>
      </p:sp>
      <p:sp>
        <p:nvSpPr>
          <p:cNvPr id="5" name="TextBox 4"/>
          <p:cNvSpPr txBox="1"/>
          <p:nvPr/>
        </p:nvSpPr>
        <p:spPr>
          <a:xfrm>
            <a:off x="457200" y="1335024"/>
            <a:ext cx="11277295" cy="653796"/>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Mentor ki practice filing ko Health Card par score kijiye aur AI se check kijiye, phir apni watchlist ke ek asli stock ka card banaiye, pass ho toh use Portfolio row mein badliye, aur ek asli corporate action padhiye (step 1, 2 aur 6 mein lagbhag 55 minute; asli stock ka card aur uski Portfolio row, step 3-5, lagbhag 30 minute aur lete hain aur kal shaam, Day 16 ke flowchart se pehle, bhi kiye ja sakte hain).</a:t>
            </a:r>
          </a:p>
        </p:txBody>
      </p:sp>
      <p:sp>
        <p:nvSpPr>
          <p:cNvPr id="6" name="Rounded Rectangle 5"/>
          <p:cNvSpPr/>
          <p:nvPr/>
        </p:nvSpPr>
        <p:spPr>
          <a:xfrm>
            <a:off x="457200" y="213512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244852"/>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1</a:t>
            </a:r>
          </a:p>
        </p:txBody>
      </p:sp>
      <p:sp>
        <p:nvSpPr>
          <p:cNvPr id="8" name="Rounded Rectangle 7"/>
          <p:cNvSpPr/>
          <p:nvPr/>
        </p:nvSpPr>
        <p:spPr>
          <a:xfrm>
            <a:off x="11332159" y="22631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23570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'Aapka template' mein Kiran Foods Ltd ki practice filing (made-up numbers) kholiye aur phone calculator se Health Card ka Practice column bhariye: har saal ka operating profit aur margin, D/E, interest cover, teen saal ka cash teen saal ke profit ke saamne, aur pledge.</a:t>
            </a:r>
          </a:p>
        </p:txBody>
      </p:sp>
      <p:sp>
        <p:nvSpPr>
          <p:cNvPr id="10" name="Rounded Rectangle 9"/>
          <p:cNvSpPr/>
          <p:nvPr/>
        </p:nvSpPr>
        <p:spPr>
          <a:xfrm>
            <a:off x="457200" y="315925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3268980"/>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a:t>
            </a:r>
          </a:p>
        </p:txBody>
      </p:sp>
      <p:sp>
        <p:nvSpPr>
          <p:cNvPr id="12" name="Rounded Rectangle 11"/>
          <p:cNvSpPr/>
          <p:nvPr/>
        </p:nvSpPr>
        <p:spPr>
          <a:xfrm>
            <a:off x="11332159" y="32872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325983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Practice filing ke numbers AI Lab ke prompt 'Fill my health card' mein paste kijiye, AI ke use kiye har number ko filing se milakar tick kijiye, aur uske flags ko apne flags aur card ke neeche diye answer key se milaiye.</a:t>
            </a:r>
          </a:p>
        </p:txBody>
      </p:sp>
      <p:sp>
        <p:nvSpPr>
          <p:cNvPr id="14" name="Rounded Rectangle 13"/>
          <p:cNvSpPr/>
          <p:nvPr/>
        </p:nvSpPr>
        <p:spPr>
          <a:xfrm>
            <a:off x="457200" y="3939540"/>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404926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a:t>
            </a:r>
          </a:p>
        </p:txBody>
      </p:sp>
      <p:sp>
        <p:nvSpPr>
          <p:cNvPr id="16" name="Rounded Rectangle 15"/>
          <p:cNvSpPr/>
          <p:nvPr/>
        </p:nvSpPr>
        <p:spPr>
          <a:xfrm>
            <a:off x="11332159" y="406755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4040124"/>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Ab apni Day 11 watchlist ya kisi open paper trade ka ek asli stock lijiye (tip wala kabhi nahi; bank, NBFC ya insurer nahi). Uske nseindia.com page par sector note kijiye, aur pichhle chaar quarter ke shareholding pattern mein pledge wala hissa promoter shares ke % ke roop mein likhiye ('encumbered' bhi ginta hai; promoter na ho toh 'no promoter' likhiye).</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AAJ KA KAAM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55 min</a:t>
            </a:r>
          </a:p>
        </p:txBody>
      </p:sp>
      <p:sp>
        <p:nvSpPr>
          <p:cNvPr id="5" name="Rounded Rectangle 4"/>
          <p:cNvSpPr/>
          <p:nvPr/>
        </p:nvSpPr>
        <p:spPr>
          <a:xfrm>
            <a:off x="457200" y="1335024"/>
            <a:ext cx="11277295" cy="1085088"/>
          </a:xfrm>
          <a:prstGeom prst="roundRect">
            <a:avLst>
              <a:gd name="adj" fmla="val 842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92049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Usi stock ke liye teen saal ki sales, total expenses, finance costs, depreciation, net profit aur operating cash flow, aur latest borrowings aur equity, uske annual results ya kisi free data site se lijiye (latest saal filing se milakar tick kijiye), aur Aapka stock column bhariye. Result aur faisla karne wala check journal mein likhiye; naam kisi group mein kabhi post mat kijiye.</a:t>
            </a:r>
          </a:p>
        </p:txBody>
      </p:sp>
      <p:sp>
        <p:nvSpPr>
          <p:cNvPr id="9" name="Rounded Rectangle 8"/>
          <p:cNvSpPr/>
          <p:nvPr/>
        </p:nvSpPr>
        <p:spPr>
          <a:xfrm>
            <a:off x="457200" y="2511552"/>
            <a:ext cx="11277295" cy="1527048"/>
          </a:xfrm>
          <a:prstGeom prst="roundRect">
            <a:avLst>
              <a:gd name="adj" fmla="val 5988"/>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621280"/>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a:t>
            </a:r>
          </a:p>
        </p:txBody>
      </p:sp>
      <p:sp>
        <p:nvSpPr>
          <p:cNvPr id="11" name="Rounded Rectangle 10"/>
          <p:cNvSpPr/>
          <p:nvPr/>
        </p:nvSpPr>
        <p:spPr>
          <a:xfrm>
            <a:off x="11332159" y="26395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612136"/>
            <a:ext cx="10042855" cy="136245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Pass ho toh app ka Portfolio page kholiye aur ek poori row (virtual) jodiye; row sirf liye gaye trade ki nahi, padhe hue stock ki bhi ho sakti hai: jab tak paper trade enter na ho, entry date, qty aur entry price khaali chhodiye, aur yeh open trade mein nahi gini jaati. Row mein: Full Why 1 = aapka card result aur faisla karne wala check; Full Why 2 = aapka Day 11 wala chart reason; sabse bada risk aur uska aapka jawab; price-stop = aapke Day 11 plan card ka stop (entry se 1.5 x ATR 14 neeche); Why-stop = card ka woh check jo ise bahar kar dega; review point = agli results date. Fail ho toh wajah journal mein likhiye.</a:t>
            </a:r>
          </a:p>
        </p:txBody>
      </p:sp>
      <p:sp>
        <p:nvSpPr>
          <p:cNvPr id="13" name="Rounded Rectangle 12"/>
          <p:cNvSpPr/>
          <p:nvPr/>
        </p:nvSpPr>
        <p:spPr>
          <a:xfrm>
            <a:off x="457200" y="4130040"/>
            <a:ext cx="11277295" cy="864108"/>
          </a:xfrm>
          <a:prstGeom prst="roundRect">
            <a:avLst>
              <a:gd name="adj" fmla="val 1058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423976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a:t>
            </a:r>
          </a:p>
        </p:txBody>
      </p:sp>
      <p:sp>
        <p:nvSpPr>
          <p:cNvPr id="15" name="Rounded Rectangle 14"/>
          <p:cNvSpPr/>
          <p:nvPr/>
        </p:nvSpPr>
        <p:spPr>
          <a:xfrm>
            <a:off x="11332159" y="425805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4230624"/>
            <a:ext cx="10042855" cy="69951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nseindia.com par corporate actions ki list kholiye, koi haal ka dividend, bonus, split, rights issue ya buyback chuniye, aur made-up 100 shares ke liye 'Corporate actions, numbers mein' ki ek khaali row bhariye, uski ex-date aur record date ke saath. Dividend ho toh free TradingView chart par ex-date ka open pichhle close se milaiye.</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AAJ KE BAAD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Is session ke baad aap kisi company ki apni filings se 5-check health filter chala paayenge, likhe hue rules se uska score nikaal paayenge, pass hue card ko Portfolio row mein badal paayenge, market-cap tiers aur sectors samjha paayenge, aur hisaab laga paayenge ki dividend, bonus, split, rights issue ya buyback aapke shares ke saath kya karta hai, uski ex-date aur record date ke saath.</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Practice filing: Kiran Foods Ltd (made-up)</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Shareholding pattern, pichhle 4 quarter: promoters ke paas 52%, aur har quarter mein promoter shares ka 0% pledge.</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5984748"/>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Mentor ke banaye numbers, Rs crore mein, asli annual-results filing ki tarah. Sector: FMCG (packaged foods).</a:t>
            </a:r>
          </a:p>
        </p:txBody>
      </p:sp>
      <p:graphicFrame>
        <p:nvGraphicFramePr>
          <p:cNvPr id="7" name="Table 6"/>
          <p:cNvGraphicFramePr>
            <a:graphicFrameLocks noGrp="1"/>
          </p:cNvGraphicFramePr>
          <p:nvPr/>
        </p:nvGraphicFramePr>
        <p:xfrm>
          <a:off x="640080" y="1892808"/>
          <a:ext cx="10911537" cy="4000500"/>
        </p:xfrm>
        <a:graphic>
          <a:graphicData uri="http://schemas.openxmlformats.org/drawingml/2006/table">
            <a:tbl>
              <a:tblPr firstRow="1">
                <a:tableStyleId>{5C22544A-7EE6-4342-B048-85BDC9FD1C3A}</a:tableStyleId>
              </a:tblPr>
              <a:tblGrid>
                <a:gridCol w="6406038"/>
                <a:gridCol w="1501833"/>
                <a:gridCol w="1501833"/>
                <a:gridCol w="1501833"/>
              </a:tblGrid>
              <a:tr h="452628">
                <a:tc>
                  <a:txBody>
                    <a:bodyPr wrap="square"/>
                    <a:lstStyle/>
                    <a:p>
                      <a:pPr algn="l"/>
                      <a:r>
                        <a:rPr sz="1500" b="1" i="0">
                          <a:solidFill>
                            <a:srgbClr val="FFFFFF"/>
                          </a:solidFill>
                          <a:latin typeface="Segoe UI"/>
                        </a:rPr>
                        <a:t>Line (Rs crore)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Saal 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Saal 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Saal 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43484">
                <a:tc>
                  <a:txBody>
                    <a:bodyPr wrap="square"/>
                    <a:lstStyle/>
                    <a:p>
                      <a:pPr algn="l"/>
                      <a:r>
                        <a:rPr sz="1500" b="0" i="0">
                          <a:solidFill>
                            <a:srgbClr val="18232F"/>
                          </a:solidFill>
                          <a:latin typeface="Segoe UI"/>
                        </a:rPr>
                        <a:t>Sales (revenue from operations)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8,000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8,500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9,000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3484">
                <a:tc>
                  <a:txBody>
                    <a:bodyPr wrap="square"/>
                    <a:lstStyle/>
                    <a:p>
                      <a:pPr algn="l"/>
                      <a:r>
                        <a:rPr sz="1500" b="0" i="0">
                          <a:solidFill>
                            <a:srgbClr val="18232F"/>
                          </a:solidFill>
                          <a:latin typeface="Segoe UI"/>
                        </a:rPr>
                        <a:t>Total expenses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7,140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7,660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8,010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3484">
                <a:tc>
                  <a:txBody>
                    <a:bodyPr wrap="square"/>
                    <a:lstStyle/>
                    <a:p>
                      <a:pPr algn="l"/>
                      <a:r>
                        <a:rPr sz="1500" b="0" i="0">
                          <a:solidFill>
                            <a:srgbClr val="18232F"/>
                          </a:solidFill>
                          <a:latin typeface="Segoe UI"/>
                        </a:rPr>
                        <a:t>Inmein se: finance costs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3484">
                <a:tc>
                  <a:txBody>
                    <a:bodyPr wrap="square"/>
                    <a:lstStyle/>
                    <a:p>
                      <a:pPr algn="l"/>
                      <a:r>
                        <a:rPr sz="1500" b="0" i="0">
                          <a:solidFill>
                            <a:srgbClr val="18232F"/>
                          </a:solidFill>
                          <a:latin typeface="Segoe UI"/>
                        </a:rPr>
                        <a:t>Inmein se: depreciation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3484">
                <a:tc>
                  <a:txBody>
                    <a:bodyPr wrap="square"/>
                    <a:lstStyle/>
                    <a:p>
                      <a:pPr algn="l"/>
                      <a:r>
                        <a:rPr sz="1500" b="0" i="0">
                          <a:solidFill>
                            <a:srgbClr val="18232F"/>
                          </a:solidFill>
                          <a:latin typeface="Segoe UI"/>
                        </a:rPr>
                        <a:t>Net profit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645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630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742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3484">
                <a:tc>
                  <a:txBody>
                    <a:bodyPr wrap="square"/>
                    <a:lstStyle/>
                    <a:p>
                      <a:pPr algn="l"/>
                      <a:r>
                        <a:rPr sz="1500" b="0" i="0">
                          <a:solidFill>
                            <a:srgbClr val="18232F"/>
                          </a:solidFill>
                          <a:latin typeface="Segoe UI"/>
                        </a:rPr>
                        <a:t>Net cash from operating activities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3484">
                <a:tc>
                  <a:txBody>
                    <a:bodyPr wrap="square"/>
                    <a:lstStyle/>
                    <a:p>
                      <a:pPr algn="l"/>
                      <a:r>
                        <a:rPr sz="1500" b="0" i="0">
                          <a:solidFill>
                            <a:srgbClr val="18232F"/>
                          </a:solidFill>
                          <a:latin typeface="Segoe UI"/>
                        </a:rPr>
                        <a:t>Total borrowings (sirf latest saal)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900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3484">
                <a:tc>
                  <a:txBody>
                    <a:bodyPr wrap="square"/>
                    <a:lstStyle/>
                    <a:p>
                      <a:pPr algn="l"/>
                      <a:r>
                        <a:rPr sz="1500" b="0" i="0">
                          <a:solidFill>
                            <a:srgbClr val="18232F"/>
                          </a:solidFill>
                          <a:latin typeface="Segoe UI"/>
                        </a:rPr>
                        <a:t>Total equity (sirf latest saal)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4,500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Health Card: model, practice aur aapka</a:t>
            </a:r>
          </a:p>
        </p:txBody>
      </p:sp>
      <p:sp>
        <p:nvSpPr>
          <p:cNvPr id="4" name="TextBox 3"/>
          <p:cNvSpPr txBox="1"/>
          <p:nvPr/>
        </p:nvSpPr>
        <p:spPr>
          <a:xfrm>
            <a:off x="457200" y="1335024"/>
            <a:ext cx="11277295" cy="585216"/>
          </a:xfrm>
          <a:prstGeom prst="rect">
            <a:avLst/>
          </a:prstGeom>
          <a:noFill/>
        </p:spPr>
        <p:txBody>
          <a:bodyPr wrap="square" lIns="0" rIns="0" tIns="0" bIns="0" anchor="t">
            <a:noAutofit/>
          </a:bodyPr>
          <a:lstStyle/>
          <a:p>
            <a:pPr algn="l">
              <a:lnSpc>
                <a:spcPct val="100000"/>
              </a:lnSpc>
            </a:pPr>
            <a:r>
              <a:rPr sz="1200" b="0" i="1">
                <a:solidFill>
                  <a:srgbClr val="47596B"/>
                </a:solidFill>
                <a:latin typeface="Segoe UI"/>
              </a:rPr>
              <a:t>Practice column ka answer key: operating profit 1,120, 1,105 aur 1,260, yaani margin 14.0%, 13.0% aur 14.0% (ek hi baar gira, do baar nahi: flag nahi); D/E 900 ÷ 4,500 = 0.2; interest cover (1,260 - 220) ÷ 50 = 20.8x; teen saal ka cash 1,880, teen saal ke profit 2,017 ke saamne. Kiran Foods Ltd mein 0 counted flags aur koi knock-out nahi, isliye woh list mein rehta hai. Aapki ginti alag aayi? Apne stock ka card banane se pehle woh rule dhoondhiye jise aapne galat padha.</a:t>
            </a:r>
          </a:p>
        </p:txBody>
      </p:sp>
      <p:sp>
        <p:nvSpPr>
          <p:cNvPr id="5" name="Rounded Rectangle 4"/>
          <p:cNvSpPr/>
          <p:nvPr/>
        </p:nvSpPr>
        <p:spPr>
          <a:xfrm>
            <a:off x="457200" y="2066544"/>
            <a:ext cx="11277295" cy="4206240"/>
          </a:xfrm>
          <a:prstGeom prst="roundRect">
            <a:avLst>
              <a:gd name="adj" fmla="val 2608"/>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212848"/>
          <a:ext cx="10911536" cy="3931924"/>
        </p:xfrm>
        <a:graphic>
          <a:graphicData uri="http://schemas.openxmlformats.org/drawingml/2006/table">
            <a:tbl>
              <a:tblPr firstRow="1">
                <a:tableStyleId>{5C22544A-7EE6-4342-B048-85BDC9FD1C3A}</a:tableStyleId>
              </a:tblPr>
              <a:tblGrid>
                <a:gridCol w="6320335"/>
                <a:gridCol w="2838281"/>
                <a:gridCol w="1021400"/>
                <a:gridCol w="731520"/>
              </a:tblGrid>
              <a:tr h="498764">
                <a:tc>
                  <a:txBody>
                    <a:bodyPr wrap="square"/>
                    <a:lstStyle/>
                    <a:p>
                      <a:pPr algn="l"/>
                      <a:r>
                        <a:rPr sz="1200" b="1" i="0">
                          <a:solidFill>
                            <a:srgbClr val="FFFFFF"/>
                          </a:solidFill>
                          <a:latin typeface="Segoe UI"/>
                        </a:rPr>
                        <a:t>Check (flag kab...)</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00" b="1" i="0">
                          <a:solidFill>
                            <a:srgbClr val="FFFFFF"/>
                          </a:solidFill>
                          <a:latin typeface="Segoe UI"/>
                        </a:rPr>
                        <a:t>Priya: Bharat Pumps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00" b="1" i="0">
                          <a:solidFill>
                            <a:srgbClr val="FFFFFF"/>
                          </a:solidFill>
                          <a:latin typeface="Segoe UI"/>
                        </a:rPr>
                        <a:t>Practice: Kiran Foods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00" b="1" i="0">
                          <a:solidFill>
                            <a:srgbClr val="FFFFFF"/>
                          </a:solidFill>
                          <a:latin typeface="Segoe UI"/>
                        </a:rPr>
                        <a:t>Aapka stock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06740">
                <a:tc>
                  <a:txBody>
                    <a:bodyPr wrap="square"/>
                    <a:lstStyle/>
                    <a:p>
                      <a:pPr algn="l"/>
                      <a:r>
                        <a:rPr sz="1200" b="0" i="0">
                          <a:solidFill>
                            <a:srgbClr val="18232F"/>
                          </a:solidFill>
                          <a:latin typeface="Segoe UI"/>
                        </a:rPr>
                        <a:t>Sector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Capital goods (pumps)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6740">
                <a:tc>
                  <a:txBody>
                    <a:bodyPr wrap="square"/>
                    <a:lstStyle/>
                    <a:p>
                      <a:pPr algn="l"/>
                      <a:r>
                        <a:rPr sz="1200" b="0" i="0">
                          <a:solidFill>
                            <a:srgbClr val="18232F"/>
                          </a:solidFill>
                          <a:latin typeface="Segoe UI"/>
                        </a:rPr>
                        <a:t>1 Growth: saal 3 ki sales saal 1 se kam?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Rs 4,200 se 5,000 cr: upar, flag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6740">
                <a:tc>
                  <a:txBody>
                    <a:bodyPr wrap="square"/>
                    <a:lstStyle/>
                    <a:p>
                      <a:pPr algn="l"/>
                      <a:r>
                        <a:rPr sz="1200" b="0" i="0">
                          <a:solidFill>
                            <a:srgbClr val="18232F"/>
                          </a:solidFill>
                          <a:latin typeface="Segoe UI"/>
                        </a:rPr>
                        <a:t>2 Margin: saal 2 mein gira aur saal 3 mein phir gira?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11.9%, 12.0%, 12.0%: flag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6740">
                <a:tc>
                  <a:txBody>
                    <a:bodyPr wrap="square"/>
                    <a:lstStyle/>
                    <a:p>
                      <a:pPr algn="l"/>
                      <a:r>
                        <a:rPr sz="1200" b="0" i="0">
                          <a:solidFill>
                            <a:srgbClr val="18232F"/>
                          </a:solidFill>
                          <a:latin typeface="Segoe UI"/>
                        </a:rPr>
                        <a:t>3 Debt: D/E 1 se upar, ya interest cover 2 se neeche?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D/E 1.2; cover 1.5x: FLAG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6740">
                <a:tc>
                  <a:txBody>
                    <a:bodyPr wrap="square"/>
                    <a:lstStyle/>
                    <a:p>
                      <a:pPr algn="l"/>
                      <a:r>
                        <a:rPr sz="1200" b="0" i="0">
                          <a:solidFill>
                            <a:srgbClr val="18232F"/>
                          </a:solidFill>
                          <a:latin typeface="Segoe UI"/>
                        </a:rPr>
                        <a:t>4 Pledge: 10% se zyada, ya lagatar 2 quarter se badha? (knock-out)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Chaaron quarter 0%: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9620">
                <a:tc>
                  <a:txBody>
                    <a:bodyPr wrap="square"/>
                    <a:lstStyle/>
                    <a:p>
                      <a:pPr algn="l"/>
                      <a:r>
                        <a:rPr sz="1200" b="0" i="0">
                          <a:solidFill>
                            <a:srgbClr val="18232F"/>
                          </a:solidFill>
                          <a:latin typeface="Segoe UI"/>
                        </a:rPr>
                        <a:t>5 Cash: teen saal ka cash teen saal ke profit ke aadhe se kam, ya dono mein se koi zero ya neeche?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Rs 270 cr vs Rs 300 cr: flag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6740">
                <a:tc>
                  <a:txBody>
                    <a:bodyPr wrap="square"/>
                    <a:lstStyle/>
                    <a:p>
                      <a:pPr algn="l"/>
                      <a:r>
                        <a:rPr sz="1200" b="0" i="0">
                          <a:solidFill>
                            <a:srgbClr val="18232F"/>
                          </a:solidFill>
                          <a:latin typeface="Segoe UI"/>
                        </a:rPr>
                        <a:t>Knock-out?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6740">
                <a:tc>
                  <a:txBody>
                    <a:bodyPr wrap="square"/>
                    <a:lstStyle/>
                    <a:p>
                      <a:pPr algn="l"/>
                      <a:r>
                        <a:rPr sz="1200" b="0" i="0">
                          <a:solidFill>
                            <a:srgbClr val="18232F"/>
                          </a:solidFill>
                          <a:latin typeface="Segoe UI"/>
                        </a:rPr>
                        <a:t>Counted flags (2 ya zyada = bahar)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1 (debt)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6740">
                <a:tc>
                  <a:txBody>
                    <a:bodyPr wrap="square"/>
                    <a:lstStyle/>
                    <a:p>
                      <a:pPr algn="l"/>
                      <a:r>
                        <a:rPr sz="1200" b="0" i="0">
                          <a:solidFill>
                            <a:srgbClr val="18232F"/>
                          </a:solidFill>
                          <a:latin typeface="Segoe UI"/>
                        </a:rPr>
                        <a:t>Faisla aur ek wajah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List mein; journal: 'debt: nazar rakho'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9620">
                <a:tc>
                  <a:txBody>
                    <a:bodyPr wrap="square"/>
                    <a:lstStyle/>
                    <a:p>
                      <a:pPr algn="l"/>
                      <a:r>
                        <a:rPr sz="1200" b="0" i="0">
                          <a:solidFill>
                            <a:srgbClr val="18232F"/>
                          </a:solidFill>
                          <a:latin typeface="Segoe UI"/>
                        </a:rPr>
                        <a:t>Portfolio row: Full Why 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Card: 1 flag (debt), pledge nahi, 3 saal sales upar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Corporate actions, numbers mein</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Jo action aapne nseindia.com par padha, uske liye khaali row bhariye: pehle cell mein uski ex-date aur record date likhiye.</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5984748"/>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Made-up holding: Rs 800 ke 100 shares (Rs 80,000), tax aur kharchon se pehle. Baad ke price hisaab se nikle hain; asli price market ke saath bhi hilte hain.</a:t>
            </a:r>
          </a:p>
        </p:txBody>
      </p:sp>
      <p:graphicFrame>
        <p:nvGraphicFramePr>
          <p:cNvPr id="7" name="Table 6"/>
          <p:cNvGraphicFramePr>
            <a:graphicFrameLocks noGrp="1"/>
          </p:cNvGraphicFramePr>
          <p:nvPr/>
        </p:nvGraphicFramePr>
        <p:xfrm>
          <a:off x="640080" y="1892808"/>
          <a:ext cx="10911536" cy="4000504"/>
        </p:xfrm>
        <a:graphic>
          <a:graphicData uri="http://schemas.openxmlformats.org/drawingml/2006/table">
            <a:tbl>
              <a:tblPr firstRow="1">
                <a:tableStyleId>{5C22544A-7EE6-4342-B048-85BDC9FD1C3A}</a:tableStyleId>
              </a:tblPr>
              <a:tblGrid>
                <a:gridCol w="4493066"/>
                <a:gridCol w="1649374"/>
                <a:gridCol w="1532405"/>
                <a:gridCol w="3236691"/>
              </a:tblGrid>
              <a:tr h="366332">
                <a:tc>
                  <a:txBody>
                    <a:bodyPr wrap="square"/>
                    <a:lstStyle/>
                    <a:p>
                      <a:pPr algn="l"/>
                      <a:r>
                        <a:rPr sz="1400" b="1" i="0">
                          <a:solidFill>
                            <a:srgbClr val="FFFFFF"/>
                          </a:solidFill>
                          <a:latin typeface="Segoe UI"/>
                        </a:rPr>
                        <a:t>Action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00" b="1" i="0">
                          <a:solidFill>
                            <a:srgbClr val="FFFFFF"/>
                          </a:solidFill>
                          <a:latin typeface="Segoe UI"/>
                        </a:rPr>
                        <a:t>Baad mein shares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00" b="1" i="0">
                          <a:solidFill>
                            <a:srgbClr val="FFFFFF"/>
                          </a:solidFill>
                          <a:latin typeface="Segoe UI"/>
                        </a:rPr>
                        <a:t>Baad mein price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00" b="1" i="0">
                          <a:solidFill>
                            <a:srgbClr val="FFFFFF"/>
                          </a:solidFill>
                          <a:latin typeface="Segoe UI"/>
                        </a:rPr>
                        <a:t>Aapki value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57188">
                <a:tc>
                  <a:txBody>
                    <a:bodyPr wrap="square"/>
                    <a:lstStyle/>
                    <a:p>
                      <a:pPr algn="l"/>
                      <a:r>
                        <a:rPr sz="1400" b="0" i="0">
                          <a:solidFill>
                            <a:srgbClr val="18232F"/>
                          </a:solidFill>
                          <a:latin typeface="Segoe UI"/>
                        </a:rPr>
                        <a:t>Rs 10 dividend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100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~Rs 790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Rs 79,000 + Rs 1,000 cash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57188">
                <a:tc>
                  <a:txBody>
                    <a:bodyPr wrap="square"/>
                    <a:lstStyle/>
                    <a:p>
                      <a:pPr algn="l"/>
                      <a:r>
                        <a:rPr sz="1400" b="0" i="0">
                          <a:solidFill>
                            <a:srgbClr val="18232F"/>
                          </a:solidFill>
                          <a:latin typeface="Segoe UI"/>
                        </a:rPr>
                        <a:t>1:1 bonus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200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~Rs 400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Rs 80,000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57188">
                <a:tc>
                  <a:txBody>
                    <a:bodyPr wrap="square"/>
                    <a:lstStyle/>
                    <a:p>
                      <a:pPr algn="l"/>
                      <a:r>
                        <a:rPr sz="1400" b="0" i="0">
                          <a:solidFill>
                            <a:srgbClr val="18232F"/>
                          </a:solidFill>
                          <a:latin typeface="Segoe UI"/>
                        </a:rPr>
                        <a:t>Split: face value Rs 10 se Rs 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500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~Rs 160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Rs 80,000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57188">
                <a:tc>
                  <a:txBody>
                    <a:bodyPr wrap="square"/>
                    <a:lstStyle/>
                    <a:p>
                      <a:pPr algn="l"/>
                      <a:r>
                        <a:rPr sz="1400" b="0" i="0">
                          <a:solidFill>
                            <a:srgbClr val="18232F"/>
                          </a:solidFill>
                          <a:latin typeface="Segoe UI"/>
                        </a:rPr>
                        <a:t>Rights, har 4 par 1, Rs 600 mein: apply, Rs 15,000 diye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125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~Rs 760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Rs 95,000 (80,000 + 15,000 diye)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57188">
                <a:tc>
                  <a:txBody>
                    <a:bodyPr wrap="square"/>
                    <a:lstStyle/>
                    <a:p>
                      <a:pPr algn="l"/>
                      <a:r>
                        <a:rPr sz="1400" b="0" i="0">
                          <a:solidFill>
                            <a:srgbClr val="18232F"/>
                          </a:solidFill>
                          <a:latin typeface="Segoe UI"/>
                        </a:rPr>
                        <a:t>Rights: apne 25 rights beche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100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~Rs 760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Rs 76,000 + ~Rs 4,000 cash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57188">
                <a:tc>
                  <a:txBody>
                    <a:bodyPr wrap="square"/>
                    <a:lstStyle/>
                    <a:p>
                      <a:pPr algn="l"/>
                      <a:r>
                        <a:rPr sz="1400" b="0" i="0">
                          <a:solidFill>
                            <a:srgbClr val="18232F"/>
                          </a:solidFill>
                          <a:latin typeface="Segoe UI"/>
                        </a:rPr>
                        <a:t>Rights: chhod diye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100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~Rs 760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Rs 76,000 (Rs 4,000 gaye)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57188">
                <a:tc>
                  <a:txBody>
                    <a:bodyPr wrap="square"/>
                    <a:lstStyle/>
                    <a:p>
                      <a:pPr algn="l"/>
                      <a:r>
                        <a:rPr sz="1400" b="0" i="0">
                          <a:solidFill>
                            <a:srgbClr val="18232F"/>
                          </a:solidFill>
                          <a:latin typeface="Segoe UI"/>
                        </a:rPr>
                        <a:t>Buyback Rs 900 par: aapke 100 mein se 10 accept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90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~Rs 800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Rs 72,000 + Rs 9,000 cash = Rs 81,000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Flag-count reveal</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Classmates, dost ya family ke saath kheliye. Score process ka, paise ka nahi.</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Sab log 10 minute mein akele Kiran Foods ki practice filing score karte hain, flags ki ginti ek parchi par likhte hain, aur saari parchiyan ek saath kholi jaati hain.</a:t>
            </a:r>
          </a:p>
          <a:p>
            <a:pPr algn="l">
              <a:lnSpc>
                <a:spcPct val="100000"/>
              </a:lnSpc>
              <a:spcAft>
                <a:spcPts val="700"/>
              </a:spcAft>
            </a:pPr>
            <a:r>
              <a:rPr sz="2000" b="0" i="0">
                <a:solidFill>
                  <a:srgbClr val="18232F"/>
                </a:solidFill>
                <a:latin typeface="Segoe UI"/>
              </a:rPr>
              <a:t>Jiski ginti alag ho, woh zor se woh rule padhta hai jisne use uljhaya.</a:t>
            </a:r>
          </a:p>
          <a:p>
            <a:pPr algn="l">
              <a:lnSpc>
                <a:spcPct val="100000"/>
              </a:lnSpc>
              <a:spcAft>
                <a:spcPts val="700"/>
              </a:spcAft>
            </a:pPr>
            <a:r>
              <a:rPr sz="2000" b="0" i="0">
                <a:solidFill>
                  <a:srgbClr val="18232F"/>
                </a:solidFill>
                <a:latin typeface="Segoe UI"/>
              </a:rPr>
              <a:t>Doosra round, Story vs Numbers: ek insaan TV anchor ki awaaz mein Aman ki '500 stores' wali line padhta hai, aur baaki batate hain ki paanch mein se kaunsa check use parkhega.</a:t>
            </a:r>
          </a:p>
          <a:p>
            <a:pPr algn="l">
              <a:lnSpc>
                <a:spcPct val="100000"/>
              </a:lnSpc>
              <a:spcAft>
                <a:spcPts val="700"/>
              </a:spcAft>
            </a:pPr>
            <a:r>
              <a:rPr sz="2000" b="0" i="0">
                <a:solidFill>
                  <a:srgbClr val="18232F"/>
                </a:solidFill>
                <a:latin typeface="Segoe UI"/>
              </a:rPr>
              <a:t>Akele seekh rahe hain? Dono round Health Card ke neeche diye answer key ke saath kheliye.</a:t>
            </a:r>
          </a:p>
          <a:p>
            <a:pPr algn="l">
              <a:lnSpc>
                <a:spcPct val="100000"/>
              </a:lnSpc>
            </a:pPr>
            <a:r>
              <a:rPr sz="2000" b="0" i="0">
                <a:solidFill>
                  <a:srgbClr val="18232F"/>
                </a:solidFill>
                <a:latin typeface="Segoe UI"/>
              </a:rPr>
              <a:t>Kisi asli company ka naam share nahi hota.</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Fill my health card: AI hisaab lagaye, aap verify karke faisla karein</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Fill my health card</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200" b="0" i="1">
                <a:solidFill>
                  <a:srgbClr val="47596B"/>
                </a:solidFill>
                <a:latin typeface="Segoe UI"/>
              </a:rPr>
              <a:t>“I will paste the company's sector and numbers I copied myself from its annual results (consolidated if available) for 3 years (year 1 is the oldest, year 3 the latest): sales (revenue from operations), total expenses, finance costs, depreciation, net profit and net cash from operating activities for each year; for the latest year, total borrowings (non-current plus current) and total equity (share capital plus other equity); and, for the last 4 quarters …”</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2</a:t>
            </a:r>
          </a:p>
        </p:txBody>
      </p:sp>
      <p:sp>
        <p:nvSpPr>
          <p:cNvPr id="11" name="TextBox 10"/>
          <p:cNvSpPr txBox="1"/>
          <p:nvPr/>
        </p:nvSpPr>
        <p:spPr>
          <a:xfrm>
            <a:off x="4478426"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Kahani ya numbers?</a:t>
            </a:r>
          </a:p>
        </p:txBody>
      </p:sp>
      <p:sp>
        <p:nvSpPr>
          <p:cNvPr id="12" name="TextBox 11"/>
          <p:cNvSpPr txBox="1"/>
          <p:nvPr/>
        </p:nvSpPr>
        <p:spPr>
          <a:xfrm>
            <a:off x="4478426"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3" name="TextBox 12"/>
          <p:cNvSpPr txBox="1"/>
          <p:nvPr/>
        </p:nvSpPr>
        <p:spPr>
          <a:xfrm>
            <a:off x="4478426"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“I will paste a company press release, a TV interview transcript or a news article, with the company name removed.”</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3</a:t>
            </a:r>
          </a:p>
        </p:txBody>
      </p:sp>
      <p:sp>
        <p:nvSpPr>
          <p:cNvPr id="16" name="TextBox 15"/>
          <p:cNvSpPr txBox="1"/>
          <p:nvPr/>
        </p:nvSpPr>
        <p:spPr>
          <a:xfrm>
            <a:off x="8298485"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Mera corporate action check karo</a:t>
            </a:r>
          </a:p>
        </p:txBody>
      </p:sp>
      <p:sp>
        <p:nvSpPr>
          <p:cNvPr id="17" name="TextBox 16"/>
          <p:cNvSpPr txBox="1"/>
          <p:nvPr/>
        </p:nvSpPr>
        <p:spPr>
          <a:xfrm>
            <a:off x="8298485"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8" name="TextBox 17"/>
          <p:cNvSpPr txBox="1"/>
          <p:nvPr/>
        </p:nvSpPr>
        <p:spPr>
          <a:xfrm>
            <a:off x="8298485" y="2859024"/>
            <a:ext cx="3234842" cy="15575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“I read a corporate action on the NSE website and I will paste its type (dividend, bonus, split, rights issue or buyback), the ratio or amount, the issue or buyback price if any, the ex-date and the record date.”</a:t>
            </a:r>
          </a:p>
        </p:txBody>
      </p:sp>
      <p:sp>
        <p:nvSpPr>
          <p:cNvPr id="19" name="Oval 18"/>
          <p:cNvSpPr/>
          <p:nvPr/>
        </p:nvSpPr>
        <p:spPr>
          <a:xfrm>
            <a:off x="457200"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App se prompt copy kijiye</a:t>
            </a:r>
          </a:p>
        </p:txBody>
      </p:sp>
      <p:sp>
        <p:nvSpPr>
          <p:cNvPr id="21" name="Oval 20"/>
          <p:cNvSpPr/>
          <p:nvPr/>
        </p:nvSpPr>
        <p:spPr>
          <a:xfrm>
            <a:off x="4277258"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Kisi bhi AI chat mein paste kijiye</a:t>
            </a:r>
          </a:p>
        </p:txBody>
      </p:sp>
      <p:sp>
        <p:nvSpPr>
          <p:cNvPr id="23" name="Oval 22"/>
          <p:cNvSpPr/>
          <p:nvPr/>
        </p:nvSpPr>
        <p:spPr>
          <a:xfrm>
            <a:off x="8097317"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Har Fact khud check kijiye</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analyst hai, faisla aap karte hain. Kisi bhi AI mein PAN, client ID, password, OTP ya API key kabhi paste mat kijiye, aur AI ka jawab kabhi buy ya sell call bana kar aage mat bhejiye.</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Poora prompt: speaker notes mein, aur app ke AI Lab tab mein.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QUICK QUIZ · SAWAAL 1/5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Sharma Textiles Ltd Rs 8 ka dividend declare karti hai. Thursday ex-date bhi hai aur record date bhi. Aman dividend ke chakkar mein Wednesday ko 40 shares khareedta hai; Priya Thursday subah 40 shares khareedti hai. Normal T+1 cycle mein dividend kise milega?</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Kisi ko nahi: list Friday ke settlement ke baad banti hai</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Sirf Aman: uski Wednesday ki khareed Thursday ko settle hoti hai</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Dono ko, kyunki dono ne Friday se pehle khareeda</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Sirf Priya: ex-date par shares uske paas hain</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QUICK QUIZ · SAWAAL 2/5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 ek CEO ka interview dekhta hai jismein 500 naye stores ki baat hai, aur use poora yakeen ho jaata hai ki company achha karegi. Usne company ke accounts khole hi nahi. Kaunsi aadat use story bias se sabse achhe se bachayegi?</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Pehle filings se card score karo; kahani sabse baad mein suno</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Do aur interview dekho, taaki pata chale ki plan asli hai</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AI chat se poochho ki company achha karegi ya nahi</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Abhi thoda sa khareed lo, numbers baad mein check karo</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QUICK QUIZ · SAWAAL 3/5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Ek made-up company ke liye Priya ka card: teen saal mein sales upar, margin steady, debt-to-equity 0.4 aur teen saal ka cash flow profit ke kareeb. Lekin promoter ke 35% shares pledge hain. Course ke rules ke hisaab se kya hoga?</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List mein rehta hai, kyunki paanch mein se sirf ek check fail hua</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List se bahar: 10% se zyada pledge knock-out hai</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List mein rehta hai, agar chart bhi saaf uptrend dikhaye</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List mein rehta hai, par sirf aadhe position size ke saath</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QUICK QUIZ · SAWAAL 4/5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Teen saal mein ek made-up company ka net profit Rs 20, 24 aur 28 crore hai. Uska operating cash flow Rs 18, 6 aur 4 crore hai. Course ka cash-flow check kya kehta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Flag nahi, kyunki profit har saal badha</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Flag: teen saal ka cash teen saal ke profit ke aadhe se kam hai</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Flag nahi: saal 1 ka cash uske profit ke kareeb tha</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Flag tabhi, jab share price bhi gira ho</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QUICK QUIZ · SAWAAL 5/5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 ke colleague ke paas do saal se Anand Snacks Ltd ke 50 shares hain; share Rs 200 par hai. Company har 5 shares par 1 naya share Rs 140 mein offer karti hai, aur ex-date ke baad price Rs 190 ki taraf jaata hai. Agar colleague offer ko bas chhod de, toh kya hota hai?</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Use fayda hai, kyunki share ab Rs 10 sasta hai</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Kuch nahi badalta: chhoda hua offer uska kuch nahi leta</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Use lagbhag Rs 500 ka nuksaan: uske 10 bina use kiye rights bekaar ho jaate hain</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Use phir bhi apne 10 naye shares ke Rs 1,400 dene honge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AAJ RAAT KA JOURNAL</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AI ke saath fundamental health check, aur corporate actions</a:t>
            </a:r>
          </a:p>
        </p:txBody>
      </p:sp>
      <p:sp>
        <p:nvSpPr>
          <p:cNvPr id="4" name="TextBox 3"/>
          <p:cNvSpPr txBox="1"/>
          <p:nvPr/>
        </p:nvSpPr>
        <p:spPr>
          <a:xfrm>
            <a:off x="457200" y="5964936"/>
            <a:ext cx="11277295" cy="36271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Company names and example figures are made up for illustration, and no fair value, target price or buy/sell view is given. No affiliation with any website or tool named. Stage 1 uses virtual money only. 5 Circles Pvt Ltd · SEBI Registered Research Analyst · Reg. No. INH000020004</a:t>
            </a:r>
          </a:p>
        </p:txBody>
      </p:sp>
      <p:sp>
        <p:nvSpPr>
          <p:cNvPr id="5" name="Rounded Rectangle 4"/>
          <p:cNvSpPr/>
          <p:nvPr/>
        </p:nvSpPr>
        <p:spPr>
          <a:xfrm>
            <a:off x="457200" y="1335024"/>
            <a:ext cx="5501488" cy="4008120"/>
          </a:xfrm>
          <a:prstGeom prst="roundRect">
            <a:avLst>
              <a:gd name="adj" fmla="val 319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AAJ RAAT KA JOURNAL</a:t>
            </a:r>
          </a:p>
        </p:txBody>
      </p:sp>
      <p:sp>
        <p:nvSpPr>
          <p:cNvPr id="7" name="TextBox 6"/>
          <p:cNvSpPr txBox="1"/>
          <p:nvPr/>
        </p:nvSpPr>
        <p:spPr>
          <a:xfrm>
            <a:off x="731520" y="1901952"/>
            <a:ext cx="4952848" cy="327660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Kaunsi company ki kahani par aapne bina numbers dekhe bharosa kiya, TV, YouTube ya kisi dost se sunkar? Aaj ke card ke baad kya woh company aapki list mein rahegi? Likhiye ki kis check ne faisla kiya.</a:t>
            </a:r>
          </a:p>
        </p:txBody>
      </p:sp>
      <p:sp>
        <p:nvSpPr>
          <p:cNvPr id="8" name="Rounded Rectangle 7"/>
          <p:cNvSpPr/>
          <p:nvPr/>
        </p:nvSpPr>
        <p:spPr>
          <a:xfrm>
            <a:off x="6233008" y="1335024"/>
            <a:ext cx="5501488" cy="4008120"/>
          </a:xfrm>
          <a:prstGeom prst="roundRect">
            <a:avLst>
              <a:gd name="adj" fmla="val 319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92400E"/>
                </a:solidFill>
                <a:latin typeface="Segoe UI"/>
              </a:rPr>
              <a:t>“</a:t>
            </a:r>
          </a:p>
        </p:txBody>
      </p:sp>
      <p:sp>
        <p:nvSpPr>
          <p:cNvPr id="10" name="TextBox 9"/>
          <p:cNvSpPr txBox="1"/>
          <p:nvPr/>
        </p:nvSpPr>
        <p:spPr>
          <a:xfrm>
            <a:off x="6507328" y="2683764"/>
            <a:ext cx="4952848" cy="172212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Aaj aapne chart se pehle report padhi. Yeh dheema aur bina chamak-dhamak ka kaam hai, aur yahi woh kaam hai jise ek achhi kahani aapse skip karwana chahti hai.</a:t>
            </a:r>
          </a:p>
        </p:txBody>
      </p:sp>
      <p:sp>
        <p:nvSpPr>
          <p:cNvPr id="11" name="Rounded Rectangle 10"/>
          <p:cNvSpPr/>
          <p:nvPr/>
        </p:nvSpPr>
        <p:spPr>
          <a:xfrm>
            <a:off x="457200" y="5489448"/>
            <a:ext cx="4651664"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Agla: Day 16 · Algo Level 1: rules, flowchart aur alerts</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0B1B33"/>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0B1B33"/>
                </a:solidFill>
                <a:latin typeface="Segoe UI"/>
              </a:rPr>
              <a:t>16</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0B1B33"/>
                </a:solidFill>
                <a:latin typeface="Segoe UI"/>
              </a:rPr>
              <a:t>WEEK 3</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0B1B33"/>
                </a:solidFill>
                <a:latin typeface="Segoe UI"/>
              </a:rPr>
              <a:t>Apna system banao, khud ko bachao</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Algo Level 1: rules, flowchart aur alerts</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7744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Testable rules, flowchart aur alerts: machine dekhti hai, faisla aap karte hain</a:t>
            </a:r>
          </a:p>
        </p:txBody>
      </p:sp>
      <p:sp>
        <p:nvSpPr>
          <p:cNvPr id="12" name="Rounded Rectangle 11"/>
          <p:cNvSpPr/>
          <p:nvPr/>
        </p:nvSpPr>
        <p:spPr>
          <a:xfrm>
            <a:off x="4572000" y="315468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3145536"/>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Flowchart drafter: AI draft banaye, missing box aap dhoondhein</a:t>
            </a:r>
          </a:p>
        </p:txBody>
      </p:sp>
      <p:sp>
        <p:nvSpPr>
          <p:cNvPr id="14" name="Rounded Rectangle 13"/>
          <p:cNvSpPr/>
          <p:nvPr/>
        </p:nvSpPr>
        <p:spPr>
          <a:xfrm>
            <a:off x="4572000" y="3922776"/>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922776"/>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Magic bot ki chahat</a:t>
            </a:r>
          </a:p>
        </p:txBody>
      </p:sp>
      <p:sp>
        <p:nvSpPr>
          <p:cNvPr id="16" name="TextBox 15"/>
          <p:cNvSpPr txBox="1"/>
          <p:nvPr/>
        </p:nvSpPr>
        <p:spPr>
          <a:xfrm>
            <a:off x="4572000" y="4608576"/>
            <a:ext cx="7162495"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AAJ KE BAAD</a:t>
            </a:r>
          </a:p>
        </p:txBody>
      </p:sp>
      <p:sp>
        <p:nvSpPr>
          <p:cNvPr id="17" name="TextBox 16"/>
          <p:cNvSpPr txBox="1"/>
          <p:nvPr/>
        </p:nvSpPr>
        <p:spPr>
          <a:xfrm>
            <a:off x="4572000" y="4882896"/>
            <a:ext cx="7162495" cy="1141476"/>
          </a:xfrm>
          <a:prstGeom prst="rect">
            <a:avLst/>
          </a:prstGeom>
          <a:noFill/>
        </p:spPr>
        <p:txBody>
          <a:bodyPr wrap="square" lIns="0" rIns="0" tIns="0" bIns="0" anchor="t">
            <a:noAutofit/>
          </a:bodyPr>
          <a:lstStyle/>
          <a:p>
            <a:pPr algn="l">
              <a:lnSpc>
                <a:spcPct val="100000"/>
              </a:lnSpc>
            </a:pPr>
            <a:r>
              <a:rPr sz="1450" b="0" i="0">
                <a:solidFill>
                  <a:srgbClr val="47596B"/>
                </a:solidFill>
                <a:latin typeface="Segoe UI"/>
              </a:rPr>
              <a:t>Aaj ke baad aap vague trading ideas ko testable haan/na rules mein badal payenge, unka aisa flowchart bana payenge jismein har sawaal ka ek YES aur ek NO raasta ho, bata payenge ki kaunse checks free screener ya price alert kar sakta hai aur kaunse aap khud karenge, daily checks official close ke baad karenge, aur samjha payenge ki SEBI ke retail algo rules kya kehte hain aur magic bot red flag kyun hai.</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KAHANI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Sab kuch karne wala bot</a:t>
            </a:r>
          </a:p>
        </p:txBody>
      </p:sp>
      <p:sp>
        <p:nvSpPr>
          <p:cNvPr id="4" name="Rounded Rectangle 3"/>
          <p:cNvSpPr/>
          <p:nvPr/>
        </p:nvSpPr>
        <p:spPr>
          <a:xfrm>
            <a:off x="457200" y="1426464"/>
            <a:ext cx="3649370" cy="3118104"/>
          </a:xfrm>
          <a:prstGeom prst="roundRect">
            <a:avLst>
              <a:gd name="adj" fmla="val 410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266090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Tuesday, raat 10 baje. Aman ek Telegram ad Priya aur mentor ko forward karta hai.</a:t>
            </a:r>
          </a:p>
        </p:txBody>
      </p:sp>
      <p:sp>
        <p:nvSpPr>
          <p:cNvPr id="7" name="Rounded Rectangle 6"/>
          <p:cNvSpPr/>
          <p:nvPr/>
        </p:nvSpPr>
        <p:spPr>
          <a:xfrm>
            <a:off x="4271162" y="1426464"/>
            <a:ext cx="3649370" cy="3118104"/>
          </a:xfrm>
          <a:prstGeom prst="roundRect">
            <a:avLst>
              <a:gd name="adj" fmla="val 410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T</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991B1B"/>
                </a:solidFill>
                <a:latin typeface="Segoe UI"/>
              </a:rPr>
              <a:t>Tip-wala</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1883664"/>
          </a:xfrm>
          <a:prstGeom prst="wedgeRoundRectCallout">
            <a:avLst>
              <a:gd name="adj1" fmla="val -41915"/>
              <a:gd name="adj2" fmla="val -59708"/>
              <a:gd name="adj3" fmla="val 582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15910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AI Algo Bot. Aap soiye, bot trade karega. Sure-shot entries, 10 mein se 9 trade profit mein. Bas apna broker login aur password share kijiye. Rs 4,999 mahina. Sirf 20 seats baaki.</a:t>
            </a:r>
          </a:p>
        </p:txBody>
      </p:sp>
      <p:sp>
        <p:nvSpPr>
          <p:cNvPr id="13" name="Rounded Rectangle 12"/>
          <p:cNvSpPr/>
          <p:nvPr/>
        </p:nvSpPr>
        <p:spPr>
          <a:xfrm>
            <a:off x="8085125" y="1426464"/>
            <a:ext cx="3649370" cy="3118104"/>
          </a:xfrm>
          <a:prstGeom prst="roundRect">
            <a:avLst>
              <a:gd name="adj" fmla="val 410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teen hafte rules likhne mein kyun lagaun? Yeh bot sab kar deta hai. Office ke time chart dekhne ka jhanjhat hi khatam.</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KAHANI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Sab kuch karne wala bot</a:t>
            </a:r>
          </a:p>
        </p:txBody>
      </p:sp>
      <p:sp>
        <p:nvSpPr>
          <p:cNvPr id="4" name="Rounded Rectangle 3"/>
          <p:cNvSpPr/>
          <p:nvPr/>
        </p:nvSpPr>
        <p:spPr>
          <a:xfrm>
            <a:off x="457200" y="1335024"/>
            <a:ext cx="3649370" cy="4297680"/>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46304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6" name="TextBox 5"/>
          <p:cNvSpPr txBox="1"/>
          <p:nvPr/>
        </p:nvSpPr>
        <p:spPr>
          <a:xfrm>
            <a:off x="1188720" y="157276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7" name="TextBox 6"/>
          <p:cNvSpPr txBox="1"/>
          <p:nvPr/>
        </p:nvSpPr>
        <p:spPr>
          <a:xfrm>
            <a:off x="3722522"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03120"/>
            <a:ext cx="3393338" cy="3179064"/>
          </a:xfrm>
          <a:prstGeom prst="wedgeRoundRectCallout">
            <a:avLst>
              <a:gd name="adj1" fmla="val -41915"/>
              <a:gd name="adj2" fmla="val -55752"/>
              <a:gd name="adj3" fmla="val 3451"/>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267712"/>
            <a:ext cx="3137306" cy="28864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Aman, pehle bechne wale se teen sawaal poochiye. Bot ke rules kya hain, haan-ya-na mein likhe hue? Iske orders kaunsa broker bhejta hai, aur kya har order par exchange ka Algo-ID, yaani number plate, lagta hai? Aur gadbad hone par jawab kaun dega? Ek baat aur: koi bhi asli service aapka password kabhi nahi maangti.</a:t>
            </a:r>
          </a:p>
        </p:txBody>
      </p:sp>
      <p:sp>
        <p:nvSpPr>
          <p:cNvPr id="10" name="Rounded Rectangle 9"/>
          <p:cNvSpPr/>
          <p:nvPr/>
        </p:nvSpPr>
        <p:spPr>
          <a:xfrm>
            <a:off x="4271162" y="1335024"/>
            <a:ext cx="3649370" cy="4297680"/>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46304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2" name="TextBox 11"/>
          <p:cNvSpPr txBox="1"/>
          <p:nvPr/>
        </p:nvSpPr>
        <p:spPr>
          <a:xfrm>
            <a:off x="5002682" y="157276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3" name="TextBox 12"/>
          <p:cNvSpPr txBox="1"/>
          <p:nvPr/>
        </p:nvSpPr>
        <p:spPr>
          <a:xfrm>
            <a:off x="7536485"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03120"/>
            <a:ext cx="3393338" cy="2401824"/>
          </a:xfrm>
          <a:prstGeom prst="wedgeRoundRectCallout">
            <a:avLst>
              <a:gd name="adj1" fmla="val -41915"/>
              <a:gd name="adj2" fmla="val -57614"/>
              <a:gd name="adj3" fmla="val 4568"/>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267712"/>
            <a:ext cx="3137306" cy="21092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kal raat maine apne Day 11 wale rules aise steps mein likhne ki koshish ki jo machine follow kar sake. Numbers toh sab the, par time par atak gayi: 'close EMA 20 se 2% ke andar'. Kaunsa close? 3:00 baje check karun, toh kya wahi close hai?</a:t>
            </a:r>
          </a:p>
        </p:txBody>
      </p:sp>
      <p:sp>
        <p:nvSpPr>
          <p:cNvPr id="16" name="Rounded Rectangle 15"/>
          <p:cNvSpPr/>
          <p:nvPr/>
        </p:nvSpPr>
        <p:spPr>
          <a:xfrm>
            <a:off x="8085125" y="1335024"/>
            <a:ext cx="3649370" cy="4297680"/>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46304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57276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03120"/>
            <a:ext cx="3393338" cy="2142744"/>
          </a:xfrm>
          <a:prstGeom prst="wedgeRoundRectCallout">
            <a:avLst>
              <a:gd name="adj1" fmla="val -41915"/>
              <a:gd name="adj2" fmla="val -58534"/>
              <a:gd name="adj3" fmla="val 5120"/>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267712"/>
            <a:ext cx="3137306" cy="185013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Priya, asli kaam yahi hai. Machine sirf wahi follow kar sakti hai jo aap haan-ya-na mein likh sakein. Aaj hum Algo Level 1 banayenge: rules, flowchart aur alerts. Machine dekhegi, faisla aap karenge.</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6429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Seekh</a:t>
            </a:r>
          </a:p>
        </p:txBody>
      </p:sp>
      <p:sp>
        <p:nvSpPr>
          <p:cNvPr id="24" name="TextBox 23"/>
          <p:cNvSpPr txBox="1"/>
          <p:nvPr/>
        </p:nvSpPr>
        <p:spPr>
          <a:xfrm>
            <a:off x="1411050" y="5760720"/>
            <a:ext cx="1014056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Jo rules aapne likhe hi nahi, unhe koi bot follow nahi kar sakta. Pehle rules likhiye, phir kisi jaadu ki zaroorat nahi padegi.</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Algo matlab likhe hue rules, jaadu nahi</a:t>
            </a:r>
          </a:p>
        </p:txBody>
      </p:sp>
      <p:sp>
        <p:nvSpPr>
          <p:cNvPr id="4" name="TextBox 3"/>
          <p:cNvSpPr txBox="1"/>
          <p:nvPr/>
        </p:nvSpPr>
        <p:spPr>
          <a:xfrm>
            <a:off x="457200" y="1335024"/>
            <a:ext cx="5519776" cy="240284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Discretionary trader har baar naye sire se faisla karta hai ('aaj chart achha lag raha hai')</a:t>
            </a:r>
          </a:p>
          <a:p>
            <a:pPr algn="l" marL="274320" indent="-274320">
              <a:lnSpc>
                <a:spcPct val="100000"/>
              </a:lnSpc>
              <a:spcAft>
                <a:spcPts val="800"/>
              </a:spcAft>
              <a:buClr>
                <a:srgbClr val="F5A623"/>
              </a:buClr>
              <a:buFont typeface="Arial"/>
              <a:buChar char="•"/>
            </a:pPr>
            <a:r>
              <a:rPr sz="1600" b="0" i="0">
                <a:solidFill>
                  <a:srgbClr val="18232F"/>
                </a:solidFill>
                <a:latin typeface="Segoe UI"/>
              </a:rPr>
              <a:t>Systematic trader ek baar faisla karta hai, rule likh leta hai, aur phir usi par chalta hai.</a:t>
            </a:r>
          </a:p>
          <a:p>
            <a:pPr algn="l" marL="274320" indent="-274320">
              <a:lnSpc>
                <a:spcPct val="100000"/>
              </a:lnSpc>
              <a:spcAft>
                <a:spcPts val="800"/>
              </a:spcAft>
              <a:buClr>
                <a:srgbClr val="F5A623"/>
              </a:buClr>
              <a:buFont typeface="Arial"/>
              <a:buChar char="•"/>
            </a:pPr>
            <a:r>
              <a:rPr sz="1600" b="0" i="0">
                <a:solidFill>
                  <a:srgbClr val="18232F"/>
                </a:solidFill>
                <a:latin typeface="Segoe UI"/>
              </a:rPr>
              <a:t>Testable rule mein teen baatein hoti hain.</a:t>
            </a:r>
          </a:p>
          <a:p>
            <a:pPr algn="l" marL="274320" indent="-274320">
              <a:lnSpc>
                <a:spcPct val="100000"/>
              </a:lnSpc>
              <a:spcAft>
                <a:spcPts val="800"/>
              </a:spcAft>
              <a:buClr>
                <a:srgbClr val="F5A623"/>
              </a:buClr>
              <a:buFont typeface="Arial"/>
              <a:buChar char="•"/>
            </a:pPr>
            <a:r>
              <a:rPr sz="1600" b="0" i="0">
                <a:solidFill>
                  <a:srgbClr val="18232F"/>
                </a:solidFill>
                <a:latin typeface="Segoe UI"/>
              </a:rPr>
              <a:t>Paas, strong, safe ya 'lagbhag' jaise shabd is test mein fail ho jaate hain.</a:t>
            </a:r>
          </a:p>
          <a:p>
            <a:pPr algn="l" marL="274320" indent="-274320">
              <a:lnSpc>
                <a:spcPct val="100000"/>
              </a:lnSpc>
              <a:buClr>
                <a:srgbClr val="F5A623"/>
              </a:buClr>
              <a:buFont typeface="Arial"/>
              <a:buChar char="•"/>
            </a:pPr>
            <a:r>
              <a:rPr sz="1600" b="0" i="0">
                <a:solidFill>
                  <a:srgbClr val="18232F"/>
                </a:solidFill>
                <a:latin typeface="Segoe UI"/>
              </a:rPr>
              <a:t>Inhe hum shayad words kehte hain.</a:t>
            </a:r>
          </a:p>
        </p:txBody>
      </p:sp>
      <p:sp>
        <p:nvSpPr>
          <p:cNvPr id="5" name="Rounded Rectangle 4"/>
          <p:cNvSpPr/>
          <p:nvPr/>
        </p:nvSpPr>
        <p:spPr>
          <a:xfrm>
            <a:off x="457200" y="3893312"/>
            <a:ext cx="5519776" cy="1721104"/>
          </a:xfrm>
          <a:prstGeom prst="roundRect">
            <a:avLst>
              <a:gd name="adj" fmla="val 637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0213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277360"/>
            <a:ext cx="5154016" cy="12639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 ne Day 11 ka card copy hi nahi kiya tha; uske apne note mein likha tha: 'Jab uptrend wala stock EMA 20 ke paas aaye aur RSI zyada high na ho, tab enter karo; stop safe rakho. Priya uske saath shayad-hunt karti hai aur chaar vague baatein nikalti hain. 'Uptrend' bana 'daily chart par EMA 20, EMA 50 ke upar, aur EMA 50 das trading din pehle se upar'. … Yeh bilkul Day 11 wala card hai, aur ab jo bhi padhe, jawab ek hi aayega.</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Shayad words vs testable rules</a:t>
            </a:r>
          </a:p>
        </p:txBody>
      </p:sp>
      <p:sp>
        <p:nvSpPr>
          <p:cNvPr id="10" name="TextBox 9"/>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'Testable' column jo bhi padhe, use jawab ek hi milega.</a:t>
            </a:r>
          </a:p>
        </p:txBody>
      </p:sp>
      <p:sp>
        <p:nvSpPr>
          <p:cNvPr id="11" name="Rounded Rectangle 10"/>
          <p:cNvSpPr/>
          <p:nvPr/>
        </p:nvSpPr>
        <p:spPr>
          <a:xfrm>
            <a:off x="6397600" y="1861185"/>
            <a:ext cx="2494712" cy="3309366"/>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397600" y="1861185"/>
            <a:ext cx="2494712" cy="463296"/>
          </a:xfrm>
          <a:prstGeom prst="roundRect">
            <a:avLst>
              <a:gd name="adj" fmla="val 19736"/>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397600" y="2092833"/>
            <a:ext cx="2494712" cy="23164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397600" y="1861185"/>
            <a:ext cx="2494712" cy="3309366"/>
          </a:xfrm>
          <a:prstGeom prst="roundRect">
            <a:avLst>
              <a:gd name="adj" fmla="val 3665"/>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6543904" y="1861185"/>
            <a:ext cx="2202104" cy="463296"/>
          </a:xfrm>
          <a:prstGeom prst="rect">
            <a:avLst/>
          </a:prstGeom>
          <a:noFill/>
        </p:spPr>
        <p:txBody>
          <a:bodyPr wrap="square" lIns="0" rIns="0" tIns="0" bIns="0" anchor="ctr">
            <a:noAutofit/>
          </a:bodyPr>
          <a:lstStyle/>
          <a:p>
            <a:pPr algn="l">
              <a:lnSpc>
                <a:spcPct val="100000"/>
              </a:lnSpc>
            </a:pPr>
            <a:r>
              <a:rPr sz="1600" b="1" i="0">
                <a:solidFill>
                  <a:srgbClr val="991B1B"/>
                </a:solidFill>
                <a:latin typeface="Segoe UI"/>
              </a:rPr>
              <a:t>Shayad (vague)</a:t>
            </a:r>
          </a:p>
        </p:txBody>
      </p:sp>
      <p:cxnSp>
        <p:nvCxnSpPr>
          <p:cNvPr id="16" name="Connector 15"/>
          <p:cNvCxnSpPr/>
          <p:nvPr/>
        </p:nvCxnSpPr>
        <p:spPr>
          <a:xfrm>
            <a:off x="6397600" y="2324481"/>
            <a:ext cx="2494711"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43904" y="2470785"/>
            <a:ext cx="2202104" cy="2663190"/>
          </a:xfrm>
          <a:prstGeom prst="rect">
            <a:avLst/>
          </a:prstGeom>
          <a:noFill/>
        </p:spPr>
        <p:txBody>
          <a:bodyPr wrap="square" lIns="0" rIns="0" tIns="0" bIns="0" anchor="t">
            <a:noAutofit/>
          </a:bodyPr>
          <a:lstStyle/>
          <a:p>
            <a:pPr algn="l" marL="201168" indent="-201168">
              <a:lnSpc>
                <a:spcPct val="100000"/>
              </a:lnSpc>
              <a:spcAft>
                <a:spcPts val="750"/>
              </a:spcAft>
              <a:buClr>
                <a:srgbClr val="F0554E"/>
              </a:buClr>
              <a:buFont typeface="Arial"/>
              <a:buChar char="•"/>
            </a:pPr>
            <a:r>
              <a:rPr sz="1500" b="0" i="0">
                <a:solidFill>
                  <a:srgbClr val="18232F"/>
                </a:solidFill>
                <a:latin typeface="Segoe UI"/>
              </a:rPr>
              <a:t>Uptrend wala stock</a:t>
            </a:r>
          </a:p>
          <a:p>
            <a:pPr algn="l" marL="201168" indent="-201168">
              <a:lnSpc>
                <a:spcPct val="100000"/>
              </a:lnSpc>
              <a:spcAft>
                <a:spcPts val="750"/>
              </a:spcAft>
              <a:buClr>
                <a:srgbClr val="F0554E"/>
              </a:buClr>
              <a:buFont typeface="Arial"/>
              <a:buChar char="•"/>
            </a:pPr>
            <a:r>
              <a:rPr sz="1500" b="0" i="0">
                <a:solidFill>
                  <a:srgbClr val="18232F"/>
                </a:solidFill>
                <a:latin typeface="Segoe UI"/>
              </a:rPr>
              <a:t>Price EMA 20 ke paas</a:t>
            </a:r>
          </a:p>
          <a:p>
            <a:pPr algn="l" marL="201168" indent="-201168">
              <a:lnSpc>
                <a:spcPct val="100000"/>
              </a:lnSpc>
              <a:spcAft>
                <a:spcPts val="750"/>
              </a:spcAft>
              <a:buClr>
                <a:srgbClr val="F0554E"/>
              </a:buClr>
              <a:buFont typeface="Arial"/>
              <a:buChar char="•"/>
            </a:pPr>
            <a:r>
              <a:rPr sz="1500" b="0" i="0">
                <a:solidFill>
                  <a:srgbClr val="18232F"/>
                </a:solidFill>
                <a:latin typeface="Segoe UI"/>
              </a:rPr>
              <a:t>RSI zyada high nahi</a:t>
            </a:r>
          </a:p>
          <a:p>
            <a:pPr algn="l" marL="201168" indent="-201168">
              <a:lnSpc>
                <a:spcPct val="100000"/>
              </a:lnSpc>
              <a:buClr>
                <a:srgbClr val="F0554E"/>
              </a:buClr>
              <a:buFont typeface="Arial"/>
              <a:buChar char="•"/>
            </a:pPr>
            <a:r>
              <a:rPr sz="1500" b="0" i="0">
                <a:solidFill>
                  <a:srgbClr val="18232F"/>
                </a:solidFill>
                <a:latin typeface="Segoe UI"/>
              </a:rPr>
              <a:t>Safe stop</a:t>
            </a:r>
          </a:p>
        </p:txBody>
      </p:sp>
      <p:sp>
        <p:nvSpPr>
          <p:cNvPr id="18" name="Rounded Rectangle 17"/>
          <p:cNvSpPr/>
          <p:nvPr/>
        </p:nvSpPr>
        <p:spPr>
          <a:xfrm>
            <a:off x="9056903" y="1861185"/>
            <a:ext cx="2494712" cy="3309366"/>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9056903" y="1861185"/>
            <a:ext cx="2494712" cy="463296"/>
          </a:xfrm>
          <a:prstGeom prst="roundRect">
            <a:avLst>
              <a:gd name="adj" fmla="val 19736"/>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9056903" y="2092833"/>
            <a:ext cx="2494712" cy="23164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9056903" y="1861185"/>
            <a:ext cx="2494712" cy="3309366"/>
          </a:xfrm>
          <a:prstGeom prst="roundRect">
            <a:avLst>
              <a:gd name="adj" fmla="val 3665"/>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9203207" y="1861185"/>
            <a:ext cx="2202104" cy="463296"/>
          </a:xfrm>
          <a:prstGeom prst="rect">
            <a:avLst/>
          </a:prstGeom>
          <a:noFill/>
        </p:spPr>
        <p:txBody>
          <a:bodyPr wrap="square" lIns="0" rIns="0" tIns="0" bIns="0" anchor="ctr">
            <a:noAutofit/>
          </a:bodyPr>
          <a:lstStyle/>
          <a:p>
            <a:pPr algn="l">
              <a:lnSpc>
                <a:spcPct val="100000"/>
              </a:lnSpc>
            </a:pPr>
            <a:r>
              <a:rPr sz="1600" b="1" i="0">
                <a:solidFill>
                  <a:srgbClr val="166534"/>
                </a:solidFill>
                <a:latin typeface="Segoe UI"/>
              </a:rPr>
              <a:t>Testable (haan/na)</a:t>
            </a:r>
          </a:p>
        </p:txBody>
      </p:sp>
      <p:cxnSp>
        <p:nvCxnSpPr>
          <p:cNvPr id="23" name="Connector 22"/>
          <p:cNvCxnSpPr/>
          <p:nvPr/>
        </p:nvCxnSpPr>
        <p:spPr>
          <a:xfrm>
            <a:off x="9056903" y="2324481"/>
            <a:ext cx="2494712"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203207" y="2470785"/>
            <a:ext cx="2202104" cy="2663190"/>
          </a:xfrm>
          <a:prstGeom prst="rect">
            <a:avLst/>
          </a:prstGeom>
          <a:noFill/>
        </p:spPr>
        <p:txBody>
          <a:bodyPr wrap="square" lIns="0" rIns="0" tIns="0" bIns="0" anchor="t">
            <a:noAutofit/>
          </a:bodyPr>
          <a:lstStyle/>
          <a:p>
            <a:pPr algn="l" marL="201168" indent="-201168">
              <a:lnSpc>
                <a:spcPct val="100000"/>
              </a:lnSpc>
              <a:spcAft>
                <a:spcPts val="750"/>
              </a:spcAft>
              <a:buClr>
                <a:srgbClr val="16A34A"/>
              </a:buClr>
              <a:buFont typeface="Arial"/>
              <a:buChar char="•"/>
            </a:pPr>
            <a:r>
              <a:rPr sz="1500" b="0" i="0">
                <a:solidFill>
                  <a:srgbClr val="18232F"/>
                </a:solidFill>
                <a:latin typeface="Segoe UI"/>
              </a:rPr>
              <a:t>EMA 20 &gt; EMA 50; EMA 50, 10 din pehle se upar</a:t>
            </a:r>
          </a:p>
          <a:p>
            <a:pPr algn="l" marL="201168" indent="-201168">
              <a:lnSpc>
                <a:spcPct val="100000"/>
              </a:lnSpc>
              <a:spcAft>
                <a:spcPts val="750"/>
              </a:spcAft>
              <a:buClr>
                <a:srgbClr val="16A34A"/>
              </a:buClr>
              <a:buFont typeface="Arial"/>
              <a:buChar char="•"/>
            </a:pPr>
            <a:r>
              <a:rPr sz="1500" b="0" i="0">
                <a:solidFill>
                  <a:srgbClr val="18232F"/>
                </a:solidFill>
                <a:latin typeface="Segoe UI"/>
              </a:rPr>
              <a:t>Daily close EMA 20 se 2% ke andar</a:t>
            </a:r>
          </a:p>
          <a:p>
            <a:pPr algn="l" marL="201168" indent="-201168">
              <a:lnSpc>
                <a:spcPct val="100000"/>
              </a:lnSpc>
              <a:spcAft>
                <a:spcPts val="750"/>
              </a:spcAft>
              <a:buClr>
                <a:srgbClr val="16A34A"/>
              </a:buClr>
              <a:buFont typeface="Arial"/>
              <a:buChar char="•"/>
            </a:pPr>
            <a:r>
              <a:rPr sz="1500" b="0" i="0">
                <a:solidFill>
                  <a:srgbClr val="18232F"/>
                </a:solidFill>
                <a:latin typeface="Segoe UI"/>
              </a:rPr>
              <a:t>RSI 14, 40 aur 50 ke beech</a:t>
            </a:r>
          </a:p>
          <a:p>
            <a:pPr algn="l" marL="201168" indent="-201168">
              <a:lnSpc>
                <a:spcPct val="100000"/>
              </a:lnSpc>
              <a:buClr>
                <a:srgbClr val="16A34A"/>
              </a:buClr>
              <a:buFont typeface="Arial"/>
              <a:buChar char="•"/>
            </a:pPr>
            <a:r>
              <a:rPr sz="1500" b="0" i="0">
                <a:solidFill>
                  <a:srgbClr val="18232F"/>
                </a:solidFill>
                <a:latin typeface="Segoe UI"/>
              </a:rPr>
              <a:t>Stop entry se 1.5 x ATR 14 neeche</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7" name="TextBox 26"/>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Agar do log aapka rule padhkar alag-alag jawab nikaal sakte hain, toh woh abhi rule bana hi nahi.</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Flowchart: aapka rule card, haan/na ke boxes mein</a:t>
            </a:r>
          </a:p>
        </p:txBody>
      </p:sp>
      <p:sp>
        <p:nvSpPr>
          <p:cNvPr id="4" name="TextBox 3"/>
          <p:cNvSpPr txBox="1"/>
          <p:nvPr/>
        </p:nvSpPr>
        <p:spPr>
          <a:xfrm>
            <a:off x="457200" y="1335024"/>
            <a:ext cx="5519776" cy="4279392"/>
          </a:xfrm>
          <a:prstGeom prst="rect">
            <a:avLst/>
          </a:prstGeom>
          <a:noFill/>
        </p:spPr>
        <p:txBody>
          <a:bodyPr wrap="square" lIns="0" rIns="0" tIns="0" bIns="0" anchor="t">
            <a:noAutofit/>
          </a:bodyPr>
          <a:lstStyle/>
          <a:p>
            <a:pPr algn="l" marL="274320" indent="-274320">
              <a:lnSpc>
                <a:spcPct val="100000"/>
              </a:lnSpc>
              <a:spcAft>
                <a:spcPts val="850"/>
              </a:spcAft>
              <a:buClr>
                <a:srgbClr val="F5A623"/>
              </a:buClr>
              <a:buFont typeface="Arial"/>
              <a:buChar char="•"/>
            </a:pPr>
            <a:r>
              <a:rPr sz="1700" b="0" i="0">
                <a:solidFill>
                  <a:srgbClr val="18232F"/>
                </a:solidFill>
                <a:latin typeface="Segoe UI"/>
              </a:rPr>
              <a:t>Flowchart aapke rules ki drawing hai, teen shapes mein: shuru aur end ke liye oval, haan/na sawaal ke liye diamond, aur kisi kaam ke liye rectangle.</a:t>
            </a:r>
          </a:p>
          <a:p>
            <a:pPr algn="l" marL="274320" indent="-274320">
              <a:lnSpc>
                <a:spcPct val="100000"/>
              </a:lnSpc>
              <a:spcAft>
                <a:spcPts val="850"/>
              </a:spcAft>
              <a:buClr>
                <a:srgbClr val="F5A623"/>
              </a:buClr>
              <a:buFont typeface="Arial"/>
              <a:buChar char="•"/>
            </a:pPr>
            <a:r>
              <a:rPr sz="1700" b="0" i="0">
                <a:solidFill>
                  <a:srgbClr val="18232F"/>
                </a:solidFill>
                <a:latin typeface="Segoe UI"/>
              </a:rPr>
              <a:t>Har diamond se sirf do raaste nikalte hain.</a:t>
            </a:r>
          </a:p>
          <a:p>
            <a:pPr algn="l" marL="274320" indent="-274320">
              <a:lnSpc>
                <a:spcPct val="100000"/>
              </a:lnSpc>
              <a:spcAft>
                <a:spcPts val="850"/>
              </a:spcAft>
              <a:buClr>
                <a:srgbClr val="F5A623"/>
              </a:buClr>
              <a:buFont typeface="Arial"/>
              <a:buChar char="•"/>
            </a:pPr>
            <a:r>
              <a:rPr sz="1700" b="0" i="0">
                <a:solidFill>
                  <a:srgbClr val="18232F"/>
                </a:solidFill>
                <a:latin typeface="Segoe UI"/>
              </a:rPr>
              <a:t>Aapke setup mein 'haan' agle box par jaata hai aur 'na' seedha NO TRADE par.</a:t>
            </a:r>
          </a:p>
          <a:p>
            <a:pPr algn="l" marL="274320" indent="-274320">
              <a:lnSpc>
                <a:spcPct val="100000"/>
              </a:lnSpc>
              <a:spcAft>
                <a:spcPts val="850"/>
              </a:spcAft>
              <a:buClr>
                <a:srgbClr val="F5A623"/>
              </a:buClr>
              <a:buFont typeface="Arial"/>
              <a:buChar char="•"/>
            </a:pPr>
            <a:r>
              <a:rPr sz="1700" b="0" i="0">
                <a:solidFill>
                  <a:srgbClr val="18232F"/>
                </a:solidFill>
                <a:latin typeface="Segoe UI"/>
              </a:rPr>
              <a:t>Pehle chart wale checks rakhiye, phir risk wale: stop, size, 25% exposure cap, 3 open trades ki limit, aur kya aaj ka -2R daily stop ya hafte ka -5R pause lag chuka hai.</a:t>
            </a:r>
          </a:p>
          <a:p>
            <a:pPr algn="l" marL="274320" indent="-274320">
              <a:lnSpc>
                <a:spcPct val="100000"/>
              </a:lnSpc>
              <a:buClr>
                <a:srgbClr val="F5A623"/>
              </a:buClr>
              <a:buFont typeface="Arial"/>
              <a:buChar char="•"/>
            </a:pPr>
            <a:r>
              <a:rPr sz="1700" b="0" i="0">
                <a:solidFill>
                  <a:srgbClr val="18232F"/>
                </a:solidFill>
                <a:latin typeface="Segoe UI"/>
              </a:rPr>
              <a:t>Chart wale boxes se pehle Day 11 aur Day 15 ka ek gate jodiye.</a:t>
            </a:r>
          </a:p>
        </p:txBody>
      </p:sp>
      <p:sp>
        <p:nvSpPr>
          <p:cNvPr id="5" name="Rounded Rectangle 4"/>
          <p:cNvSpPr/>
          <p:nvPr/>
        </p:nvSpPr>
        <p:spPr>
          <a:xfrm>
            <a:off x="6214720" y="1335024"/>
            <a:ext cx="5519776" cy="4279392"/>
          </a:xfrm>
          <a:prstGeom prst="roundRect">
            <a:avLst>
              <a:gd name="adj" fmla="val 2564"/>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3822192"/>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Thursday ke close ke baad Priya Rs 10 lakh ke virtual capital par Gupta Cement Ltd ko apne flowchart mein daalti hai. Clear hai? Haan: health card pass hai, agle 15 trading days mein koi results date nahi, aur NSE ke corporate actions page par koi bonus ya split nahi. Trend upar? Haan: EMA 20, EMA 50 ke upar hai, aur EMA 50 das trading din pehle se upar. Tuesday ko close EMA 20 se 2% ke andar tha, RSI 14 = 45, aur 3 mahine ka RS 0 se upar hai (NIFTY 50 se aage), isliye stock pehle se watchlist par hai. Signal day? Haan: aaj ki candle Rs 445 par, Wednesday ke Rs 442 wale high ke upar close hui. Risk fit? Haan: 3 se kam open trades hain aur -2R ya -5R wala pause nahi laga. Paper plan: ATR 14 Rs 10 hai, toh stop entry se 1.5 x 10 = Rs 15 neeche hoga, aur maximum entry 445 + 0.5 x 10 = Rs 450. Size = Rs 10,000 / 15 = 666 shares (neeche round), jinki value Rs 450 par Rs 2,99,700 tak ja sakti hai; yeh Rs 2,50,000 wala 25% cap tod deti hai, isliye plan box ise 555 shares par le aata hai (Rs 450 par bhi Rs 2,49,750). Jo baat aankh se chhoot sakti thi, flowchart ne pakad li.</a:t>
            </a:r>
          </a:p>
        </p:txBody>
      </p:sp>
      <p:sp>
        <p:nvSpPr>
          <p:cNvPr id="8" name="Rounded Rectangle 7"/>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10" name="TextBox 9"/>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Har diamond haan/na sawaal hai; kahin bhi ek 'na' aaya, toh trade nahi. Action box, jaise size, sirf hisaab karte hain.</a:t>
            </a:r>
          </a:p>
        </p:txBody>
      </p:sp>
      <p:pic>
        <p:nvPicPr>
          <p:cNvPr id="11" name="Picture 10" descr="logo.png"/>
          <p:cNvPicPr>
            <a:picLocks noChangeAspect="1"/>
          </p:cNvPicPr>
          <p:nvPr/>
        </p:nvPicPr>
        <p:blipFill>
          <a:blip r:embed="rId2"/>
          <a:stretch>
            <a:fillRect/>
          </a:stretch>
        </p:blipFill>
        <p:spPr>
          <a:xfrm>
            <a:off x="457200" y="6437376"/>
            <a:ext cx="237744" cy="237744"/>
          </a:xfrm>
          <a:prstGeom prst="rect">
            <a:avLst/>
          </a:prstGeom>
        </p:spPr>
      </p:pic>
      <p:sp>
        <p:nvSpPr>
          <p:cNvPr id="12"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3" name="TextBox 12"/>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TOPIC 2/6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Flowchart: aapka rule card, haan/na ke boxes mein</a:t>
            </a:r>
          </a:p>
        </p:txBody>
      </p:sp>
      <p:sp>
        <p:nvSpPr>
          <p:cNvPr id="4" name="Rounded Rectangle 3"/>
          <p:cNvSpPr/>
          <p:nvPr/>
        </p:nvSpPr>
        <p:spPr>
          <a:xfrm>
            <a:off x="457200" y="1335024"/>
            <a:ext cx="11277295" cy="4937760"/>
          </a:xfrm>
          <a:prstGeom prst="roundRect">
            <a:avLst>
              <a:gd name="adj" fmla="val 222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40080" y="1481328"/>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Priya ka EMA Pullback flowchart, box dar box</a:t>
            </a:r>
          </a:p>
        </p:txBody>
      </p:sp>
      <p:sp>
        <p:nvSpPr>
          <p:cNvPr id="6" name="TextBox 5"/>
          <p:cNvSpPr txBox="1"/>
          <p:nvPr/>
        </p:nvSpPr>
        <p:spPr>
          <a:xfrm>
            <a:off x="640080" y="5824728"/>
            <a:ext cx="10911535"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Ise shaam ko, official close ke baad chalaiye. YES par list mein neeche badhiye; koi bhi NO aaye toh wahin bahar. Kaagaz par shuru aur ant ke liye oval, sawaalon ke liye diamond aur kaamon ke liye rectangle banaiye.</a:t>
            </a:r>
          </a:p>
        </p:txBody>
      </p:sp>
      <p:graphicFrame>
        <p:nvGraphicFramePr>
          <p:cNvPr id="7" name="Table 6"/>
          <p:cNvGraphicFramePr>
            <a:graphicFrameLocks noGrp="1"/>
          </p:cNvGraphicFramePr>
          <p:nvPr/>
        </p:nvGraphicFramePr>
        <p:xfrm>
          <a:off x="640080" y="1796796"/>
          <a:ext cx="10911536" cy="3936496"/>
        </p:xfrm>
        <a:graphic>
          <a:graphicData uri="http://schemas.openxmlformats.org/drawingml/2006/table">
            <a:tbl>
              <a:tblPr firstRow="1">
                <a:tableStyleId>{5C22544A-7EE6-4342-B048-85BDC9FD1C3A}</a:tableStyleId>
              </a:tblPr>
              <a:tblGrid>
                <a:gridCol w="731520"/>
                <a:gridCol w="813272"/>
                <a:gridCol w="6820150"/>
                <a:gridCol w="731520"/>
                <a:gridCol w="1815074"/>
              </a:tblGrid>
              <a:tr h="289976">
                <a:tc>
                  <a:txBody>
                    <a:bodyPr wrap="square"/>
                    <a:lstStyle/>
                    <a:p>
                      <a:pPr algn="l"/>
                      <a:r>
                        <a:rPr sz="1100" b="1" i="0">
                          <a:solidFill>
                            <a:srgbClr val="FFFFF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100" b="1" i="0">
                          <a:solidFill>
                            <a:srgbClr val="FFFFFF"/>
                          </a:solidFill>
                          <a:latin typeface="Segoe UI"/>
                        </a:rPr>
                        <a:t>Shape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100" b="1" i="0">
                          <a:solidFill>
                            <a:srgbClr val="FFFFFF"/>
                          </a:solidFill>
                          <a:latin typeface="Segoe UI"/>
                        </a:rPr>
                        <a:t>Sawaal ya kaam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100" b="1" i="0">
                          <a:solidFill>
                            <a:srgbClr val="FFFFFF"/>
                          </a:solidFill>
                          <a:latin typeface="Segoe UI"/>
                        </a:rPr>
                        <a:t>YES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100" b="1" i="0">
                          <a:solidFill>
                            <a:srgbClr val="FFFFFF"/>
                          </a:solidFill>
                          <a:latin typeface="Segoe UI"/>
                        </a:rPr>
                        <a:t>NO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280832">
                <a:tc>
                  <a:txBody>
                    <a:bodyPr wrap="square"/>
                    <a:lstStyle/>
                    <a:p>
                      <a:pPr algn="ctr"/>
                      <a:r>
                        <a:rPr sz="1100" b="0" i="0">
                          <a:solidFill>
                            <a:srgbClr val="18232F"/>
                          </a:solidFill>
                          <a:latin typeface="Segoe UI"/>
                        </a:rPr>
                        <a:t>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Oval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Start: close ke baad daily chart kholiye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00" b="0" i="0">
                          <a:solidFill>
                            <a:srgbClr val="18232F"/>
                          </a:solidFill>
                          <a:latin typeface="Segoe UI"/>
                        </a:rPr>
                        <a:t>→ 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8472">
                <a:tc>
                  <a:txBody>
                    <a:bodyPr wrap="square"/>
                    <a:lstStyle/>
                    <a:p>
                      <a:pPr algn="ctr"/>
                      <a:r>
                        <a:rPr sz="1100" b="0" i="0">
                          <a:solidFill>
                            <a:srgbClr val="18232F"/>
                          </a:solidFill>
                          <a:latin typeface="Segoe UI"/>
                        </a:rPr>
                        <a:t>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Diamond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Clear hai? Health card pass; agle 15 trading din mein results nahi; NSE ke corporate actions page par bonus ya split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00" b="0" i="0">
                          <a:solidFill>
                            <a:srgbClr val="18232F"/>
                          </a:solidFill>
                          <a:latin typeface="Segoe UI"/>
                        </a:rPr>
                        <a:t>→ 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NO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0832">
                <a:tc>
                  <a:txBody>
                    <a:bodyPr wrap="square"/>
                    <a:lstStyle/>
                    <a:p>
                      <a:pPr algn="ctr"/>
                      <a:r>
                        <a:rPr sz="1100" b="0" i="0">
                          <a:solidFill>
                            <a:srgbClr val="18232F"/>
                          </a:solidFill>
                          <a:latin typeface="Segoe UI"/>
                        </a:rPr>
                        <a:t>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Diamond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Trend upar? EMA 20, EMA 50 ke upar; EMA 50, 10 trading din pehle se upar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00" b="0" i="0">
                          <a:solidFill>
                            <a:srgbClr val="18232F"/>
                          </a:solidFill>
                          <a:latin typeface="Segoe UI"/>
                        </a:rPr>
                        <a:t>→ 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NO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8472">
                <a:tc>
                  <a:txBody>
                    <a:bodyPr wrap="square"/>
                    <a:lstStyle/>
                    <a:p>
                      <a:pPr algn="ctr"/>
                      <a:r>
                        <a:rPr sz="1100" b="0" i="0">
                          <a:solidFill>
                            <a:srgbClr val="18232F"/>
                          </a:solidFill>
                          <a:latin typeface="Segoe UI"/>
                        </a:rPr>
                        <a:t>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Diamond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Pullback aur RS? Close EMA 20 se 2% ke andar aur EMA 50 ke upar; RSI 14, 40-50; NIFTY 50 ke muqable RS 0 se upar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00" b="0" i="0">
                          <a:solidFill>
                            <a:srgbClr val="18232F"/>
                          </a:solidFill>
                          <a:latin typeface="Segoe UI"/>
                        </a:rPr>
                        <a:t>→ 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NO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8472">
                <a:tc>
                  <a:txBody>
                    <a:bodyPr wrap="square"/>
                    <a:lstStyle/>
                    <a:p>
                      <a:pPr algn="ctr"/>
                      <a:r>
                        <a:rPr sz="1100" b="0" i="0">
                          <a:solidFill>
                            <a:srgbClr val="18232F"/>
                          </a:solidFill>
                          <a:latin typeface="Segoe UI"/>
                        </a:rPr>
                        <a:t>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Diamond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Signal day? Aaj ka close pichhle din ke high ke upar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00" b="0" i="0">
                          <a:solidFill>
                            <a:srgbClr val="18232F"/>
                          </a:solidFill>
                          <a:latin typeface="Segoe UI"/>
                        </a:rPr>
                        <a:t>→ 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Aaj nahi; 5 trading din baad list se hataiye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0832">
                <a:tc>
                  <a:txBody>
                    <a:bodyPr wrap="square"/>
                    <a:lstStyle/>
                    <a:p>
                      <a:pPr algn="ctr"/>
                      <a:r>
                        <a:rPr sz="1100" b="0" i="0">
                          <a:solidFill>
                            <a:srgbClr val="18232F"/>
                          </a:solidFill>
                          <a:latin typeface="Segoe UI"/>
                        </a:rPr>
                        <a:t>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Diamond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Risk fit? 3 se kam open trades; -2R wala din ya -5R wala hafta pehle se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00" b="0" i="0">
                          <a:solidFill>
                            <a:srgbClr val="18232F"/>
                          </a:solidFill>
                          <a:latin typeface="Segoe UI"/>
                        </a:rPr>
                        <a:t>→ 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NO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8472">
                <a:tc>
                  <a:txBody>
                    <a:bodyPr wrap="square"/>
                    <a:lstStyle/>
                    <a:p>
                      <a:pPr algn="ctr"/>
                      <a:r>
                        <a:rPr sz="1100" b="0" i="0">
                          <a:solidFill>
                            <a:srgbClr val="18232F"/>
                          </a:solidFill>
                          <a:latin typeface="Segoe UI"/>
                        </a:rPr>
                        <a:t>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Rectangle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Paper plan: stop 1.5 x ATR 14; max entry = close + 0.5 x ATR 14; size = Rs 10,000 ÷ stop, max entry par 25% cap tak kam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00" b="0" i="0">
                          <a:solidFill>
                            <a:srgbClr val="18232F"/>
                          </a:solidFill>
                          <a:latin typeface="Segoe UI"/>
                        </a:rPr>
                        <a:t>→ 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8472">
                <a:tc>
                  <a:txBody>
                    <a:bodyPr wrap="square"/>
                    <a:lstStyle/>
                    <a:p>
                      <a:pPr algn="ctr"/>
                      <a:r>
                        <a:rPr sz="1100" b="0" i="0">
                          <a:solidFill>
                            <a:srgbClr val="18232F"/>
                          </a:solidFill>
                          <a:latin typeface="Segoe UI"/>
                        </a:rPr>
                        <a:t>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Diamond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Agle din: kya open signal-day low aur max entry ke beech hua?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00" b="0" i="0">
                          <a:solidFill>
                            <a:srgbClr val="18232F"/>
                          </a:solidFill>
                          <a:latin typeface="Segoe UI"/>
                        </a:rPr>
                        <a:t>→ 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NO TRADE: 'Skipped' likhiye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0832">
                <a:tc>
                  <a:txBody>
                    <a:bodyPr wrap="square"/>
                    <a:lstStyle/>
                    <a:p>
                      <a:pPr algn="ctr"/>
                      <a:r>
                        <a:rPr sz="1100" b="0" i="0">
                          <a:solidFill>
                            <a:srgbClr val="18232F"/>
                          </a:solidFill>
                          <a:latin typeface="Segoe UI"/>
                        </a:rPr>
                        <a:t>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Rectangle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Us open par paper entry; journal row likhiye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00" b="0" i="0">
                          <a:solidFill>
                            <a:srgbClr val="18232F"/>
                          </a:solidFill>
                          <a:latin typeface="Segoe UI"/>
                        </a:rPr>
                        <a:t>→ 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0832">
                <a:tc>
                  <a:txBody>
                    <a:bodyPr wrap="square"/>
                    <a:lstStyle/>
                    <a:p>
                      <a:pPr algn="ctr"/>
                      <a:r>
                        <a:rPr sz="1100" b="0" i="0">
                          <a:solidFill>
                            <a:srgbClr val="18232F"/>
                          </a:solidFill>
                          <a:latin typeface="Segoe UI"/>
                        </a:rPr>
                        <a:t>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Oval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End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Alert bajta hai, faisla aap karte hain</a:t>
            </a:r>
          </a:p>
        </p:txBody>
      </p:sp>
      <p:sp>
        <p:nvSpPr>
          <p:cNvPr id="4" name="TextBox 3"/>
          <p:cNvSpPr txBox="1"/>
          <p:nvPr/>
        </p:nvSpPr>
        <p:spPr>
          <a:xfrm>
            <a:off x="457200" y="1335024"/>
            <a:ext cx="5519776" cy="195580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Screener bahut saare stocks scan karke unki list deta hai jo aapki conditions poori karte hain.</a:t>
            </a:r>
          </a:p>
          <a:p>
            <a:pPr algn="l" marL="274320" indent="-274320">
              <a:lnSpc>
                <a:spcPct val="100000"/>
              </a:lnSpc>
              <a:spcAft>
                <a:spcPts val="800"/>
              </a:spcAft>
              <a:buClr>
                <a:srgbClr val="F5A623"/>
              </a:buClr>
              <a:buFont typeface="Arial"/>
              <a:buChar char="•"/>
            </a:pPr>
            <a:r>
              <a:rPr sz="1600" b="0" i="0">
                <a:solidFill>
                  <a:srgbClr val="18232F"/>
                </a:solidFill>
                <a:latin typeface="Segoe UI"/>
              </a:rPr>
              <a:t>Alert woh message hai jo platform usi pal bhejta hai jab koi condition sach ho jaaye, jaise price kisi level ko cross kar de.</a:t>
            </a:r>
          </a:p>
          <a:p>
            <a:pPr algn="l" marL="274320" indent="-274320">
              <a:lnSpc>
                <a:spcPct val="100000"/>
              </a:lnSpc>
              <a:buClr>
                <a:srgbClr val="F5A623"/>
              </a:buClr>
              <a:buFont typeface="Arial"/>
              <a:buChar char="•"/>
            </a:pPr>
            <a:r>
              <a:rPr sz="1600" b="0" i="0">
                <a:solidFill>
                  <a:srgbClr val="18232F"/>
                </a:solidFill>
                <a:latin typeface="Segoe UI"/>
              </a:rPr>
              <a:t>Alert order nahi hai, kyunki use na aapka rule card dikhta hai, na position size, na open trades.</a:t>
            </a:r>
          </a:p>
        </p:txBody>
      </p:sp>
      <p:sp>
        <p:nvSpPr>
          <p:cNvPr id="5" name="Rounded Rectangle 4"/>
          <p:cNvSpPr/>
          <p:nvPr/>
        </p:nvSpPr>
        <p:spPr>
          <a:xfrm>
            <a:off x="457200" y="3446272"/>
            <a:ext cx="5519776" cy="2168144"/>
          </a:xfrm>
          <a:prstGeom prst="roundRect">
            <a:avLst>
              <a:gd name="adj" fmla="val 506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5742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3830320"/>
            <a:ext cx="5154016" cy="17109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Office se ek din ki chhutti par Aman optional ORB paper par try karta hai, kyunki aaj woh 9:15 se 11:00 tak dekh sakta hai. Aaj Bharat Pumps Ltd (bahut zyada trade hone wala stock, jaise Day 13 mein) ki 9:15-9:30 wali range Rs 994 se Rs 1,000 hai, isliye Rs 1,000 ka alert woh 9:30 ke baad hi laga sakta hai, jab range ban chuki ho. … Ab jaakar woh alert ke baad wali checklist chalata hai, Day 13 ke VWAP aur volume checks ke saath (9:40 aur 9:55 par uske jawab 'Aapka template' mein hain); paper entry agli candle ka open, Rs 1,002.50, hai aur stop range ki doosri taraf, Rs 994 par, toh risk Rs 8.50 per share.</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Touch close nahi hai</a:t>
            </a:r>
          </a:p>
        </p:txBody>
      </p:sp>
      <p:sp>
        <p:nvSpPr>
          <p:cNvPr id="11" name="TextBox 10"/>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9:15 se 5-minute candles. 9:40 ki wick ne alert bajaya, lekin range ke upar pehla close 9:55 wali candle ne hi kiya.</a:t>
            </a:r>
          </a:p>
        </p:txBody>
      </p:sp>
      <p:cxnSp>
        <p:nvCxnSpPr>
          <p:cNvPr id="12" name="Connector 11"/>
          <p:cNvCxnSpPr/>
          <p:nvPr/>
        </p:nvCxnSpPr>
        <p:spPr>
          <a:xfrm>
            <a:off x="6812159" y="4983480"/>
            <a:ext cx="3619986"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901184"/>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993.2</a:t>
            </a:r>
          </a:p>
        </p:txBody>
      </p:sp>
      <p:cxnSp>
        <p:nvCxnSpPr>
          <p:cNvPr id="14" name="Connector 13"/>
          <p:cNvCxnSpPr/>
          <p:nvPr/>
        </p:nvCxnSpPr>
        <p:spPr>
          <a:xfrm>
            <a:off x="6812159" y="4052316"/>
            <a:ext cx="3619986"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97002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997.0</a:t>
            </a:r>
          </a:p>
        </p:txBody>
      </p:sp>
      <p:cxnSp>
        <p:nvCxnSpPr>
          <p:cNvPr id="16" name="Connector 15"/>
          <p:cNvCxnSpPr/>
          <p:nvPr/>
        </p:nvCxnSpPr>
        <p:spPr>
          <a:xfrm>
            <a:off x="6812159" y="3121152"/>
            <a:ext cx="3619986"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3038856"/>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1,001</a:t>
            </a:r>
          </a:p>
        </p:txBody>
      </p:sp>
      <p:cxnSp>
        <p:nvCxnSpPr>
          <p:cNvPr id="18" name="Connector 17"/>
          <p:cNvCxnSpPr/>
          <p:nvPr/>
        </p:nvCxnSpPr>
        <p:spPr>
          <a:xfrm>
            <a:off x="6812159" y="2189988"/>
            <a:ext cx="3619986"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10769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1,005</a:t>
            </a:r>
          </a:p>
        </p:txBody>
      </p:sp>
      <p:cxnSp>
        <p:nvCxnSpPr>
          <p:cNvPr id="20" name="Connector 19"/>
          <p:cNvCxnSpPr/>
          <p:nvPr/>
        </p:nvCxnSpPr>
        <p:spPr>
          <a:xfrm>
            <a:off x="6812159" y="3316428"/>
            <a:ext cx="3656562" cy="0"/>
          </a:xfrm>
          <a:prstGeom prst="line">
            <a:avLst/>
          </a:prstGeom>
          <a:ln w="19050">
            <a:solidFill>
              <a:srgbClr val="F5A524"/>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505297" y="3224988"/>
            <a:ext cx="1046318" cy="182880"/>
          </a:xfrm>
          <a:prstGeom prst="rect">
            <a:avLst/>
          </a:prstGeom>
          <a:noFill/>
        </p:spPr>
        <p:txBody>
          <a:bodyPr wrap="square" lIns="0" rIns="0" tIns="0" bIns="0" anchor="ctr">
            <a:noAutofit/>
          </a:bodyPr>
          <a:lstStyle/>
          <a:p>
            <a:pPr algn="l">
              <a:lnSpc>
                <a:spcPct val="100000"/>
              </a:lnSpc>
            </a:pPr>
            <a:r>
              <a:rPr sz="1000" b="1" i="0">
                <a:solidFill>
                  <a:srgbClr val="92400E"/>
                </a:solidFill>
                <a:latin typeface="Segoe UI"/>
              </a:rPr>
              <a:t>Range high</a:t>
            </a:r>
          </a:p>
        </p:txBody>
      </p:sp>
      <p:cxnSp>
        <p:nvCxnSpPr>
          <p:cNvPr id="22" name="Connector 21"/>
          <p:cNvCxnSpPr/>
          <p:nvPr/>
        </p:nvCxnSpPr>
        <p:spPr>
          <a:xfrm>
            <a:off x="6812159" y="4790825"/>
            <a:ext cx="3656562"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505297" y="4699385"/>
            <a:ext cx="1046318"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Stop: range low</a:t>
            </a:r>
          </a:p>
        </p:txBody>
      </p:sp>
      <p:cxnSp>
        <p:nvCxnSpPr>
          <p:cNvPr id="24" name="Connector 23"/>
          <p:cNvCxnSpPr/>
          <p:nvPr/>
        </p:nvCxnSpPr>
        <p:spPr>
          <a:xfrm>
            <a:off x="6993159" y="3562161"/>
            <a:ext cx="0" cy="1228664"/>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6884559" y="3807894"/>
            <a:ext cx="217199" cy="49146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6" name="Connector 25"/>
          <p:cNvCxnSpPr/>
          <p:nvPr/>
        </p:nvCxnSpPr>
        <p:spPr>
          <a:xfrm>
            <a:off x="7355157" y="3316428"/>
            <a:ext cx="0" cy="860065"/>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246558" y="3807894"/>
            <a:ext cx="217199" cy="245733"/>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8" name="Connector 27"/>
          <p:cNvCxnSpPr/>
          <p:nvPr/>
        </p:nvCxnSpPr>
        <p:spPr>
          <a:xfrm>
            <a:off x="7717156" y="3439294"/>
            <a:ext cx="0" cy="98293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7608556" y="3562161"/>
            <a:ext cx="217199" cy="49146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8079154" y="3365574"/>
            <a:ext cx="0" cy="565186"/>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970555" y="3562161"/>
            <a:ext cx="217199" cy="12286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8441153" y="3414721"/>
            <a:ext cx="0" cy="44231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8332553" y="3513014"/>
            <a:ext cx="217199" cy="17201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4" name="Connector 33"/>
          <p:cNvCxnSpPr/>
          <p:nvPr/>
        </p:nvCxnSpPr>
        <p:spPr>
          <a:xfrm>
            <a:off x="8803151" y="2947828"/>
            <a:ext cx="0" cy="712626"/>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8694552" y="3513014"/>
            <a:ext cx="217199" cy="4914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9165150" y="3365574"/>
            <a:ext cx="0" cy="466893"/>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9056550" y="3414721"/>
            <a:ext cx="217199" cy="14744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8" name="Connector 37"/>
          <p:cNvCxnSpPr/>
          <p:nvPr/>
        </p:nvCxnSpPr>
        <p:spPr>
          <a:xfrm>
            <a:off x="9527149" y="3341001"/>
            <a:ext cx="0" cy="22116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9418549" y="3365574"/>
            <a:ext cx="217199" cy="49147"/>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0" name="Connector 39"/>
          <p:cNvCxnSpPr/>
          <p:nvPr/>
        </p:nvCxnSpPr>
        <p:spPr>
          <a:xfrm>
            <a:off x="9889147" y="2579229"/>
            <a:ext cx="0" cy="83549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9780548" y="2702095"/>
            <a:ext cx="217199" cy="66347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2" name="Connector 41"/>
          <p:cNvCxnSpPr/>
          <p:nvPr/>
        </p:nvCxnSpPr>
        <p:spPr>
          <a:xfrm>
            <a:off x="10251146" y="2382643"/>
            <a:ext cx="0" cy="54061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10142546" y="2530082"/>
            <a:ext cx="217199" cy="17201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4" name="Isosceles Triangle 43"/>
          <p:cNvSpPr/>
          <p:nvPr/>
        </p:nvSpPr>
        <p:spPr>
          <a:xfrm rot="10800000">
            <a:off x="8748287" y="2810668"/>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5" name="TextBox 44"/>
          <p:cNvSpPr txBox="1"/>
          <p:nvPr/>
        </p:nvSpPr>
        <p:spPr>
          <a:xfrm>
            <a:off x="8302146" y="2600356"/>
            <a:ext cx="1002010"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Alert: sirf touch</a:t>
            </a:r>
          </a:p>
        </p:txBody>
      </p:sp>
      <p:sp>
        <p:nvSpPr>
          <p:cNvPr id="46" name="Isosceles Triangle 45"/>
          <p:cNvSpPr/>
          <p:nvPr/>
        </p:nvSpPr>
        <p:spPr>
          <a:xfrm rot="10800000">
            <a:off x="9834283" y="2442069"/>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7" name="TextBox 46"/>
          <p:cNvSpPr txBox="1"/>
          <p:nvPr/>
        </p:nvSpPr>
        <p:spPr>
          <a:xfrm>
            <a:off x="9540276" y="2231757"/>
            <a:ext cx="697743"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Valid close</a:t>
            </a:r>
          </a:p>
        </p:txBody>
      </p:sp>
      <p:sp>
        <p:nvSpPr>
          <p:cNvPr id="48" name="Rounded Rectangle 47"/>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9" name="Rounded Rectangle 48"/>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50" name="TextBox 49"/>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50" b="1" i="0">
                <a:solidFill>
                  <a:srgbClr val="FFFFFF"/>
                </a:solidFill>
                <a:latin typeface="Segoe UI"/>
              </a:rPr>
              <a:t>Alert ka matlab 'ab dekho' hai, 'ab kharido' kabhi nahi. Rule, checklist aur order, teeno aapke haath mein.</a:t>
            </a:r>
          </a:p>
        </p:txBody>
      </p:sp>
      <p:pic>
        <p:nvPicPr>
          <p:cNvPr id="51" name="Picture 50" descr="logo.png"/>
          <p:cNvPicPr>
            <a:picLocks noChangeAspect="1"/>
          </p:cNvPicPr>
          <p:nvPr/>
        </p:nvPicPr>
        <p:blipFill>
          <a:blip r:embed="rId2"/>
          <a:stretch>
            <a:fillRect/>
          </a:stretch>
        </p:blipFill>
        <p:spPr>
          <a:xfrm>
            <a:off x="457200" y="6437376"/>
            <a:ext cx="237744" cy="237744"/>
          </a:xfrm>
          <a:prstGeom prst="rect">
            <a:avLst/>
          </a:prstGeom>
        </p:spPr>
      </p:pic>
      <p:sp>
        <p:nvSpPr>
          <p:cNvPr id="52"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53" name="TextBox 52"/>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Daily rule ko poori bani daily candle chahiye</a:t>
            </a:r>
          </a:p>
        </p:txBody>
      </p:sp>
      <p:sp>
        <p:nvSpPr>
          <p:cNvPr id="4" name="TextBox 3"/>
          <p:cNvSpPr txBox="1"/>
          <p:nvPr/>
        </p:nvSpPr>
        <p:spPr>
          <a:xfrm>
            <a:off x="457200" y="1335024"/>
            <a:ext cx="5519776" cy="1607820"/>
          </a:xfrm>
          <a:prstGeom prst="rect">
            <a:avLst/>
          </a:prstGeom>
          <a:noFill/>
        </p:spPr>
        <p:txBody>
          <a:bodyPr wrap="square" lIns="0" rIns="0" tIns="0" bIns="0" anchor="t">
            <a:noAutofit/>
          </a:bodyPr>
          <a:lstStyle/>
          <a:p>
            <a:pPr algn="l" marL="274320" indent="-274320">
              <a:lnSpc>
                <a:spcPct val="100000"/>
              </a:lnSpc>
              <a:spcAft>
                <a:spcPts val="750"/>
              </a:spcAft>
              <a:buClr>
                <a:srgbClr val="F5A623"/>
              </a:buClr>
              <a:buFont typeface="Arial"/>
              <a:buChar char="•"/>
            </a:pPr>
            <a:r>
              <a:rPr sz="1500" b="0" i="0">
                <a:solidFill>
                  <a:srgbClr val="18232F"/>
                </a:solidFill>
                <a:latin typeface="Segoe UI"/>
              </a:rPr>
              <a:t>Daily candle tabhi final hoti hai jab market band ho jaaye aur exchange official closing price tay kar de.</a:t>
            </a:r>
          </a:p>
          <a:p>
            <a:pPr algn="l" marL="274320" indent="-274320">
              <a:lnSpc>
                <a:spcPct val="100000"/>
              </a:lnSpc>
              <a:spcAft>
                <a:spcPts val="750"/>
              </a:spcAft>
              <a:buClr>
                <a:srgbClr val="F5A623"/>
              </a:buClr>
              <a:buFont typeface="Arial"/>
              <a:buChar char="•"/>
            </a:pPr>
            <a:r>
              <a:rPr sz="1500" b="0" i="0">
                <a:solidFill>
                  <a:srgbClr val="18232F"/>
                </a:solidFill>
                <a:latin typeface="Segoe UI"/>
              </a:rPr>
              <a:t>EMA Pullback jaise swing rule ke liye screener close ke baad, shaam ko chalaiye, aur plan usi shaam likhiye.</a:t>
            </a:r>
          </a:p>
          <a:p>
            <a:pPr algn="l" marL="274320" indent="-274320">
              <a:lnSpc>
                <a:spcPct val="100000"/>
              </a:lnSpc>
              <a:buClr>
                <a:srgbClr val="F5A623"/>
              </a:buClr>
              <a:buFont typeface="Arial"/>
              <a:buChar char="•"/>
            </a:pPr>
            <a:r>
              <a:rPr sz="1500" b="0" i="0">
                <a:solidFill>
                  <a:srgbClr val="18232F"/>
                </a:solidFill>
                <a:latin typeface="Segoe UI"/>
              </a:rPr>
              <a:t>Agli subah agar stock us maximum se upar khule, toh skip kijiye, kyunki gap aapke plan se aage nikal gaya.</a:t>
            </a:r>
          </a:p>
        </p:txBody>
      </p:sp>
      <p:sp>
        <p:nvSpPr>
          <p:cNvPr id="5" name="Rounded Rectangle 4"/>
          <p:cNvSpPr/>
          <p:nvPr/>
        </p:nvSpPr>
        <p:spPr>
          <a:xfrm>
            <a:off x="6214720" y="1335024"/>
            <a:ext cx="5519776" cy="2225040"/>
          </a:xfrm>
          <a:prstGeom prst="roundRect">
            <a:avLst>
              <a:gd name="adj" fmla="val 4931"/>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1767840"/>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Kiran Foods Ltd ka kal ka high Rs 472 tha, aur Day 11 ke signal day ke liye daily close usse upar hona chahiye. 3:00 baje price Rs 474 hai, toh signal sach lagta hai, aur pre-close alert baj jaata hai. Aakhri minutes ki selling se din ka official close Rs 471 par aa jaata hai, Rs 472 se neeche: poori bani candle ka jawab NO hai. … Iske liye na broker app chahiye, na paid plan: pichhli shaam Rs 472 par lagaya free price alert sirf dekhne ko kehta hai, aur screener chalane ke liye shaam 7 baje ka phone reminder baaki kaam kar deta hai.</a:t>
            </a:r>
          </a:p>
        </p:txBody>
      </p:sp>
      <p:sp>
        <p:nvSpPr>
          <p:cNvPr id="8" name="Rounded Rectangle 7"/>
          <p:cNvSpPr/>
          <p:nvPr/>
        </p:nvSpPr>
        <p:spPr>
          <a:xfrm>
            <a:off x="457200" y="3724656"/>
            <a:ext cx="11277295" cy="1889760"/>
          </a:xfrm>
          <a:prstGeom prst="roundRect">
            <a:avLst>
              <a:gd name="adj" fmla="val 580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8709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Swing ka ek din, ek ke baad ek</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3:00 baje ka alert adhoori candle padhta hai. Aapka rule official close padhta hai. Closing ki timing Aug 2026 ke hisaab se; latest nseindia.com par dekhiye.</a:t>
            </a:r>
          </a:p>
        </p:txBody>
      </p:sp>
      <p:cxnSp>
        <p:nvCxnSpPr>
          <p:cNvPr id="11" name="Connector 10"/>
          <p:cNvCxnSpPr/>
          <p:nvPr/>
        </p:nvCxnSpPr>
        <p:spPr>
          <a:xfrm>
            <a:off x="1731234" y="4388358"/>
            <a:ext cx="8729228" cy="0"/>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355726" y="4223766"/>
            <a:ext cx="75101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3:00 pm</a:t>
            </a:r>
          </a:p>
        </p:txBody>
      </p:sp>
      <p:sp>
        <p:nvSpPr>
          <p:cNvPr id="13" name="TextBox 12"/>
          <p:cNvSpPr txBox="1"/>
          <p:nvPr/>
        </p:nvSpPr>
        <p:spPr>
          <a:xfrm>
            <a:off x="713232" y="4680966"/>
            <a:ext cx="2036003" cy="562356"/>
          </a:xfrm>
          <a:prstGeom prst="rect">
            <a:avLst/>
          </a:prstGeom>
          <a:noFill/>
        </p:spPr>
        <p:txBody>
          <a:bodyPr wrap="square" lIns="0" rIns="0" tIns="0" bIns="0" anchor="t">
            <a:noAutofit/>
          </a:bodyPr>
          <a:lstStyle/>
          <a:p>
            <a:pPr algn="ctr">
              <a:lnSpc>
                <a:spcPct val="100000"/>
              </a:lnSpc>
              <a:spcAft>
                <a:spcPts val="200"/>
              </a:spcAft>
            </a:pPr>
            <a:r>
              <a:rPr sz="1150" b="1" i="0">
                <a:solidFill>
                  <a:srgbClr val="18232F"/>
                </a:solidFill>
                <a:latin typeface="Segoe UI"/>
              </a:rPr>
              <a:t>Pre-close alert</a:t>
            </a:r>
          </a:p>
          <a:p>
            <a:pPr algn="ctr">
              <a:lnSpc>
                <a:spcPct val="100000"/>
              </a:lnSpc>
            </a:pPr>
            <a:r>
              <a:rPr sz="1000" b="0" i="0">
                <a:solidFill>
                  <a:srgbClr val="47596B"/>
                </a:solidFill>
                <a:latin typeface="Segoe UI"/>
              </a:rPr>
              <a:t>Candle adhoori; palat sakti hai</a:t>
            </a:r>
          </a:p>
        </p:txBody>
      </p:sp>
      <p:sp>
        <p:nvSpPr>
          <p:cNvPr id="14" name="Rounded Rectangle 13"/>
          <p:cNvSpPr/>
          <p:nvPr/>
        </p:nvSpPr>
        <p:spPr>
          <a:xfrm>
            <a:off x="3538033" y="4223766"/>
            <a:ext cx="75101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3:30+</a:t>
            </a:r>
          </a:p>
        </p:txBody>
      </p:sp>
      <p:sp>
        <p:nvSpPr>
          <p:cNvPr id="15" name="TextBox 14"/>
          <p:cNvSpPr txBox="1"/>
          <p:nvPr/>
        </p:nvSpPr>
        <p:spPr>
          <a:xfrm>
            <a:off x="2895539" y="4680966"/>
            <a:ext cx="2036003" cy="562356"/>
          </a:xfrm>
          <a:prstGeom prst="rect">
            <a:avLst/>
          </a:prstGeom>
          <a:noFill/>
        </p:spPr>
        <p:txBody>
          <a:bodyPr wrap="square" lIns="0" rIns="0" tIns="0" bIns="0" anchor="t">
            <a:noAutofit/>
          </a:bodyPr>
          <a:lstStyle/>
          <a:p>
            <a:pPr algn="ctr">
              <a:lnSpc>
                <a:spcPct val="100000"/>
              </a:lnSpc>
              <a:spcAft>
                <a:spcPts val="200"/>
              </a:spcAft>
            </a:pPr>
            <a:r>
              <a:rPr sz="1150" b="1" i="0">
                <a:solidFill>
                  <a:srgbClr val="18232F"/>
                </a:solidFill>
                <a:latin typeface="Segoe UI"/>
              </a:rPr>
              <a:t>Official close</a:t>
            </a:r>
          </a:p>
          <a:p>
            <a:pPr algn="ctr">
              <a:lnSpc>
                <a:spcPct val="100000"/>
              </a:lnSpc>
            </a:pPr>
            <a:r>
              <a:rPr sz="1000" b="0" i="0">
                <a:solidFill>
                  <a:srgbClr val="47596B"/>
                </a:solidFill>
                <a:latin typeface="Segoe UI"/>
              </a:rPr>
              <a:t>F&amp;O stocks: closing auction; baaki: aakhri 30 minute ka average</a:t>
            </a:r>
          </a:p>
        </p:txBody>
      </p:sp>
      <p:sp>
        <p:nvSpPr>
          <p:cNvPr id="16" name="Rounded Rectangle 15"/>
          <p:cNvSpPr/>
          <p:nvPr/>
        </p:nvSpPr>
        <p:spPr>
          <a:xfrm>
            <a:off x="5720340" y="4223766"/>
            <a:ext cx="75101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7 pm</a:t>
            </a:r>
          </a:p>
        </p:txBody>
      </p:sp>
      <p:sp>
        <p:nvSpPr>
          <p:cNvPr id="17" name="TextBox 16"/>
          <p:cNvSpPr txBox="1"/>
          <p:nvPr/>
        </p:nvSpPr>
        <p:spPr>
          <a:xfrm>
            <a:off x="5077846" y="4680966"/>
            <a:ext cx="2036003" cy="562356"/>
          </a:xfrm>
          <a:prstGeom prst="rect">
            <a:avLst/>
          </a:prstGeom>
          <a:noFill/>
        </p:spPr>
        <p:txBody>
          <a:bodyPr wrap="square" lIns="0" rIns="0" tIns="0" bIns="0" anchor="t">
            <a:noAutofit/>
          </a:bodyPr>
          <a:lstStyle/>
          <a:p>
            <a:pPr algn="ctr">
              <a:lnSpc>
                <a:spcPct val="100000"/>
              </a:lnSpc>
              <a:spcAft>
                <a:spcPts val="200"/>
              </a:spcAft>
            </a:pPr>
            <a:r>
              <a:rPr sz="1150" b="1" i="0">
                <a:solidFill>
                  <a:srgbClr val="18232F"/>
                </a:solidFill>
                <a:latin typeface="Segoe UI"/>
              </a:rPr>
              <a:t>Shaam ka scan</a:t>
            </a:r>
          </a:p>
          <a:p>
            <a:pPr algn="ctr">
              <a:lnSpc>
                <a:spcPct val="100000"/>
              </a:lnSpc>
            </a:pPr>
            <a:r>
              <a:rPr sz="1000" b="0" i="0">
                <a:solidFill>
                  <a:srgbClr val="47596B"/>
                </a:solidFill>
                <a:latin typeface="Segoe UI"/>
              </a:rPr>
              <a:t>Screener, charts, checklist</a:t>
            </a:r>
          </a:p>
        </p:txBody>
      </p:sp>
      <p:sp>
        <p:nvSpPr>
          <p:cNvPr id="18" name="Rounded Rectangle 17"/>
          <p:cNvSpPr/>
          <p:nvPr/>
        </p:nvSpPr>
        <p:spPr>
          <a:xfrm>
            <a:off x="7902647" y="4223766"/>
            <a:ext cx="75101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9:15 am</a:t>
            </a:r>
          </a:p>
        </p:txBody>
      </p:sp>
      <p:sp>
        <p:nvSpPr>
          <p:cNvPr id="19" name="TextBox 18"/>
          <p:cNvSpPr txBox="1"/>
          <p:nvPr/>
        </p:nvSpPr>
        <p:spPr>
          <a:xfrm>
            <a:off x="7260153" y="4680966"/>
            <a:ext cx="2036003" cy="562356"/>
          </a:xfrm>
          <a:prstGeom prst="rect">
            <a:avLst/>
          </a:prstGeom>
          <a:noFill/>
        </p:spPr>
        <p:txBody>
          <a:bodyPr wrap="square" lIns="0" rIns="0" tIns="0" bIns="0" anchor="t">
            <a:noAutofit/>
          </a:bodyPr>
          <a:lstStyle/>
          <a:p>
            <a:pPr algn="ctr">
              <a:lnSpc>
                <a:spcPct val="100000"/>
              </a:lnSpc>
              <a:spcAft>
                <a:spcPts val="200"/>
              </a:spcAft>
            </a:pPr>
            <a:r>
              <a:rPr sz="1150" b="1" i="0">
                <a:solidFill>
                  <a:srgbClr val="18232F"/>
                </a:solidFill>
                <a:latin typeface="Segoe UI"/>
              </a:rPr>
              <a:t>Agla open</a:t>
            </a:r>
          </a:p>
          <a:p>
            <a:pPr algn="ctr">
              <a:lnSpc>
                <a:spcPct val="100000"/>
              </a:lnSpc>
            </a:pPr>
            <a:r>
              <a:rPr sz="1000" b="0" i="0">
                <a:solidFill>
                  <a:srgbClr val="47596B"/>
                </a:solidFill>
                <a:latin typeface="Segoe UI"/>
              </a:rPr>
              <a:t>Open plan limits ke andar, warna skip</a:t>
            </a:r>
          </a:p>
        </p:txBody>
      </p:sp>
      <p:sp>
        <p:nvSpPr>
          <p:cNvPr id="20" name="Rounded Rectangle 19"/>
          <p:cNvSpPr/>
          <p:nvPr/>
        </p:nvSpPr>
        <p:spPr>
          <a:xfrm>
            <a:off x="10084954" y="4223766"/>
            <a:ext cx="75101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Log</a:t>
            </a:r>
          </a:p>
        </p:txBody>
      </p:sp>
      <p:sp>
        <p:nvSpPr>
          <p:cNvPr id="21" name="TextBox 20"/>
          <p:cNvSpPr txBox="1"/>
          <p:nvPr/>
        </p:nvSpPr>
        <p:spPr>
          <a:xfrm>
            <a:off x="9442460" y="4680966"/>
            <a:ext cx="2036003" cy="562356"/>
          </a:xfrm>
          <a:prstGeom prst="rect">
            <a:avLst/>
          </a:prstGeom>
          <a:noFill/>
        </p:spPr>
        <p:txBody>
          <a:bodyPr wrap="square" lIns="0" rIns="0" tIns="0" bIns="0" anchor="t">
            <a:noAutofit/>
          </a:bodyPr>
          <a:lstStyle/>
          <a:p>
            <a:pPr algn="ctr">
              <a:lnSpc>
                <a:spcPct val="100000"/>
              </a:lnSpc>
              <a:spcAft>
                <a:spcPts val="200"/>
              </a:spcAft>
            </a:pPr>
            <a:r>
              <a:rPr sz="1150" b="1" i="0">
                <a:solidFill>
                  <a:srgbClr val="18232F"/>
                </a:solidFill>
                <a:latin typeface="Segoe UI"/>
              </a:rPr>
              <a:t>Alert log</a:t>
            </a:r>
          </a:p>
          <a:p>
            <a:pPr algn="ctr">
              <a:lnSpc>
                <a:spcPct val="100000"/>
              </a:lnSpc>
            </a:pPr>
            <a:r>
              <a:rPr sz="1000" b="0" i="0">
                <a:solidFill>
                  <a:srgbClr val="47596B"/>
                </a:solidFill>
                <a:latin typeface="Segoe UI"/>
              </a:rPr>
              <a:t>Time, naam, valid Y/N, wajah</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4" name="TextBox 23"/>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Swing rule poori bani candle padhta hai: shaam ko scan, agli subah action.</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SEBI ke retail algo rules: sadak ke niyam</a:t>
            </a:r>
          </a:p>
        </p:txBody>
      </p:sp>
      <p:sp>
        <p:nvSpPr>
          <p:cNvPr id="4" name="TextBox 3"/>
          <p:cNvSpPr txBox="1"/>
          <p:nvPr/>
        </p:nvSpPr>
        <p:spPr>
          <a:xfrm>
            <a:off x="457200" y="1335024"/>
            <a:ext cx="5519776" cy="1503680"/>
          </a:xfrm>
          <a:prstGeom prst="rect">
            <a:avLst/>
          </a:prstGeom>
          <a:noFill/>
        </p:spPr>
        <p:txBody>
          <a:bodyPr wrap="square" lIns="0" rIns="0" tIns="0" bIns="0" anchor="t">
            <a:noAutofit/>
          </a:bodyPr>
          <a:lstStyle/>
          <a:p>
            <a:pPr algn="l" marL="274320" indent="-274320">
              <a:lnSpc>
                <a:spcPct val="100000"/>
              </a:lnSpc>
              <a:spcAft>
                <a:spcPts val="700"/>
              </a:spcAft>
              <a:buClr>
                <a:srgbClr val="F5A623"/>
              </a:buClr>
              <a:buFont typeface="Arial"/>
              <a:buChar char="•"/>
            </a:pPr>
            <a:r>
              <a:rPr sz="1400" b="0" i="0">
                <a:solidFill>
                  <a:srgbClr val="18232F"/>
                </a:solidFill>
                <a:latin typeface="Segoe UI"/>
              </a:rPr>
              <a:t>1 April 2026 se retail algo trading ke liye SEBI ka framework laagu hai.</a:t>
            </a:r>
          </a:p>
          <a:p>
            <a:pPr algn="l" marL="274320" indent="-274320">
              <a:lnSpc>
                <a:spcPct val="100000"/>
              </a:lnSpc>
              <a:spcAft>
                <a:spcPts val="700"/>
              </a:spcAft>
              <a:buClr>
                <a:srgbClr val="F5A623"/>
              </a:buClr>
              <a:buFont typeface="Arial"/>
              <a:buChar char="•"/>
            </a:pPr>
            <a:r>
              <a:rPr sz="1400" b="0" i="0">
                <a:solidFill>
                  <a:srgbClr val="18232F"/>
                </a:solidFill>
                <a:latin typeface="Segoe UI"/>
              </a:rPr>
              <a:t>Khud banaya algo sirf aap aur aapki family ke liye hai (spouse, dependent bachche, dependent maa-baap)</a:t>
            </a:r>
          </a:p>
          <a:p>
            <a:pPr algn="l" marL="274320" indent="-274320">
              <a:lnSpc>
                <a:spcPct val="100000"/>
              </a:lnSpc>
              <a:buClr>
                <a:srgbClr val="F5A623"/>
              </a:buClr>
              <a:buFont typeface="Arial"/>
              <a:buChar char="•"/>
            </a:pPr>
            <a:r>
              <a:rPr sz="1400" b="0" i="0">
                <a:solidFill>
                  <a:srgbClr val="18232F"/>
                </a:solidFill>
                <a:latin typeface="Segoe UI"/>
              </a:rPr>
              <a:t>Yeh rules badal sakte hain, isliye latest jaankari SEBI aur NSE ki website par check kijiye.</a:t>
            </a:r>
          </a:p>
        </p:txBody>
      </p:sp>
      <p:sp>
        <p:nvSpPr>
          <p:cNvPr id="5" name="Rounded Rectangle 4"/>
          <p:cNvSpPr/>
          <p:nvPr/>
        </p:nvSpPr>
        <p:spPr>
          <a:xfrm>
            <a:off x="6214720" y="1335024"/>
            <a:ext cx="5519776" cy="1484630"/>
          </a:xfrm>
          <a:prstGeom prst="roundRect">
            <a:avLst>
              <a:gd name="adj" fmla="val 739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1027430"/>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 ke office ke ek colleague ne ek chhota program likha hai jo broker ke API se order lagata hai. … Stage 1 mein toh koi automated order lagta hi nahi; aapka Level 1 kit hai rules, flowchart aur alerts.</a:t>
            </a:r>
          </a:p>
        </p:txBody>
      </p:sp>
      <p:sp>
        <p:nvSpPr>
          <p:cNvPr id="8" name="Rounded Rectangle 7"/>
          <p:cNvSpPr/>
          <p:nvPr/>
        </p:nvSpPr>
        <p:spPr>
          <a:xfrm>
            <a:off x="457200" y="2984246"/>
            <a:ext cx="11277295" cy="2630170"/>
          </a:xfrm>
          <a:prstGeom prst="roundRect">
            <a:avLst>
              <a:gd name="adj" fmla="val 4171"/>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13055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Kaun kis baat ka zimmedar</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Haath se lagaye orders aur sirf batane wale alerts framework ke bahar hain; jo alert khud order laga de, woh andar hai. Latest ke liye sebi.gov.in aur nseindia.com dekhiye.</a:t>
            </a:r>
          </a:p>
        </p:txBody>
      </p:sp>
      <p:sp>
        <p:nvSpPr>
          <p:cNvPr id="11" name="Rounded Rectangle 10"/>
          <p:cNvSpPr/>
          <p:nvPr/>
        </p:nvSpPr>
        <p:spPr>
          <a:xfrm>
            <a:off x="640080" y="3446018"/>
            <a:ext cx="3527450" cy="1788922"/>
          </a:xfrm>
          <a:prstGeom prst="roundRect">
            <a:avLst>
              <a:gd name="adj" fmla="val 511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40080" y="3446018"/>
            <a:ext cx="3527450" cy="425196"/>
          </a:xfrm>
          <a:prstGeom prst="roundRect">
            <a:avLst>
              <a:gd name="adj" fmla="val 21505"/>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40080" y="3658616"/>
            <a:ext cx="3527450" cy="212598"/>
          </a:xfrm>
          <a:prstGeom prst="rect">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40080" y="3446018"/>
            <a:ext cx="3527450" cy="1788922"/>
          </a:xfrm>
          <a:prstGeom prst="roundRect">
            <a:avLst>
              <a:gd name="adj" fmla="val 5111"/>
            </a:avLst>
          </a:prstGeom>
          <a:noFill/>
          <a:ln w="15875">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446018"/>
            <a:ext cx="3234842" cy="425196"/>
          </a:xfrm>
          <a:prstGeom prst="rect">
            <a:avLst/>
          </a:prstGeom>
          <a:noFill/>
        </p:spPr>
        <p:txBody>
          <a:bodyPr wrap="square" lIns="0" rIns="0" tIns="0" bIns="0" anchor="ctr">
            <a:noAutofit/>
          </a:bodyPr>
          <a:lstStyle/>
          <a:p>
            <a:pPr algn="l">
              <a:lnSpc>
                <a:spcPct val="100000"/>
              </a:lnSpc>
            </a:pPr>
            <a:r>
              <a:rPr sz="1350" b="1" i="0">
                <a:solidFill>
                  <a:srgbClr val="095A90"/>
                </a:solidFill>
                <a:latin typeface="Segoe UI"/>
              </a:rPr>
              <a:t>Broker (principal)</a:t>
            </a:r>
          </a:p>
        </p:txBody>
      </p:sp>
      <p:cxnSp>
        <p:nvCxnSpPr>
          <p:cNvPr id="16" name="Connector 15"/>
          <p:cNvCxnSpPr/>
          <p:nvPr/>
        </p:nvCxnSpPr>
        <p:spPr>
          <a:xfrm>
            <a:off x="640080" y="3871214"/>
            <a:ext cx="3527450" cy="0"/>
          </a:xfrm>
          <a:prstGeom prst="line">
            <a:avLst/>
          </a:prstGeom>
          <a:ln w="15875">
            <a:solidFill>
              <a:srgbClr val="0093D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86384" y="4017518"/>
            <a:ext cx="3234842" cy="1180846"/>
          </a:xfrm>
          <a:prstGeom prst="rect">
            <a:avLst/>
          </a:prstGeom>
          <a:noFill/>
        </p:spPr>
        <p:txBody>
          <a:bodyPr wrap="square" lIns="0" rIns="0" tIns="0" bIns="0" anchor="t">
            <a:noAutofit/>
          </a:bodyPr>
          <a:lstStyle/>
          <a:p>
            <a:pPr algn="l" marL="201168" indent="-201168">
              <a:lnSpc>
                <a:spcPct val="100000"/>
              </a:lnSpc>
              <a:spcAft>
                <a:spcPts val="625"/>
              </a:spcAft>
              <a:buClr>
                <a:srgbClr val="0093D6"/>
              </a:buClr>
              <a:buFont typeface="Arial"/>
              <a:buChar char="•"/>
            </a:pPr>
            <a:r>
              <a:rPr sz="1250" b="0" i="0">
                <a:solidFill>
                  <a:srgbClr val="18232F"/>
                </a:solidFill>
                <a:latin typeface="Segoe UI"/>
              </a:rPr>
              <a:t>Har algo order route karta hai</a:t>
            </a:r>
          </a:p>
          <a:p>
            <a:pPr algn="l" marL="201168" indent="-201168">
              <a:lnSpc>
                <a:spcPct val="100000"/>
              </a:lnSpc>
              <a:spcAft>
                <a:spcPts val="625"/>
              </a:spcAft>
              <a:buClr>
                <a:srgbClr val="0093D6"/>
              </a:buClr>
              <a:buFont typeface="Arial"/>
              <a:buChar char="•"/>
            </a:pPr>
            <a:r>
              <a:rPr sz="1250" b="0" i="0">
                <a:solidFill>
                  <a:srgbClr val="18232F"/>
                </a:solidFill>
                <a:latin typeface="Segoe UI"/>
              </a:rPr>
              <a:t>API ke liye static IP aur two-factor login</a:t>
            </a:r>
          </a:p>
          <a:p>
            <a:pPr algn="l" marL="201168" indent="-201168">
              <a:lnSpc>
                <a:spcPct val="100000"/>
              </a:lnSpc>
              <a:buClr>
                <a:srgbClr val="0093D6"/>
              </a:buClr>
              <a:buFont typeface="Arial"/>
              <a:buChar char="•"/>
            </a:pPr>
            <a:r>
              <a:rPr sz="1250" b="0" i="0">
                <a:solidFill>
                  <a:srgbClr val="18232F"/>
                </a:solidFill>
                <a:latin typeface="Segoe UI"/>
              </a:rPr>
              <a:t>Aapki complaints sunta hai</a:t>
            </a:r>
          </a:p>
        </p:txBody>
      </p:sp>
      <p:sp>
        <p:nvSpPr>
          <p:cNvPr id="18" name="Rounded Rectangle 17"/>
          <p:cNvSpPr/>
          <p:nvPr/>
        </p:nvSpPr>
        <p:spPr>
          <a:xfrm>
            <a:off x="4332122" y="3446018"/>
            <a:ext cx="3527450" cy="1788922"/>
          </a:xfrm>
          <a:prstGeom prst="roundRect">
            <a:avLst>
              <a:gd name="adj" fmla="val 511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4332122" y="3446018"/>
            <a:ext cx="3527450" cy="425196"/>
          </a:xfrm>
          <a:prstGeom prst="roundRect">
            <a:avLst>
              <a:gd name="adj" fmla="val 2150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4332122" y="3658616"/>
            <a:ext cx="3527450" cy="212598"/>
          </a:xfrm>
          <a:prstGeom prst="rect">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4332122" y="3446018"/>
            <a:ext cx="3527450" cy="1788922"/>
          </a:xfrm>
          <a:prstGeom prst="roundRect">
            <a:avLst>
              <a:gd name="adj" fmla="val 5111"/>
            </a:avLst>
          </a:prstGeom>
          <a:noFill/>
          <a:ln w="15875">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4478426" y="3446018"/>
            <a:ext cx="3234842" cy="425196"/>
          </a:xfrm>
          <a:prstGeom prst="rect">
            <a:avLst/>
          </a:prstGeom>
          <a:noFill/>
        </p:spPr>
        <p:txBody>
          <a:bodyPr wrap="square" lIns="0" rIns="0" tIns="0" bIns="0" anchor="ctr">
            <a:noAutofit/>
          </a:bodyPr>
          <a:lstStyle/>
          <a:p>
            <a:pPr algn="l">
              <a:lnSpc>
                <a:spcPct val="100000"/>
              </a:lnSpc>
            </a:pPr>
            <a:r>
              <a:rPr sz="1350" b="1" i="0">
                <a:solidFill>
                  <a:srgbClr val="92400E"/>
                </a:solidFill>
                <a:latin typeface="Segoe UI"/>
              </a:rPr>
              <a:t>Exchange</a:t>
            </a:r>
          </a:p>
        </p:txBody>
      </p:sp>
      <p:cxnSp>
        <p:nvCxnSpPr>
          <p:cNvPr id="23" name="Connector 22"/>
          <p:cNvCxnSpPr/>
          <p:nvPr/>
        </p:nvCxnSpPr>
        <p:spPr>
          <a:xfrm>
            <a:off x="4332122" y="3871214"/>
            <a:ext cx="3527451" cy="0"/>
          </a:xfrm>
          <a:prstGeom prst="line">
            <a:avLst/>
          </a:prstGeom>
          <a:ln w="15875">
            <a:solidFill>
              <a:srgbClr val="F5A524"/>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78426" y="4017518"/>
            <a:ext cx="3234842" cy="1180846"/>
          </a:xfrm>
          <a:prstGeom prst="rect">
            <a:avLst/>
          </a:prstGeom>
          <a:noFill/>
        </p:spPr>
        <p:txBody>
          <a:bodyPr wrap="square" lIns="0" rIns="0" tIns="0" bIns="0" anchor="t">
            <a:noAutofit/>
          </a:bodyPr>
          <a:lstStyle/>
          <a:p>
            <a:pPr algn="l" marL="201168" indent="-201168">
              <a:lnSpc>
                <a:spcPct val="100000"/>
              </a:lnSpc>
              <a:spcAft>
                <a:spcPts val="625"/>
              </a:spcAft>
              <a:buClr>
                <a:srgbClr val="F5A524"/>
              </a:buClr>
              <a:buFont typeface="Arial"/>
              <a:buChar char="•"/>
            </a:pPr>
            <a:r>
              <a:rPr sz="1250" b="0" i="0">
                <a:solidFill>
                  <a:srgbClr val="18232F"/>
                </a:solidFill>
                <a:latin typeface="Segoe UI"/>
              </a:rPr>
              <a:t>Har algo order par Algo-ID</a:t>
            </a:r>
          </a:p>
          <a:p>
            <a:pPr algn="l" marL="201168" indent="-201168">
              <a:lnSpc>
                <a:spcPct val="100000"/>
              </a:lnSpc>
              <a:spcAft>
                <a:spcPts val="625"/>
              </a:spcAft>
              <a:buClr>
                <a:srgbClr val="F5A524"/>
              </a:buClr>
              <a:buFont typeface="Arial"/>
              <a:buChar char="•"/>
            </a:pPr>
            <a:r>
              <a:rPr sz="1250" b="0" i="0">
                <a:solidFill>
                  <a:srgbClr val="18232F"/>
                </a:solidFill>
                <a:latin typeface="Segoe UI"/>
              </a:rPr>
              <a:t>Order-rate limit se upar wale algo register karta hai</a:t>
            </a:r>
          </a:p>
          <a:p>
            <a:pPr algn="l" marL="201168" indent="-201168">
              <a:lnSpc>
                <a:spcPct val="100000"/>
              </a:lnSpc>
              <a:buClr>
                <a:srgbClr val="F5A524"/>
              </a:buClr>
              <a:buFont typeface="Arial"/>
              <a:buChar char="•"/>
            </a:pPr>
            <a:r>
              <a:rPr sz="1250" b="0" i="0">
                <a:solidFill>
                  <a:srgbClr val="18232F"/>
                </a:solidFill>
                <a:latin typeface="Segoe UI"/>
              </a:rPr>
              <a:t>Algo bechne walon ko empanel karta hai</a:t>
            </a:r>
          </a:p>
        </p:txBody>
      </p:sp>
      <p:sp>
        <p:nvSpPr>
          <p:cNvPr id="25" name="Rounded Rectangle 24"/>
          <p:cNvSpPr/>
          <p:nvPr/>
        </p:nvSpPr>
        <p:spPr>
          <a:xfrm>
            <a:off x="8024165" y="3446018"/>
            <a:ext cx="3527450" cy="1788922"/>
          </a:xfrm>
          <a:prstGeom prst="roundRect">
            <a:avLst>
              <a:gd name="adj" fmla="val 511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8024165" y="3446018"/>
            <a:ext cx="3527450" cy="425196"/>
          </a:xfrm>
          <a:prstGeom prst="roundRect">
            <a:avLst>
              <a:gd name="adj" fmla="val 21505"/>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Rectangle 26"/>
          <p:cNvSpPr/>
          <p:nvPr/>
        </p:nvSpPr>
        <p:spPr>
          <a:xfrm>
            <a:off x="8024165" y="3658616"/>
            <a:ext cx="3527450" cy="21259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ounded Rectangle 27"/>
          <p:cNvSpPr/>
          <p:nvPr/>
        </p:nvSpPr>
        <p:spPr>
          <a:xfrm>
            <a:off x="8024165" y="3446018"/>
            <a:ext cx="3527450" cy="1788922"/>
          </a:xfrm>
          <a:prstGeom prst="roundRect">
            <a:avLst>
              <a:gd name="adj" fmla="val 5111"/>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TextBox 28"/>
          <p:cNvSpPr txBox="1"/>
          <p:nvPr/>
        </p:nvSpPr>
        <p:spPr>
          <a:xfrm>
            <a:off x="8170469" y="3446018"/>
            <a:ext cx="3234842" cy="425196"/>
          </a:xfrm>
          <a:prstGeom prst="rect">
            <a:avLst/>
          </a:prstGeom>
          <a:noFill/>
        </p:spPr>
        <p:txBody>
          <a:bodyPr wrap="square" lIns="0" rIns="0" tIns="0" bIns="0" anchor="ctr">
            <a:noAutofit/>
          </a:bodyPr>
          <a:lstStyle/>
          <a:p>
            <a:pPr algn="l">
              <a:lnSpc>
                <a:spcPct val="100000"/>
              </a:lnSpc>
            </a:pPr>
            <a:r>
              <a:rPr sz="1350" b="1" i="0">
                <a:solidFill>
                  <a:srgbClr val="166534"/>
                </a:solidFill>
                <a:latin typeface="Segoe UI"/>
              </a:rPr>
              <a:t>Aap</a:t>
            </a:r>
          </a:p>
        </p:txBody>
      </p:sp>
      <p:cxnSp>
        <p:nvCxnSpPr>
          <p:cNvPr id="30" name="Connector 29"/>
          <p:cNvCxnSpPr/>
          <p:nvPr/>
        </p:nvCxnSpPr>
        <p:spPr>
          <a:xfrm>
            <a:off x="8024165" y="3871214"/>
            <a:ext cx="3527450"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0469" y="4017518"/>
            <a:ext cx="3234842" cy="1180846"/>
          </a:xfrm>
          <a:prstGeom prst="rect">
            <a:avLst/>
          </a:prstGeom>
          <a:noFill/>
        </p:spPr>
        <p:txBody>
          <a:bodyPr wrap="square" lIns="0" rIns="0" tIns="0" bIns="0" anchor="t">
            <a:noAutofit/>
          </a:bodyPr>
          <a:lstStyle/>
          <a:p>
            <a:pPr algn="l" marL="201168" indent="-201168">
              <a:lnSpc>
                <a:spcPct val="100000"/>
              </a:lnSpc>
              <a:spcAft>
                <a:spcPts val="625"/>
              </a:spcAft>
              <a:buClr>
                <a:srgbClr val="16A34A"/>
              </a:buClr>
              <a:buFont typeface="Arial"/>
              <a:buChar char="•"/>
            </a:pPr>
            <a:r>
              <a:rPr sz="1250" b="0" i="0">
                <a:solidFill>
                  <a:srgbClr val="18232F"/>
                </a:solidFill>
                <a:latin typeface="Segoe UI"/>
              </a:rPr>
              <a:t>Loss aapka hi rehta hai</a:t>
            </a:r>
          </a:p>
          <a:p>
            <a:pPr algn="l" marL="201168" indent="-201168">
              <a:lnSpc>
                <a:spcPct val="100000"/>
              </a:lnSpc>
              <a:spcAft>
                <a:spcPts val="625"/>
              </a:spcAft>
              <a:buClr>
                <a:srgbClr val="16A34A"/>
              </a:buClr>
              <a:buFont typeface="Arial"/>
              <a:buChar char="•"/>
            </a:pPr>
            <a:r>
              <a:rPr sz="1250" b="0" i="0">
                <a:solidFill>
                  <a:srgbClr val="18232F"/>
                </a:solidFill>
                <a:latin typeface="Segoe UI"/>
              </a:rPr>
              <a:t>Khud ka algo: sirf aap, spouse, dependent bachche/maa-baap</a:t>
            </a:r>
          </a:p>
          <a:p>
            <a:pPr algn="l" marL="201168" indent="-201168">
              <a:lnSpc>
                <a:spcPct val="100000"/>
              </a:lnSpc>
              <a:buClr>
                <a:srgbClr val="16A34A"/>
              </a:buClr>
              <a:buFont typeface="Arial"/>
              <a:buChar char="•"/>
            </a:pPr>
            <a:r>
              <a:rPr sz="1250" b="0" i="0">
                <a:solidFill>
                  <a:srgbClr val="18232F"/>
                </a:solidFill>
                <a:latin typeface="Segoe UI"/>
              </a:rPr>
              <a:t>Login ya password kabhi kisi ko nahi</a:t>
            </a:r>
          </a:p>
        </p:txBody>
      </p:sp>
      <p:sp>
        <p:nvSpPr>
          <p:cNvPr id="32" name="Rounded Rectangle 3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4" name="TextBox 33"/>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Legal algo broker ke through chalta hai, har order par Algo-ID ke saath, aur algo bechne wale ka exchange mein empanelled hona zaroori hai. Trading loss aapka hi rehta hai.</a:t>
            </a:r>
          </a:p>
        </p:txBody>
      </p:sp>
      <p:pic>
        <p:nvPicPr>
          <p:cNvPr id="35" name="Picture 34" descr="logo.png"/>
          <p:cNvPicPr>
            <a:picLocks noChangeAspect="1"/>
          </p:cNvPicPr>
          <p:nvPr/>
        </p:nvPicPr>
        <p:blipFill>
          <a:blip r:embed="rId2"/>
          <a:stretch>
            <a:fillRect/>
          </a:stretch>
        </p:blipFill>
        <p:spPr>
          <a:xfrm>
            <a:off x="457200" y="6437376"/>
            <a:ext cx="237744" cy="237744"/>
          </a:xfrm>
          <a:prstGeom prst="rect">
            <a:avLst/>
          </a:prstGeom>
        </p:spPr>
      </p:pic>
      <p:sp>
        <p:nvSpPr>
          <p:cNvPr id="3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7" name="TextBox 3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Magic bot ki chahat</a:t>
            </a:r>
          </a:p>
        </p:txBody>
      </p:sp>
      <p:sp>
        <p:nvSpPr>
          <p:cNvPr id="4" name="TextBox 3"/>
          <p:cNvSpPr txBox="1"/>
          <p:nvPr/>
        </p:nvSpPr>
        <p:spPr>
          <a:xfrm>
            <a:off x="457200" y="1335024"/>
            <a:ext cx="5519776" cy="219964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Do hafte rules aur checklists ke baad ek aisa bot jo 'sab kuch kar de', raahat jaisa lagta hai.</a:t>
            </a:r>
          </a:p>
          <a:p>
            <a:pPr algn="l" marL="274320" indent="-274320">
              <a:lnSpc>
                <a:spcPct val="100000"/>
              </a:lnSpc>
              <a:spcAft>
                <a:spcPts val="800"/>
              </a:spcAft>
              <a:buClr>
                <a:srgbClr val="F5A623"/>
              </a:buClr>
              <a:buFont typeface="Arial"/>
              <a:buChar char="•"/>
            </a:pPr>
            <a:r>
              <a:rPr sz="1600" b="0" i="0">
                <a:solidFill>
                  <a:srgbClr val="18232F"/>
                </a:solidFill>
                <a:latin typeface="Segoe UI"/>
              </a:rPr>
              <a:t>Is chahat ki aksar teen jadein hoti hain: roz faisle lene ki thakaan, office mein rehte hue move miss hone ka darr, aur bina mehnat paise ki umeed.</a:t>
            </a:r>
          </a:p>
          <a:p>
            <a:pPr algn="l" marL="274320" indent="-274320">
              <a:lnSpc>
                <a:spcPct val="100000"/>
              </a:lnSpc>
              <a:buClr>
                <a:srgbClr val="F5A623"/>
              </a:buClr>
              <a:buFont typeface="Arial"/>
              <a:buChar char="•"/>
            </a:pPr>
            <a:r>
              <a:rPr sz="1600" b="0" i="0">
                <a:solidFill>
                  <a:srgbClr val="18232F"/>
                </a:solidFill>
                <a:latin typeface="Segoe UI"/>
              </a:rPr>
              <a:t>Lekin bot sirf rules plus speed hai: jo rules aapne likhe hi nahi, woh unhe follow nahi kar sakta, aur ek kharab rule ko woh kisi bhi insaan se tez dohrata hai.</a:t>
            </a:r>
          </a:p>
        </p:txBody>
      </p:sp>
      <p:sp>
        <p:nvSpPr>
          <p:cNvPr id="5" name="Rounded Rectangle 4"/>
          <p:cNvSpPr/>
          <p:nvPr/>
        </p:nvSpPr>
        <p:spPr>
          <a:xfrm>
            <a:off x="457200" y="3690112"/>
            <a:ext cx="5519776" cy="1924304"/>
          </a:xfrm>
          <a:prstGeom prst="roundRect">
            <a:avLst>
              <a:gd name="adj" fmla="val 5702"/>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8181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074160"/>
            <a:ext cx="5154016" cy="14671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Day 4 mein yahi hisaab ek Telegram tip bot ke liye kiya tha; is bot ki fee bhi aise hi kaam karti hai. Aman ke forward kiye bot ki fee Rs 4,999 mahina hai. Rs 1,00,000 ke account par yeh saal ka Rs 59,988 hua, yaani capital ka lagbhag 60%, aur yeh kisi trade ke jeetne ya haarne se pehle hi chala jaata hai. Rs 10 lakh ke challenge capital par bhi yeh saal ka lagbhag 6% hai, kisi trade se pehle hi. … Priya seedhi baat kehti hai: 'Mera flowchart free hai, aur uska har box mujhe dikhta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Bot ki asli keemat</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Kisi trading loss se pehle hi, sirf fee ek saal mein Rs 1 lakh ke account ka lagbhag 60% le jaati hai.</a:t>
            </a:r>
          </a:p>
        </p:txBody>
      </p:sp>
      <p:sp>
        <p:nvSpPr>
          <p:cNvPr id="11" name="TextBox 10"/>
          <p:cNvSpPr txBox="1"/>
          <p:nvPr/>
        </p:nvSpPr>
        <p:spPr>
          <a:xfrm>
            <a:off x="6397600" y="1899666"/>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1899666"/>
            <a:ext cx="3476721"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Monthly fee</a:t>
            </a:r>
          </a:p>
        </p:txBody>
      </p:sp>
      <p:sp>
        <p:nvSpPr>
          <p:cNvPr id="13" name="TextBox 12"/>
          <p:cNvSpPr txBox="1"/>
          <p:nvPr/>
        </p:nvSpPr>
        <p:spPr>
          <a:xfrm>
            <a:off x="10240080" y="1899666"/>
            <a:ext cx="1238383"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4,999</a:t>
            </a:r>
          </a:p>
        </p:txBody>
      </p:sp>
      <p:cxnSp>
        <p:nvCxnSpPr>
          <p:cNvPr id="14" name="Connector 13"/>
          <p:cNvCxnSpPr/>
          <p:nvPr/>
        </p:nvCxnSpPr>
        <p:spPr>
          <a:xfrm>
            <a:off x="6397600" y="2503170"/>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503170"/>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x</a:t>
            </a:r>
          </a:p>
        </p:txBody>
      </p:sp>
      <p:sp>
        <p:nvSpPr>
          <p:cNvPr id="16" name="TextBox 15"/>
          <p:cNvSpPr txBox="1"/>
          <p:nvPr/>
        </p:nvSpPr>
        <p:spPr>
          <a:xfrm>
            <a:off x="6726784" y="2503170"/>
            <a:ext cx="3476721"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Saal ke mahine</a:t>
            </a:r>
          </a:p>
        </p:txBody>
      </p:sp>
      <p:sp>
        <p:nvSpPr>
          <p:cNvPr id="17" name="TextBox 16"/>
          <p:cNvSpPr txBox="1"/>
          <p:nvPr/>
        </p:nvSpPr>
        <p:spPr>
          <a:xfrm>
            <a:off x="10240080" y="2503170"/>
            <a:ext cx="1238383"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12</a:t>
            </a:r>
          </a:p>
        </p:txBody>
      </p:sp>
      <p:cxnSp>
        <p:nvCxnSpPr>
          <p:cNvPr id="18" name="Connector 17"/>
          <p:cNvCxnSpPr/>
          <p:nvPr/>
        </p:nvCxnSpPr>
        <p:spPr>
          <a:xfrm>
            <a:off x="6397600" y="310667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3106674"/>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3106674"/>
            <a:ext cx="3476721"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Saal bhar ki fee</a:t>
            </a:r>
          </a:p>
        </p:txBody>
      </p:sp>
      <p:sp>
        <p:nvSpPr>
          <p:cNvPr id="21" name="TextBox 20"/>
          <p:cNvSpPr txBox="1"/>
          <p:nvPr/>
        </p:nvSpPr>
        <p:spPr>
          <a:xfrm>
            <a:off x="10240080" y="3106674"/>
            <a:ext cx="1238383"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59,988</a:t>
            </a:r>
          </a:p>
        </p:txBody>
      </p:sp>
      <p:cxnSp>
        <p:nvCxnSpPr>
          <p:cNvPr id="22" name="Connector 21"/>
          <p:cNvCxnSpPr/>
          <p:nvPr/>
        </p:nvCxnSpPr>
        <p:spPr>
          <a:xfrm>
            <a:off x="6397600" y="3710178"/>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710178"/>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4" name="TextBox 23"/>
          <p:cNvSpPr txBox="1"/>
          <p:nvPr/>
        </p:nvSpPr>
        <p:spPr>
          <a:xfrm>
            <a:off x="6726784" y="3710178"/>
            <a:ext cx="3476721"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Account size</a:t>
            </a:r>
          </a:p>
        </p:txBody>
      </p:sp>
      <p:sp>
        <p:nvSpPr>
          <p:cNvPr id="25" name="TextBox 24"/>
          <p:cNvSpPr txBox="1"/>
          <p:nvPr/>
        </p:nvSpPr>
        <p:spPr>
          <a:xfrm>
            <a:off x="10240080" y="3710178"/>
            <a:ext cx="1238383"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1,00,000</a:t>
            </a:r>
          </a:p>
        </p:txBody>
      </p:sp>
      <p:sp>
        <p:nvSpPr>
          <p:cNvPr id="26" name="Rounded Rectangle 25"/>
          <p:cNvSpPr/>
          <p:nvPr/>
        </p:nvSpPr>
        <p:spPr>
          <a:xfrm>
            <a:off x="6397600" y="4368546"/>
            <a:ext cx="5154016" cy="603504"/>
          </a:xfrm>
          <a:prstGeom prst="roundRect">
            <a:avLst>
              <a:gd name="adj" fmla="val 12121"/>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6397600" y="4368546"/>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8" name="TextBox 27"/>
          <p:cNvSpPr txBox="1"/>
          <p:nvPr/>
        </p:nvSpPr>
        <p:spPr>
          <a:xfrm>
            <a:off x="6726784" y="4368546"/>
            <a:ext cx="3476721" cy="603504"/>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Account ka kitna hissa</a:t>
            </a:r>
          </a:p>
        </p:txBody>
      </p:sp>
      <p:sp>
        <p:nvSpPr>
          <p:cNvPr id="29" name="TextBox 28"/>
          <p:cNvSpPr txBox="1"/>
          <p:nvPr/>
        </p:nvSpPr>
        <p:spPr>
          <a:xfrm>
            <a:off x="10240080" y="4368546"/>
            <a:ext cx="1238383" cy="603504"/>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~60%</a:t>
            </a:r>
          </a:p>
        </p:txBody>
      </p:sp>
      <p:sp>
        <p:nvSpPr>
          <p:cNvPr id="30" name="Rounded Rectangle 29"/>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Rounded Rectangle 30"/>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2" name="TextBox 31"/>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Bot aapke rules ko tez dohrata hai, achhe hon ya bure. Pehle rules likhiye aur test kijiye.</a:t>
            </a:r>
          </a:p>
        </p:txBody>
      </p:sp>
      <p:pic>
        <p:nvPicPr>
          <p:cNvPr id="33" name="Picture 32" descr="logo.png"/>
          <p:cNvPicPr>
            <a:picLocks noChangeAspect="1"/>
          </p:cNvPicPr>
          <p:nvPr/>
        </p:nvPicPr>
        <p:blipFill>
          <a:blip r:embed="rId2"/>
          <a:stretch>
            <a:fillRect/>
          </a:stretch>
        </p:blipFill>
        <p:spPr>
          <a:xfrm>
            <a:off x="457200" y="6437376"/>
            <a:ext cx="237744" cy="237744"/>
          </a:xfrm>
          <a:prstGeom prst="rect">
            <a:avLst/>
          </a:prstGeom>
        </p:spPr>
      </p:pic>
      <p:sp>
        <p:nvSpPr>
          <p:cNvPr id="34"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5" name="TextBox 34"/>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ke naye shabd</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541526"/>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Algo (algorithm)</a:t>
            </a:r>
          </a:p>
        </p:txBody>
      </p:sp>
      <p:sp>
        <p:nvSpPr>
          <p:cNvPr id="6" name="TextBox 5"/>
          <p:cNvSpPr txBox="1"/>
          <p:nvPr/>
        </p:nvSpPr>
        <p:spPr>
          <a:xfrm>
            <a:off x="658368" y="1824990"/>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Steps ki ek fixed list jo har baar ek hi tarah follow ho. Trading mein: likhe hue rules jinhe machine bina emotion ke check kar sake.</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530096"/>
            <a:ext cx="5154016" cy="254508"/>
          </a:xfrm>
          <a:prstGeom prst="rect">
            <a:avLst/>
          </a:prstGeom>
          <a:noFill/>
        </p:spPr>
        <p:txBody>
          <a:bodyPr wrap="square" lIns="0" rIns="0" tIns="0" bIns="0" anchor="t">
            <a:noAutofit/>
          </a:bodyPr>
          <a:lstStyle/>
          <a:p>
            <a:pPr algn="l">
              <a:lnSpc>
                <a:spcPct val="100000"/>
              </a:lnSpc>
            </a:pPr>
            <a:r>
              <a:rPr sz="1550" b="1" i="0">
                <a:solidFill>
                  <a:srgbClr val="92400E"/>
                </a:solidFill>
                <a:latin typeface="Segoe UI"/>
              </a:rPr>
              <a:t>Testable rule</a:t>
            </a:r>
          </a:p>
        </p:txBody>
      </p:sp>
      <p:sp>
        <p:nvSpPr>
          <p:cNvPr id="9" name="TextBox 8"/>
          <p:cNvSpPr txBox="1"/>
          <p:nvPr/>
        </p:nvSpPr>
        <p:spPr>
          <a:xfrm>
            <a:off x="6379312" y="1821180"/>
            <a:ext cx="5154016" cy="44805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Aisa rule jo objective ho, jismein number ho aur jo bataye kaunsi candle aur kab, taaki padhne wale har insaan ka jawab ek hi aaye.</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805684"/>
            <a:ext cx="5154016" cy="254508"/>
          </a:xfrm>
          <a:prstGeom prst="rect">
            <a:avLst/>
          </a:prstGeom>
          <a:noFill/>
        </p:spPr>
        <p:txBody>
          <a:bodyPr wrap="square" lIns="0" rIns="0" tIns="0" bIns="0" anchor="t">
            <a:noAutofit/>
          </a:bodyPr>
          <a:lstStyle/>
          <a:p>
            <a:pPr algn="l">
              <a:lnSpc>
                <a:spcPct val="100000"/>
              </a:lnSpc>
            </a:pPr>
            <a:r>
              <a:rPr sz="1550" b="1" i="0">
                <a:solidFill>
                  <a:srgbClr val="92400E"/>
                </a:solidFill>
                <a:latin typeface="Segoe UI"/>
              </a:rPr>
              <a:t>Flowchart</a:t>
            </a:r>
          </a:p>
        </p:txBody>
      </p:sp>
      <p:sp>
        <p:nvSpPr>
          <p:cNvPr id="12" name="TextBox 11"/>
          <p:cNvSpPr txBox="1"/>
          <p:nvPr/>
        </p:nvSpPr>
        <p:spPr>
          <a:xfrm>
            <a:off x="658368" y="3096768"/>
            <a:ext cx="5154016" cy="44805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Aapke rules ki drawing: shuru aur end ke liye oval, haan/na sawaal ke liye diamond, kaam ke liye rectangle.</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805684"/>
            <a:ext cx="5154016" cy="254508"/>
          </a:xfrm>
          <a:prstGeom prst="rect">
            <a:avLst/>
          </a:prstGeom>
          <a:noFill/>
        </p:spPr>
        <p:txBody>
          <a:bodyPr wrap="square" lIns="0" rIns="0" tIns="0" bIns="0" anchor="t">
            <a:noAutofit/>
          </a:bodyPr>
          <a:lstStyle/>
          <a:p>
            <a:pPr algn="l">
              <a:lnSpc>
                <a:spcPct val="100000"/>
              </a:lnSpc>
            </a:pPr>
            <a:r>
              <a:rPr sz="1550" b="1" i="0">
                <a:solidFill>
                  <a:srgbClr val="92400E"/>
                </a:solidFill>
                <a:latin typeface="Segoe UI"/>
              </a:rPr>
              <a:t>Alert</a:t>
            </a:r>
          </a:p>
        </p:txBody>
      </p:sp>
      <p:sp>
        <p:nvSpPr>
          <p:cNvPr id="15" name="TextBox 14"/>
          <p:cNvSpPr txBox="1"/>
          <p:nvPr/>
        </p:nvSpPr>
        <p:spPr>
          <a:xfrm>
            <a:off x="6379312" y="3096768"/>
            <a:ext cx="5154016" cy="44805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Woh message jo platform kisi condition ke sach hone par bhejta hai. Yeh aapko dekhne ko kehta hai; order kabhi nahi lagata.</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14216"/>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API</a:t>
            </a:r>
          </a:p>
        </p:txBody>
      </p:sp>
      <p:sp>
        <p:nvSpPr>
          <p:cNvPr id="18" name="TextBox 17"/>
          <p:cNvSpPr txBox="1"/>
          <p:nvPr/>
        </p:nvSpPr>
        <p:spPr>
          <a:xfrm>
            <a:off x="658368"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Ek software link jisse koi program broker ke paas order laga sake. API se order lagane ke liye broker ke paas registered static IP aur two-factor login chahiye.</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81272"/>
            <a:ext cx="5154016" cy="254508"/>
          </a:xfrm>
          <a:prstGeom prst="rect">
            <a:avLst/>
          </a:prstGeom>
          <a:noFill/>
        </p:spPr>
        <p:txBody>
          <a:bodyPr wrap="square" lIns="0" rIns="0" tIns="0" bIns="0" anchor="t">
            <a:noAutofit/>
          </a:bodyPr>
          <a:lstStyle/>
          <a:p>
            <a:pPr algn="l">
              <a:lnSpc>
                <a:spcPct val="100000"/>
              </a:lnSpc>
            </a:pPr>
            <a:r>
              <a:rPr sz="1550" b="1" i="0">
                <a:solidFill>
                  <a:srgbClr val="92400E"/>
                </a:solidFill>
                <a:latin typeface="Segoe UI"/>
              </a:rPr>
              <a:t>Algo-ID</a:t>
            </a:r>
          </a:p>
        </p:txBody>
      </p:sp>
      <p:sp>
        <p:nvSpPr>
          <p:cNvPr id="21" name="TextBox 20"/>
          <p:cNvSpPr txBox="1"/>
          <p:nvPr/>
        </p:nvSpPr>
        <p:spPr>
          <a:xfrm>
            <a:off x="6379312" y="4372356"/>
            <a:ext cx="5154016" cy="44805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Exchange ki di hui pehchaan jo algo ke har order par number plate ki tarah lagti hai, taaki har order trace ho sake.</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289804"/>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Screener</a:t>
            </a:r>
          </a:p>
        </p:txBody>
      </p:sp>
      <p:sp>
        <p:nvSpPr>
          <p:cNvPr id="24" name="TextBox 23"/>
          <p:cNvSpPr txBox="1"/>
          <p:nvPr/>
        </p:nvSpPr>
        <p:spPr>
          <a:xfrm>
            <a:off x="658368"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Ek tool jo aapki likhi conditions se bahut saare stocks filter karta hai, aam taur par close ke baad. Kuch rules woh pakad leta hai; jo nahi pakad pata, use aap chart par aankh se check karte hain.</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289804"/>
            <a:ext cx="5154016" cy="239268"/>
          </a:xfrm>
          <a:prstGeom prst="rect">
            <a:avLst/>
          </a:prstGeom>
          <a:noFill/>
        </p:spPr>
        <p:txBody>
          <a:bodyPr wrap="square" lIns="0" rIns="0" tIns="0" bIns="0" anchor="t">
            <a:noAutofit/>
          </a:bodyPr>
          <a:lstStyle/>
          <a:p>
            <a:pPr algn="l">
              <a:lnSpc>
                <a:spcPct val="100000"/>
              </a:lnSpc>
            </a:pPr>
            <a:r>
              <a:rPr sz="1450" b="1" i="0">
                <a:solidFill>
                  <a:srgbClr val="92400E"/>
                </a:solidFill>
                <a:latin typeface="Segoe UI"/>
              </a:rPr>
              <a:t>Official close</a:t>
            </a:r>
          </a:p>
        </p:txBody>
      </p:sp>
      <p:sp>
        <p:nvSpPr>
          <p:cNvPr id="27" name="TextBox 26"/>
          <p:cNvSpPr txBox="1"/>
          <p:nvPr/>
        </p:nvSpPr>
        <p:spPr>
          <a:xfrm>
            <a:off x="6379312" y="5565648"/>
            <a:ext cx="5154016" cy="608076"/>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Exchange ka tay kiya din ka closing price: F&amp;O contracts wale stocks mein closing auction se, baaki mein lagbhag aakhri 30 minute ke volume-weighted average price se. Daily rules isi price ko padhte hain.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saar, ek page par</a:t>
            </a:r>
          </a:p>
        </p:txBody>
      </p:sp>
      <p:cxnSp>
        <p:nvCxnSpPr>
          <p:cNvPr id="4" name="Connector 3"/>
          <p:cNvCxnSpPr/>
          <p:nvPr/>
        </p:nvCxnSpPr>
        <p:spPr>
          <a:xfrm flipH="1" flipV="1">
            <a:off x="4358488" y="2076641"/>
            <a:ext cx="502920" cy="1727263"/>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flipV="1">
            <a:off x="4358488" y="3656266"/>
            <a:ext cx="502920" cy="147638"/>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579626"/>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3014091"/>
            <a:ext cx="502920" cy="789813"/>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937450"/>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Algo Level 1</a:t>
            </a:r>
          </a:p>
        </p:txBody>
      </p:sp>
      <p:sp>
        <p:nvSpPr>
          <p:cNvPr id="10" name="Rounded Rectangle 9"/>
          <p:cNvSpPr/>
          <p:nvPr/>
        </p:nvSpPr>
        <p:spPr>
          <a:xfrm>
            <a:off x="640080" y="1369124"/>
            <a:ext cx="3718408" cy="1415034"/>
          </a:xfrm>
          <a:prstGeom prst="roundRect">
            <a:avLst>
              <a:gd name="adj" fmla="val 7754"/>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786384" y="1478852"/>
            <a:ext cx="3425800" cy="277368"/>
          </a:xfrm>
          <a:prstGeom prst="rect">
            <a:avLst/>
          </a:prstGeom>
          <a:noFill/>
        </p:spPr>
        <p:txBody>
          <a:bodyPr wrap="square" lIns="0" rIns="0" tIns="0" bIns="0" anchor="t">
            <a:noAutofit/>
          </a:bodyPr>
          <a:lstStyle/>
          <a:p>
            <a:pPr algn="l">
              <a:lnSpc>
                <a:spcPct val="100000"/>
              </a:lnSpc>
            </a:pPr>
            <a:r>
              <a:rPr sz="1700" b="1" i="0">
                <a:solidFill>
                  <a:srgbClr val="095A90"/>
                </a:solidFill>
                <a:latin typeface="Segoe UI"/>
              </a:rPr>
              <a:t>Rules</a:t>
            </a:r>
          </a:p>
        </p:txBody>
      </p:sp>
      <p:sp>
        <p:nvSpPr>
          <p:cNvPr id="12" name="TextBox 11"/>
          <p:cNvSpPr txBox="1"/>
          <p:nvPr/>
        </p:nvSpPr>
        <p:spPr>
          <a:xfrm>
            <a:off x="786384" y="1811084"/>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0093D6"/>
              </a:buClr>
              <a:buFont typeface="Arial"/>
              <a:buChar char="•"/>
            </a:pPr>
            <a:r>
              <a:rPr sz="1550" b="0" i="0">
                <a:solidFill>
                  <a:srgbClr val="18232F"/>
                </a:solidFill>
                <a:latin typeface="Segoe UI"/>
              </a:rPr>
              <a:t>Objective, number, timing</a:t>
            </a:r>
          </a:p>
          <a:p>
            <a:pPr algn="l" marL="182880" indent="-182880">
              <a:lnSpc>
                <a:spcPct val="100000"/>
              </a:lnSpc>
              <a:spcAft>
                <a:spcPts val="464"/>
              </a:spcAft>
              <a:buClr>
                <a:srgbClr val="0093D6"/>
              </a:buClr>
              <a:buFont typeface="Arial"/>
              <a:buChar char="•"/>
            </a:pPr>
            <a:r>
              <a:rPr sz="1550" b="0" i="0">
                <a:solidFill>
                  <a:srgbClr val="18232F"/>
                </a:solidFill>
                <a:latin typeface="Segoe UI"/>
              </a:rPr>
              <a:t>Shayad words dhoondho</a:t>
            </a:r>
          </a:p>
          <a:p>
            <a:pPr algn="l" marL="182880" indent="-182880">
              <a:lnSpc>
                <a:spcPct val="100000"/>
              </a:lnSpc>
              <a:buClr>
                <a:srgbClr val="0093D6"/>
              </a:buClr>
              <a:buFont typeface="Arial"/>
              <a:buChar char="•"/>
            </a:pPr>
            <a:r>
              <a:rPr sz="1550" b="0" i="0">
                <a:solidFill>
                  <a:srgbClr val="18232F"/>
                </a:solidFill>
                <a:latin typeface="Segoe UI"/>
              </a:rPr>
              <a:t>Do log, ek jawab</a:t>
            </a:r>
          </a:p>
        </p:txBody>
      </p:sp>
      <p:sp>
        <p:nvSpPr>
          <p:cNvPr id="13" name="Rounded Rectangle 12"/>
          <p:cNvSpPr/>
          <p:nvPr/>
        </p:nvSpPr>
        <p:spPr>
          <a:xfrm>
            <a:off x="640080" y="2948750"/>
            <a:ext cx="3718408" cy="1415034"/>
          </a:xfrm>
          <a:prstGeom prst="roundRect">
            <a:avLst>
              <a:gd name="adj" fmla="val 7754"/>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786384" y="3058478"/>
            <a:ext cx="3425800" cy="277368"/>
          </a:xfrm>
          <a:prstGeom prst="rect">
            <a:avLst/>
          </a:prstGeom>
          <a:noFill/>
        </p:spPr>
        <p:txBody>
          <a:bodyPr wrap="square" lIns="0" rIns="0" tIns="0" bIns="0" anchor="t">
            <a:noAutofit/>
          </a:bodyPr>
          <a:lstStyle/>
          <a:p>
            <a:pPr algn="l">
              <a:lnSpc>
                <a:spcPct val="100000"/>
              </a:lnSpc>
            </a:pPr>
            <a:r>
              <a:rPr sz="1700" b="1" i="0">
                <a:solidFill>
                  <a:srgbClr val="92400E"/>
                </a:solidFill>
                <a:latin typeface="Segoe UI"/>
              </a:rPr>
              <a:t>Flowchart</a:t>
            </a:r>
          </a:p>
        </p:txBody>
      </p:sp>
      <p:sp>
        <p:nvSpPr>
          <p:cNvPr id="15" name="TextBox 14"/>
          <p:cNvSpPr txBox="1"/>
          <p:nvPr/>
        </p:nvSpPr>
        <p:spPr>
          <a:xfrm>
            <a:off x="786384" y="3390710"/>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F5A524"/>
              </a:buClr>
              <a:buFont typeface="Arial"/>
              <a:buChar char="•"/>
            </a:pPr>
            <a:r>
              <a:rPr sz="1550" b="0" i="0">
                <a:solidFill>
                  <a:srgbClr val="18232F"/>
                </a:solidFill>
                <a:latin typeface="Segoe UI"/>
              </a:rPr>
              <a:t>Oval, diamond, rectangle</a:t>
            </a:r>
          </a:p>
          <a:p>
            <a:pPr algn="l" marL="182880" indent="-182880">
              <a:lnSpc>
                <a:spcPct val="100000"/>
              </a:lnSpc>
              <a:spcAft>
                <a:spcPts val="464"/>
              </a:spcAft>
              <a:buClr>
                <a:srgbClr val="F5A524"/>
              </a:buClr>
              <a:buFont typeface="Arial"/>
              <a:buChar char="•"/>
            </a:pPr>
            <a:r>
              <a:rPr sz="1550" b="0" i="0">
                <a:solidFill>
                  <a:srgbClr val="18232F"/>
                </a:solidFill>
                <a:latin typeface="Segoe UI"/>
              </a:rPr>
              <a:t>Ek bhi NO = trade nahi</a:t>
            </a:r>
          </a:p>
          <a:p>
            <a:pPr algn="l" marL="182880" indent="-182880">
              <a:lnSpc>
                <a:spcPct val="100000"/>
              </a:lnSpc>
              <a:buClr>
                <a:srgbClr val="F5A524"/>
              </a:buClr>
              <a:buFont typeface="Arial"/>
              <a:buChar char="•"/>
            </a:pPr>
            <a:r>
              <a:rPr sz="1550" b="0" i="0">
                <a:solidFill>
                  <a:srgbClr val="18232F"/>
                </a:solidFill>
                <a:latin typeface="Segoe UI"/>
              </a:rPr>
              <a:t>AI ka draft check karo</a:t>
            </a:r>
          </a:p>
        </p:txBody>
      </p:sp>
      <p:sp>
        <p:nvSpPr>
          <p:cNvPr id="16" name="Rounded Rectangle 15"/>
          <p:cNvSpPr/>
          <p:nvPr/>
        </p:nvSpPr>
        <p:spPr>
          <a:xfrm>
            <a:off x="640080" y="4528376"/>
            <a:ext cx="3718408" cy="1710309"/>
          </a:xfrm>
          <a:prstGeom prst="roundRect">
            <a:avLst>
              <a:gd name="adj" fmla="val 6415"/>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786384" y="4638104"/>
            <a:ext cx="3425800" cy="277368"/>
          </a:xfrm>
          <a:prstGeom prst="rect">
            <a:avLst/>
          </a:prstGeom>
          <a:noFill/>
        </p:spPr>
        <p:txBody>
          <a:bodyPr wrap="square" lIns="0" rIns="0" tIns="0" bIns="0" anchor="t">
            <a:noAutofit/>
          </a:bodyPr>
          <a:lstStyle/>
          <a:p>
            <a:pPr algn="l">
              <a:lnSpc>
                <a:spcPct val="100000"/>
              </a:lnSpc>
            </a:pPr>
            <a:r>
              <a:rPr sz="1700" b="1" i="0">
                <a:solidFill>
                  <a:srgbClr val="166534"/>
                </a:solidFill>
                <a:latin typeface="Segoe UI"/>
              </a:rPr>
              <a:t>Alerts</a:t>
            </a:r>
          </a:p>
        </p:txBody>
      </p:sp>
      <p:sp>
        <p:nvSpPr>
          <p:cNvPr id="18" name="TextBox 17"/>
          <p:cNvSpPr txBox="1"/>
          <p:nvPr/>
        </p:nvSpPr>
        <p:spPr>
          <a:xfrm>
            <a:off x="786384" y="4970336"/>
            <a:ext cx="3425800" cy="1268349"/>
          </a:xfrm>
          <a:prstGeom prst="rect">
            <a:avLst/>
          </a:prstGeom>
          <a:noFill/>
        </p:spPr>
        <p:txBody>
          <a:bodyPr wrap="square" lIns="0" rIns="0" tIns="0" bIns="0" anchor="t">
            <a:noAutofit/>
          </a:bodyPr>
          <a:lstStyle/>
          <a:p>
            <a:pPr algn="l" marL="182880" indent="-182880">
              <a:lnSpc>
                <a:spcPct val="100000"/>
              </a:lnSpc>
              <a:spcAft>
                <a:spcPts val="464"/>
              </a:spcAft>
              <a:buClr>
                <a:srgbClr val="16A34A"/>
              </a:buClr>
              <a:buFont typeface="Arial"/>
              <a:buChar char="•"/>
            </a:pPr>
            <a:r>
              <a:rPr sz="1550" b="0" i="0">
                <a:solidFill>
                  <a:srgbClr val="18232F"/>
                </a:solidFill>
                <a:latin typeface="Segoe UI"/>
              </a:rPr>
              <a:t>Alert = ab dekho</a:t>
            </a:r>
          </a:p>
          <a:p>
            <a:pPr algn="l" marL="182880" indent="-182880">
              <a:lnSpc>
                <a:spcPct val="100000"/>
              </a:lnSpc>
              <a:spcAft>
                <a:spcPts val="464"/>
              </a:spcAft>
              <a:buClr>
                <a:srgbClr val="16A34A"/>
              </a:buClr>
              <a:buFont typeface="Arial"/>
              <a:buChar char="•"/>
            </a:pPr>
            <a:r>
              <a:rPr sz="1550" b="0" i="0">
                <a:solidFill>
                  <a:srgbClr val="18232F"/>
                </a:solidFill>
                <a:latin typeface="Segoe UI"/>
              </a:rPr>
              <a:t>Touch close nahi hai</a:t>
            </a:r>
          </a:p>
          <a:p>
            <a:pPr algn="l" marL="182880" indent="-182880">
              <a:lnSpc>
                <a:spcPct val="100000"/>
              </a:lnSpc>
              <a:spcAft>
                <a:spcPts val="464"/>
              </a:spcAft>
              <a:buClr>
                <a:srgbClr val="16A34A"/>
              </a:buClr>
              <a:buFont typeface="Arial"/>
              <a:buChar char="•"/>
            </a:pPr>
            <a:r>
              <a:rPr sz="1550" b="0" i="0">
                <a:solidFill>
                  <a:srgbClr val="18232F"/>
                </a:solidFill>
                <a:latin typeface="Segoe UI"/>
              </a:rPr>
              <a:t>Swing: close ke baad scan</a:t>
            </a:r>
          </a:p>
          <a:p>
            <a:pPr algn="l" marL="182880" indent="-182880">
              <a:lnSpc>
                <a:spcPct val="100000"/>
              </a:lnSpc>
              <a:buClr>
                <a:srgbClr val="16A34A"/>
              </a:buClr>
              <a:buFont typeface="Arial"/>
              <a:buChar char="•"/>
            </a:pPr>
            <a:r>
              <a:rPr sz="1550" b="0" i="0">
                <a:solidFill>
                  <a:srgbClr val="18232F"/>
                </a:solidFill>
                <a:latin typeface="Segoe UI"/>
              </a:rPr>
              <a:t>Free: price alert ya 7 baje check</a:t>
            </a:r>
          </a:p>
        </p:txBody>
      </p:sp>
      <p:sp>
        <p:nvSpPr>
          <p:cNvPr id="19" name="Rounded Rectangle 18"/>
          <p:cNvSpPr/>
          <p:nvPr/>
        </p:nvSpPr>
        <p:spPr>
          <a:xfrm>
            <a:off x="7833208" y="2158937"/>
            <a:ext cx="3718408" cy="1710309"/>
          </a:xfrm>
          <a:prstGeom prst="roundRect">
            <a:avLst>
              <a:gd name="adj" fmla="val 6415"/>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7979512" y="2268665"/>
            <a:ext cx="3425800" cy="277368"/>
          </a:xfrm>
          <a:prstGeom prst="rect">
            <a:avLst/>
          </a:prstGeom>
          <a:noFill/>
        </p:spPr>
        <p:txBody>
          <a:bodyPr wrap="square" lIns="0" rIns="0" tIns="0" bIns="0" anchor="t">
            <a:noAutofit/>
          </a:bodyPr>
          <a:lstStyle/>
          <a:p>
            <a:pPr algn="l">
              <a:lnSpc>
                <a:spcPct val="100000"/>
              </a:lnSpc>
            </a:pPr>
            <a:r>
              <a:rPr sz="1700" b="1" i="0">
                <a:solidFill>
                  <a:srgbClr val="095A90"/>
                </a:solidFill>
                <a:latin typeface="Segoe UI"/>
              </a:rPr>
              <a:t>SEBI ke niyam</a:t>
            </a:r>
          </a:p>
        </p:txBody>
      </p:sp>
      <p:sp>
        <p:nvSpPr>
          <p:cNvPr id="21" name="TextBox 20"/>
          <p:cNvSpPr txBox="1"/>
          <p:nvPr/>
        </p:nvSpPr>
        <p:spPr>
          <a:xfrm>
            <a:off x="7979512" y="2600897"/>
            <a:ext cx="3425800" cy="1268349"/>
          </a:xfrm>
          <a:prstGeom prst="rect">
            <a:avLst/>
          </a:prstGeom>
          <a:noFill/>
        </p:spPr>
        <p:txBody>
          <a:bodyPr wrap="square" lIns="0" rIns="0" tIns="0" bIns="0" anchor="t">
            <a:noAutofit/>
          </a:bodyPr>
          <a:lstStyle/>
          <a:p>
            <a:pPr algn="l" marL="182880" indent="-182880">
              <a:lnSpc>
                <a:spcPct val="100000"/>
              </a:lnSpc>
              <a:spcAft>
                <a:spcPts val="464"/>
              </a:spcAft>
              <a:buClr>
                <a:srgbClr val="0093D6"/>
              </a:buClr>
              <a:buFont typeface="Arial"/>
              <a:buChar char="•"/>
            </a:pPr>
            <a:r>
              <a:rPr sz="1550" b="0" i="0">
                <a:solidFill>
                  <a:srgbClr val="18232F"/>
                </a:solidFill>
                <a:latin typeface="Segoe UI"/>
              </a:rPr>
              <a:t>Broker principal hai</a:t>
            </a:r>
          </a:p>
          <a:p>
            <a:pPr algn="l" marL="182880" indent="-182880">
              <a:lnSpc>
                <a:spcPct val="100000"/>
              </a:lnSpc>
              <a:spcAft>
                <a:spcPts val="464"/>
              </a:spcAft>
              <a:buClr>
                <a:srgbClr val="0093D6"/>
              </a:buClr>
              <a:buFont typeface="Arial"/>
              <a:buChar char="•"/>
            </a:pPr>
            <a:r>
              <a:rPr sz="1550" b="0" i="0">
                <a:solidFill>
                  <a:srgbClr val="18232F"/>
                </a:solidFill>
                <a:latin typeface="Segoe UI"/>
              </a:rPr>
              <a:t>Har order par Algo-ID</a:t>
            </a:r>
          </a:p>
          <a:p>
            <a:pPr algn="l" marL="182880" indent="-182880">
              <a:lnSpc>
                <a:spcPct val="100000"/>
              </a:lnSpc>
              <a:spcAft>
                <a:spcPts val="464"/>
              </a:spcAft>
              <a:buClr>
                <a:srgbClr val="0093D6"/>
              </a:buClr>
              <a:buFont typeface="Arial"/>
              <a:buChar char="•"/>
            </a:pPr>
            <a:r>
              <a:rPr sz="1550" b="0" i="0">
                <a:solidFill>
                  <a:srgbClr val="18232F"/>
                </a:solidFill>
                <a:latin typeface="Segoe UI"/>
              </a:rPr>
              <a:t>Sirf family ke saath share</a:t>
            </a:r>
          </a:p>
          <a:p>
            <a:pPr algn="l" marL="182880" indent="-182880">
              <a:lnSpc>
                <a:spcPct val="100000"/>
              </a:lnSpc>
              <a:buClr>
                <a:srgbClr val="0093D6"/>
              </a:buClr>
              <a:buFont typeface="Arial"/>
              <a:buChar char="•"/>
            </a:pPr>
            <a:r>
              <a:rPr sz="1550" b="0" i="0">
                <a:solidFill>
                  <a:srgbClr val="18232F"/>
                </a:solidFill>
                <a:latin typeface="Segoe UI"/>
              </a:rPr>
              <a:t>Loss aapka hi</a:t>
            </a:r>
          </a:p>
        </p:txBody>
      </p:sp>
      <p:sp>
        <p:nvSpPr>
          <p:cNvPr id="22" name="Rounded Rectangle 21"/>
          <p:cNvSpPr/>
          <p:nvPr/>
        </p:nvSpPr>
        <p:spPr>
          <a:xfrm>
            <a:off x="7833208" y="4033838"/>
            <a:ext cx="3718408" cy="1415034"/>
          </a:xfrm>
          <a:prstGeom prst="roundRect">
            <a:avLst>
              <a:gd name="adj" fmla="val 7754"/>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7979512" y="4143566"/>
            <a:ext cx="3425800" cy="277368"/>
          </a:xfrm>
          <a:prstGeom prst="rect">
            <a:avLst/>
          </a:prstGeom>
          <a:noFill/>
        </p:spPr>
        <p:txBody>
          <a:bodyPr wrap="square" lIns="0" rIns="0" tIns="0" bIns="0" anchor="t">
            <a:noAutofit/>
          </a:bodyPr>
          <a:lstStyle/>
          <a:p>
            <a:pPr algn="l">
              <a:lnSpc>
                <a:spcPct val="100000"/>
              </a:lnSpc>
            </a:pPr>
            <a:r>
              <a:rPr sz="1700" b="1" i="0">
                <a:solidFill>
                  <a:srgbClr val="991B1B"/>
                </a:solidFill>
                <a:latin typeface="Segoe UI"/>
              </a:rPr>
              <a:t>Aapka mann</a:t>
            </a:r>
          </a:p>
        </p:txBody>
      </p:sp>
      <p:sp>
        <p:nvSpPr>
          <p:cNvPr id="24" name="TextBox 23"/>
          <p:cNvSpPr txBox="1"/>
          <p:nvPr/>
        </p:nvSpPr>
        <p:spPr>
          <a:xfrm>
            <a:off x="7979512" y="4475798"/>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F0554E"/>
              </a:buClr>
              <a:buFont typeface="Arial"/>
              <a:buChar char="•"/>
            </a:pPr>
            <a:r>
              <a:rPr sz="1550" b="0" i="0">
                <a:solidFill>
                  <a:srgbClr val="18232F"/>
                </a:solidFill>
                <a:latin typeface="Segoe UI"/>
              </a:rPr>
              <a:t>Koi magic bot nahi</a:t>
            </a:r>
          </a:p>
          <a:p>
            <a:pPr algn="l" marL="182880" indent="-182880">
              <a:lnSpc>
                <a:spcPct val="100000"/>
              </a:lnSpc>
              <a:spcAft>
                <a:spcPts val="464"/>
              </a:spcAft>
              <a:buClr>
                <a:srgbClr val="F0554E"/>
              </a:buClr>
              <a:buFont typeface="Arial"/>
              <a:buChar char="•"/>
            </a:pPr>
            <a:r>
              <a:rPr sz="1550" b="0" i="0">
                <a:solidFill>
                  <a:srgbClr val="18232F"/>
                </a:solidFill>
                <a:latin typeface="Segoe UI"/>
              </a:rPr>
              <a:t>Fee judti jaati hai</a:t>
            </a:r>
          </a:p>
          <a:p>
            <a:pPr algn="l" marL="182880" indent="-182880">
              <a:lnSpc>
                <a:spcPct val="100000"/>
              </a:lnSpc>
              <a:buClr>
                <a:srgbClr val="F0554E"/>
              </a:buClr>
              <a:buFont typeface="Arial"/>
              <a:buChar char="•"/>
            </a:pPr>
            <a:r>
              <a:rPr sz="1550" b="0" i="0">
                <a:solidFill>
                  <a:srgbClr val="18232F"/>
                </a:solidFill>
                <a:latin typeface="Segoe UI"/>
              </a:rPr>
              <a:t>Password kabhi share nahi</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AAJ KA KAAM</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45 min</a:t>
            </a:r>
          </a:p>
        </p:txBody>
      </p:sp>
      <p:sp>
        <p:nvSpPr>
          <p:cNvPr id="5" name="TextBox 4"/>
          <p:cNvSpPr txBox="1"/>
          <p:nvPr/>
        </p:nvSpPr>
        <p:spPr>
          <a:xfrm>
            <a:off x="457200" y="1335024"/>
            <a:ext cx="11277295" cy="768096"/>
          </a:xfrm>
          <a:prstGeom prst="rect">
            <a:avLst/>
          </a:prstGeom>
          <a:noFill/>
        </p:spPr>
        <p:txBody>
          <a:bodyPr wrap="square" lIns="0" rIns="0" tIns="0" bIns="0" anchor="t">
            <a:noAutofit/>
          </a:bodyPr>
          <a:lstStyle/>
          <a:p>
            <a:pPr algn="l">
              <a:lnSpc>
                <a:spcPct val="100000"/>
              </a:lnSpc>
            </a:pPr>
            <a:r>
              <a:rPr sz="1600" b="1" i="0">
                <a:solidFill>
                  <a:srgbClr val="18232F"/>
                </a:solidFill>
                <a:latin typeface="Segoe UI"/>
              </a:rPr>
              <a:t>Apna Algo Level 1 kit banaiye: bina shayad ka rule card, kaagaz par flowchart, ek free price alert ya shaam 7 baje ka check, aur alert ke baad ki checklist, phir ek Portfolio row jodiye. Lagbhag 45 minute; ORB flowchart optional stretch hai, uska answer key 'Aapka template' mein hai.</a:t>
            </a:r>
          </a:p>
        </p:txBody>
      </p:sp>
      <p:sp>
        <p:nvSpPr>
          <p:cNvPr id="6" name="Rounded Rectangle 5"/>
          <p:cNvSpPr/>
          <p:nvPr/>
        </p:nvSpPr>
        <p:spPr>
          <a:xfrm>
            <a:off x="457200" y="224942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359152"/>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1</a:t>
            </a:r>
          </a:p>
        </p:txBody>
      </p:sp>
      <p:sp>
        <p:nvSpPr>
          <p:cNvPr id="8" name="Rounded Rectangle 7"/>
          <p:cNvSpPr/>
          <p:nvPr/>
        </p:nvSpPr>
        <p:spPr>
          <a:xfrm>
            <a:off x="11332159" y="23774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35000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'Aapka template' se 'Rule card, bina shayad ke' copy kijiye aur apna Day 11 EMA Pullback card line-by-line dobara likhiye: har line mein number, candle aur time chahiye, aur 'Kaun check karta hai' column batata hai ki use free screener, price alert ya aapki apni aankhen check karengi.</a:t>
            </a:r>
          </a:p>
        </p:txBody>
      </p:sp>
      <p:sp>
        <p:nvSpPr>
          <p:cNvPr id="10" name="Rounded Rectangle 9"/>
          <p:cNvSpPr/>
          <p:nvPr/>
        </p:nvSpPr>
        <p:spPr>
          <a:xfrm>
            <a:off x="457200" y="327355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3383280"/>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a:t>
            </a:r>
          </a:p>
        </p:txBody>
      </p:sp>
      <p:sp>
        <p:nvSpPr>
          <p:cNvPr id="12" name="Rounded Rectangle 11"/>
          <p:cNvSpPr/>
          <p:nvPr/>
        </p:nvSpPr>
        <p:spPr>
          <a:xfrm>
            <a:off x="11332159" y="34015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337413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Kaagaz par flowchart banaiye: shuru mein oval, har haan/na sawaal ke liye diamond, har kaam ke liye rectangle, aur har 'na' ka arrow NO TRADE par. Lesson mein Priya ki table se milaiye, phir photo le lijiye.</a:t>
            </a:r>
          </a:p>
        </p:txBody>
      </p:sp>
      <p:sp>
        <p:nvSpPr>
          <p:cNvPr id="14" name="Rounded Rectangle 13"/>
          <p:cNvSpPr/>
          <p:nvPr/>
        </p:nvSpPr>
        <p:spPr>
          <a:xfrm>
            <a:off x="457200" y="4053840"/>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416356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a:t>
            </a:r>
          </a:p>
        </p:txBody>
      </p:sp>
      <p:sp>
        <p:nvSpPr>
          <p:cNvPr id="16" name="Rounded Rectangle 15"/>
          <p:cNvSpPr/>
          <p:nvPr/>
        </p:nvSpPr>
        <p:spPr>
          <a:xfrm>
            <a:off x="11332159" y="418185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4154424"/>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Apne rule card ke saath AI Lab ka 'Flowchart drafter' prompt chalaiye, uska draft apne flowchart se milaiye, aur ek box likhiye jo usne chhoda, mila diya ya galat banaya; agar sab sahi hai, toh woh box likhiye jo aapko apni drawing mein theek karna pada.</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AAJ KA KAAM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45 min</a:t>
            </a:r>
          </a:p>
        </p:txBody>
      </p:sp>
      <p:sp>
        <p:nvSpPr>
          <p:cNvPr id="5" name="Rounded Rectangle 4"/>
          <p:cNvSpPr/>
          <p:nvPr/>
        </p:nvSpPr>
        <p:spPr>
          <a:xfrm>
            <a:off x="457200" y="1335024"/>
            <a:ext cx="11277295" cy="1054608"/>
          </a:xfrm>
          <a:prstGeom prst="roundRect">
            <a:avLst>
              <a:gd name="adj" fmla="val 867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890016"/>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Free alert ka raasta: aaj ke close ke baad NIFTY 50 (ya kisi ek watchlist stock) ka aaj ka high note kijiye aur free TradingView chart par usi level par ek seedha price alert lagaiye (free sign-up, broker account nahi), naam rakhiye 'LOOK only: aaj ke high ke upar close'. Kal yeh baje toh matlab sirf itna ki dekhiye; aapka rule phir bhi kal ka official close hi padhega. Sign up nahi karna, ya free alert bacha nahi? Toh close ke baad wale check ke liye roz shaam 7 baje ka phone reminder lagaiye.</a:t>
            </a:r>
          </a:p>
        </p:txBody>
      </p:sp>
      <p:sp>
        <p:nvSpPr>
          <p:cNvPr id="9" name="Rounded Rectangle 8"/>
          <p:cNvSpPr/>
          <p:nvPr/>
        </p:nvSpPr>
        <p:spPr>
          <a:xfrm>
            <a:off x="457200" y="2481072"/>
            <a:ext cx="11277295" cy="841248"/>
          </a:xfrm>
          <a:prstGeom prst="roundRect">
            <a:avLst>
              <a:gd name="adj" fmla="val 10869"/>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590800"/>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a:t>
            </a:r>
          </a:p>
        </p:txBody>
      </p:sp>
      <p:sp>
        <p:nvSpPr>
          <p:cNvPr id="11" name="Rounded Rectangle 10"/>
          <p:cNvSpPr/>
          <p:nvPr/>
        </p:nvSpPr>
        <p:spPr>
          <a:xfrm>
            <a:off x="11332159" y="260908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581656"/>
            <a:ext cx="10042855" cy="676656"/>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Alert ke baad ki checklist ('Aapka template') Google Sheets ya notes mein copy kijiye, check 3 apne rule card ke hisaab se likhiye, aur chaar columns ka alert log jodiye: time, alert ka naam, valid Y/N, wajah. AI Lab ka prompt 'Alert ke baad ki checklist' ek draft bana sakta hai, jise aap check karenge.</a:t>
            </a:r>
          </a:p>
        </p:txBody>
      </p:sp>
      <p:sp>
        <p:nvSpPr>
          <p:cNvPr id="13" name="Rounded Rectangle 12"/>
          <p:cNvSpPr/>
          <p:nvPr/>
        </p:nvSpPr>
        <p:spPr>
          <a:xfrm>
            <a:off x="457200" y="3413760"/>
            <a:ext cx="11277295" cy="1267968"/>
          </a:xfrm>
          <a:prstGeom prst="roundRect">
            <a:avLst>
              <a:gd name="adj" fmla="val 7211"/>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52348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a:t>
            </a:r>
          </a:p>
        </p:txBody>
      </p:sp>
      <p:sp>
        <p:nvSpPr>
          <p:cNvPr id="15" name="Rounded Rectangle 14"/>
          <p:cNvSpPr/>
          <p:nvPr/>
        </p:nvSpPr>
        <p:spPr>
          <a:xfrm>
            <a:off x="11332159" y="354177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514344"/>
            <a:ext cx="10042855" cy="1103376"/>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Ek aur Portfolio row (virtual) jodiye, kisi aise watchlist stock ke liye jo health card aur aapke flowchart ke box 2 se 4 pass kar chuka ho: Full Why 1 = uska card result; Full Why 2 = jo chart boxes pass hue (3 aur 4), card dobara nahi; sabse bada risk = 'results ka gap' aur aapka jawab = 'box 2: agle 15 trading din mein koi results date nahi'; price-stop = planned entry se 1.5 x ATR 14 neeche; Why-stop = woh box jo NO ho jaaye (jaise 'EMA 20, EMA 50 ke neeche close ho'); review point = agli results date. Koi stock pass nahi hua? Journal mein 'koi pass nahi' likhiye: flowchart apna kaam kar raha hai.</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AAJ KE BAAD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Aaj ke baad aap vague trading ideas ko testable haan/na rules mein badal payenge, unka aisa flowchart bana payenge jismein har sawaal ka ek YES aur ek NO raasta ho, bata payenge ki kaunse checks free screener ya price alert kar sakta hai aur kaunse aap khud karenge, daily checks official close ke baad karenge, aur samjha payenge ki SEBI ke retail algo rules kya kehte hain aur magic bot red flag kyun hai.</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Rule card, bina shayad ke: kaun kya check karta hai</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Ise copy kijiye aur sirf wahi badliye jo aapka apna Day 11 card alag kehta hai. Jo rule free screener nahi pakad pata, use aap chart par aankh se check kijiye.</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4023360"/>
        </p:xfrm>
        <a:graphic>
          <a:graphicData uri="http://schemas.openxmlformats.org/drawingml/2006/table">
            <a:tbl>
              <a:tblPr firstRow="1">
                <a:tableStyleId>{5C22544A-7EE6-4342-B048-85BDC9FD1C3A}</a:tableStyleId>
              </a:tblPr>
              <a:tblGrid>
                <a:gridCol w="1091393"/>
                <a:gridCol w="6919121"/>
                <a:gridCol w="2118771"/>
                <a:gridCol w="782250"/>
              </a:tblGrid>
              <a:tr h="335280">
                <a:tc>
                  <a:txBody>
                    <a:bodyPr wrap="square"/>
                    <a:lstStyle/>
                    <a:p>
                      <a:pPr algn="l"/>
                      <a:r>
                        <a:rPr sz="1350" b="1" i="0">
                          <a:solidFill>
                            <a:srgbClr val="FFFFFF"/>
                          </a:solidFill>
                          <a:latin typeface="Segoe UI"/>
                        </a:rPr>
                        <a:t>Rule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50" b="1" i="0">
                          <a:solidFill>
                            <a:srgbClr val="FFFFFF"/>
                          </a:solidFill>
                          <a:latin typeface="Segoe UI"/>
                        </a:rPr>
                        <a:t>Testable version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50" b="1" i="0">
                          <a:solidFill>
                            <a:srgbClr val="FFFFFF"/>
                          </a:solidFill>
                          <a:latin typeface="Segoe UI"/>
                        </a:rPr>
                        <a:t>Kaun check karta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50" b="1" i="0">
                          <a:solidFill>
                            <a:srgbClr val="FFFFFF"/>
                          </a:solidFill>
                          <a:latin typeface="Segoe UI"/>
                        </a:rPr>
                        <a:t>Kab</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737616">
                <a:tc>
                  <a:txBody>
                    <a:bodyPr wrap="square"/>
                    <a:lstStyle/>
                    <a:p>
                      <a:pPr algn="l"/>
                      <a:r>
                        <a:rPr sz="1350" b="0" i="0">
                          <a:solidFill>
                            <a:srgbClr val="18232F"/>
                          </a:solidFill>
                          <a:latin typeface="Segoe UI"/>
                        </a:rPr>
                        <a:t>Watchlist gate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Health card pass; agle 15 trading din mein results date nahi; NSE ke corporate actions page par bonus ya split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Aap: card, NSE announcements aur corporate actions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Stock jodne se pehle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737616">
                <a:tc>
                  <a:txBody>
                    <a:bodyPr wrap="square"/>
                    <a:lstStyle/>
                    <a:p>
                      <a:pPr algn="l"/>
                      <a:r>
                        <a:rPr sz="1350" b="0" i="0">
                          <a:solidFill>
                            <a:srgbClr val="18232F"/>
                          </a:solidFill>
                          <a:latin typeface="Segoe UI"/>
                        </a:rPr>
                        <a:t>Trend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Daily chart par EMA 20, EMA 50 ke upar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Free screener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Shaam, close ke baad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737616">
                <a:tc>
                  <a:txBody>
                    <a:bodyPr wrap="square"/>
                    <a:lstStyle/>
                    <a:p>
                      <a:pPr algn="l"/>
                      <a:r>
                        <a:rPr sz="1350" b="0" i="0">
                          <a:solidFill>
                            <a:srgbClr val="18232F"/>
                          </a:solidFill>
                          <a:latin typeface="Segoe UI"/>
                        </a:rPr>
                        <a:t>Trend badh raha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EMA 50, 10 trading din pehle se upar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Aap, aankh se: free screener shayad na pakde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Shaam, close ke baad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737616">
                <a:tc>
                  <a:txBody>
                    <a:bodyPr wrap="square"/>
                    <a:lstStyle/>
                    <a:p>
                      <a:pPr algn="l"/>
                      <a:r>
                        <a:rPr sz="1350" b="0" i="0">
                          <a:solidFill>
                            <a:srgbClr val="18232F"/>
                          </a:solidFill>
                          <a:latin typeface="Segoe UI"/>
                        </a:rPr>
                        <a:t>Pullback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Daily close EMA 20 se 2% ke andar, upar ya neeche, aur EMA 50 ke upar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Free screener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Shaam, close ke baad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737616">
                <a:tc>
                  <a:txBody>
                    <a:bodyPr wrap="square"/>
                    <a:lstStyle/>
                    <a:p>
                      <a:pPr algn="l"/>
                      <a:r>
                        <a:rPr sz="1350" b="0" i="0">
                          <a:solidFill>
                            <a:srgbClr val="18232F"/>
                          </a:solidFill>
                          <a:latin typeface="Segoe UI"/>
                        </a:rPr>
                        <a:t>Cool-down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RSI 14, 40 aur 50 ke beech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Free screener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Shaam, close ke baad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AAPKA TEMPLATE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Rule card, bina shayad ke: kaun kya check karta hai</a:t>
            </a:r>
          </a:p>
        </p:txBody>
      </p:sp>
      <p:sp>
        <p:nvSpPr>
          <p:cNvPr id="4" name="Rounded Rectangle 3"/>
          <p:cNvSpPr/>
          <p:nvPr/>
        </p:nvSpPr>
        <p:spPr>
          <a:xfrm>
            <a:off x="457200" y="1335024"/>
            <a:ext cx="11277295" cy="4937760"/>
          </a:xfrm>
          <a:prstGeom prst="roundRect">
            <a:avLst>
              <a:gd name="adj" fmla="val 222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5" name="Table 4"/>
          <p:cNvGraphicFramePr>
            <a:graphicFrameLocks noGrp="1"/>
          </p:cNvGraphicFramePr>
          <p:nvPr/>
        </p:nvGraphicFramePr>
        <p:xfrm>
          <a:off x="640080" y="1481328"/>
          <a:ext cx="10911536" cy="4663440"/>
        </p:xfrm>
        <a:graphic>
          <a:graphicData uri="http://schemas.openxmlformats.org/drawingml/2006/table">
            <a:tbl>
              <a:tblPr firstRow="1">
                <a:tableStyleId>{5C22544A-7EE6-4342-B048-85BDC9FD1C3A}</a:tableStyleId>
              </a:tblPr>
              <a:tblGrid>
                <a:gridCol w="984009"/>
                <a:gridCol w="6312493"/>
                <a:gridCol w="2765171"/>
                <a:gridCol w="849863"/>
              </a:tblGrid>
              <a:tr h="403860">
                <a:tc>
                  <a:txBody>
                    <a:bodyPr wrap="square"/>
                    <a:lstStyle/>
                    <a:p>
                      <a:pPr algn="l"/>
                      <a:r>
                        <a:rPr sz="1500" b="1" i="0">
                          <a:solidFill>
                            <a:srgbClr val="FFFFFF"/>
                          </a:solidFill>
                          <a:latin typeface="Segoe UI"/>
                        </a:rPr>
                        <a:t>Rule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Testable version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Kaun check karta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Kab</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851916">
                <a:tc>
                  <a:txBody>
                    <a:bodyPr wrap="square"/>
                    <a:lstStyle/>
                    <a:p>
                      <a:pPr algn="l"/>
                      <a:r>
                        <a:rPr sz="1500" b="0" i="0">
                          <a:solidFill>
                            <a:srgbClr val="18232F"/>
                          </a:solidFill>
                          <a:latin typeface="Segoe UI"/>
                        </a:rPr>
                        <a:t>Strength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3 mahine ka % change minus NIFTY 50 ka, 0 se upar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Aap: chart par stock/NIFTY wali line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Shaam, close ke baad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851916">
                <a:tc>
                  <a:txBody>
                    <a:bodyPr wrap="square"/>
                    <a:lstStyle/>
                    <a:p>
                      <a:pPr algn="l"/>
                      <a:r>
                        <a:rPr sz="1500" b="0" i="0">
                          <a:solidFill>
                            <a:srgbClr val="18232F"/>
                          </a:solidFill>
                          <a:latin typeface="Segoe UI"/>
                        </a:rPr>
                        <a:t>Signal day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Daily close pichhle din ke high ke upar, 5 trading din ke andar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Price alert kehta hai dekho; close aap padhte hain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Shaam, close ke baad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623316">
                <a:tc>
                  <a:txBody>
                    <a:bodyPr wrap="square"/>
                    <a:lstStyle/>
                    <a:p>
                      <a:pPr algn="l"/>
                      <a:r>
                        <a:rPr sz="1500" b="0" i="0">
                          <a:solidFill>
                            <a:srgbClr val="18232F"/>
                          </a:solidFill>
                          <a:latin typeface="Segoe UI"/>
                        </a:rPr>
                        <a:t>Stop aur size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entry se 1.5 x ATR 14 neeche; qty = Rs 10,000 ÷ stop, max entry par 25% cap tak kam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Aap, calculator 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Shaam ka plan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1080516">
                <a:tc>
                  <a:txBody>
                    <a:bodyPr wrap="square"/>
                    <a:lstStyle/>
                    <a:p>
                      <a:pPr algn="l"/>
                      <a:r>
                        <a:rPr sz="1500" b="0" i="0">
                          <a:solidFill>
                            <a:srgbClr val="18232F"/>
                          </a:solidFill>
                          <a:latin typeface="Segoe UI"/>
                        </a:rPr>
                        <a:t>Entry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Agle din ka open, sirf tab jab woh signal-day low aur close + 0.5 x ATR 14 ke beech ho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Aap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Agli shaam, din ke open 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851916">
                <a:tc>
                  <a:txBody>
                    <a:bodyPr wrap="square"/>
                    <a:lstStyle/>
                    <a:p>
                      <a:pPr algn="l"/>
                      <a:r>
                        <a:rPr sz="1500" b="0" i="0">
                          <a:solidFill>
                            <a:srgbClr val="18232F"/>
                          </a:solidFill>
                          <a:latin typeface="Segoe UI"/>
                        </a:rPr>
                        <a:t>Risk limits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3 se kam open trades; -2R wala din aur -5R wala hafta pehle se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Aap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Har entry se pehle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6" name="Picture 5" descr="logo.png"/>
          <p:cNvPicPr>
            <a:picLocks noChangeAspect="1"/>
          </p:cNvPicPr>
          <p:nvPr/>
        </p:nvPicPr>
        <p:blipFill>
          <a:blip r:embed="rId2"/>
          <a:stretch>
            <a:fillRect/>
          </a:stretch>
        </p:blipFill>
        <p:spPr>
          <a:xfrm>
            <a:off x="457200" y="6437376"/>
            <a:ext cx="237744" cy="237744"/>
          </a:xfrm>
          <a:prstGeom prst="rect">
            <a:avLst/>
          </a:prstGeom>
        </p:spPr>
      </p:pic>
      <p:sp>
        <p:nvSpPr>
          <p:cNvPr id="7"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8" name="TextBox 7"/>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Alert ke baad ki checklist: 60 second, chhe haan/na checks</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Koi bhi NO = no trade. Shaam ke swing scan ke liye check 3 mein apne trend, pullback, RSI aur RS wale boxes likhiye.</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5984748"/>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Aman ki Bharat Pumps Ltd wali paper ORB subah ke model jawab (range Rs 994-1,000).</a:t>
            </a:r>
          </a:p>
        </p:txBody>
      </p:sp>
      <p:graphicFrame>
        <p:nvGraphicFramePr>
          <p:cNvPr id="7" name="Table 6"/>
          <p:cNvGraphicFramePr>
            <a:graphicFrameLocks noGrp="1"/>
          </p:cNvGraphicFramePr>
          <p:nvPr/>
        </p:nvGraphicFramePr>
        <p:xfrm>
          <a:off x="640080" y="1892808"/>
          <a:ext cx="10911535" cy="4000496"/>
        </p:xfrm>
        <a:graphic>
          <a:graphicData uri="http://schemas.openxmlformats.org/drawingml/2006/table">
            <a:tbl>
              <a:tblPr firstRow="1">
                <a:tableStyleId>{5C22544A-7EE6-4342-B048-85BDC9FD1C3A}</a:tableStyleId>
              </a:tblPr>
              <a:tblGrid>
                <a:gridCol w="731520"/>
                <a:gridCol w="6992743"/>
                <a:gridCol w="1074053"/>
                <a:gridCol w="2113219"/>
              </a:tblGrid>
              <a:tr h="353758">
                <a:tc>
                  <a:txBody>
                    <a:bodyPr wrap="square"/>
                    <a:lstStyle/>
                    <a:p>
                      <a:pPr algn="l"/>
                      <a:r>
                        <a:rPr sz="1350" b="1" i="0">
                          <a:solidFill>
                            <a:srgbClr val="FFFFF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50" b="1" i="0">
                          <a:solidFill>
                            <a:srgbClr val="FFFFFF"/>
                          </a:solidFill>
                          <a:latin typeface="Segoe UI"/>
                        </a:rPr>
                        <a:t>Check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50" b="1" i="0">
                          <a:solidFill>
                            <a:srgbClr val="FFFFFF"/>
                          </a:solidFill>
                          <a:latin typeface="Segoe UI"/>
                        </a:rPr>
                        <a:t>Aman, 9:40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50" b="1" i="0">
                          <a:solidFill>
                            <a:srgbClr val="FFFFFF"/>
                          </a:solidFill>
                          <a:latin typeface="Segoe UI"/>
                        </a:rPr>
                        <a:t>Aman, 9:55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44614">
                <a:tc>
                  <a:txBody>
                    <a:bodyPr wrap="square"/>
                    <a:lstStyle/>
                    <a:p>
                      <a:pPr algn="ctr"/>
                      <a:r>
                        <a:rPr sz="1350" b="0" i="0">
                          <a:solidFill>
                            <a:srgbClr val="18232F"/>
                          </a:solidFill>
                          <a:latin typeface="Segoe UI"/>
                        </a:rPr>
                        <a:t>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Maine khud chart dekha, sirf alert ka message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Haan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Haan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756094">
                <a:tc>
                  <a:txBody>
                    <a:bodyPr wrap="square"/>
                    <a:lstStyle/>
                    <a:p>
                      <a:pPr algn="ctr"/>
                      <a:r>
                        <a:rPr sz="1350" b="0" i="0">
                          <a:solidFill>
                            <a:srgbClr val="18232F"/>
                          </a:solidFill>
                          <a:latin typeface="Segoe UI"/>
                        </a:rPr>
                        <a:t>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Mere rule wali candle level ke paar close hui (touch ya wick nahi ginta)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NO: sirf wick, close 999 par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Haan: close 1,002.50 par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50354">
                <a:tc>
                  <a:txBody>
                    <a:bodyPr wrap="square"/>
                    <a:lstStyle/>
                    <a:p>
                      <a:pPr algn="ctr"/>
                      <a:r>
                        <a:rPr sz="1350" b="0" i="0">
                          <a:solidFill>
                            <a:srgbClr val="18232F"/>
                          </a:solidFill>
                          <a:latin typeface="Segoe UI"/>
                        </a:rPr>
                        <a:t>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Rule card ke woh checks jo alert nahi dekh sakta, sab pass (ORB: VWAP ki side, volume, 11:00 se pehle)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5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Haan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50354">
                <a:tc>
                  <a:txBody>
                    <a:bodyPr wrap="square"/>
                    <a:lstStyle/>
                    <a:p>
                      <a:pPr algn="ctr"/>
                      <a:r>
                        <a:rPr sz="1350" b="0" i="0">
                          <a:solidFill>
                            <a:srgbClr val="18232F"/>
                          </a:solidFill>
                          <a:latin typeface="Segoe UI"/>
                        </a:rPr>
                        <a:t>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Stop aur size nikaala: 1% rule, 25% cap tak kam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5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Haan: stop Rs 994; 249 shares (25% cap)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44614">
                <a:tc>
                  <a:txBody>
                    <a:bodyPr wrap="square"/>
                    <a:lstStyle/>
                    <a:p>
                      <a:pPr algn="ctr"/>
                      <a:r>
                        <a:rPr sz="1350" b="0" i="0">
                          <a:solidFill>
                            <a:srgbClr val="18232F"/>
                          </a:solidFill>
                          <a:latin typeface="Segoe UI"/>
                        </a:rPr>
                        <a:t>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3 se kam open trades; -2R wala din ya -5R wala hafta pehle se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5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Haan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50354">
                <a:tc>
                  <a:txBody>
                    <a:bodyPr wrap="square"/>
                    <a:lstStyle/>
                    <a:p>
                      <a:pPr algn="ctr"/>
                      <a:r>
                        <a:rPr sz="1350" b="0" i="0">
                          <a:solidFill>
                            <a:srgbClr val="18232F"/>
                          </a:solidFill>
                          <a:latin typeface="Segoe UI"/>
                        </a:rPr>
                        <a:t>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Alert log ki row likhi: time, alert ka naam, valid Y/N, wajah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Haan: 'N, sirf touch'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Haan: 'Y, close upar'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50354">
                <a:tc>
                  <a:txBody>
                    <a:bodyPr wrap="square"/>
                    <a:lstStyle/>
                    <a:p>
                      <a:pPr algn="ctr"/>
                      <a:r>
                        <a:rPr sz="13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Faisla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NO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Agle open par paper entry, Rs 1,002.50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ORB flowchart: answer key (optional stretch)</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Agar aap ORB follow karte hain, toh pehle apna flowchart khud banaiye, phir box dar box milaiye. Rules Day 13 wale hain.</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1892808"/>
          <a:ext cx="10911535" cy="4251962"/>
        </p:xfrm>
        <a:graphic>
          <a:graphicData uri="http://schemas.openxmlformats.org/drawingml/2006/table">
            <a:tbl>
              <a:tblPr firstRow="1">
                <a:tableStyleId>{5C22544A-7EE6-4342-B048-85BDC9FD1C3A}</a:tableStyleId>
              </a:tblPr>
              <a:tblGrid>
                <a:gridCol w="731520"/>
                <a:gridCol w="7408459"/>
                <a:gridCol w="731520"/>
                <a:gridCol w="2040036"/>
              </a:tblGrid>
              <a:tr h="340822">
                <a:tc>
                  <a:txBody>
                    <a:bodyPr wrap="square"/>
                    <a:lstStyle/>
                    <a:p>
                      <a:pPr algn="l"/>
                      <a:r>
                        <a:rPr sz="1300" b="1" i="0">
                          <a:solidFill>
                            <a:srgbClr val="FFFFF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00" b="1" i="0">
                          <a:solidFill>
                            <a:srgbClr val="FFFFFF"/>
                          </a:solidFill>
                          <a:latin typeface="Segoe UI"/>
                        </a:rPr>
                        <a:t>Sawaal ya kaam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00" b="1" i="0">
                          <a:solidFill>
                            <a:srgbClr val="FFFFFF"/>
                          </a:solidFill>
                          <a:latin typeface="Segoe UI"/>
                        </a:rPr>
                        <a:t>YES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00" b="1" i="0">
                          <a:solidFill>
                            <a:srgbClr val="FFFFFF"/>
                          </a:solidFill>
                          <a:latin typeface="Segoe UI"/>
                        </a:rPr>
                        <a:t>NO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31678">
                <a:tc>
                  <a:txBody>
                    <a:bodyPr wrap="square"/>
                    <a:lstStyle/>
                    <a:p>
                      <a:pPr algn="ctr"/>
                      <a:r>
                        <a:rPr sz="1300" b="0" i="0">
                          <a:solidFill>
                            <a:srgbClr val="18232F"/>
                          </a:solidFill>
                          <a:latin typeface="Segoe UI"/>
                        </a:rPr>
                        <a:t>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Start: 9:15-11:00 aur phir 14:30 par dekh sakte hain?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Aaj ORB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1678">
                <a:tc>
                  <a:txBody>
                    <a:bodyPr wrap="square"/>
                    <a:lstStyle/>
                    <a:p>
                      <a:pPr algn="ctr"/>
                      <a:r>
                        <a:rPr sz="1300" b="0" i="0">
                          <a:solidFill>
                            <a:srgbClr val="18232F"/>
                          </a:solidFill>
                          <a:latin typeface="Segoe UI"/>
                        </a:rPr>
                        <a:t>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NIFTY 50 ka stock jo kal ki range ke andar khula (gap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NO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1678">
                <a:tc>
                  <a:txBody>
                    <a:bodyPr wrap="square"/>
                    <a:lstStyle/>
                    <a:p>
                      <a:pPr algn="ctr"/>
                      <a:r>
                        <a:rPr sz="1300" b="0" i="0">
                          <a:solidFill>
                            <a:srgbClr val="18232F"/>
                          </a:solidFill>
                          <a:latin typeface="Segoe UI"/>
                        </a:rPr>
                        <a:t>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Aaj results ya badi company news nahi, aur price band se door?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NO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29798">
                <a:tc>
                  <a:txBody>
                    <a:bodyPr wrap="square"/>
                    <a:lstStyle/>
                    <a:p>
                      <a:pPr algn="ctr"/>
                      <a:r>
                        <a:rPr sz="1300" b="0" i="0">
                          <a:solidFill>
                            <a:srgbClr val="18232F"/>
                          </a:solidFill>
                          <a:latin typeface="Segoe UI"/>
                        </a:rPr>
                        <a:t>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Gunjaaish baaki: -2R se upar, 2 se kam stop-out, 3 se kam open, is stock mein abhi tak ORB trade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NO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29798">
                <a:tc>
                  <a:txBody>
                    <a:bodyPr wrap="square"/>
                    <a:lstStyle/>
                    <a:p>
                      <a:pPr algn="ctr"/>
                      <a:r>
                        <a:rPr sz="1300" b="0" i="0">
                          <a:solidFill>
                            <a:srgbClr val="18232F"/>
                          </a:solidFill>
                          <a:latin typeface="Segoe UI"/>
                        </a:rPr>
                        <a:t>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9:30 ke baad, aur 9:15-9:30 ka high aur low mark?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Rukiye: 9:30 se pehle trade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1678">
                <a:tc>
                  <a:txBody>
                    <a:bodyPr wrap="square"/>
                    <a:lstStyle/>
                    <a:p>
                      <a:pPr algn="ctr"/>
                      <a:r>
                        <a:rPr sz="1300" b="0" i="0">
                          <a:solidFill>
                            <a:srgbClr val="18232F"/>
                          </a:solidFill>
                          <a:latin typeface="Segoe UI"/>
                        </a:rPr>
                        <a:t>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Koi 5-minute candle range ke bahar close hui?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11:00 tak dekhte rahiye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29798">
                <a:tc>
                  <a:txBody>
                    <a:bodyPr wrap="square"/>
                    <a:lstStyle/>
                    <a:p>
                      <a:pPr algn="ctr"/>
                      <a:r>
                        <a:rPr sz="1300" b="0" i="0">
                          <a:solidFill>
                            <a:srgbClr val="18232F"/>
                          </a:solidFill>
                          <a:latin typeface="Segoe UI"/>
                        </a:rPr>
                        <a:t>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Long: price VWAP ke upar (short: neeche), aur us candle ka volume 20-candle average se upar?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Yeh candle nahi: wapas 6 par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1678">
                <a:tc>
                  <a:txBody>
                    <a:bodyPr wrap="square"/>
                    <a:lstStyle/>
                    <a:p>
                      <a:pPr algn="ctr"/>
                      <a:r>
                        <a:rPr sz="1300" b="0" i="0">
                          <a:solidFill>
                            <a:srgbClr val="18232F"/>
                          </a:solidFill>
                          <a:latin typeface="Segoe UI"/>
                        </a:rPr>
                        <a:t>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Kya agli candle 11:00 tak khulti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NO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1678">
                <a:tc>
                  <a:txBody>
                    <a:bodyPr wrap="square"/>
                    <a:lstStyle/>
                    <a:p>
                      <a:pPr algn="ctr"/>
                      <a:r>
                        <a:rPr sz="1300" b="0" i="0">
                          <a:solidFill>
                            <a:srgbClr val="18232F"/>
                          </a:solidFill>
                          <a:latin typeface="Segoe UI"/>
                        </a:rPr>
                        <a:t>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Plan: stop range ki doosri taraf; size = 1% rule aur 25% cap mein jo chhota ho; 2R par profit exit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1678">
                <a:tc>
                  <a:txBody>
                    <a:bodyPr wrap="square"/>
                    <a:lstStyle/>
                    <a:p>
                      <a:pPr algn="ctr"/>
                      <a:r>
                        <a:rPr sz="1300" b="0" i="0">
                          <a:solidFill>
                            <a:srgbClr val="18232F"/>
                          </a:solidFill>
                          <a:latin typeface="Segoe UI"/>
                        </a:rPr>
                        <a:t>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Us open par paper entry; exit stop, 2R ya 14:30 par, hamesha usi din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 End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Flowchart Duel</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Classmates, dost ya family ke saath kheliye. Score process ka, paise ka nahi.</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Kisi classmate ya family member ke saath flowchart exchange kijiye aur har ek ko 4 mein se score dijiye: har box haan/na sawaal ya kaam hai; har 'na' NO TRADE par jaata hai; risk checks maujood hain (stop, size, 25% cap, 3 open trades, -2R daily stop, -5R weekly pause, results date); daily close ki timing likhi hai.</a:t>
            </a:r>
          </a:p>
          <a:p>
            <a:pPr algn="l">
              <a:lnSpc>
                <a:spcPct val="100000"/>
              </a:lnSpc>
              <a:spcAft>
                <a:spcPts val="700"/>
              </a:spcAft>
            </a:pPr>
            <a:r>
              <a:rPr sz="2000" b="0" i="0">
                <a:solidFill>
                  <a:srgbClr val="18232F"/>
                </a:solidFill>
                <a:latin typeface="Segoe UI"/>
              </a:rPr>
              <a:t>Bonus round: partner ke rule card ki ek line zor se padhiye aur use 10 second dijiye shayad wala shabd pakadne ke liye.</a:t>
            </a:r>
          </a:p>
          <a:p>
            <a:pPr algn="l">
              <a:lnSpc>
                <a:spcPct val="100000"/>
              </a:lnSpc>
            </a:pPr>
            <a:r>
              <a:rPr sz="2000" b="0" i="0">
                <a:solidFill>
                  <a:srgbClr val="18232F"/>
                </a:solidFill>
                <a:latin typeface="Segoe UI"/>
              </a:rPr>
              <a:t>Akele seekh rahe hain? Apna flowchart lesson mein Priya ki table se milaiye aur chhoote hue boxes giniye.</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Flowchart drafter: AI draft banaye, missing box aap dhoondhein</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Flowchart drafter</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300" b="0" i="1">
                <a:solidFill>
                  <a:srgbClr val="47596B"/>
                </a:solidFill>
                <a:latin typeface="Segoe UI"/>
              </a:rPr>
              <a:t>“I will paste my rule card below (the EMA Pullback Swing on daily charts: EMA 20 above EMA 50, with EMA 50 higher than 10 trading days ago, a close within 2% of EMA 20 and above EMA 50, RSI 14 between 40 and 50, 3-month relative strength vs NIFTY 50 above zero, a signal day that closes above the previous day's high, and a stop at 1.5 x ATR 14 below entry).”</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2</a:t>
            </a:r>
          </a:p>
        </p:txBody>
      </p:sp>
      <p:sp>
        <p:nvSpPr>
          <p:cNvPr id="11" name="TextBox 10"/>
          <p:cNvSpPr txBox="1"/>
          <p:nvPr/>
        </p:nvSpPr>
        <p:spPr>
          <a:xfrm>
            <a:off x="4478426"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Alert ke baad ki checklist</a:t>
            </a:r>
          </a:p>
        </p:txBody>
      </p:sp>
      <p:sp>
        <p:nvSpPr>
          <p:cNvPr id="12" name="TextBox 11"/>
          <p:cNvSpPr txBox="1"/>
          <p:nvPr/>
        </p:nvSpPr>
        <p:spPr>
          <a:xfrm>
            <a:off x="4478426"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3" name="TextBox 12"/>
          <p:cNvSpPr txBox="1"/>
          <p:nvPr/>
        </p:nvSpPr>
        <p:spPr>
          <a:xfrm>
            <a:off x="4478426"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“Write a 60-second checklist I will run every time a screener or price alert fires, for a daily EMA pullback swing rule card that I will paste below.”</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Bot pitch ka X-ray</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“My teacher wrote this made-up advert for practice: 'AI Algo Bot. Trades for you while you sleep. 9 out of 10 trades in profit.”</a:t>
            </a:r>
          </a:p>
        </p:txBody>
      </p:sp>
      <p:sp>
        <p:nvSpPr>
          <p:cNvPr id="19" name="Oval 18"/>
          <p:cNvSpPr/>
          <p:nvPr/>
        </p:nvSpPr>
        <p:spPr>
          <a:xfrm>
            <a:off x="457200"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App se prompt copy kijiye</a:t>
            </a:r>
          </a:p>
        </p:txBody>
      </p:sp>
      <p:sp>
        <p:nvSpPr>
          <p:cNvPr id="21" name="Oval 20"/>
          <p:cNvSpPr/>
          <p:nvPr/>
        </p:nvSpPr>
        <p:spPr>
          <a:xfrm>
            <a:off x="4277258"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Kisi bhi AI chat mein paste kijiye</a:t>
            </a:r>
          </a:p>
        </p:txBody>
      </p:sp>
      <p:sp>
        <p:nvSpPr>
          <p:cNvPr id="23" name="Oval 22"/>
          <p:cNvSpPr/>
          <p:nvPr/>
        </p:nvSpPr>
        <p:spPr>
          <a:xfrm>
            <a:off x="8097317"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Har Fact khud check kijiye</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analyst hai, faisla aap karte hain. Kisi bhi AI mein PAN, client ID, password, OTP ya API key kabhi paste mat kijiye, aur AI ka jawab kabhi buy ya sell call bana kar aage mat bhejiye.</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Poora prompt: speaker notes mein, aur app ke AI Lab tab mein.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QUICK QUIZ · SAWAAL 1/5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 apne card mein 'enter tabhi karo jab volume strong ho' jodna chahta hai. Kaunsa rewrite ise testable rule bana deta hai?</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Volume normal se saaf zyada, aankh se dekh kar</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Volume badh raha ho, bas chart bullish lage</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Signal day par volume 20-day average se upar</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Volume jise zyaadatar experienced traders strong kahenge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QUICK QUIZ · SAWAAL 2/5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Priya ke flowchart mein ek stock 'Trend upar?' box paas kar leta hai, lekin 'Pullback &amp; RS?' box par NO aata hai: RSI 14 ki value 53 hai aur rule 40 se 50 maangta hai. Chart par baaki sab theek lag raha hai. Flowchart use kya kehta hai?</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Aaj trade nahi; ek NO par flowchart khatam</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Trade karo, kyunki baaki sab theek lag raha hai</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Aadhe size se trade karo, 53 toh 50 ke paas hai</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Aaj box ko 40-55 kar do, phir trade karo</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QUICK QUIZ · SAWAAL 3/5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Sharma Textiles Ltd ki opening range ka high Rs 612 hai. Rs 612 par laga price alert tab baj jaata hai jab ek 5-minute wick Rs 613.20 tak jaati hai, lekin candle Rs 611.40 par close hoti hai. Aman ke rule ko range ke upar 5-minute close chahiye. Is alert ka matlab kya hai?</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Ab dekho; rule abhi poora nahi hua</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Range toot gayi; stop shift karo</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Breakout confirm; turant enter karo</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Alert fail hua; use turant delete karo</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QUICK QUIZ · SAWAAL 4/5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 ke swing trigger ko aisi daily candle chahiye jo pichhle din ke high ke upar close ho. 3:00 baje screener alert dikhata hai ki condition sach hai. Use kya karna chahiye?</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Aadha abhi paper-buy, baaki aadha close ke baad</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Official close ka intezaar, phir shaam ko rule check</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Abhi paper order lagao, alert toh aa hi gaya hai</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5-minute chart par shift ho jao, alert jaldi aayega</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QUICK QUIZ · SAWAAL 5/5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SEBI ke retail algo framework mein broker 'principal' hai. Ek trader ka apna algo, broker ke through chalte hue, loss kar deta hai. Is loss ke liye 'principal' ka matlab kya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Algo ka jitna loss ho, broker ko trader ko lautana padega</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Algo registered tha, toh SEBI trader ka loss lauta dega</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Exchange Algo-ID ke zariye loss bhar deta hai</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Broker zimmedar hai, lekin loss trader ka hi hai</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AAJ RAAT KA JOURNAL</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Algo Level 1: rules, flowchart aur alerts</a:t>
            </a:r>
          </a:p>
        </p:txBody>
      </p:sp>
      <p:sp>
        <p:nvSpPr>
          <p:cNvPr id="4" name="TextBox 3"/>
          <p:cNvSpPr txBox="1"/>
          <p:nvPr/>
        </p:nvSpPr>
        <p:spPr>
          <a:xfrm>
            <a:off x="457200" y="5820156"/>
            <a:ext cx="11277295" cy="50749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Investment in securities market is subject to market risks. Company names, prices and the bot advert are made up for illustration; no algo, bot or algo provider is endorsed. Stage 1 uses virtual money only and places no automated orders. No affiliation with any charting or diagram site named. 5 Circles Pvt Ltd · SEBI Registered Research Analyst · Reg. No. INH000020004</a:t>
            </a:r>
          </a:p>
        </p:txBody>
      </p:sp>
      <p:sp>
        <p:nvSpPr>
          <p:cNvPr id="5" name="Rounded Rectangle 4"/>
          <p:cNvSpPr/>
          <p:nvPr/>
        </p:nvSpPr>
        <p:spPr>
          <a:xfrm>
            <a:off x="457200" y="1335024"/>
            <a:ext cx="5501488" cy="3863340"/>
          </a:xfrm>
          <a:prstGeom prst="roundRect">
            <a:avLst>
              <a:gd name="adj" fmla="val 331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AAJ RAAT KA JOURNAL</a:t>
            </a:r>
          </a:p>
        </p:txBody>
      </p:sp>
      <p:sp>
        <p:nvSpPr>
          <p:cNvPr id="7" name="TextBox 6"/>
          <p:cNvSpPr txBox="1"/>
          <p:nvPr/>
        </p:nvSpPr>
        <p:spPr>
          <a:xfrm>
            <a:off x="731520" y="1901952"/>
            <a:ext cx="4952848" cy="313182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Aapke rule card ki kaunsi line testable banana sabse mushkil laga, koi shayad word ya missing time, aur aapne uski jagah kya likha? Aur imaandaari se bataiye: aapke andar ka kaunsa hissa abhi bhi chahta hai ki bot sab kar de — thakaan, kuch miss hone ka darr, ya aasaan paise ki umeed?</a:t>
            </a:r>
          </a:p>
        </p:txBody>
      </p:sp>
      <p:sp>
        <p:nvSpPr>
          <p:cNvPr id="8" name="Rounded Rectangle 7"/>
          <p:cNvSpPr/>
          <p:nvPr/>
        </p:nvSpPr>
        <p:spPr>
          <a:xfrm>
            <a:off x="6233008" y="1335024"/>
            <a:ext cx="5501488" cy="3863340"/>
          </a:xfrm>
          <a:prstGeom prst="roundRect">
            <a:avLst>
              <a:gd name="adj" fmla="val 331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92400E"/>
                </a:solidFill>
                <a:latin typeface="Segoe UI"/>
              </a:rPr>
              <a:t>“</a:t>
            </a:r>
          </a:p>
        </p:txBody>
      </p:sp>
      <p:sp>
        <p:nvSpPr>
          <p:cNvPr id="10" name="TextBox 9"/>
          <p:cNvSpPr txBox="1"/>
          <p:nvPr/>
        </p:nvSpPr>
        <p:spPr>
          <a:xfrm>
            <a:off x="6507328" y="2779014"/>
            <a:ext cx="4952848" cy="138684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Jo rule aap kaagaz par utaar sakte hain, use nibha bhi sakte hain. Aaj aapne apna rule ek-ek box karke utaara.</a:t>
            </a:r>
          </a:p>
        </p:txBody>
      </p:sp>
      <p:sp>
        <p:nvSpPr>
          <p:cNvPr id="11" name="Rounded Rectangle 10"/>
          <p:cNvSpPr/>
          <p:nvPr/>
        </p:nvSpPr>
        <p:spPr>
          <a:xfrm>
            <a:off x="457200" y="5344668"/>
            <a:ext cx="4469214"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Agla: Day 17 · Backtest Level 1: haath se, samajh ke</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0B1B33"/>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0B1B33"/>
                </a:solidFill>
                <a:latin typeface="Segoe UI"/>
              </a:rPr>
              <a:t>17</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0B1B33"/>
                </a:solidFill>
                <a:latin typeface="Segoe UI"/>
              </a:rPr>
              <a:t>WEEK 3</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0B1B33"/>
                </a:solidFill>
                <a:latin typeface="Segoe UI"/>
              </a:rPr>
              <a:t>Apna system banao, khud ko bachao</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90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Backtest Level 1: haath se, samajh ke</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8658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30-trade manual backtest, costs ke baad R mein</a:t>
            </a:r>
          </a:p>
        </p:txBody>
      </p:sp>
      <p:sp>
        <p:nvSpPr>
          <p:cNvPr id="12" name="Rounded Rectangle 11"/>
          <p:cNvSpPr/>
          <p:nvPr/>
        </p:nvSpPr>
        <p:spPr>
          <a:xfrm>
            <a:off x="4572000" y="2898648"/>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2898648"/>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Backtest stats sheet aur bias audit</a:t>
            </a:r>
          </a:p>
        </p:txBody>
      </p:sp>
      <p:sp>
        <p:nvSpPr>
          <p:cNvPr id="14" name="Rounded Rectangle 13"/>
          <p:cNvSpPr/>
          <p:nvPr/>
        </p:nvSpPr>
        <p:spPr>
          <a:xfrm>
            <a:off x="4572000" y="3410712"/>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410712"/>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Curve-fitting wali ummeed</a:t>
            </a:r>
          </a:p>
        </p:txBody>
      </p:sp>
      <p:sp>
        <p:nvSpPr>
          <p:cNvPr id="16" name="TextBox 15"/>
          <p:cNvSpPr txBox="1"/>
          <p:nvPr/>
        </p:nvSpPr>
        <p:spPr>
          <a:xfrm>
            <a:off x="4572000" y="4096512"/>
            <a:ext cx="7162495"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AAJ KE BAAD</a:t>
            </a:r>
          </a:p>
        </p:txBody>
      </p:sp>
      <p:sp>
        <p:nvSpPr>
          <p:cNvPr id="17" name="TextBox 16"/>
          <p:cNvSpPr txBox="1"/>
          <p:nvPr/>
        </p:nvSpPr>
        <p:spPr>
          <a:xfrm>
            <a:off x="4572000" y="4370832"/>
            <a:ext cx="7162495" cy="125577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Aaj ke baad aap bina aage jhaanke backtest kar payenge, har trade costs aur gaps ke baad R mein log kar payenge, win-rate, expectancy, maximum drawdown aur longest losing streak padh payenge, aur kisi bhi backtest mein, apne mein bhi, look-ahead, survivorship aur curve-fitting pakad payenge.</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KAHANI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Das mein se das</a:t>
            </a:r>
          </a:p>
        </p:txBody>
      </p:sp>
      <p:sp>
        <p:nvSpPr>
          <p:cNvPr id="4" name="Rounded Rectangle 3"/>
          <p:cNvSpPr/>
          <p:nvPr/>
        </p:nvSpPr>
        <p:spPr>
          <a:xfrm>
            <a:off x="457200" y="1426464"/>
            <a:ext cx="3649370" cy="3377184"/>
          </a:xfrm>
          <a:prstGeom prst="roundRect">
            <a:avLst>
              <a:gd name="adj" fmla="val 379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291998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Sunday raat. Aman study group mein ek chart post karta hai, hare arrows se bhara hua.</a:t>
            </a:r>
          </a:p>
        </p:txBody>
      </p:sp>
      <p:sp>
        <p:nvSpPr>
          <p:cNvPr id="7" name="Rounded Rectangle 6"/>
          <p:cNvSpPr/>
          <p:nvPr/>
        </p:nvSpPr>
        <p:spPr>
          <a:xfrm>
            <a:off x="4271162" y="1426464"/>
            <a:ext cx="3649370" cy="3377184"/>
          </a:xfrm>
          <a:prstGeom prst="roundRect">
            <a:avLst>
              <a:gd name="adj" fmla="val 379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2142744"/>
          </a:xfrm>
          <a:prstGeom prst="wedgeRoundRectCallout">
            <a:avLst>
              <a:gd name="adj1" fmla="val -41915"/>
              <a:gd name="adj2" fmla="val -58534"/>
              <a:gd name="adj3" fmla="val 5120"/>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185013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maine Bharat Pumps Ltd par EMA Pullback ka backtest kar liya. Das trades, nau winners. Phir EMA 20 ko EMA 18 kiya aur RSI band 42-48 kar diya, toh dason jeet gaye. Bas, yahi hai woh strategy.</a:t>
            </a:r>
          </a:p>
        </p:txBody>
      </p:sp>
      <p:sp>
        <p:nvSpPr>
          <p:cNvPr id="13" name="Rounded Rectangle 12"/>
          <p:cNvSpPr/>
          <p:nvPr/>
        </p:nvSpPr>
        <p:spPr>
          <a:xfrm>
            <a:off x="8085125" y="1426464"/>
            <a:ext cx="3649370" cy="3377184"/>
          </a:xfrm>
          <a:prstGeom prst="roundRect">
            <a:avLst>
              <a:gd name="adj" fmla="val 379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106424"/>
          </a:xfrm>
          <a:prstGeom prst="wedgeRoundRectCallout">
            <a:avLst>
              <a:gd name="adj1" fmla="val -41915"/>
              <a:gd name="adj2" fmla="val -66528"/>
              <a:gd name="adj3" fmla="val 9917"/>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8138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Aman, woh das trades tumne chune kaise? Aur costs minus kiye ya nahi?</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KAHANI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Das mein se das</a:t>
            </a:r>
          </a:p>
        </p:txBody>
      </p:sp>
      <p:sp>
        <p:nvSpPr>
          <p:cNvPr id="4" name="Rounded Rectangle 3"/>
          <p:cNvSpPr/>
          <p:nvPr/>
        </p:nvSpPr>
        <p:spPr>
          <a:xfrm>
            <a:off x="457200"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1624584"/>
          </a:xfrm>
          <a:prstGeom prst="wedgeRoundRectCallout">
            <a:avLst>
              <a:gd name="adj1" fmla="val -41915"/>
              <a:gd name="adj2" fmla="val -61257"/>
              <a:gd name="adj3" fmla="val 6754"/>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13319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Achhe sawaal hain. Aman, jab aap har entry mark kar rahe the, kya aage ka chart pehle se dikh raha tha? Aur EMA 18 hi kyun?</a:t>
            </a:r>
          </a:p>
        </p:txBody>
      </p:sp>
      <p:sp>
        <p:nvSpPr>
          <p:cNvPr id="10" name="Rounded Rectangle 9"/>
          <p:cNvSpPr/>
          <p:nvPr/>
        </p:nvSpPr>
        <p:spPr>
          <a:xfrm>
            <a:off x="4271162"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1106424"/>
          </a:xfrm>
          <a:prstGeom prst="wedgeRoundRectCallout">
            <a:avLst>
              <a:gd name="adj1" fmla="val -41915"/>
              <a:gd name="adj2" fmla="val -66528"/>
              <a:gd name="adj3" fmla="val 9917"/>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8138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Umm... haan, poora chart khula tha. EMA 18 bas un das trades par zyada fit baith raha tha.</a:t>
            </a:r>
          </a:p>
        </p:txBody>
      </p:sp>
      <p:sp>
        <p:nvSpPr>
          <p:cNvPr id="16" name="Rounded Rectangle 15"/>
          <p:cNvSpPr/>
          <p:nvPr/>
        </p:nvSpPr>
        <p:spPr>
          <a:xfrm>
            <a:off x="8085125"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2660904"/>
          </a:xfrm>
          <a:prstGeom prst="wedgeRoundRectCallout">
            <a:avLst>
              <a:gd name="adj1" fmla="val -41915"/>
              <a:gd name="adj2" fmla="val -56872"/>
              <a:gd name="adj3" fmla="val 4123"/>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23682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Toh aapne rule nahi, apni yaaddasht test ki, aur upar se rule ko past ke hisaab se mod diya. Aaj hum imaandari se test karenge: stocks aur dates pehle tay, aage ka chart chhupa hua, tees trades, aur costs minus karke. Number chhota aayega. Par woh imaandar hoga.</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6429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Seekh</a:t>
            </a:r>
          </a:p>
        </p:txBody>
      </p:sp>
      <p:sp>
        <p:nvSpPr>
          <p:cNvPr id="24" name="TextBox 23"/>
          <p:cNvSpPr txBox="1"/>
          <p:nvPr/>
        </p:nvSpPr>
        <p:spPr>
          <a:xfrm>
            <a:off x="1411050" y="5760720"/>
            <a:ext cx="1014056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Backtest past se poocha gaya ek sawaal hai. Imaandari se poochiye, aur tab bhi yeh aane wale kal ka koi vada nahi karta.</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Backtest nets ki practice hai, match nahi</a:t>
            </a:r>
          </a:p>
        </p:txBody>
      </p:sp>
      <p:sp>
        <p:nvSpPr>
          <p:cNvPr id="4" name="TextBox 3"/>
          <p:cNvSpPr txBox="1"/>
          <p:nvPr/>
        </p:nvSpPr>
        <p:spPr>
          <a:xfrm>
            <a:off x="457200" y="1335024"/>
            <a:ext cx="5519776" cy="2160270"/>
          </a:xfrm>
          <a:prstGeom prst="rect">
            <a:avLst/>
          </a:prstGeom>
          <a:noFill/>
        </p:spPr>
        <p:txBody>
          <a:bodyPr wrap="square" lIns="0" rIns="0" tIns="0" bIns="0" anchor="t">
            <a:noAutofit/>
          </a:bodyPr>
          <a:lstStyle/>
          <a:p>
            <a:pPr algn="l" marL="274320" indent="-274320">
              <a:lnSpc>
                <a:spcPct val="100000"/>
              </a:lnSpc>
              <a:spcAft>
                <a:spcPts val="750"/>
              </a:spcAft>
              <a:buClr>
                <a:srgbClr val="F5A623"/>
              </a:buClr>
              <a:buFont typeface="Arial"/>
              <a:buChar char="•"/>
            </a:pPr>
            <a:r>
              <a:rPr sz="1500" b="0" i="0">
                <a:solidFill>
                  <a:srgbClr val="18232F"/>
                </a:solidFill>
                <a:latin typeface="Segoe UI"/>
              </a:rPr>
              <a:t>Backtest ka matlab hai apne likhe hue rules ko purane charts par chalana aur dekhna ki tab kya hota.</a:t>
            </a:r>
          </a:p>
          <a:p>
            <a:pPr algn="l" marL="274320" indent="-274320">
              <a:lnSpc>
                <a:spcPct val="100000"/>
              </a:lnSpc>
              <a:spcAft>
                <a:spcPts val="750"/>
              </a:spcAft>
              <a:buClr>
                <a:srgbClr val="F5A623"/>
              </a:buClr>
              <a:buFont typeface="Arial"/>
              <a:buChar char="•"/>
            </a:pPr>
            <a:r>
              <a:rPr sz="1500" b="0" i="0">
                <a:solidFill>
                  <a:srgbClr val="18232F"/>
                </a:solidFill>
                <a:latin typeface="Segoe UI"/>
              </a:rPr>
              <a:t>Ise bowling machine ke saamne nets ki practice samjhiye: kaam ki cheez hai, lekin asli match ki century nahi.</a:t>
            </a:r>
          </a:p>
          <a:p>
            <a:pPr algn="l" marL="274320" indent="-274320">
              <a:lnSpc>
                <a:spcPct val="100000"/>
              </a:lnSpc>
              <a:spcAft>
                <a:spcPts val="750"/>
              </a:spcAft>
              <a:buClr>
                <a:srgbClr val="F5A623"/>
              </a:buClr>
              <a:buFont typeface="Arial"/>
              <a:buChar char="•"/>
            </a:pPr>
            <a:r>
              <a:rPr sz="1500" b="0" i="0">
                <a:solidFill>
                  <a:srgbClr val="18232F"/>
                </a:solidFill>
                <a:latin typeface="Segoe UI"/>
              </a:rPr>
              <a:t>Day 12 ki paper trading aapke rules ko aage ke dinon par, ek-ek din karke test karti hai.</a:t>
            </a:r>
          </a:p>
          <a:p>
            <a:pPr algn="l" marL="274320" indent="-274320">
              <a:lnSpc>
                <a:spcPct val="100000"/>
              </a:lnSpc>
              <a:buClr>
                <a:srgbClr val="F5A623"/>
              </a:buClr>
              <a:buFont typeface="Arial"/>
              <a:buChar char="•"/>
            </a:pPr>
            <a:r>
              <a:rPr sz="1500" b="0" i="0">
                <a:solidFill>
                  <a:srgbClr val="18232F"/>
                </a:solidFill>
                <a:latin typeface="Segoe UI"/>
              </a:rPr>
              <a:t>Backtest wahi rules pichhle saalon par chalata hai, toh 30 trades mahino ki jagah kuch ghanton mein dikh jaate hain.</a:t>
            </a:r>
          </a:p>
        </p:txBody>
      </p:sp>
      <p:sp>
        <p:nvSpPr>
          <p:cNvPr id="5" name="Rounded Rectangle 4"/>
          <p:cNvSpPr/>
          <p:nvPr/>
        </p:nvSpPr>
        <p:spPr>
          <a:xfrm>
            <a:off x="6214720" y="1335024"/>
            <a:ext cx="5519776" cy="2314956"/>
          </a:xfrm>
          <a:prstGeom prst="roundRect">
            <a:avLst>
              <a:gd name="adj" fmla="val 473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1857756"/>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TradingView kholne se pehle Priya Google Sheet ke sabse upar apna test plan type karti hai: 'EMA Pullback Swing, Day 11 ka Rule Card Day 16 wale yes/no roop mein, v1 naam se save. Sharma Textiles Ltd, Gupta Cement Ltd aur Kiran Foods Ltd ke daily charts (koi bhi chart kholne se pehle likhi gayi list se random chune gaye, aur jo naam nikle sab rakhe), 1 Jan 2023 se 31 Dec 2025 tak. Signal candle ke baad agle din ke open par entry. Stop entry se 1.5 x ATR(14) neeche. Exit 2.5R par ya 15 din ke time exit par. Costs har trade par 0.1R (Day 12 wala allowance). Trade 30 tak koi rule change nahi. … Uska poora plan Aaj Ka Kaam mein 'Aapka template' wala model card hai.</a:t>
            </a:r>
          </a:p>
        </p:txBody>
      </p:sp>
      <p:sp>
        <p:nvSpPr>
          <p:cNvPr id="8" name="Rounded Rectangle 7"/>
          <p:cNvSpPr/>
          <p:nvPr/>
        </p:nvSpPr>
        <p:spPr>
          <a:xfrm>
            <a:off x="457200" y="3814572"/>
            <a:ext cx="11277295" cy="1799844"/>
          </a:xfrm>
          <a:prstGeom prst="roundRect">
            <a:avLst>
              <a:gd name="adj" fmla="val 609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960876"/>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Imaandar backtest</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Har step khud ko bewakoof banane ka ek raasta band karta hai. Ek bhi chhodiye, toh result aapki jhoothi taareef karega.</a:t>
            </a:r>
          </a:p>
        </p:txBody>
      </p:sp>
      <p:sp>
        <p:nvSpPr>
          <p:cNvPr id="11" name="Rounded Rectangle 10"/>
          <p:cNvSpPr/>
          <p:nvPr/>
        </p:nvSpPr>
        <p:spPr>
          <a:xfrm>
            <a:off x="640080" y="4287774"/>
            <a:ext cx="1498549" cy="935736"/>
          </a:xfrm>
          <a:prstGeom prst="roundRect">
            <a:avLst>
              <a:gd name="adj" fmla="val 977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49808" y="4287774"/>
            <a:ext cx="1279093" cy="93573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Rule Card</a:t>
            </a:r>
          </a:p>
          <a:p>
            <a:pPr algn="ctr">
              <a:lnSpc>
                <a:spcPct val="100000"/>
              </a:lnSpc>
            </a:pPr>
            <a:r>
              <a:rPr sz="1100" b="0" i="0">
                <a:solidFill>
                  <a:srgbClr val="47596B"/>
                </a:solidFill>
                <a:latin typeface="Segoe UI"/>
              </a:rPr>
              <a:t>30 trades tak fixed</a:t>
            </a:r>
          </a:p>
        </p:txBody>
      </p:sp>
      <p:sp>
        <p:nvSpPr>
          <p:cNvPr id="13" name="Right Arrow 12"/>
          <p:cNvSpPr/>
          <p:nvPr/>
        </p:nvSpPr>
        <p:spPr>
          <a:xfrm>
            <a:off x="2193493" y="46642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2522677" y="4287774"/>
            <a:ext cx="1498549" cy="935736"/>
          </a:xfrm>
          <a:prstGeom prst="roundRect">
            <a:avLst>
              <a:gd name="adj" fmla="val 977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2632405" y="4287774"/>
            <a:ext cx="1279093" cy="93573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Test plan</a:t>
            </a:r>
          </a:p>
          <a:p>
            <a:pPr algn="ctr">
              <a:lnSpc>
                <a:spcPct val="100000"/>
              </a:lnSpc>
            </a:pPr>
            <a:r>
              <a:rPr sz="1100" b="0" i="0">
                <a:solidFill>
                  <a:srgbClr val="47596B"/>
                </a:solidFill>
                <a:latin typeface="Segoe UI"/>
              </a:rPr>
              <a:t>Stocks aur dates pehle</a:t>
            </a:r>
          </a:p>
        </p:txBody>
      </p:sp>
      <p:sp>
        <p:nvSpPr>
          <p:cNvPr id="16" name="Right Arrow 15"/>
          <p:cNvSpPr/>
          <p:nvPr/>
        </p:nvSpPr>
        <p:spPr>
          <a:xfrm>
            <a:off x="4076090" y="46642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4405274" y="4287774"/>
            <a:ext cx="1498549" cy="935736"/>
          </a:xfrm>
          <a:prstGeom prst="roundRect">
            <a:avLst>
              <a:gd name="adj" fmla="val 977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4515002" y="4287774"/>
            <a:ext cx="1279093" cy="93573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Aage ka chart chhupaiye</a:t>
            </a:r>
          </a:p>
          <a:p>
            <a:pPr algn="ctr">
              <a:lnSpc>
                <a:spcPct val="100000"/>
              </a:lnSpc>
            </a:pPr>
            <a:r>
              <a:rPr sz="1100" b="0" i="0">
                <a:solidFill>
                  <a:srgbClr val="47596B"/>
                </a:solidFill>
                <a:latin typeface="Segoe UI"/>
              </a:rPr>
              <a:t>Ek baar mein ek candle</a:t>
            </a:r>
          </a:p>
        </p:txBody>
      </p:sp>
      <p:sp>
        <p:nvSpPr>
          <p:cNvPr id="19" name="Right Arrow 18"/>
          <p:cNvSpPr/>
          <p:nvPr/>
        </p:nvSpPr>
        <p:spPr>
          <a:xfrm>
            <a:off x="5958688" y="46642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ounded Rectangle 19"/>
          <p:cNvSpPr/>
          <p:nvPr/>
        </p:nvSpPr>
        <p:spPr>
          <a:xfrm>
            <a:off x="6287872" y="4287774"/>
            <a:ext cx="1498549" cy="935736"/>
          </a:xfrm>
          <a:prstGeom prst="roundRect">
            <a:avLst>
              <a:gd name="adj" fmla="val 977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6397600" y="4287774"/>
            <a:ext cx="1279093" cy="93573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R mein log</a:t>
            </a:r>
          </a:p>
          <a:p>
            <a:pPr algn="ctr">
              <a:lnSpc>
                <a:spcPct val="100000"/>
              </a:lnSpc>
            </a:pPr>
            <a:r>
              <a:rPr sz="1100" b="0" i="0">
                <a:solidFill>
                  <a:srgbClr val="47596B"/>
                </a:solidFill>
                <a:latin typeface="Segoe UI"/>
              </a:rPr>
              <a:t>Costs aur gaps ke baad</a:t>
            </a:r>
          </a:p>
        </p:txBody>
      </p:sp>
      <p:sp>
        <p:nvSpPr>
          <p:cNvPr id="22" name="Right Arrow 21"/>
          <p:cNvSpPr/>
          <p:nvPr/>
        </p:nvSpPr>
        <p:spPr>
          <a:xfrm>
            <a:off x="7841285" y="46642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8170469" y="4287774"/>
            <a:ext cx="1498549" cy="935736"/>
          </a:xfrm>
          <a:prstGeom prst="roundRect">
            <a:avLst>
              <a:gd name="adj" fmla="val 977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8280197" y="4287774"/>
            <a:ext cx="1279093" cy="93573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30 trades</a:t>
            </a:r>
          </a:p>
          <a:p>
            <a:pPr algn="ctr">
              <a:lnSpc>
                <a:spcPct val="100000"/>
              </a:lnSpc>
            </a:pPr>
            <a:r>
              <a:rPr sz="1100" b="0" i="0">
                <a:solidFill>
                  <a:srgbClr val="47596B"/>
                </a:solidFill>
                <a:latin typeface="Segoe UI"/>
              </a:rPr>
              <a:t>Phir numbers padhiye</a:t>
            </a:r>
          </a:p>
        </p:txBody>
      </p:sp>
      <p:sp>
        <p:nvSpPr>
          <p:cNvPr id="25" name="Right Arrow 24"/>
          <p:cNvSpPr/>
          <p:nvPr/>
        </p:nvSpPr>
        <p:spPr>
          <a:xfrm>
            <a:off x="9723882" y="46642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10053066" y="4287774"/>
            <a:ext cx="1498549" cy="935736"/>
          </a:xfrm>
          <a:prstGeom prst="roundRect">
            <a:avLst>
              <a:gd name="adj" fmla="val 9771"/>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10162794" y="4287774"/>
            <a:ext cx="1279093" cy="93573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Report</a:t>
            </a:r>
          </a:p>
          <a:p>
            <a:pPr algn="ctr">
              <a:lnSpc>
                <a:spcPct val="100000"/>
              </a:lnSpc>
            </a:pPr>
            <a:r>
              <a:rPr sz="1100" b="0" i="0">
                <a:solidFill>
                  <a:srgbClr val="47596B"/>
                </a:solidFill>
                <a:latin typeface="Segoe UI"/>
              </a:rPr>
              <a:t>Hypothetical label ke saath</a:t>
            </a:r>
          </a:p>
        </p:txBody>
      </p:sp>
      <p:sp>
        <p:nvSpPr>
          <p:cNvPr id="28" name="Rounded Rectangle 27"/>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Rounded Rectangle 28"/>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0" name="TextBox 29"/>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Stocks, dates aur rules chart khulne se pehle kaagaz par. Har result hypothetical hai.</a:t>
            </a:r>
          </a:p>
        </p:txBody>
      </p:sp>
      <p:pic>
        <p:nvPicPr>
          <p:cNvPr id="31" name="Picture 30" descr="logo.png"/>
          <p:cNvPicPr>
            <a:picLocks noChangeAspect="1"/>
          </p:cNvPicPr>
          <p:nvPr/>
        </p:nvPicPr>
        <p:blipFill>
          <a:blip r:embed="rId2"/>
          <a:stretch>
            <a:fillRect/>
          </a:stretch>
        </p:blipFill>
        <p:spPr>
          <a:xfrm>
            <a:off x="457200" y="6437376"/>
            <a:ext cx="237744" cy="237744"/>
          </a:xfrm>
          <a:prstGeom prst="rect">
            <a:avLst/>
          </a:prstGeom>
        </p:spPr>
      </p:pic>
      <p:sp>
        <p:nvSpPr>
          <p:cNvPr id="32"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3" name="TextBox 32"/>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Aage ka chart chhupaiye: look-ahead bias</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Look-ahead bias ka matlab hai test mein aisi jaankari use karna jo decision ke waqt aapke paas ho hi nahi sakti thi.</a:t>
            </a:r>
          </a:p>
          <a:p>
            <a:pPr algn="l" marL="274320" indent="-274320">
              <a:lnSpc>
                <a:spcPct val="100000"/>
              </a:lnSpc>
              <a:spcAft>
                <a:spcPts val="800"/>
              </a:spcAft>
              <a:buClr>
                <a:srgbClr val="F5A623"/>
              </a:buClr>
              <a:buFont typeface="Arial"/>
              <a:buChar char="•"/>
            </a:pPr>
            <a:r>
              <a:rPr sz="1600" b="0" i="0">
                <a:solidFill>
                  <a:srgbClr val="18232F"/>
                </a:solidFill>
                <a:latin typeface="Segoe UI"/>
              </a:rPr>
              <a:t>Yeh waisa hi hai jaise result jaanne ke baad match ki highlights dekhna: har shot obvious lagta hai.</a:t>
            </a:r>
          </a:p>
          <a:p>
            <a:pPr algn="l" marL="274320" indent="-274320">
              <a:lnSpc>
                <a:spcPct val="100000"/>
              </a:lnSpc>
              <a:spcAft>
                <a:spcPts val="800"/>
              </a:spcAft>
              <a:buClr>
                <a:srgbClr val="F5A623"/>
              </a:buClr>
              <a:buFont typeface="Arial"/>
              <a:buChar char="•"/>
            </a:pPr>
            <a:r>
              <a:rPr sz="1600" b="0" i="0">
                <a:solidFill>
                  <a:srgbClr val="18232F"/>
                </a:solidFill>
                <a:latin typeface="Segoe UI"/>
              </a:rPr>
              <a:t>Yeh teen raaston se ghusta hai: poora chart saamne dikh raha ho.</a:t>
            </a:r>
          </a:p>
          <a:p>
            <a:pPr algn="l" marL="274320" indent="-274320">
              <a:lnSpc>
                <a:spcPct val="100000"/>
              </a:lnSpc>
              <a:buClr>
                <a:srgbClr val="F5A623"/>
              </a:buClr>
              <a:buFont typeface="Arial"/>
              <a:buChar char="•"/>
            </a:pPr>
            <a:r>
              <a:rPr sz="1600" b="0" i="0">
                <a:solidFill>
                  <a:srgbClr val="18232F"/>
                </a:solidFill>
                <a:latin typeface="Segoe UI"/>
              </a:rPr>
              <a:t>Aap us price par khareedein jo baad mein hi pata chala, jaise pullback ka bilkul bottom.</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Kiran Foods Ltd par ek pullback Rs 482 par bottom banata hai, aur agli candle Rs 497 par close hoti hai, pichhle din ke high Rs 494 ke upar: yahi signal hai. ATR(14) Rs 14 hai. Agle din open Rs 500 hai, Day 11 ki dono limits ke andar (497 + 0.5 x 14 = Rs 504 se upar nahi, signal-day low Rs 485 se neeche nahi), toh Priya ki imaandar entry Rs 500 hai. … Wahi trade 43% behtar dikhne lagta hai, sirf isliye ki usne aage jhaank liya.</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Asal mein kahan khareed sakte the?</a:t>
            </a:r>
          </a:p>
        </p:txBody>
      </p:sp>
      <p:sp>
        <p:nvSpPr>
          <p:cNvPr id="11" name="TextBox 10"/>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Rs 482 ka bottom baad ki candles chadhne ke baad hi dikhta hai. Signal close par confirm hota hai, isliye asli entry agla open hai, Rs 500.</a:t>
            </a:r>
          </a:p>
        </p:txBody>
      </p:sp>
      <p:cxnSp>
        <p:nvCxnSpPr>
          <p:cNvPr id="12" name="Connector 11"/>
          <p:cNvCxnSpPr/>
          <p:nvPr/>
        </p:nvCxnSpPr>
        <p:spPr>
          <a:xfrm>
            <a:off x="6812159" y="4681728"/>
            <a:ext cx="3862090"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59943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462.1</a:t>
            </a:r>
          </a:p>
        </p:txBody>
      </p:sp>
      <p:cxnSp>
        <p:nvCxnSpPr>
          <p:cNvPr id="14" name="Connector 13"/>
          <p:cNvCxnSpPr/>
          <p:nvPr/>
        </p:nvCxnSpPr>
        <p:spPr>
          <a:xfrm>
            <a:off x="6812159" y="3915156"/>
            <a:ext cx="3862090"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83286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481.0</a:t>
            </a:r>
          </a:p>
        </p:txBody>
      </p:sp>
      <p:cxnSp>
        <p:nvCxnSpPr>
          <p:cNvPr id="16" name="Connector 15"/>
          <p:cNvCxnSpPr/>
          <p:nvPr/>
        </p:nvCxnSpPr>
        <p:spPr>
          <a:xfrm>
            <a:off x="6812159" y="3148584"/>
            <a:ext cx="3862090"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3066288"/>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500.0</a:t>
            </a:r>
          </a:p>
        </p:txBody>
      </p:sp>
      <p:cxnSp>
        <p:nvCxnSpPr>
          <p:cNvPr id="18" name="Connector 17"/>
          <p:cNvCxnSpPr/>
          <p:nvPr/>
        </p:nvCxnSpPr>
        <p:spPr>
          <a:xfrm>
            <a:off x="6812159" y="2382012"/>
            <a:ext cx="3862090"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299716"/>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518.9</a:t>
            </a:r>
          </a:p>
        </p:txBody>
      </p:sp>
      <p:cxnSp>
        <p:nvCxnSpPr>
          <p:cNvPr id="20" name="Connector 19"/>
          <p:cNvCxnSpPr/>
          <p:nvPr/>
        </p:nvCxnSpPr>
        <p:spPr>
          <a:xfrm>
            <a:off x="6812159" y="3875775"/>
            <a:ext cx="3898666"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747401" y="3784335"/>
            <a:ext cx="804214"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Bottom 482</a:t>
            </a:r>
          </a:p>
        </p:txBody>
      </p:sp>
      <p:cxnSp>
        <p:nvCxnSpPr>
          <p:cNvPr id="22" name="Connector 21"/>
          <p:cNvCxnSpPr/>
          <p:nvPr/>
        </p:nvCxnSpPr>
        <p:spPr>
          <a:xfrm>
            <a:off x="7005264" y="4118532"/>
            <a:ext cx="0" cy="404595"/>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6889401" y="4199451"/>
            <a:ext cx="231725" cy="242757"/>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4" name="Connector 23"/>
          <p:cNvCxnSpPr/>
          <p:nvPr/>
        </p:nvCxnSpPr>
        <p:spPr>
          <a:xfrm>
            <a:off x="7391473" y="3713938"/>
            <a:ext cx="0" cy="56643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7275610" y="3794857"/>
            <a:ext cx="231725" cy="40459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6" name="Connector 25"/>
          <p:cNvCxnSpPr/>
          <p:nvPr/>
        </p:nvCxnSpPr>
        <p:spPr>
          <a:xfrm>
            <a:off x="7777682" y="3228424"/>
            <a:ext cx="0" cy="60689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661819" y="3309343"/>
            <a:ext cx="231725" cy="48551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8" name="Connector 27"/>
          <p:cNvCxnSpPr/>
          <p:nvPr/>
        </p:nvCxnSpPr>
        <p:spPr>
          <a:xfrm>
            <a:off x="8163891" y="2742910"/>
            <a:ext cx="0" cy="64735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8048028" y="2823829"/>
            <a:ext cx="231725" cy="48551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8550100" y="2540613"/>
            <a:ext cx="0" cy="44505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8434237" y="2823829"/>
            <a:ext cx="231725" cy="8091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8936309" y="2823829"/>
            <a:ext cx="0" cy="44505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8820446" y="2904748"/>
            <a:ext cx="231725" cy="28321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4" name="Connector 33"/>
          <p:cNvCxnSpPr/>
          <p:nvPr/>
        </p:nvCxnSpPr>
        <p:spPr>
          <a:xfrm>
            <a:off x="9322518" y="3107046"/>
            <a:ext cx="0" cy="44505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9206655" y="3187965"/>
            <a:ext cx="231725" cy="28321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9708727" y="3390262"/>
            <a:ext cx="0" cy="48551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9592864" y="3471181"/>
            <a:ext cx="231725" cy="24275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8" name="Connector 37"/>
          <p:cNvCxnSpPr/>
          <p:nvPr/>
        </p:nvCxnSpPr>
        <p:spPr>
          <a:xfrm>
            <a:off x="10094936" y="3228424"/>
            <a:ext cx="0" cy="525973"/>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9979073" y="3268883"/>
            <a:ext cx="231725" cy="44505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0" name="Connector 39"/>
          <p:cNvCxnSpPr/>
          <p:nvPr/>
        </p:nvCxnSpPr>
        <p:spPr>
          <a:xfrm>
            <a:off x="10481144" y="2783370"/>
            <a:ext cx="0" cy="445054"/>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0365282" y="2904748"/>
            <a:ext cx="231725" cy="242757"/>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2" name="Isosceles Triangle 41"/>
          <p:cNvSpPr/>
          <p:nvPr/>
        </p:nvSpPr>
        <p:spPr>
          <a:xfrm>
            <a:off x="9653863" y="3921495"/>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3" name="TextBox 42"/>
          <p:cNvSpPr txBox="1"/>
          <p:nvPr/>
        </p:nvSpPr>
        <p:spPr>
          <a:xfrm>
            <a:off x="9174542" y="4031223"/>
            <a:ext cx="1068369"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Baad mein dikha</a:t>
            </a:r>
          </a:p>
        </p:txBody>
      </p:sp>
      <p:sp>
        <p:nvSpPr>
          <p:cNvPr id="44" name="Isosceles Triangle 43"/>
          <p:cNvSpPr/>
          <p:nvPr/>
        </p:nvSpPr>
        <p:spPr>
          <a:xfrm rot="10800000">
            <a:off x="10040072" y="3091264"/>
            <a:ext cx="109728" cy="91440"/>
          </a:xfrm>
          <a:prstGeom prst="triangl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5" name="TextBox 44"/>
          <p:cNvSpPr txBox="1"/>
          <p:nvPr/>
        </p:nvSpPr>
        <p:spPr>
          <a:xfrm>
            <a:off x="9886148" y="2880952"/>
            <a:ext cx="417576" cy="192024"/>
          </a:xfrm>
          <a:prstGeom prst="rect">
            <a:avLst/>
          </a:prstGeom>
          <a:noFill/>
        </p:spPr>
        <p:txBody>
          <a:bodyPr wrap="square" lIns="0" rIns="0" tIns="0" bIns="0" anchor="ctr">
            <a:noAutofit/>
          </a:bodyPr>
          <a:lstStyle/>
          <a:p>
            <a:pPr algn="ctr">
              <a:lnSpc>
                <a:spcPct val="100000"/>
              </a:lnSpc>
            </a:pPr>
            <a:r>
              <a:rPr sz="1000" b="1" i="0">
                <a:solidFill>
                  <a:srgbClr val="92400E"/>
                </a:solidFill>
                <a:latin typeface="Segoe UI"/>
              </a:rPr>
              <a:t>Signal</a:t>
            </a:r>
          </a:p>
        </p:txBody>
      </p:sp>
      <p:sp>
        <p:nvSpPr>
          <p:cNvPr id="46" name="Isosceles Triangle 45"/>
          <p:cNvSpPr/>
          <p:nvPr/>
        </p:nvSpPr>
        <p:spPr>
          <a:xfrm rot="10800000">
            <a:off x="10426280" y="2646210"/>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7" name="TextBox 46"/>
          <p:cNvSpPr txBox="1"/>
          <p:nvPr/>
        </p:nvSpPr>
        <p:spPr>
          <a:xfrm>
            <a:off x="10169004" y="2243874"/>
            <a:ext cx="624280"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Entry 500</a:t>
            </a:r>
          </a:p>
        </p:txBody>
      </p:sp>
      <p:sp>
        <p:nvSpPr>
          <p:cNvPr id="48" name="Rounded Rectangle 47"/>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9" name="Rounded Rectangle 48"/>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50" name="TextBox 49"/>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Jo baat us waqt aapko pata nahi ho sakti thi, woh backtest mein nahi aa sakti.</a:t>
            </a:r>
          </a:p>
        </p:txBody>
      </p:sp>
      <p:pic>
        <p:nvPicPr>
          <p:cNvPr id="51" name="Picture 50" descr="logo.png"/>
          <p:cNvPicPr>
            <a:picLocks noChangeAspect="1"/>
          </p:cNvPicPr>
          <p:nvPr/>
        </p:nvPicPr>
        <p:blipFill>
          <a:blip r:embed="rId2"/>
          <a:stretch>
            <a:fillRect/>
          </a:stretch>
        </p:blipFill>
        <p:spPr>
          <a:xfrm>
            <a:off x="457200" y="6437376"/>
            <a:ext cx="237744" cy="237744"/>
          </a:xfrm>
          <a:prstGeom prst="rect">
            <a:avLst/>
          </a:prstGeom>
        </p:spPr>
      </p:pic>
      <p:sp>
        <p:nvSpPr>
          <p:cNvPr id="52"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53" name="TextBox 52"/>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Har trade R mein likhiye, costs aur gaps ke baad</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1R woh risk hai jo aapne ek trade par plan kiya tha (Day 3)</a:t>
            </a:r>
          </a:p>
          <a:p>
            <a:pPr algn="l" marL="274320" indent="-274320">
              <a:lnSpc>
                <a:spcPct val="100000"/>
              </a:lnSpc>
              <a:spcAft>
                <a:spcPts val="800"/>
              </a:spcAft>
              <a:buClr>
                <a:srgbClr val="F5A623"/>
              </a:buClr>
              <a:buFont typeface="Arial"/>
              <a:buChar char="•"/>
            </a:pPr>
            <a:r>
              <a:rPr sz="1600" b="0" i="0">
                <a:solidFill>
                  <a:srgbClr val="18232F"/>
                </a:solidFill>
                <a:latin typeface="Segoe UI"/>
              </a:rPr>
              <a:t>Per share yeh entry se stop tak ki doori hai.</a:t>
            </a:r>
          </a:p>
          <a:p>
            <a:pPr algn="l" marL="274320" indent="-274320">
              <a:lnSpc>
                <a:spcPct val="100000"/>
              </a:lnSpc>
              <a:spcAft>
                <a:spcPts val="800"/>
              </a:spcAft>
              <a:buClr>
                <a:srgbClr val="F5A623"/>
              </a:buClr>
              <a:buFont typeface="Arial"/>
              <a:buChar char="•"/>
            </a:pPr>
            <a:r>
              <a:rPr sz="1600" b="0" i="0">
                <a:solidFill>
                  <a:srgbClr val="18232F"/>
                </a:solidFill>
                <a:latin typeface="Segoe UI"/>
              </a:rPr>
              <a:t>EMA Pullback Swing sirf buy karti hai, isliye har trade par long wala formula lagega: R-multiple = (exit - entry) / (entry - stop).</a:t>
            </a:r>
          </a:p>
          <a:p>
            <a:pPr algn="l" marL="274320" indent="-274320">
              <a:lnSpc>
                <a:spcPct val="100000"/>
              </a:lnSpc>
              <a:buClr>
                <a:srgbClr val="F5A623"/>
              </a:buClr>
              <a:buFont typeface="Arial"/>
              <a:buChar char="•"/>
            </a:pPr>
            <a:r>
              <a:rPr sz="1600" b="0" i="0">
                <a:solidFill>
                  <a:srgbClr val="18232F"/>
                </a:solidFill>
                <a:latin typeface="Segoe UI"/>
              </a:rPr>
              <a:t>Agar 25% cap ne quantity kam kar di ho, tab bhi backtest mein R isi tarah per share log kijiye, kyunki backtest rule ko naapta hai.</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Priya ka Kiran Foods wala trade: entry Rs 500, stop Rs 479, yaani risk Rs 21 per share. Rs 10 lakh ki practice capital par 1R = Rs 10,000, toh woh 476 shares rakhti (10,000 / 21, neeche round kiya hua), jinki value Rs 2,38,000 hai, 25% cap ke andar. … Agar stock lower band par atka ho, toh exit us pehle din tak rukta hai jab sell fill ho sake.</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Ek trade, imaandari se log</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Charges aur slippage sirf misaal hain. Apne charges brokerage calculator ya contract note mein dekhiye.</a:t>
            </a:r>
          </a:p>
        </p:txBody>
      </p:sp>
      <p:sp>
        <p:nvSpPr>
          <p:cNvPr id="11" name="TextBox 10"/>
          <p:cNvSpPr txBox="1"/>
          <p:nvPr/>
        </p:nvSpPr>
        <p:spPr>
          <a:xfrm>
            <a:off x="6397600" y="1899666"/>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1899666"/>
            <a:ext cx="3898913"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Time exit - entry (542 - 500)</a:t>
            </a:r>
          </a:p>
        </p:txBody>
      </p:sp>
      <p:sp>
        <p:nvSpPr>
          <p:cNvPr id="13" name="TextBox 12"/>
          <p:cNvSpPr txBox="1"/>
          <p:nvPr/>
        </p:nvSpPr>
        <p:spPr>
          <a:xfrm>
            <a:off x="10662273" y="1899666"/>
            <a:ext cx="816190"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42</a:t>
            </a:r>
          </a:p>
        </p:txBody>
      </p:sp>
      <p:cxnSp>
        <p:nvCxnSpPr>
          <p:cNvPr id="14" name="Connector 13"/>
          <p:cNvCxnSpPr/>
          <p:nvPr/>
        </p:nvCxnSpPr>
        <p:spPr>
          <a:xfrm>
            <a:off x="6397600" y="2503170"/>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503170"/>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16" name="TextBox 15"/>
          <p:cNvSpPr txBox="1"/>
          <p:nvPr/>
        </p:nvSpPr>
        <p:spPr>
          <a:xfrm>
            <a:off x="6726784" y="2503170"/>
            <a:ext cx="3898913"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Risk per share (500 - 479)</a:t>
            </a:r>
          </a:p>
        </p:txBody>
      </p:sp>
      <p:sp>
        <p:nvSpPr>
          <p:cNvPr id="17" name="TextBox 16"/>
          <p:cNvSpPr txBox="1"/>
          <p:nvPr/>
        </p:nvSpPr>
        <p:spPr>
          <a:xfrm>
            <a:off x="10662273" y="2503170"/>
            <a:ext cx="816190"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21</a:t>
            </a:r>
          </a:p>
        </p:txBody>
      </p:sp>
      <p:cxnSp>
        <p:nvCxnSpPr>
          <p:cNvPr id="18" name="Connector 17"/>
          <p:cNvCxnSpPr/>
          <p:nvPr/>
        </p:nvCxnSpPr>
        <p:spPr>
          <a:xfrm>
            <a:off x="6397600" y="310667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3106674"/>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3106674"/>
            <a:ext cx="3898913"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Gross result</a:t>
            </a:r>
          </a:p>
        </p:txBody>
      </p:sp>
      <p:sp>
        <p:nvSpPr>
          <p:cNvPr id="21" name="TextBox 20"/>
          <p:cNvSpPr txBox="1"/>
          <p:nvPr/>
        </p:nvSpPr>
        <p:spPr>
          <a:xfrm>
            <a:off x="10662273" y="3106674"/>
            <a:ext cx="816190"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+2.00R</a:t>
            </a:r>
          </a:p>
        </p:txBody>
      </p:sp>
      <p:cxnSp>
        <p:nvCxnSpPr>
          <p:cNvPr id="22" name="Connector 21"/>
          <p:cNvCxnSpPr/>
          <p:nvPr/>
        </p:nvCxnSpPr>
        <p:spPr>
          <a:xfrm>
            <a:off x="6397600" y="3710178"/>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710178"/>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4" name="TextBox 23"/>
          <p:cNvSpPr txBox="1"/>
          <p:nvPr/>
        </p:nvSpPr>
        <p:spPr>
          <a:xfrm>
            <a:off x="6726784" y="3710178"/>
            <a:ext cx="3898913"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Costs + slippage (Rs 1,000 ÷ Rs 10,000)</a:t>
            </a:r>
          </a:p>
        </p:txBody>
      </p:sp>
      <p:sp>
        <p:nvSpPr>
          <p:cNvPr id="25" name="TextBox 24"/>
          <p:cNvSpPr txBox="1"/>
          <p:nvPr/>
        </p:nvSpPr>
        <p:spPr>
          <a:xfrm>
            <a:off x="10662273" y="3710178"/>
            <a:ext cx="816190"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0.10R</a:t>
            </a:r>
          </a:p>
        </p:txBody>
      </p:sp>
      <p:sp>
        <p:nvSpPr>
          <p:cNvPr id="26" name="Rounded Rectangle 25"/>
          <p:cNvSpPr/>
          <p:nvPr/>
        </p:nvSpPr>
        <p:spPr>
          <a:xfrm>
            <a:off x="6397600" y="4368546"/>
            <a:ext cx="5154016" cy="603504"/>
          </a:xfrm>
          <a:prstGeom prst="roundRect">
            <a:avLst>
              <a:gd name="adj" fmla="val 12121"/>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6397600" y="4368546"/>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8" name="TextBox 27"/>
          <p:cNvSpPr txBox="1"/>
          <p:nvPr/>
        </p:nvSpPr>
        <p:spPr>
          <a:xfrm>
            <a:off x="6726784" y="4368546"/>
            <a:ext cx="3898913" cy="603504"/>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Log mein net R</a:t>
            </a:r>
          </a:p>
        </p:txBody>
      </p:sp>
      <p:sp>
        <p:nvSpPr>
          <p:cNvPr id="29" name="TextBox 28"/>
          <p:cNvSpPr txBox="1"/>
          <p:nvPr/>
        </p:nvSpPr>
        <p:spPr>
          <a:xfrm>
            <a:off x="10662273" y="4368546"/>
            <a:ext cx="816190" cy="603504"/>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+1.90R</a:t>
            </a:r>
          </a:p>
        </p:txBody>
      </p:sp>
      <p:sp>
        <p:nvSpPr>
          <p:cNvPr id="30" name="Rounded Rectangle 29"/>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Rounded Rectangle 30"/>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2" name="TextBox 31"/>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Net R log kijiye, gross R nahi. Costs aur gaps result ka hissa hain, bad luck nahi.</a:t>
            </a:r>
          </a:p>
        </p:txBody>
      </p:sp>
      <p:pic>
        <p:nvPicPr>
          <p:cNvPr id="33" name="Picture 32" descr="logo.png"/>
          <p:cNvPicPr>
            <a:picLocks noChangeAspect="1"/>
          </p:cNvPicPr>
          <p:nvPr/>
        </p:nvPicPr>
        <p:blipFill>
          <a:blip r:embed="rId2"/>
          <a:stretch>
            <a:fillRect/>
          </a:stretch>
        </p:blipFill>
        <p:spPr>
          <a:xfrm>
            <a:off x="457200" y="6437376"/>
            <a:ext cx="237744" cy="237744"/>
          </a:xfrm>
          <a:prstGeom prst="rect">
            <a:avLst/>
          </a:prstGeom>
        </p:spPr>
      </p:pic>
      <p:sp>
        <p:nvSpPr>
          <p:cNvPr id="34"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5" name="TextBox 34"/>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Log padhiye: chaar numbers aur ek line</a:t>
            </a:r>
          </a:p>
        </p:txBody>
      </p:sp>
      <p:sp>
        <p:nvSpPr>
          <p:cNvPr id="4" name="TextBox 3"/>
          <p:cNvSpPr txBox="1"/>
          <p:nvPr/>
        </p:nvSpPr>
        <p:spPr>
          <a:xfrm>
            <a:off x="457200" y="1335024"/>
            <a:ext cx="5519776" cy="205740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30 trades log ho jaayein, toh chaar numbers padhiye.</a:t>
            </a:r>
          </a:p>
          <a:p>
            <a:pPr algn="l" marL="274320" indent="-274320">
              <a:lnSpc>
                <a:spcPct val="100000"/>
              </a:lnSpc>
              <a:spcAft>
                <a:spcPts val="800"/>
              </a:spcAft>
              <a:buClr>
                <a:srgbClr val="F5A623"/>
              </a:buClr>
              <a:buFont typeface="Arial"/>
              <a:buChar char="•"/>
            </a:pPr>
            <a:r>
              <a:rPr sz="1600" b="0" i="0">
                <a:solidFill>
                  <a:srgbClr val="18232F"/>
                </a:solidFill>
                <a:latin typeface="Segoe UI"/>
              </a:rPr>
              <a:t>Win-rate yaani jeete hue trades ko kul trades se divide kijiye.</a:t>
            </a:r>
          </a:p>
          <a:p>
            <a:pPr algn="l" marL="274320" indent="-274320">
              <a:lnSpc>
                <a:spcPct val="100000"/>
              </a:lnSpc>
              <a:spcAft>
                <a:spcPts val="800"/>
              </a:spcAft>
              <a:buClr>
                <a:srgbClr val="F5A623"/>
              </a:buClr>
              <a:buFont typeface="Arial"/>
              <a:buChar char="•"/>
            </a:pPr>
            <a:r>
              <a:rPr sz="1600" b="0" i="0">
                <a:solidFill>
                  <a:srgbClr val="18232F"/>
                </a:solidFill>
                <a:latin typeface="Segoe UI"/>
              </a:rPr>
              <a:t>Expectancy yaani har trade ka average net R, Day 3 wala idea, ab aapke apne rules par naapa hua.</a:t>
            </a:r>
          </a:p>
          <a:p>
            <a:pPr algn="l" marL="274320" indent="-274320">
              <a:lnSpc>
                <a:spcPct val="100000"/>
              </a:lnSpc>
              <a:buClr>
                <a:srgbClr val="F5A623"/>
              </a:buClr>
              <a:buFont typeface="Arial"/>
              <a:buChar char="•"/>
            </a:pPr>
            <a:r>
              <a:rPr sz="1600" b="0" i="0">
                <a:solidFill>
                  <a:srgbClr val="18232F"/>
                </a:solidFill>
                <a:latin typeface="Segoe UI"/>
              </a:rPr>
              <a:t>Maximum drawdown yaani aapke R ke running total ka kisi peak se baad ke low tak sabse bada girna.</a:t>
            </a:r>
          </a:p>
        </p:txBody>
      </p:sp>
      <p:sp>
        <p:nvSpPr>
          <p:cNvPr id="5" name="Rounded Rectangle 4"/>
          <p:cNvSpPr/>
          <p:nvPr/>
        </p:nvSpPr>
        <p:spPr>
          <a:xfrm>
            <a:off x="457200" y="3547872"/>
            <a:ext cx="5519776" cy="2066544"/>
          </a:xfrm>
          <a:prstGeom prst="roundRect">
            <a:avLst>
              <a:gd name="adj" fmla="val 530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6758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3931920"/>
            <a:ext cx="5154016" cy="16093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Yeh practice ke liye banaye gaye numbers hain, strategy ka asli test nahi. Priya ke 30 trades: 12 jeete, yaani 40% win-rate. Saat winners 2.5R wale profit exit tak pahunche, aur paanch time exit par chhote gain ke saath nikle. Net R ka jod +3.57R hai, toh expectancy +3.57 / 30, lagbhag +0.12R per trade; costs se pehle yeh +6.57R tha, yaani har trade ke 0.1R ne lagbhag aadha kha liya. … Peak se giraavat tak ke uske trades 18 se 30 'Aapka template' mein sample Backtest Log ke roop mein diye hain.</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Priya ki 30-trade equity curve</a:t>
            </a:r>
          </a:p>
        </p:txBody>
      </p:sp>
      <p:sp>
        <p:nvSpPr>
          <p:cNvPr id="11" name="TextBox 10"/>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Max drawdown = peak - low = 7.40R - 1.17R = 6.23R. Practice ke liye banaye gaye numbers.</a:t>
            </a:r>
          </a:p>
        </p:txBody>
      </p:sp>
      <p:sp>
        <p:nvSpPr>
          <p:cNvPr id="12" name="Rectangle 11"/>
          <p:cNvSpPr/>
          <p:nvPr/>
        </p:nvSpPr>
        <p:spPr>
          <a:xfrm>
            <a:off x="6795268" y="1860804"/>
            <a:ext cx="256032" cy="64008"/>
          </a:xfrm>
          <a:prstGeom prst="rect">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7124452" y="1796796"/>
            <a:ext cx="811658"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Cumulative R</a:t>
            </a:r>
          </a:p>
        </p:txBody>
      </p:sp>
      <p:sp>
        <p:nvSpPr>
          <p:cNvPr id="14" name="Rectangle 13"/>
          <p:cNvSpPr/>
          <p:nvPr/>
        </p:nvSpPr>
        <p:spPr>
          <a:xfrm>
            <a:off x="8210430" y="1860804"/>
            <a:ext cx="256032" cy="64008"/>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539614" y="1796796"/>
            <a:ext cx="846544"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Running peak</a:t>
            </a:r>
          </a:p>
        </p:txBody>
      </p:sp>
      <p:sp>
        <p:nvSpPr>
          <p:cNvPr id="16" name="TextBox 15"/>
          <p:cNvSpPr txBox="1"/>
          <p:nvPr/>
        </p:nvSpPr>
        <p:spPr>
          <a:xfrm>
            <a:off x="6397600" y="2071116"/>
            <a:ext cx="2683669" cy="182880"/>
          </a:xfrm>
          <a:prstGeom prst="rect">
            <a:avLst/>
          </a:prstGeom>
          <a:noFill/>
        </p:spPr>
        <p:txBody>
          <a:bodyPr wrap="square" lIns="0" rIns="0" tIns="0" bIns="0" anchor="t">
            <a:noAutofit/>
          </a:bodyPr>
          <a:lstStyle/>
          <a:p>
            <a:pPr algn="l">
              <a:lnSpc>
                <a:spcPct val="100000"/>
              </a:lnSpc>
            </a:pPr>
            <a:r>
              <a:rPr sz="900" b="1" i="0">
                <a:solidFill>
                  <a:srgbClr val="57687A"/>
                </a:solidFill>
                <a:latin typeface="Segoe UI"/>
              </a:rPr>
              <a:t>Cumulative R</a:t>
            </a:r>
          </a:p>
        </p:txBody>
      </p:sp>
      <p:cxnSp>
        <p:nvCxnSpPr>
          <p:cNvPr id="17" name="Connector 16"/>
          <p:cNvCxnSpPr/>
          <p:nvPr/>
        </p:nvCxnSpPr>
        <p:spPr>
          <a:xfrm>
            <a:off x="6795268" y="4837176"/>
            <a:ext cx="468319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397600" y="4754880"/>
            <a:ext cx="30622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-1.89</a:t>
            </a:r>
          </a:p>
        </p:txBody>
      </p:sp>
      <p:cxnSp>
        <p:nvCxnSpPr>
          <p:cNvPr id="19" name="Connector 18"/>
          <p:cNvCxnSpPr/>
          <p:nvPr/>
        </p:nvCxnSpPr>
        <p:spPr>
          <a:xfrm>
            <a:off x="6795268" y="4259961"/>
            <a:ext cx="468319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97600" y="4177665"/>
            <a:ext cx="30622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0.61</a:t>
            </a:r>
          </a:p>
        </p:txBody>
      </p:sp>
      <p:cxnSp>
        <p:nvCxnSpPr>
          <p:cNvPr id="21" name="Connector 20"/>
          <p:cNvCxnSpPr/>
          <p:nvPr/>
        </p:nvCxnSpPr>
        <p:spPr>
          <a:xfrm>
            <a:off x="6795268" y="3682746"/>
            <a:ext cx="468319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97600" y="3600450"/>
            <a:ext cx="30622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3.10</a:t>
            </a:r>
          </a:p>
        </p:txBody>
      </p:sp>
      <p:cxnSp>
        <p:nvCxnSpPr>
          <p:cNvPr id="23" name="Connector 22"/>
          <p:cNvCxnSpPr/>
          <p:nvPr/>
        </p:nvCxnSpPr>
        <p:spPr>
          <a:xfrm>
            <a:off x="6795268" y="3105531"/>
            <a:ext cx="468319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397600" y="3023235"/>
            <a:ext cx="30622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5.59</a:t>
            </a:r>
          </a:p>
        </p:txBody>
      </p:sp>
      <p:cxnSp>
        <p:nvCxnSpPr>
          <p:cNvPr id="25" name="Connector 24"/>
          <p:cNvCxnSpPr/>
          <p:nvPr/>
        </p:nvCxnSpPr>
        <p:spPr>
          <a:xfrm>
            <a:off x="6795268" y="2528316"/>
            <a:ext cx="468319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97600" y="2446020"/>
            <a:ext cx="30622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8.09</a:t>
            </a:r>
          </a:p>
        </p:txBody>
      </p:sp>
      <p:cxnSp>
        <p:nvCxnSpPr>
          <p:cNvPr id="27" name="Connector 26"/>
          <p:cNvCxnSpPr/>
          <p:nvPr/>
        </p:nvCxnSpPr>
        <p:spPr>
          <a:xfrm>
            <a:off x="9761292" y="2382012"/>
            <a:ext cx="0" cy="245516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807012" y="2290572"/>
            <a:ext cx="333286"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Peak</a:t>
            </a:r>
          </a:p>
        </p:txBody>
      </p:sp>
      <p:cxnSp>
        <p:nvCxnSpPr>
          <p:cNvPr id="29" name="Connector 28"/>
          <p:cNvCxnSpPr/>
          <p:nvPr/>
        </p:nvCxnSpPr>
        <p:spPr>
          <a:xfrm>
            <a:off x="11010144" y="2382012"/>
            <a:ext cx="0" cy="245516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1055864" y="2290572"/>
            <a:ext cx="288602"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Low</a:t>
            </a:r>
          </a:p>
        </p:txBody>
      </p:sp>
      <p:sp>
        <p:nvSpPr>
          <p:cNvPr id="31" name="Freeform 30"/>
          <p:cNvSpPr/>
          <p:nvPr/>
        </p:nvSpPr>
        <p:spPr>
          <a:xfrm>
            <a:off x="6795268" y="2687548"/>
            <a:ext cx="4683195" cy="1990396"/>
          </a:xfrm>
          <a:custGeom>
            <a:avLst/>
            <a:gdLst/>
            <a:ahLst/>
            <a:cxnLst/>
            <a:rect l="l" t="t" r="r" b="b"/>
            <a:pathLst>
              <a:path w="4683195" h="1990396">
                <a:moveTo>
                  <a:pt x="0" y="1712667"/>
                </a:moveTo>
                <a:lnTo>
                  <a:pt x="156107" y="1967252"/>
                </a:lnTo>
                <a:lnTo>
                  <a:pt x="312213" y="1411793"/>
                </a:lnTo>
                <a:lnTo>
                  <a:pt x="468320" y="1666378"/>
                </a:lnTo>
                <a:lnTo>
                  <a:pt x="624426" y="1920964"/>
                </a:lnTo>
                <a:lnTo>
                  <a:pt x="780533" y="1712667"/>
                </a:lnTo>
                <a:lnTo>
                  <a:pt x="936639" y="1967252"/>
                </a:lnTo>
                <a:lnTo>
                  <a:pt x="1092746" y="1990396"/>
                </a:lnTo>
                <a:lnTo>
                  <a:pt x="1248852" y="1434937"/>
                </a:lnTo>
                <a:lnTo>
                  <a:pt x="1404959" y="1689522"/>
                </a:lnTo>
                <a:lnTo>
                  <a:pt x="1561065" y="1944108"/>
                </a:lnTo>
                <a:lnTo>
                  <a:pt x="1717172" y="1388648"/>
                </a:lnTo>
                <a:lnTo>
                  <a:pt x="1873278" y="1087775"/>
                </a:lnTo>
                <a:lnTo>
                  <a:pt x="2029385" y="1342360"/>
                </a:lnTo>
                <a:lnTo>
                  <a:pt x="2185491" y="786901"/>
                </a:lnTo>
                <a:lnTo>
                  <a:pt x="2341598" y="1041486"/>
                </a:lnTo>
                <a:lnTo>
                  <a:pt x="2497704" y="486027"/>
                </a:lnTo>
                <a:lnTo>
                  <a:pt x="2653811" y="300874"/>
                </a:lnTo>
                <a:lnTo>
                  <a:pt x="2809917" y="555459"/>
                </a:lnTo>
                <a:lnTo>
                  <a:pt x="2966024" y="0"/>
                </a:lnTo>
                <a:lnTo>
                  <a:pt x="3122130" y="254585"/>
                </a:lnTo>
                <a:lnTo>
                  <a:pt x="3278237" y="509171"/>
                </a:lnTo>
                <a:lnTo>
                  <a:pt x="3434343" y="69432"/>
                </a:lnTo>
                <a:lnTo>
                  <a:pt x="3590450" y="324018"/>
                </a:lnTo>
                <a:lnTo>
                  <a:pt x="3746556" y="578603"/>
                </a:lnTo>
                <a:lnTo>
                  <a:pt x="3902663" y="932709"/>
                </a:lnTo>
                <a:lnTo>
                  <a:pt x="4058769" y="1187294"/>
                </a:lnTo>
                <a:lnTo>
                  <a:pt x="4214876" y="1441880"/>
                </a:lnTo>
                <a:lnTo>
                  <a:pt x="4370982" y="886421"/>
                </a:lnTo>
                <a:lnTo>
                  <a:pt x="4527089" y="1141006"/>
                </a:lnTo>
                <a:lnTo>
                  <a:pt x="4683195" y="886421"/>
                </a:lnTo>
              </a:path>
            </a:pathLst>
          </a:custGeom>
          <a:noFill/>
          <a:ln w="28575">
            <a:solidFill>
              <a:srgbClr val="0093D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6795268" y="2687548"/>
            <a:ext cx="4683195" cy="1712667"/>
          </a:xfrm>
          <a:custGeom>
            <a:avLst/>
            <a:gdLst/>
            <a:ahLst/>
            <a:cxnLst/>
            <a:rect l="l" t="t" r="r" b="b"/>
            <a:pathLst>
              <a:path w="4683195" h="1712667">
                <a:moveTo>
                  <a:pt x="0" y="1712667"/>
                </a:moveTo>
                <a:lnTo>
                  <a:pt x="156107" y="1712667"/>
                </a:lnTo>
                <a:lnTo>
                  <a:pt x="312213" y="1411793"/>
                </a:lnTo>
                <a:lnTo>
                  <a:pt x="468320" y="1411793"/>
                </a:lnTo>
                <a:lnTo>
                  <a:pt x="624426" y="1411793"/>
                </a:lnTo>
                <a:lnTo>
                  <a:pt x="780533" y="1411793"/>
                </a:lnTo>
                <a:lnTo>
                  <a:pt x="936639" y="1411793"/>
                </a:lnTo>
                <a:lnTo>
                  <a:pt x="1092746" y="1411793"/>
                </a:lnTo>
                <a:lnTo>
                  <a:pt x="1248852" y="1411793"/>
                </a:lnTo>
                <a:lnTo>
                  <a:pt x="1404959" y="1411793"/>
                </a:lnTo>
                <a:lnTo>
                  <a:pt x="1561065" y="1411793"/>
                </a:lnTo>
                <a:lnTo>
                  <a:pt x="1717172" y="1388648"/>
                </a:lnTo>
                <a:lnTo>
                  <a:pt x="1873278" y="1087775"/>
                </a:lnTo>
                <a:lnTo>
                  <a:pt x="2029385" y="1087775"/>
                </a:lnTo>
                <a:lnTo>
                  <a:pt x="2185491" y="786901"/>
                </a:lnTo>
                <a:lnTo>
                  <a:pt x="2341598" y="786901"/>
                </a:lnTo>
                <a:lnTo>
                  <a:pt x="2497704" y="486027"/>
                </a:lnTo>
                <a:lnTo>
                  <a:pt x="2653811" y="300874"/>
                </a:lnTo>
                <a:lnTo>
                  <a:pt x="2809917" y="300874"/>
                </a:lnTo>
                <a:lnTo>
                  <a:pt x="2966024" y="0"/>
                </a:lnTo>
                <a:lnTo>
                  <a:pt x="3122130" y="0"/>
                </a:lnTo>
                <a:lnTo>
                  <a:pt x="3278237" y="0"/>
                </a:lnTo>
                <a:lnTo>
                  <a:pt x="3434343" y="0"/>
                </a:lnTo>
                <a:lnTo>
                  <a:pt x="3590450" y="0"/>
                </a:lnTo>
                <a:lnTo>
                  <a:pt x="3746556" y="0"/>
                </a:lnTo>
                <a:lnTo>
                  <a:pt x="3902663" y="0"/>
                </a:lnTo>
                <a:lnTo>
                  <a:pt x="4058769" y="0"/>
                </a:lnTo>
                <a:lnTo>
                  <a:pt x="4214876" y="0"/>
                </a:lnTo>
                <a:lnTo>
                  <a:pt x="4370982" y="0"/>
                </a:lnTo>
                <a:lnTo>
                  <a:pt x="4527089" y="0"/>
                </a:lnTo>
                <a:lnTo>
                  <a:pt x="4683195" y="0"/>
                </a:lnTo>
              </a:path>
            </a:pathLst>
          </a:custGeom>
          <a:noFill/>
          <a:ln w="28575">
            <a:solidFill>
              <a:srgbClr val="F5A524"/>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95268" y="4873752"/>
            <a:ext cx="4683195" cy="182880"/>
          </a:xfrm>
          <a:prstGeom prst="rect">
            <a:avLst/>
          </a:prstGeom>
          <a:noFill/>
        </p:spPr>
        <p:txBody>
          <a:bodyPr wrap="square" lIns="0" rIns="0" tIns="0" bIns="0" anchor="t">
            <a:noAutofit/>
          </a:bodyPr>
          <a:lstStyle/>
          <a:p>
            <a:pPr algn="ctr">
              <a:lnSpc>
                <a:spcPct val="100000"/>
              </a:lnSpc>
            </a:pPr>
            <a:r>
              <a:rPr sz="900" b="1" i="0">
                <a:solidFill>
                  <a:srgbClr val="57687A"/>
                </a:solidFill>
                <a:latin typeface="Segoe UI"/>
              </a:rPr>
              <a:t>Trade number</a:t>
            </a:r>
          </a:p>
        </p:txBody>
      </p:sp>
      <p:sp>
        <p:nvSpPr>
          <p:cNvPr id="34" name="Rounded Rectangle 33"/>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ounded Rectangle 34"/>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6" name="TextBox 35"/>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Expectancy batati hai ki is sample mein rule mein edge tha ya nahi; drawdown batata hai ki aap uske saath tik paate ya nahi.</a:t>
            </a:r>
          </a:p>
        </p:txBody>
      </p:sp>
      <p:pic>
        <p:nvPicPr>
          <p:cNvPr id="37" name="Picture 36" descr="logo.png"/>
          <p:cNvPicPr>
            <a:picLocks noChangeAspect="1"/>
          </p:cNvPicPr>
          <p:nvPr/>
        </p:nvPicPr>
        <p:blipFill>
          <a:blip r:embed="rId2"/>
          <a:stretch>
            <a:fillRect/>
          </a:stretch>
        </p:blipFill>
        <p:spPr>
          <a:xfrm>
            <a:off x="457200" y="6437376"/>
            <a:ext cx="237744" cy="237744"/>
          </a:xfrm>
          <a:prstGeom prst="rect">
            <a:avLst/>
          </a:prstGeom>
        </p:spPr>
      </p:pic>
      <p:sp>
        <p:nvSpPr>
          <p:cNvPr id="3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9" name="TextBox 3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Jab data hi jhooth bole: survivorship aur unadjusted prices</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Survivorship bias ka matlab hai sirf un companies par test karna jo aaj tak tiki rahin.</a:t>
            </a:r>
          </a:p>
          <a:p>
            <a:pPr algn="l" marL="274320" indent="-274320">
              <a:lnSpc>
                <a:spcPct val="100000"/>
              </a:lnSpc>
              <a:spcAft>
                <a:spcPts val="800"/>
              </a:spcAft>
              <a:buClr>
                <a:srgbClr val="F5A623"/>
              </a:buClr>
              <a:buFont typeface="Arial"/>
              <a:buChar char="•"/>
            </a:pPr>
            <a:r>
              <a:rPr sz="1600" b="0" i="0">
                <a:solidFill>
                  <a:srgbClr val="18232F"/>
                </a:solidFill>
                <a:latin typeface="Segoe UI"/>
              </a:rPr>
              <a:t>Aaj ki NIFTY 50 list lekar 2019 tak peeche test kijiye, toh jo companies aksar lambi giraavat ke baad index se bahar ho gayin, woh list mein hain hi nahi.</a:t>
            </a:r>
          </a:p>
          <a:p>
            <a:pPr algn="l" marL="274320" indent="-274320">
              <a:lnSpc>
                <a:spcPct val="100000"/>
              </a:lnSpc>
              <a:spcAft>
                <a:spcPts val="800"/>
              </a:spcAft>
              <a:buClr>
                <a:srgbClr val="F5A623"/>
              </a:buClr>
              <a:buFont typeface="Arial"/>
              <a:buChar char="•"/>
            </a:pPr>
            <a:r>
              <a:rPr sz="1600" b="0" i="0">
                <a:solidFill>
                  <a:srgbClr val="18232F"/>
                </a:solidFill>
                <a:latin typeface="Segoe UI"/>
              </a:rPr>
              <a:t>Aapka test sirf race jeetne walon ko dekhta hai.</a:t>
            </a:r>
          </a:p>
          <a:p>
            <a:pPr algn="l" marL="274320" indent="-274320">
              <a:lnSpc>
                <a:spcPct val="100000"/>
              </a:lnSpc>
              <a:buClr>
                <a:srgbClr val="F5A623"/>
              </a:buClr>
              <a:buFont typeface="Arial"/>
              <a:buChar char="•"/>
            </a:pPr>
            <a:r>
              <a:rPr sz="1600" b="0" i="0">
                <a:solidFill>
                  <a:srgbClr val="18232F"/>
                </a:solidFill>
                <a:latin typeface="Segoe UI"/>
              </a:rPr>
              <a:t>Iska ilaaj hai point-in-time list, yaani index ke woh members jo aapki start date par the.</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Sharma Textiles Ltd Rs 1,000 par trade ho raha hai aur har share ko paanch mein split karta hai (face value Rs 10 se Rs 2). Ex-date par price lagbhag Rs 200 par khulta hai, aur 100 shares wale ke paas ab 500 shares hain (naye shares record date ke kuch hi samay baad demat mein aa jaate hain; company ka announcement dekhiye), jinki value ab bhi lagbhag Rs 1,00,000 hai. … Adjusted chart pehle ke har price ko 5 se divide kar deta hai, toh line smooth rehti hai aur test imaandar.</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Biased data vs behtar data</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Level 1 par har bias hata nahi sakte, par use kam kar sakte hain aur report mein likh sakte hain.</a:t>
            </a:r>
          </a:p>
        </p:txBody>
      </p:sp>
      <p:sp>
        <p:nvSpPr>
          <p:cNvPr id="11" name="Rounded Rectangle 10"/>
          <p:cNvSpPr/>
          <p:nvPr/>
        </p:nvSpPr>
        <p:spPr>
          <a:xfrm>
            <a:off x="6397600" y="1895475"/>
            <a:ext cx="2494712" cy="3080766"/>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397600" y="1895475"/>
            <a:ext cx="2494712" cy="463296"/>
          </a:xfrm>
          <a:prstGeom prst="roundRect">
            <a:avLst>
              <a:gd name="adj" fmla="val 19736"/>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397600" y="2127123"/>
            <a:ext cx="2494712" cy="23164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397600" y="1895475"/>
            <a:ext cx="2494712" cy="3080766"/>
          </a:xfrm>
          <a:prstGeom prst="roundRect">
            <a:avLst>
              <a:gd name="adj" fmla="val 3665"/>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6543904" y="1895475"/>
            <a:ext cx="2202104" cy="463296"/>
          </a:xfrm>
          <a:prstGeom prst="rect">
            <a:avLst/>
          </a:prstGeom>
          <a:noFill/>
        </p:spPr>
        <p:txBody>
          <a:bodyPr wrap="square" lIns="0" rIns="0" tIns="0" bIns="0" anchor="ctr">
            <a:noAutofit/>
          </a:bodyPr>
          <a:lstStyle/>
          <a:p>
            <a:pPr algn="l">
              <a:lnSpc>
                <a:spcPct val="100000"/>
              </a:lnSpc>
            </a:pPr>
            <a:r>
              <a:rPr sz="1600" b="1" i="0">
                <a:solidFill>
                  <a:srgbClr val="991B1B"/>
                </a:solidFill>
                <a:latin typeface="Segoe UI"/>
              </a:rPr>
              <a:t>Biased test</a:t>
            </a:r>
          </a:p>
        </p:txBody>
      </p:sp>
      <p:cxnSp>
        <p:nvCxnSpPr>
          <p:cNvPr id="16" name="Connector 15"/>
          <p:cNvCxnSpPr/>
          <p:nvPr/>
        </p:nvCxnSpPr>
        <p:spPr>
          <a:xfrm>
            <a:off x="6397600" y="2358771"/>
            <a:ext cx="2494711"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43904" y="2505075"/>
            <a:ext cx="2202104" cy="2434590"/>
          </a:xfrm>
          <a:prstGeom prst="rect">
            <a:avLst/>
          </a:prstGeom>
          <a:noFill/>
        </p:spPr>
        <p:txBody>
          <a:bodyPr wrap="square" lIns="0" rIns="0" tIns="0" bIns="0" anchor="t">
            <a:noAutofit/>
          </a:bodyPr>
          <a:lstStyle/>
          <a:p>
            <a:pPr algn="l" marL="201168" indent="-201168">
              <a:lnSpc>
                <a:spcPct val="100000"/>
              </a:lnSpc>
              <a:spcAft>
                <a:spcPts val="750"/>
              </a:spcAft>
              <a:buClr>
                <a:srgbClr val="F0554E"/>
              </a:buClr>
              <a:buFont typeface="Arial"/>
              <a:buChar char="•"/>
            </a:pPr>
            <a:r>
              <a:rPr sz="1500" b="0" i="0">
                <a:solidFill>
                  <a:srgbClr val="18232F"/>
                </a:solidFill>
                <a:latin typeface="Segoe UI"/>
              </a:rPr>
              <a:t>Aaj ki index list purane saalon par test</a:t>
            </a:r>
          </a:p>
          <a:p>
            <a:pPr algn="l" marL="201168" indent="-201168">
              <a:lnSpc>
                <a:spcPct val="100000"/>
              </a:lnSpc>
              <a:spcAft>
                <a:spcPts val="750"/>
              </a:spcAft>
              <a:buClr>
                <a:srgbClr val="F0554E"/>
              </a:buClr>
              <a:buFont typeface="Arial"/>
              <a:buChar char="•"/>
            </a:pPr>
            <a:r>
              <a:rPr sz="1500" b="0" i="0">
                <a:solidFill>
                  <a:srgbClr val="18232F"/>
                </a:solidFill>
                <a:latin typeface="Segoe UI"/>
              </a:rPr>
              <a:t>Bahar hui companies gayab</a:t>
            </a:r>
          </a:p>
          <a:p>
            <a:pPr algn="l" marL="201168" indent="-201168">
              <a:lnSpc>
                <a:spcPct val="100000"/>
              </a:lnSpc>
              <a:spcAft>
                <a:spcPts val="750"/>
              </a:spcAft>
              <a:buClr>
                <a:srgbClr val="F0554E"/>
              </a:buClr>
              <a:buFont typeface="Arial"/>
              <a:buChar char="•"/>
            </a:pPr>
            <a:r>
              <a:rPr sz="1500" b="0" i="0">
                <a:solidFill>
                  <a:srgbClr val="18232F"/>
                </a:solidFill>
                <a:latin typeface="Segoe UI"/>
              </a:rPr>
              <a:t>Chart dekh kar naam badle gaye</a:t>
            </a:r>
          </a:p>
          <a:p>
            <a:pPr algn="l" marL="201168" indent="-201168">
              <a:lnSpc>
                <a:spcPct val="100000"/>
              </a:lnSpc>
              <a:buClr>
                <a:srgbClr val="F0554E"/>
              </a:buClr>
              <a:buFont typeface="Arial"/>
              <a:buChar char="•"/>
            </a:pPr>
            <a:r>
              <a:rPr sz="1500" b="0" i="0">
                <a:solidFill>
                  <a:srgbClr val="18232F"/>
                </a:solidFill>
                <a:latin typeface="Segoe UI"/>
              </a:rPr>
              <a:t>Bonus ya split crash jaisa dikhta hai</a:t>
            </a:r>
          </a:p>
        </p:txBody>
      </p:sp>
      <p:sp>
        <p:nvSpPr>
          <p:cNvPr id="18" name="Rounded Rectangle 17"/>
          <p:cNvSpPr/>
          <p:nvPr/>
        </p:nvSpPr>
        <p:spPr>
          <a:xfrm>
            <a:off x="9056903" y="1895475"/>
            <a:ext cx="2494712" cy="3080766"/>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9056903" y="1895475"/>
            <a:ext cx="2494712" cy="463296"/>
          </a:xfrm>
          <a:prstGeom prst="roundRect">
            <a:avLst>
              <a:gd name="adj" fmla="val 19736"/>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9056903" y="2127123"/>
            <a:ext cx="2494712" cy="23164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9056903" y="1895475"/>
            <a:ext cx="2494712" cy="3080766"/>
          </a:xfrm>
          <a:prstGeom prst="roundRect">
            <a:avLst>
              <a:gd name="adj" fmla="val 3665"/>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9203207" y="1895475"/>
            <a:ext cx="2202104" cy="463296"/>
          </a:xfrm>
          <a:prstGeom prst="rect">
            <a:avLst/>
          </a:prstGeom>
          <a:noFill/>
        </p:spPr>
        <p:txBody>
          <a:bodyPr wrap="square" lIns="0" rIns="0" tIns="0" bIns="0" anchor="ctr">
            <a:noAutofit/>
          </a:bodyPr>
          <a:lstStyle/>
          <a:p>
            <a:pPr algn="l">
              <a:lnSpc>
                <a:spcPct val="100000"/>
              </a:lnSpc>
            </a:pPr>
            <a:r>
              <a:rPr sz="1600" b="1" i="0">
                <a:solidFill>
                  <a:srgbClr val="166534"/>
                </a:solidFill>
                <a:latin typeface="Segoe UI"/>
              </a:rPr>
              <a:t>Behtar test</a:t>
            </a:r>
          </a:p>
        </p:txBody>
      </p:sp>
      <p:cxnSp>
        <p:nvCxnSpPr>
          <p:cNvPr id="23" name="Connector 22"/>
          <p:cNvCxnSpPr/>
          <p:nvPr/>
        </p:nvCxnSpPr>
        <p:spPr>
          <a:xfrm>
            <a:off x="9056903" y="2358771"/>
            <a:ext cx="2494712"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203207" y="2505075"/>
            <a:ext cx="2202104" cy="2434590"/>
          </a:xfrm>
          <a:prstGeom prst="rect">
            <a:avLst/>
          </a:prstGeom>
          <a:noFill/>
        </p:spPr>
        <p:txBody>
          <a:bodyPr wrap="square" lIns="0" rIns="0" tIns="0" bIns="0" anchor="t">
            <a:noAutofit/>
          </a:bodyPr>
          <a:lstStyle/>
          <a:p>
            <a:pPr algn="l" marL="201168" indent="-201168">
              <a:lnSpc>
                <a:spcPct val="100000"/>
              </a:lnSpc>
              <a:spcAft>
                <a:spcPts val="750"/>
              </a:spcAft>
              <a:buClr>
                <a:srgbClr val="16A34A"/>
              </a:buClr>
              <a:buFont typeface="Arial"/>
              <a:buChar char="•"/>
            </a:pPr>
            <a:r>
              <a:rPr sz="1500" b="0" i="0">
                <a:solidFill>
                  <a:srgbClr val="18232F"/>
                </a:solidFill>
                <a:latin typeface="Segoe UI"/>
              </a:rPr>
              <a:t>Start date wali list</a:t>
            </a:r>
          </a:p>
          <a:p>
            <a:pPr algn="l" marL="201168" indent="-201168">
              <a:lnSpc>
                <a:spcPct val="100000"/>
              </a:lnSpc>
              <a:spcAft>
                <a:spcPts val="750"/>
              </a:spcAft>
              <a:buClr>
                <a:srgbClr val="16A34A"/>
              </a:buClr>
              <a:buFont typeface="Arial"/>
              <a:buChar char="•"/>
            </a:pPr>
            <a:r>
              <a:rPr sz="1500" b="0" i="0">
                <a:solidFill>
                  <a:srgbClr val="18232F"/>
                </a:solidFill>
                <a:latin typeface="Segoe UI"/>
              </a:rPr>
              <a:t>Random draw ka har naam rakha</a:t>
            </a:r>
          </a:p>
          <a:p>
            <a:pPr algn="l" marL="201168" indent="-201168">
              <a:lnSpc>
                <a:spcPct val="100000"/>
              </a:lnSpc>
              <a:spcAft>
                <a:spcPts val="750"/>
              </a:spcAft>
              <a:buClr>
                <a:srgbClr val="16A34A"/>
              </a:buClr>
              <a:buFont typeface="Arial"/>
              <a:buChar char="•"/>
            </a:pPr>
            <a:r>
              <a:rPr sz="1500" b="0" i="0">
                <a:solidFill>
                  <a:srgbClr val="18232F"/>
                </a:solidFill>
                <a:latin typeface="Segoe UI"/>
              </a:rPr>
              <a:t>Report mein 'survivorship risk' likha</a:t>
            </a:r>
          </a:p>
          <a:p>
            <a:pPr algn="l" marL="201168" indent="-201168">
              <a:lnSpc>
                <a:spcPct val="100000"/>
              </a:lnSpc>
              <a:buClr>
                <a:srgbClr val="16A34A"/>
              </a:buClr>
              <a:buFont typeface="Arial"/>
              <a:buChar char="•"/>
            </a:pPr>
            <a:r>
              <a:rPr sz="1500" b="0" i="0">
                <a:solidFill>
                  <a:srgbClr val="18232F"/>
                </a:solidFill>
                <a:latin typeface="Segoe UI"/>
              </a:rPr>
              <a:t>Split aur bonus ke liye adjusted chart</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7" name="TextBox 26"/>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Test utna hi imaandar hai jitna uska data: jo losers dikhte nahi, unhe yaad rakhiye, aur adjusted prices use kijiye.</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Curve-fitting ki ummeed, aur 30 sirf pehli jhalak kyun hai</a:t>
            </a:r>
          </a:p>
        </p:txBody>
      </p:sp>
      <p:sp>
        <p:nvSpPr>
          <p:cNvPr id="4" name="TextBox 3"/>
          <p:cNvSpPr txBox="1"/>
          <p:nvPr/>
        </p:nvSpPr>
        <p:spPr>
          <a:xfrm>
            <a:off x="457200" y="1335024"/>
            <a:ext cx="5519776" cy="205740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Tweak ek naya rule hai, aur use apne 30 fresh trades chahiye, un dates se jo aapne abhi tak use nahi ki.</a:t>
            </a:r>
          </a:p>
          <a:p>
            <a:pPr algn="l" marL="274320" indent="-274320">
              <a:lnSpc>
                <a:spcPct val="100000"/>
              </a:lnSpc>
              <a:spcAft>
                <a:spcPts val="800"/>
              </a:spcAft>
              <a:buClr>
                <a:srgbClr val="F5A623"/>
              </a:buClr>
              <a:buFont typeface="Arial"/>
              <a:buChar char="•"/>
            </a:pPr>
            <a:r>
              <a:rPr sz="1600" b="0" i="0">
                <a:solidFill>
                  <a:srgbClr val="18232F"/>
                </a:solidFill>
                <a:latin typeface="Segoe UI"/>
              </a:rPr>
              <a:t>30 trades sirf pehli jhalak dete hain.</a:t>
            </a:r>
          </a:p>
          <a:p>
            <a:pPr algn="l" marL="274320" indent="-274320">
              <a:lnSpc>
                <a:spcPct val="100000"/>
              </a:lnSpc>
              <a:spcAft>
                <a:spcPts val="800"/>
              </a:spcAft>
              <a:buClr>
                <a:srgbClr val="F5A623"/>
              </a:buClr>
              <a:buFont typeface="Arial"/>
              <a:buChar char="•"/>
            </a:pPr>
            <a:r>
              <a:rPr sz="1600" b="0" i="0">
                <a:solidFill>
                  <a:srgbClr val="18232F"/>
                </a:solidFill>
                <a:latin typeface="Segoe UI"/>
              </a:rPr>
              <a:t>Lagbhag 100 trades, jo up, down aur sideways market mein faile hon, confidence dena shuru karte hain.</a:t>
            </a:r>
          </a:p>
          <a:p>
            <a:pPr algn="l" marL="274320" indent="-274320">
              <a:lnSpc>
                <a:spcPct val="100000"/>
              </a:lnSpc>
              <a:buClr>
                <a:srgbClr val="F5A623"/>
              </a:buClr>
              <a:buFont typeface="Arial"/>
              <a:buChar char="•"/>
            </a:pPr>
            <a:r>
              <a:rPr sz="1600" b="0" i="0">
                <a:solidFill>
                  <a:srgbClr val="18232F"/>
                </a:solidFill>
                <a:latin typeface="Segoe UI"/>
              </a:rPr>
              <a:t>Har trade par uske signal wale din ka NIFTY 50 phase likhiye.</a:t>
            </a:r>
          </a:p>
        </p:txBody>
      </p:sp>
      <p:sp>
        <p:nvSpPr>
          <p:cNvPr id="5" name="Rounded Rectangle 4"/>
          <p:cNvSpPr/>
          <p:nvPr/>
        </p:nvSpPr>
        <p:spPr>
          <a:xfrm>
            <a:off x="457200" y="3547872"/>
            <a:ext cx="5519776" cy="2066544"/>
          </a:xfrm>
          <a:prstGeom prst="roundRect">
            <a:avLst>
              <a:gd name="adj" fmla="val 530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6758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3931920"/>
            <a:ext cx="5154016" cy="1609344"/>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Aman ne apna EMA 18 aur RSI 42-48 wala version imaandari se 30 fresh trades par test kiya, un dates se jo usne dekhi nahi thi. Usmein 10 jeete, yaani 33%, tuned sample wale das mein se das ke aas-paas bhi nahi. Priya ke freeze kiye rule ki kahani zyada seedhi hai, wahi practice wale numbers mein: pehle das trades mein 3 jeet, agle das mein 6, aakhri das mein 3, kul milakar 40%. Koi bhi das trades shaandaar ya bekaar dikh sakte hain. Isiliye rule ko 30 trades ke baad hi judge kijiye, aur confidence lagbhag 100 ke baad hi banaiye.</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Rule wahi, das trades alag</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Priya ke freeze kiye rule ke practice numbers, asli test nahi. Chhote samples mein bada jhool hota hai; 30 trades pehli jhalak hain, 100 se confidence banta hai.</a:t>
            </a:r>
          </a:p>
        </p:txBody>
      </p:sp>
      <p:sp>
        <p:nvSpPr>
          <p:cNvPr id="11" name="TextBox 10"/>
          <p:cNvSpPr txBox="1"/>
          <p:nvPr/>
        </p:nvSpPr>
        <p:spPr>
          <a:xfrm>
            <a:off x="6397600" y="2119122"/>
            <a:ext cx="1134180"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Trades 1-10</a:t>
            </a:r>
          </a:p>
        </p:txBody>
      </p:sp>
      <p:sp>
        <p:nvSpPr>
          <p:cNvPr id="12" name="Rounded Rectangle 11"/>
          <p:cNvSpPr/>
          <p:nvPr/>
        </p:nvSpPr>
        <p:spPr>
          <a:xfrm>
            <a:off x="7641507" y="2292858"/>
            <a:ext cx="3337679"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7641507" y="2292858"/>
            <a:ext cx="1668839" cy="310896"/>
          </a:xfrm>
          <a:prstGeom prst="roundRect">
            <a:avLst>
              <a:gd name="adj" fmla="val 50000"/>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1070626" y="2119122"/>
            <a:ext cx="508421" cy="658368"/>
          </a:xfrm>
          <a:prstGeom prst="rect">
            <a:avLst/>
          </a:prstGeom>
          <a:noFill/>
        </p:spPr>
        <p:txBody>
          <a:bodyPr wrap="square" lIns="0" rIns="0" tIns="0" bIns="0" anchor="ctr">
            <a:noAutofit/>
          </a:bodyPr>
          <a:lstStyle/>
          <a:p>
            <a:pPr algn="l">
              <a:lnSpc>
                <a:spcPct val="100000"/>
              </a:lnSpc>
            </a:pPr>
            <a:r>
              <a:rPr sz="1400" b="1" i="0">
                <a:solidFill>
                  <a:srgbClr val="47596B"/>
                </a:solidFill>
                <a:latin typeface="Segoe UI"/>
              </a:rPr>
              <a:t>30%</a:t>
            </a:r>
          </a:p>
        </p:txBody>
      </p:sp>
      <p:sp>
        <p:nvSpPr>
          <p:cNvPr id="15" name="TextBox 14"/>
          <p:cNvSpPr txBox="1"/>
          <p:nvPr/>
        </p:nvSpPr>
        <p:spPr>
          <a:xfrm>
            <a:off x="6397600" y="2777490"/>
            <a:ext cx="1134180"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Trades 11-20</a:t>
            </a:r>
          </a:p>
        </p:txBody>
      </p:sp>
      <p:sp>
        <p:nvSpPr>
          <p:cNvPr id="16" name="Rounded Rectangle 15"/>
          <p:cNvSpPr/>
          <p:nvPr/>
        </p:nvSpPr>
        <p:spPr>
          <a:xfrm>
            <a:off x="7641507" y="2951226"/>
            <a:ext cx="3337679"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7641507" y="2951226"/>
            <a:ext cx="3337679" cy="310896"/>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1070626" y="2777490"/>
            <a:ext cx="508421" cy="658368"/>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60%</a:t>
            </a:r>
          </a:p>
        </p:txBody>
      </p:sp>
      <p:sp>
        <p:nvSpPr>
          <p:cNvPr id="19" name="TextBox 18"/>
          <p:cNvSpPr txBox="1"/>
          <p:nvPr/>
        </p:nvSpPr>
        <p:spPr>
          <a:xfrm>
            <a:off x="6397600" y="3435858"/>
            <a:ext cx="1134180"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Trades 21-30</a:t>
            </a:r>
          </a:p>
        </p:txBody>
      </p:sp>
      <p:sp>
        <p:nvSpPr>
          <p:cNvPr id="20" name="Rounded Rectangle 19"/>
          <p:cNvSpPr/>
          <p:nvPr/>
        </p:nvSpPr>
        <p:spPr>
          <a:xfrm>
            <a:off x="7641507" y="3609594"/>
            <a:ext cx="3337679"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7641507" y="3609594"/>
            <a:ext cx="1668839" cy="310896"/>
          </a:xfrm>
          <a:prstGeom prst="roundRect">
            <a:avLst>
              <a:gd name="adj" fmla="val 50000"/>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1070626" y="3435858"/>
            <a:ext cx="508421" cy="658368"/>
          </a:xfrm>
          <a:prstGeom prst="rect">
            <a:avLst/>
          </a:prstGeom>
          <a:noFill/>
        </p:spPr>
        <p:txBody>
          <a:bodyPr wrap="square" lIns="0" rIns="0" tIns="0" bIns="0" anchor="ctr">
            <a:noAutofit/>
          </a:bodyPr>
          <a:lstStyle/>
          <a:p>
            <a:pPr algn="l">
              <a:lnSpc>
                <a:spcPct val="100000"/>
              </a:lnSpc>
            </a:pPr>
            <a:r>
              <a:rPr sz="1400" b="1" i="0">
                <a:solidFill>
                  <a:srgbClr val="47596B"/>
                </a:solidFill>
                <a:latin typeface="Segoe UI"/>
              </a:rPr>
              <a:t>30%</a:t>
            </a:r>
          </a:p>
        </p:txBody>
      </p:sp>
      <p:sp>
        <p:nvSpPr>
          <p:cNvPr id="23" name="TextBox 22"/>
          <p:cNvSpPr txBox="1"/>
          <p:nvPr/>
        </p:nvSpPr>
        <p:spPr>
          <a:xfrm>
            <a:off x="6397600" y="4094226"/>
            <a:ext cx="1134180"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Sabhi 30</a:t>
            </a:r>
          </a:p>
        </p:txBody>
      </p:sp>
      <p:sp>
        <p:nvSpPr>
          <p:cNvPr id="24" name="Rounded Rectangle 23"/>
          <p:cNvSpPr/>
          <p:nvPr/>
        </p:nvSpPr>
        <p:spPr>
          <a:xfrm>
            <a:off x="7641507" y="4267962"/>
            <a:ext cx="3337679"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7641507" y="4267962"/>
            <a:ext cx="2225119" cy="310896"/>
          </a:xfrm>
          <a:prstGeom prst="roundRect">
            <a:avLst>
              <a:gd name="adj" fmla="val 50000"/>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11070626" y="4094226"/>
            <a:ext cx="508421" cy="658368"/>
          </a:xfrm>
          <a:prstGeom prst="rect">
            <a:avLst/>
          </a:prstGeom>
          <a:noFill/>
        </p:spPr>
        <p:txBody>
          <a:bodyPr wrap="square" lIns="0" rIns="0" tIns="0" bIns="0" anchor="ctr">
            <a:noAutofit/>
          </a:bodyPr>
          <a:lstStyle/>
          <a:p>
            <a:pPr algn="l">
              <a:lnSpc>
                <a:spcPct val="100000"/>
              </a:lnSpc>
            </a:pPr>
            <a:r>
              <a:rPr sz="1400" b="1" i="0">
                <a:solidFill>
                  <a:srgbClr val="095A90"/>
                </a:solidFill>
                <a:latin typeface="Segoe UI"/>
              </a:rPr>
              <a:t>40%</a:t>
            </a:r>
          </a:p>
        </p:txBody>
      </p:sp>
      <p:sp>
        <p:nvSpPr>
          <p:cNvPr id="27" name="Rounded Rectangle 26"/>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ounded Rectangle 27"/>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9" name="TextBox 28"/>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Agar rule ko past ke hisaab se badla hai, toh ab wahi past use test nahi kar sakta.</a:t>
            </a:r>
          </a:p>
        </p:txBody>
      </p:sp>
      <p:pic>
        <p:nvPicPr>
          <p:cNvPr id="30" name="Picture 29" descr="logo.png"/>
          <p:cNvPicPr>
            <a:picLocks noChangeAspect="1"/>
          </p:cNvPicPr>
          <p:nvPr/>
        </p:nvPicPr>
        <p:blipFill>
          <a:blip r:embed="rId2"/>
          <a:stretch>
            <a:fillRect/>
          </a:stretch>
        </p:blipFill>
        <p:spPr>
          <a:xfrm>
            <a:off x="457200" y="6437376"/>
            <a:ext cx="237744" cy="237744"/>
          </a:xfrm>
          <a:prstGeom prst="rect">
            <a:avLst/>
          </a:prstGeom>
        </p:spPr>
      </p:pic>
      <p:sp>
        <p:nvSpPr>
          <p:cNvPr id="3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2" name="TextBox 3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ke naye shabd</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63040"/>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Backtest</a:t>
            </a:r>
          </a:p>
        </p:txBody>
      </p:sp>
      <p:sp>
        <p:nvSpPr>
          <p:cNvPr id="6" name="TextBox 5"/>
          <p:cNvSpPr txBox="1"/>
          <p:nvPr/>
        </p:nvSpPr>
        <p:spPr>
          <a:xfrm>
            <a:off x="658368" y="1746504"/>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Apne likhe hue rules ko purane charts par chalakar dekhna ki kya hota. Results hypothetical hote hain: kaagaz par nikale gaye, asli paise se kamaye nahi.</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507236"/>
            <a:ext cx="5154016" cy="269748"/>
          </a:xfrm>
          <a:prstGeom prst="rect">
            <a:avLst/>
          </a:prstGeom>
          <a:noFill/>
        </p:spPr>
        <p:txBody>
          <a:bodyPr wrap="square" lIns="0" rIns="0" tIns="0" bIns="0" anchor="t">
            <a:noAutofit/>
          </a:bodyPr>
          <a:lstStyle/>
          <a:p>
            <a:pPr algn="l">
              <a:lnSpc>
                <a:spcPct val="100000"/>
              </a:lnSpc>
            </a:pPr>
            <a:r>
              <a:rPr sz="1650" b="1" i="0">
                <a:solidFill>
                  <a:srgbClr val="92400E"/>
                </a:solidFill>
                <a:latin typeface="Segoe UI"/>
              </a:rPr>
              <a:t>Look-ahead bias</a:t>
            </a:r>
          </a:p>
        </p:txBody>
      </p:sp>
      <p:sp>
        <p:nvSpPr>
          <p:cNvPr id="9" name="TextBox 8"/>
          <p:cNvSpPr txBox="1"/>
          <p:nvPr/>
        </p:nvSpPr>
        <p:spPr>
          <a:xfrm>
            <a:off x="6379312" y="1813560"/>
            <a:ext cx="5154016" cy="47853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Test mein aisi jaankari use karna jo decision ke waqt aapke paas nahi ho sakti thi, jaise baad ki candle.</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82824"/>
            <a:ext cx="5154016" cy="269748"/>
          </a:xfrm>
          <a:prstGeom prst="rect">
            <a:avLst/>
          </a:prstGeom>
          <a:noFill/>
        </p:spPr>
        <p:txBody>
          <a:bodyPr wrap="square" lIns="0" rIns="0" tIns="0" bIns="0" anchor="t">
            <a:noAutofit/>
          </a:bodyPr>
          <a:lstStyle/>
          <a:p>
            <a:pPr algn="l">
              <a:lnSpc>
                <a:spcPct val="100000"/>
              </a:lnSpc>
            </a:pPr>
            <a:r>
              <a:rPr sz="1650" b="1" i="0">
                <a:solidFill>
                  <a:srgbClr val="92400E"/>
                </a:solidFill>
                <a:latin typeface="Segoe UI"/>
              </a:rPr>
              <a:t>Survivorship bias</a:t>
            </a:r>
          </a:p>
        </p:txBody>
      </p:sp>
      <p:sp>
        <p:nvSpPr>
          <p:cNvPr id="12" name="TextBox 11"/>
          <p:cNvSpPr txBox="1"/>
          <p:nvPr/>
        </p:nvSpPr>
        <p:spPr>
          <a:xfrm>
            <a:off x="658368" y="3089148"/>
            <a:ext cx="5154016" cy="47853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Sirf un companies par test karna jo aaj tak tiki rahin; jo doob gayin ya index se bahar ho gayin, woh chhoot jaati hain.</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82824"/>
            <a:ext cx="5154016" cy="269748"/>
          </a:xfrm>
          <a:prstGeom prst="rect">
            <a:avLst/>
          </a:prstGeom>
          <a:noFill/>
        </p:spPr>
        <p:txBody>
          <a:bodyPr wrap="square" lIns="0" rIns="0" tIns="0" bIns="0" anchor="t">
            <a:noAutofit/>
          </a:bodyPr>
          <a:lstStyle/>
          <a:p>
            <a:pPr algn="l">
              <a:lnSpc>
                <a:spcPct val="100000"/>
              </a:lnSpc>
            </a:pPr>
            <a:r>
              <a:rPr sz="1650" b="1" i="0">
                <a:solidFill>
                  <a:srgbClr val="92400E"/>
                </a:solidFill>
                <a:latin typeface="Segoe UI"/>
              </a:rPr>
              <a:t>Adjusted prices</a:t>
            </a:r>
          </a:p>
        </p:txBody>
      </p:sp>
      <p:sp>
        <p:nvSpPr>
          <p:cNvPr id="15" name="TextBox 14"/>
          <p:cNvSpPr txBox="1"/>
          <p:nvPr/>
        </p:nvSpPr>
        <p:spPr>
          <a:xfrm>
            <a:off x="6379312" y="3089148"/>
            <a:ext cx="5154016" cy="47853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Split aur bonus issue ke hisaab se sudhaare gaye purane prices, taaki corporate action crash jaisa na dikhe.</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69842"/>
            <a:ext cx="5154016" cy="262128"/>
          </a:xfrm>
          <a:prstGeom prst="rect">
            <a:avLst/>
          </a:prstGeom>
          <a:noFill/>
        </p:spPr>
        <p:txBody>
          <a:bodyPr wrap="square" lIns="0" rIns="0" tIns="0" bIns="0" anchor="t">
            <a:noAutofit/>
          </a:bodyPr>
          <a:lstStyle/>
          <a:p>
            <a:pPr algn="l">
              <a:lnSpc>
                <a:spcPct val="100000"/>
              </a:lnSpc>
            </a:pPr>
            <a:r>
              <a:rPr sz="1600" b="1" i="0">
                <a:solidFill>
                  <a:srgbClr val="92400E"/>
                </a:solidFill>
                <a:latin typeface="Segoe UI"/>
              </a:rPr>
              <a:t>Maximum drawdown</a:t>
            </a:r>
          </a:p>
        </p:txBody>
      </p:sp>
      <p:sp>
        <p:nvSpPr>
          <p:cNvPr id="18" name="TextBox 17"/>
          <p:cNvSpPr txBox="1"/>
          <p:nvPr/>
        </p:nvSpPr>
        <p:spPr>
          <a:xfrm>
            <a:off x="658368" y="4368546"/>
            <a:ext cx="5154016" cy="463296"/>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Aapke cumulative R ka kisi peak se baad ke low tak sabse bada girna. Yeh woh sabse bura daur hai jise aapko jhelna padta.</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14216"/>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Curve-fitting</a:t>
            </a:r>
          </a:p>
        </p:txBody>
      </p:sp>
      <p:sp>
        <p:nvSpPr>
          <p:cNvPr id="21" name="TextBox 20"/>
          <p:cNvSpPr txBox="1"/>
          <p:nvPr/>
        </p:nvSpPr>
        <p:spPr>
          <a:xfrm>
            <a:off x="6379312"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Rules ko tab tak tweak karna jab tak woh purane data par perfect fit na ho jaayein. Aksar yeh random noise par fit hota hai jo dobara nahi aata.</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289804"/>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Point-in-time list</a:t>
            </a:r>
          </a:p>
        </p:txBody>
      </p:sp>
      <p:sp>
        <p:nvSpPr>
          <p:cNvPr id="24" name="TextBox 23"/>
          <p:cNvSpPr txBox="1"/>
          <p:nvPr/>
        </p:nvSpPr>
        <p:spPr>
          <a:xfrm>
            <a:off x="658368"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Kisi index ya stocks ki list bilkul waisi jaisi woh kisi purani date par thi, baad mein jude aur hate naamon se pehle. Backtest survivorship bias kam karne ke liye yahi use karta hai.</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334000"/>
            <a:ext cx="5154016" cy="269748"/>
          </a:xfrm>
          <a:prstGeom prst="rect">
            <a:avLst/>
          </a:prstGeom>
          <a:noFill/>
        </p:spPr>
        <p:txBody>
          <a:bodyPr wrap="square" lIns="0" rIns="0" tIns="0" bIns="0" anchor="t">
            <a:noAutofit/>
          </a:bodyPr>
          <a:lstStyle/>
          <a:p>
            <a:pPr algn="l">
              <a:lnSpc>
                <a:spcPct val="100000"/>
              </a:lnSpc>
            </a:pPr>
            <a:r>
              <a:rPr sz="1650" b="1" i="0">
                <a:solidFill>
                  <a:srgbClr val="92400E"/>
                </a:solidFill>
                <a:latin typeface="Segoe UI"/>
              </a:rPr>
              <a:t>Equity curve</a:t>
            </a:r>
          </a:p>
        </p:txBody>
      </p:sp>
      <p:sp>
        <p:nvSpPr>
          <p:cNvPr id="27" name="TextBox 26"/>
          <p:cNvSpPr txBox="1"/>
          <p:nvPr/>
        </p:nvSpPr>
        <p:spPr>
          <a:xfrm>
            <a:off x="6379312" y="5640324"/>
            <a:ext cx="5154016" cy="47853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Aapke net R ke chalte total ki line, trade dar trade. Peak se iski har giraavat ek drawdown hai.</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saar, ek page par</a:t>
            </a:r>
          </a:p>
        </p:txBody>
      </p:sp>
      <p:cxnSp>
        <p:nvCxnSpPr>
          <p:cNvPr id="4" name="Connector 3"/>
          <p:cNvCxnSpPr/>
          <p:nvPr/>
        </p:nvCxnSpPr>
        <p:spPr>
          <a:xfrm flipH="1" flipV="1">
            <a:off x="4358488" y="2189988"/>
            <a:ext cx="502920" cy="161391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0"/>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613916"/>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068068"/>
            <a:ext cx="502920" cy="173583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7330288" y="3681984"/>
            <a:ext cx="502920" cy="121920"/>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613916"/>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Backtest Level 1</a:t>
            </a:r>
          </a:p>
        </p:txBody>
      </p:sp>
      <p:sp>
        <p:nvSpPr>
          <p:cNvPr id="11" name="Rounded Rectangle 10"/>
          <p:cNvSpPr/>
          <p:nvPr/>
        </p:nvSpPr>
        <p:spPr>
          <a:xfrm>
            <a:off x="640080" y="1465326"/>
            <a:ext cx="3718408" cy="1449324"/>
          </a:xfrm>
          <a:prstGeom prst="roundRect">
            <a:avLst>
              <a:gd name="adj" fmla="val 7570"/>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575054"/>
            <a:ext cx="3425800" cy="284988"/>
          </a:xfrm>
          <a:prstGeom prst="rect">
            <a:avLst/>
          </a:prstGeom>
          <a:noFill/>
        </p:spPr>
        <p:txBody>
          <a:bodyPr wrap="square" lIns="0" rIns="0" tIns="0" bIns="0" anchor="t">
            <a:noAutofit/>
          </a:bodyPr>
          <a:lstStyle/>
          <a:p>
            <a:pPr algn="l">
              <a:lnSpc>
                <a:spcPct val="100000"/>
              </a:lnSpc>
            </a:pPr>
            <a:r>
              <a:rPr sz="1750" b="1" i="0">
                <a:solidFill>
                  <a:srgbClr val="095A90"/>
                </a:solidFill>
                <a:latin typeface="Segoe UI"/>
              </a:rPr>
              <a:t>Pehle plan</a:t>
            </a:r>
          </a:p>
        </p:txBody>
      </p:sp>
      <p:sp>
        <p:nvSpPr>
          <p:cNvPr id="13" name="TextBox 12"/>
          <p:cNvSpPr txBox="1"/>
          <p:nvPr/>
        </p:nvSpPr>
        <p:spPr>
          <a:xfrm>
            <a:off x="786384" y="1914906"/>
            <a:ext cx="3425800" cy="999744"/>
          </a:xfrm>
          <a:prstGeom prst="rect">
            <a:avLst/>
          </a:prstGeom>
          <a:noFill/>
        </p:spPr>
        <p:txBody>
          <a:bodyPr wrap="square" lIns="0" rIns="0" tIns="0" bIns="0" anchor="t">
            <a:noAutofit/>
          </a:bodyPr>
          <a:lstStyle/>
          <a:p>
            <a:pPr algn="l" marL="182880" indent="-182880">
              <a:lnSpc>
                <a:spcPct val="100000"/>
              </a:lnSpc>
              <a:spcAft>
                <a:spcPts val="480"/>
              </a:spcAft>
              <a:buClr>
                <a:srgbClr val="0093D6"/>
              </a:buClr>
              <a:buFont typeface="Arial"/>
              <a:buChar char="•"/>
            </a:pPr>
            <a:r>
              <a:rPr sz="1600" b="0" i="0">
                <a:solidFill>
                  <a:srgbClr val="18232F"/>
                </a:solidFill>
                <a:latin typeface="Segoe UI"/>
              </a:rPr>
              <a:t>Stocks aur dates kaagaz par</a:t>
            </a:r>
          </a:p>
          <a:p>
            <a:pPr algn="l" marL="182880" indent="-182880">
              <a:lnSpc>
                <a:spcPct val="100000"/>
              </a:lnSpc>
              <a:spcAft>
                <a:spcPts val="480"/>
              </a:spcAft>
              <a:buClr>
                <a:srgbClr val="0093D6"/>
              </a:buClr>
              <a:buFont typeface="Arial"/>
              <a:buChar char="•"/>
            </a:pPr>
            <a:r>
              <a:rPr sz="1600" b="0" i="0">
                <a:solidFill>
                  <a:srgbClr val="18232F"/>
                </a:solidFill>
                <a:latin typeface="Segoe UI"/>
              </a:rPr>
              <a:t>30 tak Rule Card freeze</a:t>
            </a:r>
          </a:p>
          <a:p>
            <a:pPr algn="l" marL="182880" indent="-182880">
              <a:lnSpc>
                <a:spcPct val="100000"/>
              </a:lnSpc>
              <a:buClr>
                <a:srgbClr val="0093D6"/>
              </a:buClr>
              <a:buFont typeface="Arial"/>
              <a:buChar char="•"/>
            </a:pPr>
            <a:r>
              <a:rPr sz="1600" b="0" i="0">
                <a:solidFill>
                  <a:srgbClr val="18232F"/>
                </a:solidFill>
                <a:latin typeface="Segoe UI"/>
              </a:rPr>
              <a:t>EMA Pullback, daily charts</a:t>
            </a:r>
          </a:p>
        </p:txBody>
      </p:sp>
      <p:sp>
        <p:nvSpPr>
          <p:cNvPr id="14" name="Rounded Rectangle 13"/>
          <p:cNvSpPr/>
          <p:nvPr/>
        </p:nvSpPr>
        <p:spPr>
          <a:xfrm>
            <a:off x="640080" y="3079242"/>
            <a:ext cx="3718408" cy="1449324"/>
          </a:xfrm>
          <a:prstGeom prst="roundRect">
            <a:avLst>
              <a:gd name="adj" fmla="val 7570"/>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188970"/>
            <a:ext cx="3425800" cy="284988"/>
          </a:xfrm>
          <a:prstGeom prst="rect">
            <a:avLst/>
          </a:prstGeom>
          <a:noFill/>
        </p:spPr>
        <p:txBody>
          <a:bodyPr wrap="square" lIns="0" rIns="0" tIns="0" bIns="0" anchor="t">
            <a:noAutofit/>
          </a:bodyPr>
          <a:lstStyle/>
          <a:p>
            <a:pPr algn="l">
              <a:lnSpc>
                <a:spcPct val="100000"/>
              </a:lnSpc>
            </a:pPr>
            <a:r>
              <a:rPr sz="1750" b="1" i="0">
                <a:solidFill>
                  <a:srgbClr val="92400E"/>
                </a:solidFill>
                <a:latin typeface="Segoe UI"/>
              </a:rPr>
              <a:t>Aage ka chart chhupaiye</a:t>
            </a:r>
          </a:p>
        </p:txBody>
      </p:sp>
      <p:sp>
        <p:nvSpPr>
          <p:cNvPr id="16" name="TextBox 15"/>
          <p:cNvSpPr txBox="1"/>
          <p:nvPr/>
        </p:nvSpPr>
        <p:spPr>
          <a:xfrm>
            <a:off x="786384" y="3528822"/>
            <a:ext cx="3425800" cy="999744"/>
          </a:xfrm>
          <a:prstGeom prst="rect">
            <a:avLst/>
          </a:prstGeom>
          <a:noFill/>
        </p:spPr>
        <p:txBody>
          <a:bodyPr wrap="square" lIns="0" rIns="0" tIns="0" bIns="0" anchor="t">
            <a:noAutofit/>
          </a:bodyPr>
          <a:lstStyle/>
          <a:p>
            <a:pPr algn="l" marL="182880" indent="-182880">
              <a:lnSpc>
                <a:spcPct val="100000"/>
              </a:lnSpc>
              <a:spcAft>
                <a:spcPts val="480"/>
              </a:spcAft>
              <a:buClr>
                <a:srgbClr val="F5A524"/>
              </a:buClr>
              <a:buFont typeface="Arial"/>
              <a:buChar char="•"/>
            </a:pPr>
            <a:r>
              <a:rPr sz="1600" b="0" i="0">
                <a:solidFill>
                  <a:srgbClr val="18232F"/>
                </a:solidFill>
                <a:latin typeface="Segoe UI"/>
              </a:rPr>
              <a:t>Bar Replay ya chart dhakiye</a:t>
            </a:r>
          </a:p>
          <a:p>
            <a:pPr algn="l" marL="182880" indent="-182880">
              <a:lnSpc>
                <a:spcPct val="100000"/>
              </a:lnSpc>
              <a:spcAft>
                <a:spcPts val="480"/>
              </a:spcAft>
              <a:buClr>
                <a:srgbClr val="F5A524"/>
              </a:buClr>
              <a:buFont typeface="Arial"/>
              <a:buChar char="•"/>
            </a:pPr>
            <a:r>
              <a:rPr sz="1600" b="0" i="0">
                <a:solidFill>
                  <a:srgbClr val="18232F"/>
                </a:solidFill>
                <a:latin typeface="Segoe UI"/>
              </a:rPr>
              <a:t>Agli candle se pehle faisla</a:t>
            </a:r>
          </a:p>
          <a:p>
            <a:pPr algn="l" marL="182880" indent="-182880">
              <a:lnSpc>
                <a:spcPct val="100000"/>
              </a:lnSpc>
              <a:buClr>
                <a:srgbClr val="F5A524"/>
              </a:buClr>
              <a:buFont typeface="Arial"/>
              <a:buChar char="•"/>
            </a:pPr>
            <a:r>
              <a:rPr sz="1600" b="0" i="0">
                <a:solidFill>
                  <a:srgbClr val="18232F"/>
                </a:solidFill>
                <a:latin typeface="Segoe UI"/>
              </a:rPr>
              <a:t>Entry agle open par</a:t>
            </a:r>
          </a:p>
        </p:txBody>
      </p:sp>
      <p:sp>
        <p:nvSpPr>
          <p:cNvPr id="17" name="Rounded Rectangle 16"/>
          <p:cNvSpPr/>
          <p:nvPr/>
        </p:nvSpPr>
        <p:spPr>
          <a:xfrm>
            <a:off x="640080" y="4693158"/>
            <a:ext cx="3718408" cy="1449324"/>
          </a:xfrm>
          <a:prstGeom prst="roundRect">
            <a:avLst>
              <a:gd name="adj" fmla="val 7570"/>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802886"/>
            <a:ext cx="3425800" cy="284988"/>
          </a:xfrm>
          <a:prstGeom prst="rect">
            <a:avLst/>
          </a:prstGeom>
          <a:noFill/>
        </p:spPr>
        <p:txBody>
          <a:bodyPr wrap="square" lIns="0" rIns="0" tIns="0" bIns="0" anchor="t">
            <a:noAutofit/>
          </a:bodyPr>
          <a:lstStyle/>
          <a:p>
            <a:pPr algn="l">
              <a:lnSpc>
                <a:spcPct val="100000"/>
              </a:lnSpc>
            </a:pPr>
            <a:r>
              <a:rPr sz="1750" b="1" i="0">
                <a:solidFill>
                  <a:srgbClr val="166534"/>
                </a:solidFill>
                <a:latin typeface="Segoe UI"/>
              </a:rPr>
              <a:t>R mein log</a:t>
            </a:r>
          </a:p>
        </p:txBody>
      </p:sp>
      <p:sp>
        <p:nvSpPr>
          <p:cNvPr id="19" name="TextBox 18"/>
          <p:cNvSpPr txBox="1"/>
          <p:nvPr/>
        </p:nvSpPr>
        <p:spPr>
          <a:xfrm>
            <a:off x="786384" y="5142738"/>
            <a:ext cx="3425800" cy="999744"/>
          </a:xfrm>
          <a:prstGeom prst="rect">
            <a:avLst/>
          </a:prstGeom>
          <a:noFill/>
        </p:spPr>
        <p:txBody>
          <a:bodyPr wrap="square" lIns="0" rIns="0" tIns="0" bIns="0" anchor="t">
            <a:noAutofit/>
          </a:bodyPr>
          <a:lstStyle/>
          <a:p>
            <a:pPr algn="l" marL="182880" indent="-182880">
              <a:lnSpc>
                <a:spcPct val="100000"/>
              </a:lnSpc>
              <a:spcAft>
                <a:spcPts val="480"/>
              </a:spcAft>
              <a:buClr>
                <a:srgbClr val="16A34A"/>
              </a:buClr>
              <a:buFont typeface="Arial"/>
              <a:buChar char="•"/>
            </a:pPr>
            <a:r>
              <a:rPr sz="1600" b="0" i="0">
                <a:solidFill>
                  <a:srgbClr val="18232F"/>
                </a:solidFill>
                <a:latin typeface="Segoe UI"/>
              </a:rPr>
              <a:t>(exit - entry) ÷ (entry - stop)</a:t>
            </a:r>
          </a:p>
          <a:p>
            <a:pPr algn="l" marL="182880" indent="-182880">
              <a:lnSpc>
                <a:spcPct val="100000"/>
              </a:lnSpc>
              <a:spcAft>
                <a:spcPts val="480"/>
              </a:spcAft>
              <a:buClr>
                <a:srgbClr val="16A34A"/>
              </a:buClr>
              <a:buFont typeface="Arial"/>
              <a:buChar char="•"/>
            </a:pPr>
            <a:r>
              <a:rPr sz="1600" b="0" i="0">
                <a:solidFill>
                  <a:srgbClr val="18232F"/>
                </a:solidFill>
                <a:latin typeface="Segoe UI"/>
              </a:rPr>
              <a:t>Costs R mein minus</a:t>
            </a:r>
          </a:p>
          <a:p>
            <a:pPr algn="l" marL="182880" indent="-182880">
              <a:lnSpc>
                <a:spcPct val="100000"/>
              </a:lnSpc>
              <a:buClr>
                <a:srgbClr val="16A34A"/>
              </a:buClr>
              <a:buFont typeface="Arial"/>
              <a:buChar char="•"/>
            </a:pPr>
            <a:r>
              <a:rPr sz="1600" b="0" i="0">
                <a:solidFill>
                  <a:srgbClr val="18232F"/>
                </a:solidFill>
                <a:latin typeface="Segoe UI"/>
              </a:rPr>
              <a:t>Gap ho toh open par exit</a:t>
            </a:r>
          </a:p>
        </p:txBody>
      </p:sp>
      <p:sp>
        <p:nvSpPr>
          <p:cNvPr id="20" name="Rounded Rectangle 19"/>
          <p:cNvSpPr/>
          <p:nvPr/>
        </p:nvSpPr>
        <p:spPr>
          <a:xfrm>
            <a:off x="7833208" y="1343406"/>
            <a:ext cx="3718408" cy="1449324"/>
          </a:xfrm>
          <a:prstGeom prst="roundRect">
            <a:avLst>
              <a:gd name="adj" fmla="val 7570"/>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453134"/>
            <a:ext cx="3425800" cy="284988"/>
          </a:xfrm>
          <a:prstGeom prst="rect">
            <a:avLst/>
          </a:prstGeom>
          <a:noFill/>
        </p:spPr>
        <p:txBody>
          <a:bodyPr wrap="square" lIns="0" rIns="0" tIns="0" bIns="0" anchor="t">
            <a:noAutofit/>
          </a:bodyPr>
          <a:lstStyle/>
          <a:p>
            <a:pPr algn="l">
              <a:lnSpc>
                <a:spcPct val="100000"/>
              </a:lnSpc>
            </a:pPr>
            <a:r>
              <a:rPr sz="1750" b="1" i="0">
                <a:solidFill>
                  <a:srgbClr val="095A90"/>
                </a:solidFill>
                <a:latin typeface="Segoe UI"/>
              </a:rPr>
              <a:t>Log padhiye</a:t>
            </a:r>
          </a:p>
        </p:txBody>
      </p:sp>
      <p:sp>
        <p:nvSpPr>
          <p:cNvPr id="22" name="TextBox 21"/>
          <p:cNvSpPr txBox="1"/>
          <p:nvPr/>
        </p:nvSpPr>
        <p:spPr>
          <a:xfrm>
            <a:off x="7979512" y="1792986"/>
            <a:ext cx="3425800" cy="999744"/>
          </a:xfrm>
          <a:prstGeom prst="rect">
            <a:avLst/>
          </a:prstGeom>
          <a:noFill/>
        </p:spPr>
        <p:txBody>
          <a:bodyPr wrap="square" lIns="0" rIns="0" tIns="0" bIns="0" anchor="t">
            <a:noAutofit/>
          </a:bodyPr>
          <a:lstStyle/>
          <a:p>
            <a:pPr algn="l" marL="182880" indent="-182880">
              <a:lnSpc>
                <a:spcPct val="100000"/>
              </a:lnSpc>
              <a:spcAft>
                <a:spcPts val="480"/>
              </a:spcAft>
              <a:buClr>
                <a:srgbClr val="0093D6"/>
              </a:buClr>
              <a:buFont typeface="Arial"/>
              <a:buChar char="•"/>
            </a:pPr>
            <a:r>
              <a:rPr sz="1600" b="0" i="0">
                <a:solidFill>
                  <a:srgbClr val="18232F"/>
                </a:solidFill>
                <a:latin typeface="Segoe UI"/>
              </a:rPr>
              <a:t>Win-rate aur expectancy</a:t>
            </a:r>
          </a:p>
          <a:p>
            <a:pPr algn="l" marL="182880" indent="-182880">
              <a:lnSpc>
                <a:spcPct val="100000"/>
              </a:lnSpc>
              <a:spcAft>
                <a:spcPts val="480"/>
              </a:spcAft>
              <a:buClr>
                <a:srgbClr val="0093D6"/>
              </a:buClr>
              <a:buFont typeface="Arial"/>
              <a:buChar char="•"/>
            </a:pPr>
            <a:r>
              <a:rPr sz="1600" b="0" i="0">
                <a:solidFill>
                  <a:srgbClr val="18232F"/>
                </a:solidFill>
                <a:latin typeface="Segoe UI"/>
              </a:rPr>
              <a:t>Max drawdown, losing streak</a:t>
            </a:r>
          </a:p>
          <a:p>
            <a:pPr algn="l" marL="182880" indent="-182880">
              <a:lnSpc>
                <a:spcPct val="100000"/>
              </a:lnSpc>
              <a:buClr>
                <a:srgbClr val="0093D6"/>
              </a:buClr>
              <a:buFont typeface="Arial"/>
              <a:buChar char="•"/>
            </a:pPr>
            <a:r>
              <a:rPr sz="1600" b="0" i="0">
                <a:solidFill>
                  <a:srgbClr val="18232F"/>
                </a:solidFill>
                <a:latin typeface="Segoe UI"/>
              </a:rPr>
              <a:t>R mein equity curve</a:t>
            </a:r>
          </a:p>
        </p:txBody>
      </p:sp>
      <p:sp>
        <p:nvSpPr>
          <p:cNvPr id="23" name="Rounded Rectangle 22"/>
          <p:cNvSpPr/>
          <p:nvPr/>
        </p:nvSpPr>
        <p:spPr>
          <a:xfrm>
            <a:off x="7833208" y="2957322"/>
            <a:ext cx="3718408" cy="1449324"/>
          </a:xfrm>
          <a:prstGeom prst="roundRect">
            <a:avLst>
              <a:gd name="adj" fmla="val 7570"/>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067050"/>
            <a:ext cx="3425800" cy="284988"/>
          </a:xfrm>
          <a:prstGeom prst="rect">
            <a:avLst/>
          </a:prstGeom>
          <a:noFill/>
        </p:spPr>
        <p:txBody>
          <a:bodyPr wrap="square" lIns="0" rIns="0" tIns="0" bIns="0" anchor="t">
            <a:noAutofit/>
          </a:bodyPr>
          <a:lstStyle/>
          <a:p>
            <a:pPr algn="l">
              <a:lnSpc>
                <a:spcPct val="100000"/>
              </a:lnSpc>
            </a:pPr>
            <a:r>
              <a:rPr sz="1750" b="1" i="0">
                <a:solidFill>
                  <a:srgbClr val="991B1B"/>
                </a:solidFill>
                <a:latin typeface="Segoe UI"/>
              </a:rPr>
              <a:t>Data ke jaal</a:t>
            </a:r>
          </a:p>
        </p:txBody>
      </p:sp>
      <p:sp>
        <p:nvSpPr>
          <p:cNvPr id="25" name="TextBox 24"/>
          <p:cNvSpPr txBox="1"/>
          <p:nvPr/>
        </p:nvSpPr>
        <p:spPr>
          <a:xfrm>
            <a:off x="7979512" y="3406902"/>
            <a:ext cx="3425800" cy="999744"/>
          </a:xfrm>
          <a:prstGeom prst="rect">
            <a:avLst/>
          </a:prstGeom>
          <a:noFill/>
        </p:spPr>
        <p:txBody>
          <a:bodyPr wrap="square" lIns="0" rIns="0" tIns="0" bIns="0" anchor="t">
            <a:noAutofit/>
          </a:bodyPr>
          <a:lstStyle/>
          <a:p>
            <a:pPr algn="l" marL="182880" indent="-182880">
              <a:lnSpc>
                <a:spcPct val="100000"/>
              </a:lnSpc>
              <a:spcAft>
                <a:spcPts val="480"/>
              </a:spcAft>
              <a:buClr>
                <a:srgbClr val="F0554E"/>
              </a:buClr>
              <a:buFont typeface="Arial"/>
              <a:buChar char="•"/>
            </a:pPr>
            <a:r>
              <a:rPr sz="1600" b="0" i="0">
                <a:solidFill>
                  <a:srgbClr val="18232F"/>
                </a:solidFill>
                <a:latin typeface="Segoe UI"/>
              </a:rPr>
              <a:t>Survivorship bias</a:t>
            </a:r>
          </a:p>
          <a:p>
            <a:pPr algn="l" marL="182880" indent="-182880">
              <a:lnSpc>
                <a:spcPct val="100000"/>
              </a:lnSpc>
              <a:spcAft>
                <a:spcPts val="480"/>
              </a:spcAft>
              <a:buClr>
                <a:srgbClr val="F0554E"/>
              </a:buClr>
              <a:buFont typeface="Arial"/>
              <a:buChar char="•"/>
            </a:pPr>
            <a:r>
              <a:rPr sz="1600" b="0" i="0">
                <a:solidFill>
                  <a:srgbClr val="18232F"/>
                </a:solidFill>
                <a:latin typeface="Segoe UI"/>
              </a:rPr>
              <a:t>Point-in-time index list</a:t>
            </a:r>
          </a:p>
          <a:p>
            <a:pPr algn="l" marL="182880" indent="-182880">
              <a:lnSpc>
                <a:spcPct val="100000"/>
              </a:lnSpc>
              <a:buClr>
                <a:srgbClr val="F0554E"/>
              </a:buClr>
              <a:buFont typeface="Arial"/>
              <a:buChar char="•"/>
            </a:pPr>
            <a:r>
              <a:rPr sz="1600" b="0" i="0">
                <a:solidFill>
                  <a:srgbClr val="18232F"/>
                </a:solidFill>
                <a:latin typeface="Segoe UI"/>
              </a:rPr>
              <a:t>Unadjusted split aur bonus</a:t>
            </a:r>
          </a:p>
        </p:txBody>
      </p:sp>
      <p:sp>
        <p:nvSpPr>
          <p:cNvPr id="26" name="Rounded Rectangle 25"/>
          <p:cNvSpPr/>
          <p:nvPr/>
        </p:nvSpPr>
        <p:spPr>
          <a:xfrm>
            <a:off x="7833208" y="4571238"/>
            <a:ext cx="3718408" cy="1693164"/>
          </a:xfrm>
          <a:prstGeom prst="roundRect">
            <a:avLst>
              <a:gd name="adj" fmla="val 6480"/>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4680966"/>
            <a:ext cx="3425800" cy="284988"/>
          </a:xfrm>
          <a:prstGeom prst="rect">
            <a:avLst/>
          </a:prstGeom>
          <a:noFill/>
        </p:spPr>
        <p:txBody>
          <a:bodyPr wrap="square" lIns="0" rIns="0" tIns="0" bIns="0" anchor="t">
            <a:noAutofit/>
          </a:bodyPr>
          <a:lstStyle/>
          <a:p>
            <a:pPr algn="l">
              <a:lnSpc>
                <a:spcPct val="100000"/>
              </a:lnSpc>
            </a:pPr>
            <a:r>
              <a:rPr sz="1750" b="1" i="0">
                <a:solidFill>
                  <a:srgbClr val="92400E"/>
                </a:solidFill>
                <a:latin typeface="Segoe UI"/>
              </a:rPr>
              <a:t>Aapka mann</a:t>
            </a:r>
          </a:p>
        </p:txBody>
      </p:sp>
      <p:sp>
        <p:nvSpPr>
          <p:cNvPr id="28" name="TextBox 27"/>
          <p:cNvSpPr txBox="1"/>
          <p:nvPr/>
        </p:nvSpPr>
        <p:spPr>
          <a:xfrm>
            <a:off x="7979512" y="5020818"/>
            <a:ext cx="3425800" cy="1243584"/>
          </a:xfrm>
          <a:prstGeom prst="rect">
            <a:avLst/>
          </a:prstGeom>
          <a:noFill/>
        </p:spPr>
        <p:txBody>
          <a:bodyPr wrap="square" lIns="0" rIns="0" tIns="0" bIns="0" anchor="t">
            <a:noAutofit/>
          </a:bodyPr>
          <a:lstStyle/>
          <a:p>
            <a:pPr algn="l" marL="182880" indent="-182880">
              <a:lnSpc>
                <a:spcPct val="100000"/>
              </a:lnSpc>
              <a:spcAft>
                <a:spcPts val="480"/>
              </a:spcAft>
              <a:buClr>
                <a:srgbClr val="F5A524"/>
              </a:buClr>
              <a:buFont typeface="Arial"/>
              <a:buChar char="•"/>
            </a:pPr>
            <a:r>
              <a:rPr sz="1600" b="0" i="0">
                <a:solidFill>
                  <a:srgbClr val="18232F"/>
                </a:solidFill>
                <a:latin typeface="Segoe UI"/>
              </a:rPr>
              <a:t>Curve-fitting ki ummeed</a:t>
            </a:r>
          </a:p>
          <a:p>
            <a:pPr algn="l" marL="182880" indent="-182880">
              <a:lnSpc>
                <a:spcPct val="100000"/>
              </a:lnSpc>
              <a:spcAft>
                <a:spcPts val="480"/>
              </a:spcAft>
              <a:buClr>
                <a:srgbClr val="F5A524"/>
              </a:buClr>
              <a:buFont typeface="Arial"/>
              <a:buChar char="•"/>
            </a:pPr>
            <a:r>
              <a:rPr sz="1600" b="0" i="0">
                <a:solidFill>
                  <a:srgbClr val="18232F"/>
                </a:solidFill>
                <a:latin typeface="Segoe UI"/>
              </a:rPr>
              <a:t>30 = pehli jhalak, 100 = confidence</a:t>
            </a:r>
          </a:p>
          <a:p>
            <a:pPr algn="l" marL="182880" indent="-182880">
              <a:lnSpc>
                <a:spcPct val="100000"/>
              </a:lnSpc>
              <a:buClr>
                <a:srgbClr val="F5A524"/>
              </a:buClr>
              <a:buFont typeface="Arial"/>
              <a:buChar char="•"/>
            </a:pPr>
            <a:r>
              <a:rPr sz="1600" b="0" i="0">
                <a:solidFill>
                  <a:srgbClr val="18232F"/>
                </a:solidFill>
                <a:latin typeface="Segoe UI"/>
              </a:rPr>
              <a:t>Hypothetical, vada nahi</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AAJ KA KAAM</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60 min</a:t>
            </a:r>
          </a:p>
        </p:txBody>
      </p:sp>
      <p:sp>
        <p:nvSpPr>
          <p:cNvPr id="5" name="TextBox 4"/>
          <p:cNvSpPr txBox="1"/>
          <p:nvPr/>
        </p:nvSpPr>
        <p:spPr>
          <a:xfrm>
            <a:off x="457200" y="1335024"/>
            <a:ext cx="11277295" cy="768096"/>
          </a:xfrm>
          <a:prstGeom prst="rect">
            <a:avLst/>
          </a:prstGeom>
          <a:noFill/>
        </p:spPr>
        <p:txBody>
          <a:bodyPr wrap="square" lIns="0" rIns="0" tIns="0" bIns="0" anchor="t">
            <a:noAutofit/>
          </a:bodyPr>
          <a:lstStyle/>
          <a:p>
            <a:pPr algn="l">
              <a:lnSpc>
                <a:spcPct val="100000"/>
              </a:lnSpc>
            </a:pPr>
            <a:r>
              <a:rPr sz="1600" b="1" i="0">
                <a:solidFill>
                  <a:srgbClr val="18232F"/>
                </a:solidFill>
                <a:latin typeface="Segoe UI"/>
              </a:rPr>
              <a:t>Aaj ek imaandar backtest set up kijiye aur pehle 3 trades log kijiye; poore 30 agle 7 din mein khatam kijiye aur apne chaar numbers Week 3 review mein jodiye (Day 21 par, ya trade 30 baaki ho toh uske baad ke catch-up hafte mein).</a:t>
            </a:r>
          </a:p>
        </p:txBody>
      </p:sp>
      <p:sp>
        <p:nvSpPr>
          <p:cNvPr id="6" name="Rounded Rectangle 5"/>
          <p:cNvSpPr/>
          <p:nvPr/>
        </p:nvSpPr>
        <p:spPr>
          <a:xfrm>
            <a:off x="457200" y="2249424"/>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359152"/>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1</a:t>
            </a:r>
          </a:p>
        </p:txBody>
      </p:sp>
      <p:sp>
        <p:nvSpPr>
          <p:cNvPr id="8" name="Rounded Rectangle 7"/>
          <p:cNvSpPr/>
          <p:nvPr/>
        </p:nvSpPr>
        <p:spPr>
          <a:xfrm>
            <a:off x="11332159" y="23774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350008"/>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'Aapka template' mein diya test plan aur Backtest Log Google Sheet ya notebook mein copy kijiye, stocks chhod kar plan ki har line bhariye, aur likhiye 'v1, trade 30 tak freeze'. Chahein toh AI Lab ka 'Backtest stats sheet' prompt formulas jod dega; pehle unhe Priya ki 14 sample rows par test kijiye (6.23R ka maximum drawdown aur lagaataar 5 loss dikhne chahiye).</a:t>
            </a:r>
          </a:p>
        </p:txBody>
      </p:sp>
      <p:sp>
        <p:nvSpPr>
          <p:cNvPr id="10" name="Rounded Rectangle 9"/>
          <p:cNvSpPr/>
          <p:nvPr/>
        </p:nvSpPr>
        <p:spPr>
          <a:xfrm>
            <a:off x="457200" y="3517392"/>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3627120"/>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a:t>
            </a:r>
          </a:p>
        </p:txBody>
      </p:sp>
      <p:sp>
        <p:nvSpPr>
          <p:cNvPr id="12" name="Rounded Rectangle 11"/>
          <p:cNvSpPr/>
          <p:nvPr/>
        </p:nvSpPr>
        <p:spPr>
          <a:xfrm>
            <a:off x="11332159" y="364540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3617976"/>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Apna cost number check kijiye: kisi broker ke public brokerage calculator par (account ki zaroorat nahi) lagbhag Rs 2.5 lakh ki delivery kharid-bikri ke total charges note kijiye, jo 25% cap ke hisaab se aapki sabse badi position hai, slippage ka andaaza jodiye aur Rs 10,000 se divide kijiye. Agar total 0.1R (Rs 1,000) se zyada aaye toh apna number lijiye, warna har trade par Day 12 wala 0.1R allowance.</a:t>
            </a:r>
          </a:p>
        </p:txBody>
      </p:sp>
      <p:sp>
        <p:nvSpPr>
          <p:cNvPr id="14" name="Rounded Rectangle 13"/>
          <p:cNvSpPr/>
          <p:nvPr/>
        </p:nvSpPr>
        <p:spPr>
          <a:xfrm>
            <a:off x="457200" y="4785360"/>
            <a:ext cx="11277295" cy="1420368"/>
          </a:xfrm>
          <a:prstGeom prst="roundRect">
            <a:avLst>
              <a:gd name="adj" fmla="val 643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489508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a:t>
            </a:r>
          </a:p>
        </p:txBody>
      </p:sp>
      <p:sp>
        <p:nvSpPr>
          <p:cNvPr id="16" name="Rounded Rectangle 15"/>
          <p:cNvSpPr/>
          <p:nvPr/>
        </p:nvSpPr>
        <p:spPr>
          <a:xfrm>
            <a:off x="11332159" y="491337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4885944"/>
            <a:ext cx="10042855" cy="125577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Koi bhi chart dekhne se pehle stocks chuniye: niftyindices.com par apni start date ke baad ke NIFTY 50 badlaav wale press releases kholiye, us din jaisi list dobara banaiye, Google Sheets mein RAND() se 3-5 naam nikaaliye aur jo naam nikle sab rakhiye, woh bhi jiske baare mein yaad hai ki chadha tha. Aaj itna bhaari lage? Aaj ki list lijiye aur plan mein 'survivorship risk' likhiye. Yeh naam sirf test ki drill hain, buy list nahi; inhe kabhi tips ki tarah share mat kijiye.</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AAJ KA KAAM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60 min</a:t>
            </a:r>
          </a:p>
        </p:txBody>
      </p:sp>
      <p:sp>
        <p:nvSpPr>
          <p:cNvPr id="5" name="Rounded Rectangle 4"/>
          <p:cNvSpPr/>
          <p:nvPr/>
        </p:nvSpPr>
        <p:spPr>
          <a:xfrm>
            <a:off x="457200" y="1335024"/>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TradingView ke free daily chart par EMA 20, EMA 50, RSI 14 aur ATR 14 lagaiye, Bar Replay on kijiye aur apni start date ko pehli candle chuniye (free sign-in lag sakta hai, broker account kabhi nahi), ya chart peeche scroll karke screen ka right hissa dhak dijiye. Agar free plan indicators ki limit laga de, toh dono EMAs ke liye ek moving-average ribbon lagaiye aur RSI aur ATR baari-baari se dekhiye, jaise Day 8 mein kiya tha.</a:t>
            </a:r>
          </a:p>
        </p:txBody>
      </p:sp>
      <p:sp>
        <p:nvSpPr>
          <p:cNvPr id="9" name="Rounded Rectangle 8"/>
          <p:cNvSpPr/>
          <p:nvPr/>
        </p:nvSpPr>
        <p:spPr>
          <a:xfrm>
            <a:off x="457200" y="2602992"/>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712720"/>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a:t>
            </a:r>
          </a:p>
        </p:txBody>
      </p:sp>
      <p:sp>
        <p:nvSpPr>
          <p:cNvPr id="11" name="Rounded Rectangle 10"/>
          <p:cNvSpPr/>
          <p:nvPr/>
        </p:nvSpPr>
        <p:spPr>
          <a:xfrm>
            <a:off x="11332159" y="273100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703576"/>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Card par fit baithne wale pehle 3 trades apne Backtest Log mein likhiye. Ek-ek candle aage badhiye; jab koi candle signal poora kare, toh agli candle kholne se pehle plan likhiye (max entry, kis price ke neeche skip, stop), phir uska open tay karega ki entry hai ya skipped: gap, aur stop ke paar gap ho toh exit open par likhiye.</a:t>
            </a:r>
          </a:p>
        </p:txBody>
      </p:sp>
      <p:sp>
        <p:nvSpPr>
          <p:cNvPr id="13" name="Rounded Rectangle 12"/>
          <p:cNvSpPr/>
          <p:nvPr/>
        </p:nvSpPr>
        <p:spPr>
          <a:xfrm>
            <a:off x="457200" y="3870960"/>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98068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a:t>
            </a:r>
          </a:p>
        </p:txBody>
      </p:sp>
      <p:sp>
        <p:nvSpPr>
          <p:cNvPr id="15" name="Rounded Rectangle 14"/>
          <p:cNvSpPr/>
          <p:nvPr/>
        </p:nvSpPr>
        <p:spPr>
          <a:xfrm>
            <a:off x="11332159" y="399897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971544"/>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Stretch, agle 7 din mein kul 3-5 ghante, 30-30 minute ki baithak mein: 30 trades poore kijiye, 'Aapke chaar numbers' card bhariye, apni report par Day 14 ke paanch checks chalaiye, aur equity curve par likhiye 'Hypothetical. Past performance is not indicative of future results.' Card sambhaal kar rakhiye: Day 21 ka Week 3 review isi se hoga.</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AAJ KE BAAD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Aaj ke baad aap bina aage jhaanke backtest kar payenge, har trade costs aur gaps ke baad R mein log kar payenge, win-rate, expectancy, maximum drawdown aur longest losing streak padh payenge, aur kisi bhi backtest mein, apne mein bhi, look-ahead, survivorship aur curve-fitting pakad payenge.</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Test plan: Priya ka model card</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'Aapka' column koi bhi chart kholne se pehle bhariye. Ek baar bhar gaya, toh trade 30 tak freeze rehta hai.</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1892808"/>
          <a:ext cx="10911536" cy="4251954"/>
        </p:xfrm>
        <a:graphic>
          <a:graphicData uri="http://schemas.openxmlformats.org/drawingml/2006/table">
            <a:tbl>
              <a:tblPr firstRow="1">
                <a:tableStyleId>{5C22544A-7EE6-4342-B048-85BDC9FD1C3A}</a:tableStyleId>
              </a:tblPr>
              <a:tblGrid>
                <a:gridCol w="2135509"/>
                <a:gridCol w="8016770"/>
                <a:gridCol w="759257"/>
              </a:tblGrid>
              <a:tr h="335514">
                <a:tc>
                  <a:txBody>
                    <a:bodyPr wrap="square"/>
                    <a:lstStyle/>
                    <a:p>
                      <a:pPr algn="l"/>
                      <a:r>
                        <a:rPr sz="1400" b="1" i="0">
                          <a:solidFill>
                            <a:srgbClr val="FFFFFF"/>
                          </a:solidFill>
                          <a:latin typeface="Segoe UI"/>
                        </a:rPr>
                        <a:t>Plan ki line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00" b="1" i="0">
                          <a:solidFill>
                            <a:srgbClr val="FFFFFF"/>
                          </a:solidFill>
                          <a:latin typeface="Segoe UI"/>
                        </a:rPr>
                        <a:t>Priya (banawati)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00" b="1" i="0">
                          <a:solidFill>
                            <a:srgbClr val="FFFFFF"/>
                          </a:solidFill>
                          <a:latin typeface="Segoe UI"/>
                        </a:rPr>
                        <a:t>Aapka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26370">
                <a:tc>
                  <a:txBody>
                    <a:bodyPr wrap="square"/>
                    <a:lstStyle/>
                    <a:p>
                      <a:pPr algn="l"/>
                      <a:r>
                        <a:rPr sz="1400" b="0" i="0">
                          <a:solidFill>
                            <a:srgbClr val="18232F"/>
                          </a:solidFill>
                          <a:latin typeface="Segoe UI"/>
                        </a:rPr>
                        <a:t>Rule Card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EMA Pullback Swing v1: Day 11 ka card, Day 16 ka yes/no roop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26370">
                <a:tc>
                  <a:txBody>
                    <a:bodyPr wrap="square"/>
                    <a:lstStyle/>
                    <a:p>
                      <a:pPr algn="l"/>
                      <a:r>
                        <a:rPr sz="1400" b="0" i="0">
                          <a:solidFill>
                            <a:srgbClr val="18232F"/>
                          </a:solidFill>
                          <a:latin typeface="Segoe UI"/>
                        </a:rPr>
                        <a:t>Stocks, aur kaise chune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Sharma Textiles, Gupta Cement, Kiran Foods: RAND() se nikale, sab rakhe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26370">
                <a:tc>
                  <a:txBody>
                    <a:bodyPr wrap="square"/>
                    <a:lstStyle/>
                    <a:p>
                      <a:pPr algn="l"/>
                      <a:r>
                        <a:rPr sz="1400" b="0" i="0">
                          <a:solidFill>
                            <a:srgbClr val="18232F"/>
                          </a:solidFill>
                          <a:latin typeface="Segoe UI"/>
                        </a:rPr>
                        <a:t>Date range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1 Jan 2023 se 31 Dec 2025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26370">
                <a:tc>
                  <a:txBody>
                    <a:bodyPr wrap="square"/>
                    <a:lstStyle/>
                    <a:p>
                      <a:pPr algn="l"/>
                      <a:r>
                        <a:rPr sz="1400" b="0" i="0">
                          <a:solidFill>
                            <a:srgbClr val="18232F"/>
                          </a:solidFill>
                          <a:latin typeface="Segoe UI"/>
                        </a:rPr>
                        <a:t>Entry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Agle din ka open; signal close + 0.5 x ATR se upar ya signal-day low se neeche khule toh skip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26370">
                <a:tc>
                  <a:txBody>
                    <a:bodyPr wrap="square"/>
                    <a:lstStyle/>
                    <a:p>
                      <a:pPr algn="l"/>
                      <a:r>
                        <a:rPr sz="1400" b="0" i="0">
                          <a:solidFill>
                            <a:srgbClr val="18232F"/>
                          </a:solidFill>
                          <a:latin typeface="Segoe UI"/>
                        </a:rPr>
                        <a:t>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Entry se 1.5 x ATR(14) neeche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26370">
                <a:tc>
                  <a:txBody>
                    <a:bodyPr wrap="square"/>
                    <a:lstStyle/>
                    <a:p>
                      <a:pPr algn="l"/>
                      <a:r>
                        <a:rPr sz="1400" b="0" i="0">
                          <a:solidFill>
                            <a:srgbClr val="18232F"/>
                          </a:solidFill>
                          <a:latin typeface="Segoe UI"/>
                        </a:rPr>
                        <a:t>Exits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2.5R profit exit, ya day 15 ke baad agla open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26370">
                <a:tc>
                  <a:txBody>
                    <a:bodyPr wrap="square"/>
                    <a:lstStyle/>
                    <a:p>
                      <a:pPr algn="l"/>
                      <a:r>
                        <a:rPr sz="1400" b="0" i="0">
                          <a:solidFill>
                            <a:srgbClr val="18232F"/>
                          </a:solidFill>
                          <a:latin typeface="Segoe UI"/>
                        </a:rPr>
                        <a:t>Fill rules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Day 12 ke rules; ek candle mein stop aur profit exit dono = 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26370">
                <a:tc>
                  <a:txBody>
                    <a:bodyPr wrap="square"/>
                    <a:lstStyle/>
                    <a:p>
                      <a:pPr algn="l"/>
                      <a:r>
                        <a:rPr sz="1400" b="0" i="0">
                          <a:solidFill>
                            <a:srgbClr val="18232F"/>
                          </a:solidFill>
                          <a:latin typeface="Segoe UI"/>
                        </a:rPr>
                        <a:t>Har trade ka cost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0.1R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26370">
                <a:tc>
                  <a:txBody>
                    <a:bodyPr wrap="square"/>
                    <a:lstStyle/>
                    <a:p>
                      <a:pPr algn="l"/>
                      <a:r>
                        <a:rPr sz="1400" b="0" i="0">
                          <a:solidFill>
                            <a:srgbClr val="18232F"/>
                          </a:solidFill>
                          <a:latin typeface="Segoe UI"/>
                        </a:rPr>
                        <a:t>Open trades ki limit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Max 3; chautha signal = skipped: 3 open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26370">
                <a:tc>
                  <a:txBody>
                    <a:bodyPr wrap="square"/>
                    <a:lstStyle/>
                    <a:p>
                      <a:pPr algn="l"/>
                      <a:r>
                        <a:rPr sz="1400" b="0" i="0">
                          <a:solidFill>
                            <a:srgbClr val="18232F"/>
                          </a:solidFill>
                          <a:latin typeface="Segoe UI"/>
                        </a:rPr>
                        <a:t>Extra checks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RS rule aur results-date skip: dono lagaye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26370">
                <a:tc>
                  <a:txBody>
                    <a:bodyPr wrap="square"/>
                    <a:lstStyle/>
                    <a:p>
                      <a:pPr algn="l"/>
                      <a:r>
                        <a:rPr sz="1400" b="0" i="0">
                          <a:solidFill>
                            <a:srgbClr val="18232F"/>
                          </a:solidFill>
                          <a:latin typeface="Segoe UI"/>
                        </a:rPr>
                        <a:t>Market phase tag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Har signal day par NIFTY 50: up, down ya sideways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26370">
                <a:tc>
                  <a:txBody>
                    <a:bodyPr wrap="square"/>
                    <a:lstStyle/>
                    <a:p>
                      <a:pPr algn="l"/>
                      <a:r>
                        <a:rPr sz="1400" b="0" i="0">
                          <a:solidFill>
                            <a:srgbClr val="18232F"/>
                          </a:solidFill>
                          <a:latin typeface="Segoe UI"/>
                        </a:rPr>
                        <a:t>Freeze?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Haan: trade 30 tak koi rule change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Backtest Log v1: Priya ke trades 18-30</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Har trade ki ek row, trade band hote hi likhi jaati hai. Priya ki rows mein peak (trade 19), lagaataar paanch loss (23 se 27) aur stop ke paar gap (25) dikhte hain. Khaali rows aapke pehle 3 trades ke liye hain.</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5984748"/>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Practice ke liye banaye gaye numbers. Net R per share, 0.1R cost allowance ke baad. Hypothetical: pichhla performance aage ke results ka vada ya ishaara nahi hai.</a:t>
            </a:r>
          </a:p>
        </p:txBody>
      </p:sp>
      <p:graphicFrame>
        <p:nvGraphicFramePr>
          <p:cNvPr id="7" name="Table 6"/>
          <p:cNvGraphicFramePr>
            <a:graphicFrameLocks noGrp="1"/>
          </p:cNvGraphicFramePr>
          <p:nvPr/>
        </p:nvGraphicFramePr>
        <p:xfrm>
          <a:off x="640080" y="2121408"/>
          <a:ext cx="10911534" cy="3771897"/>
        </p:xfrm>
        <a:graphic>
          <a:graphicData uri="http://schemas.openxmlformats.org/drawingml/2006/table">
            <a:tbl>
              <a:tblPr firstRow="1">
                <a:tableStyleId>{5C22544A-7EE6-4342-B048-85BDC9FD1C3A}</a:tableStyleId>
              </a:tblPr>
              <a:tblGrid>
                <a:gridCol w="924392"/>
                <a:gridCol w="2510814"/>
                <a:gridCol w="2296748"/>
                <a:gridCol w="2178119"/>
                <a:gridCol w="924392"/>
                <a:gridCol w="2077069"/>
              </a:tblGrid>
              <a:tr h="479489">
                <a:tc>
                  <a:txBody>
                    <a:bodyPr wrap="square"/>
                    <a:lstStyle/>
                    <a:p>
                      <a:pPr algn="l"/>
                      <a:r>
                        <a:rPr sz="1500" b="1" i="0">
                          <a:solidFill>
                            <a:srgbClr val="FFFFF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Stock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Entry / stop / exit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Exit ka kaaran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Net 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Running total 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70344">
                <a:tc>
                  <a:txBody>
                    <a:bodyPr wrap="square"/>
                    <a:lstStyle/>
                    <a:p>
                      <a:pPr algn="ctr"/>
                      <a:r>
                        <a:rPr sz="1500" b="0" i="0">
                          <a:solidFill>
                            <a:srgbClr val="18232F"/>
                          </a:solidFill>
                          <a:latin typeface="Segoe UI"/>
                        </a:rPr>
                        <a:t>1-17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Trades 1-17 ek saath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0344">
                <a:tc>
                  <a:txBody>
                    <a:bodyPr wrap="square"/>
                    <a:lstStyle/>
                    <a:p>
                      <a:pPr algn="ctr"/>
                      <a:r>
                        <a:rPr sz="1500" b="0" i="0">
                          <a:solidFill>
                            <a:srgbClr val="18232F"/>
                          </a:solidFill>
                          <a:latin typeface="Segoe UI"/>
                        </a:rPr>
                        <a:t>18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Gupta Cement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386 / 368 / 368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0344">
                <a:tc>
                  <a:txBody>
                    <a:bodyPr wrap="square"/>
                    <a:lstStyle/>
                    <a:p>
                      <a:pPr algn="ctr"/>
                      <a:r>
                        <a:rPr sz="1500" b="0" i="0">
                          <a:solidFill>
                            <a:srgbClr val="18232F"/>
                          </a:solidFill>
                          <a:latin typeface="Segoe UI"/>
                        </a:rPr>
                        <a:t>19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Sharma Textiles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236 / 224 / 266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2.5R profit exit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0344">
                <a:tc>
                  <a:txBody>
                    <a:bodyPr wrap="square"/>
                    <a:lstStyle/>
                    <a:p>
                      <a:pPr algn="ctr"/>
                      <a:r>
                        <a:rPr sz="1500" b="0" i="0">
                          <a:solidFill>
                            <a:srgbClr val="18232F"/>
                          </a:solidFill>
                          <a:latin typeface="Segoe UI"/>
                        </a:rPr>
                        <a:t>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Kiran Foods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468 / 447 / 447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+6.30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0344">
                <a:tc>
                  <a:txBody>
                    <a:bodyPr wrap="square"/>
                    <a:lstStyle/>
                    <a:p>
                      <a:pPr algn="ctr"/>
                      <a:r>
                        <a:rPr sz="1500" b="0" i="0">
                          <a:solidFill>
                            <a:srgbClr val="18232F"/>
                          </a:solidFill>
                          <a:latin typeface="Segoe UI"/>
                        </a:rPr>
                        <a:t>21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Gupta Cement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398 / 380 / 380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0344">
                <a:tc>
                  <a:txBody>
                    <a:bodyPr wrap="square"/>
                    <a:lstStyle/>
                    <a:p>
                      <a:pPr algn="ctr"/>
                      <a:r>
                        <a:rPr sz="1500" b="0" i="0">
                          <a:solidFill>
                            <a:srgbClr val="18232F"/>
                          </a:solidFill>
                          <a:latin typeface="Segoe UI"/>
                        </a:rPr>
                        <a:t>22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Kiran Foods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500 / 479 / 542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Time exit (day 15)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+1.90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0344">
                <a:tc>
                  <a:txBody>
                    <a:bodyPr wrap="square"/>
                    <a:lstStyle/>
                    <a:p>
                      <a:pPr algn="ctr"/>
                      <a:r>
                        <a:rPr sz="1500" b="0" i="0">
                          <a:solidFill>
                            <a:srgbClr val="18232F"/>
                          </a:solidFill>
                          <a:latin typeface="Segoe UI"/>
                        </a:rPr>
                        <a:t>23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Sharma Textiles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248 / 236 / 236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AAPKA TEMPLATE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Backtest Log v1: Priya ke trades 18-30</a:t>
            </a:r>
          </a:p>
        </p:txBody>
      </p:sp>
      <p:sp>
        <p:nvSpPr>
          <p:cNvPr id="4" name="Rounded Rectangle 3"/>
          <p:cNvSpPr/>
          <p:nvPr/>
        </p:nvSpPr>
        <p:spPr>
          <a:xfrm>
            <a:off x="457200" y="1335024"/>
            <a:ext cx="11277295" cy="4937760"/>
          </a:xfrm>
          <a:prstGeom prst="roundRect">
            <a:avLst>
              <a:gd name="adj" fmla="val 222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40080" y="5984748"/>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Practice ke liye banaye gaye numbers. Net R per share, 0.1R cost allowance ke baad. Hypothetical: pichhla performance aage ke results ka vada ya ishaara nahi hai.</a:t>
            </a:r>
          </a:p>
        </p:txBody>
      </p:sp>
      <p:graphicFrame>
        <p:nvGraphicFramePr>
          <p:cNvPr id="6" name="Table 5"/>
          <p:cNvGraphicFramePr>
            <a:graphicFrameLocks noGrp="1"/>
          </p:cNvGraphicFramePr>
          <p:nvPr/>
        </p:nvGraphicFramePr>
        <p:xfrm>
          <a:off x="640080" y="1481328"/>
          <a:ext cx="10911536" cy="4160520"/>
        </p:xfrm>
        <a:graphic>
          <a:graphicData uri="http://schemas.openxmlformats.org/drawingml/2006/table">
            <a:tbl>
              <a:tblPr firstRow="1">
                <a:tableStyleId>{5C22544A-7EE6-4342-B048-85BDC9FD1C3A}</a:tableStyleId>
              </a:tblPr>
              <a:tblGrid>
                <a:gridCol w="936940"/>
                <a:gridCol w="2396784"/>
                <a:gridCol w="2327924"/>
                <a:gridCol w="2207685"/>
                <a:gridCol w="936940"/>
                <a:gridCol w="2105263"/>
              </a:tblGrid>
              <a:tr h="347472">
                <a:tc>
                  <a:txBody>
                    <a:bodyPr wrap="square"/>
                    <a:lstStyle/>
                    <a:p>
                      <a:pPr algn="l"/>
                      <a:r>
                        <a:rPr sz="1500" b="1" i="0">
                          <a:solidFill>
                            <a:srgbClr val="FFFFF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Stock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Entry / stop / exit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Exit ka kaaran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Net 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Running total 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38328">
                <a:tc>
                  <a:txBody>
                    <a:bodyPr wrap="square"/>
                    <a:lstStyle/>
                    <a:p>
                      <a:pPr algn="ctr"/>
                      <a:r>
                        <a:rPr sz="1500" b="0" i="0">
                          <a:solidFill>
                            <a:srgbClr val="18232F"/>
                          </a:solidFill>
                          <a:latin typeface="Segoe UI"/>
                        </a:rPr>
                        <a:t>24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Gupta Cement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412 / 394 / 394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+4.90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8328">
                <a:tc>
                  <a:txBody>
                    <a:bodyPr wrap="square"/>
                    <a:lstStyle/>
                    <a:p>
                      <a:pPr algn="ctr"/>
                      <a:r>
                        <a:rPr sz="1500" b="0" i="0">
                          <a:solidFill>
                            <a:srgbClr val="18232F"/>
                          </a:solidFill>
                          <a:latin typeface="Segoe UI"/>
                        </a:rPr>
                        <a:t>25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Kiran Foods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500 / 479 / 470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Gap, stop ke paar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-1.53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+3.37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8328">
                <a:tc>
                  <a:txBody>
                    <a:bodyPr wrap="square"/>
                    <a:lstStyle/>
                    <a:p>
                      <a:pPr algn="ctr"/>
                      <a:r>
                        <a:rPr sz="1500" b="0" i="0">
                          <a:solidFill>
                            <a:srgbClr val="18232F"/>
                          </a:solidFill>
                          <a:latin typeface="Segoe UI"/>
                        </a:rPr>
                        <a:t>26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Sharma Textiles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242 / 230 / 230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+2.27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8328">
                <a:tc>
                  <a:txBody>
                    <a:bodyPr wrap="square"/>
                    <a:lstStyle/>
                    <a:p>
                      <a:pPr algn="ctr"/>
                      <a:r>
                        <a:rPr sz="1500" b="0" i="0">
                          <a:solidFill>
                            <a:srgbClr val="18232F"/>
                          </a:solidFill>
                          <a:latin typeface="Segoe UI"/>
                        </a:rPr>
                        <a:t>27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Gupta Cement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404 / 386 / 386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+1.17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8328">
                <a:tc>
                  <a:txBody>
                    <a:bodyPr wrap="square"/>
                    <a:lstStyle/>
                    <a:p>
                      <a:pPr algn="ctr"/>
                      <a:r>
                        <a:rPr sz="1500" b="0" i="0">
                          <a:solidFill>
                            <a:srgbClr val="18232F"/>
                          </a:solidFill>
                          <a:latin typeface="Segoe UI"/>
                        </a:rPr>
                        <a:t>28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Kiran Foods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490 / 469 / 542.50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2.5R profit exit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+3.57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8328">
                <a:tc>
                  <a:txBody>
                    <a:bodyPr wrap="square"/>
                    <a:lstStyle/>
                    <a:p>
                      <a:pPr algn="ctr"/>
                      <a:r>
                        <a:rPr sz="1500" b="0" i="0">
                          <a:solidFill>
                            <a:srgbClr val="18232F"/>
                          </a:solidFill>
                          <a:latin typeface="Segoe UI"/>
                        </a:rPr>
                        <a:t>29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Sharma Textiles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230 / 218 / 218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+2.47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8328">
                <a:tc>
                  <a:txBody>
                    <a:bodyPr wrap="square"/>
                    <a:lstStyle/>
                    <a:p>
                      <a:pPr algn="ctr"/>
                      <a:r>
                        <a:rPr sz="1500" b="0" i="0">
                          <a:solidFill>
                            <a:srgbClr val="18232F"/>
                          </a:solidFill>
                          <a:latin typeface="Segoe UI"/>
                        </a:rPr>
                        <a:t>30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Gupta Cement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396 / 378 / 417.60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Time exit (day 15)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+3.57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1584">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1584">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1584">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sp>
        <p:nvSpPr>
          <p:cNvPr id="7" name="TextBox 6"/>
          <p:cNvSpPr txBox="1"/>
          <p:nvPr/>
        </p:nvSpPr>
        <p:spPr>
          <a:xfrm>
            <a:off x="640080" y="5733288"/>
            <a:ext cx="10911535" cy="251460"/>
          </a:xfrm>
          <a:prstGeom prst="rect">
            <a:avLst/>
          </a:prstGeom>
          <a:noFill/>
        </p:spPr>
        <p:txBody>
          <a:bodyPr wrap="square" lIns="0" rIns="0" tIns="0" bIns="0" anchor="t">
            <a:noAutofit/>
          </a:bodyPr>
          <a:lstStyle/>
          <a:p>
            <a:pPr algn="l">
              <a:lnSpc>
                <a:spcPct val="100000"/>
              </a:lnSpc>
            </a:pPr>
            <a:r>
              <a:rPr sz="1050" b="0" i="1">
                <a:solidFill>
                  <a:srgbClr val="47596B"/>
                </a:solidFill>
                <a:latin typeface="Segoe UI"/>
              </a:rPr>
              <a:t>Net R = (exit - entry) ÷ (entry - stop) - 0.1R. Aapki sheet mein signal date, gross R, running peak, drawdown aur NIFTY phase ke columns bhi hon.</a:t>
            </a:r>
          </a:p>
        </p:txBody>
      </p:sp>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Aapke chaar numbers (Day 21 ke liye rakhiye)</a:t>
            </a:r>
          </a:p>
        </p:txBody>
      </p:sp>
      <p:sp>
        <p:nvSpPr>
          <p:cNvPr id="4" name="TextBox 3"/>
          <p:cNvSpPr txBox="1"/>
          <p:nvPr/>
        </p:nvSpPr>
        <p:spPr>
          <a:xfrm>
            <a:off x="457200" y="1335024"/>
            <a:ext cx="11277295" cy="448056"/>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Trade 30 ke baad bhariye. Day 21 ka Week 3 review inhi numbers se hoga (tab tak poora na ho toh likhiye ki kitne trades log hue, aur numbers catch-up hafte mein jodiye), aur yeh 30 trades unhi frozen rules par un 100 trades mein gine jaayenge jin se asli bharosa banta hai.</a:t>
            </a:r>
          </a:p>
        </p:txBody>
      </p:sp>
      <p:sp>
        <p:nvSpPr>
          <p:cNvPr id="5" name="Rounded Rectangle 4"/>
          <p:cNvSpPr/>
          <p:nvPr/>
        </p:nvSpPr>
        <p:spPr>
          <a:xfrm>
            <a:off x="457200" y="1929384"/>
            <a:ext cx="11277295" cy="4343400"/>
          </a:xfrm>
          <a:prstGeom prst="roundRect">
            <a:avLst>
              <a:gd name="adj" fmla="val 252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075688"/>
          <a:ext cx="10911535" cy="3401568"/>
        </p:xfrm>
        <a:graphic>
          <a:graphicData uri="http://schemas.openxmlformats.org/drawingml/2006/table">
            <a:tbl>
              <a:tblPr firstRow="1">
                <a:tableStyleId>{5C22544A-7EE6-4342-B048-85BDC9FD1C3A}</a:tableStyleId>
              </a:tblPr>
              <a:tblGrid>
                <a:gridCol w="2546218"/>
                <a:gridCol w="4834610"/>
                <a:gridCol w="2600030"/>
                <a:gridCol w="930677"/>
              </a:tblGrid>
              <a:tr h="493776">
                <a:tc>
                  <a:txBody>
                    <a:bodyPr wrap="square"/>
                    <a:lstStyle/>
                    <a:p>
                      <a:pPr algn="l"/>
                      <a:r>
                        <a:rPr sz="1500" b="1" i="0">
                          <a:solidFill>
                            <a:srgbClr val="FFFFFF"/>
                          </a:solidFill>
                          <a:latin typeface="Segoe UI"/>
                        </a:rPr>
                        <a:t>Number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Kaise nikaalein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Priya (banawati)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Aapka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l"/>
                      <a:r>
                        <a:rPr sz="1500" b="0" i="0">
                          <a:solidFill>
                            <a:srgbClr val="18232F"/>
                          </a:solidFill>
                          <a:latin typeface="Segoe UI"/>
                        </a:rPr>
                        <a:t>Trades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Rows giniye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Win-rate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Wins ÷ trades (win = net R 0 se upar)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12 ÷ 30 = 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Expectancy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Total net R ÷ trades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+3.57 ÷ 30 = +0.12R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Maximum drawdown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Peak se baad ke low tak sabse badi giraavat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7.40 - 1.17 = 6.23R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Longest losing streak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Lagaataar sabse zyada loss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Costs se pehle (check)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Total net R + 0.1R x trades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+3.57 + 3.00 = +6.57R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sp>
        <p:nvSpPr>
          <p:cNvPr id="7" name="TextBox 6"/>
          <p:cNvSpPr txBox="1"/>
          <p:nvPr/>
        </p:nvSpPr>
        <p:spPr>
          <a:xfrm>
            <a:off x="640080" y="5568696"/>
            <a:ext cx="10911535" cy="251460"/>
          </a:xfrm>
          <a:prstGeom prst="rect">
            <a:avLst/>
          </a:prstGeom>
          <a:noFill/>
        </p:spPr>
        <p:txBody>
          <a:bodyPr wrap="square" lIns="0" rIns="0" tIns="0" bIns="0" anchor="t">
            <a:noAutofit/>
          </a:bodyPr>
          <a:lstStyle/>
          <a:p>
            <a:pPr algn="l">
              <a:lnSpc>
                <a:spcPct val="100000"/>
              </a:lnSpc>
            </a:pPr>
            <a:r>
              <a:rPr sz="1050" b="0" i="1">
                <a:solidFill>
                  <a:srgbClr val="47596B"/>
                </a:solidFill>
                <a:latin typeface="Segoe UI"/>
              </a:rPr>
              <a:t>Report par likhiye: 'Hypothetical. Past performance is not indicative of future results.'</a:t>
            </a:r>
          </a:p>
        </p:txBody>
      </p:sp>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Candle curtain, jodi mein</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Classmates, dost ya family ke saath kheliye. Score process ka, paise ka nahi.</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Ek insaan daily chart ko kaagaz se dhakta hai aur ek baar mein ek candle kholta hai; doosra har candle se pehle sirf Rule Card ke hisaab se 'plan' ya 'skip' bolta hai.</a:t>
            </a:r>
          </a:p>
          <a:p>
            <a:pPr algn="l">
              <a:lnSpc>
                <a:spcPct val="100000"/>
              </a:lnSpc>
              <a:spcAft>
                <a:spcPts val="700"/>
              </a:spcAft>
            </a:pPr>
            <a:r>
              <a:rPr sz="2000" b="0" i="0">
                <a:solidFill>
                  <a:srgbClr val="18232F"/>
                </a:solidFill>
                <a:latin typeface="Segoe UI"/>
              </a:rPr>
              <a:t>10 faislon ke baad jagah badal lijiye. Akele hain?</a:t>
            </a:r>
          </a:p>
          <a:p>
            <a:pPr algn="l">
              <a:lnSpc>
                <a:spcPct val="100000"/>
              </a:lnSpc>
              <a:spcAft>
                <a:spcPts val="700"/>
              </a:spcAft>
            </a:pPr>
            <a:r>
              <a:rPr sz="2000" b="0" i="0">
                <a:solidFill>
                  <a:srgbClr val="18232F"/>
                </a:solidFill>
                <a:latin typeface="Segoe UI"/>
              </a:rPr>
              <a:t>Bar Replay ke saath yahi kijiye aur har faisla zor se boliye.</a:t>
            </a:r>
          </a:p>
          <a:p>
            <a:pPr algn="l">
              <a:lnSpc>
                <a:spcPct val="100000"/>
              </a:lnSpc>
            </a:pPr>
            <a:r>
              <a:rPr sz="2000" b="0" i="0">
                <a:solidFill>
                  <a:srgbClr val="18232F"/>
                </a:solidFill>
                <a:latin typeface="Segoe UI"/>
              </a:rPr>
              <a:t>Cohort award sabse rule-strict log ko milta hai, sabse sundar curve ko kabhi nahi, aur equity curves private rehti hain.</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Backtest stats sheet aur bias audit</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Backtest stats sheet</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200" b="0" i="1">
                <a:solidFill>
                  <a:srgbClr val="47596B"/>
                </a:solidFill>
                <a:latin typeface="Segoe UI"/>
              </a:rPr>
              <a:t>“Give me a Google Sheets layout for a 30-trade log with these columns: trade number, signal date, instrument (a name I type), entry (the next day's open), stop, exit, exit reason (2.5R profit exit, 15-day time exit, stop, or gap through the stop), gross R computed per share as (exit - entry) / (entry - stop), even when a 25% exposure cap cut my quantity, cost in R (taken from one input cell that I fill once), net R, win (yes if net R is above zero) …”</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2</a:t>
            </a:r>
          </a:p>
        </p:txBody>
      </p:sp>
      <p:sp>
        <p:nvSpPr>
          <p:cNvPr id="11" name="TextBox 10"/>
          <p:cNvSpPr txBox="1"/>
          <p:nvPr/>
        </p:nvSpPr>
        <p:spPr>
          <a:xfrm>
            <a:off x="4478426"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Mere backtest ka bias audit</a:t>
            </a:r>
          </a:p>
        </p:txBody>
      </p:sp>
      <p:sp>
        <p:nvSpPr>
          <p:cNvPr id="12" name="TextBox 11"/>
          <p:cNvSpPr txBox="1"/>
          <p:nvPr/>
        </p:nvSpPr>
        <p:spPr>
          <a:xfrm>
            <a:off x="4478426"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3" name="TextBox 12"/>
          <p:cNvSpPr txBox="1"/>
          <p:nvPr/>
        </p:nvSpPr>
        <p:spPr>
          <a:xfrm>
            <a:off x="4478426" y="2859024"/>
            <a:ext cx="3234842" cy="15575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“Act as a strict but kind backtest reviewer for a beginner. I will paste only my test plan (rules, instruments, date range, entry convention, stop, cost per trade in R) and my trade log in R; do not ask for any personal or account details.”</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Luck simulator</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“Help me build a simple luck simulator in Google Sheets so I understand losing streaks and drawdowns. Each row is one trade: use RAND() so that each trade has a 40% chance to win +2.4R and a 60% chance to lose -1.1R (a 2.5R profit exit and a 1R stop, each less 0.1R of costs).”</a:t>
            </a:r>
          </a:p>
        </p:txBody>
      </p:sp>
      <p:sp>
        <p:nvSpPr>
          <p:cNvPr id="19" name="Oval 18"/>
          <p:cNvSpPr/>
          <p:nvPr/>
        </p:nvSpPr>
        <p:spPr>
          <a:xfrm>
            <a:off x="457200"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App se prompt copy kijiye</a:t>
            </a:r>
          </a:p>
        </p:txBody>
      </p:sp>
      <p:sp>
        <p:nvSpPr>
          <p:cNvPr id="21" name="Oval 20"/>
          <p:cNvSpPr/>
          <p:nvPr/>
        </p:nvSpPr>
        <p:spPr>
          <a:xfrm>
            <a:off x="4277258"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Kisi bhi AI chat mein paste kijiye</a:t>
            </a:r>
          </a:p>
        </p:txBody>
      </p:sp>
      <p:sp>
        <p:nvSpPr>
          <p:cNvPr id="23" name="Oval 22"/>
          <p:cNvSpPr/>
          <p:nvPr/>
        </p:nvSpPr>
        <p:spPr>
          <a:xfrm>
            <a:off x="8097317"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Har Fact khud check kijiye</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analyst hai, faisla aap karte hain. Kisi bhi AI mein PAN, client ID, password, OTP ya API key kabhi paste mat kijiye, aur AI ka jawab kabhi buy ya sell call bana kar aage mat bhejiye.</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Poora prompt: speaker notes mein, aur app ke AI Lab tab mein.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QUICK QUIZ · SAWAAL 1/5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Ek backtest mein Aman ki entry Rs 400 hai aur stop Rs 385. Ek subah, raat mein aayi buri khabar ke baad, stock Rs 376 par khulta hai, stop ke neeche, toh woh exit usi open par log karta hai. Costs har trade par 0.1R hain. Use kitna net R log karna chahiye?</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-1.00R: stop-loss hamesha loss ko 1R par rok deta hai</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-1.10R: planned stop, plus 0.1R costs</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-1.60R: costs sirf jeetne wale trades par lagti hain</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-1.70R: Rs 376 ke open tak ka loss, plus 0.1R costs</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QUICK QUIZ · SAWAAL 2/5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Sirf Priya ke cumulative net R ki in month-end values ke hisaab se: 0, +3, +7, +4, +2, +5, +9, +6. Ab tak uska maximum drawdown kitna hai?</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5R, +7R se +2R tak ki giravat</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7R, pehle peak ki unchai</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2R, peak ke baad ka sabse neecha point</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3R, +9R se +6R tak ki sabse nayi giravat</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QUICK QUIZ · SAWAAL 3/5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 ka daily signal tabhi confirm hota hai jab trading khatam hone ke baad exchange din ka official closing price tay karta hai. Backtest mein woh har entry usi candle ke low par log karta hai. Galti kya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Woh aisa price leta hai jo din khatam hone par hi pata chala</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Kuch nahi, kyunki low ek asli traded price tha</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Daily charts kisi bhi tarah ke backtest ke laayak nahi hote</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Safe rehne ke liye use usi candle ka high log karna chahiye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QUICK QUIZ · SAWAAL 4/5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Priya aaj ki NIFTY 50 ki 50 companies par 2019 se 2025 ke data se backtest karna chahti hai. Report mein use kaunsi problem likhni chahiye?</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Koi nahi, kyunki index companies hamesha fair test deti hain</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Survivorship bias: 2019 ke baad index se bahar hui companies gayab</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Cost error: badi index companies par charges nahi lagte</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Curve-fitting: usne EMA settings is list ke hisaab se tune ki hain</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QUICK QUIZ · SAWAAL 5/5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30 trades ke baad Aman EMA 20 ko EMA 18 kar deta hai aur RSI band tab tak badalta hai jab tak unhi 30 trades mein 75% win-rate na aa jaaye. Sabse imaandar agla kadam kya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75% ko rule ka future win-rate bata de</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Ise proven maan kar paper trades mein laga de</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Settings tab tak tweak karta rahe jab tak 90% na aa jaaye</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Ise freeze karke 30 naye trades par parkhe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AAJ RAAT KA JOURNAL</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Backtest Level 1: haath se, samajh ke</a:t>
            </a:r>
          </a:p>
        </p:txBody>
      </p:sp>
      <p:sp>
        <p:nvSpPr>
          <p:cNvPr id="4" name="TextBox 3"/>
          <p:cNvSpPr txBox="1"/>
          <p:nvPr/>
        </p:nvSpPr>
        <p:spPr>
          <a:xfrm>
            <a:off x="457200" y="5964936"/>
            <a:ext cx="11277295" cy="36271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Company names, chart prices and trade logs in this lesson are made up for illustration; all backtest results are hypothetical and simulated. Past performance is not indicative of future results. Stage 1 uses virtual money only. No affiliation with any charting site, broker or tool named. 5 Circles Pvt Ltd · SEBI Registered Research Analyst · Reg. No. INH000020004</a:t>
            </a:r>
          </a:p>
        </p:txBody>
      </p:sp>
      <p:sp>
        <p:nvSpPr>
          <p:cNvPr id="5" name="Rounded Rectangle 4"/>
          <p:cNvSpPr/>
          <p:nvPr/>
        </p:nvSpPr>
        <p:spPr>
          <a:xfrm>
            <a:off x="457200" y="1335024"/>
            <a:ext cx="5501488" cy="4008120"/>
          </a:xfrm>
          <a:prstGeom prst="roundRect">
            <a:avLst>
              <a:gd name="adj" fmla="val 319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AAJ RAAT KA JOURNAL</a:t>
            </a:r>
          </a:p>
        </p:txBody>
      </p:sp>
      <p:sp>
        <p:nvSpPr>
          <p:cNvPr id="7" name="TextBox 6"/>
          <p:cNvSpPr txBox="1"/>
          <p:nvPr/>
        </p:nvSpPr>
        <p:spPr>
          <a:xfrm>
            <a:off x="731520" y="1901952"/>
            <a:ext cx="4952848" cy="327660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Pehle trades log karte waqt kitni baar aapka mann hua ki agli candle jhaank lein, ya koi aisa trade gin lein jo card se poora match nahi karta tha? Woh khinchaav kaisa laga, aur aapne uske saath kya kiya?</a:t>
            </a:r>
          </a:p>
        </p:txBody>
      </p:sp>
      <p:sp>
        <p:nvSpPr>
          <p:cNvPr id="8" name="Rounded Rectangle 7"/>
          <p:cNvSpPr/>
          <p:nvPr/>
        </p:nvSpPr>
        <p:spPr>
          <a:xfrm>
            <a:off x="6233008" y="1335024"/>
            <a:ext cx="5501488" cy="4008120"/>
          </a:xfrm>
          <a:prstGeom prst="roundRect">
            <a:avLst>
              <a:gd name="adj" fmla="val 319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92400E"/>
                </a:solidFill>
                <a:latin typeface="Segoe UI"/>
              </a:rPr>
              <a:t>“</a:t>
            </a:r>
          </a:p>
        </p:txBody>
      </p:sp>
      <p:sp>
        <p:nvSpPr>
          <p:cNvPr id="10" name="TextBox 9"/>
          <p:cNvSpPr txBox="1"/>
          <p:nvPr/>
        </p:nvSpPr>
        <p:spPr>
          <a:xfrm>
            <a:off x="6507328" y="2683764"/>
            <a:ext cx="4952848" cy="172212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Chhote number wala imaandar log, jhaank kar banayi gayi perfect curve se zyada keemti hai. Aaj aapne imaandar log shuru kiya; Day 21 par yahi aapke review ka hissa banega.</a:t>
            </a:r>
          </a:p>
        </p:txBody>
      </p:sp>
      <p:sp>
        <p:nvSpPr>
          <p:cNvPr id="11" name="Rounded Rectangle 10"/>
          <p:cNvSpPr/>
          <p:nvPr/>
        </p:nvSpPr>
        <p:spPr>
          <a:xfrm>
            <a:off x="457200" y="5489448"/>
            <a:ext cx="4221163"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Agla: Day 18 · F&amp;O ke basics: samjho, khelo mat</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0B1B33"/>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0B1B33"/>
                </a:solidFill>
                <a:latin typeface="Segoe UI"/>
              </a:rPr>
              <a:t>18</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0B1B33"/>
                </a:solidFill>
                <a:latin typeface="Segoe UI"/>
              </a:rPr>
              <a:t>WEEK 3</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0B1B33"/>
                </a:solidFill>
                <a:latin typeface="Segoe UI"/>
              </a:rPr>
              <a:t>Apna system banao, khud ko bachao</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F&amp;O ke basics: samjho, khelo mat</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7744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Futures aur options: yeh hote kya hain, aur Stage 1 mein inhe sirf padhte kyun hain</a:t>
            </a:r>
          </a:p>
        </p:txBody>
      </p:sp>
      <p:sp>
        <p:nvSpPr>
          <p:cNvPr id="12" name="Rounded Rectangle 11"/>
          <p:cNvSpPr/>
          <p:nvPr/>
        </p:nvSpPr>
        <p:spPr>
          <a:xfrm>
            <a:off x="4572000" y="315468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3154680"/>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Option chain explainer: padhiye, trade mat kijiye</a:t>
            </a:r>
          </a:p>
        </p:txBody>
      </p:sp>
      <p:sp>
        <p:nvSpPr>
          <p:cNvPr id="14" name="Rounded Rectangle 13"/>
          <p:cNvSpPr/>
          <p:nvPr/>
        </p:nvSpPr>
        <p:spPr>
          <a:xfrm>
            <a:off x="4572000" y="366674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66674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Lottery ticket wali soch</a:t>
            </a:r>
          </a:p>
        </p:txBody>
      </p:sp>
      <p:sp>
        <p:nvSpPr>
          <p:cNvPr id="16" name="TextBox 15"/>
          <p:cNvSpPr txBox="1"/>
          <p:nvPr/>
        </p:nvSpPr>
        <p:spPr>
          <a:xfrm>
            <a:off x="4572000" y="4352544"/>
            <a:ext cx="7162495"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AAJ KE BAAD</a:t>
            </a:r>
          </a:p>
        </p:txBody>
      </p:sp>
      <p:sp>
        <p:nvSpPr>
          <p:cNvPr id="17" name="TextBox 16"/>
          <p:cNvSpPr txBox="1"/>
          <p:nvPr/>
        </p:nvSpPr>
        <p:spPr>
          <a:xfrm>
            <a:off x="4572000" y="4626864"/>
            <a:ext cx="7162495" cy="125577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Aaj ke baad aap futures contract, margin aur MTM samjha payenge; call aur put, ITM aur OTM mein farak bata payenge; premium ko intrinsic aur time value mein baant payenge; buyer aur seller ka payoff padh payenge; bata payenge ki kaunse F&amp;O contracts delivery mein badalte hain; aur samjha payenge ki Stage 1 mein F&amp;O sirf padha kyun jaata hai.</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KAHANI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Woh ek ticket jiski sab baat karte hain</a:t>
            </a:r>
          </a:p>
        </p:txBody>
      </p:sp>
      <p:sp>
        <p:nvSpPr>
          <p:cNvPr id="4" name="Rounded Rectangle 3"/>
          <p:cNvSpPr/>
          <p:nvPr/>
        </p:nvSpPr>
        <p:spPr>
          <a:xfrm>
            <a:off x="457200" y="1426464"/>
            <a:ext cx="3649370" cy="3636264"/>
          </a:xfrm>
          <a:prstGeom prst="roundRect">
            <a:avLst>
              <a:gd name="adj" fmla="val 35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317906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Thursday shaam, class ki video call ke turant baad. Aman apna phone camera ke saamne kiye hue hai. Priya ki notebook khuli hai.</a:t>
            </a:r>
          </a:p>
        </p:txBody>
      </p:sp>
      <p:sp>
        <p:nvSpPr>
          <p:cNvPr id="7" name="Rounded Rectangle 6"/>
          <p:cNvSpPr/>
          <p:nvPr/>
        </p:nvSpPr>
        <p:spPr>
          <a:xfrm>
            <a:off x="4271162"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2401824"/>
          </a:xfrm>
          <a:prstGeom prst="wedgeRoundRectCallout">
            <a:avLst>
              <a:gd name="adj1" fmla="val -41915"/>
              <a:gd name="adj2" fmla="val -57614"/>
              <a:gd name="adj3" fmla="val 4568"/>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21092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dekhiye. Mere colleague ne NIFTY ke calls Rs 4 mein liye aur usi din Rs 60 mein bech diye. Lagaye the karib Rs 3,000, nikale lagbhag Rs 45,000. Aur zyada se zyada loss bas wahi Rs 3,000 tha. Yeh toh low risk hua na?</a:t>
            </a:r>
          </a:p>
        </p:txBody>
      </p:sp>
      <p:sp>
        <p:nvSpPr>
          <p:cNvPr id="13" name="Rounded Rectangle 12"/>
          <p:cNvSpPr/>
          <p:nvPr/>
        </p:nvSpPr>
        <p:spPr>
          <a:xfrm>
            <a:off x="8085125"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Aman, do sawaal. Isse pehle usne kitni baar aise Rs 4 wale calls khareede the? Aur unmein se kitne zero par khatam hue?</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KAHANI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Woh ek ticket jiski sab baat karte hain</a:t>
            </a:r>
          </a:p>
        </p:txBody>
      </p:sp>
      <p:sp>
        <p:nvSpPr>
          <p:cNvPr id="4" name="Rounded Rectangle 3"/>
          <p:cNvSpPr/>
          <p:nvPr/>
        </p:nvSpPr>
        <p:spPr>
          <a:xfrm>
            <a:off x="457200" y="1426464"/>
            <a:ext cx="3649370" cy="3377184"/>
          </a:xfrm>
          <a:prstGeom prst="roundRect">
            <a:avLst>
              <a:gd name="adj" fmla="val 379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Umm... unke baare mein toh woh kabhi baat hi nahi karta. Bas kehta hai ki har hafte try karta hai.</a:t>
            </a:r>
          </a:p>
        </p:txBody>
      </p:sp>
      <p:sp>
        <p:nvSpPr>
          <p:cNvPr id="10" name="Rounded Rectangle 9"/>
          <p:cNvSpPr/>
          <p:nvPr/>
        </p:nvSpPr>
        <p:spPr>
          <a:xfrm>
            <a:off x="4271162" y="1426464"/>
            <a:ext cx="3649370" cy="3377184"/>
          </a:xfrm>
          <a:prstGeom prst="roundRect">
            <a:avLst>
              <a:gd name="adj" fmla="val 379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matlab har hafte hone wala chhota loss asal mein chhota nahi hai? Aur woh call itna sasta tha hi kyun?</a:t>
            </a:r>
          </a:p>
        </p:txBody>
      </p:sp>
      <p:sp>
        <p:nvSpPr>
          <p:cNvPr id="16" name="Rounded Rectangle 15"/>
          <p:cNvSpPr/>
          <p:nvPr/>
        </p:nvSpPr>
        <p:spPr>
          <a:xfrm>
            <a:off x="8085125" y="1426464"/>
            <a:ext cx="3649370" cy="3377184"/>
          </a:xfrm>
          <a:prstGeom prst="roundRect">
            <a:avLst>
              <a:gd name="adj" fmla="val 379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2142744"/>
          </a:xfrm>
          <a:prstGeom prst="wedgeRoundRectCallout">
            <a:avLst>
              <a:gd name="adj1" fmla="val -41915"/>
              <a:gd name="adj2" fmla="val -58534"/>
              <a:gd name="adj3" fmla="val 5120"/>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185013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Bilkul sahi sawaal hai, Priya. Saste options kisi wajah se hi saste hote hain. Aaj hum seekhenge ki futures aur options kya hain, aur Stage 1 mein inhe sirf padhte kyun hain. F&amp;O: samjho, khelo mat.</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6429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Seekh</a:t>
            </a:r>
          </a:p>
        </p:txBody>
      </p:sp>
      <p:sp>
        <p:nvSpPr>
          <p:cNvPr id="24" name="TextBox 23"/>
          <p:cNvSpPr txBox="1"/>
          <p:nvPr/>
        </p:nvSpPr>
        <p:spPr>
          <a:xfrm>
            <a:off x="1411050" y="5760720"/>
            <a:ext cx="1014056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Chhota price aur chhota risk ek baat nahi hai. Sirf jeetne wala ticket mat giniye, haarne wale bhi giniye.</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Futures: deal aaj, hisaab har shaam</a:t>
            </a:r>
          </a:p>
        </p:txBody>
      </p:sp>
      <p:sp>
        <p:nvSpPr>
          <p:cNvPr id="4" name="TextBox 3"/>
          <p:cNvSpPr txBox="1"/>
          <p:nvPr/>
        </p:nvSpPr>
        <p:spPr>
          <a:xfrm>
            <a:off x="457200" y="1335024"/>
            <a:ext cx="5519776" cy="1836420"/>
          </a:xfrm>
          <a:prstGeom prst="rect">
            <a:avLst/>
          </a:prstGeom>
          <a:noFill/>
        </p:spPr>
        <p:txBody>
          <a:bodyPr wrap="square" lIns="0" rIns="0" tIns="0" bIns="0" anchor="t">
            <a:noAutofit/>
          </a:bodyPr>
          <a:lstStyle/>
          <a:p>
            <a:pPr algn="l" marL="274320" indent="-274320">
              <a:lnSpc>
                <a:spcPct val="100000"/>
              </a:lnSpc>
              <a:spcAft>
                <a:spcPts val="750"/>
              </a:spcAft>
              <a:buClr>
                <a:srgbClr val="F5A623"/>
              </a:buClr>
              <a:buFont typeface="Arial"/>
              <a:buChar char="•"/>
            </a:pPr>
            <a:r>
              <a:rPr sz="1500" b="0" i="0">
                <a:solidFill>
                  <a:srgbClr val="18232F"/>
                </a:solidFill>
                <a:latin typeface="Segoe UI"/>
              </a:rPr>
              <a:t>Futures contract ek deal hai jo aaj hoti hai: price aaj tay ho jaata hai, lekin khareed-bikri aage ki ek tay date par hoti hai, jise expiry kehte hain.</a:t>
            </a:r>
          </a:p>
          <a:p>
            <a:pPr algn="l" marL="274320" indent="-274320">
              <a:lnSpc>
                <a:spcPct val="100000"/>
              </a:lnSpc>
              <a:spcAft>
                <a:spcPts val="750"/>
              </a:spcAft>
              <a:buClr>
                <a:srgbClr val="F5A623"/>
              </a:buClr>
              <a:buFont typeface="Arial"/>
              <a:buChar char="•"/>
            </a:pPr>
            <a:r>
              <a:rPr sz="1500" b="0" i="0">
                <a:solidFill>
                  <a:srgbClr val="18232F"/>
                </a:solidFill>
                <a:latin typeface="Segoe UI"/>
              </a:rPr>
              <a:t>NSE par NIFTY 50 jaise indices aur kai stocks ke futures hote hain.</a:t>
            </a:r>
          </a:p>
          <a:p>
            <a:pPr algn="l" marL="274320" indent="-274320">
              <a:lnSpc>
                <a:spcPct val="100000"/>
              </a:lnSpc>
              <a:buClr>
                <a:srgbClr val="F5A623"/>
              </a:buClr>
              <a:buFont typeface="Arial"/>
              <a:buChar char="•"/>
            </a:pPr>
            <a:r>
              <a:rPr sz="1500" b="0" i="0">
                <a:solidFill>
                  <a:srgbClr val="18232F"/>
                </a:solidFill>
                <a:latin typeface="Segoe UI"/>
              </a:rPr>
              <a:t>Quantity aap apni marzi se nahi chun sakte: har contract ek fixed size mein aata hai jise lot kehte hain.</a:t>
            </a:r>
          </a:p>
        </p:txBody>
      </p:sp>
      <p:sp>
        <p:nvSpPr>
          <p:cNvPr id="5" name="Rounded Rectangle 4"/>
          <p:cNvSpPr/>
          <p:nvPr/>
        </p:nvSpPr>
        <p:spPr>
          <a:xfrm>
            <a:off x="6214720" y="1335024"/>
            <a:ext cx="5519776" cy="1920240"/>
          </a:xfrm>
          <a:prstGeom prst="roundRect">
            <a:avLst>
              <a:gd name="adj" fmla="val 5714"/>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1463040"/>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Sochiye, September mein hi Diwali ki mithai aaj ke rate par thoda advance dekar book kar di: rate lock ho gaya, bas yahan farak ka hisaab roz hota hai. Ek banawati example lijiye: Bharat Pumps Ltd futures ka ek lot 2,000 shares ka hai, price Rs 800, yaani contract value Rs 16,00,000, aur broker Rs 3,20,000 margin block karta hai. … Rs 10 lakh ki challenge capital par 1R Rs 10,000 hai, yaani sirf Rs 10 ki yeh girawat hi 2R hai, poora daily stop, aur akela yeh contract poori capital ka 1.6 guna hai.</a:t>
            </a:r>
          </a:p>
        </p:txBody>
      </p:sp>
      <p:sp>
        <p:nvSpPr>
          <p:cNvPr id="8" name="Rounded Rectangle 7"/>
          <p:cNvSpPr/>
          <p:nvPr/>
        </p:nvSpPr>
        <p:spPr>
          <a:xfrm>
            <a:off x="457200" y="3419856"/>
            <a:ext cx="11277295" cy="2194560"/>
          </a:xfrm>
          <a:prstGeom prst="roundRect">
            <a:avLst>
              <a:gd name="adj" fmla="val 4999"/>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5661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MTM, har shaam ka hisaab</a:t>
            </a:r>
          </a:p>
        </p:txBody>
      </p:sp>
      <p:sp>
        <p:nvSpPr>
          <p:cNvPr id="10" name="TextBox 9"/>
          <p:cNvSpPr txBox="1"/>
          <p:nvPr/>
        </p:nvSpPr>
        <p:spPr>
          <a:xfrm>
            <a:off x="640080" y="5166360"/>
            <a:ext cx="10911535"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Banawati numbers: 1 lot = 2,000 shares (Rs 16 lakh), margin Rs 3,20,000, yaani 5 guna leverage, aur account mein extra kuch nahi. Loss har shaam account se nikalta hai, sirf expiry par nahi, isliye pehle hi loss ke baad margin kam pad jaata hai.</a:t>
            </a:r>
          </a:p>
        </p:txBody>
      </p:sp>
      <p:cxnSp>
        <p:nvCxnSpPr>
          <p:cNvPr id="11" name="Connector 10"/>
          <p:cNvCxnSpPr/>
          <p:nvPr/>
        </p:nvCxnSpPr>
        <p:spPr>
          <a:xfrm>
            <a:off x="1731234" y="4049268"/>
            <a:ext cx="8729228" cy="0"/>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354329" y="3884676"/>
            <a:ext cx="753809"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Day 0</a:t>
            </a:r>
          </a:p>
        </p:txBody>
      </p:sp>
      <p:sp>
        <p:nvSpPr>
          <p:cNvPr id="13" name="TextBox 12"/>
          <p:cNvSpPr txBox="1"/>
          <p:nvPr/>
        </p:nvSpPr>
        <p:spPr>
          <a:xfrm>
            <a:off x="713232" y="4341876"/>
            <a:ext cx="2036003" cy="77571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1 lot Rs 800 par liya</a:t>
            </a:r>
          </a:p>
          <a:p>
            <a:pPr algn="ctr">
              <a:lnSpc>
                <a:spcPct val="100000"/>
              </a:lnSpc>
            </a:pPr>
            <a:r>
              <a:rPr sz="1100" b="0" i="0">
                <a:solidFill>
                  <a:srgbClr val="47596B"/>
                </a:solidFill>
                <a:latin typeface="Segoe UI"/>
              </a:rPr>
              <a:t>Rs 3,20,000 margin block</a:t>
            </a:r>
          </a:p>
        </p:txBody>
      </p:sp>
      <p:sp>
        <p:nvSpPr>
          <p:cNvPr id="14" name="Rounded Rectangle 13"/>
          <p:cNvSpPr/>
          <p:nvPr/>
        </p:nvSpPr>
        <p:spPr>
          <a:xfrm>
            <a:off x="3536636" y="3884676"/>
            <a:ext cx="753809"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Day 1</a:t>
            </a:r>
          </a:p>
        </p:txBody>
      </p:sp>
      <p:sp>
        <p:nvSpPr>
          <p:cNvPr id="15" name="TextBox 14"/>
          <p:cNvSpPr txBox="1"/>
          <p:nvPr/>
        </p:nvSpPr>
        <p:spPr>
          <a:xfrm>
            <a:off x="2895539" y="4341876"/>
            <a:ext cx="2036003" cy="77571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Rs 790 par close</a:t>
            </a:r>
          </a:p>
          <a:p>
            <a:pPr algn="ctr">
              <a:lnSpc>
                <a:spcPct val="100000"/>
              </a:lnSpc>
            </a:pPr>
            <a:r>
              <a:rPr sz="1100" b="0" i="0">
                <a:solidFill>
                  <a:srgbClr val="47596B"/>
                </a:solidFill>
                <a:latin typeface="Segoe UI"/>
              </a:rPr>
              <a:t>Rs 20,000 debit</a:t>
            </a:r>
          </a:p>
        </p:txBody>
      </p:sp>
      <p:sp>
        <p:nvSpPr>
          <p:cNvPr id="16" name="Rounded Rectangle 15"/>
          <p:cNvSpPr/>
          <p:nvPr/>
        </p:nvSpPr>
        <p:spPr>
          <a:xfrm>
            <a:off x="5718943" y="3884676"/>
            <a:ext cx="753809"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Day 2</a:t>
            </a:r>
          </a:p>
        </p:txBody>
      </p:sp>
      <p:sp>
        <p:nvSpPr>
          <p:cNvPr id="17" name="TextBox 16"/>
          <p:cNvSpPr txBox="1"/>
          <p:nvPr/>
        </p:nvSpPr>
        <p:spPr>
          <a:xfrm>
            <a:off x="5077846" y="4341876"/>
            <a:ext cx="2036003" cy="77571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Rs 780 par close</a:t>
            </a:r>
          </a:p>
          <a:p>
            <a:pPr algn="ctr">
              <a:lnSpc>
                <a:spcPct val="100000"/>
              </a:lnSpc>
            </a:pPr>
            <a:r>
              <a:rPr sz="1100" b="0" i="0">
                <a:solidFill>
                  <a:srgbClr val="47596B"/>
                </a:solidFill>
                <a:latin typeface="Segoe UI"/>
              </a:rPr>
              <a:t>Phir Rs 20,000 debit</a:t>
            </a:r>
          </a:p>
        </p:txBody>
      </p:sp>
      <p:sp>
        <p:nvSpPr>
          <p:cNvPr id="18" name="Rounded Rectangle 17"/>
          <p:cNvSpPr/>
          <p:nvPr/>
        </p:nvSpPr>
        <p:spPr>
          <a:xfrm>
            <a:off x="7901250" y="3884676"/>
            <a:ext cx="753809"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Day 3</a:t>
            </a:r>
          </a:p>
        </p:txBody>
      </p:sp>
      <p:sp>
        <p:nvSpPr>
          <p:cNvPr id="19" name="TextBox 18"/>
          <p:cNvSpPr txBox="1"/>
          <p:nvPr/>
        </p:nvSpPr>
        <p:spPr>
          <a:xfrm>
            <a:off x="7260153" y="4341876"/>
            <a:ext cx="2036003" cy="77571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Rs 770 par close</a:t>
            </a:r>
          </a:p>
          <a:p>
            <a:pPr algn="ctr">
              <a:lnSpc>
                <a:spcPct val="100000"/>
              </a:lnSpc>
            </a:pPr>
            <a:r>
              <a:rPr sz="1100" b="0" i="0">
                <a:solidFill>
                  <a:srgbClr val="47596B"/>
                </a:solidFill>
                <a:latin typeface="Segoe UI"/>
              </a:rPr>
              <a:t>Ab tak kul: Rs 60,000</a:t>
            </a:r>
          </a:p>
        </p:txBody>
      </p:sp>
      <p:sp>
        <p:nvSpPr>
          <p:cNvPr id="20" name="Rounded Rectangle 19"/>
          <p:cNvSpPr/>
          <p:nvPr/>
        </p:nvSpPr>
        <p:spPr>
          <a:xfrm>
            <a:off x="10083557" y="3884676"/>
            <a:ext cx="753809"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Any day</a:t>
            </a:r>
          </a:p>
        </p:txBody>
      </p:sp>
      <p:sp>
        <p:nvSpPr>
          <p:cNvPr id="21" name="TextBox 20"/>
          <p:cNvSpPr txBox="1"/>
          <p:nvPr/>
        </p:nvSpPr>
        <p:spPr>
          <a:xfrm>
            <a:off x="9442460" y="4341876"/>
            <a:ext cx="2036003" cy="77571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Margin call</a:t>
            </a:r>
          </a:p>
          <a:p>
            <a:pPr algn="ctr">
              <a:lnSpc>
                <a:spcPct val="100000"/>
              </a:lnSpc>
            </a:pPr>
            <a:r>
              <a:rPr sz="1100" b="0" i="0">
                <a:solidFill>
                  <a:srgbClr val="47596B"/>
                </a:solidFill>
                <a:latin typeface="Segoe UI"/>
              </a:rPr>
              <a:t>Balance margin se kam: paisa daliye, warna broker position band kar sakta hai</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4" name="TextBox 23"/>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Margin ek deposit hai, limit nahi. Futures mein loss aapke lagaye paise se bhi bada ho sakta hai.</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Options: buyer ke paas haq, seller par zimmedari</a:t>
            </a:r>
          </a:p>
        </p:txBody>
      </p:sp>
      <p:sp>
        <p:nvSpPr>
          <p:cNvPr id="4" name="TextBox 3"/>
          <p:cNvSpPr txBox="1"/>
          <p:nvPr/>
        </p:nvSpPr>
        <p:spPr>
          <a:xfrm>
            <a:off x="457200" y="1335024"/>
            <a:ext cx="5519776" cy="1451610"/>
          </a:xfrm>
          <a:prstGeom prst="rect">
            <a:avLst/>
          </a:prstGeom>
          <a:noFill/>
        </p:spPr>
        <p:txBody>
          <a:bodyPr wrap="square" lIns="0" rIns="0" tIns="0" bIns="0" anchor="t">
            <a:noAutofit/>
          </a:bodyPr>
          <a:lstStyle/>
          <a:p>
            <a:pPr algn="l" marL="274320" indent="-274320">
              <a:lnSpc>
                <a:spcPct val="100000"/>
              </a:lnSpc>
              <a:spcAft>
                <a:spcPts val="675"/>
              </a:spcAft>
              <a:buClr>
                <a:srgbClr val="F5A623"/>
              </a:buClr>
              <a:buFont typeface="Arial"/>
              <a:buChar char="•"/>
            </a:pPr>
            <a:r>
              <a:rPr sz="1350" b="0" i="0">
                <a:solidFill>
                  <a:srgbClr val="18232F"/>
                </a:solidFill>
                <a:latin typeface="Segoe UI"/>
              </a:rPr>
              <a:t>Option apne buyer ko ek haq deta hai, zimmedari nahi: expiry ke din ek tay price par khareedne ya bechne ka haq.</a:t>
            </a:r>
          </a:p>
          <a:p>
            <a:pPr algn="l" marL="274320" indent="-274320">
              <a:lnSpc>
                <a:spcPct val="100000"/>
              </a:lnSpc>
              <a:spcAft>
                <a:spcPts val="675"/>
              </a:spcAft>
              <a:buClr>
                <a:srgbClr val="F5A623"/>
              </a:buClr>
              <a:buFont typeface="Arial"/>
              <a:buChar char="•"/>
            </a:pPr>
            <a:r>
              <a:rPr sz="1350" b="0" i="0">
                <a:solidFill>
                  <a:srgbClr val="18232F"/>
                </a:solidFill>
                <a:latin typeface="Segoe UI"/>
              </a:rPr>
              <a:t>NSE ke options European style hote hain: haq sirf expiry par use hota hai, lekin option ko expiry se pehle kisi bhi trading din exchange par bech sakte hain.</a:t>
            </a:r>
          </a:p>
          <a:p>
            <a:pPr algn="l" marL="274320" indent="-274320">
              <a:lnSpc>
                <a:spcPct val="100000"/>
              </a:lnSpc>
              <a:buClr>
                <a:srgbClr val="F5A623"/>
              </a:buClr>
              <a:buFont typeface="Arial"/>
              <a:buChar char="•"/>
            </a:pPr>
            <a:r>
              <a:rPr sz="1350" b="0" i="0">
                <a:solidFill>
                  <a:srgbClr val="18232F"/>
                </a:solidFill>
                <a:latin typeface="Segoe UI"/>
              </a:rPr>
              <a:t>Call option (CE) khareedne ka haq hai.</a:t>
            </a:r>
          </a:p>
        </p:txBody>
      </p:sp>
      <p:sp>
        <p:nvSpPr>
          <p:cNvPr id="5" name="Rounded Rectangle 4"/>
          <p:cNvSpPr/>
          <p:nvPr/>
        </p:nvSpPr>
        <p:spPr>
          <a:xfrm>
            <a:off x="6214720" y="1335024"/>
            <a:ext cx="5519776" cy="1411605"/>
          </a:xfrm>
          <a:prstGeom prst="roundRect">
            <a:avLst>
              <a:gd name="adj" fmla="val 777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954405"/>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Yeh flat booking ke token jaisa hai. Ek young couple Rs 50,000 ka non-refundable token deta hai, is haq ke liye ki teen mahine poore hone par flat Rs 40 lakh mein khareed sake. Yeh token extra hai; Rs 40 lakh mein adjust nahi hota. … Couple call buyer hai, token premium hai, Rs 40 lakh strike hai, aur builder seller hai.</a:t>
            </a:r>
          </a:p>
        </p:txBody>
      </p:sp>
      <p:sp>
        <p:nvSpPr>
          <p:cNvPr id="8" name="Rounded Rectangle 7"/>
          <p:cNvSpPr/>
          <p:nvPr/>
        </p:nvSpPr>
        <p:spPr>
          <a:xfrm>
            <a:off x="457200" y="2911221"/>
            <a:ext cx="11277295" cy="2703195"/>
          </a:xfrm>
          <a:prstGeom prst="roundRect">
            <a:avLst>
              <a:gd name="adj" fmla="val 4059"/>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057525"/>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Options ki table par kaun kahan</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Har option ka ek buyer hota hai aur ek seller. Stage 1 mein aap in mein se kisi kursi par nahi baithte, paper par bhi nahi.</a:t>
            </a:r>
          </a:p>
        </p:txBody>
      </p:sp>
      <p:sp>
        <p:nvSpPr>
          <p:cNvPr id="11" name="Rounded Rectangle 10"/>
          <p:cNvSpPr/>
          <p:nvPr/>
        </p:nvSpPr>
        <p:spPr>
          <a:xfrm>
            <a:off x="640080"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40080" y="3372993"/>
            <a:ext cx="3527450" cy="425196"/>
          </a:xfrm>
          <a:prstGeom prst="roundRect">
            <a:avLst>
              <a:gd name="adj" fmla="val 21505"/>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40080" y="3585591"/>
            <a:ext cx="3527450" cy="21259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40080" y="3372993"/>
            <a:ext cx="3527450" cy="1861947"/>
          </a:xfrm>
          <a:prstGeom prst="roundRect">
            <a:avLst>
              <a:gd name="adj" fmla="val 4910"/>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372993"/>
            <a:ext cx="3234842" cy="425196"/>
          </a:xfrm>
          <a:prstGeom prst="rect">
            <a:avLst/>
          </a:prstGeom>
          <a:noFill/>
        </p:spPr>
        <p:txBody>
          <a:bodyPr wrap="square" lIns="0" rIns="0" tIns="0" bIns="0" anchor="ctr">
            <a:noAutofit/>
          </a:bodyPr>
          <a:lstStyle/>
          <a:p>
            <a:pPr algn="l">
              <a:lnSpc>
                <a:spcPct val="100000"/>
              </a:lnSpc>
            </a:pPr>
            <a:r>
              <a:rPr sz="1350" b="1" i="0">
                <a:solidFill>
                  <a:srgbClr val="166534"/>
                </a:solidFill>
                <a:latin typeface="Segoe UI"/>
              </a:rPr>
              <a:t>Call buyer (CE)</a:t>
            </a:r>
          </a:p>
        </p:txBody>
      </p:sp>
      <p:cxnSp>
        <p:nvCxnSpPr>
          <p:cNvPr id="16" name="Connector 15"/>
          <p:cNvCxnSpPr/>
          <p:nvPr/>
        </p:nvCxnSpPr>
        <p:spPr>
          <a:xfrm>
            <a:off x="640080" y="3798189"/>
            <a:ext cx="3527450"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86384" y="3944493"/>
            <a:ext cx="3234842" cy="1253871"/>
          </a:xfrm>
          <a:prstGeom prst="rect">
            <a:avLst/>
          </a:prstGeom>
          <a:noFill/>
        </p:spPr>
        <p:txBody>
          <a:bodyPr wrap="square" lIns="0" rIns="0" tIns="0" bIns="0" anchor="t">
            <a:noAutofit/>
          </a:bodyPr>
          <a:lstStyle/>
          <a:p>
            <a:pPr algn="l" marL="201168" indent="-201168">
              <a:lnSpc>
                <a:spcPct val="100000"/>
              </a:lnSpc>
              <a:spcAft>
                <a:spcPts val="625"/>
              </a:spcAft>
              <a:buClr>
                <a:srgbClr val="16A34A"/>
              </a:buClr>
              <a:buFont typeface="Arial"/>
              <a:buChar char="•"/>
            </a:pPr>
            <a:r>
              <a:rPr sz="1250" b="0" i="0">
                <a:solidFill>
                  <a:srgbClr val="18232F"/>
                </a:solidFill>
                <a:latin typeface="Segoe UI"/>
              </a:rPr>
              <a:t>Strike par khareedne ka haq</a:t>
            </a:r>
          </a:p>
          <a:p>
            <a:pPr algn="l" marL="201168" indent="-201168">
              <a:lnSpc>
                <a:spcPct val="100000"/>
              </a:lnSpc>
              <a:spcAft>
                <a:spcPts val="625"/>
              </a:spcAft>
              <a:buClr>
                <a:srgbClr val="16A34A"/>
              </a:buClr>
              <a:buFont typeface="Arial"/>
              <a:buChar char="•"/>
            </a:pPr>
            <a:r>
              <a:rPr sz="1250" b="0" i="0">
                <a:solidFill>
                  <a:srgbClr val="18232F"/>
                </a:solidFill>
                <a:latin typeface="Segoe UI"/>
              </a:rPr>
              <a:t>Premium pehle hi deta hai</a:t>
            </a:r>
          </a:p>
          <a:p>
            <a:pPr algn="l" marL="201168" indent="-201168">
              <a:lnSpc>
                <a:spcPct val="100000"/>
              </a:lnSpc>
              <a:spcAft>
                <a:spcPts val="625"/>
              </a:spcAft>
              <a:buClr>
                <a:srgbClr val="16A34A"/>
              </a:buClr>
              <a:buFont typeface="Arial"/>
              <a:buChar char="•"/>
            </a:pPr>
            <a:r>
              <a:rPr sz="1250" b="0" i="0">
                <a:solidFill>
                  <a:srgbClr val="18232F"/>
                </a:solidFill>
                <a:latin typeface="Segoe UI"/>
              </a:rPr>
              <a:t>Price kaafi badhe toh fayda</a:t>
            </a:r>
          </a:p>
          <a:p>
            <a:pPr algn="l" marL="201168" indent="-201168">
              <a:lnSpc>
                <a:spcPct val="100000"/>
              </a:lnSpc>
              <a:buClr>
                <a:srgbClr val="16A34A"/>
              </a:buClr>
              <a:buFont typeface="Arial"/>
              <a:buChar char="•"/>
            </a:pPr>
            <a:r>
              <a:rPr sz="1250" b="0" i="0">
                <a:solidFill>
                  <a:srgbClr val="18232F"/>
                </a:solidFill>
                <a:latin typeface="Segoe UI"/>
              </a:rPr>
              <a:t>Sabse bura: premium gaya</a:t>
            </a:r>
          </a:p>
        </p:txBody>
      </p:sp>
      <p:sp>
        <p:nvSpPr>
          <p:cNvPr id="18" name="Rounded Rectangle 17"/>
          <p:cNvSpPr/>
          <p:nvPr/>
        </p:nvSpPr>
        <p:spPr>
          <a:xfrm>
            <a:off x="4332122"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4332122" y="3372993"/>
            <a:ext cx="3527450" cy="425196"/>
          </a:xfrm>
          <a:prstGeom prst="roundRect">
            <a:avLst>
              <a:gd name="adj" fmla="val 2150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4332122" y="3585591"/>
            <a:ext cx="3527450" cy="212598"/>
          </a:xfrm>
          <a:prstGeom prst="rect">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4332122" y="3372993"/>
            <a:ext cx="3527450" cy="1861947"/>
          </a:xfrm>
          <a:prstGeom prst="roundRect">
            <a:avLst>
              <a:gd name="adj" fmla="val 4910"/>
            </a:avLst>
          </a:prstGeom>
          <a:noFill/>
          <a:ln w="15875">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4478426" y="3372993"/>
            <a:ext cx="3234842" cy="425196"/>
          </a:xfrm>
          <a:prstGeom prst="rect">
            <a:avLst/>
          </a:prstGeom>
          <a:noFill/>
        </p:spPr>
        <p:txBody>
          <a:bodyPr wrap="square" lIns="0" rIns="0" tIns="0" bIns="0" anchor="ctr">
            <a:noAutofit/>
          </a:bodyPr>
          <a:lstStyle/>
          <a:p>
            <a:pPr algn="l">
              <a:lnSpc>
                <a:spcPct val="100000"/>
              </a:lnSpc>
            </a:pPr>
            <a:r>
              <a:rPr sz="1350" b="1" i="0">
                <a:solidFill>
                  <a:srgbClr val="92400E"/>
                </a:solidFill>
                <a:latin typeface="Segoe UI"/>
              </a:rPr>
              <a:t>Put buyer (PE)</a:t>
            </a:r>
          </a:p>
        </p:txBody>
      </p:sp>
      <p:cxnSp>
        <p:nvCxnSpPr>
          <p:cNvPr id="23" name="Connector 22"/>
          <p:cNvCxnSpPr/>
          <p:nvPr/>
        </p:nvCxnSpPr>
        <p:spPr>
          <a:xfrm>
            <a:off x="4332122" y="3798189"/>
            <a:ext cx="3527451" cy="0"/>
          </a:xfrm>
          <a:prstGeom prst="line">
            <a:avLst/>
          </a:prstGeom>
          <a:ln w="15875">
            <a:solidFill>
              <a:srgbClr val="F5A524"/>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78426" y="3944493"/>
            <a:ext cx="3234842" cy="1253871"/>
          </a:xfrm>
          <a:prstGeom prst="rect">
            <a:avLst/>
          </a:prstGeom>
          <a:noFill/>
        </p:spPr>
        <p:txBody>
          <a:bodyPr wrap="square" lIns="0" rIns="0" tIns="0" bIns="0" anchor="t">
            <a:noAutofit/>
          </a:bodyPr>
          <a:lstStyle/>
          <a:p>
            <a:pPr algn="l" marL="201168" indent="-201168">
              <a:lnSpc>
                <a:spcPct val="100000"/>
              </a:lnSpc>
              <a:spcAft>
                <a:spcPts val="625"/>
              </a:spcAft>
              <a:buClr>
                <a:srgbClr val="F5A524"/>
              </a:buClr>
              <a:buFont typeface="Arial"/>
              <a:buChar char="•"/>
            </a:pPr>
            <a:r>
              <a:rPr sz="1250" b="0" i="0">
                <a:solidFill>
                  <a:srgbClr val="18232F"/>
                </a:solidFill>
                <a:latin typeface="Segoe UI"/>
              </a:rPr>
              <a:t>Strike par bechne ka haq</a:t>
            </a:r>
          </a:p>
          <a:p>
            <a:pPr algn="l" marL="201168" indent="-201168">
              <a:lnSpc>
                <a:spcPct val="100000"/>
              </a:lnSpc>
              <a:spcAft>
                <a:spcPts val="625"/>
              </a:spcAft>
              <a:buClr>
                <a:srgbClr val="F5A524"/>
              </a:buClr>
              <a:buFont typeface="Arial"/>
              <a:buChar char="•"/>
            </a:pPr>
            <a:r>
              <a:rPr sz="1250" b="0" i="0">
                <a:solidFill>
                  <a:srgbClr val="18232F"/>
                </a:solidFill>
                <a:latin typeface="Segoe UI"/>
              </a:rPr>
              <a:t>Premium pehle hi deta hai</a:t>
            </a:r>
          </a:p>
          <a:p>
            <a:pPr algn="l" marL="201168" indent="-201168">
              <a:lnSpc>
                <a:spcPct val="100000"/>
              </a:lnSpc>
              <a:spcAft>
                <a:spcPts val="625"/>
              </a:spcAft>
              <a:buClr>
                <a:srgbClr val="F5A524"/>
              </a:buClr>
              <a:buFont typeface="Arial"/>
              <a:buChar char="•"/>
            </a:pPr>
            <a:r>
              <a:rPr sz="1250" b="0" i="0">
                <a:solidFill>
                  <a:srgbClr val="18232F"/>
                </a:solidFill>
                <a:latin typeface="Segoe UI"/>
              </a:rPr>
              <a:t>Price kaafi gire toh fayda</a:t>
            </a:r>
          </a:p>
          <a:p>
            <a:pPr algn="l" marL="201168" indent="-201168">
              <a:lnSpc>
                <a:spcPct val="100000"/>
              </a:lnSpc>
              <a:buClr>
                <a:srgbClr val="F5A524"/>
              </a:buClr>
              <a:buFont typeface="Arial"/>
              <a:buChar char="•"/>
            </a:pPr>
            <a:r>
              <a:rPr sz="1250" b="0" i="0">
                <a:solidFill>
                  <a:srgbClr val="18232F"/>
                </a:solidFill>
                <a:latin typeface="Segoe UI"/>
              </a:rPr>
              <a:t>Sabse bura: premium gaya</a:t>
            </a:r>
          </a:p>
        </p:txBody>
      </p:sp>
      <p:sp>
        <p:nvSpPr>
          <p:cNvPr id="25" name="Rounded Rectangle 24"/>
          <p:cNvSpPr/>
          <p:nvPr/>
        </p:nvSpPr>
        <p:spPr>
          <a:xfrm>
            <a:off x="8024165"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8024165" y="3372993"/>
            <a:ext cx="3527450" cy="425196"/>
          </a:xfrm>
          <a:prstGeom prst="roundRect">
            <a:avLst>
              <a:gd name="adj" fmla="val 21505"/>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Rectangle 26"/>
          <p:cNvSpPr/>
          <p:nvPr/>
        </p:nvSpPr>
        <p:spPr>
          <a:xfrm>
            <a:off x="8024165" y="3585591"/>
            <a:ext cx="3527450" cy="21259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ounded Rectangle 27"/>
          <p:cNvSpPr/>
          <p:nvPr/>
        </p:nvSpPr>
        <p:spPr>
          <a:xfrm>
            <a:off x="8024165" y="3372993"/>
            <a:ext cx="3527450" cy="1861947"/>
          </a:xfrm>
          <a:prstGeom prst="roundRect">
            <a:avLst>
              <a:gd name="adj" fmla="val 4910"/>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TextBox 28"/>
          <p:cNvSpPr txBox="1"/>
          <p:nvPr/>
        </p:nvSpPr>
        <p:spPr>
          <a:xfrm>
            <a:off x="8170469" y="3372993"/>
            <a:ext cx="3234842" cy="425196"/>
          </a:xfrm>
          <a:prstGeom prst="rect">
            <a:avLst/>
          </a:prstGeom>
          <a:noFill/>
        </p:spPr>
        <p:txBody>
          <a:bodyPr wrap="square" lIns="0" rIns="0" tIns="0" bIns="0" anchor="ctr">
            <a:noAutofit/>
          </a:bodyPr>
          <a:lstStyle/>
          <a:p>
            <a:pPr algn="l">
              <a:lnSpc>
                <a:spcPct val="100000"/>
              </a:lnSpc>
            </a:pPr>
            <a:r>
              <a:rPr sz="1350" b="1" i="0">
                <a:solidFill>
                  <a:srgbClr val="991B1B"/>
                </a:solidFill>
                <a:latin typeface="Segoe UI"/>
              </a:rPr>
              <a:t>Seller (call ya put)</a:t>
            </a:r>
          </a:p>
        </p:txBody>
      </p:sp>
      <p:cxnSp>
        <p:nvCxnSpPr>
          <p:cNvPr id="30" name="Connector 29"/>
          <p:cNvCxnSpPr/>
          <p:nvPr/>
        </p:nvCxnSpPr>
        <p:spPr>
          <a:xfrm>
            <a:off x="8024165" y="3798189"/>
            <a:ext cx="3527450"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0469" y="3944493"/>
            <a:ext cx="3234842" cy="1253871"/>
          </a:xfrm>
          <a:prstGeom prst="rect">
            <a:avLst/>
          </a:prstGeom>
          <a:noFill/>
        </p:spPr>
        <p:txBody>
          <a:bodyPr wrap="square" lIns="0" rIns="0" tIns="0" bIns="0" anchor="t">
            <a:noAutofit/>
          </a:bodyPr>
          <a:lstStyle/>
          <a:p>
            <a:pPr algn="l" marL="201168" indent="-201168">
              <a:lnSpc>
                <a:spcPct val="100000"/>
              </a:lnSpc>
              <a:spcAft>
                <a:spcPts val="625"/>
              </a:spcAft>
              <a:buClr>
                <a:srgbClr val="F0554E"/>
              </a:buClr>
              <a:buFont typeface="Arial"/>
              <a:buChar char="•"/>
            </a:pPr>
            <a:r>
              <a:rPr sz="1250" b="0" i="0">
                <a:solidFill>
                  <a:srgbClr val="18232F"/>
                </a:solidFill>
                <a:latin typeface="Segoe UI"/>
              </a:rPr>
              <a:t>Premium le leta hai</a:t>
            </a:r>
          </a:p>
          <a:p>
            <a:pPr algn="l" marL="201168" indent="-201168">
              <a:lnSpc>
                <a:spcPct val="100000"/>
              </a:lnSpc>
              <a:spcAft>
                <a:spcPts val="625"/>
              </a:spcAft>
              <a:buClr>
                <a:srgbClr val="F0554E"/>
              </a:buClr>
              <a:buFont typeface="Arial"/>
              <a:buChar char="•"/>
            </a:pPr>
            <a:r>
              <a:rPr sz="1250" b="0" i="0">
                <a:solidFill>
                  <a:srgbClr val="18232F"/>
                </a:solidFill>
                <a:latin typeface="Segoe UI"/>
              </a:rPr>
              <a:t>Buyer ka haq nibhana padta hai</a:t>
            </a:r>
          </a:p>
          <a:p>
            <a:pPr algn="l" marL="201168" indent="-201168">
              <a:lnSpc>
                <a:spcPct val="100000"/>
              </a:lnSpc>
              <a:spcAft>
                <a:spcPts val="625"/>
              </a:spcAft>
              <a:buClr>
                <a:srgbClr val="F0554E"/>
              </a:buClr>
              <a:buFont typeface="Arial"/>
              <a:buChar char="•"/>
            </a:pPr>
            <a:r>
              <a:rPr sz="1250" b="0" i="0">
                <a:solidFill>
                  <a:srgbClr val="18232F"/>
                </a:solidFill>
                <a:latin typeface="Segoe UI"/>
              </a:rPr>
              <a:t>Loss premium se kahin bada ho sakta hai</a:t>
            </a:r>
          </a:p>
          <a:p>
            <a:pPr algn="l" marL="201168" indent="-201168">
              <a:lnSpc>
                <a:spcPct val="100000"/>
              </a:lnSpc>
              <a:buClr>
                <a:srgbClr val="F0554E"/>
              </a:buClr>
              <a:buFont typeface="Arial"/>
              <a:buChar char="•"/>
            </a:pPr>
            <a:r>
              <a:rPr sz="1250" b="0" i="0">
                <a:solidFill>
                  <a:srgbClr val="18232F"/>
                </a:solidFill>
                <a:latin typeface="Segoe UI"/>
              </a:rPr>
              <a:t>Margin rakhna zaroori</a:t>
            </a:r>
          </a:p>
        </p:txBody>
      </p:sp>
      <p:sp>
        <p:nvSpPr>
          <p:cNvPr id="32" name="Rounded Rectangle 3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4" name="TextBox 33"/>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Buyer: premium deta hai, haq rakhta hai. Seller: premium leta hai, zimmedari aur bada risk uthata hai.</a:t>
            </a:r>
          </a:p>
        </p:txBody>
      </p:sp>
      <p:pic>
        <p:nvPicPr>
          <p:cNvPr id="35" name="Picture 34" descr="logo.png"/>
          <p:cNvPicPr>
            <a:picLocks noChangeAspect="1"/>
          </p:cNvPicPr>
          <p:nvPr/>
        </p:nvPicPr>
        <p:blipFill>
          <a:blip r:embed="rId2"/>
          <a:stretch>
            <a:fillRect/>
          </a:stretch>
        </p:blipFill>
        <p:spPr>
          <a:xfrm>
            <a:off x="457200" y="6437376"/>
            <a:ext cx="237744" cy="237744"/>
          </a:xfrm>
          <a:prstGeom prst="rect">
            <a:avLst/>
          </a:prstGeom>
        </p:spPr>
      </p:pic>
      <p:sp>
        <p:nvSpPr>
          <p:cNvPr id="3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7" name="TextBox 3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ITM, ATM, OTM, aur premium ke andar kya hota hai</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Moneyness batata hai ki strike aaj ke price ke muqable kahan khada hai.</a:t>
            </a:r>
          </a:p>
          <a:p>
            <a:pPr algn="l" marL="274320" indent="-274320">
              <a:lnSpc>
                <a:spcPct val="100000"/>
              </a:lnSpc>
              <a:spcAft>
                <a:spcPts val="800"/>
              </a:spcAft>
              <a:buClr>
                <a:srgbClr val="F5A623"/>
              </a:buClr>
              <a:buFont typeface="Arial"/>
              <a:buChar char="•"/>
            </a:pPr>
            <a:r>
              <a:rPr sz="1600" b="0" i="0">
                <a:solidFill>
                  <a:srgbClr val="18232F"/>
                </a:solidFill>
                <a:latin typeface="Segoe UI"/>
              </a:rPr>
              <a:t>Har premium ke do hisse hote hain.</a:t>
            </a:r>
          </a:p>
          <a:p>
            <a:pPr algn="l" marL="274320" indent="-274320">
              <a:lnSpc>
                <a:spcPct val="100000"/>
              </a:lnSpc>
              <a:spcAft>
                <a:spcPts val="800"/>
              </a:spcAft>
              <a:buClr>
                <a:srgbClr val="F5A623"/>
              </a:buClr>
              <a:buFont typeface="Arial"/>
              <a:buChar char="•"/>
            </a:pPr>
            <a:r>
              <a:rPr sz="1600" b="0" i="0">
                <a:solidFill>
                  <a:srgbClr val="18232F"/>
                </a:solidFill>
                <a:latin typeface="Segoe UI"/>
              </a:rPr>
              <a:t>Intrinsic value woh hai jo option abhi isi pal expire ho toh milegi: call ke liye current price minus strike, aur yeh zero se neeche kabhi nahi jaati.</a:t>
            </a:r>
          </a:p>
          <a:p>
            <a:pPr algn="l" marL="274320" indent="-274320">
              <a:lnSpc>
                <a:spcPct val="100000"/>
              </a:lnSpc>
              <a:buClr>
                <a:srgbClr val="F5A623"/>
              </a:buClr>
              <a:buFont typeface="Arial"/>
              <a:buChar char="•"/>
            </a:pPr>
            <a:r>
              <a:rPr sz="1600" b="0" i="0">
                <a:solidFill>
                  <a:srgbClr val="18232F"/>
                </a:solidFill>
                <a:latin typeface="Segoe UI"/>
              </a:rPr>
              <a:t>Put ke liye strike minus current price, yeh bhi zero se neeche nahi.</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NIFTY 50 24,150 par hai (illustrative; Aaj Ka Kaam wala practice option chain bhi yahi numbers leta hai, expiry se 4 din pehle). 24,000 ka call 150 points ITM hai aur uska premium 210 hai, toh intrinsic value 150 aur time value 60. 24,300 ka call OTM hai; uska 61 ka poora premium time value hi hai. … Put ke liye ulta: 24,250 ka put 100 points ITM hai; premium 178 hai, toh intrinsic value 100 aur time value 78.</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42976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Time value aakhir mein sabse tez pighalti hai</a:t>
            </a:r>
          </a:p>
        </p:txBody>
      </p:sp>
      <p:sp>
        <p:nvSpPr>
          <p:cNvPr id="11" name="TextBox 10"/>
          <p:cNvSpPr txBox="1"/>
          <p:nvPr/>
        </p:nvSpPr>
        <p:spPr>
          <a:xfrm>
            <a:off x="6397600" y="4846320"/>
            <a:ext cx="5154016" cy="65836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Illustrative: at-the-money NIFTY call, index 24,150 par tika hua. 30 din bache hon toh time value lagbhag 331 points, 23 din par 290, 7 din par 160 aur expiry par zero: pehla hafta lagbhag 41 points khata hai, aakhri hafta lagbhag 160. Practice chain 4 din bache hone par hai, jahan yeh 121 hai.</a:t>
            </a:r>
          </a:p>
        </p:txBody>
      </p:sp>
      <p:sp>
        <p:nvSpPr>
          <p:cNvPr id="12" name="TextBox 11"/>
          <p:cNvSpPr txBox="1"/>
          <p:nvPr/>
        </p:nvSpPr>
        <p:spPr>
          <a:xfrm>
            <a:off x="6397600" y="2002536"/>
            <a:ext cx="2700560" cy="182880"/>
          </a:xfrm>
          <a:prstGeom prst="rect">
            <a:avLst/>
          </a:prstGeom>
          <a:noFill/>
        </p:spPr>
        <p:txBody>
          <a:bodyPr wrap="square" lIns="0" rIns="0" tIns="0" bIns="0" anchor="t">
            <a:noAutofit/>
          </a:bodyPr>
          <a:lstStyle/>
          <a:p>
            <a:pPr algn="l">
              <a:lnSpc>
                <a:spcPct val="100000"/>
              </a:lnSpc>
            </a:pPr>
            <a:r>
              <a:rPr sz="900" b="1" i="0">
                <a:solidFill>
                  <a:srgbClr val="57687A"/>
                </a:solidFill>
                <a:latin typeface="Segoe UI"/>
              </a:rPr>
              <a:t>Time value (points)</a:t>
            </a:r>
          </a:p>
        </p:txBody>
      </p:sp>
      <p:cxnSp>
        <p:nvCxnSpPr>
          <p:cNvPr id="13" name="Connector 12"/>
          <p:cNvCxnSpPr/>
          <p:nvPr/>
        </p:nvCxnSpPr>
        <p:spPr>
          <a:xfrm>
            <a:off x="6812159" y="451713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397600" y="443484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-26.5</a:t>
            </a:r>
          </a:p>
        </p:txBody>
      </p:sp>
      <p:cxnSp>
        <p:nvCxnSpPr>
          <p:cNvPr id="15" name="Connector 14"/>
          <p:cNvCxnSpPr/>
          <p:nvPr/>
        </p:nvCxnSpPr>
        <p:spPr>
          <a:xfrm>
            <a:off x="6812159" y="4053078"/>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397600" y="397078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69.5</a:t>
            </a:r>
          </a:p>
        </p:txBody>
      </p:sp>
      <p:cxnSp>
        <p:nvCxnSpPr>
          <p:cNvPr id="17" name="Connector 16"/>
          <p:cNvCxnSpPr/>
          <p:nvPr/>
        </p:nvCxnSpPr>
        <p:spPr>
          <a:xfrm>
            <a:off x="6812159" y="3589020"/>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397600" y="3506724"/>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165.5</a:t>
            </a:r>
          </a:p>
        </p:txBody>
      </p:sp>
      <p:cxnSp>
        <p:nvCxnSpPr>
          <p:cNvPr id="19" name="Connector 18"/>
          <p:cNvCxnSpPr/>
          <p:nvPr/>
        </p:nvCxnSpPr>
        <p:spPr>
          <a:xfrm>
            <a:off x="6812159" y="3124962"/>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97600" y="3042666"/>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261.5</a:t>
            </a:r>
          </a:p>
        </p:txBody>
      </p:sp>
      <p:cxnSp>
        <p:nvCxnSpPr>
          <p:cNvPr id="21" name="Connector 20"/>
          <p:cNvCxnSpPr/>
          <p:nvPr/>
        </p:nvCxnSpPr>
        <p:spPr>
          <a:xfrm>
            <a:off x="6812159" y="2660904"/>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97600" y="2578608"/>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357.5</a:t>
            </a:r>
          </a:p>
        </p:txBody>
      </p:sp>
      <p:cxnSp>
        <p:nvCxnSpPr>
          <p:cNvPr id="23" name="Connector 22"/>
          <p:cNvCxnSpPr/>
          <p:nvPr/>
        </p:nvCxnSpPr>
        <p:spPr>
          <a:xfrm>
            <a:off x="10389659" y="2313432"/>
            <a:ext cx="0" cy="220370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0435379" y="2221992"/>
            <a:ext cx="802576"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Aakhri hafta</a:t>
            </a:r>
          </a:p>
        </p:txBody>
      </p:sp>
      <p:cxnSp>
        <p:nvCxnSpPr>
          <p:cNvPr id="25" name="Connector 24"/>
          <p:cNvCxnSpPr/>
          <p:nvPr/>
        </p:nvCxnSpPr>
        <p:spPr>
          <a:xfrm>
            <a:off x="11478463" y="2514600"/>
            <a:ext cx="0" cy="2002536"/>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1011137" y="2423160"/>
            <a:ext cx="421606"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Expiry</a:t>
            </a:r>
          </a:p>
        </p:txBody>
      </p:sp>
      <p:sp>
        <p:nvSpPr>
          <p:cNvPr id="27" name="Freeform 26"/>
          <p:cNvSpPr/>
          <p:nvPr/>
        </p:nvSpPr>
        <p:spPr>
          <a:xfrm>
            <a:off x="6812159" y="2788920"/>
            <a:ext cx="4666304" cy="1600200"/>
          </a:xfrm>
          <a:custGeom>
            <a:avLst/>
            <a:gdLst/>
            <a:ahLst/>
            <a:cxnLst/>
            <a:rect l="l" t="t" r="r" b="b"/>
            <a:pathLst>
              <a:path w="4666304" h="1600200">
                <a:moveTo>
                  <a:pt x="0" y="0"/>
                </a:moveTo>
                <a:lnTo>
                  <a:pt x="155544" y="24172"/>
                </a:lnTo>
                <a:lnTo>
                  <a:pt x="311087" y="53179"/>
                </a:lnTo>
                <a:lnTo>
                  <a:pt x="466631" y="82185"/>
                </a:lnTo>
                <a:lnTo>
                  <a:pt x="622174" y="106358"/>
                </a:lnTo>
                <a:lnTo>
                  <a:pt x="777718" y="135364"/>
                </a:lnTo>
                <a:lnTo>
                  <a:pt x="933261" y="169205"/>
                </a:lnTo>
                <a:lnTo>
                  <a:pt x="1088805" y="198212"/>
                </a:lnTo>
                <a:lnTo>
                  <a:pt x="1244348" y="227219"/>
                </a:lnTo>
                <a:lnTo>
                  <a:pt x="1399892" y="261060"/>
                </a:lnTo>
                <a:lnTo>
                  <a:pt x="1555435" y="290066"/>
                </a:lnTo>
                <a:lnTo>
                  <a:pt x="1710978" y="323908"/>
                </a:lnTo>
                <a:lnTo>
                  <a:pt x="1866522" y="357749"/>
                </a:lnTo>
                <a:lnTo>
                  <a:pt x="2022065" y="391590"/>
                </a:lnTo>
                <a:lnTo>
                  <a:pt x="2177609" y="430265"/>
                </a:lnTo>
                <a:lnTo>
                  <a:pt x="2333152" y="468941"/>
                </a:lnTo>
                <a:lnTo>
                  <a:pt x="2488696" y="507616"/>
                </a:lnTo>
                <a:lnTo>
                  <a:pt x="2644239" y="546292"/>
                </a:lnTo>
                <a:lnTo>
                  <a:pt x="2799783" y="584967"/>
                </a:lnTo>
                <a:lnTo>
                  <a:pt x="2955326" y="628477"/>
                </a:lnTo>
                <a:lnTo>
                  <a:pt x="3110870" y="676822"/>
                </a:lnTo>
                <a:lnTo>
                  <a:pt x="3266413" y="720332"/>
                </a:lnTo>
                <a:lnTo>
                  <a:pt x="3421957" y="773511"/>
                </a:lnTo>
                <a:lnTo>
                  <a:pt x="3577500" y="826689"/>
                </a:lnTo>
                <a:lnTo>
                  <a:pt x="3733043" y="884703"/>
                </a:lnTo>
                <a:lnTo>
                  <a:pt x="3888587" y="947550"/>
                </a:lnTo>
                <a:lnTo>
                  <a:pt x="4044130" y="1015233"/>
                </a:lnTo>
                <a:lnTo>
                  <a:pt x="4199674" y="1092584"/>
                </a:lnTo>
                <a:lnTo>
                  <a:pt x="4355217" y="1184438"/>
                </a:lnTo>
                <a:lnTo>
                  <a:pt x="4510761" y="1305299"/>
                </a:lnTo>
                <a:lnTo>
                  <a:pt x="4666304" y="1600200"/>
                </a:lnTo>
              </a:path>
            </a:pathLst>
          </a:custGeom>
          <a:noFill/>
          <a:ln w="28575">
            <a:solidFill>
              <a:srgbClr val="F5A524"/>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12159" y="4553712"/>
            <a:ext cx="4666304" cy="182880"/>
          </a:xfrm>
          <a:prstGeom prst="rect">
            <a:avLst/>
          </a:prstGeom>
          <a:noFill/>
        </p:spPr>
        <p:txBody>
          <a:bodyPr wrap="square" lIns="0" rIns="0" tIns="0" bIns="0" anchor="t">
            <a:noAutofit/>
          </a:bodyPr>
          <a:lstStyle/>
          <a:p>
            <a:pPr algn="ctr">
              <a:lnSpc>
                <a:spcPct val="100000"/>
              </a:lnSpc>
            </a:pPr>
            <a:r>
              <a:rPr sz="900" b="1" i="0">
                <a:solidFill>
                  <a:srgbClr val="57687A"/>
                </a:solidFill>
                <a:latin typeface="Segoe UI"/>
              </a:rPr>
              <a:t>Expiry mein bache din: left par 30, right par 0</a:t>
            </a:r>
          </a:p>
        </p:txBody>
      </p:sp>
      <p:sp>
        <p:nvSpPr>
          <p:cNvPr id="29" name="Rounded Rectangle 28"/>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ounded Rectangle 29"/>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1" name="TextBox 30"/>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50" b="1" i="0">
                <a:solidFill>
                  <a:srgbClr val="FFFFFF"/>
                </a:solidFill>
                <a:latin typeface="Segoe UI"/>
              </a:rPr>
              <a:t>Price tika rahe toh intrinsic value bhi tiki rehti hai. Time value roz pighalti hai, aap dekhein ya na dekhein.</a:t>
            </a:r>
          </a:p>
        </p:txBody>
      </p:sp>
      <p:pic>
        <p:nvPicPr>
          <p:cNvPr id="32" name="Picture 31" descr="logo.png"/>
          <p:cNvPicPr>
            <a:picLocks noChangeAspect="1"/>
          </p:cNvPicPr>
          <p:nvPr/>
        </p:nvPicPr>
        <p:blipFill>
          <a:blip r:embed="rId2"/>
          <a:stretch>
            <a:fillRect/>
          </a:stretch>
        </p:blipFill>
        <p:spPr>
          <a:xfrm>
            <a:off x="457200" y="6437376"/>
            <a:ext cx="237744" cy="237744"/>
          </a:xfrm>
          <a:prstGeom prst="rect">
            <a:avLst/>
          </a:prstGeom>
        </p:spPr>
      </p:pic>
      <p:sp>
        <p:nvSpPr>
          <p:cNvPr id="3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4" name="TextBox 3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Expiry par payoff: kaun kitna haar sakta hai</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Payoff chart dikhata hai ki expiry par har mumkin price par profit ya loss kitna hoga.</a:t>
            </a:r>
          </a:p>
          <a:p>
            <a:pPr algn="l" marL="274320" indent="-274320">
              <a:lnSpc>
                <a:spcPct val="100000"/>
              </a:lnSpc>
              <a:spcAft>
                <a:spcPts val="800"/>
              </a:spcAft>
              <a:buClr>
                <a:srgbClr val="F5A623"/>
              </a:buClr>
              <a:buFont typeface="Arial"/>
              <a:buChar char="•"/>
            </a:pPr>
            <a:r>
              <a:rPr sz="1600" b="0" i="0">
                <a:solidFill>
                  <a:srgbClr val="18232F"/>
                </a:solidFill>
                <a:latin typeface="Segoe UI"/>
              </a:rPr>
              <a:t>Futures buyer ko price ke har ek rupaye ke move par ek rupaya fayda ya nuksaan hota hai, dono taraf.</a:t>
            </a:r>
          </a:p>
          <a:p>
            <a:pPr algn="l" marL="274320" indent="-274320">
              <a:lnSpc>
                <a:spcPct val="100000"/>
              </a:lnSpc>
              <a:spcAft>
                <a:spcPts val="800"/>
              </a:spcAft>
              <a:buClr>
                <a:srgbClr val="F5A623"/>
              </a:buClr>
              <a:buFont typeface="Arial"/>
              <a:buChar char="•"/>
            </a:pPr>
            <a:r>
              <a:rPr sz="1600" b="0" i="0">
                <a:solidFill>
                  <a:srgbClr val="18232F"/>
                </a:solidFill>
                <a:latin typeface="Segoe UI"/>
              </a:rPr>
              <a:t>Call buyer ka poora premium doob jaata hai agar price strike par ya usse neeche khatam ho, aur paisa tabhi banta hai jab price breakeven se upar jaaye.</a:t>
            </a:r>
          </a:p>
          <a:p>
            <a:pPr algn="l" marL="274320" indent="-274320">
              <a:lnSpc>
                <a:spcPct val="100000"/>
              </a:lnSpc>
              <a:buClr>
                <a:srgbClr val="F5A623"/>
              </a:buClr>
              <a:buFont typeface="Arial"/>
              <a:buChar char="•"/>
            </a:pPr>
            <a:r>
              <a:rPr sz="1600" b="0" i="0">
                <a:solidFill>
                  <a:srgbClr val="18232F"/>
                </a:solidFill>
                <a:latin typeface="Segoe UI"/>
              </a:rPr>
              <a:t>Breakeven yaani strike plus premium.</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Ab ek naya example lijiye, upar wala 210 ka call nahi: 24,000 ka NIFTY call jo 100 points mein khareeda gaya. Expiry par NIFTY 23,800 par khatam ho ya 24,000 par, buyer ke 100 points gaye. 24,100 par woh breakeven par hai, aur 24,400 par use 300 points ka fayda. Seller ka result har level par ulta hai: 24,000 par plus 100, 24,100 par zero, aur 24,400 par minus 300. … Yeh per unit, illustrative figures hain; ek lot inhe kai guna kar deta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Expiry par payoff, per unit</a:t>
            </a:r>
          </a:p>
        </p:txBody>
      </p:sp>
      <p:sp>
        <p:nvSpPr>
          <p:cNvPr id="11" name="TextBox 10"/>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Illustrative, per unit: 24,000 ka call 100 mein khareeda, aur 24,000 par liya future. X-axis: 23,500 se 24,500 tak, 100-100 ke steps. Har line 0 wahan cross karti hai jahan woh breakeven par hai: future 24,000 par, call buyer aur seller 24,100 par.</a:t>
            </a:r>
          </a:p>
        </p:txBody>
      </p:sp>
      <p:sp>
        <p:nvSpPr>
          <p:cNvPr id="12" name="Rectangle 11"/>
          <p:cNvSpPr/>
          <p:nvPr/>
        </p:nvSpPr>
        <p:spPr>
          <a:xfrm>
            <a:off x="6769329" y="1860804"/>
            <a:ext cx="256032" cy="64008"/>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7098513" y="1796796"/>
            <a:ext cx="841896"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Futures buyer</a:t>
            </a:r>
          </a:p>
        </p:txBody>
      </p:sp>
      <p:sp>
        <p:nvSpPr>
          <p:cNvPr id="14" name="Rectangle 13"/>
          <p:cNvSpPr/>
          <p:nvPr/>
        </p:nvSpPr>
        <p:spPr>
          <a:xfrm>
            <a:off x="8214729" y="1860804"/>
            <a:ext cx="256032" cy="64008"/>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543913" y="1796796"/>
            <a:ext cx="624777"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Call buyer</a:t>
            </a:r>
          </a:p>
        </p:txBody>
      </p:sp>
      <p:sp>
        <p:nvSpPr>
          <p:cNvPr id="16" name="Rectangle 15"/>
          <p:cNvSpPr/>
          <p:nvPr/>
        </p:nvSpPr>
        <p:spPr>
          <a:xfrm>
            <a:off x="9443010" y="1860804"/>
            <a:ext cx="256032" cy="64008"/>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9772194" y="1796796"/>
            <a:ext cx="597150"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Call seller</a:t>
            </a:r>
          </a:p>
        </p:txBody>
      </p:sp>
      <p:sp>
        <p:nvSpPr>
          <p:cNvPr id="18" name="TextBox 17"/>
          <p:cNvSpPr txBox="1"/>
          <p:nvPr/>
        </p:nvSpPr>
        <p:spPr>
          <a:xfrm>
            <a:off x="6397600" y="2071116"/>
            <a:ext cx="2657729" cy="182880"/>
          </a:xfrm>
          <a:prstGeom prst="rect">
            <a:avLst/>
          </a:prstGeom>
          <a:noFill/>
        </p:spPr>
        <p:txBody>
          <a:bodyPr wrap="square" lIns="0" rIns="0" tIns="0" bIns="0" anchor="t">
            <a:noAutofit/>
          </a:bodyPr>
          <a:lstStyle/>
          <a:p>
            <a:pPr algn="l">
              <a:lnSpc>
                <a:spcPct val="100000"/>
              </a:lnSpc>
            </a:pPr>
            <a:r>
              <a:rPr sz="900" b="1" i="0">
                <a:solidFill>
                  <a:srgbClr val="57687A"/>
                </a:solidFill>
                <a:latin typeface="Segoe UI"/>
              </a:rPr>
              <a:t>Points</a:t>
            </a:r>
          </a:p>
        </p:txBody>
      </p:sp>
      <p:cxnSp>
        <p:nvCxnSpPr>
          <p:cNvPr id="19" name="Connector 18"/>
          <p:cNvCxnSpPr/>
          <p:nvPr/>
        </p:nvCxnSpPr>
        <p:spPr>
          <a:xfrm>
            <a:off x="6769329" y="4677156"/>
            <a:ext cx="470913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97600" y="4594860"/>
            <a:ext cx="28028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-580</a:t>
            </a:r>
          </a:p>
        </p:txBody>
      </p:sp>
      <p:cxnSp>
        <p:nvCxnSpPr>
          <p:cNvPr id="21" name="Connector 20"/>
          <p:cNvCxnSpPr/>
          <p:nvPr/>
        </p:nvCxnSpPr>
        <p:spPr>
          <a:xfrm>
            <a:off x="6769329" y="4139946"/>
            <a:ext cx="470913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97600" y="4057650"/>
            <a:ext cx="28028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-290</a:t>
            </a:r>
          </a:p>
        </p:txBody>
      </p:sp>
      <p:cxnSp>
        <p:nvCxnSpPr>
          <p:cNvPr id="23" name="Connector 22"/>
          <p:cNvCxnSpPr/>
          <p:nvPr/>
        </p:nvCxnSpPr>
        <p:spPr>
          <a:xfrm>
            <a:off x="6769329" y="3602736"/>
            <a:ext cx="470913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397600" y="3520440"/>
            <a:ext cx="28028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0</a:t>
            </a:r>
          </a:p>
        </p:txBody>
      </p:sp>
      <p:cxnSp>
        <p:nvCxnSpPr>
          <p:cNvPr id="25" name="Connector 24"/>
          <p:cNvCxnSpPr/>
          <p:nvPr/>
        </p:nvCxnSpPr>
        <p:spPr>
          <a:xfrm>
            <a:off x="6769329" y="3065526"/>
            <a:ext cx="470913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97600" y="2983230"/>
            <a:ext cx="28028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290</a:t>
            </a:r>
          </a:p>
        </p:txBody>
      </p:sp>
      <p:cxnSp>
        <p:nvCxnSpPr>
          <p:cNvPr id="27" name="Connector 26"/>
          <p:cNvCxnSpPr/>
          <p:nvPr/>
        </p:nvCxnSpPr>
        <p:spPr>
          <a:xfrm>
            <a:off x="6769329" y="2528316"/>
            <a:ext cx="470913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397600" y="2446020"/>
            <a:ext cx="28028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580</a:t>
            </a:r>
          </a:p>
        </p:txBody>
      </p:sp>
      <p:cxnSp>
        <p:nvCxnSpPr>
          <p:cNvPr id="29" name="Connector 28"/>
          <p:cNvCxnSpPr/>
          <p:nvPr/>
        </p:nvCxnSpPr>
        <p:spPr>
          <a:xfrm>
            <a:off x="9123896" y="2382012"/>
            <a:ext cx="0" cy="229514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9169616" y="2290572"/>
            <a:ext cx="396447"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Strike</a:t>
            </a:r>
          </a:p>
        </p:txBody>
      </p:sp>
      <p:cxnSp>
        <p:nvCxnSpPr>
          <p:cNvPr id="31" name="Connector 30"/>
          <p:cNvCxnSpPr/>
          <p:nvPr/>
        </p:nvCxnSpPr>
        <p:spPr>
          <a:xfrm>
            <a:off x="9594809" y="2382012"/>
            <a:ext cx="0" cy="229514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640529" y="2290572"/>
            <a:ext cx="682043"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Breakeven</a:t>
            </a:r>
          </a:p>
        </p:txBody>
      </p:sp>
      <p:sp>
        <p:nvSpPr>
          <p:cNvPr id="33" name="Freeform 32"/>
          <p:cNvSpPr/>
          <p:nvPr/>
        </p:nvSpPr>
        <p:spPr>
          <a:xfrm>
            <a:off x="6769329" y="2676512"/>
            <a:ext cx="4709134" cy="1852448"/>
          </a:xfrm>
          <a:custGeom>
            <a:avLst/>
            <a:gdLst/>
            <a:ahLst/>
            <a:cxnLst/>
            <a:rect l="l" t="t" r="r" b="b"/>
            <a:pathLst>
              <a:path w="4709134" h="1852448">
                <a:moveTo>
                  <a:pt x="0" y="1852448"/>
                </a:moveTo>
                <a:lnTo>
                  <a:pt x="470913" y="1667203"/>
                </a:lnTo>
                <a:lnTo>
                  <a:pt x="941827" y="1481958"/>
                </a:lnTo>
                <a:lnTo>
                  <a:pt x="1412740" y="1296714"/>
                </a:lnTo>
                <a:lnTo>
                  <a:pt x="1883653" y="1111469"/>
                </a:lnTo>
                <a:lnTo>
                  <a:pt x="2354567" y="926224"/>
                </a:lnTo>
                <a:lnTo>
                  <a:pt x="2825480" y="740979"/>
                </a:lnTo>
                <a:lnTo>
                  <a:pt x="3296394" y="555734"/>
                </a:lnTo>
                <a:lnTo>
                  <a:pt x="3767307" y="370490"/>
                </a:lnTo>
                <a:lnTo>
                  <a:pt x="4238221" y="185245"/>
                </a:lnTo>
                <a:lnTo>
                  <a:pt x="4709134" y="0"/>
                </a:lnTo>
              </a:path>
            </a:pathLst>
          </a:custGeom>
          <a:noFill/>
          <a:ln w="28575">
            <a:solidFill>
              <a:srgbClr val="F5A524"/>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6769329" y="2861757"/>
            <a:ext cx="4709134" cy="926224"/>
          </a:xfrm>
          <a:custGeom>
            <a:avLst/>
            <a:gdLst/>
            <a:ahLst/>
            <a:cxnLst/>
            <a:rect l="l" t="t" r="r" b="b"/>
            <a:pathLst>
              <a:path w="4709134" h="926224">
                <a:moveTo>
                  <a:pt x="0" y="926224"/>
                </a:moveTo>
                <a:lnTo>
                  <a:pt x="470913" y="926224"/>
                </a:lnTo>
                <a:lnTo>
                  <a:pt x="941827" y="926224"/>
                </a:lnTo>
                <a:lnTo>
                  <a:pt x="1412740" y="926224"/>
                </a:lnTo>
                <a:lnTo>
                  <a:pt x="1883653" y="926224"/>
                </a:lnTo>
                <a:lnTo>
                  <a:pt x="2354567" y="926224"/>
                </a:lnTo>
                <a:lnTo>
                  <a:pt x="2825480" y="740979"/>
                </a:lnTo>
                <a:lnTo>
                  <a:pt x="3296394" y="555734"/>
                </a:lnTo>
                <a:lnTo>
                  <a:pt x="3767307" y="370489"/>
                </a:lnTo>
                <a:lnTo>
                  <a:pt x="4238221" y="185245"/>
                </a:lnTo>
                <a:lnTo>
                  <a:pt x="4709134" y="0"/>
                </a:lnTo>
              </a:path>
            </a:pathLst>
          </a:custGeom>
          <a:noFill/>
          <a:ln w="28575">
            <a:solidFill>
              <a:srgbClr val="16A34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6769329" y="3417491"/>
            <a:ext cx="4709134" cy="926224"/>
          </a:xfrm>
          <a:custGeom>
            <a:avLst/>
            <a:gdLst/>
            <a:ahLst/>
            <a:cxnLst/>
            <a:rect l="l" t="t" r="r" b="b"/>
            <a:pathLst>
              <a:path w="4709134" h="926224">
                <a:moveTo>
                  <a:pt x="0" y="0"/>
                </a:moveTo>
                <a:lnTo>
                  <a:pt x="470913" y="0"/>
                </a:lnTo>
                <a:lnTo>
                  <a:pt x="941827" y="0"/>
                </a:lnTo>
                <a:lnTo>
                  <a:pt x="1412740" y="0"/>
                </a:lnTo>
                <a:lnTo>
                  <a:pt x="1883653" y="0"/>
                </a:lnTo>
                <a:lnTo>
                  <a:pt x="2354567" y="0"/>
                </a:lnTo>
                <a:lnTo>
                  <a:pt x="2825480" y="185245"/>
                </a:lnTo>
                <a:lnTo>
                  <a:pt x="3296394" y="370490"/>
                </a:lnTo>
                <a:lnTo>
                  <a:pt x="3767307" y="555735"/>
                </a:lnTo>
                <a:lnTo>
                  <a:pt x="4238221" y="740979"/>
                </a:lnTo>
                <a:lnTo>
                  <a:pt x="4709134" y="926224"/>
                </a:lnTo>
              </a:path>
            </a:pathLst>
          </a:custGeom>
          <a:noFill/>
          <a:ln w="28575">
            <a:solidFill>
              <a:srgbClr val="F055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69329" y="4713732"/>
            <a:ext cx="4709135" cy="182880"/>
          </a:xfrm>
          <a:prstGeom prst="rect">
            <a:avLst/>
          </a:prstGeom>
          <a:noFill/>
        </p:spPr>
        <p:txBody>
          <a:bodyPr wrap="square" lIns="0" rIns="0" tIns="0" bIns="0" anchor="t">
            <a:noAutofit/>
          </a:bodyPr>
          <a:lstStyle/>
          <a:p>
            <a:pPr algn="ctr">
              <a:lnSpc>
                <a:spcPct val="100000"/>
              </a:lnSpc>
            </a:pPr>
            <a:r>
              <a:rPr sz="900" b="1" i="0">
                <a:solidFill>
                  <a:srgbClr val="57687A"/>
                </a:solidFill>
                <a:latin typeface="Segoe UI"/>
              </a:rPr>
              <a:t>Expiry par NIFTY</a:t>
            </a:r>
          </a:p>
        </p:txBody>
      </p:sp>
      <p:sp>
        <p:nvSpPr>
          <p:cNvPr id="37" name="Rounded Rectangle 36"/>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8" name="Rounded Rectangle 37"/>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9" name="TextBox 38"/>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Buyer ka sabse bura haal: premium gaya. Seller ka sabse achha haal: premium mila.</a:t>
            </a:r>
          </a:p>
        </p:txBody>
      </p:sp>
      <p:pic>
        <p:nvPicPr>
          <p:cNvPr id="40" name="Picture 39" descr="logo.png"/>
          <p:cNvPicPr>
            <a:picLocks noChangeAspect="1"/>
          </p:cNvPicPr>
          <p:nvPr/>
        </p:nvPicPr>
        <p:blipFill>
          <a:blip r:embed="rId2"/>
          <a:stretch>
            <a:fillRect/>
          </a:stretch>
        </p:blipFill>
        <p:spPr>
          <a:xfrm>
            <a:off x="457200" y="6437376"/>
            <a:ext cx="237744" cy="237744"/>
          </a:xfrm>
          <a:prstGeom prst="rect">
            <a:avLst/>
          </a:prstGeom>
        </p:spPr>
      </p:pic>
      <p:sp>
        <p:nvSpPr>
          <p:cNvPr id="4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2" name="TextBox 4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Expiry, delivery aur option chain ke shabd</a:t>
            </a:r>
          </a:p>
        </p:txBody>
      </p:sp>
      <p:sp>
        <p:nvSpPr>
          <p:cNvPr id="4" name="TextBox 3"/>
          <p:cNvSpPr txBox="1"/>
          <p:nvPr/>
        </p:nvSpPr>
        <p:spPr>
          <a:xfrm>
            <a:off x="457200" y="1335024"/>
            <a:ext cx="5519776" cy="1931670"/>
          </a:xfrm>
          <a:prstGeom prst="rect">
            <a:avLst/>
          </a:prstGeom>
          <a:noFill/>
        </p:spPr>
        <p:txBody>
          <a:bodyPr wrap="square" lIns="0" rIns="0" tIns="0" bIns="0" anchor="t">
            <a:noAutofit/>
          </a:bodyPr>
          <a:lstStyle/>
          <a:p>
            <a:pPr algn="l" marL="274320" indent="-274320">
              <a:lnSpc>
                <a:spcPct val="100000"/>
              </a:lnSpc>
              <a:spcAft>
                <a:spcPts val="750"/>
              </a:spcAft>
              <a:buClr>
                <a:srgbClr val="F5A623"/>
              </a:buClr>
              <a:buFont typeface="Arial"/>
              <a:buChar char="•"/>
            </a:pPr>
            <a:r>
              <a:rPr sz="1500" b="0" i="0">
                <a:solidFill>
                  <a:srgbClr val="18232F"/>
                </a:solidFill>
                <a:latin typeface="Segoe UI"/>
              </a:rPr>
              <a:t>Index F&amp;O, jaise NIFTY 50 ke contracts, cash mein settle hote hain: sirf profit ya loss ka paisa aata-jaata hai.</a:t>
            </a:r>
          </a:p>
          <a:p>
            <a:pPr algn="l" marL="274320" indent="-274320">
              <a:lnSpc>
                <a:spcPct val="100000"/>
              </a:lnSpc>
              <a:spcAft>
                <a:spcPts val="750"/>
              </a:spcAft>
              <a:buClr>
                <a:srgbClr val="F5A623"/>
              </a:buClr>
              <a:buFont typeface="Arial"/>
              <a:buChar char="•"/>
            </a:pPr>
            <a:r>
              <a:rPr sz="1500" b="0" i="0">
                <a:solidFill>
                  <a:srgbClr val="18232F"/>
                </a:solidFill>
                <a:latin typeface="Segoe UI"/>
              </a:rPr>
              <a:t>Stock F&amp;O expiry tak rakha, toh physically settle hota hai.</a:t>
            </a:r>
          </a:p>
          <a:p>
            <a:pPr algn="l" marL="274320" indent="-274320">
              <a:lnSpc>
                <a:spcPct val="100000"/>
              </a:lnSpc>
              <a:spcAft>
                <a:spcPts val="750"/>
              </a:spcAft>
              <a:buClr>
                <a:srgbClr val="F5A623"/>
              </a:buClr>
              <a:buFont typeface="Arial"/>
              <a:buChar char="•"/>
            </a:pPr>
            <a:r>
              <a:rPr sz="1500" b="0" i="0">
                <a:solidFill>
                  <a:srgbClr val="18232F"/>
                </a:solidFill>
                <a:latin typeface="Segoe UI"/>
              </a:rPr>
              <a:t>Stock future ya ITM call ke buyer ko poora paisa dekar shares lene pad sakte hain.</a:t>
            </a:r>
          </a:p>
          <a:p>
            <a:pPr algn="l" marL="274320" indent="-274320">
              <a:lnSpc>
                <a:spcPct val="100000"/>
              </a:lnSpc>
              <a:buClr>
                <a:srgbClr val="F5A623"/>
              </a:buClr>
              <a:buFont typeface="Arial"/>
              <a:buChar char="•"/>
            </a:pPr>
            <a:r>
              <a:rPr sz="1500" b="0" i="0">
                <a:solidFill>
                  <a:srgbClr val="18232F"/>
                </a:solidFill>
                <a:latin typeface="Segoe UI"/>
              </a:rPr>
              <a:t>Future ke seller ya ITM put ke buyer ko shares dene pad sakte hain, aur option seller par iski ulti zimmedari aati hai.</a:t>
            </a:r>
          </a:p>
        </p:txBody>
      </p:sp>
      <p:sp>
        <p:nvSpPr>
          <p:cNvPr id="5" name="Rounded Rectangle 4"/>
          <p:cNvSpPr/>
          <p:nvPr/>
        </p:nvSpPr>
        <p:spPr>
          <a:xfrm>
            <a:off x="6214720" y="1335024"/>
            <a:ext cx="5519776" cy="2377440"/>
          </a:xfrm>
          <a:prstGeom prst="roundRect">
            <a:avLst>
              <a:gd name="adj" fmla="val 461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1920240"/>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Maan lijiye Aman ka colleague Bharat Pumps Ltd ka 780 wala call expiry se pehle band karna bhool gaya. Expiry ke din share Rs 800 par band hua, toh call ITM hai. 2,000 shares ke banawati lot ke saath ab use 2,000 x Rs 780 = Rs 15,60,000 chuka kar shares ki delivery leni pad sakti hai. Chhota sa daav ab lakhon rupaye ki maang ban gaya. Expiry ke paas exchange aisi positions par extra margin maangta hai aur kai broker unhe pehle hi band kar dete hain; har broker ke rules alag hain. … Un mein se har contract ke ek taraf buyer hai aur doosri taraf seller, isliye sirf bada number yeh nahi batata ki NIFTY kis taraf jayega.</a:t>
            </a:r>
          </a:p>
        </p:txBody>
      </p:sp>
      <p:sp>
        <p:nvSpPr>
          <p:cNvPr id="8" name="Rounded Rectangle 7"/>
          <p:cNvSpPr/>
          <p:nvPr/>
        </p:nvSpPr>
        <p:spPr>
          <a:xfrm>
            <a:off x="457200" y="3877056"/>
            <a:ext cx="11277295" cy="1737360"/>
          </a:xfrm>
          <a:prstGeom prst="roundRect">
            <a:avLst>
              <a:gd name="adj" fmla="val 631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40233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Expiry tak khula chhoda stock call</a:t>
            </a:r>
          </a:p>
        </p:txBody>
      </p:sp>
      <p:sp>
        <p:nvSpPr>
          <p:cNvPr id="10" name="TextBox 9"/>
          <p:cNvSpPr txBox="1"/>
          <p:nvPr/>
        </p:nvSpPr>
        <p:spPr>
          <a:xfrm>
            <a:off x="640080" y="5166360"/>
            <a:ext cx="10911535"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Example wala banawati case: Bharat Pumps Ltd ke 2,000 shares ka lot. NIFTY jaise index options iski jagah cash mein settle hote hain. Expiry ke paas har broker ke rules alag hote hain.</a:t>
            </a:r>
          </a:p>
        </p:txBody>
      </p:sp>
      <p:sp>
        <p:nvSpPr>
          <p:cNvPr id="11" name="Rounded Rectangle 10"/>
          <p:cNvSpPr/>
          <p:nvPr/>
        </p:nvSpPr>
        <p:spPr>
          <a:xfrm>
            <a:off x="640080" y="4338828"/>
            <a:ext cx="1875069" cy="736092"/>
          </a:xfrm>
          <a:prstGeom prst="roundRect">
            <a:avLst>
              <a:gd name="adj" fmla="val 12422"/>
            </a:avLst>
          </a:prstGeom>
          <a:solidFill>
            <a:srgbClr val="FFFFFF"/>
          </a:solidFill>
          <a:ln w="19050">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49808" y="4338828"/>
            <a:ext cx="1655613" cy="736092"/>
          </a:xfrm>
          <a:prstGeom prst="rect">
            <a:avLst/>
          </a:prstGeom>
          <a:noFill/>
        </p:spPr>
        <p:txBody>
          <a:bodyPr wrap="square" lIns="0" rIns="0" tIns="0" bIns="0" anchor="ctr">
            <a:noAutofit/>
          </a:bodyPr>
          <a:lstStyle/>
          <a:p>
            <a:pPr algn="ctr">
              <a:lnSpc>
                <a:spcPct val="100000"/>
              </a:lnSpc>
            </a:pPr>
            <a:r>
              <a:rPr sz="1150" b="1" i="0">
                <a:solidFill>
                  <a:srgbClr val="18232F"/>
                </a:solidFill>
                <a:latin typeface="Segoe UI"/>
              </a:rPr>
              <a:t>780 call band nahi kiya</a:t>
            </a:r>
          </a:p>
          <a:p>
            <a:pPr algn="ctr">
              <a:lnSpc>
                <a:spcPct val="100000"/>
              </a:lnSpc>
            </a:pPr>
            <a:r>
              <a:rPr sz="1000" b="0" i="0">
                <a:solidFill>
                  <a:srgbClr val="47596B"/>
                </a:solidFill>
                <a:latin typeface="Segoe UI"/>
              </a:rPr>
              <a:t>Expiry ka din aa gaya</a:t>
            </a:r>
          </a:p>
        </p:txBody>
      </p:sp>
      <p:sp>
        <p:nvSpPr>
          <p:cNvPr id="13" name="Right Arrow 12"/>
          <p:cNvSpPr/>
          <p:nvPr/>
        </p:nvSpPr>
        <p:spPr>
          <a:xfrm>
            <a:off x="2570013" y="461543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2899197" y="4338828"/>
            <a:ext cx="1875069" cy="736092"/>
          </a:xfrm>
          <a:prstGeom prst="roundRect">
            <a:avLst>
              <a:gd name="adj" fmla="val 12422"/>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3008925" y="4338828"/>
            <a:ext cx="1655613" cy="736092"/>
          </a:xfrm>
          <a:prstGeom prst="rect">
            <a:avLst/>
          </a:prstGeom>
          <a:noFill/>
        </p:spPr>
        <p:txBody>
          <a:bodyPr wrap="square" lIns="0" rIns="0" tIns="0" bIns="0" anchor="ctr">
            <a:noAutofit/>
          </a:bodyPr>
          <a:lstStyle/>
          <a:p>
            <a:pPr algn="ctr">
              <a:lnSpc>
                <a:spcPct val="100000"/>
              </a:lnSpc>
            </a:pPr>
            <a:r>
              <a:rPr sz="1150" b="1" i="0">
                <a:solidFill>
                  <a:srgbClr val="18232F"/>
                </a:solidFill>
                <a:latin typeface="Segoe UI"/>
              </a:rPr>
              <a:t>Share Rs 800 par band</a:t>
            </a:r>
          </a:p>
          <a:p>
            <a:pPr algn="ctr">
              <a:lnSpc>
                <a:spcPct val="100000"/>
              </a:lnSpc>
            </a:pPr>
            <a:r>
              <a:rPr sz="1000" b="0" i="0">
                <a:solidFill>
                  <a:srgbClr val="47596B"/>
                </a:solidFill>
                <a:latin typeface="Segoe UI"/>
              </a:rPr>
              <a:t>Rs 20 se ITM</a:t>
            </a:r>
          </a:p>
        </p:txBody>
      </p:sp>
      <p:sp>
        <p:nvSpPr>
          <p:cNvPr id="16" name="Right Arrow 15"/>
          <p:cNvSpPr/>
          <p:nvPr/>
        </p:nvSpPr>
        <p:spPr>
          <a:xfrm>
            <a:off x="4829129" y="461543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5158313" y="4338828"/>
            <a:ext cx="1875069" cy="736092"/>
          </a:xfrm>
          <a:prstGeom prst="roundRect">
            <a:avLst>
              <a:gd name="adj" fmla="val 12422"/>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5268041" y="4338828"/>
            <a:ext cx="1655613" cy="736092"/>
          </a:xfrm>
          <a:prstGeom prst="rect">
            <a:avLst/>
          </a:prstGeom>
          <a:noFill/>
        </p:spPr>
        <p:txBody>
          <a:bodyPr wrap="square" lIns="0" rIns="0" tIns="0" bIns="0" anchor="ctr">
            <a:noAutofit/>
          </a:bodyPr>
          <a:lstStyle/>
          <a:p>
            <a:pPr algn="ctr">
              <a:lnSpc>
                <a:spcPct val="100000"/>
              </a:lnSpc>
            </a:pPr>
            <a:r>
              <a:rPr sz="1150" b="1" i="0">
                <a:solidFill>
                  <a:srgbClr val="18232F"/>
                </a:solidFill>
                <a:latin typeface="Segoe UI"/>
              </a:rPr>
              <a:t>Exercise ho gaya</a:t>
            </a:r>
          </a:p>
          <a:p>
            <a:pPr algn="ctr">
              <a:lnSpc>
                <a:spcPct val="100000"/>
              </a:lnSpc>
            </a:pPr>
            <a:r>
              <a:rPr sz="1000" b="0" i="0">
                <a:solidFill>
                  <a:srgbClr val="47596B"/>
                </a:solidFill>
                <a:latin typeface="Segoe UI"/>
              </a:rPr>
              <a:t>Aam taur par apne aap</a:t>
            </a:r>
          </a:p>
        </p:txBody>
      </p:sp>
      <p:sp>
        <p:nvSpPr>
          <p:cNvPr id="19" name="Right Arrow 18"/>
          <p:cNvSpPr/>
          <p:nvPr/>
        </p:nvSpPr>
        <p:spPr>
          <a:xfrm>
            <a:off x="7088246" y="461543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ounded Rectangle 19"/>
          <p:cNvSpPr/>
          <p:nvPr/>
        </p:nvSpPr>
        <p:spPr>
          <a:xfrm>
            <a:off x="7417430" y="4338828"/>
            <a:ext cx="1875069" cy="736092"/>
          </a:xfrm>
          <a:prstGeom prst="roundRect">
            <a:avLst>
              <a:gd name="adj" fmla="val 12422"/>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527158" y="4338828"/>
            <a:ext cx="1655613" cy="736092"/>
          </a:xfrm>
          <a:prstGeom prst="rect">
            <a:avLst/>
          </a:prstGeom>
          <a:noFill/>
        </p:spPr>
        <p:txBody>
          <a:bodyPr wrap="square" lIns="0" rIns="0" tIns="0" bIns="0" anchor="ctr">
            <a:noAutofit/>
          </a:bodyPr>
          <a:lstStyle/>
          <a:p>
            <a:pPr algn="ctr">
              <a:lnSpc>
                <a:spcPct val="100000"/>
              </a:lnSpc>
            </a:pPr>
            <a:r>
              <a:rPr sz="1150" b="1" i="0">
                <a:solidFill>
                  <a:srgbClr val="18232F"/>
                </a:solidFill>
                <a:latin typeface="Segoe UI"/>
              </a:rPr>
              <a:t>Rs 15,60,000 chukaiye</a:t>
            </a:r>
          </a:p>
          <a:p>
            <a:pPr algn="ctr">
              <a:lnSpc>
                <a:spcPct val="100000"/>
              </a:lnSpc>
            </a:pPr>
            <a:r>
              <a:rPr sz="1000" b="0" i="0">
                <a:solidFill>
                  <a:srgbClr val="47596B"/>
                </a:solidFill>
                <a:latin typeface="Segoe UI"/>
              </a:rPr>
              <a:t>2,000 x Rs 780</a:t>
            </a:r>
          </a:p>
        </p:txBody>
      </p:sp>
      <p:sp>
        <p:nvSpPr>
          <p:cNvPr id="22" name="Right Arrow 21"/>
          <p:cNvSpPr/>
          <p:nvPr/>
        </p:nvSpPr>
        <p:spPr>
          <a:xfrm>
            <a:off x="9347363" y="461543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9676547" y="4338828"/>
            <a:ext cx="1875069" cy="736092"/>
          </a:xfrm>
          <a:prstGeom prst="roundRect">
            <a:avLst>
              <a:gd name="adj" fmla="val 12422"/>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9786275" y="4338828"/>
            <a:ext cx="1655613" cy="736092"/>
          </a:xfrm>
          <a:prstGeom prst="rect">
            <a:avLst/>
          </a:prstGeom>
          <a:noFill/>
        </p:spPr>
        <p:txBody>
          <a:bodyPr wrap="square" lIns="0" rIns="0" tIns="0" bIns="0" anchor="ctr">
            <a:noAutofit/>
          </a:bodyPr>
          <a:lstStyle/>
          <a:p>
            <a:pPr algn="ctr">
              <a:lnSpc>
                <a:spcPct val="100000"/>
              </a:lnSpc>
            </a:pPr>
            <a:r>
              <a:rPr sz="1150" b="1" i="0">
                <a:solidFill>
                  <a:srgbClr val="18232F"/>
                </a:solidFill>
                <a:latin typeface="Segoe UI"/>
              </a:rPr>
              <a:t>Shares ki delivery</a:t>
            </a:r>
          </a:p>
          <a:p>
            <a:pPr algn="ctr">
              <a:lnSpc>
                <a:spcPct val="100000"/>
              </a:lnSpc>
            </a:pPr>
            <a:r>
              <a:rPr sz="1000" b="0" i="0">
                <a:solidFill>
                  <a:srgbClr val="47596B"/>
                </a:solidFill>
                <a:latin typeface="Segoe UI"/>
              </a:rPr>
              <a:t>2,000 shares demat mein</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7" name="TextBox 26"/>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Expiry tak rakha stock F&amp;O delivery ban sakta hai. OI khule contracts ginta hai; direction nahi batata.</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Lottery ticket ya insurance?</a:t>
            </a:r>
          </a:p>
        </p:txBody>
      </p:sp>
      <p:sp>
        <p:nvSpPr>
          <p:cNvPr id="4" name="TextBox 3"/>
          <p:cNvSpPr txBox="1"/>
          <p:nvPr/>
        </p:nvSpPr>
        <p:spPr>
          <a:xfrm>
            <a:off x="457200" y="1335024"/>
            <a:ext cx="5519776" cy="215900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Is course mein F&amp;O loss ka sirf yahi ek figure quote hota hai.</a:t>
            </a:r>
          </a:p>
          <a:p>
            <a:pPr algn="l" marL="274320" indent="-274320">
              <a:lnSpc>
                <a:spcPct val="100000"/>
              </a:lnSpc>
              <a:spcAft>
                <a:spcPts val="800"/>
              </a:spcAft>
              <a:buClr>
                <a:srgbClr val="F5A623"/>
              </a:buClr>
              <a:buFont typeface="Arial"/>
              <a:buChar char="•"/>
            </a:pPr>
            <a:r>
              <a:rPr sz="1600" b="0" i="0">
                <a:solidFill>
                  <a:srgbClr val="18232F"/>
                </a:solidFill>
                <a:latin typeface="Segoe UI"/>
              </a:rPr>
              <a:t>Yeh study batati hai ki kya hua.</a:t>
            </a:r>
          </a:p>
          <a:p>
            <a:pPr algn="l" marL="274320" indent="-274320">
              <a:lnSpc>
                <a:spcPct val="100000"/>
              </a:lnSpc>
              <a:spcAft>
                <a:spcPts val="800"/>
              </a:spcAft>
              <a:buClr>
                <a:srgbClr val="F5A623"/>
              </a:buClr>
              <a:buFont typeface="Arial"/>
              <a:buChar char="•"/>
            </a:pPr>
            <a:r>
              <a:rPr sz="1600" b="0" i="0">
                <a:solidFill>
                  <a:srgbClr val="18232F"/>
                </a:solidFill>
                <a:latin typeface="Segoe UI"/>
              </a:rPr>
              <a:t>Har loss ki wajah nahi batati.</a:t>
            </a:r>
          </a:p>
          <a:p>
            <a:pPr algn="l" marL="274320" indent="-274320">
              <a:lnSpc>
                <a:spcPct val="100000"/>
              </a:lnSpc>
              <a:spcAft>
                <a:spcPts val="800"/>
              </a:spcAft>
              <a:buClr>
                <a:srgbClr val="F5A623"/>
              </a:buClr>
              <a:buFont typeface="Arial"/>
              <a:buChar char="•"/>
            </a:pPr>
            <a:r>
              <a:rPr sz="1600" b="0" i="0">
                <a:solidFill>
                  <a:srgbClr val="18232F"/>
                </a:solidFill>
                <a:latin typeface="Segoe UI"/>
              </a:rPr>
              <a:t>Chhota premium baar-baar gawana bhi aakhir mein haarna hi hai, jaise har match mein No.</a:t>
            </a:r>
          </a:p>
          <a:p>
            <a:pPr algn="l" marL="274320" indent="-274320">
              <a:lnSpc>
                <a:spcPct val="100000"/>
              </a:lnSpc>
              <a:buClr>
                <a:srgbClr val="F5A623"/>
              </a:buClr>
              <a:buFont typeface="Arial"/>
              <a:buChar char="•"/>
            </a:pPr>
            <a:r>
              <a:rPr sz="1600" b="0" i="0">
                <a:solidFill>
                  <a:srgbClr val="18232F"/>
                </a:solidFill>
                <a:latin typeface="Segoe UI"/>
              </a:rPr>
              <a:t>11 batter ki century par daav lagana.</a:t>
            </a:r>
          </a:p>
        </p:txBody>
      </p:sp>
      <p:sp>
        <p:nvSpPr>
          <p:cNvPr id="5" name="Rounded Rectangle 4"/>
          <p:cNvSpPr/>
          <p:nvPr/>
        </p:nvSpPr>
        <p:spPr>
          <a:xfrm>
            <a:off x="457200" y="3649472"/>
            <a:ext cx="5519776" cy="1964944"/>
          </a:xfrm>
          <a:prstGeom prst="roundRect">
            <a:avLst>
              <a:gd name="adj" fmla="val 5584"/>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7774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033520"/>
            <a:ext cx="5154016" cy="15077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Ek banawati case lijiye. Verma ji barson se investor hain. Unke paas Bharat Pumps Ltd ke shares hain, Rs 800 par liye hue, aur woh 760 ke put ke liye Rs 15 per share dete hain. Share Rs 680 tak gir jaaye, toh expiry par put Rs 80 ka hoga, yaani unka loss Rs 120 ki jagah Rs 55 per share (strike tak Rs 40 ki girawat plus Rs 15 premium). … Aur ek lot aam taur par beginner ke poore portfolio se kahin bada hota hai, isliye chhoti rakam ke liye sabse sasta hedge hai chhoti position ya zyada cash.</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Put se kya badla, per share</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Banawati case: Rs 800 par liye shares Rs 680 tak gire; 760 ka put Rs 15 ka tha. Rs 15 premium har haal mein jaata hai, share badhe tab bhi.</a:t>
            </a:r>
          </a:p>
        </p:txBody>
      </p:sp>
      <p:sp>
        <p:nvSpPr>
          <p:cNvPr id="11" name="TextBox 10"/>
          <p:cNvSpPr txBox="1"/>
          <p:nvPr/>
        </p:nvSpPr>
        <p:spPr>
          <a:xfrm>
            <a:off x="6397600" y="2448306"/>
            <a:ext cx="1652120"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Bina hedge</a:t>
            </a:r>
          </a:p>
        </p:txBody>
      </p:sp>
      <p:sp>
        <p:nvSpPr>
          <p:cNvPr id="12" name="Rounded Rectangle 11"/>
          <p:cNvSpPr/>
          <p:nvPr/>
        </p:nvSpPr>
        <p:spPr>
          <a:xfrm>
            <a:off x="8159448" y="2622042"/>
            <a:ext cx="2546129"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8159448" y="2622042"/>
            <a:ext cx="2546129" cy="31089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0797017" y="2448306"/>
            <a:ext cx="782030" cy="658368"/>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-Rs 120</a:t>
            </a:r>
          </a:p>
        </p:txBody>
      </p:sp>
      <p:sp>
        <p:nvSpPr>
          <p:cNvPr id="15" name="TextBox 14"/>
          <p:cNvSpPr txBox="1"/>
          <p:nvPr/>
        </p:nvSpPr>
        <p:spPr>
          <a:xfrm>
            <a:off x="6397600" y="3106674"/>
            <a:ext cx="1652120"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Put ke saath</a:t>
            </a:r>
          </a:p>
        </p:txBody>
      </p:sp>
      <p:sp>
        <p:nvSpPr>
          <p:cNvPr id="16" name="Rounded Rectangle 15"/>
          <p:cNvSpPr/>
          <p:nvPr/>
        </p:nvSpPr>
        <p:spPr>
          <a:xfrm>
            <a:off x="8159448" y="3280410"/>
            <a:ext cx="2546129"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8159448" y="3280410"/>
            <a:ext cx="1166976" cy="310896"/>
          </a:xfrm>
          <a:prstGeom prst="roundRect">
            <a:avLst>
              <a:gd name="adj" fmla="val 50000"/>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0797017" y="3106674"/>
            <a:ext cx="782030" cy="658368"/>
          </a:xfrm>
          <a:prstGeom prst="rect">
            <a:avLst/>
          </a:prstGeom>
          <a:noFill/>
        </p:spPr>
        <p:txBody>
          <a:bodyPr wrap="square" lIns="0" rIns="0" tIns="0" bIns="0" anchor="ctr">
            <a:noAutofit/>
          </a:bodyPr>
          <a:lstStyle/>
          <a:p>
            <a:pPr algn="l">
              <a:lnSpc>
                <a:spcPct val="100000"/>
              </a:lnSpc>
            </a:pPr>
            <a:r>
              <a:rPr sz="1400" b="1" i="0">
                <a:solidFill>
                  <a:srgbClr val="92400E"/>
                </a:solidFill>
                <a:latin typeface="Segoe UI"/>
              </a:rPr>
              <a:t>-Rs 55</a:t>
            </a:r>
          </a:p>
        </p:txBody>
      </p:sp>
      <p:sp>
        <p:nvSpPr>
          <p:cNvPr id="19" name="TextBox 18"/>
          <p:cNvSpPr txBox="1"/>
          <p:nvPr/>
        </p:nvSpPr>
        <p:spPr>
          <a:xfrm>
            <a:off x="6397600" y="3765042"/>
            <a:ext cx="1652120"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Diya gaya premium</a:t>
            </a:r>
          </a:p>
        </p:txBody>
      </p:sp>
      <p:sp>
        <p:nvSpPr>
          <p:cNvPr id="20" name="Rounded Rectangle 19"/>
          <p:cNvSpPr/>
          <p:nvPr/>
        </p:nvSpPr>
        <p:spPr>
          <a:xfrm>
            <a:off x="8159448" y="3938778"/>
            <a:ext cx="2546129"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8159448" y="3938778"/>
            <a:ext cx="318266" cy="310896"/>
          </a:xfrm>
          <a:prstGeom prst="roundRect">
            <a:avLst>
              <a:gd name="adj" fmla="val 50000"/>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0797017" y="3765042"/>
            <a:ext cx="782030" cy="658368"/>
          </a:xfrm>
          <a:prstGeom prst="rect">
            <a:avLst/>
          </a:prstGeom>
          <a:noFill/>
        </p:spPr>
        <p:txBody>
          <a:bodyPr wrap="square" lIns="0" rIns="0" tIns="0" bIns="0" anchor="ctr">
            <a:noAutofit/>
          </a:bodyPr>
          <a:lstStyle/>
          <a:p>
            <a:pPr algn="l">
              <a:lnSpc>
                <a:spcPct val="100000"/>
              </a:lnSpc>
            </a:pPr>
            <a:r>
              <a:rPr sz="1400" b="1" i="0">
                <a:solidFill>
                  <a:srgbClr val="47596B"/>
                </a:solidFill>
                <a:latin typeface="Segoe UI"/>
              </a:rPr>
              <a:t>-Rs 15</a:t>
            </a:r>
          </a:p>
        </p:txBody>
      </p:sp>
      <p:sp>
        <p:nvSpPr>
          <p:cNvPr id="23" name="Rounded Rectangle 22"/>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Rounded Rectangle 23"/>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5" name="TextBox 24"/>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50" b="1" i="0">
                <a:solidFill>
                  <a:srgbClr val="FFFFFF"/>
                </a:solidFill>
                <a:latin typeface="Segoe UI"/>
              </a:rPr>
              <a:t>Sasta hona aur kam risk hona ek baat nahi. Stage 1 mein F&amp;O sirf samajhne ke liye hai: samjho, khelo mat.</a:t>
            </a:r>
          </a:p>
        </p:txBody>
      </p:sp>
      <p:pic>
        <p:nvPicPr>
          <p:cNvPr id="26" name="Picture 25" descr="logo.png"/>
          <p:cNvPicPr>
            <a:picLocks noChangeAspect="1"/>
          </p:cNvPicPr>
          <p:nvPr/>
        </p:nvPicPr>
        <p:blipFill>
          <a:blip r:embed="rId2"/>
          <a:stretch>
            <a:fillRect/>
          </a:stretch>
        </p:blipFill>
        <p:spPr>
          <a:xfrm>
            <a:off x="457200" y="6437376"/>
            <a:ext cx="237744" cy="237744"/>
          </a:xfrm>
          <a:prstGeom prst="rect">
            <a:avLst/>
          </a:prstGeom>
        </p:spPr>
      </p:pic>
      <p:sp>
        <p:nvSpPr>
          <p:cNvPr id="27"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8" name="TextBox 27"/>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ke naye shabd</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541526"/>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Futures contract</a:t>
            </a:r>
          </a:p>
        </p:txBody>
      </p:sp>
      <p:sp>
        <p:nvSpPr>
          <p:cNvPr id="6" name="TextBox 5"/>
          <p:cNvSpPr txBox="1"/>
          <p:nvPr/>
        </p:nvSpPr>
        <p:spPr>
          <a:xfrm>
            <a:off x="658368" y="1824990"/>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Ek lot ko aaj tay hue price par, expiry ki date par khareedne ya bechne ki deal. Dono taraf wale isse bandhe hote hain.</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463040"/>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Margin aur MTM</a:t>
            </a:r>
          </a:p>
        </p:txBody>
      </p:sp>
      <p:sp>
        <p:nvSpPr>
          <p:cNvPr id="9" name="TextBox 8"/>
          <p:cNvSpPr txBox="1"/>
          <p:nvPr/>
        </p:nvSpPr>
        <p:spPr>
          <a:xfrm>
            <a:off x="6379312" y="1746504"/>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Margin woh deposit hai jo broker block karta hai. MTM (mark-to-market) har shaam din ka profit ya loss cash mein settle karta hai; loss margin se bada bhi ho sakta hai.</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38628"/>
            <a:ext cx="5154016" cy="239268"/>
          </a:xfrm>
          <a:prstGeom prst="rect">
            <a:avLst/>
          </a:prstGeom>
          <a:noFill/>
        </p:spPr>
        <p:txBody>
          <a:bodyPr wrap="square" lIns="0" rIns="0" tIns="0" bIns="0" anchor="t">
            <a:noAutofit/>
          </a:bodyPr>
          <a:lstStyle/>
          <a:p>
            <a:pPr algn="l">
              <a:lnSpc>
                <a:spcPct val="100000"/>
              </a:lnSpc>
            </a:pPr>
            <a:r>
              <a:rPr sz="1450" b="1" i="0">
                <a:solidFill>
                  <a:srgbClr val="92400E"/>
                </a:solidFill>
                <a:latin typeface="Segoe UI"/>
              </a:rPr>
              <a:t>Leverage</a:t>
            </a:r>
          </a:p>
        </p:txBody>
      </p:sp>
      <p:sp>
        <p:nvSpPr>
          <p:cNvPr id="12" name="TextBox 11"/>
          <p:cNvSpPr txBox="1"/>
          <p:nvPr/>
        </p:nvSpPr>
        <p:spPr>
          <a:xfrm>
            <a:off x="658368" y="3014472"/>
            <a:ext cx="5154016" cy="608076"/>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Chhote deposit se bade contract value ko control karna. Contract value ÷ margin se multiple nikalta hai: Rs 16 lakh ÷ Rs 3.2 lakh = 5 guna, yaani share ka 1% move aapke margin ka 5% hai, kisi bhi disha mein.</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38628"/>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Call (CE) aur put (PE)</a:t>
            </a:r>
          </a:p>
        </p:txBody>
      </p:sp>
      <p:sp>
        <p:nvSpPr>
          <p:cNvPr id="15" name="TextBox 14"/>
          <p:cNvSpPr txBox="1"/>
          <p:nvPr/>
        </p:nvSpPr>
        <p:spPr>
          <a:xfrm>
            <a:off x="6379312" y="3022092"/>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Call khareedne ka haq hai, put bechne ka, strike price par, expiry ke din. Buyer is haq ke liye premium deta hai; zimmedari seller ki hoti hai.</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14216"/>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ITM, ATM, OTM</a:t>
            </a:r>
          </a:p>
        </p:txBody>
      </p:sp>
      <p:sp>
        <p:nvSpPr>
          <p:cNvPr id="18" name="TextBox 17"/>
          <p:cNvSpPr txBox="1"/>
          <p:nvPr/>
        </p:nvSpPr>
        <p:spPr>
          <a:xfrm>
            <a:off x="658368"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Strike current price ke muqable kahan hai. Call ke liye: strike agar current price se neeche ho = in the money, price ke paas = at the money, price se upar = out of the money. Put ke liye ulta.</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14216"/>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Intrinsic value aur time value</a:t>
            </a:r>
          </a:p>
        </p:txBody>
      </p:sp>
      <p:sp>
        <p:nvSpPr>
          <p:cNvPr id="21" name="TextBox 20"/>
          <p:cNvSpPr txBox="1"/>
          <p:nvPr/>
        </p:nvSpPr>
        <p:spPr>
          <a:xfrm>
            <a:off x="6379312"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Intrinsic value woh hai jo option abhi expire ho toh milegi. Time value premium ka baaki hissa hai; expiry tak yeh ghatkar zero ki taraf jaati hai (time decay).</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289804"/>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Open interest (OI)</a:t>
            </a:r>
          </a:p>
        </p:txBody>
      </p:sp>
      <p:sp>
        <p:nvSpPr>
          <p:cNvPr id="24" name="TextBox 23"/>
          <p:cNvSpPr txBox="1"/>
          <p:nvPr/>
        </p:nvSpPr>
        <p:spPr>
          <a:xfrm>
            <a:off x="658368"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Kitne F&amp;O contracts abhi khule hain, uski ginti. Har contract ka ek buyer aur ek seller hota hai, isliye OI batata hai kitna khula hai, market ki direction nahi.</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289804"/>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Physical settlement</a:t>
            </a:r>
          </a:p>
        </p:txBody>
      </p:sp>
      <p:sp>
        <p:nvSpPr>
          <p:cNvPr id="27" name="TextBox 26"/>
          <p:cNvSpPr txBox="1"/>
          <p:nvPr/>
        </p:nvSpPr>
        <p:spPr>
          <a:xfrm>
            <a:off x="6379312"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Expiry tak rakhe stock F&amp;O ka settlement delivery se hota hai: asli shares aur unki poori value ka len-den. NIFTY jaise index F&amp;O cash mein settle hote hain.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saar, ek page par</a:t>
            </a:r>
          </a:p>
        </p:txBody>
      </p:sp>
      <p:cxnSp>
        <p:nvCxnSpPr>
          <p:cNvPr id="4" name="Connector 3"/>
          <p:cNvCxnSpPr/>
          <p:nvPr/>
        </p:nvCxnSpPr>
        <p:spPr>
          <a:xfrm flipH="1" flipV="1">
            <a:off x="4358488" y="2068068"/>
            <a:ext cx="502920" cy="173583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flipV="1">
            <a:off x="4358488" y="3681984"/>
            <a:ext cx="502920" cy="121920"/>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613916"/>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068068"/>
            <a:ext cx="502920" cy="173583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7330288" y="3681984"/>
            <a:ext cx="502920" cy="121920"/>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613916"/>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F&amp;O: samjho, khelo mat</a:t>
            </a:r>
          </a:p>
        </p:txBody>
      </p:sp>
      <p:sp>
        <p:nvSpPr>
          <p:cNvPr id="11" name="Rounded Rectangle 10"/>
          <p:cNvSpPr/>
          <p:nvPr/>
        </p:nvSpPr>
        <p:spPr>
          <a:xfrm>
            <a:off x="640080" y="1343406"/>
            <a:ext cx="3718408" cy="1449324"/>
          </a:xfrm>
          <a:prstGeom prst="roundRect">
            <a:avLst>
              <a:gd name="adj" fmla="val 7570"/>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453134"/>
            <a:ext cx="3425800" cy="284988"/>
          </a:xfrm>
          <a:prstGeom prst="rect">
            <a:avLst/>
          </a:prstGeom>
          <a:noFill/>
        </p:spPr>
        <p:txBody>
          <a:bodyPr wrap="square" lIns="0" rIns="0" tIns="0" bIns="0" anchor="t">
            <a:noAutofit/>
          </a:bodyPr>
          <a:lstStyle/>
          <a:p>
            <a:pPr algn="l">
              <a:lnSpc>
                <a:spcPct val="100000"/>
              </a:lnSpc>
            </a:pPr>
            <a:r>
              <a:rPr sz="1750" b="1" i="0">
                <a:solidFill>
                  <a:srgbClr val="095A90"/>
                </a:solidFill>
                <a:latin typeface="Segoe UI"/>
              </a:rPr>
              <a:t>Futures</a:t>
            </a:r>
          </a:p>
        </p:txBody>
      </p:sp>
      <p:sp>
        <p:nvSpPr>
          <p:cNvPr id="13" name="TextBox 12"/>
          <p:cNvSpPr txBox="1"/>
          <p:nvPr/>
        </p:nvSpPr>
        <p:spPr>
          <a:xfrm>
            <a:off x="786384" y="1792986"/>
            <a:ext cx="3425800" cy="999744"/>
          </a:xfrm>
          <a:prstGeom prst="rect">
            <a:avLst/>
          </a:prstGeom>
          <a:noFill/>
        </p:spPr>
        <p:txBody>
          <a:bodyPr wrap="square" lIns="0" rIns="0" tIns="0" bIns="0" anchor="t">
            <a:noAutofit/>
          </a:bodyPr>
          <a:lstStyle/>
          <a:p>
            <a:pPr algn="l" marL="182880" indent="-182880">
              <a:lnSpc>
                <a:spcPct val="100000"/>
              </a:lnSpc>
              <a:spcAft>
                <a:spcPts val="480"/>
              </a:spcAft>
              <a:buClr>
                <a:srgbClr val="0093D6"/>
              </a:buClr>
              <a:buFont typeface="Arial"/>
              <a:buChar char="•"/>
            </a:pPr>
            <a:r>
              <a:rPr sz="1600" b="0" i="0">
                <a:solidFill>
                  <a:srgbClr val="18232F"/>
                </a:solidFill>
                <a:latin typeface="Segoe UI"/>
              </a:rPr>
              <a:t>Ek lot = lakhon ka exposure</a:t>
            </a:r>
          </a:p>
          <a:p>
            <a:pPr algn="l" marL="182880" indent="-182880">
              <a:lnSpc>
                <a:spcPct val="100000"/>
              </a:lnSpc>
              <a:spcAft>
                <a:spcPts val="480"/>
              </a:spcAft>
              <a:buClr>
                <a:srgbClr val="0093D6"/>
              </a:buClr>
              <a:buFont typeface="Arial"/>
              <a:buChar char="•"/>
            </a:pPr>
            <a:r>
              <a:rPr sz="1600" b="0" i="0">
                <a:solidFill>
                  <a:srgbClr val="18232F"/>
                </a:solidFill>
                <a:latin typeface="Segoe UI"/>
              </a:rPr>
              <a:t>Har shaam MTM</a:t>
            </a:r>
          </a:p>
          <a:p>
            <a:pPr algn="l" marL="182880" indent="-182880">
              <a:lnSpc>
                <a:spcPct val="100000"/>
              </a:lnSpc>
              <a:buClr>
                <a:srgbClr val="0093D6"/>
              </a:buClr>
              <a:buFont typeface="Arial"/>
              <a:buChar char="•"/>
            </a:pPr>
            <a:r>
              <a:rPr sz="1600" b="0" i="0">
                <a:solidFill>
                  <a:srgbClr val="18232F"/>
                </a:solidFill>
                <a:latin typeface="Segoe UI"/>
              </a:rPr>
              <a:t>Margin max loss nahi hai</a:t>
            </a:r>
          </a:p>
        </p:txBody>
      </p:sp>
      <p:sp>
        <p:nvSpPr>
          <p:cNvPr id="14" name="Rounded Rectangle 13"/>
          <p:cNvSpPr/>
          <p:nvPr/>
        </p:nvSpPr>
        <p:spPr>
          <a:xfrm>
            <a:off x="640080" y="2957322"/>
            <a:ext cx="3718408" cy="1449324"/>
          </a:xfrm>
          <a:prstGeom prst="roundRect">
            <a:avLst>
              <a:gd name="adj" fmla="val 7570"/>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067050"/>
            <a:ext cx="3425800" cy="284988"/>
          </a:xfrm>
          <a:prstGeom prst="rect">
            <a:avLst/>
          </a:prstGeom>
          <a:noFill/>
        </p:spPr>
        <p:txBody>
          <a:bodyPr wrap="square" lIns="0" rIns="0" tIns="0" bIns="0" anchor="t">
            <a:noAutofit/>
          </a:bodyPr>
          <a:lstStyle/>
          <a:p>
            <a:pPr algn="l">
              <a:lnSpc>
                <a:spcPct val="100000"/>
              </a:lnSpc>
            </a:pPr>
            <a:r>
              <a:rPr sz="1750" b="1" i="0">
                <a:solidFill>
                  <a:srgbClr val="92400E"/>
                </a:solidFill>
                <a:latin typeface="Segoe UI"/>
              </a:rPr>
              <a:t>Options</a:t>
            </a:r>
          </a:p>
        </p:txBody>
      </p:sp>
      <p:sp>
        <p:nvSpPr>
          <p:cNvPr id="16" name="TextBox 15"/>
          <p:cNvSpPr txBox="1"/>
          <p:nvPr/>
        </p:nvSpPr>
        <p:spPr>
          <a:xfrm>
            <a:off x="786384" y="3406902"/>
            <a:ext cx="3425800" cy="999744"/>
          </a:xfrm>
          <a:prstGeom prst="rect">
            <a:avLst/>
          </a:prstGeom>
          <a:noFill/>
        </p:spPr>
        <p:txBody>
          <a:bodyPr wrap="square" lIns="0" rIns="0" tIns="0" bIns="0" anchor="t">
            <a:noAutofit/>
          </a:bodyPr>
          <a:lstStyle/>
          <a:p>
            <a:pPr algn="l" marL="182880" indent="-182880">
              <a:lnSpc>
                <a:spcPct val="100000"/>
              </a:lnSpc>
              <a:spcAft>
                <a:spcPts val="480"/>
              </a:spcAft>
              <a:buClr>
                <a:srgbClr val="F5A524"/>
              </a:buClr>
              <a:buFont typeface="Arial"/>
              <a:buChar char="•"/>
            </a:pPr>
            <a:r>
              <a:rPr sz="1600" b="0" i="0">
                <a:solidFill>
                  <a:srgbClr val="18232F"/>
                </a:solidFill>
                <a:latin typeface="Segoe UI"/>
              </a:rPr>
              <a:t>Call = khareedne ka haq</a:t>
            </a:r>
          </a:p>
          <a:p>
            <a:pPr algn="l" marL="182880" indent="-182880">
              <a:lnSpc>
                <a:spcPct val="100000"/>
              </a:lnSpc>
              <a:spcAft>
                <a:spcPts val="480"/>
              </a:spcAft>
              <a:buClr>
                <a:srgbClr val="F5A524"/>
              </a:buClr>
              <a:buFont typeface="Arial"/>
              <a:buChar char="•"/>
            </a:pPr>
            <a:r>
              <a:rPr sz="1600" b="0" i="0">
                <a:solidFill>
                  <a:srgbClr val="18232F"/>
                </a:solidFill>
                <a:latin typeface="Segoe UI"/>
              </a:rPr>
              <a:t>Put = bechne ka haq</a:t>
            </a:r>
          </a:p>
          <a:p>
            <a:pPr algn="l" marL="182880" indent="-182880">
              <a:lnSpc>
                <a:spcPct val="100000"/>
              </a:lnSpc>
              <a:buClr>
                <a:srgbClr val="F5A524"/>
              </a:buClr>
              <a:buFont typeface="Arial"/>
              <a:buChar char="•"/>
            </a:pPr>
            <a:r>
              <a:rPr sz="1600" b="0" i="0">
                <a:solidFill>
                  <a:srgbClr val="18232F"/>
                </a:solidFill>
                <a:latin typeface="Segoe UI"/>
              </a:rPr>
              <a:t>Zimmedari seller par</a:t>
            </a:r>
          </a:p>
        </p:txBody>
      </p:sp>
      <p:sp>
        <p:nvSpPr>
          <p:cNvPr id="17" name="Rounded Rectangle 16"/>
          <p:cNvSpPr/>
          <p:nvPr/>
        </p:nvSpPr>
        <p:spPr>
          <a:xfrm>
            <a:off x="640080" y="4571238"/>
            <a:ext cx="3718408" cy="1693164"/>
          </a:xfrm>
          <a:prstGeom prst="roundRect">
            <a:avLst>
              <a:gd name="adj" fmla="val 6480"/>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680966"/>
            <a:ext cx="3425800" cy="284988"/>
          </a:xfrm>
          <a:prstGeom prst="rect">
            <a:avLst/>
          </a:prstGeom>
          <a:noFill/>
        </p:spPr>
        <p:txBody>
          <a:bodyPr wrap="square" lIns="0" rIns="0" tIns="0" bIns="0" anchor="t">
            <a:noAutofit/>
          </a:bodyPr>
          <a:lstStyle/>
          <a:p>
            <a:pPr algn="l">
              <a:lnSpc>
                <a:spcPct val="100000"/>
              </a:lnSpc>
            </a:pPr>
            <a:r>
              <a:rPr sz="1750" b="1" i="0">
                <a:solidFill>
                  <a:srgbClr val="166534"/>
                </a:solidFill>
                <a:latin typeface="Segoe UI"/>
              </a:rPr>
              <a:t>Premium</a:t>
            </a:r>
          </a:p>
        </p:txBody>
      </p:sp>
      <p:sp>
        <p:nvSpPr>
          <p:cNvPr id="19" name="TextBox 18"/>
          <p:cNvSpPr txBox="1"/>
          <p:nvPr/>
        </p:nvSpPr>
        <p:spPr>
          <a:xfrm>
            <a:off x="786384" y="5020818"/>
            <a:ext cx="3425800" cy="1243584"/>
          </a:xfrm>
          <a:prstGeom prst="rect">
            <a:avLst/>
          </a:prstGeom>
          <a:noFill/>
        </p:spPr>
        <p:txBody>
          <a:bodyPr wrap="square" lIns="0" rIns="0" tIns="0" bIns="0" anchor="t">
            <a:noAutofit/>
          </a:bodyPr>
          <a:lstStyle/>
          <a:p>
            <a:pPr algn="l" marL="182880" indent="-182880">
              <a:lnSpc>
                <a:spcPct val="100000"/>
              </a:lnSpc>
              <a:spcAft>
                <a:spcPts val="480"/>
              </a:spcAft>
              <a:buClr>
                <a:srgbClr val="16A34A"/>
              </a:buClr>
              <a:buFont typeface="Arial"/>
              <a:buChar char="•"/>
            </a:pPr>
            <a:r>
              <a:rPr sz="1600" b="0" i="0">
                <a:solidFill>
                  <a:srgbClr val="18232F"/>
                </a:solidFill>
                <a:latin typeface="Segoe UI"/>
              </a:rPr>
              <a:t>Intrinsic + time value</a:t>
            </a:r>
          </a:p>
          <a:p>
            <a:pPr algn="l" marL="182880" indent="-182880">
              <a:lnSpc>
                <a:spcPct val="100000"/>
              </a:lnSpc>
              <a:spcAft>
                <a:spcPts val="480"/>
              </a:spcAft>
              <a:buClr>
                <a:srgbClr val="16A34A"/>
              </a:buClr>
              <a:buFont typeface="Arial"/>
              <a:buChar char="•"/>
            </a:pPr>
            <a:r>
              <a:rPr sz="1600" b="0" i="0">
                <a:solidFill>
                  <a:srgbClr val="18232F"/>
                </a:solidFill>
                <a:latin typeface="Segoe UI"/>
              </a:rPr>
              <a:t>Aakhri hafte mein sabse tez pighalti</a:t>
            </a:r>
          </a:p>
          <a:p>
            <a:pPr algn="l" marL="182880" indent="-182880">
              <a:lnSpc>
                <a:spcPct val="100000"/>
              </a:lnSpc>
              <a:buClr>
                <a:srgbClr val="16A34A"/>
              </a:buClr>
              <a:buFont typeface="Arial"/>
              <a:buChar char="•"/>
            </a:pPr>
            <a:r>
              <a:rPr sz="1600" b="0" i="0">
                <a:solidFill>
                  <a:srgbClr val="18232F"/>
                </a:solidFill>
                <a:latin typeface="Segoe UI"/>
              </a:rPr>
              <a:t>OTM = sirf time value</a:t>
            </a:r>
          </a:p>
        </p:txBody>
      </p:sp>
      <p:sp>
        <p:nvSpPr>
          <p:cNvPr id="20" name="Rounded Rectangle 19"/>
          <p:cNvSpPr/>
          <p:nvPr/>
        </p:nvSpPr>
        <p:spPr>
          <a:xfrm>
            <a:off x="7833208" y="1343406"/>
            <a:ext cx="3718408" cy="1449324"/>
          </a:xfrm>
          <a:prstGeom prst="roundRect">
            <a:avLst>
              <a:gd name="adj" fmla="val 7570"/>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453134"/>
            <a:ext cx="3425800" cy="284988"/>
          </a:xfrm>
          <a:prstGeom prst="rect">
            <a:avLst/>
          </a:prstGeom>
          <a:noFill/>
        </p:spPr>
        <p:txBody>
          <a:bodyPr wrap="square" lIns="0" rIns="0" tIns="0" bIns="0" anchor="t">
            <a:noAutofit/>
          </a:bodyPr>
          <a:lstStyle/>
          <a:p>
            <a:pPr algn="l">
              <a:lnSpc>
                <a:spcPct val="100000"/>
              </a:lnSpc>
            </a:pPr>
            <a:r>
              <a:rPr sz="1750" b="1" i="0">
                <a:solidFill>
                  <a:srgbClr val="095A90"/>
                </a:solidFill>
                <a:latin typeface="Segoe UI"/>
              </a:rPr>
              <a:t>Payoff</a:t>
            </a:r>
          </a:p>
        </p:txBody>
      </p:sp>
      <p:sp>
        <p:nvSpPr>
          <p:cNvPr id="22" name="TextBox 21"/>
          <p:cNvSpPr txBox="1"/>
          <p:nvPr/>
        </p:nvSpPr>
        <p:spPr>
          <a:xfrm>
            <a:off x="7979512" y="1792986"/>
            <a:ext cx="3425800" cy="999744"/>
          </a:xfrm>
          <a:prstGeom prst="rect">
            <a:avLst/>
          </a:prstGeom>
          <a:noFill/>
        </p:spPr>
        <p:txBody>
          <a:bodyPr wrap="square" lIns="0" rIns="0" tIns="0" bIns="0" anchor="t">
            <a:noAutofit/>
          </a:bodyPr>
          <a:lstStyle/>
          <a:p>
            <a:pPr algn="l" marL="182880" indent="-182880">
              <a:lnSpc>
                <a:spcPct val="100000"/>
              </a:lnSpc>
              <a:spcAft>
                <a:spcPts val="480"/>
              </a:spcAft>
              <a:buClr>
                <a:srgbClr val="0093D6"/>
              </a:buClr>
              <a:buFont typeface="Arial"/>
              <a:buChar char="•"/>
            </a:pPr>
            <a:r>
              <a:rPr sz="1600" b="0" i="0">
                <a:solidFill>
                  <a:srgbClr val="18232F"/>
                </a:solidFill>
                <a:latin typeface="Segoe UI"/>
              </a:rPr>
              <a:t>Call breakeven = strike + premium</a:t>
            </a:r>
          </a:p>
          <a:p>
            <a:pPr algn="l" marL="182880" indent="-182880">
              <a:lnSpc>
                <a:spcPct val="100000"/>
              </a:lnSpc>
              <a:spcAft>
                <a:spcPts val="480"/>
              </a:spcAft>
              <a:buClr>
                <a:srgbClr val="0093D6"/>
              </a:buClr>
              <a:buFont typeface="Arial"/>
              <a:buChar char="•"/>
            </a:pPr>
            <a:r>
              <a:rPr sz="1600" b="0" i="0">
                <a:solidFill>
                  <a:srgbClr val="18232F"/>
                </a:solidFill>
                <a:latin typeface="Segoe UI"/>
              </a:rPr>
              <a:t>Buyer ka sabse bura = premium</a:t>
            </a:r>
          </a:p>
          <a:p>
            <a:pPr algn="l" marL="182880" indent="-182880">
              <a:lnSpc>
                <a:spcPct val="100000"/>
              </a:lnSpc>
              <a:buClr>
                <a:srgbClr val="0093D6"/>
              </a:buClr>
              <a:buFont typeface="Arial"/>
              <a:buChar char="•"/>
            </a:pPr>
            <a:r>
              <a:rPr sz="1600" b="0" i="0">
                <a:solidFill>
                  <a:srgbClr val="18232F"/>
                </a:solidFill>
                <a:latin typeface="Segoe UI"/>
              </a:rPr>
              <a:t>Seller ka sabse achha = premium</a:t>
            </a:r>
          </a:p>
        </p:txBody>
      </p:sp>
      <p:sp>
        <p:nvSpPr>
          <p:cNvPr id="23" name="Rounded Rectangle 22"/>
          <p:cNvSpPr/>
          <p:nvPr/>
        </p:nvSpPr>
        <p:spPr>
          <a:xfrm>
            <a:off x="7833208" y="2957322"/>
            <a:ext cx="3718408" cy="1449324"/>
          </a:xfrm>
          <a:prstGeom prst="roundRect">
            <a:avLst>
              <a:gd name="adj" fmla="val 7570"/>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067050"/>
            <a:ext cx="3425800" cy="284988"/>
          </a:xfrm>
          <a:prstGeom prst="rect">
            <a:avLst/>
          </a:prstGeom>
          <a:noFill/>
        </p:spPr>
        <p:txBody>
          <a:bodyPr wrap="square" lIns="0" rIns="0" tIns="0" bIns="0" anchor="t">
            <a:noAutofit/>
          </a:bodyPr>
          <a:lstStyle/>
          <a:p>
            <a:pPr algn="l">
              <a:lnSpc>
                <a:spcPct val="100000"/>
              </a:lnSpc>
            </a:pPr>
            <a:r>
              <a:rPr sz="1750" b="1" i="0">
                <a:solidFill>
                  <a:srgbClr val="92400E"/>
                </a:solidFill>
                <a:latin typeface="Segoe UI"/>
              </a:rPr>
              <a:t>Expiry aur chain</a:t>
            </a:r>
          </a:p>
        </p:txBody>
      </p:sp>
      <p:sp>
        <p:nvSpPr>
          <p:cNvPr id="25" name="TextBox 24"/>
          <p:cNvSpPr txBox="1"/>
          <p:nvPr/>
        </p:nvSpPr>
        <p:spPr>
          <a:xfrm>
            <a:off x="7979512" y="3406902"/>
            <a:ext cx="3425800" cy="999744"/>
          </a:xfrm>
          <a:prstGeom prst="rect">
            <a:avLst/>
          </a:prstGeom>
          <a:noFill/>
        </p:spPr>
        <p:txBody>
          <a:bodyPr wrap="square" lIns="0" rIns="0" tIns="0" bIns="0" anchor="t">
            <a:noAutofit/>
          </a:bodyPr>
          <a:lstStyle/>
          <a:p>
            <a:pPr algn="l" marL="182880" indent="-182880">
              <a:lnSpc>
                <a:spcPct val="100000"/>
              </a:lnSpc>
              <a:spcAft>
                <a:spcPts val="480"/>
              </a:spcAft>
              <a:buClr>
                <a:srgbClr val="F5A524"/>
              </a:buClr>
              <a:buFont typeface="Arial"/>
              <a:buChar char="•"/>
            </a:pPr>
            <a:r>
              <a:rPr sz="1600" b="0" i="0">
                <a:solidFill>
                  <a:srgbClr val="18232F"/>
                </a:solidFill>
                <a:latin typeface="Segoe UI"/>
              </a:rPr>
              <a:t>Index F&amp;O: cash settlement</a:t>
            </a:r>
          </a:p>
          <a:p>
            <a:pPr algn="l" marL="182880" indent="-182880">
              <a:lnSpc>
                <a:spcPct val="100000"/>
              </a:lnSpc>
              <a:spcAft>
                <a:spcPts val="480"/>
              </a:spcAft>
              <a:buClr>
                <a:srgbClr val="F5A524"/>
              </a:buClr>
              <a:buFont typeface="Arial"/>
              <a:buChar char="•"/>
            </a:pPr>
            <a:r>
              <a:rPr sz="1600" b="0" i="0">
                <a:solidFill>
                  <a:srgbClr val="18232F"/>
                </a:solidFill>
                <a:latin typeface="Segoe UI"/>
              </a:rPr>
              <a:t>Stock F&amp;O: rakha toh delivery</a:t>
            </a:r>
          </a:p>
          <a:p>
            <a:pPr algn="l" marL="182880" indent="-182880">
              <a:lnSpc>
                <a:spcPct val="100000"/>
              </a:lnSpc>
              <a:buClr>
                <a:srgbClr val="F5A524"/>
              </a:buClr>
              <a:buFont typeface="Arial"/>
              <a:buChar char="•"/>
            </a:pPr>
            <a:r>
              <a:rPr sz="1600" b="0" i="0">
                <a:solidFill>
                  <a:srgbClr val="18232F"/>
                </a:solidFill>
                <a:latin typeface="Segoe UI"/>
              </a:rPr>
              <a:t>OI direction nahi batata</a:t>
            </a:r>
          </a:p>
        </p:txBody>
      </p:sp>
      <p:sp>
        <p:nvSpPr>
          <p:cNvPr id="26" name="Rounded Rectangle 25"/>
          <p:cNvSpPr/>
          <p:nvPr/>
        </p:nvSpPr>
        <p:spPr>
          <a:xfrm>
            <a:off x="7833208" y="4571238"/>
            <a:ext cx="3718408" cy="1693164"/>
          </a:xfrm>
          <a:prstGeom prst="roundRect">
            <a:avLst>
              <a:gd name="adj" fmla="val 6480"/>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4680966"/>
            <a:ext cx="3425800" cy="284988"/>
          </a:xfrm>
          <a:prstGeom prst="rect">
            <a:avLst/>
          </a:prstGeom>
          <a:noFill/>
        </p:spPr>
        <p:txBody>
          <a:bodyPr wrap="square" lIns="0" rIns="0" tIns="0" bIns="0" anchor="t">
            <a:noAutofit/>
          </a:bodyPr>
          <a:lstStyle/>
          <a:p>
            <a:pPr algn="l">
              <a:lnSpc>
                <a:spcPct val="100000"/>
              </a:lnSpc>
            </a:pPr>
            <a:r>
              <a:rPr sz="1750" b="1" i="0">
                <a:solidFill>
                  <a:srgbClr val="991B1B"/>
                </a:solidFill>
                <a:latin typeface="Segoe UI"/>
              </a:rPr>
              <a:t>Aapka mann</a:t>
            </a:r>
          </a:p>
        </p:txBody>
      </p:sp>
      <p:sp>
        <p:nvSpPr>
          <p:cNvPr id="28" name="TextBox 27"/>
          <p:cNvSpPr txBox="1"/>
          <p:nvPr/>
        </p:nvSpPr>
        <p:spPr>
          <a:xfrm>
            <a:off x="7979512" y="5020818"/>
            <a:ext cx="3425800" cy="1243584"/>
          </a:xfrm>
          <a:prstGeom prst="rect">
            <a:avLst/>
          </a:prstGeom>
          <a:noFill/>
        </p:spPr>
        <p:txBody>
          <a:bodyPr wrap="square" lIns="0" rIns="0" tIns="0" bIns="0" anchor="t">
            <a:noAutofit/>
          </a:bodyPr>
          <a:lstStyle/>
          <a:p>
            <a:pPr algn="l" marL="182880" indent="-182880">
              <a:lnSpc>
                <a:spcPct val="100000"/>
              </a:lnSpc>
              <a:spcAft>
                <a:spcPts val="480"/>
              </a:spcAft>
              <a:buClr>
                <a:srgbClr val="F0554E"/>
              </a:buClr>
              <a:buFont typeface="Arial"/>
              <a:buChar char="•"/>
            </a:pPr>
            <a:r>
              <a:rPr sz="1600" b="0" i="0">
                <a:solidFill>
                  <a:srgbClr val="18232F"/>
                </a:solidFill>
                <a:latin typeface="Segoe UI"/>
              </a:rPr>
              <a:t>Sasta matlab kam risk nahi</a:t>
            </a:r>
          </a:p>
          <a:p>
            <a:pPr algn="l" marL="182880" indent="-182880">
              <a:lnSpc>
                <a:spcPct val="100000"/>
              </a:lnSpc>
              <a:spcAft>
                <a:spcPts val="480"/>
              </a:spcAft>
              <a:buClr>
                <a:srgbClr val="F0554E"/>
              </a:buClr>
              <a:buFont typeface="Arial"/>
              <a:buChar char="•"/>
            </a:pPr>
            <a:r>
              <a:rPr sz="1600" b="0" i="0">
                <a:solidFill>
                  <a:srgbClr val="18232F"/>
                </a:solidFill>
                <a:latin typeface="Segoe UI"/>
              </a:rPr>
              <a:t>Hedge = insurance, daav nahi</a:t>
            </a:r>
          </a:p>
          <a:p>
            <a:pPr algn="l" marL="182880" indent="-182880">
              <a:lnSpc>
                <a:spcPct val="100000"/>
              </a:lnSpc>
              <a:buClr>
                <a:srgbClr val="F0554E"/>
              </a:buClr>
              <a:buFont typeface="Arial"/>
              <a:buChar char="•"/>
            </a:pPr>
            <a:r>
              <a:rPr sz="1600" b="0" i="0">
                <a:solidFill>
                  <a:srgbClr val="18232F"/>
                </a:solidFill>
                <a:latin typeface="Segoe UI"/>
              </a:rPr>
              <a:t>Stage 1: F&amp;O nahi, paper par bhi nahi</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AAJ KA KAAM</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30 min</a:t>
            </a:r>
          </a:p>
        </p:txBody>
      </p:sp>
      <p:sp>
        <p:nvSpPr>
          <p:cNvPr id="5" name="TextBox 4"/>
          <p:cNvSpPr txBox="1"/>
          <p:nvPr/>
        </p:nvSpPr>
        <p:spPr>
          <a:xfrm>
            <a:off x="457200" y="1335024"/>
            <a:ext cx="11277295" cy="554736"/>
          </a:xfrm>
          <a:prstGeom prst="rect">
            <a:avLst/>
          </a:prstGeom>
          <a:noFill/>
        </p:spPr>
        <p:txBody>
          <a:bodyPr wrap="square" lIns="0" rIns="0" tIns="0" bIns="0" anchor="t">
            <a:noAutofit/>
          </a:bodyPr>
          <a:lstStyle/>
          <a:p>
            <a:pPr algn="l">
              <a:lnSpc>
                <a:spcPct val="100000"/>
              </a:lnSpc>
            </a:pPr>
            <a:r>
              <a:rPr sz="1700" b="1" i="0">
                <a:solidFill>
                  <a:srgbClr val="18232F"/>
                </a:solidFill>
                <a:latin typeface="Segoe UI"/>
              </a:rPr>
              <a:t>Bina trade kiye ek option chain padhiye, NSE ka live ya practice wala: ATM strike dhoondhiye, do premiums ke hisse kijiye, ek lot ka size mehsoos kijiye, aur AI se apni reading check karwaiye.</a:t>
            </a:r>
          </a:p>
        </p:txBody>
      </p:sp>
      <p:sp>
        <p:nvSpPr>
          <p:cNvPr id="6" name="Rounded Rectangle 5"/>
          <p:cNvSpPr/>
          <p:nvPr/>
        </p:nvSpPr>
        <p:spPr>
          <a:xfrm>
            <a:off x="457200" y="203606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145792"/>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1</a:t>
            </a:r>
          </a:p>
        </p:txBody>
      </p:sp>
      <p:sp>
        <p:nvSpPr>
          <p:cNvPr id="8" name="Rounded Rectangle 7"/>
          <p:cNvSpPr/>
          <p:nvPr/>
        </p:nvSpPr>
        <p:spPr>
          <a:xfrm>
            <a:off x="11332159" y="216408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13664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nseindia.com par NIFTY ka public option chain kholiye (login ya broker account ki zaroorat nahi). Sabse paas wali aisi expiry chuniye jo kam se kam do trading din door ho, aur index level aur ATM strike, yaani index ke sabse paas wala strike, likh lijiye. Phone par page na khule, toh 'Aapka template' wala practice chain lijiye.</a:t>
            </a:r>
          </a:p>
        </p:txBody>
      </p:sp>
      <p:sp>
        <p:nvSpPr>
          <p:cNvPr id="10" name="Rounded Rectangle 9"/>
          <p:cNvSpPr/>
          <p:nvPr/>
        </p:nvSpPr>
        <p:spPr>
          <a:xfrm>
            <a:off x="457200" y="306019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3169920"/>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a:t>
            </a:r>
          </a:p>
        </p:txBody>
      </p:sp>
      <p:sp>
        <p:nvSpPr>
          <p:cNvPr id="12" name="Rounded Rectangle 11"/>
          <p:cNvSpPr/>
          <p:nvPr/>
        </p:nvSpPr>
        <p:spPr>
          <a:xfrm>
            <a:off x="11332159" y="318820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316077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Google Sheets ya notebook mein ATM strike ke aas-paas ki paanch rows copy kijiye: strike, call LTP, call OI, put LTP, put OI. (LTP yaani last traded price hi premium hai.)</a:t>
            </a:r>
          </a:p>
        </p:txBody>
      </p:sp>
      <p:sp>
        <p:nvSpPr>
          <p:cNvPr id="14" name="Rounded Rectangle 13"/>
          <p:cNvSpPr/>
          <p:nvPr/>
        </p:nvSpPr>
        <p:spPr>
          <a:xfrm>
            <a:off x="457200" y="3840480"/>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395020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a:t>
            </a:r>
          </a:p>
        </p:txBody>
      </p:sp>
      <p:sp>
        <p:nvSpPr>
          <p:cNvPr id="16" name="Rounded Rectangle 15"/>
          <p:cNvSpPr/>
          <p:nvPr/>
        </p:nvSpPr>
        <p:spPr>
          <a:xfrm>
            <a:off x="11332159" y="396849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3941064"/>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Premium split sheet ki do rows bhariye: ATM se do strike neeche wala call (ITM) aur do strike upar wala call (OTM). Intrinsic value = index level minus strike, zero se neeche nahi; baaki time value hai. Time value minus mein aaye, toh woh LTP purana hai; ATM ke paas wala strike lijiye.</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AAJ KA KAAM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30 min</a:t>
            </a:r>
          </a:p>
        </p:txBody>
      </p:sp>
      <p:sp>
        <p:nvSpPr>
          <p:cNvPr id="5" name="Rounded Rectangle 4"/>
          <p:cNvSpPr/>
          <p:nvPr/>
        </p:nvSpPr>
        <p:spPr>
          <a:xfrm>
            <a:off x="457200" y="133502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NSE ki website par NIFTY ka current F&amp;O market lot dhoondhiye aur 'Ek lot kitna control karta hai' card bhariye: lot x index level rupayon mein, phir use Rs 10 lakh ki challenge capital ke 25% exposure cap (Rs 2,50,000) se milaiye.</a:t>
            </a:r>
          </a:p>
        </p:txBody>
      </p:sp>
      <p:sp>
        <p:nvSpPr>
          <p:cNvPr id="9" name="Rounded Rectangle 8"/>
          <p:cNvSpPr/>
          <p:nvPr/>
        </p:nvSpPr>
        <p:spPr>
          <a:xfrm>
            <a:off x="457200" y="235915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468880"/>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a:t>
            </a:r>
          </a:p>
        </p:txBody>
      </p:sp>
      <p:sp>
        <p:nvSpPr>
          <p:cNvPr id="11" name="Rounded Rectangle 10"/>
          <p:cNvSpPr/>
          <p:nvPr/>
        </p:nvSpPr>
        <p:spPr>
          <a:xfrm>
            <a:off x="11332159" y="24871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45973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Copy ki hui rows (live ya practice) ke saath AI Lab prompt 'Option chain explainer' chalaiye, aur har woh line mark kijiye jise AI ne Guess ya Kachra kaha. Apna PAN, client ID ya koi account detail kabhi paste mat kijiye.</a:t>
            </a:r>
          </a:p>
        </p:txBody>
      </p:sp>
      <p:sp>
        <p:nvSpPr>
          <p:cNvPr id="13" name="Rounded Rectangle 12"/>
          <p:cNvSpPr/>
          <p:nvPr/>
        </p:nvSpPr>
        <p:spPr>
          <a:xfrm>
            <a:off x="457200" y="3139440"/>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24916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a:t>
            </a:r>
          </a:p>
        </p:txBody>
      </p:sp>
      <p:sp>
        <p:nvSpPr>
          <p:cNvPr id="15" name="Rounded Rectangle 14"/>
          <p:cNvSpPr/>
          <p:nvPr/>
        </p:nvSpPr>
        <p:spPr>
          <a:xfrm>
            <a:off x="11332159" y="326745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240024"/>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Stretch (is hafte kabhi bhi, 5 minute): kam se kam do hafte door wali expiry chuniye (monthly, ya agar is mahine ki paas hai toh agle mahine ki), aur ek door ke OTM call ka premium aur aaj ka NIFTY level note kijiye. 3 trading days baad dono dobara dekhiye. NIFTY lagbhag wahin hai, toh premium ki zyadatar girawat aam taur par time decay hai; NIFTY kaafi hil gaya, toh likhiye ki move ne bhi premium badla.</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AAJ KE BAAD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Aaj ke baad aap futures contract, margin aur MTM samjha payenge; call aur put, ITM aur OTM mein farak bata payenge; premium ko intrinsic aur time value mein baant payenge; buyer aur seller ka payoff padh payenge; bata payenge ki kaunse F&amp;O contracts delivery mein badalte hain; aur samjha payenge ki Stage 1 mein F&amp;O sirf padha kyun jaata hai.</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Practice option chain (banawati)</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Jab NSE ka chain na khule, ya pehle practice karni ho, tab ise use kijiye. NSE ki tarah calls left mein aur puts right mein hain. Sirf padhne ki practice: Stage 1 mein koi F&amp;O trade nahi, paper par bhi nahi.</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5984748"/>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Banawati numbers, market data nahi: NIFTY 50 24,150 par, expiry mein 4 din, strikes 50 points ke fark par. OI contracts mein; LTP points mein.</a:t>
            </a:r>
          </a:p>
        </p:txBody>
      </p:sp>
      <p:graphicFrame>
        <p:nvGraphicFramePr>
          <p:cNvPr id="7" name="Table 6"/>
          <p:cNvGraphicFramePr>
            <a:graphicFrameLocks noGrp="1"/>
          </p:cNvGraphicFramePr>
          <p:nvPr/>
        </p:nvGraphicFramePr>
        <p:xfrm>
          <a:off x="640080" y="2121408"/>
          <a:ext cx="10911535" cy="3520440"/>
        </p:xfrm>
        <a:graphic>
          <a:graphicData uri="http://schemas.openxmlformats.org/drawingml/2006/table">
            <a:tbl>
              <a:tblPr firstRow="1">
                <a:tableStyleId>{5C22544A-7EE6-4342-B048-85BDC9FD1C3A}</a:tableStyleId>
              </a:tblPr>
              <a:tblGrid>
                <a:gridCol w="2202658"/>
                <a:gridCol w="2225005"/>
                <a:gridCol w="2113237"/>
                <a:gridCol w="2167977"/>
                <a:gridCol w="2202658"/>
              </a:tblGrid>
              <a:tr h="301752">
                <a:tc>
                  <a:txBody>
                    <a:bodyPr wrap="square"/>
                    <a:lstStyle/>
                    <a:p>
                      <a:pPr algn="l"/>
                      <a:r>
                        <a:rPr sz="1200" b="1" i="0">
                          <a:solidFill>
                            <a:srgbClr val="FFFFFF"/>
                          </a:solidFill>
                          <a:latin typeface="Segoe UI"/>
                        </a:rPr>
                        <a:t>Call OI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00" b="1" i="0">
                          <a:solidFill>
                            <a:srgbClr val="FFFFFF"/>
                          </a:solidFill>
                          <a:latin typeface="Segoe UI"/>
                        </a:rPr>
                        <a:t>Call LTP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00" b="1" i="0">
                          <a:solidFill>
                            <a:srgbClr val="FFFFFF"/>
                          </a:solidFill>
                          <a:latin typeface="Segoe UI"/>
                        </a:rPr>
                        <a:t>Strike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00" b="1" i="0">
                          <a:solidFill>
                            <a:srgbClr val="FFFFFF"/>
                          </a:solidFill>
                          <a:latin typeface="Segoe UI"/>
                        </a:rPr>
                        <a:t>Put LTP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00" b="1" i="0">
                          <a:solidFill>
                            <a:srgbClr val="FFFFFF"/>
                          </a:solidFill>
                          <a:latin typeface="Segoe UI"/>
                        </a:rPr>
                        <a:t>Put OI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292608">
                <a:tc>
                  <a:txBody>
                    <a:bodyPr wrap="square"/>
                    <a:lstStyle/>
                    <a:p>
                      <a:pPr algn="ctr"/>
                      <a:r>
                        <a:rPr sz="1200" b="0" i="0">
                          <a:solidFill>
                            <a:srgbClr val="18232F"/>
                          </a:solidFill>
                          <a:latin typeface="Segoe UI"/>
                        </a:rPr>
                        <a:t>18,240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285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23,900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35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96,410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2608">
                <a:tc>
                  <a:txBody>
                    <a:bodyPr wrap="square"/>
                    <a:lstStyle/>
                    <a:p>
                      <a:pPr algn="ctr"/>
                      <a:r>
                        <a:rPr sz="1200" b="0" i="0">
                          <a:solidFill>
                            <a:srgbClr val="18232F"/>
                          </a:solidFill>
                          <a:latin typeface="Segoe UI"/>
                        </a:rPr>
                        <a:t>9,870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246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23,950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46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58,300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2608">
                <a:tc>
                  <a:txBody>
                    <a:bodyPr wrap="square"/>
                    <a:lstStyle/>
                    <a:p>
                      <a:pPr algn="ctr"/>
                      <a:r>
                        <a:rPr sz="1200" b="0" i="0">
                          <a:solidFill>
                            <a:srgbClr val="18232F"/>
                          </a:solidFill>
                          <a:latin typeface="Segoe UI"/>
                        </a:rPr>
                        <a:t>41,560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24,000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1,32,750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2608">
                <a:tc>
                  <a:txBody>
                    <a:bodyPr wrap="square"/>
                    <a:lstStyle/>
                    <a:p>
                      <a:pPr algn="ctr"/>
                      <a:r>
                        <a:rPr sz="1200" b="0" i="0">
                          <a:solidFill>
                            <a:srgbClr val="18232F"/>
                          </a:solidFill>
                          <a:latin typeface="Segoe UI"/>
                        </a:rPr>
                        <a:t>22,130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177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24,050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77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71,920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2608">
                <a:tc>
                  <a:txBody>
                    <a:bodyPr wrap="square"/>
                    <a:lstStyle/>
                    <a:p>
                      <a:pPr algn="ctr"/>
                      <a:r>
                        <a:rPr sz="1200" b="0" i="0">
                          <a:solidFill>
                            <a:srgbClr val="18232F"/>
                          </a:solidFill>
                          <a:latin typeface="Segoe UI"/>
                        </a:rPr>
                        <a:t>58,940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148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24,100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98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88,460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2608">
                <a:tc>
                  <a:txBody>
                    <a:bodyPr wrap="square"/>
                    <a:lstStyle/>
                    <a:p>
                      <a:pPr algn="ctr"/>
                      <a:r>
                        <a:rPr sz="1200" b="0" i="0">
                          <a:solidFill>
                            <a:srgbClr val="18232F"/>
                          </a:solidFill>
                          <a:latin typeface="Segoe UI"/>
                        </a:rPr>
                        <a:t>64,300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121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24,150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121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62,180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2608">
                <a:tc>
                  <a:txBody>
                    <a:bodyPr wrap="square"/>
                    <a:lstStyle/>
                    <a:p>
                      <a:pPr algn="ctr"/>
                      <a:r>
                        <a:rPr sz="1200" b="0" i="0">
                          <a:solidFill>
                            <a:srgbClr val="18232F"/>
                          </a:solidFill>
                          <a:latin typeface="Segoe UI"/>
                        </a:rPr>
                        <a:t>1,18,720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98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24,200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148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49,650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2608">
                <a:tc>
                  <a:txBody>
                    <a:bodyPr wrap="square"/>
                    <a:lstStyle/>
                    <a:p>
                      <a:pPr algn="ctr"/>
                      <a:r>
                        <a:rPr sz="1200" b="0" i="0">
                          <a:solidFill>
                            <a:srgbClr val="18232F"/>
                          </a:solidFill>
                          <a:latin typeface="Segoe UI"/>
                        </a:rPr>
                        <a:t>76,410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78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24,250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178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21,340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2608">
                <a:tc>
                  <a:txBody>
                    <a:bodyPr wrap="square"/>
                    <a:lstStyle/>
                    <a:p>
                      <a:pPr algn="ctr"/>
                      <a:r>
                        <a:rPr sz="1200" b="0" i="0">
                          <a:solidFill>
                            <a:srgbClr val="18232F"/>
                          </a:solidFill>
                          <a:latin typeface="Segoe UI"/>
                        </a:rPr>
                        <a:t>1,41,280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61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24,300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211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30,870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2608">
                <a:tc>
                  <a:txBody>
                    <a:bodyPr wrap="square"/>
                    <a:lstStyle/>
                    <a:p>
                      <a:pPr algn="ctr"/>
                      <a:r>
                        <a:rPr sz="1200" b="0" i="0">
                          <a:solidFill>
                            <a:srgbClr val="18232F"/>
                          </a:solidFill>
                          <a:latin typeface="Segoe UI"/>
                        </a:rPr>
                        <a:t>52,600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47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24,350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247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8,920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2608">
                <a:tc>
                  <a:txBody>
                    <a:bodyPr wrap="square"/>
                    <a:lstStyle/>
                    <a:p>
                      <a:pPr algn="ctr"/>
                      <a:r>
                        <a:rPr sz="1200" b="0" i="0">
                          <a:solidFill>
                            <a:srgbClr val="18232F"/>
                          </a:solidFill>
                          <a:latin typeface="Segoe UI"/>
                        </a:rPr>
                        <a:t>97,150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35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24,400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285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12,460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sp>
        <p:nvSpPr>
          <p:cNvPr id="8" name="TextBox 7"/>
          <p:cNvSpPr txBox="1"/>
          <p:nvPr/>
        </p:nvSpPr>
        <p:spPr>
          <a:xfrm>
            <a:off x="640080" y="5733288"/>
            <a:ext cx="10911535" cy="251460"/>
          </a:xfrm>
          <a:prstGeom prst="rect">
            <a:avLst/>
          </a:prstGeom>
          <a:noFill/>
        </p:spPr>
        <p:txBody>
          <a:bodyPr wrap="square" lIns="0" rIns="0" tIns="0" bIns="0" anchor="t">
            <a:noAutofit/>
          </a:bodyPr>
          <a:lstStyle/>
          <a:p>
            <a:pPr algn="l">
              <a:lnSpc>
                <a:spcPct val="100000"/>
              </a:lnSpc>
            </a:pPr>
            <a:r>
              <a:rPr sz="1050" b="0" i="1">
                <a:solidFill>
                  <a:srgbClr val="47596B"/>
                </a:solidFill>
                <a:latin typeface="Segoe UI"/>
              </a:rPr>
              <a:t>Pehle ATM strike dhoondhiye: index level ke sabse paas wala strike.</a:t>
            </a:r>
          </a:p>
        </p:txBody>
      </p:sp>
      <p:pic>
        <p:nvPicPr>
          <p:cNvPr id="9" name="Picture 8" descr="logo.png"/>
          <p:cNvPicPr>
            <a:picLocks noChangeAspect="1"/>
          </p:cNvPicPr>
          <p:nvPr/>
        </p:nvPicPr>
        <p:blipFill>
          <a:blip r:embed="rId2"/>
          <a:stretch>
            <a:fillRect/>
          </a:stretch>
        </p:blipFill>
        <p:spPr>
          <a:xfrm>
            <a:off x="457200" y="6437376"/>
            <a:ext cx="237744" cy="237744"/>
          </a:xfrm>
          <a:prstGeom prst="rect">
            <a:avLst/>
          </a:prstGeom>
        </p:spPr>
      </p:pic>
      <p:sp>
        <p:nvSpPr>
          <p:cNvPr id="1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1" name="TextBox 1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Premium split sheet</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Practice chain se chaar hal ki hui rows, NIFTY 50 24,150 par. Step 3 wale apne do calls khaali rows mein likhiye. Practice chain par jawab hain: 24,050 call = 100 + 77, aur 24,250 call = 0 + 78.</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6" cy="3771898"/>
        </p:xfrm>
        <a:graphic>
          <a:graphicData uri="http://schemas.openxmlformats.org/drawingml/2006/table">
            <a:tbl>
              <a:tblPr firstRow="1">
                <a:tableStyleId>{5C22544A-7EE6-4342-B048-85BDC9FD1C3A}</a:tableStyleId>
              </a:tblPr>
              <a:tblGrid>
                <a:gridCol w="2095999"/>
                <a:gridCol w="2429660"/>
                <a:gridCol w="2079972"/>
                <a:gridCol w="1892085"/>
                <a:gridCol w="2413820"/>
              </a:tblGrid>
              <a:tr h="421538">
                <a:tc>
                  <a:txBody>
                    <a:bodyPr wrap="square"/>
                    <a:lstStyle/>
                    <a:p>
                      <a:pPr algn="l"/>
                      <a:r>
                        <a:rPr sz="1500" b="1" i="0">
                          <a:solidFill>
                            <a:srgbClr val="FFFFFF"/>
                          </a:solidFill>
                          <a:latin typeface="Segoe UI"/>
                        </a:rPr>
                        <a:t>Option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ITM / OTM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Premium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Intrinsic</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Time value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12394">
                <a:tc>
                  <a:txBody>
                    <a:bodyPr wrap="square"/>
                    <a:lstStyle/>
                    <a:p>
                      <a:pPr algn="ctr"/>
                      <a:r>
                        <a:rPr sz="1500" b="0" i="0">
                          <a:solidFill>
                            <a:srgbClr val="18232F"/>
                          </a:solidFill>
                          <a:latin typeface="Segoe UI"/>
                        </a:rPr>
                        <a:t>24,000 CE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ITM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12394">
                <a:tc>
                  <a:txBody>
                    <a:bodyPr wrap="square"/>
                    <a:lstStyle/>
                    <a:p>
                      <a:pPr algn="ctr"/>
                      <a:r>
                        <a:rPr sz="1500" b="0" i="0">
                          <a:solidFill>
                            <a:srgbClr val="18232F"/>
                          </a:solidFill>
                          <a:latin typeface="Segoe UI"/>
                        </a:rPr>
                        <a:t>24,300 CE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OTM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12394">
                <a:tc>
                  <a:txBody>
                    <a:bodyPr wrap="square"/>
                    <a:lstStyle/>
                    <a:p>
                      <a:pPr algn="ctr"/>
                      <a:r>
                        <a:rPr sz="1500" b="0" i="0">
                          <a:solidFill>
                            <a:srgbClr val="18232F"/>
                          </a:solidFill>
                          <a:latin typeface="Segoe UI"/>
                        </a:rPr>
                        <a:t>24,000 PE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OTM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12394">
                <a:tc>
                  <a:txBody>
                    <a:bodyPr wrap="square"/>
                    <a:lstStyle/>
                    <a:p>
                      <a:pPr algn="ctr"/>
                      <a:r>
                        <a:rPr sz="1500" b="0" i="0">
                          <a:solidFill>
                            <a:srgbClr val="18232F"/>
                          </a:solidFill>
                          <a:latin typeface="Segoe UI"/>
                        </a:rPr>
                        <a:t>24,250 PE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ITM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178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sp>
        <p:nvSpPr>
          <p:cNvPr id="7" name="TextBox 6"/>
          <p:cNvSpPr txBox="1"/>
          <p:nvPr/>
        </p:nvSpPr>
        <p:spPr>
          <a:xfrm>
            <a:off x="640080" y="5984748"/>
            <a:ext cx="10911535" cy="251460"/>
          </a:xfrm>
          <a:prstGeom prst="rect">
            <a:avLst/>
          </a:prstGeom>
          <a:noFill/>
        </p:spPr>
        <p:txBody>
          <a:bodyPr wrap="square" lIns="0" rIns="0" tIns="0" bIns="0" anchor="t">
            <a:noAutofit/>
          </a:bodyPr>
          <a:lstStyle/>
          <a:p>
            <a:pPr algn="l">
              <a:lnSpc>
                <a:spcPct val="100000"/>
              </a:lnSpc>
            </a:pPr>
            <a:r>
              <a:rPr sz="1050" b="0" i="1">
                <a:solidFill>
                  <a:srgbClr val="47596B"/>
                </a:solidFill>
                <a:latin typeface="Segoe UI"/>
              </a:rPr>
              <a:t>Call: intrinsic = index - strike. Put: intrinsic = strike - index. Zero se neeche kabhi nahi. Time value = premium - intrinsic.</a:t>
            </a:r>
          </a:p>
        </p:txBody>
      </p:sp>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Ek lot kitna control karta hai</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Example mein 75 units ka banawati lot hai; 'Aapka' column mein NSE se aaj ka asli lot likhiye. Yeh sirf hisaab hai, trade nahi.</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1892808"/>
          <a:ext cx="10911535" cy="3401568"/>
        </p:xfrm>
        <a:graphic>
          <a:graphicData uri="http://schemas.openxmlformats.org/drawingml/2006/table">
            <a:tbl>
              <a:tblPr firstRow="1">
                <a:tableStyleId>{5C22544A-7EE6-4342-B048-85BDC9FD1C3A}</a:tableStyleId>
              </a:tblPr>
              <a:tblGrid>
                <a:gridCol w="5861838"/>
                <a:gridCol w="2948098"/>
                <a:gridCol w="2101599"/>
              </a:tblGrid>
              <a:tr h="493776">
                <a:tc>
                  <a:txBody>
                    <a:bodyPr wrap="square"/>
                    <a:lstStyle/>
                    <a:p>
                      <a:pPr algn="l"/>
                      <a:r>
                        <a:rPr sz="1500" b="1" i="0">
                          <a:solidFill>
                            <a:srgbClr val="FFFFFF"/>
                          </a:solidFill>
                          <a:latin typeface="Segoe UI"/>
                        </a:rPr>
                        <a:t>Line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Example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Aapka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l"/>
                      <a:r>
                        <a:rPr sz="1500" b="0" i="0">
                          <a:solidFill>
                            <a:srgbClr val="18232F"/>
                          </a:solidFill>
                          <a:latin typeface="Segoe UI"/>
                        </a:rPr>
                        <a:t>NIFTY 50 level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24,150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Lot size (units)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75 (banawati)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Ek lot control karta hai (lot x level)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18,11,250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Rs 10 lakh par 25% cap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2,50,000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2,50,000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Ek lot ÷ cap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7.2x</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Ek lot par NIFTY ka 100 point move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7,500 = 0.75R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sp>
        <p:nvSpPr>
          <p:cNvPr id="7" name="TextBox 6"/>
          <p:cNvSpPr txBox="1"/>
          <p:nvPr/>
        </p:nvSpPr>
        <p:spPr>
          <a:xfrm>
            <a:off x="640080" y="5385816"/>
            <a:ext cx="10911535" cy="251460"/>
          </a:xfrm>
          <a:prstGeom prst="rect">
            <a:avLst/>
          </a:prstGeom>
          <a:noFill/>
        </p:spPr>
        <p:txBody>
          <a:bodyPr wrap="square" lIns="0" rIns="0" tIns="0" bIns="0" anchor="t">
            <a:noAutofit/>
          </a:bodyPr>
          <a:lstStyle/>
          <a:p>
            <a:pPr algn="l">
              <a:lnSpc>
                <a:spcPct val="100000"/>
              </a:lnSpc>
            </a:pPr>
            <a:r>
              <a:rPr sz="1050" b="0" i="1">
                <a:solidFill>
                  <a:srgbClr val="47596B"/>
                </a:solidFill>
                <a:latin typeface="Segoe UI"/>
              </a:rPr>
              <a:t>Ek lot us had se kai guna bada hai jitna Stage 1 kisi ek position mein lagane deta hai, aur 100 point ka aam din bhi use 1R ke teen-chauthai jitna hila deta hai. Samjho, khelo mat.</a:t>
            </a:r>
          </a:p>
        </p:txBody>
      </p:sp>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Class activity</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Classmates, dost ya family ke saath kheliye. Score process ka, paise ka nahi.</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Lottery ya insurance? Chhe chits par options ke chhe istemaal likhiye, jaise 'expiry se do din pehle Rs 3 ka call khareedna', 'apne paas rakhe shares par put khareedna', 'weekly income ke liye calls bechna', 'door ke OTM puts bechna kyunki woh kam hi chalte hain', 'mid-cap stocks ki tokri ko cover karne ke liye NIFTY put khareedna', 'results ke din saste calls khareedna'.</a:t>
            </a:r>
          </a:p>
          <a:p>
            <a:pPr algn="l">
              <a:lnSpc>
                <a:spcPct val="100000"/>
              </a:lnSpc>
              <a:spcAft>
                <a:spcPts val="700"/>
              </a:spcAft>
            </a:pPr>
            <a:r>
              <a:rPr sz="2000" b="0" i="0">
                <a:solidFill>
                  <a:srgbClr val="18232F"/>
                </a:solidFill>
                <a:latin typeface="Segoe UI"/>
              </a:rPr>
              <a:t>Classmates ya family ke saath har chit ko Lottery, Insurance ya Chhupa bada risk mein daaliye, aur ek line mein apni wajah bataiye.</a:t>
            </a:r>
          </a:p>
          <a:p>
            <a:pPr algn="l">
              <a:lnSpc>
                <a:spcPct val="100000"/>
              </a:lnSpc>
            </a:pPr>
            <a:r>
              <a:rPr sz="2000" b="0" i="0">
                <a:solidFill>
                  <a:srgbClr val="18232F"/>
                </a:solidFill>
                <a:latin typeface="Segoe UI"/>
              </a:rPr>
              <a:t>Akele hain? Khud sort kijiye, phir kisi AI chat se kahiye ki aapki sorting ko challenge kare.</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Option chain explainer: padhiye, trade mat kijiye</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Option chain explainer</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“I will paste a few rows from the public NIFTY option chain on the NSE website or from my course's made-up practice chain (strike, call premium, call OI, put premium, put OI) and the current index level.”</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2</a:t>
            </a:r>
          </a:p>
        </p:txBody>
      </p:sp>
      <p:sp>
        <p:nvSpPr>
          <p:cNvPr id="11" name="TextBox 10"/>
          <p:cNvSpPr txBox="1"/>
          <p:nvPr/>
        </p:nvSpPr>
        <p:spPr>
          <a:xfrm>
            <a:off x="4478426"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F&amp;O myth-buster</a:t>
            </a:r>
          </a:p>
        </p:txBody>
      </p:sp>
      <p:sp>
        <p:nvSpPr>
          <p:cNvPr id="12" name="TextBox 11"/>
          <p:cNvSpPr txBox="1"/>
          <p:nvPr/>
        </p:nvSpPr>
        <p:spPr>
          <a:xfrm>
            <a:off x="4478426"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3" name="TextBox 12"/>
          <p:cNvSpPr txBox="1"/>
          <p:nvPr/>
        </p:nvSpPr>
        <p:spPr>
          <a:xfrm>
            <a:off x="4478426"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“List 8 beliefs that Indian beginners commonly hold about futures and options, for example 'a cheap option is low risk', 'my margin is the most I can lose', 'high OI at a strike means the market will stop there', 'stock options always settle in cash' and 'buying a NIFTY put fully protects any portfolio'.”</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Lottery-ticket mind check</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“Act as a calm trading-psychology coach. Ask me 6 short questions, one at a time, to find out whether I think about options like lottery tickets: how I react to screenshots of big option wins, whether I count the losing bets behind them, how I judge a 'small' premium that I might lose every week, and what I believe a low price tells me about the chance of a payoff.”</a:t>
            </a:r>
          </a:p>
        </p:txBody>
      </p:sp>
      <p:sp>
        <p:nvSpPr>
          <p:cNvPr id="19" name="Oval 18"/>
          <p:cNvSpPr/>
          <p:nvPr/>
        </p:nvSpPr>
        <p:spPr>
          <a:xfrm>
            <a:off x="457200"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App se prompt copy kijiye</a:t>
            </a:r>
          </a:p>
        </p:txBody>
      </p:sp>
      <p:sp>
        <p:nvSpPr>
          <p:cNvPr id="21" name="Oval 20"/>
          <p:cNvSpPr/>
          <p:nvPr/>
        </p:nvSpPr>
        <p:spPr>
          <a:xfrm>
            <a:off x="4277258"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Kisi bhi AI chat mein paste kijiye</a:t>
            </a:r>
          </a:p>
        </p:txBody>
      </p:sp>
      <p:sp>
        <p:nvSpPr>
          <p:cNvPr id="23" name="Oval 22"/>
          <p:cNvSpPr/>
          <p:nvPr/>
        </p:nvSpPr>
        <p:spPr>
          <a:xfrm>
            <a:off x="8097317"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Har Fact khud check kijiye</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analyst hai, faisla aap karte hain. Kisi bhi AI mein PAN, client ID, password, OTP ya API key kabhi paste mat kijiye, aur AI ka jawab kabhi buy ya sell call bana kar aage mat bhejiye.</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Poora prompt: speaker notes mein, aur app ke AI Lab tab mein.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QUICK QUIZ · SAWAAL 1/5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NIFTY 50 23,880 par hai (illustrative). 23,700 ka call 230 ke premium par trade ho raha hai. Yeh premium kaise bantega?</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Intrinsic 230, time value zero</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Intrinsic 0, time value 230</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Intrinsic 50, time value 180</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Intrinsic 180, time value 50</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QUICK QUIZ · SAWAAL 2/5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Ek banawati case mein koi Kiran Foods Ltd ka 400 wala call Rs 18 premium par khareedta hai. Costs chhod dein, toh expiry par share kis price se upar jaaye tab buyer ko paisa banna shuru hoga?</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418 se upar</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382 se upar</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400 se upar, yaani strike</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436 se upar</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QUICK QUIZ · SAWAAL 3/5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Ek banawati case mein Gupta Cement Ltd futures ka ek lot 3,750 shares ka hai, Rs 400 par liya gaya, margin Rs 3,00,000. Us din price Rs 392 par close hota hai. Us shaam kya hoga?</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Sirf Rs 8 per lot debit honge, yaani price ki girawat</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Abhi kuch nahi: MTM contract band hone tak rukta hai</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Usi shaam account se Rs 30,000 debit ho jayenge</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Loss expiry ka din khatam hone tak roka jaata hai</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QUICK QUIZ · SAWAAL 4/5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Maan lijiye kisi ke paas Sharma Textiles Ltd ka stock call hai jo expiry par in the money hai, aur woh use band karna bhool gaya. Kya ho sakta hai?</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Use paise chuka kar shares lene pad sakte hain</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NIFTY option ki tarah cash mein settle hoga</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Band nahi kiya, isliye zero par lapse hoga</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Exchange use din ke sabse achhe price par bech dega</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QUICK QUIZ · SAWAAL 5/5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NIFTY ka ek bahut door ka OTM call sirf Rs 3 ka hai, aur expiry mein do din bache hain. Itna kam price sabse zyada kis baat ka ishaara hai?</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Yeh ek sasta sauda hai jo zyadatar market ne miss kar diya</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Saste options mein badhne ki zyada jagah hoti hai</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Loss chhota hai, toh risk bhi chhota hai</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Market ko iske chalne ka chance kam dikhta hai</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AAJ RAAT KA JOURNAL</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F&amp;O ke basics: samjho, khelo mat</a:t>
            </a:r>
          </a:p>
        </p:txBody>
      </p:sp>
      <p:sp>
        <p:nvSpPr>
          <p:cNvPr id="4" name="TextBox 3"/>
          <p:cNvSpPr txBox="1"/>
          <p:nvPr/>
        </p:nvSpPr>
        <p:spPr>
          <a:xfrm>
            <a:off x="457200" y="5820156"/>
            <a:ext cx="11277295" cy="50749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Stage 1 uses virtual money only and places no F&amp;O trades, not even on paper. Company names, prices, lots, premiums and the practice option chain in this lesson are made up for illustration; the SEBI FY26 figure is quoted from SEBI's study. Check NSE for current lot sizes and expiry days. 5 Circles Pvt Ltd · SEBI Registered Research Analyst · Reg. No. INH000020004</a:t>
            </a:r>
          </a:p>
        </p:txBody>
      </p:sp>
      <p:sp>
        <p:nvSpPr>
          <p:cNvPr id="5" name="Rounded Rectangle 4"/>
          <p:cNvSpPr/>
          <p:nvPr/>
        </p:nvSpPr>
        <p:spPr>
          <a:xfrm>
            <a:off x="457200" y="1335024"/>
            <a:ext cx="5501488" cy="3863340"/>
          </a:xfrm>
          <a:prstGeom prst="roundRect">
            <a:avLst>
              <a:gd name="adj" fmla="val 331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AAJ RAAT KA JOURNAL</a:t>
            </a:r>
          </a:p>
        </p:txBody>
      </p:sp>
      <p:sp>
        <p:nvSpPr>
          <p:cNvPr id="7" name="TextBox 6"/>
          <p:cNvSpPr txBox="1"/>
          <p:nvPr/>
        </p:nvSpPr>
        <p:spPr>
          <a:xfrm>
            <a:off x="731520" y="1901952"/>
            <a:ext cx="4952848" cy="313182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Aaj ki kaunsi baat ne saste option ko dekhne ka aapka nazariya badla? Aur apne shabdon mein: OI kya naapta hai, aur kya nahi batata?</a:t>
            </a:r>
          </a:p>
        </p:txBody>
      </p:sp>
      <p:sp>
        <p:nvSpPr>
          <p:cNvPr id="8" name="Rounded Rectangle 7"/>
          <p:cNvSpPr/>
          <p:nvPr/>
        </p:nvSpPr>
        <p:spPr>
          <a:xfrm>
            <a:off x="6233008" y="1335024"/>
            <a:ext cx="5501488" cy="3863340"/>
          </a:xfrm>
          <a:prstGeom prst="roundRect">
            <a:avLst>
              <a:gd name="adj" fmla="val 331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92400E"/>
                </a:solidFill>
                <a:latin typeface="Segoe UI"/>
              </a:rPr>
              <a:t>“</a:t>
            </a:r>
          </a:p>
        </p:txBody>
      </p:sp>
      <p:sp>
        <p:nvSpPr>
          <p:cNvPr id="10" name="TextBox 9"/>
          <p:cNvSpPr txBox="1"/>
          <p:nvPr/>
        </p:nvSpPr>
        <p:spPr>
          <a:xfrm>
            <a:off x="6507328" y="2779014"/>
            <a:ext cx="4952848" cy="138684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Aaj aapne ek taqatwar tool itna samajh liya ki aap jaante hain use abhi kyun chhod rahe hain. Bahut se traders yeh hissa kabhi nahi seekhte.</a:t>
            </a:r>
          </a:p>
        </p:txBody>
      </p:sp>
      <p:sp>
        <p:nvSpPr>
          <p:cNvPr id="11" name="Rounded Rectangle 10"/>
          <p:cNvSpPr/>
          <p:nvPr/>
        </p:nvSpPr>
        <p:spPr>
          <a:xfrm>
            <a:off x="457200" y="5344668"/>
            <a:ext cx="4701065"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Agla: Day 19 · Event calendar aur aapke no-trade days</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0B1B33"/>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0B1B33"/>
                </a:solidFill>
                <a:latin typeface="Segoe UI"/>
              </a:rPr>
              <a:t>19</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0B1B33"/>
                </a:solidFill>
                <a:latin typeface="Segoe UI"/>
              </a:rPr>
              <a:t>WEEK 3</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0B1B33"/>
                </a:solidFill>
                <a:latin typeface="Segoe UI"/>
              </a:rPr>
              <a:t>Apna system banao, khud ko bachao</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Event calendar aur aapke no-trade days</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8658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Events, unki timing, aur har strategy ke liye no-trade rule</a:t>
            </a:r>
          </a:p>
        </p:txBody>
      </p:sp>
      <p:sp>
        <p:nvSpPr>
          <p:cNvPr id="12" name="Rounded Rectangle 11"/>
          <p:cNvSpPr/>
          <p:nvPr/>
        </p:nvSpPr>
        <p:spPr>
          <a:xfrm>
            <a:off x="4572000" y="2898648"/>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2889504"/>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Event calendar builder: AI draft banaye, official sites faisla karein</a:t>
            </a:r>
          </a:p>
        </p:txBody>
      </p:sp>
      <p:sp>
        <p:nvSpPr>
          <p:cNvPr id="14" name="Rounded Rectangle 13"/>
          <p:cNvSpPr/>
          <p:nvPr/>
        </p:nvSpPr>
        <p:spPr>
          <a:xfrm>
            <a:off x="4572000" y="366674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66674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Bada din chhoot jaane ka dar</a:t>
            </a:r>
          </a:p>
        </p:txBody>
      </p:sp>
      <p:sp>
        <p:nvSpPr>
          <p:cNvPr id="16" name="TextBox 15"/>
          <p:cNvSpPr txBox="1"/>
          <p:nvPr/>
        </p:nvSpPr>
        <p:spPr>
          <a:xfrm>
            <a:off x="4572000" y="4352544"/>
            <a:ext cx="7162495"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AAJ KE BAAD</a:t>
            </a:r>
          </a:p>
        </p:txBody>
      </p:sp>
      <p:sp>
        <p:nvSpPr>
          <p:cNvPr id="17" name="TextBox 16"/>
          <p:cNvSpPr txBox="1"/>
          <p:nvPr/>
        </p:nvSpPr>
        <p:spPr>
          <a:xfrm>
            <a:off x="4572000" y="4626864"/>
            <a:ext cx="7162495" cy="125577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Aaj ke baad aap samjha payenge ki tay events gap aur tez uchhal-kood kyun laate hain, kisi bhi event ko uski jagah aur time se pehchaan payenge, har strategy ke hisaab se no-trade rules likh payenge, official sources se 30 din ka event calendar bana payenge, aur ek date se Portfolio ki ek poori row bhar payenge.</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KAHANI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Saal ka sabse bada din</a:t>
            </a:r>
          </a:p>
        </p:txBody>
      </p:sp>
      <p:sp>
        <p:nvSpPr>
          <p:cNvPr id="4" name="Rounded Rectangle 3"/>
          <p:cNvSpPr/>
          <p:nvPr/>
        </p:nvSpPr>
        <p:spPr>
          <a:xfrm>
            <a:off x="457200" y="1426464"/>
            <a:ext cx="3649370" cy="3636264"/>
          </a:xfrm>
          <a:prstGeom prst="roundRect">
            <a:avLst>
              <a:gd name="adj" fmla="val 35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317906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Union Budget se pehle ki raat. Aman mentor ko video call karta hai, aur Priya Lucknow se jud jaati hai.</a:t>
            </a:r>
          </a:p>
        </p:txBody>
      </p:sp>
      <p:sp>
        <p:nvSpPr>
          <p:cNvPr id="7" name="Rounded Rectangle 6"/>
          <p:cNvSpPr/>
          <p:nvPr/>
        </p:nvSpPr>
        <p:spPr>
          <a:xfrm>
            <a:off x="4271162"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2401824"/>
          </a:xfrm>
          <a:prstGeom prst="wedgeRoundRectCallout">
            <a:avLst>
              <a:gd name="adj1" fmla="val -41915"/>
              <a:gd name="adj2" fmla="val -57614"/>
              <a:gd name="adj3" fmla="val 4568"/>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21092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kal Budget hai. Sab keh rahe hain bahut bada move aayega. Paper par range tootte hi main ek ORB trade lunga, aur speech se pehle do swing trades bhi. Saal ka sabse bada din hai; main bahar nahi baith sakta.</a:t>
            </a:r>
          </a:p>
        </p:txBody>
      </p:sp>
      <p:sp>
        <p:nvSpPr>
          <p:cNvPr id="13" name="Rounded Rectangle 12"/>
          <p:cNvSpPr/>
          <p:nvPr/>
        </p:nvSpPr>
        <p:spPr>
          <a:xfrm>
            <a:off x="8085125"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2142744"/>
          </a:xfrm>
          <a:prstGeom prst="wedgeRoundRectCallout">
            <a:avLst>
              <a:gd name="adj1" fmla="val -41915"/>
              <a:gd name="adj2" fmla="val -58534"/>
              <a:gd name="adj3" fmla="val 5120"/>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185013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Lekin speech toh 11 baje ke aas-paas shuru hoti hai. Aapki 9:15 se 9:30 wali range tab tak ban chuki hogi, jab kisi ko pata hi nahi hoga ki Budget mein kya hai. Woh range aapko kya batayegi?</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KAHANI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Saal ka sabse bada din</a:t>
            </a:r>
          </a:p>
        </p:txBody>
      </p:sp>
      <p:sp>
        <p:nvSpPr>
          <p:cNvPr id="4" name="Rounded Rectangle 3"/>
          <p:cNvSpPr/>
          <p:nvPr/>
        </p:nvSpPr>
        <p:spPr>
          <a:xfrm>
            <a:off x="457200"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1106424"/>
          </a:xfrm>
          <a:prstGeom prst="wedgeRoundRectCallout">
            <a:avLst>
              <a:gd name="adj1" fmla="val -41915"/>
              <a:gd name="adj2" fmla="val -66528"/>
              <a:gd name="adj3" fmla="val 9917"/>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8138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Achha sawaal, Priya. Aman, ek sawaal mera bhi: kal market kis taraf jaayega?</a:t>
            </a:r>
          </a:p>
        </p:txBody>
      </p:sp>
      <p:sp>
        <p:nvSpPr>
          <p:cNvPr id="10" name="Rounded Rectangle 9"/>
          <p:cNvSpPr/>
          <p:nvPr/>
        </p:nvSpPr>
        <p:spPr>
          <a:xfrm>
            <a:off x="4271162"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2401824"/>
          </a:xfrm>
          <a:prstGeom prst="wedgeRoundRectCallout">
            <a:avLst>
              <a:gd name="adj1" fmla="val -41915"/>
              <a:gd name="adj2" fmla="val -57614"/>
              <a:gd name="adj3" fmla="val 4568"/>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21092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Sach kahun toh pata nahi. Upar ya neeche, par bada. Jaise pichhle hafte Gupta Cement mein hua: paper par 400 mein liya, stop 382, aur results ke baad 364 par khula. Mujhe toh pata bhi nahi tha ki usi shaam results hain.</a:t>
            </a:r>
          </a:p>
        </p:txBody>
      </p:sp>
      <p:sp>
        <p:nvSpPr>
          <p:cNvPr id="16" name="Rounded Rectangle 15"/>
          <p:cNvSpPr/>
          <p:nvPr/>
        </p:nvSpPr>
        <p:spPr>
          <a:xfrm>
            <a:off x="8085125"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2660904"/>
          </a:xfrm>
          <a:prstGeom prst="wedgeRoundRectCallout">
            <a:avLst>
              <a:gd name="adj1" fmla="val -41915"/>
              <a:gd name="adj2" fmla="val -56872"/>
              <a:gd name="adj3" fmla="val 4123"/>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23682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Results ki woh date aapke khareedne se chhe trading days pehle NSE ki website par thi. Zyadatar bade din surprise nahi hote; woh pehle se likhe hote hain. Aaj raat hum bhi unhe likh lenge, aur har din ke saamne aapka rule bhi, woh din aane se pehle hi.</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6429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Seekh</a:t>
            </a:r>
          </a:p>
        </p:txBody>
      </p:sp>
      <p:sp>
        <p:nvSpPr>
          <p:cNvPr id="24" name="TextBox 23"/>
          <p:cNvSpPr txBox="1"/>
          <p:nvPr/>
        </p:nvSpPr>
        <p:spPr>
          <a:xfrm>
            <a:off x="1411050" y="5760720"/>
            <a:ext cx="1014056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Zyadatar bade din aane se kaafi pehle calendar par likhe hote hain. Asli hunar hai pehle se tay kar lena ki us din aap kya karenge.</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Events: woh gaps jo pehle se dikh jaate hain</a:t>
            </a:r>
          </a:p>
        </p:txBody>
      </p:sp>
      <p:sp>
        <p:nvSpPr>
          <p:cNvPr id="4" name="TextBox 3"/>
          <p:cNvSpPr txBox="1"/>
          <p:nvPr/>
        </p:nvSpPr>
        <p:spPr>
          <a:xfrm>
            <a:off x="457200" y="1335024"/>
            <a:ext cx="5519776" cy="244348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Event yaani ek tay kiya hua waqt, jab koi badi nayi jaankari ek saath market tak pahunchti hai: kisi company ke results, RBI ka policy decision, ya Union Budget.</a:t>
            </a:r>
          </a:p>
          <a:p>
            <a:pPr algn="l" marL="274320" indent="-274320">
              <a:lnSpc>
                <a:spcPct val="100000"/>
              </a:lnSpc>
              <a:spcAft>
                <a:spcPts val="800"/>
              </a:spcAft>
              <a:buClr>
                <a:srgbClr val="F5A623"/>
              </a:buClr>
              <a:buFont typeface="Arial"/>
              <a:buChar char="•"/>
            </a:pPr>
            <a:r>
              <a:rPr sz="1600" b="0" i="0">
                <a:solidFill>
                  <a:srgbClr val="18232F"/>
                </a:solidFill>
                <a:latin typeface="Segoe UI"/>
              </a:rPr>
              <a:t>Aise mein price dheere-dheere nahi chalta, aksar seedha kood jaata hai, aur isi chhalaang ko gap kehte hain (Day 6).</a:t>
            </a:r>
          </a:p>
          <a:p>
            <a:pPr algn="l" marL="274320" indent="-274320">
              <a:lnSpc>
                <a:spcPct val="100000"/>
              </a:lnSpc>
              <a:buClr>
                <a:srgbClr val="F5A623"/>
              </a:buClr>
              <a:buFont typeface="Arial"/>
              <a:buChar char="•"/>
            </a:pPr>
            <a:r>
              <a:rPr sz="1600" b="0" i="0">
                <a:solidFill>
                  <a:srgbClr val="18232F"/>
                </a:solidFill>
                <a:latin typeface="Segoe UI"/>
              </a:rPr>
              <a:t>Day 9 mein humne dekha tha ki gap stop ke saath kya karta hai: 1R ka planned loss 2R ya usse bhi zyada ho sakta hai.</a:t>
            </a:r>
          </a:p>
        </p:txBody>
      </p:sp>
      <p:sp>
        <p:nvSpPr>
          <p:cNvPr id="5" name="Rounded Rectangle 4"/>
          <p:cNvSpPr/>
          <p:nvPr/>
        </p:nvSpPr>
        <p:spPr>
          <a:xfrm>
            <a:off x="457200" y="3933952"/>
            <a:ext cx="5519776" cy="1680464"/>
          </a:xfrm>
          <a:prstGeom prst="roundRect">
            <a:avLst>
              <a:gd name="adj" fmla="val 652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0619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318000"/>
            <a:ext cx="5154016" cy="12232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 ka pichhle hafte ka Gupta Cement Ltd wala paper trade: 555 shares Rs 400 par, stop Rs 382 (Rs 12 ke ATR ka 1.5 guna), yaani 1R lagbhag Rs 10,000. Usi shaam results aa gaye. Agli subah stock Rs 364 par khula aur uska stop, jo SL-M order tha (Day 9), wahin ke aas-paas bik gaya: 555 x Rs 36 = Rs 19,980, lagbhag 2R. … Yeh Day 9 wala gap hi tha, bas ek farq ke saath: is baar date pehle se public thi.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Date pehle se public thi</a:t>
            </a:r>
          </a:p>
        </p:txBody>
      </p:sp>
      <p:sp>
        <p:nvSpPr>
          <p:cNvPr id="11" name="TextBox 10"/>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Results ki date entry se chhe trading days pehle announce ho chuki thi. Stop Rs 382; results ke baad pehla price hi Rs 364 tha. Loss: lagbhag 2R, 1R nahi.</a:t>
            </a:r>
          </a:p>
        </p:txBody>
      </p:sp>
      <p:cxnSp>
        <p:nvCxnSpPr>
          <p:cNvPr id="12" name="Connector 11"/>
          <p:cNvCxnSpPr/>
          <p:nvPr/>
        </p:nvCxnSpPr>
        <p:spPr>
          <a:xfrm>
            <a:off x="6935100" y="4434840"/>
            <a:ext cx="3882507"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352544"/>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352.7</a:t>
            </a:r>
          </a:p>
        </p:txBody>
      </p:sp>
      <p:cxnSp>
        <p:nvCxnSpPr>
          <p:cNvPr id="14" name="Connector 13"/>
          <p:cNvCxnSpPr/>
          <p:nvPr/>
        </p:nvCxnSpPr>
        <p:spPr>
          <a:xfrm>
            <a:off x="6935100" y="3750564"/>
            <a:ext cx="3882507"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668268"/>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373.6</a:t>
            </a:r>
          </a:p>
        </p:txBody>
      </p:sp>
      <p:cxnSp>
        <p:nvCxnSpPr>
          <p:cNvPr id="16" name="Connector 15"/>
          <p:cNvCxnSpPr/>
          <p:nvPr/>
        </p:nvCxnSpPr>
        <p:spPr>
          <a:xfrm>
            <a:off x="6935100" y="3066288"/>
            <a:ext cx="3882507"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98399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394.4</a:t>
            </a:r>
          </a:p>
        </p:txBody>
      </p:sp>
      <p:cxnSp>
        <p:nvCxnSpPr>
          <p:cNvPr id="18" name="Connector 17"/>
          <p:cNvCxnSpPr/>
          <p:nvPr/>
        </p:nvCxnSpPr>
        <p:spPr>
          <a:xfrm>
            <a:off x="6935100" y="2382012"/>
            <a:ext cx="3882507"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299716"/>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415.3</a:t>
            </a:r>
          </a:p>
        </p:txBody>
      </p:sp>
      <p:cxnSp>
        <p:nvCxnSpPr>
          <p:cNvPr id="20" name="Connector 19"/>
          <p:cNvCxnSpPr/>
          <p:nvPr/>
        </p:nvCxnSpPr>
        <p:spPr>
          <a:xfrm>
            <a:off x="6935100" y="2884077"/>
            <a:ext cx="3919083" cy="0"/>
          </a:xfrm>
          <a:prstGeom prst="line">
            <a:avLst/>
          </a:prstGeom>
          <a:ln w="19050">
            <a:solidFill>
              <a:srgbClr val="0093D6"/>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890759" y="2792637"/>
            <a:ext cx="660856" cy="182880"/>
          </a:xfrm>
          <a:prstGeom prst="rect">
            <a:avLst/>
          </a:prstGeom>
          <a:noFill/>
        </p:spPr>
        <p:txBody>
          <a:bodyPr wrap="square" lIns="0" rIns="0" tIns="0" bIns="0" anchor="ctr">
            <a:noAutofit/>
          </a:bodyPr>
          <a:lstStyle/>
          <a:p>
            <a:pPr algn="l">
              <a:lnSpc>
                <a:spcPct val="100000"/>
              </a:lnSpc>
            </a:pPr>
            <a:r>
              <a:rPr sz="1000" b="1" i="0">
                <a:solidFill>
                  <a:srgbClr val="095A90"/>
                </a:solidFill>
                <a:latin typeface="Segoe UI"/>
              </a:rPr>
              <a:t>Entry 400</a:t>
            </a:r>
          </a:p>
        </p:txBody>
      </p:sp>
      <p:cxnSp>
        <p:nvCxnSpPr>
          <p:cNvPr id="22" name="Connector 21"/>
          <p:cNvCxnSpPr/>
          <p:nvPr/>
        </p:nvCxnSpPr>
        <p:spPr>
          <a:xfrm>
            <a:off x="6935100" y="3473970"/>
            <a:ext cx="3919083" cy="0"/>
          </a:xfrm>
          <a:prstGeom prst="line">
            <a:avLst/>
          </a:prstGeom>
          <a:ln w="19050">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890759" y="3382530"/>
            <a:ext cx="660856"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Stop 382</a:t>
            </a:r>
          </a:p>
        </p:txBody>
      </p:sp>
      <p:cxnSp>
        <p:nvCxnSpPr>
          <p:cNvPr id="24" name="Connector 23"/>
          <p:cNvCxnSpPr/>
          <p:nvPr/>
        </p:nvCxnSpPr>
        <p:spPr>
          <a:xfrm>
            <a:off x="7111577" y="2916848"/>
            <a:ext cx="0" cy="360491"/>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7005691" y="2982392"/>
            <a:ext cx="211773" cy="16385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ectangle 25"/>
          <p:cNvSpPr/>
          <p:nvPr/>
        </p:nvSpPr>
        <p:spPr>
          <a:xfrm>
            <a:off x="7005691" y="4940166"/>
            <a:ext cx="211773" cy="13475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7" name="Connector 26"/>
          <p:cNvCxnSpPr/>
          <p:nvPr/>
        </p:nvCxnSpPr>
        <p:spPr>
          <a:xfrm>
            <a:off x="7464533" y="2752989"/>
            <a:ext cx="0" cy="36049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58646" y="2818533"/>
            <a:ext cx="211773" cy="16385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Rectangle 28"/>
          <p:cNvSpPr/>
          <p:nvPr/>
        </p:nvSpPr>
        <p:spPr>
          <a:xfrm>
            <a:off x="7358646" y="4926691"/>
            <a:ext cx="211773" cy="148229"/>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7817488" y="2589130"/>
            <a:ext cx="0" cy="39326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711601" y="2720217"/>
            <a:ext cx="211773" cy="9831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Rectangle 31"/>
          <p:cNvSpPr/>
          <p:nvPr/>
        </p:nvSpPr>
        <p:spPr>
          <a:xfrm>
            <a:off x="7711601" y="4913216"/>
            <a:ext cx="211773" cy="16170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3" name="Connector 32"/>
          <p:cNvCxnSpPr/>
          <p:nvPr/>
        </p:nvCxnSpPr>
        <p:spPr>
          <a:xfrm>
            <a:off x="8170443" y="2523586"/>
            <a:ext cx="0" cy="393262"/>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8064557" y="2720217"/>
            <a:ext cx="211773" cy="16385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ectangle 34"/>
          <p:cNvSpPr/>
          <p:nvPr/>
        </p:nvSpPr>
        <p:spPr>
          <a:xfrm>
            <a:off x="8064557" y="4918606"/>
            <a:ext cx="211773" cy="156314"/>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8523398" y="2752989"/>
            <a:ext cx="0" cy="393262"/>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8417512" y="2884077"/>
            <a:ext cx="211773" cy="16385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8" name="Rectangle 37"/>
          <p:cNvSpPr/>
          <p:nvPr/>
        </p:nvSpPr>
        <p:spPr>
          <a:xfrm>
            <a:off x="8417512" y="4934776"/>
            <a:ext cx="211773" cy="140144"/>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9" name="Connector 38"/>
          <p:cNvCxnSpPr/>
          <p:nvPr/>
        </p:nvCxnSpPr>
        <p:spPr>
          <a:xfrm>
            <a:off x="8876353" y="2916848"/>
            <a:ext cx="0" cy="393262"/>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8770467" y="3047936"/>
            <a:ext cx="211773" cy="13108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1" name="Rectangle 40"/>
          <p:cNvSpPr/>
          <p:nvPr/>
        </p:nvSpPr>
        <p:spPr>
          <a:xfrm>
            <a:off x="8770467" y="4945556"/>
            <a:ext cx="211773" cy="129364"/>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2" name="Connector 41"/>
          <p:cNvCxnSpPr/>
          <p:nvPr/>
        </p:nvCxnSpPr>
        <p:spPr>
          <a:xfrm>
            <a:off x="9229309" y="2949620"/>
            <a:ext cx="0" cy="39326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9123422" y="3015164"/>
            <a:ext cx="211773" cy="16385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4" name="Rectangle 43"/>
          <p:cNvSpPr/>
          <p:nvPr/>
        </p:nvSpPr>
        <p:spPr>
          <a:xfrm>
            <a:off x="9123422" y="4929386"/>
            <a:ext cx="211773" cy="14553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5" name="Connector 44"/>
          <p:cNvCxnSpPr/>
          <p:nvPr/>
        </p:nvCxnSpPr>
        <p:spPr>
          <a:xfrm>
            <a:off x="9582264" y="2785761"/>
            <a:ext cx="0" cy="39326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9476377" y="2851305"/>
            <a:ext cx="211773" cy="16385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7" name="Rectangle 46"/>
          <p:cNvSpPr/>
          <p:nvPr/>
        </p:nvSpPr>
        <p:spPr>
          <a:xfrm>
            <a:off x="9476377" y="4921301"/>
            <a:ext cx="211773" cy="153619"/>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8" name="Connector 47"/>
          <p:cNvCxnSpPr/>
          <p:nvPr/>
        </p:nvCxnSpPr>
        <p:spPr>
          <a:xfrm>
            <a:off x="9935219" y="2720217"/>
            <a:ext cx="0" cy="32771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9829333" y="2752989"/>
            <a:ext cx="211773" cy="9831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0" name="Rectangle 49"/>
          <p:cNvSpPr/>
          <p:nvPr/>
        </p:nvSpPr>
        <p:spPr>
          <a:xfrm>
            <a:off x="9829333" y="4932081"/>
            <a:ext cx="211773" cy="142839"/>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1" name="Connector 50"/>
          <p:cNvCxnSpPr/>
          <p:nvPr/>
        </p:nvCxnSpPr>
        <p:spPr>
          <a:xfrm>
            <a:off x="10288174" y="2687446"/>
            <a:ext cx="0" cy="327718"/>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10182288" y="2818533"/>
            <a:ext cx="211773" cy="6554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3" name="Rectangle 52"/>
          <p:cNvSpPr/>
          <p:nvPr/>
        </p:nvSpPr>
        <p:spPr>
          <a:xfrm>
            <a:off x="10182288" y="4913216"/>
            <a:ext cx="211773" cy="16170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4" name="Connector 53"/>
          <p:cNvCxnSpPr/>
          <p:nvPr/>
        </p:nvCxnSpPr>
        <p:spPr>
          <a:xfrm>
            <a:off x="10641130" y="3900004"/>
            <a:ext cx="0" cy="393262"/>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10535243" y="4063863"/>
            <a:ext cx="211773" cy="9831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6" name="Rectangle 55"/>
          <p:cNvSpPr/>
          <p:nvPr/>
        </p:nvSpPr>
        <p:spPr>
          <a:xfrm>
            <a:off x="10535243" y="4562856"/>
            <a:ext cx="211773" cy="512064"/>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7" name="TextBox 56"/>
          <p:cNvSpPr txBox="1"/>
          <p:nvPr/>
        </p:nvSpPr>
        <p:spPr>
          <a:xfrm>
            <a:off x="6397600" y="4718304"/>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Volume</a:t>
            </a:r>
          </a:p>
        </p:txBody>
      </p:sp>
      <p:sp>
        <p:nvSpPr>
          <p:cNvPr id="58" name="Isosceles Triangle 57"/>
          <p:cNvSpPr/>
          <p:nvPr/>
        </p:nvSpPr>
        <p:spPr>
          <a:xfrm rot="10800000">
            <a:off x="8115579" y="2386426"/>
            <a:ext cx="109728" cy="91440"/>
          </a:xfrm>
          <a:prstGeom prst="triangl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9" name="TextBox 58"/>
          <p:cNvSpPr txBox="1"/>
          <p:nvPr/>
        </p:nvSpPr>
        <p:spPr>
          <a:xfrm>
            <a:off x="7570790" y="2176114"/>
            <a:ext cx="1199307" cy="192024"/>
          </a:xfrm>
          <a:prstGeom prst="rect">
            <a:avLst/>
          </a:prstGeom>
          <a:noFill/>
        </p:spPr>
        <p:txBody>
          <a:bodyPr wrap="square" lIns="0" rIns="0" tIns="0" bIns="0" anchor="ctr">
            <a:noAutofit/>
          </a:bodyPr>
          <a:lstStyle/>
          <a:p>
            <a:pPr algn="ctr">
              <a:lnSpc>
                <a:spcPct val="100000"/>
              </a:lnSpc>
            </a:pPr>
            <a:r>
              <a:rPr sz="1000" b="1" i="0">
                <a:solidFill>
                  <a:srgbClr val="92400E"/>
                </a:solidFill>
                <a:latin typeface="Segoe UI"/>
              </a:rPr>
              <a:t>Date announce hui</a:t>
            </a:r>
          </a:p>
        </p:txBody>
      </p:sp>
      <p:sp>
        <p:nvSpPr>
          <p:cNvPr id="60" name="Isosceles Triangle 59"/>
          <p:cNvSpPr/>
          <p:nvPr/>
        </p:nvSpPr>
        <p:spPr>
          <a:xfrm rot="10800000">
            <a:off x="10233310" y="2550286"/>
            <a:ext cx="109728" cy="91440"/>
          </a:xfrm>
          <a:prstGeom prst="triangle">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1" name="TextBox 60"/>
          <p:cNvSpPr txBox="1"/>
          <p:nvPr/>
        </p:nvSpPr>
        <p:spPr>
          <a:xfrm>
            <a:off x="10107641" y="2339974"/>
            <a:ext cx="361068" cy="192024"/>
          </a:xfrm>
          <a:prstGeom prst="rect">
            <a:avLst/>
          </a:prstGeom>
          <a:noFill/>
        </p:spPr>
        <p:txBody>
          <a:bodyPr wrap="square" lIns="0" rIns="0" tIns="0" bIns="0" anchor="ctr">
            <a:noAutofit/>
          </a:bodyPr>
          <a:lstStyle/>
          <a:p>
            <a:pPr algn="ctr">
              <a:lnSpc>
                <a:spcPct val="100000"/>
              </a:lnSpc>
            </a:pPr>
            <a:r>
              <a:rPr sz="1000" b="1" i="0">
                <a:solidFill>
                  <a:srgbClr val="095A90"/>
                </a:solidFill>
                <a:latin typeface="Segoe UI"/>
              </a:rPr>
              <a:t>Entry</a:t>
            </a:r>
          </a:p>
        </p:txBody>
      </p:sp>
      <p:sp>
        <p:nvSpPr>
          <p:cNvPr id="62" name="Isosceles Triangle 61"/>
          <p:cNvSpPr/>
          <p:nvPr/>
        </p:nvSpPr>
        <p:spPr>
          <a:xfrm rot="10800000">
            <a:off x="10586266" y="3762844"/>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3" name="TextBox 62"/>
          <p:cNvSpPr txBox="1"/>
          <p:nvPr/>
        </p:nvSpPr>
        <p:spPr>
          <a:xfrm>
            <a:off x="10266872" y="3360508"/>
            <a:ext cx="748514"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Results gap</a:t>
            </a:r>
          </a:p>
        </p:txBody>
      </p:sp>
      <p:sp>
        <p:nvSpPr>
          <p:cNvPr id="64" name="Rounded Rectangle 63"/>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5" name="Rounded Rectangle 64"/>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66" name="TextBox 65"/>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Results wale din ke gap mein phans jaana aksar badkismati nahi hota. Zyadatar woh ek date hoti hai jo kisi ne check hi nahi ki.</a:t>
            </a:r>
          </a:p>
        </p:txBody>
      </p:sp>
      <p:pic>
        <p:nvPicPr>
          <p:cNvPr id="67" name="Picture 66" descr="logo.png"/>
          <p:cNvPicPr>
            <a:picLocks noChangeAspect="1"/>
          </p:cNvPicPr>
          <p:nvPr/>
        </p:nvPicPr>
        <p:blipFill>
          <a:blip r:embed="rId2"/>
          <a:stretch>
            <a:fillRect/>
          </a:stretch>
        </p:blipFill>
        <p:spPr>
          <a:xfrm>
            <a:off x="457200" y="6437376"/>
            <a:ext cx="237744" cy="237744"/>
          </a:xfrm>
          <a:prstGeom prst="rect">
            <a:avLst/>
          </a:prstGeom>
        </p:spPr>
      </p:pic>
      <p:sp>
        <p:nvSpPr>
          <p:cNvPr id="6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69" name="TextBox 6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Events kahan se aate hain: aapka stock, India, duniya</a:t>
            </a:r>
          </a:p>
        </p:txBody>
      </p:sp>
      <p:sp>
        <p:nvSpPr>
          <p:cNvPr id="4" name="TextBox 3"/>
          <p:cNvSpPr txBox="1"/>
          <p:nvPr/>
        </p:nvSpPr>
        <p:spPr>
          <a:xfrm>
            <a:off x="457200" y="1335024"/>
            <a:ext cx="5519776" cy="4279392"/>
          </a:xfrm>
          <a:prstGeom prst="rect">
            <a:avLst/>
          </a:prstGeom>
          <a:noFill/>
        </p:spPr>
        <p:txBody>
          <a:bodyPr wrap="square" lIns="0" rIns="0" tIns="0" bIns="0" anchor="t">
            <a:noAutofit/>
          </a:bodyPr>
          <a:lstStyle/>
          <a:p>
            <a:pPr algn="l" marL="274320" indent="-274320">
              <a:lnSpc>
                <a:spcPct val="100000"/>
              </a:lnSpc>
              <a:spcAft>
                <a:spcPts val="850"/>
              </a:spcAft>
              <a:buClr>
                <a:srgbClr val="F5A623"/>
              </a:buClr>
              <a:buFont typeface="Arial"/>
              <a:buChar char="•"/>
            </a:pPr>
            <a:r>
              <a:rPr sz="1700" b="0" i="0">
                <a:solidFill>
                  <a:srgbClr val="18232F"/>
                </a:solidFill>
                <a:latin typeface="Segoe UI"/>
              </a:rPr>
              <a:t>Events teen jagah se aate hain.</a:t>
            </a:r>
          </a:p>
          <a:p>
            <a:pPr algn="l" marL="274320" indent="-274320">
              <a:lnSpc>
                <a:spcPct val="100000"/>
              </a:lnSpc>
              <a:spcAft>
                <a:spcPts val="850"/>
              </a:spcAft>
              <a:buClr>
                <a:srgbClr val="F5A623"/>
              </a:buClr>
              <a:buFont typeface="Arial"/>
              <a:buChar char="•"/>
            </a:pPr>
            <a:r>
              <a:rPr sz="1700" b="0" i="0">
                <a:solidFill>
                  <a:srgbClr val="18232F"/>
                </a:solidFill>
                <a:latin typeface="Segoe UI"/>
              </a:rPr>
              <a:t>Stock events sirf ek company ko hilaate hain.</a:t>
            </a:r>
          </a:p>
          <a:p>
            <a:pPr algn="l" marL="274320" indent="-274320">
              <a:lnSpc>
                <a:spcPct val="100000"/>
              </a:lnSpc>
              <a:spcAft>
                <a:spcPts val="850"/>
              </a:spcAft>
              <a:buClr>
                <a:srgbClr val="F5A623"/>
              </a:buClr>
              <a:buFont typeface="Arial"/>
              <a:buChar char="•"/>
            </a:pPr>
            <a:r>
              <a:rPr sz="1700" b="0" i="0">
                <a:solidFill>
                  <a:srgbClr val="18232F"/>
                </a:solidFill>
                <a:latin typeface="Segoe UI"/>
              </a:rPr>
              <a:t>Indian market ke events lagbhag sab par asar daalte hain.</a:t>
            </a:r>
          </a:p>
          <a:p>
            <a:pPr algn="l" marL="274320" indent="-274320">
              <a:lnSpc>
                <a:spcPct val="100000"/>
              </a:lnSpc>
              <a:spcAft>
                <a:spcPts val="850"/>
              </a:spcAft>
              <a:buClr>
                <a:srgbClr val="F5A623"/>
              </a:buClr>
              <a:buFont typeface="Arial"/>
              <a:buChar char="•"/>
            </a:pPr>
            <a:r>
              <a:rPr sz="1700" b="0" i="0">
                <a:solidFill>
                  <a:srgbClr val="18232F"/>
                </a:solidFill>
                <a:latin typeface="Segoe UI"/>
              </a:rPr>
              <a:t>Index events beech mein aate hain.</a:t>
            </a:r>
          </a:p>
          <a:p>
            <a:pPr algn="l" marL="274320" indent="-274320">
              <a:lnSpc>
                <a:spcPct val="100000"/>
              </a:lnSpc>
              <a:buClr>
                <a:srgbClr val="F5A623"/>
              </a:buClr>
              <a:buFont typeface="Arial"/>
              <a:buChar char="•"/>
            </a:pPr>
            <a:r>
              <a:rPr sz="1700" b="0" i="0">
                <a:solidFill>
                  <a:srgbClr val="18232F"/>
                </a:solidFill>
                <a:latin typeface="Segoe UI"/>
              </a:rPr>
              <a:t>NSE Indices saal mein do baar NIFTY 50 ka review karta hai, aur koi bhi badlaav lagu hone se hafton pehle announce karta hai.</a:t>
            </a:r>
          </a:p>
        </p:txBody>
      </p:sp>
      <p:sp>
        <p:nvSpPr>
          <p:cNvPr id="5" name="Rounded Rectangle 4"/>
          <p:cNvSpPr/>
          <p:nvPr/>
        </p:nvSpPr>
        <p:spPr>
          <a:xfrm>
            <a:off x="6214720" y="1335024"/>
            <a:ext cx="5519776" cy="4279392"/>
          </a:xfrm>
          <a:prstGeom prst="roundRect">
            <a:avLst>
              <a:gd name="adj" fmla="val 2564"/>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3822192"/>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Priya apni paper watchlist ke liye agle 30 din likh leti hai (saari dates banaavati hain). 6 ko: RBI ka policy decision. Friday 7 ki shaam: America ka inflation data, jiska asar Monday 10 ke open par dikhega. 12 ko: Kiran Foods Ltd ke results. 18 ko: Sharma Textiles Ltd ki ex-dividend date, Rs 5 ka dividend; baaki sab waisa hi rahe toh us subah price lagbhag Rs 5 neeche aata hai, yeh adjustment hai, signal nahi. 19 ki raat: US Fed ka decision, jiska asar 20 ke open par dikhega. Friday 21 ko: exchange holiday, yaani market teen din band, aur uske kisi bhi swing trade ke liye ek lambi 'raat'. 25 ko: NIFTY ki monthly F&amp;O expiry; woh F&amp;O karti hi nahi, isliye yeh sirf note hai, block nahi. 27 ko: Desai Power Ltd ke NIFTY 50 mein aane se pehle ka aakhri din, jiska badlaav NSE Indices ne hafton pehle announce kiya tha; us din close ke aas-paas bhaari volume index funds ki khareed hai, breakout nahi. Aath dates, teen jagah, ek sheet.</a:t>
            </a:r>
          </a:p>
        </p:txBody>
      </p:sp>
      <p:sp>
        <p:nvSpPr>
          <p:cNvPr id="8" name="Rounded Rectangle 7"/>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10" name="TextBox 9"/>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Har date ke liye pehle poochhiye: yeh mere stock se aa rahi hai, India se, ya duniya se?</a:t>
            </a:r>
          </a:p>
        </p:txBody>
      </p:sp>
      <p:pic>
        <p:nvPicPr>
          <p:cNvPr id="11" name="Picture 10" descr="logo.png"/>
          <p:cNvPicPr>
            <a:picLocks noChangeAspect="1"/>
          </p:cNvPicPr>
          <p:nvPr/>
        </p:nvPicPr>
        <p:blipFill>
          <a:blip r:embed="rId2"/>
          <a:stretch>
            <a:fillRect/>
          </a:stretch>
        </p:blipFill>
        <p:spPr>
          <a:xfrm>
            <a:off x="457200" y="6437376"/>
            <a:ext cx="237744" cy="237744"/>
          </a:xfrm>
          <a:prstGeom prst="rect">
            <a:avLst/>
          </a:prstGeom>
        </p:spPr>
      </p:pic>
      <p:sp>
        <p:nvSpPr>
          <p:cNvPr id="12"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3" name="TextBox 12"/>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TOPIC 2/6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Events kahan se aate hain: aapka stock, India, duniya</a:t>
            </a:r>
          </a:p>
        </p:txBody>
      </p:sp>
      <p:sp>
        <p:nvSpPr>
          <p:cNvPr id="4" name="Rounded Rectangle 3"/>
          <p:cNvSpPr/>
          <p:nvPr/>
        </p:nvSpPr>
        <p:spPr>
          <a:xfrm>
            <a:off x="457200" y="1335024"/>
            <a:ext cx="11277295" cy="4937760"/>
          </a:xfrm>
          <a:prstGeom prst="roundRect">
            <a:avLst>
              <a:gd name="adj" fmla="val 222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40080" y="1481328"/>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Events ki teen jagah</a:t>
            </a:r>
          </a:p>
        </p:txBody>
      </p:sp>
      <p:sp>
        <p:nvSpPr>
          <p:cNvPr id="6" name="TextBox 5"/>
          <p:cNvSpPr txBox="1"/>
          <p:nvPr/>
        </p:nvSpPr>
        <p:spPr>
          <a:xfrm>
            <a:off x="640080" y="5984748"/>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Date aur time likhiye; kya announce hoga, iska guess kabhi nahi.</a:t>
            </a:r>
          </a:p>
        </p:txBody>
      </p:sp>
      <p:sp>
        <p:nvSpPr>
          <p:cNvPr id="7" name="Rounded Rectangle 6"/>
          <p:cNvSpPr/>
          <p:nvPr/>
        </p:nvSpPr>
        <p:spPr>
          <a:xfrm>
            <a:off x="640080" y="2371344"/>
            <a:ext cx="3527450" cy="2947416"/>
          </a:xfrm>
          <a:prstGeom prst="roundRect">
            <a:avLst>
              <a:gd name="adj" fmla="val 310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Rounded Rectangle 7"/>
          <p:cNvSpPr/>
          <p:nvPr/>
        </p:nvSpPr>
        <p:spPr>
          <a:xfrm>
            <a:off x="640080" y="2371344"/>
            <a:ext cx="3527450" cy="463296"/>
          </a:xfrm>
          <a:prstGeom prst="roundRect">
            <a:avLst>
              <a:gd name="adj" fmla="val 1973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ectangle 8"/>
          <p:cNvSpPr/>
          <p:nvPr/>
        </p:nvSpPr>
        <p:spPr>
          <a:xfrm>
            <a:off x="640080" y="2602992"/>
            <a:ext cx="3527450" cy="231648"/>
          </a:xfrm>
          <a:prstGeom prst="rect">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Rounded Rectangle 9"/>
          <p:cNvSpPr/>
          <p:nvPr/>
        </p:nvSpPr>
        <p:spPr>
          <a:xfrm>
            <a:off x="640080" y="2371344"/>
            <a:ext cx="3527450" cy="2947416"/>
          </a:xfrm>
          <a:prstGeom prst="roundRect">
            <a:avLst>
              <a:gd name="adj" fmla="val 3102"/>
            </a:avLst>
          </a:prstGeom>
          <a:noFill/>
          <a:ln w="15875">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786384" y="2371344"/>
            <a:ext cx="3234842" cy="463296"/>
          </a:xfrm>
          <a:prstGeom prst="rect">
            <a:avLst/>
          </a:prstGeom>
          <a:noFill/>
        </p:spPr>
        <p:txBody>
          <a:bodyPr wrap="square" lIns="0" rIns="0" tIns="0" bIns="0" anchor="ctr">
            <a:noAutofit/>
          </a:bodyPr>
          <a:lstStyle/>
          <a:p>
            <a:pPr algn="l">
              <a:lnSpc>
                <a:spcPct val="100000"/>
              </a:lnSpc>
            </a:pPr>
            <a:r>
              <a:rPr sz="1600" b="1" i="0">
                <a:solidFill>
                  <a:srgbClr val="095A90"/>
                </a:solidFill>
                <a:latin typeface="Segoe UI"/>
              </a:rPr>
              <a:t>Aapka stock</a:t>
            </a:r>
          </a:p>
        </p:txBody>
      </p:sp>
      <p:cxnSp>
        <p:nvCxnSpPr>
          <p:cNvPr id="12" name="Connector 11"/>
          <p:cNvCxnSpPr/>
          <p:nvPr/>
        </p:nvCxnSpPr>
        <p:spPr>
          <a:xfrm>
            <a:off x="640080" y="2834640"/>
            <a:ext cx="3527450" cy="0"/>
          </a:xfrm>
          <a:prstGeom prst="line">
            <a:avLst/>
          </a:prstGeom>
          <a:ln w="15875">
            <a:solidFill>
              <a:srgbClr val="0093D6"/>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86384" y="2980944"/>
            <a:ext cx="3234842" cy="2301240"/>
          </a:xfrm>
          <a:prstGeom prst="rect">
            <a:avLst/>
          </a:prstGeom>
          <a:noFill/>
        </p:spPr>
        <p:txBody>
          <a:bodyPr wrap="square" lIns="0" rIns="0" tIns="0" bIns="0" anchor="t">
            <a:noAutofit/>
          </a:bodyPr>
          <a:lstStyle/>
          <a:p>
            <a:pPr algn="l" marL="201168" indent="-201168">
              <a:lnSpc>
                <a:spcPct val="100000"/>
              </a:lnSpc>
              <a:spcAft>
                <a:spcPts val="750"/>
              </a:spcAft>
              <a:buClr>
                <a:srgbClr val="0093D6"/>
              </a:buClr>
              <a:buFont typeface="Arial"/>
              <a:buChar char="•"/>
            </a:pPr>
            <a:r>
              <a:rPr sz="1500" b="0" i="0">
                <a:solidFill>
                  <a:srgbClr val="18232F"/>
                </a:solidFill>
                <a:latin typeface="Segoe UI"/>
              </a:rPr>
              <a:t>Results aur board meeting</a:t>
            </a:r>
          </a:p>
          <a:p>
            <a:pPr algn="l" marL="201168" indent="-201168">
              <a:lnSpc>
                <a:spcPct val="100000"/>
              </a:lnSpc>
              <a:spcAft>
                <a:spcPts val="750"/>
              </a:spcAft>
              <a:buClr>
                <a:srgbClr val="0093D6"/>
              </a:buClr>
              <a:buFont typeface="Arial"/>
              <a:buChar char="•"/>
            </a:pPr>
            <a:r>
              <a:rPr sz="1500" b="0" i="0">
                <a:solidFill>
                  <a:srgbClr val="18232F"/>
                </a:solidFill>
                <a:latin typeface="Segoe UI"/>
              </a:rPr>
              <a:t>Ex-date: dividend, bonus, split</a:t>
            </a:r>
          </a:p>
          <a:p>
            <a:pPr algn="l" marL="201168" indent="-201168">
              <a:lnSpc>
                <a:spcPct val="100000"/>
              </a:lnSpc>
              <a:buClr>
                <a:srgbClr val="0093D6"/>
              </a:buClr>
              <a:buFont typeface="Arial"/>
              <a:buChar char="•"/>
            </a:pPr>
            <a:r>
              <a:rPr sz="1500" b="0" i="0">
                <a:solidFill>
                  <a:srgbClr val="18232F"/>
                </a:solidFill>
                <a:latin typeface="Segoe UI"/>
              </a:rPr>
              <a:t>NSE/BSE announcements mein milta hai</a:t>
            </a:r>
          </a:p>
        </p:txBody>
      </p:sp>
      <p:sp>
        <p:nvSpPr>
          <p:cNvPr id="14" name="Rounded Rectangle 13"/>
          <p:cNvSpPr/>
          <p:nvPr/>
        </p:nvSpPr>
        <p:spPr>
          <a:xfrm>
            <a:off x="4332122" y="2371344"/>
            <a:ext cx="3527450" cy="2947416"/>
          </a:xfrm>
          <a:prstGeom prst="roundRect">
            <a:avLst>
              <a:gd name="adj" fmla="val 310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Rounded Rectangle 14"/>
          <p:cNvSpPr/>
          <p:nvPr/>
        </p:nvSpPr>
        <p:spPr>
          <a:xfrm>
            <a:off x="4332122" y="2371344"/>
            <a:ext cx="3527450" cy="463296"/>
          </a:xfrm>
          <a:prstGeom prst="roundRect">
            <a:avLst>
              <a:gd name="adj" fmla="val 19736"/>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Rectangle 15"/>
          <p:cNvSpPr/>
          <p:nvPr/>
        </p:nvSpPr>
        <p:spPr>
          <a:xfrm>
            <a:off x="4332122" y="2602992"/>
            <a:ext cx="3527450" cy="231648"/>
          </a:xfrm>
          <a:prstGeom prst="rect">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4332122" y="2371344"/>
            <a:ext cx="3527450" cy="2947416"/>
          </a:xfrm>
          <a:prstGeom prst="roundRect">
            <a:avLst>
              <a:gd name="adj" fmla="val 3102"/>
            </a:avLst>
          </a:prstGeom>
          <a:noFill/>
          <a:ln w="15875">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4478426" y="2371344"/>
            <a:ext cx="3234842" cy="463296"/>
          </a:xfrm>
          <a:prstGeom prst="rect">
            <a:avLst/>
          </a:prstGeom>
          <a:noFill/>
        </p:spPr>
        <p:txBody>
          <a:bodyPr wrap="square" lIns="0" rIns="0" tIns="0" bIns="0" anchor="ctr">
            <a:noAutofit/>
          </a:bodyPr>
          <a:lstStyle/>
          <a:p>
            <a:pPr algn="l">
              <a:lnSpc>
                <a:spcPct val="100000"/>
              </a:lnSpc>
            </a:pPr>
            <a:r>
              <a:rPr sz="1600" b="1" i="0">
                <a:solidFill>
                  <a:srgbClr val="92400E"/>
                </a:solidFill>
                <a:latin typeface="Segoe UI"/>
              </a:rPr>
              <a:t>Indian market</a:t>
            </a:r>
          </a:p>
        </p:txBody>
      </p:sp>
      <p:cxnSp>
        <p:nvCxnSpPr>
          <p:cNvPr id="19" name="Connector 18"/>
          <p:cNvCxnSpPr/>
          <p:nvPr/>
        </p:nvCxnSpPr>
        <p:spPr>
          <a:xfrm>
            <a:off x="4332122" y="2834640"/>
            <a:ext cx="3527451" cy="0"/>
          </a:xfrm>
          <a:prstGeom prst="line">
            <a:avLst/>
          </a:prstGeom>
          <a:ln w="15875">
            <a:solidFill>
              <a:srgbClr val="F5A524"/>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478426" y="2980944"/>
            <a:ext cx="3234842" cy="2301240"/>
          </a:xfrm>
          <a:prstGeom prst="rect">
            <a:avLst/>
          </a:prstGeom>
          <a:noFill/>
        </p:spPr>
        <p:txBody>
          <a:bodyPr wrap="square" lIns="0" rIns="0" tIns="0" bIns="0" anchor="t">
            <a:noAutofit/>
          </a:bodyPr>
          <a:lstStyle/>
          <a:p>
            <a:pPr algn="l" marL="201168" indent="-201168">
              <a:lnSpc>
                <a:spcPct val="100000"/>
              </a:lnSpc>
              <a:spcAft>
                <a:spcPts val="750"/>
              </a:spcAft>
              <a:buClr>
                <a:srgbClr val="F5A524"/>
              </a:buClr>
              <a:buFont typeface="Arial"/>
              <a:buChar char="•"/>
            </a:pPr>
            <a:r>
              <a:rPr sz="1500" b="0" i="0">
                <a:solidFill>
                  <a:srgbClr val="18232F"/>
                </a:solidFill>
                <a:latin typeface="Segoe UI"/>
              </a:rPr>
              <a:t>RBI ke policy decisions</a:t>
            </a:r>
          </a:p>
          <a:p>
            <a:pPr algn="l" marL="201168" indent="-201168">
              <a:lnSpc>
                <a:spcPct val="100000"/>
              </a:lnSpc>
              <a:spcAft>
                <a:spcPts val="750"/>
              </a:spcAft>
              <a:buClr>
                <a:srgbClr val="F5A524"/>
              </a:buClr>
              <a:buFont typeface="Arial"/>
              <a:buChar char="•"/>
            </a:pPr>
            <a:r>
              <a:rPr sz="1500" b="0" i="0">
                <a:solidFill>
                  <a:srgbClr val="18232F"/>
                </a:solidFill>
                <a:latin typeface="Segoe UI"/>
              </a:rPr>
              <a:t>Union Budget</a:t>
            </a:r>
          </a:p>
          <a:p>
            <a:pPr algn="l" marL="201168" indent="-201168">
              <a:lnSpc>
                <a:spcPct val="100000"/>
              </a:lnSpc>
              <a:spcAft>
                <a:spcPts val="750"/>
              </a:spcAft>
              <a:buClr>
                <a:srgbClr val="F5A524"/>
              </a:buClr>
              <a:buFont typeface="Arial"/>
              <a:buChar char="•"/>
            </a:pPr>
            <a:r>
              <a:rPr sz="1500" b="0" i="0">
                <a:solidFill>
                  <a:srgbClr val="18232F"/>
                </a:solidFill>
                <a:latin typeface="Segoe UI"/>
              </a:rPr>
              <a:t>Holidays, special sessions</a:t>
            </a:r>
          </a:p>
          <a:p>
            <a:pPr algn="l" marL="201168" indent="-201168">
              <a:lnSpc>
                <a:spcPct val="100000"/>
              </a:lnSpc>
              <a:spcAft>
                <a:spcPts val="750"/>
              </a:spcAft>
              <a:buClr>
                <a:srgbClr val="F5A524"/>
              </a:buClr>
              <a:buFont typeface="Arial"/>
              <a:buChar char="•"/>
            </a:pPr>
            <a:r>
              <a:rPr sz="1500" b="0" i="0">
                <a:solidFill>
                  <a:srgbClr val="18232F"/>
                </a:solidFill>
                <a:latin typeface="Segoe UI"/>
              </a:rPr>
              <a:t>F&amp;O expiry ke din</a:t>
            </a:r>
          </a:p>
          <a:p>
            <a:pPr algn="l" marL="201168" indent="-201168">
              <a:lnSpc>
                <a:spcPct val="100000"/>
              </a:lnSpc>
              <a:buClr>
                <a:srgbClr val="F5A524"/>
              </a:buClr>
              <a:buFont typeface="Arial"/>
              <a:buChar char="•"/>
            </a:pPr>
            <a:r>
              <a:rPr sz="1500" b="0" i="0">
                <a:solidFill>
                  <a:srgbClr val="18232F"/>
                </a:solidFill>
                <a:latin typeface="Segoe UI"/>
              </a:rPr>
              <a:t>NIFTY badlaav: funds close par trade</a:t>
            </a:r>
          </a:p>
        </p:txBody>
      </p:sp>
      <p:sp>
        <p:nvSpPr>
          <p:cNvPr id="21" name="Rounded Rectangle 20"/>
          <p:cNvSpPr/>
          <p:nvPr/>
        </p:nvSpPr>
        <p:spPr>
          <a:xfrm>
            <a:off x="8024165" y="2371344"/>
            <a:ext cx="3527450" cy="2947416"/>
          </a:xfrm>
          <a:prstGeom prst="roundRect">
            <a:avLst>
              <a:gd name="adj" fmla="val 310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Rounded Rectangle 21"/>
          <p:cNvSpPr/>
          <p:nvPr/>
        </p:nvSpPr>
        <p:spPr>
          <a:xfrm>
            <a:off x="8024165" y="2371344"/>
            <a:ext cx="3527450" cy="463296"/>
          </a:xfrm>
          <a:prstGeom prst="roundRect">
            <a:avLst>
              <a:gd name="adj" fmla="val 19736"/>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ectangle 22"/>
          <p:cNvSpPr/>
          <p:nvPr/>
        </p:nvSpPr>
        <p:spPr>
          <a:xfrm>
            <a:off x="8024165" y="2602992"/>
            <a:ext cx="3527450" cy="231648"/>
          </a:xfrm>
          <a:prstGeom prst="rect">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Rounded Rectangle 23"/>
          <p:cNvSpPr/>
          <p:nvPr/>
        </p:nvSpPr>
        <p:spPr>
          <a:xfrm>
            <a:off x="8024165" y="2371344"/>
            <a:ext cx="3527450" cy="2947416"/>
          </a:xfrm>
          <a:prstGeom prst="roundRect">
            <a:avLst>
              <a:gd name="adj" fmla="val 3102"/>
            </a:avLst>
          </a:prstGeom>
          <a:no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TextBox 24"/>
          <p:cNvSpPr txBox="1"/>
          <p:nvPr/>
        </p:nvSpPr>
        <p:spPr>
          <a:xfrm>
            <a:off x="8170469" y="2371344"/>
            <a:ext cx="3234842" cy="463296"/>
          </a:xfrm>
          <a:prstGeom prst="rect">
            <a:avLst/>
          </a:prstGeom>
          <a:noFill/>
        </p:spPr>
        <p:txBody>
          <a:bodyPr wrap="square" lIns="0" rIns="0" tIns="0" bIns="0" anchor="ctr">
            <a:noAutofit/>
          </a:bodyPr>
          <a:lstStyle/>
          <a:p>
            <a:pPr algn="l">
              <a:lnSpc>
                <a:spcPct val="100000"/>
              </a:lnSpc>
            </a:pPr>
            <a:r>
              <a:rPr sz="1600" b="1" i="0">
                <a:solidFill>
                  <a:srgbClr val="47596B"/>
                </a:solidFill>
                <a:latin typeface="Segoe UI"/>
              </a:rPr>
              <a:t>Duniya</a:t>
            </a:r>
          </a:p>
        </p:txBody>
      </p:sp>
      <p:cxnSp>
        <p:nvCxnSpPr>
          <p:cNvPr id="26" name="Connector 25"/>
          <p:cNvCxnSpPr/>
          <p:nvPr/>
        </p:nvCxnSpPr>
        <p:spPr>
          <a:xfrm>
            <a:off x="8024165" y="2834640"/>
            <a:ext cx="3527450" cy="0"/>
          </a:xfrm>
          <a:prstGeom prst="line">
            <a:avLst/>
          </a:prstGeom>
          <a:ln w="1587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170469" y="2980944"/>
            <a:ext cx="3234842" cy="2301240"/>
          </a:xfrm>
          <a:prstGeom prst="rect">
            <a:avLst/>
          </a:prstGeom>
          <a:noFill/>
        </p:spPr>
        <p:txBody>
          <a:bodyPr wrap="square" lIns="0" rIns="0" tIns="0" bIns="0" anchor="t">
            <a:noAutofit/>
          </a:bodyPr>
          <a:lstStyle/>
          <a:p>
            <a:pPr algn="l" marL="201168" indent="-201168">
              <a:lnSpc>
                <a:spcPct val="100000"/>
              </a:lnSpc>
              <a:spcAft>
                <a:spcPts val="750"/>
              </a:spcAft>
              <a:buClr>
                <a:srgbClr val="57687A"/>
              </a:buClr>
              <a:buFont typeface="Arial"/>
              <a:buChar char="•"/>
            </a:pPr>
            <a:r>
              <a:rPr sz="1500" b="0" i="0">
                <a:solidFill>
                  <a:srgbClr val="18232F"/>
                </a:solidFill>
                <a:latin typeface="Segoe UI"/>
              </a:rPr>
              <a:t>US Fed ke decisions</a:t>
            </a:r>
          </a:p>
          <a:p>
            <a:pPr algn="l" marL="201168" indent="-201168">
              <a:lnSpc>
                <a:spcPct val="100000"/>
              </a:lnSpc>
              <a:spcAft>
                <a:spcPts val="750"/>
              </a:spcAft>
              <a:buClr>
                <a:srgbClr val="57687A"/>
              </a:buClr>
              <a:buFont typeface="Arial"/>
              <a:buChar char="•"/>
            </a:pPr>
            <a:r>
              <a:rPr sz="1500" b="0" i="0">
                <a:solidFill>
                  <a:srgbClr val="18232F"/>
                </a:solidFill>
                <a:latin typeface="Segoe UI"/>
              </a:rPr>
              <a:t>Dusre central banks, jaise ECB</a:t>
            </a:r>
          </a:p>
          <a:p>
            <a:pPr algn="l" marL="201168" indent="-201168">
              <a:lnSpc>
                <a:spcPct val="100000"/>
              </a:lnSpc>
              <a:spcAft>
                <a:spcPts val="750"/>
              </a:spcAft>
              <a:buClr>
                <a:srgbClr val="57687A"/>
              </a:buClr>
              <a:buFont typeface="Arial"/>
              <a:buChar char="•"/>
            </a:pPr>
            <a:r>
              <a:rPr sz="1500" b="0" i="0">
                <a:solidFill>
                  <a:srgbClr val="18232F"/>
                </a:solidFill>
                <a:latin typeface="Segoe UI"/>
              </a:rPr>
              <a:t>America ke inflation aur jobs reports</a:t>
            </a:r>
          </a:p>
          <a:p>
            <a:pPr algn="l" marL="201168" indent="-201168">
              <a:lnSpc>
                <a:spcPct val="100000"/>
              </a:lnSpc>
              <a:spcAft>
                <a:spcPts val="750"/>
              </a:spcAft>
              <a:buClr>
                <a:srgbClr val="57687A"/>
              </a:buClr>
              <a:buFont typeface="Arial"/>
              <a:buChar char="•"/>
            </a:pPr>
            <a:r>
              <a:rPr sz="1500" b="0" i="0">
                <a:solidFill>
                  <a:srgbClr val="18232F"/>
                </a:solidFill>
                <a:latin typeface="Segoe UI"/>
              </a:rPr>
              <a:t>Zyadatar hamare close ke baad</a:t>
            </a:r>
          </a:p>
          <a:p>
            <a:pPr algn="l" marL="201168" indent="-201168">
              <a:lnSpc>
                <a:spcPct val="100000"/>
              </a:lnSpc>
              <a:buClr>
                <a:srgbClr val="57687A"/>
              </a:buClr>
              <a:buFont typeface="Arial"/>
              <a:buChar char="•"/>
            </a:pPr>
            <a:r>
              <a:rPr sz="1500" b="0" i="0">
                <a:solidFill>
                  <a:srgbClr val="18232F"/>
                </a:solidFill>
                <a:latin typeface="Segoe UI"/>
              </a:rPr>
              <a:t>Achanak khabar: koi date nahi, isliye 1% risk</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Timing: market ke ghanton mein ya raat mein</a:t>
            </a:r>
          </a:p>
        </p:txBody>
      </p:sp>
      <p:sp>
        <p:nvSpPr>
          <p:cNvPr id="4" name="TextBox 3"/>
          <p:cNvSpPr txBox="1"/>
          <p:nvPr/>
        </p:nvSpPr>
        <p:spPr>
          <a:xfrm>
            <a:off x="457200" y="1335024"/>
            <a:ext cx="5519776" cy="1931670"/>
          </a:xfrm>
          <a:prstGeom prst="rect">
            <a:avLst/>
          </a:prstGeom>
          <a:noFill/>
        </p:spPr>
        <p:txBody>
          <a:bodyPr wrap="square" lIns="0" rIns="0" tIns="0" bIns="0" anchor="t">
            <a:noAutofit/>
          </a:bodyPr>
          <a:lstStyle/>
          <a:p>
            <a:pPr algn="l" marL="274320" indent="-274320">
              <a:lnSpc>
                <a:spcPct val="100000"/>
              </a:lnSpc>
              <a:spcAft>
                <a:spcPts val="750"/>
              </a:spcAft>
              <a:buClr>
                <a:srgbClr val="F5A623"/>
              </a:buClr>
              <a:buFont typeface="Arial"/>
              <a:buChar char="•"/>
            </a:pPr>
            <a:r>
              <a:rPr sz="1500" b="0" i="0">
                <a:solidFill>
                  <a:srgbClr val="18232F"/>
                </a:solidFill>
                <a:latin typeface="Segoe UI"/>
              </a:rPr>
              <a:t>Event ki date jitni zaroori hai, utna hi zaroori uska time hai.</a:t>
            </a:r>
          </a:p>
          <a:p>
            <a:pPr algn="l" marL="274320" indent="-274320">
              <a:lnSpc>
                <a:spcPct val="100000"/>
              </a:lnSpc>
              <a:spcAft>
                <a:spcPts val="750"/>
              </a:spcAft>
              <a:buClr>
                <a:srgbClr val="F5A623"/>
              </a:buClr>
              <a:buFont typeface="Arial"/>
              <a:buChar char="•"/>
            </a:pPr>
            <a:r>
              <a:rPr sz="1500" b="0" i="0">
                <a:solidFill>
                  <a:srgbClr val="18232F"/>
                </a:solidFill>
                <a:latin typeface="Segoe UI"/>
              </a:rPr>
              <a:t>Kuch events market ke ghanton mein aate hain.</a:t>
            </a:r>
          </a:p>
          <a:p>
            <a:pPr algn="l" marL="274320" indent="-274320">
              <a:lnSpc>
                <a:spcPct val="100000"/>
              </a:lnSpc>
              <a:spcAft>
                <a:spcPts val="750"/>
              </a:spcAft>
              <a:buClr>
                <a:srgbClr val="F5A623"/>
              </a:buClr>
              <a:buFont typeface="Arial"/>
              <a:buChar char="•"/>
            </a:pPr>
            <a:r>
              <a:rPr sz="1500" b="0" i="0">
                <a:solidFill>
                  <a:srgbClr val="18232F"/>
                </a:solidFill>
                <a:latin typeface="Segoe UI"/>
              </a:rPr>
              <a:t>Yeh din ke andar hi price ko upar-neeche jhakjhor dete hain, aur isse ORB jaise intraday trades ko nuksaan hota hai.</a:t>
            </a:r>
          </a:p>
          <a:p>
            <a:pPr algn="l" marL="274320" indent="-274320">
              <a:lnSpc>
                <a:spcPct val="100000"/>
              </a:lnSpc>
              <a:buClr>
                <a:srgbClr val="F5A623"/>
              </a:buClr>
              <a:buFont typeface="Arial"/>
              <a:buChar char="•"/>
            </a:pPr>
            <a:r>
              <a:rPr sz="1500" b="0" i="0">
                <a:solidFill>
                  <a:srgbClr val="18232F"/>
                </a:solidFill>
                <a:latin typeface="Segoe UI"/>
              </a:rPr>
              <a:t>Kuch events raat mein aate hain: kai companies apne results 3:30 ke baad nikaalti hain, aur US Fed ke decisions India ki raat mein aate hain.</a:t>
            </a:r>
          </a:p>
        </p:txBody>
      </p:sp>
      <p:sp>
        <p:nvSpPr>
          <p:cNvPr id="5" name="Rounded Rectangle 4"/>
          <p:cNvSpPr/>
          <p:nvPr/>
        </p:nvSpPr>
        <p:spPr>
          <a:xfrm>
            <a:off x="6214720" y="1335024"/>
            <a:ext cx="5519776" cy="2225040"/>
          </a:xfrm>
          <a:prstGeom prst="roundRect">
            <a:avLst>
              <a:gd name="adj" fmla="val 4931"/>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1767840"/>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Budget wale din Sharma Textiles Ltd jaise liquid stock ki opening range 9:30 tak ban jaati hai, lekin speech lagbhag dedh ghante baad shuru hoti hai. ORB mein 11:00 ke baad nayi entry nahi hoti (Day 13), isliye jo bhi trade aapne liya, woh speech shuru hote waqt bhi khula ho sakta hai, aur uske baad trade ka rukh aapka rule nahi, speech tay karegi. Ab Kiran Foods Ltd mein ek swing position sochiye: uske results shaam 6 baje aate hain, aur US Fed ka decision India ke time se der raat aata hai. Exit ka pehla mauka agli subah ka open hai, us price par jo market tay kare.</a:t>
            </a:r>
          </a:p>
        </p:txBody>
      </p:sp>
      <p:sp>
        <p:nvSpPr>
          <p:cNvPr id="8" name="Rounded Rectangle 7"/>
          <p:cNvSpPr/>
          <p:nvPr/>
        </p:nvSpPr>
        <p:spPr>
          <a:xfrm>
            <a:off x="457200" y="3724656"/>
            <a:ext cx="11277295" cy="1889760"/>
          </a:xfrm>
          <a:prstGeom prst="roundRect">
            <a:avLst>
              <a:gd name="adj" fmla="val 580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8709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Events aam taur par kab aate hain (IST)</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Yeh sirf aam times hain; badal sakte hain. Achanak khabar kabhi bhi aa sakti hai. Hamesha official page par confirm kijiye.</a:t>
            </a:r>
          </a:p>
        </p:txBody>
      </p:sp>
      <p:cxnSp>
        <p:nvCxnSpPr>
          <p:cNvPr id="11" name="Connector 10"/>
          <p:cNvCxnSpPr/>
          <p:nvPr/>
        </p:nvCxnSpPr>
        <p:spPr>
          <a:xfrm>
            <a:off x="1731234" y="4354068"/>
            <a:ext cx="8729228" cy="0"/>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392747" y="4189476"/>
            <a:ext cx="676973"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Night</a:t>
            </a:r>
          </a:p>
        </p:txBody>
      </p:sp>
      <p:sp>
        <p:nvSpPr>
          <p:cNvPr id="13" name="TextBox 12"/>
          <p:cNvSpPr txBox="1"/>
          <p:nvPr/>
        </p:nvSpPr>
        <p:spPr>
          <a:xfrm>
            <a:off x="713232"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US Fed ka decision</a:t>
            </a:r>
          </a:p>
          <a:p>
            <a:pPr algn="ctr">
              <a:lnSpc>
                <a:spcPct val="100000"/>
              </a:lnSpc>
            </a:pPr>
            <a:r>
              <a:rPr sz="1150" b="0" i="0">
                <a:solidFill>
                  <a:srgbClr val="47596B"/>
                </a:solidFill>
                <a:latin typeface="Segoe UI"/>
              </a:rPr>
              <a:t>Agle open par dikhta hai</a:t>
            </a:r>
          </a:p>
        </p:txBody>
      </p:sp>
      <p:sp>
        <p:nvSpPr>
          <p:cNvPr id="14" name="Rounded Rectangle 13"/>
          <p:cNvSpPr/>
          <p:nvPr/>
        </p:nvSpPr>
        <p:spPr>
          <a:xfrm>
            <a:off x="3575054" y="4189476"/>
            <a:ext cx="676973"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9:00</a:t>
            </a:r>
          </a:p>
        </p:txBody>
      </p:sp>
      <p:sp>
        <p:nvSpPr>
          <p:cNvPr id="15" name="TextBox 14"/>
          <p:cNvSpPr txBox="1"/>
          <p:nvPr/>
        </p:nvSpPr>
        <p:spPr>
          <a:xfrm>
            <a:off x="2895539"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Pre-open</a:t>
            </a:r>
          </a:p>
          <a:p>
            <a:pPr algn="ctr">
              <a:lnSpc>
                <a:spcPct val="100000"/>
              </a:lnSpc>
            </a:pPr>
            <a:r>
              <a:rPr sz="1150" b="0" i="0">
                <a:solidFill>
                  <a:srgbClr val="47596B"/>
                </a:solidFill>
                <a:latin typeface="Segoe UI"/>
              </a:rPr>
              <a:t>Raat ki khabar price mein aa jaati hai</a:t>
            </a:r>
          </a:p>
        </p:txBody>
      </p:sp>
      <p:sp>
        <p:nvSpPr>
          <p:cNvPr id="16" name="Rounded Rectangle 15"/>
          <p:cNvSpPr/>
          <p:nvPr/>
        </p:nvSpPr>
        <p:spPr>
          <a:xfrm>
            <a:off x="5757361" y="4189476"/>
            <a:ext cx="676973"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~10:00</a:t>
            </a:r>
          </a:p>
        </p:txBody>
      </p:sp>
      <p:sp>
        <p:nvSpPr>
          <p:cNvPr id="17" name="TextBox 16"/>
          <p:cNvSpPr txBox="1"/>
          <p:nvPr/>
        </p:nvSpPr>
        <p:spPr>
          <a:xfrm>
            <a:off x="5077846"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RBI policy decision</a:t>
            </a:r>
          </a:p>
          <a:p>
            <a:pPr algn="ctr">
              <a:lnSpc>
                <a:spcPct val="100000"/>
              </a:lnSpc>
            </a:pPr>
            <a:r>
              <a:rPr sz="1150" b="0" i="0">
                <a:solidFill>
                  <a:srgbClr val="47596B"/>
                </a:solidFill>
                <a:latin typeface="Segoe UI"/>
              </a:rPr>
              <a:t>Aksar subah; intraday par asar</a:t>
            </a:r>
          </a:p>
        </p:txBody>
      </p:sp>
      <p:sp>
        <p:nvSpPr>
          <p:cNvPr id="18" name="Rounded Rectangle 17"/>
          <p:cNvSpPr/>
          <p:nvPr/>
        </p:nvSpPr>
        <p:spPr>
          <a:xfrm>
            <a:off x="7939668" y="4189476"/>
            <a:ext cx="676973"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~11:00</a:t>
            </a:r>
          </a:p>
        </p:txBody>
      </p:sp>
      <p:sp>
        <p:nvSpPr>
          <p:cNvPr id="19" name="TextBox 18"/>
          <p:cNvSpPr txBox="1"/>
          <p:nvPr/>
        </p:nvSpPr>
        <p:spPr>
          <a:xfrm>
            <a:off x="7260153"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Budget speech</a:t>
            </a:r>
          </a:p>
          <a:p>
            <a:pPr algn="ctr">
              <a:lnSpc>
                <a:spcPct val="100000"/>
              </a:lnSpc>
            </a:pPr>
            <a:r>
              <a:rPr sz="1150" b="0" i="0">
                <a:solidFill>
                  <a:srgbClr val="47596B"/>
                </a:solidFill>
                <a:latin typeface="Segoe UI"/>
              </a:rPr>
              <a:t>Sirf Budget wale din; intraday par asar</a:t>
            </a:r>
          </a:p>
        </p:txBody>
      </p:sp>
      <p:sp>
        <p:nvSpPr>
          <p:cNvPr id="20" name="Rounded Rectangle 19"/>
          <p:cNvSpPr/>
          <p:nvPr/>
        </p:nvSpPr>
        <p:spPr>
          <a:xfrm>
            <a:off x="10121975" y="4189476"/>
            <a:ext cx="676973"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15:30+</a:t>
            </a:r>
          </a:p>
        </p:txBody>
      </p:sp>
      <p:sp>
        <p:nvSpPr>
          <p:cNvPr id="21" name="TextBox 20"/>
          <p:cNvSpPr txBox="1"/>
          <p:nvPr/>
        </p:nvSpPr>
        <p:spPr>
          <a:xfrm>
            <a:off x="9442460"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Kai companies ke results</a:t>
            </a:r>
          </a:p>
          <a:p>
            <a:pPr algn="ctr">
              <a:lnSpc>
                <a:spcPct val="100000"/>
              </a:lnSpc>
            </a:pPr>
            <a:r>
              <a:rPr sz="1150" b="0" i="0">
                <a:solidFill>
                  <a:srgbClr val="47596B"/>
                </a:solidFill>
                <a:latin typeface="Segoe UI"/>
              </a:rPr>
              <a:t>Agle open par gap; swing par asar</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4" name="TextBox 23"/>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Market ke ghanton wale events intraday trades ko nuksaan pahunchate hain; raat wale events swing ko. Pata hona chahiye ki aapke haath mein kaunsa trade hai.</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Aapke no-trade rules: event ko trade se milaiye</a:t>
            </a:r>
          </a:p>
        </p:txBody>
      </p:sp>
      <p:sp>
        <p:nvSpPr>
          <p:cNvPr id="4" name="TextBox 3"/>
          <p:cNvSpPr txBox="1"/>
          <p:nvPr/>
        </p:nvSpPr>
        <p:spPr>
          <a:xfrm>
            <a:off x="457200" y="1335024"/>
            <a:ext cx="5519776" cy="4279392"/>
          </a:xfrm>
          <a:prstGeom prst="rect">
            <a:avLst/>
          </a:prstGeom>
          <a:noFill/>
        </p:spPr>
        <p:txBody>
          <a:bodyPr wrap="square" lIns="0" rIns="0" tIns="0" bIns="0" anchor="t">
            <a:noAutofit/>
          </a:bodyPr>
          <a:lstStyle/>
          <a:p>
            <a:pPr algn="l" marL="274320" indent="-274320">
              <a:lnSpc>
                <a:spcPct val="100000"/>
              </a:lnSpc>
              <a:spcAft>
                <a:spcPts val="850"/>
              </a:spcAft>
              <a:buClr>
                <a:srgbClr val="F5A623"/>
              </a:buClr>
              <a:buFont typeface="Arial"/>
              <a:buChar char="•"/>
            </a:pPr>
            <a:r>
              <a:rPr sz="1700" b="0" i="0">
                <a:solidFill>
                  <a:srgbClr val="18232F"/>
                </a:solidFill>
                <a:latin typeface="Segoe UI"/>
              </a:rPr>
              <a:t>No-trade rule aapke Rule Card ki woh line hai jo batati hai ki kin dinon aap bahar rahenge, aur yeh faisla un dinon ke aane se pehle hota hai.</a:t>
            </a:r>
          </a:p>
          <a:p>
            <a:pPr algn="l" marL="274320" indent="-274320">
              <a:lnSpc>
                <a:spcPct val="100000"/>
              </a:lnSpc>
              <a:spcAft>
                <a:spcPts val="850"/>
              </a:spcAft>
              <a:buClr>
                <a:srgbClr val="F5A623"/>
              </a:buClr>
              <a:buFont typeface="Arial"/>
              <a:buChar char="•"/>
            </a:pPr>
            <a:r>
              <a:rPr sz="1700" b="0" i="0">
                <a:solidFill>
                  <a:srgbClr val="18232F"/>
                </a:solidFill>
                <a:latin typeface="Segoe UI"/>
              </a:rPr>
              <a:t>Aapki default strategy, EMA Pullback Swing (Day 11), raat bhar position rakhti hai, isliye uske liye raat wale events sabse zyada maayne rakhte hain.</a:t>
            </a:r>
          </a:p>
          <a:p>
            <a:pPr algn="l" marL="274320" indent="-274320">
              <a:lnSpc>
                <a:spcPct val="100000"/>
              </a:lnSpc>
              <a:spcAft>
                <a:spcPts val="850"/>
              </a:spcAft>
              <a:buClr>
                <a:srgbClr val="F5A623"/>
              </a:buClr>
              <a:buFont typeface="Arial"/>
              <a:buChar char="•"/>
            </a:pPr>
            <a:r>
              <a:rPr sz="1700" b="0" i="0">
                <a:solidFill>
                  <a:srgbClr val="18232F"/>
                </a:solidFill>
                <a:latin typeface="Segoe UI"/>
              </a:rPr>
              <a:t>Agar us din aapka mann stop khiskaane ko karta hai, toh yeh line zaroor likhiye.</a:t>
            </a:r>
          </a:p>
          <a:p>
            <a:pPr algn="l" marL="274320" indent="-274320">
              <a:lnSpc>
                <a:spcPct val="100000"/>
              </a:lnSpc>
              <a:spcAft>
                <a:spcPts val="850"/>
              </a:spcAft>
              <a:buClr>
                <a:srgbClr val="F5A623"/>
              </a:buClr>
              <a:buFont typeface="Arial"/>
              <a:buChar char="•"/>
            </a:pPr>
            <a:r>
              <a:rPr sz="1700" b="0" i="0">
                <a:solidFill>
                  <a:srgbClr val="18232F"/>
                </a:solidFill>
                <a:latin typeface="Segoe UI"/>
              </a:rPr>
              <a:t>List chhoti rakhiye: agar rules aadha mahina hi block kar dein, toh aap unhe maanna chhod denge.</a:t>
            </a:r>
          </a:p>
          <a:p>
            <a:pPr algn="l" marL="274320" indent="-274320">
              <a:lnSpc>
                <a:spcPct val="100000"/>
              </a:lnSpc>
              <a:buClr>
                <a:srgbClr val="F5A623"/>
              </a:buClr>
              <a:buFont typeface="Arial"/>
              <a:buChar char="•"/>
            </a:pPr>
            <a:r>
              <a:rPr sz="1700" b="0" i="0">
                <a:solidFill>
                  <a:srgbClr val="18232F"/>
                </a:solidFill>
                <a:latin typeface="Segoe UI"/>
              </a:rPr>
              <a:t>Teen-chaar saaf lines kaafi hain.</a:t>
            </a:r>
          </a:p>
        </p:txBody>
      </p:sp>
      <p:sp>
        <p:nvSpPr>
          <p:cNvPr id="5" name="Rounded Rectangle 4"/>
          <p:cNvSpPr/>
          <p:nvPr/>
        </p:nvSpPr>
        <p:spPr>
          <a:xfrm>
            <a:off x="6214720" y="1335024"/>
            <a:ext cx="5519776" cy="4279392"/>
          </a:xfrm>
          <a:prstGeom prst="roundRect">
            <a:avLst>
              <a:gd name="adj" fmla="val 2564"/>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3822192"/>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Priya Sunday ko chaar lines likhti hai. Ek: jis stock ke results meri 15 trading days ki window (Day 11) ke andar hon, usmein nayi swing entry nahi. Do: agar entry ke baad results ki date announce hoti hai, toh results se pehle wale trading din close se pehle exit kar dungi, aur use planned exit likhungi. (Agar results tak hold karna hai, toh yeh bhi Sunday ko hi likh dungi aur maan lungi ki loss 2R ya usse zyada bhi ho sakta hai.) Teen: RBI policy wale din ya Budget wale din ORB nahi, aur kisi stock ke apne results wale din us stock mein ORB nahi. Chaar: ex-date par adjusted girawat ko signal nahi maanungi. Expiry ke din aur index badlaav ke din calendar par note ho jaate hain, par unka alag rule nahi: woh F&amp;O karti nahi, aur index funds ki khareed mechanical hai, isliye woh bas us din ke volume ko signal nahi maanti. Agle mahine ka uska hisaab: ek RBI wala din jab ORB nahi, aur uski watchlist ke 8 mein se 1 stock (Kiran Foods Ltd) mein nayi swing entry block. Baaki har din normal hai.</a:t>
            </a:r>
          </a:p>
        </p:txBody>
      </p:sp>
      <p:sp>
        <p:nvSpPr>
          <p:cNvPr id="8" name="Rounded Rectangle 7"/>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10" name="TextBox 9"/>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Event ka rule Sunday ko tay kijiye, us din subah 9:14 par nahi.</a:t>
            </a:r>
          </a:p>
        </p:txBody>
      </p:sp>
      <p:pic>
        <p:nvPicPr>
          <p:cNvPr id="11" name="Picture 10" descr="logo.png"/>
          <p:cNvPicPr>
            <a:picLocks noChangeAspect="1"/>
          </p:cNvPicPr>
          <p:nvPr/>
        </p:nvPicPr>
        <p:blipFill>
          <a:blip r:embed="rId2"/>
          <a:stretch>
            <a:fillRect/>
          </a:stretch>
        </p:blipFill>
        <p:spPr>
          <a:xfrm>
            <a:off x="457200" y="6437376"/>
            <a:ext cx="237744" cy="237744"/>
          </a:xfrm>
          <a:prstGeom prst="rect">
            <a:avLst/>
          </a:prstGeom>
        </p:spPr>
      </p:pic>
      <p:sp>
        <p:nvSpPr>
          <p:cNvPr id="12"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3" name="TextBox 12"/>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TOPIC 4/6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Aapke no-trade rules: event ko trade se milaiye</a:t>
            </a:r>
          </a:p>
        </p:txBody>
      </p:sp>
      <p:sp>
        <p:nvSpPr>
          <p:cNvPr id="4" name="Rounded Rectangle 3"/>
          <p:cNvSpPr/>
          <p:nvPr/>
        </p:nvSpPr>
        <p:spPr>
          <a:xfrm>
            <a:off x="457200" y="1335024"/>
            <a:ext cx="11277295" cy="4937760"/>
          </a:xfrm>
          <a:prstGeom prst="roundRect">
            <a:avLst>
              <a:gd name="adj" fmla="val 222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40080" y="1481328"/>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Ek starter no-trade table</a:t>
            </a:r>
          </a:p>
        </p:txBody>
      </p:sp>
      <p:sp>
        <p:nvSpPr>
          <p:cNvPr id="6" name="TextBox 5"/>
          <p:cNvSpPr txBox="1"/>
          <p:nvPr/>
        </p:nvSpPr>
        <p:spPr>
          <a:xfrm>
            <a:off x="640080" y="5984748"/>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Yeh shuruaat hai, kanoon nahi. Apna version apne Rule Card par likhiye.</a:t>
            </a:r>
          </a:p>
        </p:txBody>
      </p:sp>
      <p:sp>
        <p:nvSpPr>
          <p:cNvPr id="7" name="Rounded Rectangle 6"/>
          <p:cNvSpPr/>
          <p:nvPr/>
        </p:nvSpPr>
        <p:spPr>
          <a:xfrm>
            <a:off x="640080" y="2533269"/>
            <a:ext cx="3527450" cy="2623566"/>
          </a:xfrm>
          <a:prstGeom prst="roundRect">
            <a:avLst>
              <a:gd name="adj" fmla="val 348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Rounded Rectangle 7"/>
          <p:cNvSpPr/>
          <p:nvPr/>
        </p:nvSpPr>
        <p:spPr>
          <a:xfrm>
            <a:off x="640080" y="2533269"/>
            <a:ext cx="3527450" cy="463296"/>
          </a:xfrm>
          <a:prstGeom prst="roundRect">
            <a:avLst>
              <a:gd name="adj" fmla="val 1973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ectangle 8"/>
          <p:cNvSpPr/>
          <p:nvPr/>
        </p:nvSpPr>
        <p:spPr>
          <a:xfrm>
            <a:off x="640080" y="2764917"/>
            <a:ext cx="3527450" cy="231648"/>
          </a:xfrm>
          <a:prstGeom prst="rect">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Rounded Rectangle 9"/>
          <p:cNvSpPr/>
          <p:nvPr/>
        </p:nvSpPr>
        <p:spPr>
          <a:xfrm>
            <a:off x="640080" y="2533269"/>
            <a:ext cx="3527450" cy="2623566"/>
          </a:xfrm>
          <a:prstGeom prst="roundRect">
            <a:avLst>
              <a:gd name="adj" fmla="val 3485"/>
            </a:avLst>
          </a:prstGeom>
          <a:noFill/>
          <a:ln w="15875">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786384" y="2533269"/>
            <a:ext cx="3234842" cy="463296"/>
          </a:xfrm>
          <a:prstGeom prst="rect">
            <a:avLst/>
          </a:prstGeom>
          <a:noFill/>
        </p:spPr>
        <p:txBody>
          <a:bodyPr wrap="square" lIns="0" rIns="0" tIns="0" bIns="0" anchor="ctr">
            <a:noAutofit/>
          </a:bodyPr>
          <a:lstStyle/>
          <a:p>
            <a:pPr algn="l">
              <a:lnSpc>
                <a:spcPct val="100000"/>
              </a:lnSpc>
            </a:pPr>
            <a:r>
              <a:rPr sz="1600" b="1" i="0">
                <a:solidFill>
                  <a:srgbClr val="095A90"/>
                </a:solidFill>
                <a:latin typeface="Segoe UI"/>
              </a:rPr>
              <a:t>EMA Pullback (swing)</a:t>
            </a:r>
          </a:p>
        </p:txBody>
      </p:sp>
      <p:cxnSp>
        <p:nvCxnSpPr>
          <p:cNvPr id="12" name="Connector 11"/>
          <p:cNvCxnSpPr/>
          <p:nvPr/>
        </p:nvCxnSpPr>
        <p:spPr>
          <a:xfrm>
            <a:off x="640080" y="2996565"/>
            <a:ext cx="3527450" cy="0"/>
          </a:xfrm>
          <a:prstGeom prst="line">
            <a:avLst/>
          </a:prstGeom>
          <a:ln w="15875">
            <a:solidFill>
              <a:srgbClr val="0093D6"/>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86384" y="3142869"/>
            <a:ext cx="3234842" cy="1977390"/>
          </a:xfrm>
          <a:prstGeom prst="rect">
            <a:avLst/>
          </a:prstGeom>
          <a:noFill/>
        </p:spPr>
        <p:txBody>
          <a:bodyPr wrap="square" lIns="0" rIns="0" tIns="0" bIns="0" anchor="t">
            <a:noAutofit/>
          </a:bodyPr>
          <a:lstStyle/>
          <a:p>
            <a:pPr algn="l" marL="201168" indent="-201168">
              <a:lnSpc>
                <a:spcPct val="100000"/>
              </a:lnSpc>
              <a:spcAft>
                <a:spcPts val="750"/>
              </a:spcAft>
              <a:buClr>
                <a:srgbClr val="0093D6"/>
              </a:buClr>
              <a:buFont typeface="Arial"/>
              <a:buChar char="•"/>
            </a:pPr>
            <a:r>
              <a:rPr sz="1500" b="0" i="0">
                <a:solidFill>
                  <a:srgbClr val="18232F"/>
                </a:solidFill>
                <a:latin typeface="Segoe UI"/>
              </a:rPr>
              <a:t>Window mein results: nayi entry nahi</a:t>
            </a:r>
          </a:p>
          <a:p>
            <a:pPr algn="l" marL="201168" indent="-201168">
              <a:lnSpc>
                <a:spcPct val="100000"/>
              </a:lnSpc>
              <a:spcAft>
                <a:spcPts val="750"/>
              </a:spcAft>
              <a:buClr>
                <a:srgbClr val="0093D6"/>
              </a:buClr>
              <a:buFont typeface="Arial"/>
              <a:buChar char="•"/>
            </a:pPr>
            <a:r>
              <a:rPr sz="1500" b="0" i="0">
                <a:solidFill>
                  <a:srgbClr val="18232F"/>
                </a:solidFill>
                <a:latin typeface="Segoe UI"/>
              </a:rPr>
              <a:t>Results tak hold: ek din pehle exit</a:t>
            </a:r>
          </a:p>
          <a:p>
            <a:pPr algn="l" marL="201168" indent="-201168">
              <a:lnSpc>
                <a:spcPct val="100000"/>
              </a:lnSpc>
              <a:buClr>
                <a:srgbClr val="0093D6"/>
              </a:buClr>
              <a:buFont typeface="Arial"/>
              <a:buChar char="•"/>
            </a:pPr>
            <a:r>
              <a:rPr sz="1500" b="0" i="0">
                <a:solidFill>
                  <a:srgbClr val="18232F"/>
                </a:solidFill>
                <a:latin typeface="Segoe UI"/>
              </a:rPr>
              <a:t>Ex-date: girawat sirf adjustment hai</a:t>
            </a:r>
          </a:p>
        </p:txBody>
      </p:sp>
      <p:sp>
        <p:nvSpPr>
          <p:cNvPr id="14" name="Rounded Rectangle 13"/>
          <p:cNvSpPr/>
          <p:nvPr/>
        </p:nvSpPr>
        <p:spPr>
          <a:xfrm>
            <a:off x="4332122" y="2533269"/>
            <a:ext cx="3527450" cy="2623566"/>
          </a:xfrm>
          <a:prstGeom prst="roundRect">
            <a:avLst>
              <a:gd name="adj" fmla="val 348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Rounded Rectangle 14"/>
          <p:cNvSpPr/>
          <p:nvPr/>
        </p:nvSpPr>
        <p:spPr>
          <a:xfrm>
            <a:off x="4332122" y="2533269"/>
            <a:ext cx="3527450" cy="463296"/>
          </a:xfrm>
          <a:prstGeom prst="roundRect">
            <a:avLst>
              <a:gd name="adj" fmla="val 19736"/>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Rectangle 15"/>
          <p:cNvSpPr/>
          <p:nvPr/>
        </p:nvSpPr>
        <p:spPr>
          <a:xfrm>
            <a:off x="4332122" y="2764917"/>
            <a:ext cx="3527450" cy="231648"/>
          </a:xfrm>
          <a:prstGeom prst="rect">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4332122" y="2533269"/>
            <a:ext cx="3527450" cy="2623566"/>
          </a:xfrm>
          <a:prstGeom prst="roundRect">
            <a:avLst>
              <a:gd name="adj" fmla="val 3485"/>
            </a:avLst>
          </a:prstGeom>
          <a:noFill/>
          <a:ln w="15875">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4478426" y="2533269"/>
            <a:ext cx="3234842" cy="463296"/>
          </a:xfrm>
          <a:prstGeom prst="rect">
            <a:avLst/>
          </a:prstGeom>
          <a:noFill/>
        </p:spPr>
        <p:txBody>
          <a:bodyPr wrap="square" lIns="0" rIns="0" tIns="0" bIns="0" anchor="ctr">
            <a:noAutofit/>
          </a:bodyPr>
          <a:lstStyle/>
          <a:p>
            <a:pPr algn="l">
              <a:lnSpc>
                <a:spcPct val="100000"/>
              </a:lnSpc>
            </a:pPr>
            <a:r>
              <a:rPr sz="1600" b="1" i="0">
                <a:solidFill>
                  <a:srgbClr val="92400E"/>
                </a:solidFill>
                <a:latin typeface="Segoe UI"/>
              </a:rPr>
              <a:t>ORB (optional, intraday)</a:t>
            </a:r>
          </a:p>
        </p:txBody>
      </p:sp>
      <p:cxnSp>
        <p:nvCxnSpPr>
          <p:cNvPr id="19" name="Connector 18"/>
          <p:cNvCxnSpPr/>
          <p:nvPr/>
        </p:nvCxnSpPr>
        <p:spPr>
          <a:xfrm>
            <a:off x="4332122" y="2996565"/>
            <a:ext cx="3527451" cy="0"/>
          </a:xfrm>
          <a:prstGeom prst="line">
            <a:avLst/>
          </a:prstGeom>
          <a:ln w="15875">
            <a:solidFill>
              <a:srgbClr val="F5A524"/>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478426" y="3142869"/>
            <a:ext cx="3234842" cy="1977390"/>
          </a:xfrm>
          <a:prstGeom prst="rect">
            <a:avLst/>
          </a:prstGeom>
          <a:noFill/>
        </p:spPr>
        <p:txBody>
          <a:bodyPr wrap="square" lIns="0" rIns="0" tIns="0" bIns="0" anchor="t">
            <a:noAutofit/>
          </a:bodyPr>
          <a:lstStyle/>
          <a:p>
            <a:pPr algn="l" marL="201168" indent="-201168">
              <a:lnSpc>
                <a:spcPct val="100000"/>
              </a:lnSpc>
              <a:spcAft>
                <a:spcPts val="750"/>
              </a:spcAft>
              <a:buClr>
                <a:srgbClr val="F5A524"/>
              </a:buClr>
              <a:buFont typeface="Arial"/>
              <a:buChar char="•"/>
            </a:pPr>
            <a:r>
              <a:rPr sz="1500" b="0" i="0">
                <a:solidFill>
                  <a:srgbClr val="18232F"/>
                </a:solidFill>
                <a:latin typeface="Segoe UI"/>
              </a:rPr>
              <a:t>RBI policy wala din: ORB nahi</a:t>
            </a:r>
          </a:p>
          <a:p>
            <a:pPr algn="l" marL="201168" indent="-201168">
              <a:lnSpc>
                <a:spcPct val="100000"/>
              </a:lnSpc>
              <a:spcAft>
                <a:spcPts val="750"/>
              </a:spcAft>
              <a:buClr>
                <a:srgbClr val="F5A524"/>
              </a:buClr>
              <a:buFont typeface="Arial"/>
              <a:buChar char="•"/>
            </a:pPr>
            <a:r>
              <a:rPr sz="1500" b="0" i="0">
                <a:solidFill>
                  <a:srgbClr val="18232F"/>
                </a:solidFill>
                <a:latin typeface="Segoe UI"/>
              </a:rPr>
              <a:t>Budget wala din: ORB nahi</a:t>
            </a:r>
          </a:p>
          <a:p>
            <a:pPr algn="l" marL="201168" indent="-201168">
              <a:lnSpc>
                <a:spcPct val="100000"/>
              </a:lnSpc>
              <a:spcAft>
                <a:spcPts val="750"/>
              </a:spcAft>
              <a:buClr>
                <a:srgbClr val="F5A524"/>
              </a:buClr>
              <a:buFont typeface="Arial"/>
              <a:buChar char="•"/>
            </a:pPr>
            <a:r>
              <a:rPr sz="1500" b="0" i="0">
                <a:solidFill>
                  <a:srgbClr val="18232F"/>
                </a:solidFill>
                <a:latin typeface="Segoe UI"/>
              </a:rPr>
              <a:t>Stock ke results ka din: woh stock skip</a:t>
            </a:r>
          </a:p>
          <a:p>
            <a:pPr algn="l" marL="201168" indent="-201168">
              <a:lnSpc>
                <a:spcPct val="100000"/>
              </a:lnSpc>
              <a:buClr>
                <a:srgbClr val="F5A524"/>
              </a:buClr>
              <a:buFont typeface="Arial"/>
              <a:buChar char="•"/>
            </a:pPr>
            <a:r>
              <a:rPr sz="1500" b="0" i="0">
                <a:solidFill>
                  <a:srgbClr val="18232F"/>
                </a:solidFill>
                <a:latin typeface="Segoe UI"/>
              </a:rPr>
              <a:t>Bada gap open: Day 13 ki list</a:t>
            </a:r>
          </a:p>
        </p:txBody>
      </p:sp>
      <p:sp>
        <p:nvSpPr>
          <p:cNvPr id="21" name="Rounded Rectangle 20"/>
          <p:cNvSpPr/>
          <p:nvPr/>
        </p:nvSpPr>
        <p:spPr>
          <a:xfrm>
            <a:off x="8024165" y="2533269"/>
            <a:ext cx="3527450" cy="2623566"/>
          </a:xfrm>
          <a:prstGeom prst="roundRect">
            <a:avLst>
              <a:gd name="adj" fmla="val 348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Rounded Rectangle 21"/>
          <p:cNvSpPr/>
          <p:nvPr/>
        </p:nvSpPr>
        <p:spPr>
          <a:xfrm>
            <a:off x="8024165" y="2533269"/>
            <a:ext cx="3527450" cy="463296"/>
          </a:xfrm>
          <a:prstGeom prst="roundRect">
            <a:avLst>
              <a:gd name="adj" fmla="val 19736"/>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ectangle 22"/>
          <p:cNvSpPr/>
          <p:nvPr/>
        </p:nvSpPr>
        <p:spPr>
          <a:xfrm>
            <a:off x="8024165" y="2764917"/>
            <a:ext cx="3527450" cy="23164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Rounded Rectangle 23"/>
          <p:cNvSpPr/>
          <p:nvPr/>
        </p:nvSpPr>
        <p:spPr>
          <a:xfrm>
            <a:off x="8024165" y="2533269"/>
            <a:ext cx="3527450" cy="2623566"/>
          </a:xfrm>
          <a:prstGeom prst="roundRect">
            <a:avLst>
              <a:gd name="adj" fmla="val 3485"/>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TextBox 24"/>
          <p:cNvSpPr txBox="1"/>
          <p:nvPr/>
        </p:nvSpPr>
        <p:spPr>
          <a:xfrm>
            <a:off x="8170469" y="2533269"/>
            <a:ext cx="3234842" cy="463296"/>
          </a:xfrm>
          <a:prstGeom prst="rect">
            <a:avLst/>
          </a:prstGeom>
          <a:noFill/>
        </p:spPr>
        <p:txBody>
          <a:bodyPr wrap="square" lIns="0" rIns="0" tIns="0" bIns="0" anchor="ctr">
            <a:noAutofit/>
          </a:bodyPr>
          <a:lstStyle/>
          <a:p>
            <a:pPr algn="l">
              <a:lnSpc>
                <a:spcPct val="100000"/>
              </a:lnSpc>
            </a:pPr>
            <a:r>
              <a:rPr sz="1600" b="1" i="0">
                <a:solidFill>
                  <a:srgbClr val="166534"/>
                </a:solidFill>
                <a:latin typeface="Segoe UI"/>
              </a:rPr>
              <a:t>Har din</a:t>
            </a:r>
          </a:p>
        </p:txBody>
      </p:sp>
      <p:cxnSp>
        <p:nvCxnSpPr>
          <p:cNvPr id="26" name="Connector 25"/>
          <p:cNvCxnSpPr/>
          <p:nvPr/>
        </p:nvCxnSpPr>
        <p:spPr>
          <a:xfrm>
            <a:off x="8024165" y="2996565"/>
            <a:ext cx="3527450"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170469" y="3142869"/>
            <a:ext cx="3234842" cy="1977390"/>
          </a:xfrm>
          <a:prstGeom prst="rect">
            <a:avLst/>
          </a:prstGeom>
          <a:noFill/>
        </p:spPr>
        <p:txBody>
          <a:bodyPr wrap="square" lIns="0" rIns="0" tIns="0" bIns="0" anchor="t">
            <a:noAutofit/>
          </a:bodyPr>
          <a:lstStyle/>
          <a:p>
            <a:pPr algn="l" marL="201168" indent="-201168">
              <a:lnSpc>
                <a:spcPct val="100000"/>
              </a:lnSpc>
              <a:spcAft>
                <a:spcPts val="750"/>
              </a:spcAft>
              <a:buClr>
                <a:srgbClr val="16A34A"/>
              </a:buClr>
              <a:buFont typeface="Arial"/>
              <a:buChar char="•"/>
            </a:pPr>
            <a:r>
              <a:rPr sz="1500" b="0" i="0">
                <a:solidFill>
                  <a:srgbClr val="18232F"/>
                </a:solidFill>
                <a:latin typeface="Segoe UI"/>
              </a:rPr>
              <a:t>Har entry se pehle: calendar + us stock ka NSE page</a:t>
            </a:r>
          </a:p>
          <a:p>
            <a:pPr algn="l" marL="201168" indent="-201168">
              <a:lnSpc>
                <a:spcPct val="100000"/>
              </a:lnSpc>
              <a:spcAft>
                <a:spcPts val="750"/>
              </a:spcAft>
              <a:buClr>
                <a:srgbClr val="16A34A"/>
              </a:buClr>
              <a:buFont typeface="Arial"/>
              <a:buChar char="•"/>
            </a:pPr>
            <a:r>
              <a:rPr sz="1500" b="0" i="0">
                <a:solidFill>
                  <a:srgbClr val="18232F"/>
                </a:solidFill>
                <a:latin typeface="Segoe UI"/>
              </a:rPr>
              <a:t>Rule se skip = adherence</a:t>
            </a:r>
          </a:p>
          <a:p>
            <a:pPr algn="l" marL="201168" indent="-201168">
              <a:lnSpc>
                <a:spcPct val="100000"/>
              </a:lnSpc>
              <a:spcAft>
                <a:spcPts val="750"/>
              </a:spcAft>
              <a:buClr>
                <a:srgbClr val="16A34A"/>
              </a:buClr>
              <a:buFont typeface="Arial"/>
              <a:buChar char="•"/>
            </a:pPr>
            <a:r>
              <a:rPr sz="1500" b="0" i="0">
                <a:solidFill>
                  <a:srgbClr val="18232F"/>
                </a:solidFill>
                <a:latin typeface="Segoe UI"/>
              </a:rPr>
              <a:t>Har event gap R mein likhiye</a:t>
            </a:r>
          </a:p>
          <a:p>
            <a:pPr algn="l" marL="201168" indent="-201168">
              <a:lnSpc>
                <a:spcPct val="100000"/>
              </a:lnSpc>
              <a:buClr>
                <a:srgbClr val="16A34A"/>
              </a:buClr>
              <a:buFont typeface="Arial"/>
              <a:buChar char="•"/>
            </a:pPr>
            <a:r>
              <a:rPr sz="1500" b="0" i="0">
                <a:solidFill>
                  <a:srgbClr val="18232F"/>
                </a:solidFill>
                <a:latin typeface="Segoe UI"/>
              </a:rPr>
              <a:t>Expiry ya index badlaav ka din: sirf note, block nahi</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Official sources se apna 30 din ka calendar banaiye</a:t>
            </a:r>
          </a:p>
        </p:txBody>
      </p:sp>
      <p:sp>
        <p:nvSpPr>
          <p:cNvPr id="4" name="TextBox 3"/>
          <p:cNvSpPr txBox="1"/>
          <p:nvPr/>
        </p:nvSpPr>
        <p:spPr>
          <a:xfrm>
            <a:off x="457200" y="1335024"/>
            <a:ext cx="5519776" cy="2160270"/>
          </a:xfrm>
          <a:prstGeom prst="rect">
            <a:avLst/>
          </a:prstGeom>
          <a:noFill/>
        </p:spPr>
        <p:txBody>
          <a:bodyPr wrap="square" lIns="0" rIns="0" tIns="0" bIns="0" anchor="t">
            <a:noAutofit/>
          </a:bodyPr>
          <a:lstStyle/>
          <a:p>
            <a:pPr algn="l" marL="274320" indent="-274320">
              <a:lnSpc>
                <a:spcPct val="100000"/>
              </a:lnSpc>
              <a:spcAft>
                <a:spcPts val="750"/>
              </a:spcAft>
              <a:buClr>
                <a:srgbClr val="F5A623"/>
              </a:buClr>
              <a:buFont typeface="Arial"/>
              <a:buChar char="•"/>
            </a:pPr>
            <a:r>
              <a:rPr sz="1500" b="0" i="0">
                <a:solidFill>
                  <a:srgbClr val="18232F"/>
                </a:solidFill>
                <a:latin typeface="Segoe UI"/>
              </a:rPr>
              <a:t>Aapka calendar ek seedhi-saadi sheet hai, chhe columns ke saath.</a:t>
            </a:r>
          </a:p>
          <a:p>
            <a:pPr algn="l" marL="274320" indent="-274320">
              <a:lnSpc>
                <a:spcPct val="100000"/>
              </a:lnSpc>
              <a:spcAft>
                <a:spcPts val="750"/>
              </a:spcAft>
              <a:buClr>
                <a:srgbClr val="F5A623"/>
              </a:buClr>
              <a:buFont typeface="Arial"/>
              <a:buChar char="•"/>
            </a:pPr>
            <a:r>
              <a:rPr sz="1500" b="0" i="0">
                <a:solidFill>
                  <a:srgbClr val="18232F"/>
                </a:solidFill>
                <a:latin typeface="Segoe UI"/>
              </a:rPr>
              <a:t>Har date kisi official page se aani chahiye: NSE ki holiday list aur circulars.</a:t>
            </a:r>
          </a:p>
          <a:p>
            <a:pPr algn="l" marL="274320" indent="-274320">
              <a:lnSpc>
                <a:spcPct val="100000"/>
              </a:lnSpc>
              <a:spcAft>
                <a:spcPts val="750"/>
              </a:spcAft>
              <a:buClr>
                <a:srgbClr val="F5A623"/>
              </a:buClr>
              <a:buFont typeface="Arial"/>
              <a:buChar char="•"/>
            </a:pPr>
            <a:r>
              <a:rPr sz="1500" b="0" i="0">
                <a:solidFill>
                  <a:srgbClr val="18232F"/>
                </a:solidFill>
                <a:latin typeface="Segoe UI"/>
              </a:rPr>
              <a:t>Nseindia.com par NIFTY option chain ki expiry list mein expiry dates (Day 18)</a:t>
            </a:r>
          </a:p>
          <a:p>
            <a:pPr algn="l" marL="274320" indent="-274320">
              <a:lnSpc>
                <a:spcPct val="100000"/>
              </a:lnSpc>
              <a:buClr>
                <a:srgbClr val="F5A623"/>
              </a:buClr>
              <a:buFont typeface="Arial"/>
              <a:buChar char="•"/>
            </a:pPr>
            <a:r>
              <a:rPr sz="1500" b="0" i="0">
                <a:solidFill>
                  <a:srgbClr val="18232F"/>
                </a:solidFill>
                <a:latin typeface="Segoe UI"/>
              </a:rPr>
              <a:t>NSE ya BSE ke corporate announcements mein board meeting aur corporate action ke notice.</a:t>
            </a:r>
          </a:p>
        </p:txBody>
      </p:sp>
      <p:sp>
        <p:nvSpPr>
          <p:cNvPr id="5" name="Rounded Rectangle 4"/>
          <p:cNvSpPr/>
          <p:nvPr/>
        </p:nvSpPr>
        <p:spPr>
          <a:xfrm>
            <a:off x="6214720" y="1335024"/>
            <a:ext cx="5519776" cy="2377440"/>
          </a:xfrm>
          <a:prstGeom prst="roundRect">
            <a:avLst>
              <a:gd name="adj" fmla="val 461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1920240"/>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Priya ki sheet ki ek row aisi hai: '12 | Kiran Foods Ltd results | stock, time nahi diya: dono ho sakta hai | dono | results aane tak nayi swing entry nahi; hold ho toh 11 ko close se pehle exit; 12 ko is stock mein ORB nahi | NSE announcement, checked'. Usne har action wale din se ek shaam pehle, raat 8 baje ka phone reminder bhi laga diya hai: is row ke liye 10 tareekh ko, kyunki exit 11 ko close se pehle karna hai. Is tarah rule market khulne se pehle hi uske saamne hota hai. Pehli baar poori sheet banane mein use lagbhag 40 minute lage; har Sunday ke update mein bas 10 ke aas-paas. Uska poora mahina aaj ke task mein model calendar ke roop mein diya hai.</a:t>
            </a:r>
          </a:p>
        </p:txBody>
      </p:sp>
      <p:sp>
        <p:nvSpPr>
          <p:cNvPr id="8" name="Rounded Rectangle 7"/>
          <p:cNvSpPr/>
          <p:nvPr/>
        </p:nvSpPr>
        <p:spPr>
          <a:xfrm>
            <a:off x="457200" y="3877056"/>
            <a:ext cx="11277295" cy="1737360"/>
          </a:xfrm>
          <a:prstGeom prst="roundRect">
            <a:avLst>
              <a:gd name="adj" fmla="val 631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40233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Official page se Rule Card tak</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'Source checked' par tick tabhi lagaiye jab date aapne khud official page par dekh li ho.</a:t>
            </a:r>
          </a:p>
        </p:txBody>
      </p:sp>
      <p:sp>
        <p:nvSpPr>
          <p:cNvPr id="11" name="Rounded Rectangle 10"/>
          <p:cNvSpPr/>
          <p:nvPr/>
        </p:nvSpPr>
        <p:spPr>
          <a:xfrm>
            <a:off x="640080"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49808"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Official page</a:t>
            </a:r>
          </a:p>
          <a:p>
            <a:pPr algn="ctr">
              <a:lnSpc>
                <a:spcPct val="100000"/>
              </a:lnSpc>
            </a:pPr>
            <a:r>
              <a:rPr sz="1200" b="0" i="0">
                <a:solidFill>
                  <a:srgbClr val="47596B"/>
                </a:solidFill>
                <a:latin typeface="Segoe UI"/>
              </a:rPr>
              <a:t>NSE, BSE, RBI, sarkar, Fed</a:t>
            </a:r>
          </a:p>
        </p:txBody>
      </p:sp>
      <p:sp>
        <p:nvSpPr>
          <p:cNvPr id="13" name="Right Arrow 12"/>
          <p:cNvSpPr/>
          <p:nvPr/>
        </p:nvSpPr>
        <p:spPr>
          <a:xfrm>
            <a:off x="2471257"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2279233"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date copy</a:t>
            </a:r>
          </a:p>
        </p:txBody>
      </p:sp>
      <p:sp>
        <p:nvSpPr>
          <p:cNvPr id="15" name="Rounded Rectangle 14"/>
          <p:cNvSpPr/>
          <p:nvPr/>
        </p:nvSpPr>
        <p:spPr>
          <a:xfrm>
            <a:off x="2965033"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3074761"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Aapki sheet</a:t>
            </a:r>
          </a:p>
          <a:p>
            <a:pPr algn="ctr">
              <a:lnSpc>
                <a:spcPct val="100000"/>
              </a:lnSpc>
            </a:pPr>
            <a:r>
              <a:rPr sz="1200" b="0" i="0">
                <a:solidFill>
                  <a:srgbClr val="47596B"/>
                </a:solidFill>
                <a:latin typeface="Segoe UI"/>
              </a:rPr>
              <a:t>Date, time, jagah</a:t>
            </a:r>
          </a:p>
        </p:txBody>
      </p:sp>
      <p:sp>
        <p:nvSpPr>
          <p:cNvPr id="17" name="Right Arrow 16"/>
          <p:cNvSpPr/>
          <p:nvPr/>
        </p:nvSpPr>
        <p:spPr>
          <a:xfrm>
            <a:off x="4796211"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4604187"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tag</a:t>
            </a:r>
          </a:p>
        </p:txBody>
      </p:sp>
      <p:sp>
        <p:nvSpPr>
          <p:cNvPr id="19" name="Rounded Rectangle 18"/>
          <p:cNvSpPr/>
          <p:nvPr/>
        </p:nvSpPr>
        <p:spPr>
          <a:xfrm>
            <a:off x="5289987"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5399715"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Strategy milaiye</a:t>
            </a:r>
          </a:p>
          <a:p>
            <a:pPr algn="ctr">
              <a:lnSpc>
                <a:spcPct val="100000"/>
              </a:lnSpc>
            </a:pPr>
            <a:r>
              <a:rPr sz="1200" b="0" i="0">
                <a:solidFill>
                  <a:srgbClr val="47596B"/>
                </a:solidFill>
                <a:latin typeface="Segoe UI"/>
              </a:rPr>
              <a:t>Swing ya ORB?</a:t>
            </a:r>
          </a:p>
        </p:txBody>
      </p:sp>
      <p:sp>
        <p:nvSpPr>
          <p:cNvPr id="21" name="Right Arrow 20"/>
          <p:cNvSpPr/>
          <p:nvPr/>
        </p:nvSpPr>
        <p:spPr>
          <a:xfrm>
            <a:off x="7121164"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6929140"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faisla</a:t>
            </a:r>
          </a:p>
        </p:txBody>
      </p:sp>
      <p:sp>
        <p:nvSpPr>
          <p:cNvPr id="23" name="Rounded Rectangle 22"/>
          <p:cNvSpPr/>
          <p:nvPr/>
        </p:nvSpPr>
        <p:spPr>
          <a:xfrm>
            <a:off x="7614940" y="4375404"/>
            <a:ext cx="1611721" cy="822960"/>
          </a:xfrm>
          <a:prstGeom prst="roundRect">
            <a:avLst>
              <a:gd name="adj" fmla="val 11111"/>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724668"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Rule likhiye</a:t>
            </a:r>
          </a:p>
          <a:p>
            <a:pPr algn="ctr">
              <a:lnSpc>
                <a:spcPct val="100000"/>
              </a:lnSpc>
            </a:pPr>
            <a:r>
              <a:rPr sz="1200" b="0" i="0">
                <a:solidFill>
                  <a:srgbClr val="47596B"/>
                </a:solidFill>
                <a:latin typeface="Segoe UI"/>
              </a:rPr>
              <a:t>Apne Rule Card par</a:t>
            </a:r>
          </a:p>
        </p:txBody>
      </p:sp>
      <p:sp>
        <p:nvSpPr>
          <p:cNvPr id="25" name="Right Arrow 24"/>
          <p:cNvSpPr/>
          <p:nvPr/>
        </p:nvSpPr>
        <p:spPr>
          <a:xfrm>
            <a:off x="9446118"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9254094"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dohraiye</a:t>
            </a:r>
          </a:p>
        </p:txBody>
      </p:sp>
      <p:sp>
        <p:nvSpPr>
          <p:cNvPr id="27" name="Rounded Rectangle 26"/>
          <p:cNvSpPr/>
          <p:nvPr/>
        </p:nvSpPr>
        <p:spPr>
          <a:xfrm>
            <a:off x="9939894" y="4375404"/>
            <a:ext cx="1611721" cy="822960"/>
          </a:xfrm>
          <a:prstGeom prst="roundRect">
            <a:avLst>
              <a:gd name="adj" fmla="val 11111"/>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TextBox 27"/>
          <p:cNvSpPr txBox="1"/>
          <p:nvPr/>
        </p:nvSpPr>
        <p:spPr>
          <a:xfrm>
            <a:off x="10049622"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Sunday update</a:t>
            </a:r>
          </a:p>
          <a:p>
            <a:pPr algn="ctr">
              <a:lnSpc>
                <a:spcPct val="100000"/>
              </a:lnSpc>
            </a:pPr>
            <a:r>
              <a:rPr sz="1200" b="0" i="0">
                <a:solidFill>
                  <a:srgbClr val="47596B"/>
                </a:solidFill>
                <a:latin typeface="Segoe UI"/>
              </a:rPr>
              <a:t>Naye notice aate rehte hain</a:t>
            </a:r>
          </a:p>
        </p:txBody>
      </p:sp>
      <p:sp>
        <p:nvSpPr>
          <p:cNvPr id="29" name="Rounded Rectangle 28"/>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ounded Rectangle 29"/>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1" name="TextBox 30"/>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Table AI banaye; dates official sites se bhariye.</a:t>
            </a:r>
          </a:p>
        </p:txBody>
      </p:sp>
      <p:pic>
        <p:nvPicPr>
          <p:cNvPr id="32" name="Picture 31" descr="logo.png"/>
          <p:cNvPicPr>
            <a:picLocks noChangeAspect="1"/>
          </p:cNvPicPr>
          <p:nvPr/>
        </p:nvPicPr>
        <p:blipFill>
          <a:blip r:embed="rId2"/>
          <a:stretch>
            <a:fillRect/>
          </a:stretch>
        </p:blipFill>
        <p:spPr>
          <a:xfrm>
            <a:off x="457200" y="6437376"/>
            <a:ext cx="237744" cy="237744"/>
          </a:xfrm>
          <a:prstGeom prst="rect">
            <a:avLst/>
          </a:prstGeom>
        </p:spPr>
      </p:pic>
      <p:sp>
        <p:nvSpPr>
          <p:cNvPr id="3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4" name="TextBox 3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Bada din chhoot jaane ka dar</a:t>
            </a:r>
          </a:p>
        </p:txBody>
      </p:sp>
      <p:sp>
        <p:nvSpPr>
          <p:cNvPr id="4" name="TextBox 3"/>
          <p:cNvSpPr txBox="1"/>
          <p:nvPr/>
        </p:nvSpPr>
        <p:spPr>
          <a:xfrm>
            <a:off x="457200" y="1335024"/>
            <a:ext cx="5519776" cy="215900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Bade event wale din Diwali sale jaise lagte hain.</a:t>
            </a:r>
          </a:p>
          <a:p>
            <a:pPr algn="l" marL="274320" indent="-274320">
              <a:lnSpc>
                <a:spcPct val="100000"/>
              </a:lnSpc>
              <a:spcAft>
                <a:spcPts val="800"/>
              </a:spcAft>
              <a:buClr>
                <a:srgbClr val="F5A623"/>
              </a:buClr>
              <a:buFont typeface="Arial"/>
              <a:buChar char="•"/>
            </a:pPr>
            <a:r>
              <a:rPr sz="1600" b="0" i="0">
                <a:solidFill>
                  <a:srgbClr val="18232F"/>
                </a:solidFill>
                <a:latin typeface="Segoe UI"/>
              </a:rPr>
              <a:t>Day 13 mein FOMO, yaani kuch chhoot jaane ka dar, humne bhaagte breakout mein dekha tha.</a:t>
            </a:r>
          </a:p>
          <a:p>
            <a:pPr algn="l" marL="274320" indent="-274320">
              <a:lnSpc>
                <a:spcPct val="100000"/>
              </a:lnSpc>
              <a:spcAft>
                <a:spcPts val="800"/>
              </a:spcAft>
              <a:buClr>
                <a:srgbClr val="F5A623"/>
              </a:buClr>
              <a:buFont typeface="Arial"/>
              <a:buChar char="•"/>
            </a:pPr>
            <a:r>
              <a:rPr sz="1600" b="0" i="0">
                <a:solidFill>
                  <a:srgbClr val="18232F"/>
                </a:solidFill>
                <a:latin typeface="Segoe UI"/>
              </a:rPr>
              <a:t>Yahan woh ek date ka roop lekar aata hai.</a:t>
            </a:r>
          </a:p>
          <a:p>
            <a:pPr algn="l" marL="274320" indent="-274320">
              <a:lnSpc>
                <a:spcPct val="100000"/>
              </a:lnSpc>
              <a:spcAft>
                <a:spcPts val="800"/>
              </a:spcAft>
              <a:buClr>
                <a:srgbClr val="F5A623"/>
              </a:buClr>
              <a:buFont typeface="Arial"/>
              <a:buChar char="•"/>
            </a:pPr>
            <a:r>
              <a:rPr sz="1600" b="0" i="0">
                <a:solidFill>
                  <a:srgbClr val="18232F"/>
                </a:solidFill>
                <a:latin typeface="Segoe UI"/>
              </a:rPr>
              <a:t>Cyclone warning wale din kinare par ruka machhuara darpok nahi hai.</a:t>
            </a:r>
          </a:p>
          <a:p>
            <a:pPr algn="l" marL="274320" indent="-274320">
              <a:lnSpc>
                <a:spcPct val="100000"/>
              </a:lnSpc>
              <a:buClr>
                <a:srgbClr val="F5A623"/>
              </a:buClr>
              <a:buFont typeface="Arial"/>
              <a:buChar char="•"/>
            </a:pPr>
            <a:r>
              <a:rPr sz="1600" b="0" i="0">
                <a:solidFill>
                  <a:srgbClr val="18232F"/>
                </a:solidFill>
                <a:latin typeface="Segoe UI"/>
              </a:rPr>
              <a:t>Woh aane wale kai saal tak machhli pakadna chahta hai.</a:t>
            </a:r>
          </a:p>
        </p:txBody>
      </p:sp>
      <p:sp>
        <p:nvSpPr>
          <p:cNvPr id="5" name="Rounded Rectangle 4"/>
          <p:cNvSpPr/>
          <p:nvPr/>
        </p:nvSpPr>
        <p:spPr>
          <a:xfrm>
            <a:off x="457200" y="3649472"/>
            <a:ext cx="5519776" cy="1964944"/>
          </a:xfrm>
          <a:prstGeom prst="roundRect">
            <a:avLst>
              <a:gd name="adj" fmla="val 5584"/>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7774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033520"/>
            <a:ext cx="5154016" cy="15077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Is udaharan wale Budget day mein, speech shuru hone ke thodi der baad, 11:30 tak NIFTY 50 apne open se 1.6% upar tha. Do ghante baad woh open se 1.1% neeche tha, aur din 0.4% girkar band hua. Pehli tezi ke peeche bhaagne wala aur baad ki girawat mein bechne wala, dono ka stop ek hi din mein hit ho sakta tha. Aman ne us din trade karne ke liye chhutti li thi, lekin usne woh subah notebook lekar sirf dekhne mein bitaayi, aur likhta gaya ki price ne kaise react kiya. Journal mein uski entry: no-trade day, rule follow kiya.</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Ek Budget day, dono taraf</a:t>
            </a:r>
          </a:p>
        </p:txBody>
      </p:sp>
      <p:sp>
        <p:nvSpPr>
          <p:cNvPr id="11" name="TextBox 10"/>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Open = 100. 11:30 tak 1.6% upar, 13:30 tak 1.1% neeche, aur 0.4% neeche band. 9:15 par direction kisi ko pata nahi thi.</a:t>
            </a:r>
          </a:p>
        </p:txBody>
      </p:sp>
      <p:sp>
        <p:nvSpPr>
          <p:cNvPr id="12" name="TextBox 11"/>
          <p:cNvSpPr txBox="1"/>
          <p:nvPr/>
        </p:nvSpPr>
        <p:spPr>
          <a:xfrm>
            <a:off x="6397600" y="1796796"/>
            <a:ext cx="2700560" cy="182880"/>
          </a:xfrm>
          <a:prstGeom prst="rect">
            <a:avLst/>
          </a:prstGeom>
          <a:noFill/>
        </p:spPr>
        <p:txBody>
          <a:bodyPr wrap="square" lIns="0" rIns="0" tIns="0" bIns="0" anchor="t">
            <a:noAutofit/>
          </a:bodyPr>
          <a:lstStyle/>
          <a:p>
            <a:pPr algn="l">
              <a:lnSpc>
                <a:spcPct val="100000"/>
              </a:lnSpc>
            </a:pPr>
            <a:r>
              <a:rPr sz="900" b="1" i="0">
                <a:solidFill>
                  <a:srgbClr val="57687A"/>
                </a:solidFill>
                <a:latin typeface="Segoe UI"/>
              </a:rPr>
              <a:t>Open = 100</a:t>
            </a:r>
          </a:p>
        </p:txBody>
      </p:sp>
      <p:cxnSp>
        <p:nvCxnSpPr>
          <p:cNvPr id="13" name="Connector 12"/>
          <p:cNvCxnSpPr/>
          <p:nvPr/>
        </p:nvCxnSpPr>
        <p:spPr>
          <a:xfrm>
            <a:off x="6812159" y="483717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397600" y="475488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98.7</a:t>
            </a:r>
          </a:p>
        </p:txBody>
      </p:sp>
      <p:cxnSp>
        <p:nvCxnSpPr>
          <p:cNvPr id="15" name="Connector 14"/>
          <p:cNvCxnSpPr/>
          <p:nvPr/>
        </p:nvCxnSpPr>
        <p:spPr>
          <a:xfrm>
            <a:off x="6812159" y="4191381"/>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397600" y="4109085"/>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99.5</a:t>
            </a:r>
          </a:p>
        </p:txBody>
      </p:sp>
      <p:cxnSp>
        <p:nvCxnSpPr>
          <p:cNvPr id="17" name="Connector 16"/>
          <p:cNvCxnSpPr/>
          <p:nvPr/>
        </p:nvCxnSpPr>
        <p:spPr>
          <a:xfrm>
            <a:off x="6812159" y="354558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397600" y="346329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100.2</a:t>
            </a:r>
          </a:p>
        </p:txBody>
      </p:sp>
      <p:cxnSp>
        <p:nvCxnSpPr>
          <p:cNvPr id="19" name="Connector 18"/>
          <p:cNvCxnSpPr/>
          <p:nvPr/>
        </p:nvCxnSpPr>
        <p:spPr>
          <a:xfrm>
            <a:off x="6812159" y="2899791"/>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97600" y="2817495"/>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101.0</a:t>
            </a:r>
          </a:p>
        </p:txBody>
      </p:sp>
      <p:cxnSp>
        <p:nvCxnSpPr>
          <p:cNvPr id="21" name="Connector 20"/>
          <p:cNvCxnSpPr/>
          <p:nvPr/>
        </p:nvCxnSpPr>
        <p:spPr>
          <a:xfrm>
            <a:off x="6812159" y="225399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97600" y="217170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101.8</a:t>
            </a:r>
          </a:p>
        </p:txBody>
      </p:sp>
      <p:cxnSp>
        <p:nvCxnSpPr>
          <p:cNvPr id="23" name="Connector 22"/>
          <p:cNvCxnSpPr/>
          <p:nvPr/>
        </p:nvCxnSpPr>
        <p:spPr>
          <a:xfrm>
            <a:off x="8118724" y="2107692"/>
            <a:ext cx="0" cy="272948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64444" y="2016252"/>
            <a:ext cx="861099"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Speech shuru</a:t>
            </a:r>
          </a:p>
        </p:txBody>
      </p:sp>
      <p:sp>
        <p:nvSpPr>
          <p:cNvPr id="25" name="Freeform 24"/>
          <p:cNvSpPr/>
          <p:nvPr/>
        </p:nvSpPr>
        <p:spPr>
          <a:xfrm>
            <a:off x="6812159" y="2432146"/>
            <a:ext cx="4666304" cy="2226880"/>
          </a:xfrm>
          <a:custGeom>
            <a:avLst/>
            <a:gdLst/>
            <a:ahLst/>
            <a:cxnLst/>
            <a:rect l="l" t="t" r="r" b="b"/>
            <a:pathLst>
              <a:path w="4666304" h="2226880">
                <a:moveTo>
                  <a:pt x="0" y="1319633"/>
                </a:moveTo>
                <a:lnTo>
                  <a:pt x="186653" y="1072201"/>
                </a:lnTo>
                <a:lnTo>
                  <a:pt x="373305" y="907247"/>
                </a:lnTo>
                <a:lnTo>
                  <a:pt x="559957" y="989724"/>
                </a:lnTo>
                <a:lnTo>
                  <a:pt x="746609" y="824770"/>
                </a:lnTo>
                <a:lnTo>
                  <a:pt x="933261" y="742293"/>
                </a:lnTo>
                <a:lnTo>
                  <a:pt x="1119913" y="824770"/>
                </a:lnTo>
                <a:lnTo>
                  <a:pt x="1306565" y="659816"/>
                </a:lnTo>
                <a:lnTo>
                  <a:pt x="1493218" y="247431"/>
                </a:lnTo>
                <a:lnTo>
                  <a:pt x="1679870" y="0"/>
                </a:lnTo>
                <a:lnTo>
                  <a:pt x="1866522" y="577339"/>
                </a:lnTo>
                <a:lnTo>
                  <a:pt x="2053174" y="1154679"/>
                </a:lnTo>
                <a:lnTo>
                  <a:pt x="2239826" y="1649541"/>
                </a:lnTo>
                <a:lnTo>
                  <a:pt x="2426478" y="2061926"/>
                </a:lnTo>
                <a:lnTo>
                  <a:pt x="2613131" y="1732018"/>
                </a:lnTo>
                <a:lnTo>
                  <a:pt x="2799783" y="1237156"/>
                </a:lnTo>
                <a:lnTo>
                  <a:pt x="2986435" y="1814495"/>
                </a:lnTo>
                <a:lnTo>
                  <a:pt x="3173087" y="2226880"/>
                </a:lnTo>
                <a:lnTo>
                  <a:pt x="3359739" y="1979449"/>
                </a:lnTo>
                <a:lnTo>
                  <a:pt x="3546391" y="1649541"/>
                </a:lnTo>
                <a:lnTo>
                  <a:pt x="3733043" y="1896972"/>
                </a:lnTo>
                <a:lnTo>
                  <a:pt x="3919696" y="2144403"/>
                </a:lnTo>
                <a:lnTo>
                  <a:pt x="4106348" y="1814495"/>
                </a:lnTo>
                <a:lnTo>
                  <a:pt x="4293000" y="1567064"/>
                </a:lnTo>
                <a:lnTo>
                  <a:pt x="4479652" y="1732018"/>
                </a:lnTo>
                <a:lnTo>
                  <a:pt x="4666304" y="1649541"/>
                </a:lnTo>
              </a:path>
            </a:pathLst>
          </a:custGeom>
          <a:noFill/>
          <a:ln w="28575">
            <a:solidFill>
              <a:srgbClr val="0093D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12159" y="4873752"/>
            <a:ext cx="4666304" cy="182880"/>
          </a:xfrm>
          <a:prstGeom prst="rect">
            <a:avLst/>
          </a:prstGeom>
          <a:noFill/>
        </p:spPr>
        <p:txBody>
          <a:bodyPr wrap="square" lIns="0" rIns="0" tIns="0" bIns="0" anchor="t">
            <a:noAutofit/>
          </a:bodyPr>
          <a:lstStyle/>
          <a:p>
            <a:pPr algn="ctr">
              <a:lnSpc>
                <a:spcPct val="100000"/>
              </a:lnSpc>
            </a:pPr>
            <a:r>
              <a:rPr sz="900" b="1" i="0">
                <a:solidFill>
                  <a:srgbClr val="57687A"/>
                </a:solidFill>
                <a:latin typeface="Segoe UI"/>
              </a:rPr>
              <a:t>Time, 9:15 se 15:30</a:t>
            </a:r>
          </a:p>
        </p:txBody>
      </p:sp>
      <p:sp>
        <p:nvSpPr>
          <p:cNvPr id="27" name="Rounded Rectangle 26"/>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ounded Rectangle 27"/>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9" name="TextBox 28"/>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Rule se chhoda trade paisa nahi leta. Ek bura bada din hafton ki mehnat par paani pher sakta hai.</a:t>
            </a:r>
          </a:p>
        </p:txBody>
      </p:sp>
      <p:pic>
        <p:nvPicPr>
          <p:cNvPr id="30" name="Picture 29" descr="logo.png"/>
          <p:cNvPicPr>
            <a:picLocks noChangeAspect="1"/>
          </p:cNvPicPr>
          <p:nvPr/>
        </p:nvPicPr>
        <p:blipFill>
          <a:blip r:embed="rId2"/>
          <a:stretch>
            <a:fillRect/>
          </a:stretch>
        </p:blipFill>
        <p:spPr>
          <a:xfrm>
            <a:off x="457200" y="6437376"/>
            <a:ext cx="237744" cy="237744"/>
          </a:xfrm>
          <a:prstGeom prst="rect">
            <a:avLst/>
          </a:prstGeom>
        </p:spPr>
      </p:pic>
      <p:sp>
        <p:nvSpPr>
          <p:cNvPr id="3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2" name="TextBox 3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ke naye shabd</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518666"/>
            <a:ext cx="5154016" cy="262128"/>
          </a:xfrm>
          <a:prstGeom prst="rect">
            <a:avLst/>
          </a:prstGeom>
          <a:noFill/>
        </p:spPr>
        <p:txBody>
          <a:bodyPr wrap="square" lIns="0" rIns="0" tIns="0" bIns="0" anchor="t">
            <a:noAutofit/>
          </a:bodyPr>
          <a:lstStyle/>
          <a:p>
            <a:pPr algn="l">
              <a:lnSpc>
                <a:spcPct val="100000"/>
              </a:lnSpc>
            </a:pPr>
            <a:r>
              <a:rPr sz="1600" b="1" i="0">
                <a:solidFill>
                  <a:srgbClr val="92400E"/>
                </a:solidFill>
                <a:latin typeface="Segoe UI"/>
              </a:rPr>
              <a:t>Event</a:t>
            </a:r>
          </a:p>
        </p:txBody>
      </p:sp>
      <p:sp>
        <p:nvSpPr>
          <p:cNvPr id="6" name="TextBox 5"/>
          <p:cNvSpPr txBox="1"/>
          <p:nvPr/>
        </p:nvSpPr>
        <p:spPr>
          <a:xfrm>
            <a:off x="658368" y="1817370"/>
            <a:ext cx="5154016" cy="463296"/>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Ek tay waqt jab badi nayi jaankari ek saath market tak pahunchti hai, jaise results, RBI ka policy decision ya Budget.</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518666"/>
            <a:ext cx="5154016" cy="262128"/>
          </a:xfrm>
          <a:prstGeom prst="rect">
            <a:avLst/>
          </a:prstGeom>
          <a:noFill/>
        </p:spPr>
        <p:txBody>
          <a:bodyPr wrap="square" lIns="0" rIns="0" tIns="0" bIns="0" anchor="t">
            <a:noAutofit/>
          </a:bodyPr>
          <a:lstStyle/>
          <a:p>
            <a:pPr algn="l">
              <a:lnSpc>
                <a:spcPct val="100000"/>
              </a:lnSpc>
            </a:pPr>
            <a:r>
              <a:rPr sz="1600" b="1" i="0">
                <a:solidFill>
                  <a:srgbClr val="92400E"/>
                </a:solidFill>
                <a:latin typeface="Segoe UI"/>
              </a:rPr>
              <a:t>Event calendar</a:t>
            </a:r>
          </a:p>
        </p:txBody>
      </p:sp>
      <p:sp>
        <p:nvSpPr>
          <p:cNvPr id="9" name="TextBox 8"/>
          <p:cNvSpPr txBox="1"/>
          <p:nvPr/>
        </p:nvSpPr>
        <p:spPr>
          <a:xfrm>
            <a:off x="6379312" y="1817370"/>
            <a:ext cx="5154016" cy="463296"/>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Aane wale events ki dates ki aapki list, har date official site par check ki hui, aur uske saamne aapka rule likha hua.</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94254"/>
            <a:ext cx="5154016" cy="262128"/>
          </a:xfrm>
          <a:prstGeom prst="rect">
            <a:avLst/>
          </a:prstGeom>
          <a:noFill/>
        </p:spPr>
        <p:txBody>
          <a:bodyPr wrap="square" lIns="0" rIns="0" tIns="0" bIns="0" anchor="t">
            <a:noAutofit/>
          </a:bodyPr>
          <a:lstStyle/>
          <a:p>
            <a:pPr algn="l">
              <a:lnSpc>
                <a:spcPct val="100000"/>
              </a:lnSpc>
            </a:pPr>
            <a:r>
              <a:rPr sz="1600" b="1" i="0">
                <a:solidFill>
                  <a:srgbClr val="92400E"/>
                </a:solidFill>
                <a:latin typeface="Segoe UI"/>
              </a:rPr>
              <a:t>No-trade day</a:t>
            </a:r>
          </a:p>
        </p:txBody>
      </p:sp>
      <p:sp>
        <p:nvSpPr>
          <p:cNvPr id="12" name="TextBox 11"/>
          <p:cNvSpPr txBox="1"/>
          <p:nvPr/>
        </p:nvSpPr>
        <p:spPr>
          <a:xfrm>
            <a:off x="658368" y="3092958"/>
            <a:ext cx="5154016" cy="463296"/>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Woh din jab aapke likhe hue rules aapko kisi strategy se bahar rakhte hain. Us din bahar rehna adherence mein ginta hai.</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38628"/>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Board meeting notice</a:t>
            </a:r>
          </a:p>
        </p:txBody>
      </p:sp>
      <p:sp>
        <p:nvSpPr>
          <p:cNvPr id="15" name="TextBox 14"/>
          <p:cNvSpPr txBox="1"/>
          <p:nvPr/>
        </p:nvSpPr>
        <p:spPr>
          <a:xfrm>
            <a:off x="6379312" y="3022092"/>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Woh notice jo company NSE ya BSE ke corporate announcements mein pehle se daalti hai, ki results approve karne wali board meeting kis din hogi.</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69842"/>
            <a:ext cx="5154016" cy="262128"/>
          </a:xfrm>
          <a:prstGeom prst="rect">
            <a:avLst/>
          </a:prstGeom>
          <a:noFill/>
        </p:spPr>
        <p:txBody>
          <a:bodyPr wrap="square" lIns="0" rIns="0" tIns="0" bIns="0" anchor="t">
            <a:noAutofit/>
          </a:bodyPr>
          <a:lstStyle/>
          <a:p>
            <a:pPr algn="l">
              <a:lnSpc>
                <a:spcPct val="100000"/>
              </a:lnSpc>
            </a:pPr>
            <a:r>
              <a:rPr sz="1600" b="1" i="0">
                <a:solidFill>
                  <a:srgbClr val="92400E"/>
                </a:solidFill>
                <a:latin typeface="Segoe UI"/>
              </a:rPr>
              <a:t>Overnight event</a:t>
            </a:r>
          </a:p>
        </p:txBody>
      </p:sp>
      <p:sp>
        <p:nvSpPr>
          <p:cNvPr id="18" name="TextBox 17"/>
          <p:cNvSpPr txBox="1"/>
          <p:nvPr/>
        </p:nvSpPr>
        <p:spPr>
          <a:xfrm>
            <a:off x="658368" y="4368546"/>
            <a:ext cx="5154016" cy="463296"/>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Aisi khabar jo market band hone par aati hai aur aksar agle open par gap bankar dikhti hai.</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14216"/>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Results season</a:t>
            </a:r>
          </a:p>
        </p:txBody>
      </p:sp>
      <p:sp>
        <p:nvSpPr>
          <p:cNvPr id="21" name="TextBox 20"/>
          <p:cNvSpPr txBox="1"/>
          <p:nvPr/>
        </p:nvSpPr>
        <p:spPr>
          <a:xfrm>
            <a:off x="6379312"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Har quarter khatam hone ke baad ke woh hafte jab companies results nikaalti hain; board meeting ke notice kabhi bhi aa sakte hain.</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289804"/>
            <a:ext cx="5154016" cy="208788"/>
          </a:xfrm>
          <a:prstGeom prst="rect">
            <a:avLst/>
          </a:prstGeom>
          <a:noFill/>
        </p:spPr>
        <p:txBody>
          <a:bodyPr wrap="square" lIns="0" rIns="0" tIns="0" bIns="0" anchor="t">
            <a:noAutofit/>
          </a:bodyPr>
          <a:lstStyle/>
          <a:p>
            <a:pPr algn="l">
              <a:lnSpc>
                <a:spcPct val="100000"/>
              </a:lnSpc>
            </a:pPr>
            <a:r>
              <a:rPr sz="1250" b="1" i="0">
                <a:solidFill>
                  <a:srgbClr val="92400E"/>
                </a:solidFill>
                <a:latin typeface="Segoe UI"/>
              </a:rPr>
              <a:t>Index rebalance</a:t>
            </a:r>
          </a:p>
        </p:txBody>
      </p:sp>
      <p:sp>
        <p:nvSpPr>
          <p:cNvPr id="24" name="TextBox 23"/>
          <p:cNvSpPr txBox="1"/>
          <p:nvPr/>
        </p:nvSpPr>
        <p:spPr>
          <a:xfrm>
            <a:off x="658368" y="5535168"/>
            <a:ext cx="5154016" cy="676656"/>
          </a:xfrm>
          <a:prstGeom prst="rect">
            <a:avLst/>
          </a:prstGeom>
          <a:noFill/>
        </p:spPr>
        <p:txBody>
          <a:bodyPr wrap="square" lIns="0" rIns="0" tIns="0" bIns="0" anchor="t">
            <a:noAutofit/>
          </a:bodyPr>
          <a:lstStyle/>
          <a:p>
            <a:pPr algn="l">
              <a:lnSpc>
                <a:spcPct val="100000"/>
              </a:lnSpc>
            </a:pPr>
            <a:r>
              <a:rPr sz="1050" b="0" i="0">
                <a:solidFill>
                  <a:srgbClr val="18232F"/>
                </a:solidFill>
                <a:latin typeface="Segoe UI"/>
              </a:rPr>
              <a:t>NIFTY 50 jaise index ki stocks wali list mein badlaav, jo hafton pehle announce hota hai. Index funds aane wala stock khareedte hain aur jaane wala bechte hain, aksar badlaav se pehle wale aakhri din ke close ke aas-paas, isliye woh volume mechanical hai, signal nahi.</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299710"/>
            <a:ext cx="5154016" cy="231648"/>
          </a:xfrm>
          <a:prstGeom prst="rect">
            <a:avLst/>
          </a:prstGeom>
          <a:noFill/>
        </p:spPr>
        <p:txBody>
          <a:bodyPr wrap="square" lIns="0" rIns="0" tIns="0" bIns="0" anchor="t">
            <a:noAutofit/>
          </a:bodyPr>
          <a:lstStyle/>
          <a:p>
            <a:pPr algn="l">
              <a:lnSpc>
                <a:spcPct val="100000"/>
              </a:lnSpc>
            </a:pPr>
            <a:r>
              <a:rPr sz="1400" b="1" i="0">
                <a:solidFill>
                  <a:srgbClr val="92400E"/>
                </a:solidFill>
                <a:latin typeface="Segoe UI"/>
              </a:rPr>
              <a:t>Expiry day</a:t>
            </a:r>
          </a:p>
        </p:txBody>
      </p:sp>
      <p:sp>
        <p:nvSpPr>
          <p:cNvPr id="27" name="TextBox 26"/>
          <p:cNvSpPr txBox="1"/>
          <p:nvPr/>
        </p:nvSpPr>
        <p:spPr>
          <a:xfrm>
            <a:off x="6379312" y="5567934"/>
            <a:ext cx="5154016" cy="585216"/>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Woh din jab koi F&amp;O contract khatam hota hai, jo exchange tay karta hai (Day 18). Us din index zyada uchhal-kood kar sakta hai. Stage 1 mein F&amp;O trade hota hi nahi, isliye yeh calendar par ek note hai, no-trade day nahi.</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saar, ek page par</a:t>
            </a:r>
          </a:p>
        </p:txBody>
      </p:sp>
      <p:cxnSp>
        <p:nvCxnSpPr>
          <p:cNvPr id="4" name="Connector 3"/>
          <p:cNvCxnSpPr/>
          <p:nvPr/>
        </p:nvCxnSpPr>
        <p:spPr>
          <a:xfrm flipH="1" flipV="1">
            <a:off x="4358488" y="2044256"/>
            <a:ext cx="502920" cy="1759648"/>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0"/>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759648"/>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430970"/>
            <a:ext cx="502920" cy="1372934"/>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276225"/>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649158"/>
          </a:xfrm>
          <a:prstGeom prst="curvedConnector3">
            <a:avLst/>
          </a:prstGeom>
          <a:ln w="22225">
            <a:solidFill>
              <a:srgbClr val="57687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Event calendar aur no-trade days</a:t>
            </a:r>
          </a:p>
        </p:txBody>
      </p:sp>
      <p:sp>
        <p:nvSpPr>
          <p:cNvPr id="11" name="Rounded Rectangle 10"/>
          <p:cNvSpPr/>
          <p:nvPr/>
        </p:nvSpPr>
        <p:spPr>
          <a:xfrm>
            <a:off x="640080" y="1371028"/>
            <a:ext cx="3718408" cy="1346454"/>
          </a:xfrm>
          <a:prstGeom prst="roundRect">
            <a:avLst>
              <a:gd name="adj" fmla="val 8149"/>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480757"/>
            <a:ext cx="3425800" cy="262128"/>
          </a:xfrm>
          <a:prstGeom prst="rect">
            <a:avLst/>
          </a:prstGeom>
          <a:noFill/>
        </p:spPr>
        <p:txBody>
          <a:bodyPr wrap="square" lIns="0" rIns="0" tIns="0" bIns="0" anchor="t">
            <a:noAutofit/>
          </a:bodyPr>
          <a:lstStyle/>
          <a:p>
            <a:pPr algn="l">
              <a:lnSpc>
                <a:spcPct val="100000"/>
              </a:lnSpc>
            </a:pPr>
            <a:r>
              <a:rPr sz="1600" b="1" i="0">
                <a:solidFill>
                  <a:srgbClr val="991B1B"/>
                </a:solidFill>
                <a:latin typeface="Segoe UI"/>
              </a:rPr>
              <a:t>Events kyun maayne rakhte hain</a:t>
            </a:r>
          </a:p>
        </p:txBody>
      </p:sp>
      <p:sp>
        <p:nvSpPr>
          <p:cNvPr id="13" name="TextBox 12"/>
          <p:cNvSpPr txBox="1"/>
          <p:nvPr/>
        </p:nvSpPr>
        <p:spPr>
          <a:xfrm>
            <a:off x="786384" y="1797749"/>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F0554E"/>
              </a:buClr>
              <a:buFont typeface="Arial"/>
              <a:buChar char="•"/>
            </a:pPr>
            <a:r>
              <a:rPr sz="1450" b="0" i="0">
                <a:solidFill>
                  <a:srgbClr val="18232F"/>
                </a:solidFill>
                <a:latin typeface="Segoe UI"/>
              </a:rPr>
              <a:t>Badi khabar ek saath aati hai</a:t>
            </a:r>
          </a:p>
          <a:p>
            <a:pPr algn="l" marL="182880" indent="-182880">
              <a:lnSpc>
                <a:spcPct val="100000"/>
              </a:lnSpc>
              <a:spcAft>
                <a:spcPts val="434"/>
              </a:spcAft>
              <a:buClr>
                <a:srgbClr val="F0554E"/>
              </a:buClr>
              <a:buFont typeface="Arial"/>
              <a:buChar char="•"/>
            </a:pPr>
            <a:r>
              <a:rPr sz="1450" b="0" i="0">
                <a:solidFill>
                  <a:srgbClr val="18232F"/>
                </a:solidFill>
                <a:latin typeface="Segoe UI"/>
              </a:rPr>
              <a:t>Gap 1R ko 2R bana sakta hai</a:t>
            </a:r>
          </a:p>
          <a:p>
            <a:pPr algn="l" marL="182880" indent="-182880">
              <a:lnSpc>
                <a:spcPct val="100000"/>
              </a:lnSpc>
              <a:buClr>
                <a:srgbClr val="F0554E"/>
              </a:buClr>
              <a:buFont typeface="Arial"/>
              <a:buChar char="•"/>
            </a:pPr>
            <a:r>
              <a:rPr sz="1450" b="0" i="0">
                <a:solidFill>
                  <a:srgbClr val="18232F"/>
                </a:solidFill>
                <a:latin typeface="Segoe UI"/>
              </a:rPr>
              <a:t>Zyadatar dates pehle se public</a:t>
            </a:r>
          </a:p>
        </p:txBody>
      </p:sp>
      <p:sp>
        <p:nvSpPr>
          <p:cNvPr id="14" name="Rounded Rectangle 13"/>
          <p:cNvSpPr/>
          <p:nvPr/>
        </p:nvSpPr>
        <p:spPr>
          <a:xfrm>
            <a:off x="640080" y="2882074"/>
            <a:ext cx="3718408" cy="1843659"/>
          </a:xfrm>
          <a:prstGeom prst="roundRect">
            <a:avLst>
              <a:gd name="adj" fmla="val 595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2991802"/>
            <a:ext cx="3425800" cy="262128"/>
          </a:xfrm>
          <a:prstGeom prst="rect">
            <a:avLst/>
          </a:prstGeom>
          <a:noFill/>
        </p:spPr>
        <p:txBody>
          <a:bodyPr wrap="square" lIns="0" rIns="0" tIns="0" bIns="0" anchor="t">
            <a:noAutofit/>
          </a:bodyPr>
          <a:lstStyle/>
          <a:p>
            <a:pPr algn="l">
              <a:lnSpc>
                <a:spcPct val="100000"/>
              </a:lnSpc>
            </a:pPr>
            <a:r>
              <a:rPr sz="1600" b="1" i="0">
                <a:solidFill>
                  <a:srgbClr val="095A90"/>
                </a:solidFill>
                <a:latin typeface="Segoe UI"/>
              </a:rPr>
              <a:t>Teen jagah</a:t>
            </a:r>
          </a:p>
        </p:txBody>
      </p:sp>
      <p:sp>
        <p:nvSpPr>
          <p:cNvPr id="16" name="TextBox 15"/>
          <p:cNvSpPr txBox="1"/>
          <p:nvPr/>
        </p:nvSpPr>
        <p:spPr>
          <a:xfrm>
            <a:off x="786384" y="3308794"/>
            <a:ext cx="3425800" cy="1416939"/>
          </a:xfrm>
          <a:prstGeom prst="rect">
            <a:avLst/>
          </a:prstGeom>
          <a:noFill/>
        </p:spPr>
        <p:txBody>
          <a:bodyPr wrap="square" lIns="0" rIns="0" tIns="0" bIns="0" anchor="t">
            <a:noAutofit/>
          </a:bodyPr>
          <a:lstStyle/>
          <a:p>
            <a:pPr algn="l" marL="182880" indent="-182880">
              <a:lnSpc>
                <a:spcPct val="100000"/>
              </a:lnSpc>
              <a:spcAft>
                <a:spcPts val="434"/>
              </a:spcAft>
              <a:buClr>
                <a:srgbClr val="0093D6"/>
              </a:buClr>
              <a:buFont typeface="Arial"/>
              <a:buChar char="•"/>
            </a:pPr>
            <a:r>
              <a:rPr sz="1450" b="0" i="0">
                <a:solidFill>
                  <a:srgbClr val="18232F"/>
                </a:solidFill>
                <a:latin typeface="Segoe UI"/>
              </a:rPr>
              <a:t>Stock: results, ex-dates</a:t>
            </a:r>
          </a:p>
          <a:p>
            <a:pPr algn="l" marL="182880" indent="-182880">
              <a:lnSpc>
                <a:spcPct val="100000"/>
              </a:lnSpc>
              <a:spcAft>
                <a:spcPts val="434"/>
              </a:spcAft>
              <a:buClr>
                <a:srgbClr val="0093D6"/>
              </a:buClr>
              <a:buFont typeface="Arial"/>
              <a:buChar char="•"/>
            </a:pPr>
            <a:r>
              <a:rPr sz="1450" b="0" i="0">
                <a:solidFill>
                  <a:srgbClr val="18232F"/>
                </a:solidFill>
                <a:latin typeface="Segoe UI"/>
              </a:rPr>
              <a:t>India: RBI, Budget, holidays, expiry</a:t>
            </a:r>
          </a:p>
          <a:p>
            <a:pPr algn="l" marL="182880" indent="-182880">
              <a:lnSpc>
                <a:spcPct val="100000"/>
              </a:lnSpc>
              <a:spcAft>
                <a:spcPts val="434"/>
              </a:spcAft>
              <a:buClr>
                <a:srgbClr val="0093D6"/>
              </a:buClr>
              <a:buFont typeface="Arial"/>
              <a:buChar char="•"/>
            </a:pPr>
            <a:r>
              <a:rPr sz="1450" b="0" i="0">
                <a:solidFill>
                  <a:srgbClr val="18232F"/>
                </a:solidFill>
                <a:latin typeface="Segoe UI"/>
              </a:rPr>
              <a:t>Index badlaav: volume mechanical hai</a:t>
            </a:r>
          </a:p>
          <a:p>
            <a:pPr algn="l" marL="182880" indent="-182880">
              <a:lnSpc>
                <a:spcPct val="100000"/>
              </a:lnSpc>
              <a:buClr>
                <a:srgbClr val="0093D6"/>
              </a:buClr>
              <a:buFont typeface="Arial"/>
              <a:buChar char="•"/>
            </a:pPr>
            <a:r>
              <a:rPr sz="1450" b="0" i="0">
                <a:solidFill>
                  <a:srgbClr val="18232F"/>
                </a:solidFill>
                <a:latin typeface="Segoe UI"/>
              </a:rPr>
              <a:t>Duniya: Fed, US data, achanak khabrein</a:t>
            </a:r>
          </a:p>
        </p:txBody>
      </p:sp>
      <p:sp>
        <p:nvSpPr>
          <p:cNvPr id="17" name="Rounded Rectangle 16"/>
          <p:cNvSpPr/>
          <p:nvPr/>
        </p:nvSpPr>
        <p:spPr>
          <a:xfrm>
            <a:off x="640080" y="4890326"/>
            <a:ext cx="3718408" cy="1346454"/>
          </a:xfrm>
          <a:prstGeom prst="roundRect">
            <a:avLst>
              <a:gd name="adj" fmla="val 8149"/>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5000054"/>
            <a:ext cx="3425800" cy="262128"/>
          </a:xfrm>
          <a:prstGeom prst="rect">
            <a:avLst/>
          </a:prstGeom>
          <a:noFill/>
        </p:spPr>
        <p:txBody>
          <a:bodyPr wrap="square" lIns="0" rIns="0" tIns="0" bIns="0" anchor="t">
            <a:noAutofit/>
          </a:bodyPr>
          <a:lstStyle/>
          <a:p>
            <a:pPr algn="l">
              <a:lnSpc>
                <a:spcPct val="100000"/>
              </a:lnSpc>
            </a:pPr>
            <a:r>
              <a:rPr sz="1600" b="1" i="0">
                <a:solidFill>
                  <a:srgbClr val="92400E"/>
                </a:solidFill>
                <a:latin typeface="Segoe UI"/>
              </a:rPr>
              <a:t>Timing</a:t>
            </a:r>
          </a:p>
        </p:txBody>
      </p:sp>
      <p:sp>
        <p:nvSpPr>
          <p:cNvPr id="19" name="TextBox 18"/>
          <p:cNvSpPr txBox="1"/>
          <p:nvPr/>
        </p:nvSpPr>
        <p:spPr>
          <a:xfrm>
            <a:off x="786384" y="5317046"/>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F5A524"/>
              </a:buClr>
              <a:buFont typeface="Arial"/>
              <a:buChar char="•"/>
            </a:pPr>
            <a:r>
              <a:rPr sz="1450" b="0" i="0">
                <a:solidFill>
                  <a:srgbClr val="18232F"/>
                </a:solidFill>
                <a:latin typeface="Segoe UI"/>
              </a:rPr>
              <a:t>Market ke ghante: ORB par asar</a:t>
            </a:r>
          </a:p>
          <a:p>
            <a:pPr algn="l" marL="182880" indent="-182880">
              <a:lnSpc>
                <a:spcPct val="100000"/>
              </a:lnSpc>
              <a:spcAft>
                <a:spcPts val="434"/>
              </a:spcAft>
              <a:buClr>
                <a:srgbClr val="F5A524"/>
              </a:buClr>
              <a:buFont typeface="Arial"/>
              <a:buChar char="•"/>
            </a:pPr>
            <a:r>
              <a:rPr sz="1450" b="0" i="0">
                <a:solidFill>
                  <a:srgbClr val="18232F"/>
                </a:solidFill>
                <a:latin typeface="Segoe UI"/>
              </a:rPr>
              <a:t>Raat: swing par asar</a:t>
            </a:r>
          </a:p>
          <a:p>
            <a:pPr algn="l" marL="182880" indent="-182880">
              <a:lnSpc>
                <a:spcPct val="100000"/>
              </a:lnSpc>
              <a:buClr>
                <a:srgbClr val="F5A524"/>
              </a:buClr>
              <a:buFont typeface="Arial"/>
              <a:buChar char="•"/>
            </a:pPr>
            <a:r>
              <a:rPr sz="1450" b="0" i="0">
                <a:solidFill>
                  <a:srgbClr val="18232F"/>
                </a:solidFill>
                <a:latin typeface="Segoe UI"/>
              </a:rPr>
              <a:t>Official time confirm karein</a:t>
            </a:r>
          </a:p>
        </p:txBody>
      </p:sp>
      <p:sp>
        <p:nvSpPr>
          <p:cNvPr id="20" name="Rounded Rectangle 19"/>
          <p:cNvSpPr/>
          <p:nvPr/>
        </p:nvSpPr>
        <p:spPr>
          <a:xfrm>
            <a:off x="7833208" y="1619631"/>
            <a:ext cx="3718408" cy="1622679"/>
          </a:xfrm>
          <a:prstGeom prst="roundRect">
            <a:avLst>
              <a:gd name="adj" fmla="val 6762"/>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729359"/>
            <a:ext cx="3425800" cy="262128"/>
          </a:xfrm>
          <a:prstGeom prst="rect">
            <a:avLst/>
          </a:prstGeom>
          <a:noFill/>
        </p:spPr>
        <p:txBody>
          <a:bodyPr wrap="square" lIns="0" rIns="0" tIns="0" bIns="0" anchor="t">
            <a:noAutofit/>
          </a:bodyPr>
          <a:lstStyle/>
          <a:p>
            <a:pPr algn="l">
              <a:lnSpc>
                <a:spcPct val="100000"/>
              </a:lnSpc>
            </a:pPr>
            <a:r>
              <a:rPr sz="1600" b="1" i="0">
                <a:solidFill>
                  <a:srgbClr val="166534"/>
                </a:solidFill>
                <a:latin typeface="Segoe UI"/>
              </a:rPr>
              <a:t>Aapke rules</a:t>
            </a:r>
          </a:p>
        </p:txBody>
      </p:sp>
      <p:sp>
        <p:nvSpPr>
          <p:cNvPr id="22" name="TextBox 21"/>
          <p:cNvSpPr txBox="1"/>
          <p:nvPr/>
        </p:nvSpPr>
        <p:spPr>
          <a:xfrm>
            <a:off x="7979512" y="2046351"/>
            <a:ext cx="3425800" cy="1195959"/>
          </a:xfrm>
          <a:prstGeom prst="rect">
            <a:avLst/>
          </a:prstGeom>
          <a:noFill/>
        </p:spPr>
        <p:txBody>
          <a:bodyPr wrap="square" lIns="0" rIns="0" tIns="0" bIns="0" anchor="t">
            <a:noAutofit/>
          </a:bodyPr>
          <a:lstStyle/>
          <a:p>
            <a:pPr algn="l" marL="182880" indent="-182880">
              <a:lnSpc>
                <a:spcPct val="100000"/>
              </a:lnSpc>
              <a:spcAft>
                <a:spcPts val="434"/>
              </a:spcAft>
              <a:buClr>
                <a:srgbClr val="16A34A"/>
              </a:buClr>
              <a:buFont typeface="Arial"/>
              <a:buChar char="•"/>
            </a:pPr>
            <a:r>
              <a:rPr sz="1450" b="0" i="0">
                <a:solidFill>
                  <a:srgbClr val="18232F"/>
                </a:solidFill>
                <a:latin typeface="Segoe UI"/>
              </a:rPr>
              <a:t>Window mein results: nayi swing nahi</a:t>
            </a:r>
          </a:p>
          <a:p>
            <a:pPr algn="l" marL="182880" indent="-182880">
              <a:lnSpc>
                <a:spcPct val="100000"/>
              </a:lnSpc>
              <a:spcAft>
                <a:spcPts val="434"/>
              </a:spcAft>
              <a:buClr>
                <a:srgbClr val="16A34A"/>
              </a:buClr>
              <a:buFont typeface="Arial"/>
              <a:buChar char="•"/>
            </a:pPr>
            <a:r>
              <a:rPr sz="1450" b="0" i="0">
                <a:solidFill>
                  <a:srgbClr val="18232F"/>
                </a:solidFill>
                <a:latin typeface="Segoe UI"/>
              </a:rPr>
              <a:t>RBI ya Budget day: ORB nahi</a:t>
            </a:r>
          </a:p>
          <a:p>
            <a:pPr algn="l" marL="182880" indent="-182880">
              <a:lnSpc>
                <a:spcPct val="100000"/>
              </a:lnSpc>
              <a:spcAft>
                <a:spcPts val="434"/>
              </a:spcAft>
              <a:buClr>
                <a:srgbClr val="16A34A"/>
              </a:buClr>
              <a:buFont typeface="Arial"/>
              <a:buChar char="•"/>
            </a:pPr>
            <a:r>
              <a:rPr sz="1450" b="0" i="0">
                <a:solidFill>
                  <a:srgbClr val="18232F"/>
                </a:solidFill>
                <a:latin typeface="Segoe UI"/>
              </a:rPr>
              <a:t>List chhoti rakhiye</a:t>
            </a:r>
          </a:p>
          <a:p>
            <a:pPr algn="l" marL="182880" indent="-182880">
              <a:lnSpc>
                <a:spcPct val="100000"/>
              </a:lnSpc>
              <a:buClr>
                <a:srgbClr val="16A34A"/>
              </a:buClr>
              <a:buFont typeface="Arial"/>
              <a:buChar char="•"/>
            </a:pPr>
            <a:r>
              <a:rPr sz="1450" b="0" i="0">
                <a:solidFill>
                  <a:srgbClr val="18232F"/>
                </a:solidFill>
                <a:latin typeface="Segoe UI"/>
              </a:rPr>
              <a:t>Rule se skip = adherence</a:t>
            </a:r>
          </a:p>
        </p:txBody>
      </p:sp>
      <p:sp>
        <p:nvSpPr>
          <p:cNvPr id="23" name="Rounded Rectangle 22"/>
          <p:cNvSpPr/>
          <p:nvPr/>
        </p:nvSpPr>
        <p:spPr>
          <a:xfrm>
            <a:off x="7833208" y="3406902"/>
            <a:ext cx="3718408" cy="1346454"/>
          </a:xfrm>
          <a:prstGeom prst="roundRect">
            <a:avLst>
              <a:gd name="adj" fmla="val 8149"/>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516630"/>
            <a:ext cx="3425800" cy="262128"/>
          </a:xfrm>
          <a:prstGeom prst="rect">
            <a:avLst/>
          </a:prstGeom>
          <a:noFill/>
        </p:spPr>
        <p:txBody>
          <a:bodyPr wrap="square" lIns="0" rIns="0" tIns="0" bIns="0" anchor="t">
            <a:noAutofit/>
          </a:bodyPr>
          <a:lstStyle/>
          <a:p>
            <a:pPr algn="l">
              <a:lnSpc>
                <a:spcPct val="100000"/>
              </a:lnSpc>
            </a:pPr>
            <a:r>
              <a:rPr sz="1600" b="1" i="0">
                <a:solidFill>
                  <a:srgbClr val="095A90"/>
                </a:solidFill>
                <a:latin typeface="Segoe UI"/>
              </a:rPr>
              <a:t>Aapka calendar</a:t>
            </a:r>
          </a:p>
        </p:txBody>
      </p:sp>
      <p:sp>
        <p:nvSpPr>
          <p:cNvPr id="25" name="TextBox 24"/>
          <p:cNvSpPr txBox="1"/>
          <p:nvPr/>
        </p:nvSpPr>
        <p:spPr>
          <a:xfrm>
            <a:off x="7979512" y="3833622"/>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0093D6"/>
              </a:buClr>
              <a:buFont typeface="Arial"/>
              <a:buChar char="•"/>
            </a:pPr>
            <a:r>
              <a:rPr sz="1450" b="0" i="0">
                <a:solidFill>
                  <a:srgbClr val="18232F"/>
                </a:solidFill>
                <a:latin typeface="Segoe UI"/>
              </a:rPr>
              <a:t>Sirf official pages</a:t>
            </a:r>
          </a:p>
          <a:p>
            <a:pPr algn="l" marL="182880" indent="-182880">
              <a:lnSpc>
                <a:spcPct val="100000"/>
              </a:lnSpc>
              <a:spcAft>
                <a:spcPts val="434"/>
              </a:spcAft>
              <a:buClr>
                <a:srgbClr val="0093D6"/>
              </a:buClr>
              <a:buFont typeface="Arial"/>
              <a:buChar char="•"/>
            </a:pPr>
            <a:r>
              <a:rPr sz="1450" b="0" i="0">
                <a:solidFill>
                  <a:srgbClr val="18232F"/>
                </a:solidFill>
                <a:latin typeface="Segoe UI"/>
              </a:rPr>
              <a:t>AI draft kare, aap verify karein</a:t>
            </a:r>
          </a:p>
          <a:p>
            <a:pPr algn="l" marL="182880" indent="-182880">
              <a:lnSpc>
                <a:spcPct val="100000"/>
              </a:lnSpc>
              <a:buClr>
                <a:srgbClr val="0093D6"/>
              </a:buClr>
              <a:buFont typeface="Arial"/>
              <a:buChar char="•"/>
            </a:pPr>
            <a:r>
              <a:rPr sz="1450" b="0" i="0">
                <a:solidFill>
                  <a:srgbClr val="18232F"/>
                </a:solidFill>
                <a:latin typeface="Segoe UI"/>
              </a:rPr>
              <a:t>Har Sunday update</a:t>
            </a:r>
          </a:p>
        </p:txBody>
      </p:sp>
      <p:sp>
        <p:nvSpPr>
          <p:cNvPr id="26" name="Rounded Rectangle 25"/>
          <p:cNvSpPr/>
          <p:nvPr/>
        </p:nvSpPr>
        <p:spPr>
          <a:xfrm>
            <a:off x="7833208" y="4917948"/>
            <a:ext cx="3718408" cy="1070229"/>
          </a:xfrm>
          <a:prstGeom prst="roundRect">
            <a:avLst>
              <a:gd name="adj" fmla="val 10252"/>
            </a:avLst>
          </a:prstGeom>
          <a:solidFill>
            <a:srgbClr val="FFFFFF"/>
          </a:solidFill>
          <a:ln w="19050">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5027676"/>
            <a:ext cx="3425800" cy="262128"/>
          </a:xfrm>
          <a:prstGeom prst="rect">
            <a:avLst/>
          </a:prstGeom>
          <a:noFill/>
        </p:spPr>
        <p:txBody>
          <a:bodyPr wrap="square" lIns="0" rIns="0" tIns="0" bIns="0" anchor="t">
            <a:noAutofit/>
          </a:bodyPr>
          <a:lstStyle/>
          <a:p>
            <a:pPr algn="l">
              <a:lnSpc>
                <a:spcPct val="100000"/>
              </a:lnSpc>
            </a:pPr>
            <a:r>
              <a:rPr sz="1600" b="1" i="0">
                <a:solidFill>
                  <a:srgbClr val="47596B"/>
                </a:solidFill>
                <a:latin typeface="Segoe UI"/>
              </a:rPr>
              <a:t>Aapka mann</a:t>
            </a:r>
          </a:p>
        </p:txBody>
      </p:sp>
      <p:sp>
        <p:nvSpPr>
          <p:cNvPr id="28" name="TextBox 27"/>
          <p:cNvSpPr txBox="1"/>
          <p:nvPr/>
        </p:nvSpPr>
        <p:spPr>
          <a:xfrm>
            <a:off x="7979512" y="5344668"/>
            <a:ext cx="3425800" cy="643509"/>
          </a:xfrm>
          <a:prstGeom prst="rect">
            <a:avLst/>
          </a:prstGeom>
          <a:noFill/>
        </p:spPr>
        <p:txBody>
          <a:bodyPr wrap="square" lIns="0" rIns="0" tIns="0" bIns="0" anchor="t">
            <a:noAutofit/>
          </a:bodyPr>
          <a:lstStyle/>
          <a:p>
            <a:pPr algn="l" marL="182880" indent="-182880">
              <a:lnSpc>
                <a:spcPct val="100000"/>
              </a:lnSpc>
              <a:spcAft>
                <a:spcPts val="434"/>
              </a:spcAft>
              <a:buClr>
                <a:srgbClr val="57687A"/>
              </a:buClr>
              <a:buFont typeface="Arial"/>
              <a:buChar char="•"/>
            </a:pPr>
            <a:r>
              <a:rPr sz="1450" b="0" i="0">
                <a:solidFill>
                  <a:srgbClr val="18232F"/>
                </a:solidFill>
                <a:latin typeface="Segoe UI"/>
              </a:rPr>
              <a:t>Bade din ka FOMO</a:t>
            </a:r>
          </a:p>
          <a:p>
            <a:pPr algn="l" marL="182880" indent="-182880">
              <a:lnSpc>
                <a:spcPct val="100000"/>
              </a:lnSpc>
              <a:buClr>
                <a:srgbClr val="57687A"/>
              </a:buClr>
              <a:buFont typeface="Arial"/>
              <a:buChar char="•"/>
            </a:pPr>
            <a:r>
              <a:rPr sz="1450" b="0" i="0">
                <a:solidFill>
                  <a:srgbClr val="18232F"/>
                </a:solidFill>
                <a:latin typeface="Segoe UI"/>
              </a:rPr>
              <a:t>Chhodne mein paisa nahi jaata</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AAJ KA KAAM</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50 min</a:t>
            </a:r>
          </a:p>
        </p:txBody>
      </p:sp>
      <p:sp>
        <p:nvSpPr>
          <p:cNvPr id="5" name="TextBox 4"/>
          <p:cNvSpPr txBox="1"/>
          <p:nvPr/>
        </p:nvSpPr>
        <p:spPr>
          <a:xfrm>
            <a:off x="457200" y="1335024"/>
            <a:ext cx="11277295" cy="554736"/>
          </a:xfrm>
          <a:prstGeom prst="rect">
            <a:avLst/>
          </a:prstGeom>
          <a:noFill/>
        </p:spPr>
        <p:txBody>
          <a:bodyPr wrap="square" lIns="0" rIns="0" tIns="0" bIns="0" anchor="t">
            <a:noAutofit/>
          </a:bodyPr>
          <a:lstStyle/>
          <a:p>
            <a:pPr algn="l">
              <a:lnSpc>
                <a:spcPct val="100000"/>
              </a:lnSpc>
            </a:pPr>
            <a:r>
              <a:rPr sz="1700" b="1" i="0">
                <a:solidFill>
                  <a:srgbClr val="18232F"/>
                </a:solidFill>
                <a:latin typeface="Segoe UI"/>
              </a:rPr>
              <a:t>Apna pehla 30 din ka event calendar sirf official dates se banaiye, har date ke saath woh rule jo aap follow karenge, aur ek date se Portfolio ki ek row bhariye.</a:t>
            </a:r>
          </a:p>
        </p:txBody>
      </p:sp>
      <p:sp>
        <p:nvSpPr>
          <p:cNvPr id="6" name="Rounded Rectangle 5"/>
          <p:cNvSpPr/>
          <p:nvPr/>
        </p:nvSpPr>
        <p:spPr>
          <a:xfrm>
            <a:off x="457200" y="203606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145792"/>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1</a:t>
            </a:r>
          </a:p>
        </p:txBody>
      </p:sp>
      <p:sp>
        <p:nvSpPr>
          <p:cNvPr id="8" name="Rounded Rectangle 7"/>
          <p:cNvSpPr/>
          <p:nvPr/>
        </p:nvSpPr>
        <p:spPr>
          <a:xfrm>
            <a:off x="11332159" y="216408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13664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Ek nayi Google Sheet (ya notebook ka ek page) kholiye aur neeche diye khaali template ke chhe column heads copy kijiye: Date, Event, Jagah-time, Kis par asar, Mera rule, Source checked. Agle steps mein har date daalte hi, aaj ki starter table se uska rule bhi turant likhiye.</a:t>
            </a:r>
          </a:p>
        </p:txBody>
      </p:sp>
      <p:sp>
        <p:nvSpPr>
          <p:cNvPr id="10" name="Rounded Rectangle 9"/>
          <p:cNvSpPr/>
          <p:nvPr/>
        </p:nvSpPr>
        <p:spPr>
          <a:xfrm>
            <a:off x="457200" y="3060192"/>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3169920"/>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a:t>
            </a:r>
          </a:p>
        </p:txBody>
      </p:sp>
      <p:sp>
        <p:nvSpPr>
          <p:cNvPr id="12" name="Rounded Rectangle 11"/>
          <p:cNvSpPr/>
          <p:nvPr/>
        </p:nvSpPr>
        <p:spPr>
          <a:xfrm>
            <a:off x="11332159" y="318820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3160776"/>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nseindia.com par holiday list se agle 30 din ki har trading holiday, NSE circulars se koi bhi special session (jaise Muhurat trading), aur option chain ki expiry list se NIFTY ki monthly expiry date (Day 18) sheet mein daaliye; uske saamne 'sirf note' likhiye.</a:t>
            </a:r>
          </a:p>
        </p:txBody>
      </p:sp>
      <p:sp>
        <p:nvSpPr>
          <p:cNvPr id="14" name="Rounded Rectangle 13"/>
          <p:cNvSpPr/>
          <p:nvPr/>
        </p:nvSpPr>
        <p:spPr>
          <a:xfrm>
            <a:off x="457200" y="4084320"/>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419404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a:t>
            </a:r>
          </a:p>
        </p:txBody>
      </p:sp>
      <p:sp>
        <p:nvSpPr>
          <p:cNvPr id="16" name="Rounded Rectangle 15"/>
          <p:cNvSpPr/>
          <p:nvPr/>
        </p:nvSpPr>
        <p:spPr>
          <a:xfrm>
            <a:off x="11332159" y="421233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4184904"/>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rbi.org.in par is saal ka monetary policy meeting schedule aur federalreserve.gov par Fed ka meeting calendar dhoondhiye; aapke 30 din mein jo bhi decision day pade, use sheet mein daaliye (RBI: meeting ka aakhri din; Fed: India ki agli trading subah likhiye, jab iska asar dikhega).</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AAJ KA KAAM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50 min</a:t>
            </a:r>
          </a:p>
        </p:txBody>
      </p:sp>
      <p:sp>
        <p:nvSpPr>
          <p:cNvPr id="5" name="Rounded Rectangle 4"/>
          <p:cNvSpPr/>
          <p:nvPr/>
        </p:nvSpPr>
        <p:spPr>
          <a:xfrm>
            <a:off x="457200" y="1335024"/>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Apni paper watchlist ke teen stocks ke liye NSE ya BSE ke corporate announcements search kijiye, aur agle 30 din mein aane wali results ki board meeting ya ex-date daaliye (agar abhi kuch announce nahi hua, toh 'none yet' likhiye aur Sunday ko dobara check kijiye). Phir niftyindices.com par NIFTY 50 ke badlaav ka latest announcement kholiye aur note kijiye ki inmein se koi aa ya ja raha hai kya.</a:t>
            </a:r>
          </a:p>
        </p:txBody>
      </p:sp>
      <p:sp>
        <p:nvSpPr>
          <p:cNvPr id="9" name="Rounded Rectangle 8"/>
          <p:cNvSpPr/>
          <p:nvPr/>
        </p:nvSpPr>
        <p:spPr>
          <a:xfrm>
            <a:off x="457200" y="2602992"/>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712720"/>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a:t>
            </a:r>
          </a:p>
        </p:txBody>
      </p:sp>
      <p:sp>
        <p:nvSpPr>
          <p:cNvPr id="11" name="Rounded Rectangle 10"/>
          <p:cNvSpPr/>
          <p:nvPr/>
        </p:nvSpPr>
        <p:spPr>
          <a:xfrm>
            <a:off x="11332159" y="273100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703576"/>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App ke Portfolio page par in teen mein se ek stock ki ek poori row bhariye, sirf virtual paise mein, Day 12 wale saaton hisson ke saath. Uske agle results ki date ko review point banaiye (abhi announce na hui ho toh 'board meeting ka agla notice'), aur 'results wale din ka gap' ko top risk, jiske jawab mein aapka likha hua rule ho.</a:t>
            </a:r>
          </a:p>
        </p:txBody>
      </p:sp>
      <p:sp>
        <p:nvSpPr>
          <p:cNvPr id="13" name="Rounded Rectangle 12"/>
          <p:cNvSpPr/>
          <p:nvPr/>
        </p:nvSpPr>
        <p:spPr>
          <a:xfrm>
            <a:off x="457200" y="387096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98068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a:t>
            </a:r>
          </a:p>
        </p:txBody>
      </p:sp>
      <p:sp>
        <p:nvSpPr>
          <p:cNvPr id="15" name="Rounded Rectangle 14"/>
          <p:cNvSpPr/>
          <p:nvPr/>
        </p:nvSpPr>
        <p:spPr>
          <a:xfrm>
            <a:off x="11332159" y="399897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97154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Stretch, lagbhag 15 minute aur: AI Lab ka 'Event calendar template' prompt chalaiye, aur AI jo bhi date ya time bataye use apni sheet se milaiye; jo match na kare use Kachra mark kijiye.</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AAJ KE BAAD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Aaj ke baad aap samjha payenge ki tay events gap aur tez uchhal-kood kyun laate hain, kisi bhi event ko uski jagah aur time se pehchaan payenge, har strategy ke hisaab se no-trade rules likh payenge, official sources se 30 din ka event calendar bana payenge, aur ek date se Portfolio ki ek poori row bhar payenge.</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Priya ka 30 din ka event calendar (model)</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Saari dates aur naam banaavati hain. Har asli date likhne se pehle official page par confirm kijiye.</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5984748"/>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Aath dates, par trade sirf do block karti hain (6 aur 12); 18 padhne ka rule hai aur baaki sirf notes. List itni chhoti rakhiye ki aap use maan sakein.</a:t>
            </a:r>
          </a:p>
        </p:txBody>
      </p:sp>
      <p:graphicFrame>
        <p:nvGraphicFramePr>
          <p:cNvPr id="7" name="Table 6"/>
          <p:cNvGraphicFramePr>
            <a:graphicFrameLocks noGrp="1"/>
          </p:cNvGraphicFramePr>
          <p:nvPr/>
        </p:nvGraphicFramePr>
        <p:xfrm>
          <a:off x="640080" y="1892808"/>
          <a:ext cx="10911535" cy="4000500"/>
        </p:xfrm>
        <a:graphic>
          <a:graphicData uri="http://schemas.openxmlformats.org/drawingml/2006/table">
            <a:tbl>
              <a:tblPr firstRow="1">
                <a:tableStyleId>{5C22544A-7EE6-4342-B048-85BDC9FD1C3A}</a:tableStyleId>
              </a:tblPr>
              <a:tblGrid>
                <a:gridCol w="731520"/>
                <a:gridCol w="2828003"/>
                <a:gridCol w="1229336"/>
                <a:gridCol w="731520"/>
                <a:gridCol w="4111194"/>
                <a:gridCol w="1279962"/>
              </a:tblGrid>
              <a:tr h="452628">
                <a:tc>
                  <a:txBody>
                    <a:bodyPr wrap="square"/>
                    <a:lstStyle/>
                    <a:p>
                      <a:pPr algn="l"/>
                      <a:r>
                        <a:rPr sz="1050" b="1" i="0">
                          <a:solidFill>
                            <a:srgbClr val="FFFFFF"/>
                          </a:solidFill>
                          <a:latin typeface="Segoe UI"/>
                        </a:rPr>
                        <a:t>Date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050" b="1" i="0">
                          <a:solidFill>
                            <a:srgbClr val="FFFFFF"/>
                          </a:solidFill>
                          <a:latin typeface="Segoe UI"/>
                        </a:rPr>
                        <a:t>Event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050" b="1" i="0">
                          <a:solidFill>
                            <a:srgbClr val="FFFFFF"/>
                          </a:solidFill>
                          <a:latin typeface="Segoe UI"/>
                        </a:rPr>
                        <a:t>Jagah, time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050" b="1" i="0">
                          <a:solidFill>
                            <a:srgbClr val="FFFFFF"/>
                          </a:solidFill>
                          <a:latin typeface="Segoe UI"/>
                        </a:rPr>
                        <a:t>Kis par asar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050" b="1" i="0">
                          <a:solidFill>
                            <a:srgbClr val="FFFFFF"/>
                          </a:solidFill>
                          <a:latin typeface="Segoe UI"/>
                        </a:rPr>
                        <a:t>Mera rule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050" b="1" i="0">
                          <a:solidFill>
                            <a:srgbClr val="FFFFFF"/>
                          </a:solidFill>
                          <a:latin typeface="Segoe UI"/>
                        </a:rPr>
                        <a:t>Source checked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283464">
                <a:tc>
                  <a:txBody>
                    <a:bodyPr wrap="square"/>
                    <a:lstStyle/>
                    <a:p>
                      <a:pPr algn="l"/>
                      <a:r>
                        <a:rPr sz="1050" b="0" i="0">
                          <a:solidFill>
                            <a:srgbClr val="18232F"/>
                          </a:solidFill>
                          <a:latin typeface="Segoe UI"/>
                        </a:rPr>
                        <a:t>6 tareekh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RBI policy decision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India, ~10 baje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ORB</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Aaj ORB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RBI site, haan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603504">
                <a:tc>
                  <a:txBody>
                    <a:bodyPr wrap="square"/>
                    <a:lstStyle/>
                    <a:p>
                      <a:pPr algn="l"/>
                      <a:r>
                        <a:rPr sz="1050" b="0" i="0">
                          <a:solidFill>
                            <a:srgbClr val="18232F"/>
                          </a:solidFill>
                          <a:latin typeface="Segoe UI"/>
                        </a:rPr>
                        <a:t>7 (Friday)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US inflation data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Duniya, shaam: Monday 10 ka open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Swing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Sirf note; stop wahi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bls.gov, haan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3484">
                <a:tc>
                  <a:txBody>
                    <a:bodyPr wrap="square"/>
                    <a:lstStyle/>
                    <a:p>
                      <a:pPr algn="l"/>
                      <a:r>
                        <a:rPr sz="1050" b="0" i="0">
                          <a:solidFill>
                            <a:srgbClr val="18232F"/>
                          </a:solidFill>
                          <a:latin typeface="Segoe UI"/>
                        </a:rPr>
                        <a:t>12 tareekh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Kiran Foods Ltd results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Stock, time nahi diya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Dono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Nayi swing entry nahi; hold ho toh 11 ko close se pehle exit; 12 ko ismein ORB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NSE notice, haan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3484">
                <a:tc>
                  <a:txBody>
                    <a:bodyPr wrap="square"/>
                    <a:lstStyle/>
                    <a:p>
                      <a:pPr algn="l"/>
                      <a:r>
                        <a:rPr sz="1050" b="0" i="0">
                          <a:solidFill>
                            <a:srgbClr val="18232F"/>
                          </a:solidFill>
                          <a:latin typeface="Segoe UI"/>
                        </a:rPr>
                        <a:t>18 tareekh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Sharma Textiles Ltd ex-dividend, Rs 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Stock, open par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Swing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Lagbhag Rs 5 girawat = adjustment, signal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NSE actions, haan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3484">
                <a:tc>
                  <a:txBody>
                    <a:bodyPr wrap="square"/>
                    <a:lstStyle/>
                    <a:p>
                      <a:pPr algn="l"/>
                      <a:r>
                        <a:rPr sz="1050" b="0" i="0">
                          <a:solidFill>
                            <a:srgbClr val="18232F"/>
                          </a:solidFill>
                          <a:latin typeface="Segoe UI"/>
                        </a:rPr>
                        <a:t>19 tareekh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US Fed decision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Duniya, raat: 20 ka open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Swing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Sirf note; stop wahi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Fed site, haan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3484">
                <a:tc>
                  <a:txBody>
                    <a:bodyPr wrap="square"/>
                    <a:lstStyle/>
                    <a:p>
                      <a:pPr algn="l"/>
                      <a:r>
                        <a:rPr sz="1050" b="0" i="0">
                          <a:solidFill>
                            <a:srgbClr val="18232F"/>
                          </a:solidFill>
                          <a:latin typeface="Segoe UI"/>
                        </a:rPr>
                        <a:t>21 (Friday)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Exchange holiday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India, 3 din band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Swing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Note: lambi raat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NSE list, haan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3484">
                <a:tc>
                  <a:txBody>
                    <a:bodyPr wrap="square"/>
                    <a:lstStyle/>
                    <a:p>
                      <a:pPr algn="l"/>
                      <a:r>
                        <a:rPr sz="1050" b="0" i="0">
                          <a:solidFill>
                            <a:srgbClr val="18232F"/>
                          </a:solidFill>
                          <a:latin typeface="Segoe UI"/>
                        </a:rPr>
                        <a:t>25 tareekh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NIFTY monthly F&amp;O expiry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India, market ke ghante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Koi nahi: F&amp;O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Sirf note, block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Option chain, haan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3484">
                <a:tc>
                  <a:txBody>
                    <a:bodyPr wrap="square"/>
                    <a:lstStyle/>
                    <a:p>
                      <a:pPr algn="l"/>
                      <a:r>
                        <a:rPr sz="1050" b="0" i="0">
                          <a:solidFill>
                            <a:srgbClr val="18232F"/>
                          </a:solidFill>
                          <a:latin typeface="Segoe UI"/>
                        </a:rPr>
                        <a:t>27 tareekh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Desai Power Ltd ke NIFTY 50 mein aane se pehle ka aakhri din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Index, close ke paas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Swing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Sirf note: close ka volume index funds ka hai, breakout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niftyindices.com, haan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Aapka 30 din ka event calendar (template)</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Ise Google Sheet ya apni notebook mein copy kijiye. 'Source checked' tabhi tick kijiye jab aapne date official page par khud dekh li ho. Har Sunday ise update kijiye.</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4023362"/>
        </p:xfrm>
        <a:graphic>
          <a:graphicData uri="http://schemas.openxmlformats.org/drawingml/2006/table">
            <a:tbl>
              <a:tblPr firstRow="1">
                <a:tableStyleId>{5C22544A-7EE6-4342-B048-85BDC9FD1C3A}</a:tableStyleId>
              </a:tblPr>
              <a:tblGrid>
                <a:gridCol w="1382807"/>
                <a:gridCol w="1382807"/>
                <a:gridCol w="1963707"/>
                <a:gridCol w="1959229"/>
                <a:gridCol w="1701067"/>
                <a:gridCol w="2521918"/>
              </a:tblGrid>
              <a:tr h="301752">
                <a:tc>
                  <a:txBody>
                    <a:bodyPr wrap="square"/>
                    <a:lstStyle/>
                    <a:p>
                      <a:pPr algn="l"/>
                      <a:r>
                        <a:rPr sz="1200" b="1" i="0">
                          <a:solidFill>
                            <a:srgbClr val="FFFFFF"/>
                          </a:solidFill>
                          <a:latin typeface="Segoe UI"/>
                        </a:rPr>
                        <a:t>Date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00" b="1" i="0">
                          <a:solidFill>
                            <a:srgbClr val="FFFFFF"/>
                          </a:solidFill>
                          <a:latin typeface="Segoe UI"/>
                        </a:rPr>
                        <a:t>Event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00" b="1" i="0">
                          <a:solidFill>
                            <a:srgbClr val="FFFFFF"/>
                          </a:solidFill>
                          <a:latin typeface="Segoe UI"/>
                        </a:rPr>
                        <a:t>Jagah, time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00" b="1" i="0">
                          <a:solidFill>
                            <a:srgbClr val="FFFFFF"/>
                          </a:solidFill>
                          <a:latin typeface="Segoe UI"/>
                        </a:rPr>
                        <a:t>Kis par asar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00" b="1" i="0">
                          <a:solidFill>
                            <a:srgbClr val="FFFFFF"/>
                          </a:solidFill>
                          <a:latin typeface="Segoe UI"/>
                        </a:rPr>
                        <a:t>Mera rule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00" b="1" i="0">
                          <a:solidFill>
                            <a:srgbClr val="FFFFFF"/>
                          </a:solidFill>
                          <a:latin typeface="Segoe UI"/>
                        </a:rPr>
                        <a:t>Source checked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72161">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72161">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72161">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72161">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72161">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72161">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72161">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72161">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72161">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72161">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Calendar treasure hunt</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Classmates, dost ya family ke saath kheliye. Score process ka, paise ka nahi.</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10 minute ka timer lagaiye aur official pages par teen dates dhoondhiye: NSE ki agli market holiday, RBI ka agla policy decision, aur apni watchlist ke kisi stock ki ek board meeting (ya confirm kijiye ki abhi koi announce nahi hui).</a:t>
            </a:r>
          </a:p>
          <a:p>
            <a:pPr algn="l">
              <a:lnSpc>
                <a:spcPct val="100000"/>
              </a:lnSpc>
              <a:spcAft>
                <a:spcPts val="700"/>
              </a:spcAft>
            </a:pPr>
            <a:r>
              <a:rPr sz="2000" b="0" i="0">
                <a:solidFill>
                  <a:srgbClr val="18232F"/>
                </a:solidFill>
                <a:latin typeface="Segoe UI"/>
              </a:rPr>
              <a:t>Har source page ka screenshot le lijiye.</a:t>
            </a:r>
          </a:p>
          <a:p>
            <a:pPr algn="l">
              <a:lnSpc>
                <a:spcPct val="100000"/>
              </a:lnSpc>
              <a:spcAft>
                <a:spcPts val="700"/>
              </a:spcAft>
            </a:pPr>
            <a:r>
              <a:rPr sz="2000" b="0" i="0">
                <a:solidFill>
                  <a:srgbClr val="18232F"/>
                </a:solidFill>
                <a:latin typeface="Segoe UI"/>
              </a:rPr>
              <a:t>Classmates ke saath answers milaiye; agar do logon ko alag dates mili hain, toh pata lagaiye ki kaunsa page sahi tha aur kyun.</a:t>
            </a:r>
          </a:p>
          <a:p>
            <a:pPr algn="l">
              <a:lnSpc>
                <a:spcPct val="100000"/>
              </a:lnSpc>
            </a:pPr>
            <a:r>
              <a:rPr sz="2000" b="0" i="0">
                <a:solidFill>
                  <a:srgbClr val="18232F"/>
                </a:solidFill>
                <a:latin typeface="Segoe UI"/>
              </a:rPr>
              <a:t>Akele hain? Agle Sunday apna hi time beat karke dikhaiye.</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Event calendar builder: AI draft banaye, official sites faisla karein</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Event calendar template</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“Build a blank 30-day event calendar template for an Indian beginner who paper-trades NSE cash stocks with two strategies: an EMA pullback swing strategy that holds positions overnight, and an optional opening range breakout that is intraday only.”</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2</a:t>
            </a:r>
          </a:p>
        </p:txBody>
      </p:sp>
      <p:sp>
        <p:nvSpPr>
          <p:cNvPr id="11" name="TextBox 10"/>
          <p:cNvSpPr txBox="1"/>
          <p:nvPr/>
        </p:nvSpPr>
        <p:spPr>
          <a:xfrm>
            <a:off x="4478426"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Event ya shor?</a:t>
            </a:r>
          </a:p>
        </p:txBody>
      </p:sp>
      <p:sp>
        <p:nvSpPr>
          <p:cNvPr id="12" name="TextBox 11"/>
          <p:cNvSpPr txBox="1"/>
          <p:nvPr/>
        </p:nvSpPr>
        <p:spPr>
          <a:xfrm>
            <a:off x="4478426"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3" name="TextBox 12"/>
          <p:cNvSpPr txBox="1"/>
          <p:nvPr/>
        </p:nvSpPr>
        <p:spPr>
          <a:xfrm>
            <a:off x="4478426"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“I will paste up to 10 items I collected about the coming month: headlines, forwarded messages and my own notes.”</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Big-day FOMO check</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“Act as a calm trading-psychology coach. Ask me 5 short questions, one at a time, about how I feel and behave on big market days such as Budget day, an RBI policy day or a results day for a stock I follow: what I watch, whom I listen to, and what I did the last time I felt I might miss out.”</a:t>
            </a:r>
          </a:p>
        </p:txBody>
      </p:sp>
      <p:sp>
        <p:nvSpPr>
          <p:cNvPr id="19" name="Oval 18"/>
          <p:cNvSpPr/>
          <p:nvPr/>
        </p:nvSpPr>
        <p:spPr>
          <a:xfrm>
            <a:off x="457200"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App se prompt copy kijiye</a:t>
            </a:r>
          </a:p>
        </p:txBody>
      </p:sp>
      <p:sp>
        <p:nvSpPr>
          <p:cNvPr id="21" name="Oval 20"/>
          <p:cNvSpPr/>
          <p:nvPr/>
        </p:nvSpPr>
        <p:spPr>
          <a:xfrm>
            <a:off x="4277258"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Kisi bhi AI chat mein paste kijiye</a:t>
            </a:r>
          </a:p>
        </p:txBody>
      </p:sp>
      <p:sp>
        <p:nvSpPr>
          <p:cNvPr id="23" name="Oval 22"/>
          <p:cNvSpPr/>
          <p:nvPr/>
        </p:nvSpPr>
        <p:spPr>
          <a:xfrm>
            <a:off x="8097317"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Har Fact khud check kijiye</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analyst hai, faisla aap karte hain. Kisi bhi AI mein PAN, client ID, password, OTP ya API key kabhi paste mat kijiye, aur AI ka jawab kabhi buy ya sell call bana kar aage mat bhejiye.</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Poora prompt: speaker notes mein, aur app ke AI Lab tab mein.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QUICK QUIZ · SAWAAL 1/5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 ke paas Bharat Pumps Ltd ke 250 shares hain, Rs 800 par khareede, stop Rs 760 par, yaani 1R = Rs 10,000. Market band hone ke baad results aate hain, aur agli subah stock Rs 680 par khulta hai. Stop open par hi fill hota hai. Is trade mein kitna loss hua?</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1.5R, lagbhag Rs 15,000</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1R, jaisa stop mein tay tha</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3R, lagbhag Rs 30,000</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2R, lagbhag Rs 20,000</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QUICK QUIZ · SAWAAL 2/5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Office se ek din ki chhutti par Aman ek liquid cash stock mein optional ORB paper par trade karta hai. Aaj RBI ka policy decision subah lagbhag 10 baje aana hai, aur uski opening range 9:15 se 9:30 ke beech banti hai. Ek samajhdaar no-trade list use kya kehti hai?</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Aaj ORB skip; range khabar se pehle banti hai</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Trade kijiye; RBI sirf banks ko hilata hai</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Trade kijiye, par tabhi jab range 10 baje se pehle toote</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Trade kijiye, par swings ke liye stop chauda rakhiye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QUICK QUIZ · SAWAAL 3/5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Aapki swing position raat bhar hold hai. Kaunsa event uspar din ke jhatkon ki tarah nahi, balki agli subah ke open par gap bankar sabse zyada asar karega?</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Dopahar 1 baje aaye results</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11 baje ke aas-paas shuru hui Budget speech</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Subah lagbhag 10 baje aaya RBI ka policy decision</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India ki raat mein aaya US Fed ka decision</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QUICK QUIZ · SAWAAL 4/5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Ek AI chat aapko batati hai ki Kiran Foods Ltd 14 tareekh ko results announce karegi. Us date par no-trade rule mark karne se pehle aapko kya karna chahiye?</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Usi AI se dobara poochhiye aur wahi jawab aaye toh maan lijiye</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Maan lijiye; date bilkul specific hai</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Kisi finfluencer ki post mein wahi date dhoondhiye</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NSE ya BSE par board meeting ka notice khud check kijiye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QUICK QUIZ · SAWAAL 5/5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Ek saal baad Aman phir Budget day ki chhutti leta hai taaki ORB paper par trade kare, lekin uske calendar mein woh din ORB ke liye no-trade day mark hai, isliye woh bahar rehta hai. Close tak NIFTY 50 1% upar hai. Use journal mein yeh din kaise likhna chahiye?</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Ek chhoota hua mauka, jise kal poora karna chahiye</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Kuch nahi, trade hi nahi hua toh likhna kya</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Ek galti, kyunki rule ne usse ek jeet chheen li</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Poora adherence: usne likha hua rule follow kiya</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AAJ RAAT KA JOURNAL</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Event calendar aur aapke no-trade days</a:t>
            </a:r>
          </a:p>
        </p:txBody>
      </p:sp>
      <p:sp>
        <p:nvSpPr>
          <p:cNvPr id="4" name="TextBox 3"/>
          <p:cNvSpPr txBox="1"/>
          <p:nvPr/>
        </p:nvSpPr>
        <p:spPr>
          <a:xfrm>
            <a:off x="457200" y="5964936"/>
            <a:ext cx="11277295" cy="36271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Stage 1 uses virtual money only. Company names, dates and chart prices are made up for illustration; confirm real event dates and times on the official NSE, BSE, NSE Indices, RBI, government, US Federal Reserve or US Bureau of Labor Statistics page. 5 Circles Pvt Ltd · SEBI Registered Research Analyst · Reg. No. INH000020004</a:t>
            </a:r>
          </a:p>
        </p:txBody>
      </p:sp>
      <p:sp>
        <p:nvSpPr>
          <p:cNvPr id="5" name="Rounded Rectangle 4"/>
          <p:cNvSpPr/>
          <p:nvPr/>
        </p:nvSpPr>
        <p:spPr>
          <a:xfrm>
            <a:off x="457200" y="1335024"/>
            <a:ext cx="5501488" cy="4008120"/>
          </a:xfrm>
          <a:prstGeom prst="roundRect">
            <a:avLst>
              <a:gd name="adj" fmla="val 319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AAJ RAAT KA JOURNAL</a:t>
            </a:r>
          </a:p>
        </p:txBody>
      </p:sp>
      <p:sp>
        <p:nvSpPr>
          <p:cNvPr id="7" name="TextBox 6"/>
          <p:cNvSpPr txBox="1"/>
          <p:nvPr/>
        </p:nvSpPr>
        <p:spPr>
          <a:xfrm>
            <a:off x="731520" y="1901952"/>
            <a:ext cx="4952848" cy="327660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Aapke naye calendar ki kaunsi date aapko sabse zyada kheenchti hai, aur kyun? Us din ka exact rule likhiye, aur giniye ki agle 30 din mein aapke rules kitne trading days block karte hain. Kya yeh aisi list hai jise aap sach mein maanenge?</a:t>
            </a:r>
          </a:p>
        </p:txBody>
      </p:sp>
      <p:sp>
        <p:nvSpPr>
          <p:cNvPr id="8" name="Rounded Rectangle 7"/>
          <p:cNvSpPr/>
          <p:nvPr/>
        </p:nvSpPr>
        <p:spPr>
          <a:xfrm>
            <a:off x="6233008" y="1335024"/>
            <a:ext cx="5501488" cy="4008120"/>
          </a:xfrm>
          <a:prstGeom prst="roundRect">
            <a:avLst>
              <a:gd name="adj" fmla="val 319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92400E"/>
                </a:solidFill>
                <a:latin typeface="Segoe UI"/>
              </a:rPr>
              <a:t>“</a:t>
            </a:r>
          </a:p>
        </p:txBody>
      </p:sp>
      <p:sp>
        <p:nvSpPr>
          <p:cNvPr id="10" name="TextBox 9"/>
          <p:cNvSpPr txBox="1"/>
          <p:nvPr/>
        </p:nvSpPr>
        <p:spPr>
          <a:xfrm>
            <a:off x="6507328" y="2683764"/>
            <a:ext cx="4952848" cy="172212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Aaj aapne market ke bade din unke aane se pehle hi kaagaz par utaar liye. Sunday ko shaanti se liya gaya faisla hi Budget wali subah aapko shaant rakhta hai.</a:t>
            </a:r>
          </a:p>
        </p:txBody>
      </p:sp>
      <p:sp>
        <p:nvSpPr>
          <p:cNvPr id="11" name="Rounded Rectangle 10"/>
          <p:cNvSpPr/>
          <p:nvPr/>
        </p:nvSpPr>
        <p:spPr>
          <a:xfrm>
            <a:off x="457200" y="5489448"/>
            <a:ext cx="5499806"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Agla: Day 20 · Trading psychology aur aapka Daily Routine Card</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0B1B33"/>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0B1B33"/>
                </a:solidFill>
                <a:latin typeface="Segoe UI"/>
              </a:rPr>
              <a:t>20</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0B1B33"/>
                </a:solidFill>
                <a:latin typeface="Segoe UI"/>
              </a:rPr>
              <a:t>WEEK 3</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0B1B33"/>
                </a:solidFill>
                <a:latin typeface="Segoe UI"/>
              </a:rPr>
              <a:t>Apna system banao, khud ko bachao</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Trading psychology aur aapka Daily Routine Card</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7744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Rules todne wale saat biases, aur unhe pakadne wala routine</a:t>
            </a:r>
          </a:p>
        </p:txBody>
      </p:sp>
      <p:sp>
        <p:nvSpPr>
          <p:cNvPr id="12" name="Rounded Rectangle 11"/>
          <p:cNvSpPr/>
          <p:nvPr/>
        </p:nvSpPr>
        <p:spPr>
          <a:xfrm>
            <a:off x="4572000" y="315468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3145536"/>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End-of-day process review: AI process check kare, trade kabhi na chune</a:t>
            </a:r>
          </a:p>
        </p:txBody>
      </p:sp>
      <p:sp>
        <p:nvSpPr>
          <p:cNvPr id="14" name="Rounded Rectangle 13"/>
          <p:cNvSpPr/>
          <p:nvPr/>
        </p:nvSpPr>
        <p:spPr>
          <a:xfrm>
            <a:off x="4572000" y="3922776"/>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922776"/>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Loss ke baad ka ego</a:t>
            </a:r>
          </a:p>
        </p:txBody>
      </p:sp>
      <p:sp>
        <p:nvSpPr>
          <p:cNvPr id="16" name="TextBox 15"/>
          <p:cNvSpPr txBox="1"/>
          <p:nvPr/>
        </p:nvSpPr>
        <p:spPr>
          <a:xfrm>
            <a:off x="4572000" y="4608576"/>
            <a:ext cx="7162495"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AAJ KE BAAD</a:t>
            </a:r>
          </a:p>
        </p:txBody>
      </p:sp>
      <p:sp>
        <p:nvSpPr>
          <p:cNvPr id="17" name="TextBox 16"/>
          <p:cNvSpPr txBox="1"/>
          <p:nvPr/>
        </p:nvSpPr>
        <p:spPr>
          <a:xfrm>
            <a:off x="4572000" y="4882896"/>
            <a:ext cx="7162495" cy="125577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Aaj ke baad aap trading rules todne wale saat biases pehchaan payenge aur har ek ka jawab likh payenge, journal mein apna sabse mehenga emotion dhoondh payenge, aisa kill-switch set kar payenge jo aasaani se na toote, chaar block wala Daily Routine Card chala payenge, aur pehchaan payenge ki kab trading jua banne lagi hai.</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KAHANI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hi sab wapas nikaal loonga</a:t>
            </a:r>
          </a:p>
        </p:txBody>
      </p:sp>
      <p:sp>
        <p:nvSpPr>
          <p:cNvPr id="4" name="Rounded Rectangle 3"/>
          <p:cNvSpPr/>
          <p:nvPr/>
        </p:nvSpPr>
        <p:spPr>
          <a:xfrm>
            <a:off x="457200" y="1426464"/>
            <a:ext cx="3649370" cy="4413504"/>
          </a:xfrm>
          <a:prstGeom prst="roundRect">
            <a:avLst>
              <a:gd name="adj" fmla="val 3507"/>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395630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Thursday, raat 8 baje. Aman paper-trading sheet khol kar class call join karta hai. Aakhri do rows gehri laal hain.</a:t>
            </a:r>
          </a:p>
        </p:txBody>
      </p:sp>
      <p:sp>
        <p:nvSpPr>
          <p:cNvPr id="7" name="Rounded Rectangle 6"/>
          <p:cNvSpPr/>
          <p:nvPr/>
        </p:nvSpPr>
        <p:spPr>
          <a:xfrm>
            <a:off x="4271162" y="1426464"/>
            <a:ext cx="3649370" cy="441350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3179064"/>
          </a:xfrm>
          <a:prstGeom prst="wedgeRoundRectCallout">
            <a:avLst>
              <a:gd name="adj1" fmla="val -41915"/>
              <a:gd name="adj2" fmla="val -55752"/>
              <a:gd name="adj3" fmla="val 3451"/>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28864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kal mera Bharat Pumps wala trade stop par nikal gaya: minus Rs 10,000, theek 1R, plan ke hisaab se. Lekin laga jaise market ne mujhe bewakoof bana diya. Toh aaj subah, meeting ke beech, sab wapas nikaalne ke liye maine do aur stocks double size par khareed liye. Koi setup nahi tha. Lunch tak dono ka stop hit ho gaya.</a:t>
            </a:r>
          </a:p>
        </p:txBody>
      </p:sp>
      <p:sp>
        <p:nvSpPr>
          <p:cNvPr id="13" name="Rounded Rectangle 12"/>
          <p:cNvSpPr/>
          <p:nvPr/>
        </p:nvSpPr>
        <p:spPr>
          <a:xfrm>
            <a:off x="8085125" y="1426464"/>
            <a:ext cx="3649370" cy="441350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2919984"/>
          </a:xfrm>
          <a:prstGeom prst="wedgeRoundRectCallout">
            <a:avLst>
              <a:gd name="adj1" fmla="val -41915"/>
              <a:gd name="adj2" fmla="val -56263"/>
              <a:gd name="adj3" fmla="val 3757"/>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26273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Sirf aaj -4R, yaani aapke -2R daily stop ka dugna. Kal ko milakar -5R, yaani Rs 50,000 ka virtual paisa: weekly pause lag chuka hai, aur abhi sirf Thursday hai. Aman, ek sawaal. Pehle loss ke baad aap apna card follow kar rahe the, ya market ko galat saabit karne ki koshish kar rahe the?</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KAHANI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hi sab wapas nikaal loonga</a:t>
            </a:r>
          </a:p>
        </p:txBody>
      </p:sp>
      <p:sp>
        <p:nvSpPr>
          <p:cNvPr id="4" name="Rounded Rectangle 3"/>
          <p:cNvSpPr/>
          <p:nvPr/>
        </p:nvSpPr>
        <p:spPr>
          <a:xfrm>
            <a:off x="457200"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847344"/>
          </a:xfrm>
          <a:prstGeom prst="wedgeRoundRectCallout">
            <a:avLst>
              <a:gd name="adj1" fmla="val -41915"/>
              <a:gd name="adj2" fmla="val -71582"/>
              <a:gd name="adj3" fmla="val 12949"/>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55473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...Galat saabit karne ki. Baat dil par lag gayi thi.</a:t>
            </a:r>
          </a:p>
        </p:txBody>
      </p:sp>
      <p:sp>
        <p:nvSpPr>
          <p:cNvPr id="10" name="Rounded Rectangle 9"/>
          <p:cNvSpPr/>
          <p:nvPr/>
        </p:nvSpPr>
        <p:spPr>
          <a:xfrm>
            <a:off x="4271162"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2142744"/>
          </a:xfrm>
          <a:prstGeom prst="wedgeRoundRectCallout">
            <a:avLst>
              <a:gd name="adj1" fmla="val -41915"/>
              <a:gd name="adj2" fmla="val -58534"/>
              <a:gd name="adj3" fmla="val 5120"/>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185013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maine bhi kuch aisa hi kiya, bas chhote level par. Mera stop hit hone wala tha, toh maine use neeche khiska diya, bas isliye ki journal mein loss na likhna pade. Kya yeh bhi wahi cheez hai?</a:t>
            </a:r>
          </a:p>
        </p:txBody>
      </p:sp>
      <p:sp>
        <p:nvSpPr>
          <p:cNvPr id="16" name="Rounded Rectangle 15"/>
          <p:cNvSpPr/>
          <p:nvPr/>
        </p:nvSpPr>
        <p:spPr>
          <a:xfrm>
            <a:off x="8085125"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2401824"/>
          </a:xfrm>
          <a:prstGeom prst="wedgeRoundRectCallout">
            <a:avLst>
              <a:gd name="adj1" fmla="val -41915"/>
              <a:gd name="adj2" fmla="val -57614"/>
              <a:gd name="adj3" fmla="val 4568"/>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21092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Jad ek hi hai, bas shaakh alag. Loss jeb se zyada ego ko chubhta hai, isliye hum use mitaane ki koshish karte hain. Aaj hum ek aisa routine banayenge jo aapko usi pal pakad le, kyunki theek usi waqt willpower saath chhod deti hai.</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6429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Seekh</a:t>
            </a:r>
          </a:p>
        </p:txBody>
      </p:sp>
      <p:sp>
        <p:nvSpPr>
          <p:cNvPr id="24" name="TextBox 23"/>
          <p:cNvSpPr txBox="1"/>
          <p:nvPr/>
        </p:nvSpPr>
        <p:spPr>
          <a:xfrm>
            <a:off x="1411050" y="5760720"/>
            <a:ext cx="1014056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Loss ek trade ki keemat hai, aapke baare mein faisla nahi. Routine shaant din par banaiye, taaki gusse wale din woh aapko bachaye.</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Loss ke baad ka ego: revenge trading</a:t>
            </a:r>
          </a:p>
        </p:txBody>
      </p:sp>
      <p:sp>
        <p:nvSpPr>
          <p:cNvPr id="4" name="TextBox 3"/>
          <p:cNvSpPr txBox="1"/>
          <p:nvPr/>
        </p:nvSpPr>
        <p:spPr>
          <a:xfrm>
            <a:off x="457200" y="1335024"/>
            <a:ext cx="5519776" cy="1836420"/>
          </a:xfrm>
          <a:prstGeom prst="rect">
            <a:avLst/>
          </a:prstGeom>
          <a:noFill/>
        </p:spPr>
        <p:txBody>
          <a:bodyPr wrap="square" lIns="0" rIns="0" tIns="0" bIns="0" anchor="t">
            <a:noAutofit/>
          </a:bodyPr>
          <a:lstStyle/>
          <a:p>
            <a:pPr algn="l" marL="274320" indent="-274320">
              <a:lnSpc>
                <a:spcPct val="100000"/>
              </a:lnSpc>
              <a:spcAft>
                <a:spcPts val="750"/>
              </a:spcAft>
              <a:buClr>
                <a:srgbClr val="F5A623"/>
              </a:buClr>
              <a:buFont typeface="Arial"/>
              <a:buChar char="•"/>
            </a:pPr>
            <a:r>
              <a:rPr sz="1500" b="0" i="0">
                <a:solidFill>
                  <a:srgbClr val="18232F"/>
                </a:solidFill>
                <a:latin typeface="Segoe UI"/>
              </a:rPr>
              <a:t>Loss ek baar paisa leta hai aur doosri baar izzat, aur aksar izzat wali chot zyada dukhti hai.</a:t>
            </a:r>
          </a:p>
          <a:p>
            <a:pPr algn="l" marL="274320" indent="-274320">
              <a:lnSpc>
                <a:spcPct val="100000"/>
              </a:lnSpc>
              <a:spcAft>
                <a:spcPts val="750"/>
              </a:spcAft>
              <a:buClr>
                <a:srgbClr val="F5A623"/>
              </a:buClr>
              <a:buFont typeface="Arial"/>
              <a:buChar char="•"/>
            </a:pPr>
            <a:r>
              <a:rPr sz="1500" b="0" i="0">
                <a:solidFill>
                  <a:srgbClr val="18232F"/>
                </a:solidFill>
                <a:latin typeface="Segoe UI"/>
              </a:rPr>
              <a:t>Ego yahan hamara woh hissa hai jise hamesha sahi saabit hona hai.</a:t>
            </a:r>
          </a:p>
          <a:p>
            <a:pPr algn="l" marL="274320" indent="-274320">
              <a:lnSpc>
                <a:spcPct val="100000"/>
              </a:lnSpc>
              <a:buClr>
                <a:srgbClr val="F5A623"/>
              </a:buClr>
              <a:buFont typeface="Arial"/>
              <a:buChar char="•"/>
            </a:pPr>
            <a:r>
              <a:rPr sz="1500" b="0" i="0">
                <a:solidFill>
                  <a:srgbClr val="18232F"/>
                </a:solidFill>
                <a:latin typeface="Segoe UI"/>
              </a:rPr>
              <a:t>Stop hit hote hi (ise stop-out kehte hain) ego ek jaldi wali jeet chahta hai jo loss ko mita de, aur hum revenge trade le lete hain.</a:t>
            </a:r>
          </a:p>
        </p:txBody>
      </p:sp>
      <p:sp>
        <p:nvSpPr>
          <p:cNvPr id="5" name="Rounded Rectangle 4"/>
          <p:cNvSpPr/>
          <p:nvPr/>
        </p:nvSpPr>
        <p:spPr>
          <a:xfrm>
            <a:off x="6214720" y="1335024"/>
            <a:ext cx="5519776" cy="2377440"/>
          </a:xfrm>
          <a:prstGeom prst="roundRect">
            <a:avLst>
              <a:gd name="adj" fmla="val 461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1920240"/>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Ab Aman ke yeh do din uske card ke hisaab se dobara dekhiye. Uska hafta 0R se shuru hua tha; Day 19 wala Gupta Cement ka gap pichhle hafte ki baat thi. Kal ka stop: -1R, yaani Rs 10,000. Aaj koi setup nahi tha, toh card kehta hai: koi trade nahi, aur uska hafta -1R par rehta. Ego wala version: double size par do trade, har ek -2R, toh -1R - 2R - 2R = -5R, yaani Rs 50,000, aur Thursday tak poora weekly pause. Dono versions ke beech ka farq, Rs 40,000, market ne nahi kiya; yeh ego ka bill tha. … (Hisaab simple rakhne ke liye yahan R, Day 12 ke 0.1R per trade cost allowance se pehle ka hai.)</a:t>
            </a:r>
          </a:p>
        </p:txBody>
      </p:sp>
      <p:sp>
        <p:nvSpPr>
          <p:cNvPr id="8" name="Rounded Rectangle 7"/>
          <p:cNvSpPr/>
          <p:nvPr/>
        </p:nvSpPr>
        <p:spPr>
          <a:xfrm>
            <a:off x="457200" y="3877056"/>
            <a:ext cx="11277295" cy="1737360"/>
          </a:xfrm>
          <a:prstGeom prst="roundRect">
            <a:avLst>
              <a:gd name="adj" fmla="val 631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40233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Revenge ka chakkar</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Kill-switch na ho, toh chautha box seedha doosre par wapas le jaata hai. -2R ka daily stop is chakkar ko kaat deta hai.</a:t>
            </a:r>
          </a:p>
        </p:txBody>
      </p:sp>
      <p:sp>
        <p:nvSpPr>
          <p:cNvPr id="11" name="Rounded Rectangle 10"/>
          <p:cNvSpPr/>
          <p:nvPr/>
        </p:nvSpPr>
        <p:spPr>
          <a:xfrm>
            <a:off x="640080" y="4375404"/>
            <a:ext cx="1611721" cy="822960"/>
          </a:xfrm>
          <a:prstGeom prst="roundRect">
            <a:avLst>
              <a:gd name="adj" fmla="val 11111"/>
            </a:avLst>
          </a:prstGeom>
          <a:solidFill>
            <a:srgbClr val="FFFFFF"/>
          </a:solidFill>
          <a:ln w="19050">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49808"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Ek loss</a:t>
            </a:r>
          </a:p>
          <a:p>
            <a:pPr algn="ctr">
              <a:lnSpc>
                <a:spcPct val="100000"/>
              </a:lnSpc>
            </a:pPr>
            <a:r>
              <a:rPr sz="1200" b="0" i="0">
                <a:solidFill>
                  <a:srgbClr val="47596B"/>
                </a:solidFill>
                <a:latin typeface="Segoe UI"/>
              </a:rPr>
              <a:t>-1R, plan ke mutabik</a:t>
            </a:r>
          </a:p>
        </p:txBody>
      </p:sp>
      <p:sp>
        <p:nvSpPr>
          <p:cNvPr id="13" name="Right Arrow 12"/>
          <p:cNvSpPr/>
          <p:nvPr/>
        </p:nvSpPr>
        <p:spPr>
          <a:xfrm>
            <a:off x="2471257"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2279233"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chubhta hai</a:t>
            </a:r>
          </a:p>
        </p:txBody>
      </p:sp>
      <p:sp>
        <p:nvSpPr>
          <p:cNvPr id="15" name="Rounded Rectangle 14"/>
          <p:cNvSpPr/>
          <p:nvPr/>
        </p:nvSpPr>
        <p:spPr>
          <a:xfrm>
            <a:off x="2965033" y="4375404"/>
            <a:ext cx="1611721" cy="822960"/>
          </a:xfrm>
          <a:prstGeom prst="roundRect">
            <a:avLst>
              <a:gd name="adj" fmla="val 11111"/>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3074761"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Ego ko chot</a:t>
            </a:r>
          </a:p>
          <a:p>
            <a:pPr algn="ctr">
              <a:lnSpc>
                <a:spcPct val="100000"/>
              </a:lnSpc>
            </a:pPr>
            <a:r>
              <a:rPr sz="1200" b="0" i="0">
                <a:solidFill>
                  <a:srgbClr val="47596B"/>
                </a:solidFill>
                <a:latin typeface="Segoe UI"/>
              </a:rPr>
              <a:t>'Market ne bewakoof banaya'</a:t>
            </a:r>
          </a:p>
        </p:txBody>
      </p:sp>
      <p:sp>
        <p:nvSpPr>
          <p:cNvPr id="17" name="Right Arrow 16"/>
          <p:cNvSpPr/>
          <p:nvPr/>
        </p:nvSpPr>
        <p:spPr>
          <a:xfrm>
            <a:off x="4796211"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4604187"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dhakelta hai</a:t>
            </a:r>
          </a:p>
        </p:txBody>
      </p:sp>
      <p:sp>
        <p:nvSpPr>
          <p:cNvPr id="19" name="Rounded Rectangle 18"/>
          <p:cNvSpPr/>
          <p:nvPr/>
        </p:nvSpPr>
        <p:spPr>
          <a:xfrm>
            <a:off x="5289987" y="4375404"/>
            <a:ext cx="1611721" cy="822960"/>
          </a:xfrm>
          <a:prstGeom prst="roundRect">
            <a:avLst>
              <a:gd name="adj" fmla="val 11111"/>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5399715"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Revenge trade</a:t>
            </a:r>
          </a:p>
          <a:p>
            <a:pPr algn="ctr">
              <a:lnSpc>
                <a:spcPct val="100000"/>
              </a:lnSpc>
            </a:pPr>
            <a:r>
              <a:rPr sz="1200" b="0" i="0">
                <a:solidFill>
                  <a:srgbClr val="47596B"/>
                </a:solidFill>
                <a:latin typeface="Segoe UI"/>
              </a:rPr>
              <a:t>Setup nahi, size bada</a:t>
            </a:r>
          </a:p>
        </p:txBody>
      </p:sp>
      <p:sp>
        <p:nvSpPr>
          <p:cNvPr id="21" name="Right Arrow 20"/>
          <p:cNvSpPr/>
          <p:nvPr/>
        </p:nvSpPr>
        <p:spPr>
          <a:xfrm>
            <a:off x="7121164"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6929140"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aksar loss</a:t>
            </a:r>
          </a:p>
        </p:txBody>
      </p:sp>
      <p:sp>
        <p:nvSpPr>
          <p:cNvPr id="23" name="Rounded Rectangle 22"/>
          <p:cNvSpPr/>
          <p:nvPr/>
        </p:nvSpPr>
        <p:spPr>
          <a:xfrm>
            <a:off x="7614940" y="4375404"/>
            <a:ext cx="1611721" cy="822960"/>
          </a:xfrm>
          <a:prstGeom prst="roundRect">
            <a:avLst>
              <a:gd name="adj" fmla="val 11111"/>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724668"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Bada loss</a:t>
            </a:r>
          </a:p>
          <a:p>
            <a:pPr algn="ctr">
              <a:lnSpc>
                <a:spcPct val="100000"/>
              </a:lnSpc>
            </a:pPr>
            <a:r>
              <a:rPr sz="1200" b="0" i="0">
                <a:solidFill>
                  <a:srgbClr val="47596B"/>
                </a:solidFill>
                <a:latin typeface="Segoe UI"/>
              </a:rPr>
              <a:t>-2R ya usse bhi zyada</a:t>
            </a:r>
          </a:p>
        </p:txBody>
      </p:sp>
      <p:sp>
        <p:nvSpPr>
          <p:cNvPr id="25" name="Right Arrow 24"/>
          <p:cNvSpPr/>
          <p:nvPr/>
        </p:nvSpPr>
        <p:spPr>
          <a:xfrm>
            <a:off x="9446118"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9254094"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-2R par</a:t>
            </a:r>
          </a:p>
        </p:txBody>
      </p:sp>
      <p:sp>
        <p:nvSpPr>
          <p:cNvPr id="27" name="Rounded Rectangle 26"/>
          <p:cNvSpPr/>
          <p:nvPr/>
        </p:nvSpPr>
        <p:spPr>
          <a:xfrm>
            <a:off x="9939894" y="4375404"/>
            <a:ext cx="1611721" cy="822960"/>
          </a:xfrm>
          <a:prstGeom prst="roundRect">
            <a:avLst>
              <a:gd name="adj" fmla="val 11111"/>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TextBox 27"/>
          <p:cNvSpPr txBox="1"/>
          <p:nvPr/>
        </p:nvSpPr>
        <p:spPr>
          <a:xfrm>
            <a:off x="10049622"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Kill-switch</a:t>
            </a:r>
          </a:p>
          <a:p>
            <a:pPr algn="ctr">
              <a:lnSpc>
                <a:spcPct val="100000"/>
              </a:lnSpc>
            </a:pPr>
            <a:r>
              <a:rPr sz="1200" b="0" i="0">
                <a:solidFill>
                  <a:srgbClr val="47596B"/>
                </a:solidFill>
                <a:latin typeface="Segoe UI"/>
              </a:rPr>
              <a:t>Kal tak screen band</a:t>
            </a:r>
          </a:p>
        </p:txBody>
      </p:sp>
      <p:sp>
        <p:nvSpPr>
          <p:cNvPr id="29" name="Rounded Rectangle 28"/>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ounded Rectangle 29"/>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1" name="TextBox 30"/>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Market ko pata bhi nahi ki aap hain. Stop-out ek kharcha hai, bezzati nahi.</a:t>
            </a:r>
          </a:p>
        </p:txBody>
      </p:sp>
      <p:pic>
        <p:nvPicPr>
          <p:cNvPr id="32" name="Picture 31" descr="logo.png"/>
          <p:cNvPicPr>
            <a:picLocks noChangeAspect="1"/>
          </p:cNvPicPr>
          <p:nvPr/>
        </p:nvPicPr>
        <p:blipFill>
          <a:blip r:embed="rId2"/>
          <a:stretch>
            <a:fillRect/>
          </a:stretch>
        </p:blipFill>
        <p:spPr>
          <a:xfrm>
            <a:off x="457200" y="6437376"/>
            <a:ext cx="237744" cy="237744"/>
          </a:xfrm>
          <a:prstGeom prst="rect">
            <a:avLst/>
          </a:prstGeom>
        </p:spPr>
      </p:pic>
      <p:sp>
        <p:nvSpPr>
          <p:cNvPr id="3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4" name="TextBox 3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FOMO aur overtrading: journal dushman ka naam batata hai</a:t>
            </a:r>
          </a:p>
        </p:txBody>
      </p:sp>
      <p:sp>
        <p:nvSpPr>
          <p:cNvPr id="4" name="TextBox 3"/>
          <p:cNvSpPr txBox="1"/>
          <p:nvPr/>
        </p:nvSpPr>
        <p:spPr>
          <a:xfrm>
            <a:off x="457200" y="1335024"/>
            <a:ext cx="5519776" cy="244348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FOMO yaani fear of missing out, matlab 'kahin yeh move chhoot na jaaye' wala darr: yeh aapko bina setup ke aise move mein ghusa deta hai jo pehle hi chal chuka hai.</a:t>
            </a:r>
          </a:p>
          <a:p>
            <a:pPr algn="l" marL="274320" indent="-274320">
              <a:lnSpc>
                <a:spcPct val="100000"/>
              </a:lnSpc>
              <a:spcAft>
                <a:spcPts val="800"/>
              </a:spcAft>
              <a:buClr>
                <a:srgbClr val="F5A623"/>
              </a:buClr>
              <a:buFont typeface="Arial"/>
              <a:buChar char="•"/>
            </a:pPr>
            <a:r>
              <a:rPr sz="1600" b="0" i="0">
                <a:solidFill>
                  <a:srgbClr val="18232F"/>
                </a:solidFill>
                <a:latin typeface="Segoe UI"/>
              </a:rPr>
              <a:t>Yeh platform chhod chuki Mumbai local ke peeche bhaagne jaisa hai: pakad bhi sakte hain, gir bhi sakte hain, aur agli local kuch minute mein aa hi jaati hai.</a:t>
            </a:r>
          </a:p>
          <a:p>
            <a:pPr algn="l" marL="274320" indent="-274320">
              <a:lnSpc>
                <a:spcPct val="100000"/>
              </a:lnSpc>
              <a:buClr>
                <a:srgbClr val="F5A623"/>
              </a:buClr>
              <a:buFont typeface="Arial"/>
              <a:buChar char="•"/>
            </a:pPr>
            <a:r>
              <a:rPr sz="1600" b="0" i="0">
                <a:solidFill>
                  <a:srgbClr val="18232F"/>
                </a:solidFill>
                <a:latin typeface="Segoe UI"/>
              </a:rPr>
              <a:t>Aapka dushman kaunsa hai, iska andaaza lagane ki zaroorat nahi.</a:t>
            </a:r>
          </a:p>
        </p:txBody>
      </p:sp>
      <p:sp>
        <p:nvSpPr>
          <p:cNvPr id="5" name="Rounded Rectangle 4"/>
          <p:cNvSpPr/>
          <p:nvPr/>
        </p:nvSpPr>
        <p:spPr>
          <a:xfrm>
            <a:off x="457200" y="3933952"/>
            <a:ext cx="5519776" cy="1680464"/>
          </a:xfrm>
          <a:prstGeom prst="roundRect">
            <a:avLst>
              <a:gd name="adj" fmla="val 652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0619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318000"/>
            <a:ext cx="5154016" cy="12232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 Day 12 se ab tak ke apne 20 paper trades jodta hai. Sirf 8 trade rule card se aaye, tag 'calm': +2.4R. Baaki 12 mein 6 FOMO trade (-2.1R), 4 'bore' wale (-1.6R) aur 2 'gussa' wale trade the, yaani aaj subah ke do revenge trade (-4.0R); kul milakar -7.7R. … FOMO sabse zyada baar aata hai; gussa sabse mehenga hai, har trade par -2.0R.</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Emotion tag ke hisaab se Aman ka R</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Example ke liye 20 paper trades, bracket mein ginti; R, 0.1R cost allowance se pehle. Sirf calm, rule wale trades ne R joda.</a:t>
            </a:r>
          </a:p>
        </p:txBody>
      </p:sp>
      <p:sp>
        <p:nvSpPr>
          <p:cNvPr id="11" name="TextBox 10"/>
          <p:cNvSpPr txBox="1"/>
          <p:nvPr/>
        </p:nvSpPr>
        <p:spPr>
          <a:xfrm>
            <a:off x="6397600" y="2119122"/>
            <a:ext cx="1097280"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Calm (8)</a:t>
            </a:r>
          </a:p>
        </p:txBody>
      </p:sp>
      <p:sp>
        <p:nvSpPr>
          <p:cNvPr id="12" name="Rounded Rectangle 11"/>
          <p:cNvSpPr/>
          <p:nvPr/>
        </p:nvSpPr>
        <p:spPr>
          <a:xfrm>
            <a:off x="7604608" y="2292858"/>
            <a:ext cx="3233628"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7604608" y="2292858"/>
            <a:ext cx="1940177" cy="310896"/>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0929676" y="2119122"/>
            <a:ext cx="649371" cy="658368"/>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+2.4R</a:t>
            </a:r>
          </a:p>
        </p:txBody>
      </p:sp>
      <p:sp>
        <p:nvSpPr>
          <p:cNvPr id="15" name="TextBox 14"/>
          <p:cNvSpPr txBox="1"/>
          <p:nvPr/>
        </p:nvSpPr>
        <p:spPr>
          <a:xfrm>
            <a:off x="6397600" y="2777490"/>
            <a:ext cx="1097280"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FOMO (6)</a:t>
            </a:r>
          </a:p>
        </p:txBody>
      </p:sp>
      <p:sp>
        <p:nvSpPr>
          <p:cNvPr id="16" name="Rounded Rectangle 15"/>
          <p:cNvSpPr/>
          <p:nvPr/>
        </p:nvSpPr>
        <p:spPr>
          <a:xfrm>
            <a:off x="7604608" y="2951226"/>
            <a:ext cx="3233628"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7604608" y="2951226"/>
            <a:ext cx="1697655" cy="31089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0929676" y="2777490"/>
            <a:ext cx="649371" cy="658368"/>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-2.1R</a:t>
            </a:r>
          </a:p>
        </p:txBody>
      </p:sp>
      <p:sp>
        <p:nvSpPr>
          <p:cNvPr id="19" name="TextBox 18"/>
          <p:cNvSpPr txBox="1"/>
          <p:nvPr/>
        </p:nvSpPr>
        <p:spPr>
          <a:xfrm>
            <a:off x="6397600" y="3435858"/>
            <a:ext cx="1097280"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Bore (4)</a:t>
            </a:r>
          </a:p>
        </p:txBody>
      </p:sp>
      <p:sp>
        <p:nvSpPr>
          <p:cNvPr id="20" name="Rounded Rectangle 19"/>
          <p:cNvSpPr/>
          <p:nvPr/>
        </p:nvSpPr>
        <p:spPr>
          <a:xfrm>
            <a:off x="7604608" y="3609594"/>
            <a:ext cx="3233628"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7604608" y="3609594"/>
            <a:ext cx="1293451" cy="31089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0929676" y="3435858"/>
            <a:ext cx="649371" cy="658368"/>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-1.6R</a:t>
            </a:r>
          </a:p>
        </p:txBody>
      </p:sp>
      <p:sp>
        <p:nvSpPr>
          <p:cNvPr id="23" name="TextBox 22"/>
          <p:cNvSpPr txBox="1"/>
          <p:nvPr/>
        </p:nvSpPr>
        <p:spPr>
          <a:xfrm>
            <a:off x="6397600" y="4094226"/>
            <a:ext cx="1097280"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Gussa (2)</a:t>
            </a:r>
          </a:p>
        </p:txBody>
      </p:sp>
      <p:sp>
        <p:nvSpPr>
          <p:cNvPr id="24" name="Rounded Rectangle 23"/>
          <p:cNvSpPr/>
          <p:nvPr/>
        </p:nvSpPr>
        <p:spPr>
          <a:xfrm>
            <a:off x="7604608" y="4267962"/>
            <a:ext cx="3233628"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7604608" y="4267962"/>
            <a:ext cx="3233628" cy="31089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10929676" y="4094226"/>
            <a:ext cx="649371" cy="658368"/>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-4.0R</a:t>
            </a:r>
          </a:p>
        </p:txBody>
      </p:sp>
      <p:sp>
        <p:nvSpPr>
          <p:cNvPr id="27" name="Rounded Rectangle 26"/>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ounded Rectangle 27"/>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9" name="TextBox 28"/>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Kitne trade lene hain, yeh rules tay karte hain. Boriyat aur darr ko vote nahi milta.</a:t>
            </a:r>
          </a:p>
        </p:txBody>
      </p:sp>
      <p:pic>
        <p:nvPicPr>
          <p:cNvPr id="30" name="Picture 29" descr="logo.png"/>
          <p:cNvPicPr>
            <a:picLocks noChangeAspect="1"/>
          </p:cNvPicPr>
          <p:nvPr/>
        </p:nvPicPr>
        <p:blipFill>
          <a:blip r:embed="rId2"/>
          <a:stretch>
            <a:fillRect/>
          </a:stretch>
        </p:blipFill>
        <p:spPr>
          <a:xfrm>
            <a:off x="457200" y="6437376"/>
            <a:ext cx="237744" cy="237744"/>
          </a:xfrm>
          <a:prstGeom prst="rect">
            <a:avLst/>
          </a:prstGeom>
        </p:spPr>
      </p:pic>
      <p:sp>
        <p:nvSpPr>
          <p:cNvPr id="3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2" name="TextBox 3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Rules ko modne wale chaar chupe biases</a:t>
            </a:r>
          </a:p>
        </p:txBody>
      </p:sp>
      <p:sp>
        <p:nvSpPr>
          <p:cNvPr id="4" name="TextBox 3"/>
          <p:cNvSpPr txBox="1"/>
          <p:nvPr/>
        </p:nvSpPr>
        <p:spPr>
          <a:xfrm>
            <a:off x="457200" y="1335024"/>
            <a:ext cx="5519776" cy="205740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Bias soch ka ek andar baitha shortcut hai, jo har insaan ko ek hi galat taraf kheenchta hai.</a:t>
            </a:r>
          </a:p>
          <a:p>
            <a:pPr algn="l" marL="274320" indent="-274320">
              <a:lnSpc>
                <a:spcPct val="100000"/>
              </a:lnSpc>
              <a:spcAft>
                <a:spcPts val="800"/>
              </a:spcAft>
              <a:buClr>
                <a:srgbClr val="F5A623"/>
              </a:buClr>
              <a:buFont typeface="Arial"/>
              <a:buChar char="•"/>
            </a:pPr>
            <a:r>
              <a:rPr sz="1600" b="0" i="0">
                <a:solidFill>
                  <a:srgbClr val="18232F"/>
                </a:solidFill>
                <a:latin typeface="Segoe UI"/>
              </a:rPr>
              <a:t>Revenge, FOMO aur overtrading khule jaal hain; yeh chaar chupe hue hain.</a:t>
            </a:r>
          </a:p>
          <a:p>
            <a:pPr algn="l" marL="274320" indent="-274320">
              <a:lnSpc>
                <a:spcPct val="100000"/>
              </a:lnSpc>
              <a:spcAft>
                <a:spcPts val="800"/>
              </a:spcAft>
              <a:buClr>
                <a:srgbClr val="F5A623"/>
              </a:buClr>
              <a:buFont typeface="Arial"/>
              <a:buChar char="•"/>
            </a:pPr>
            <a:r>
              <a:rPr sz="1600" b="0" i="0">
                <a:solidFill>
                  <a:srgbClr val="18232F"/>
                </a:solidFill>
                <a:latin typeface="Segoe UI"/>
              </a:rPr>
              <a:t>Sach kahein toh khule teen jazbaat se bani aadatein hain aur chupe chaar asli biases.</a:t>
            </a:r>
          </a:p>
          <a:p>
            <a:pPr algn="l" marL="274320" indent="-274320">
              <a:lnSpc>
                <a:spcPct val="100000"/>
              </a:lnSpc>
              <a:buClr>
                <a:srgbClr val="F5A623"/>
              </a:buClr>
              <a:buFont typeface="Arial"/>
              <a:buChar char="•"/>
            </a:pPr>
            <a:r>
              <a:rPr sz="1600" b="0" i="0">
                <a:solidFill>
                  <a:srgbClr val="18232F"/>
                </a:solidFill>
                <a:latin typeface="Segoe UI"/>
              </a:rPr>
              <a:t>Short mein aaj hum saaton ko biases keh rahe hain.</a:t>
            </a:r>
          </a:p>
        </p:txBody>
      </p:sp>
      <p:sp>
        <p:nvSpPr>
          <p:cNvPr id="5" name="Rounded Rectangle 4"/>
          <p:cNvSpPr/>
          <p:nvPr/>
        </p:nvSpPr>
        <p:spPr>
          <a:xfrm>
            <a:off x="457200" y="3547872"/>
            <a:ext cx="5519776" cy="2066544"/>
          </a:xfrm>
          <a:prstGeom prst="roundRect">
            <a:avLst>
              <a:gd name="adj" fmla="val 530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6758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3931920"/>
            <a:ext cx="5154016" cy="16093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Loss aversion: Priya ka Desai Power Ltd mein paper trade, 500 shares Rs 500 par (uski maximum planned entry bhi Rs 500 thi, isliye 25% cap ne theek 500 shares ki ijaazat di), stop Rs 480, yaani 1R = Rs 10,000. Rs 483 par usne stop khiska kar Rs 460 kar diya, 'thodi jagah dene ke liye'; price Rs 480 ke neeche gaya, phir Rs 460 ke bhi, aur loss hua 500 x Rs 40 = Rs 20,000, yaani 2R. … Recency: 40% win-rate par koi bhi teen trade lagataar haarne ka chance lagbhag 22% hai (0.6 x 0.6 x 0.6 = 0.216), isliye teen loss ki streak akele kisi rule ke baare mein bahut kam batati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Khiska hua stop</a:t>
            </a:r>
          </a:p>
        </p:txBody>
      </p:sp>
      <p:sp>
        <p:nvSpPr>
          <p:cNvPr id="11" name="TextBox 10"/>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Plan wale stop Rs 480 ke paas exit hota toh -1R lagta. Stop khiskane ke baad Rs 460 ke paas exit -2R pada.</a:t>
            </a:r>
          </a:p>
        </p:txBody>
      </p:sp>
      <p:cxnSp>
        <p:nvCxnSpPr>
          <p:cNvPr id="12" name="Connector 11"/>
          <p:cNvCxnSpPr/>
          <p:nvPr/>
        </p:nvCxnSpPr>
        <p:spPr>
          <a:xfrm>
            <a:off x="6812159" y="4681728"/>
            <a:ext cx="3784442"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59943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450.8</a:t>
            </a:r>
          </a:p>
        </p:txBody>
      </p:sp>
      <p:cxnSp>
        <p:nvCxnSpPr>
          <p:cNvPr id="14" name="Connector 13"/>
          <p:cNvCxnSpPr/>
          <p:nvPr/>
        </p:nvCxnSpPr>
        <p:spPr>
          <a:xfrm>
            <a:off x="6812159" y="3851148"/>
            <a:ext cx="3784442"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76885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470.9</a:t>
            </a:r>
          </a:p>
        </p:txBody>
      </p:sp>
      <p:cxnSp>
        <p:nvCxnSpPr>
          <p:cNvPr id="16" name="Connector 15"/>
          <p:cNvCxnSpPr/>
          <p:nvPr/>
        </p:nvCxnSpPr>
        <p:spPr>
          <a:xfrm>
            <a:off x="6812159" y="3020568"/>
            <a:ext cx="3784442"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93827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491.1</a:t>
            </a:r>
          </a:p>
        </p:txBody>
      </p:sp>
      <p:cxnSp>
        <p:nvCxnSpPr>
          <p:cNvPr id="18" name="Connector 17"/>
          <p:cNvCxnSpPr/>
          <p:nvPr/>
        </p:nvCxnSpPr>
        <p:spPr>
          <a:xfrm>
            <a:off x="6812159" y="2189988"/>
            <a:ext cx="3784442"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10769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511.2</a:t>
            </a:r>
          </a:p>
        </p:txBody>
      </p:sp>
      <p:cxnSp>
        <p:nvCxnSpPr>
          <p:cNvPr id="20" name="Connector 19"/>
          <p:cNvCxnSpPr/>
          <p:nvPr/>
        </p:nvCxnSpPr>
        <p:spPr>
          <a:xfrm>
            <a:off x="6812159" y="2650993"/>
            <a:ext cx="3821018" cy="0"/>
          </a:xfrm>
          <a:prstGeom prst="line">
            <a:avLst/>
          </a:prstGeom>
          <a:ln w="19050">
            <a:solidFill>
              <a:srgbClr val="0093D6"/>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669753" y="2559553"/>
            <a:ext cx="881862" cy="182880"/>
          </a:xfrm>
          <a:prstGeom prst="rect">
            <a:avLst/>
          </a:prstGeom>
          <a:noFill/>
        </p:spPr>
        <p:txBody>
          <a:bodyPr wrap="square" lIns="0" rIns="0" tIns="0" bIns="0" anchor="ctr">
            <a:noAutofit/>
          </a:bodyPr>
          <a:lstStyle/>
          <a:p>
            <a:pPr algn="l">
              <a:lnSpc>
                <a:spcPct val="100000"/>
              </a:lnSpc>
            </a:pPr>
            <a:r>
              <a:rPr sz="1000" b="1" i="0">
                <a:solidFill>
                  <a:srgbClr val="095A90"/>
                </a:solidFill>
                <a:latin typeface="Segoe UI"/>
              </a:rPr>
              <a:t>Entry</a:t>
            </a:r>
          </a:p>
        </p:txBody>
      </p:sp>
      <p:cxnSp>
        <p:nvCxnSpPr>
          <p:cNvPr id="22" name="Connector 21"/>
          <p:cNvCxnSpPr/>
          <p:nvPr/>
        </p:nvCxnSpPr>
        <p:spPr>
          <a:xfrm>
            <a:off x="6812159" y="3477167"/>
            <a:ext cx="3821018" cy="0"/>
          </a:xfrm>
          <a:prstGeom prst="line">
            <a:avLst/>
          </a:prstGeom>
          <a:ln w="19050">
            <a:solidFill>
              <a:srgbClr val="F5A524"/>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669753" y="3385727"/>
            <a:ext cx="881862" cy="182880"/>
          </a:xfrm>
          <a:prstGeom prst="rect">
            <a:avLst/>
          </a:prstGeom>
          <a:noFill/>
        </p:spPr>
        <p:txBody>
          <a:bodyPr wrap="square" lIns="0" rIns="0" tIns="0" bIns="0" anchor="ctr">
            <a:noAutofit/>
          </a:bodyPr>
          <a:lstStyle/>
          <a:p>
            <a:pPr algn="l">
              <a:lnSpc>
                <a:spcPct val="100000"/>
              </a:lnSpc>
            </a:pPr>
            <a:r>
              <a:rPr sz="1000" b="1" i="0">
                <a:solidFill>
                  <a:srgbClr val="92400E"/>
                </a:solidFill>
                <a:latin typeface="Segoe UI"/>
              </a:rPr>
              <a:t>Planned stop</a:t>
            </a:r>
          </a:p>
        </p:txBody>
      </p:sp>
      <p:cxnSp>
        <p:nvCxnSpPr>
          <p:cNvPr id="24" name="Connector 23"/>
          <p:cNvCxnSpPr/>
          <p:nvPr/>
        </p:nvCxnSpPr>
        <p:spPr>
          <a:xfrm>
            <a:off x="6812159" y="4303340"/>
            <a:ext cx="3821018"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669753" y="4211900"/>
            <a:ext cx="881862"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Khiska stop</a:t>
            </a:r>
          </a:p>
        </p:txBody>
      </p:sp>
      <p:cxnSp>
        <p:nvCxnSpPr>
          <p:cNvPr id="26" name="Connector 25"/>
          <p:cNvCxnSpPr/>
          <p:nvPr/>
        </p:nvCxnSpPr>
        <p:spPr>
          <a:xfrm>
            <a:off x="7022406" y="2527067"/>
            <a:ext cx="0" cy="371778"/>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6896258" y="2609684"/>
            <a:ext cx="252296" cy="20654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8" name="Connector 27"/>
          <p:cNvCxnSpPr/>
          <p:nvPr/>
        </p:nvCxnSpPr>
        <p:spPr>
          <a:xfrm>
            <a:off x="7442900" y="2403141"/>
            <a:ext cx="0" cy="371778"/>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7316752" y="2485758"/>
            <a:ext cx="252296" cy="16523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7863393" y="2361832"/>
            <a:ext cx="0" cy="49570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737245" y="2485758"/>
            <a:ext cx="252296" cy="289161"/>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8283887" y="2692302"/>
            <a:ext cx="0" cy="49570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8157739" y="2774919"/>
            <a:ext cx="252296" cy="33046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4" name="Connector 33"/>
          <p:cNvCxnSpPr/>
          <p:nvPr/>
        </p:nvCxnSpPr>
        <p:spPr>
          <a:xfrm>
            <a:off x="8704380" y="2981462"/>
            <a:ext cx="0" cy="454396"/>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8578232" y="3105389"/>
            <a:ext cx="252296" cy="247852"/>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9124874" y="3270623"/>
            <a:ext cx="0" cy="37177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8998726" y="3353241"/>
            <a:ext cx="252296" cy="206543"/>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8" name="Connector 37"/>
          <p:cNvCxnSpPr/>
          <p:nvPr/>
        </p:nvCxnSpPr>
        <p:spPr>
          <a:xfrm>
            <a:off x="9545367" y="3477167"/>
            <a:ext cx="0" cy="49570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9419219" y="3559784"/>
            <a:ext cx="252296" cy="33046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0" name="Connector 39"/>
          <p:cNvCxnSpPr/>
          <p:nvPr/>
        </p:nvCxnSpPr>
        <p:spPr>
          <a:xfrm>
            <a:off x="9965861" y="3766327"/>
            <a:ext cx="0" cy="578322"/>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9839713" y="3890254"/>
            <a:ext cx="252296" cy="33046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2" name="Connector 41"/>
          <p:cNvCxnSpPr/>
          <p:nvPr/>
        </p:nvCxnSpPr>
        <p:spPr>
          <a:xfrm>
            <a:off x="10386355" y="4055488"/>
            <a:ext cx="0" cy="454396"/>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10260206" y="4220723"/>
            <a:ext cx="252296" cy="165235"/>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4" name="Isosceles Triangle 43"/>
          <p:cNvSpPr/>
          <p:nvPr/>
        </p:nvSpPr>
        <p:spPr>
          <a:xfrm rot="10800000">
            <a:off x="8649516" y="2844302"/>
            <a:ext cx="109728" cy="91440"/>
          </a:xfrm>
          <a:prstGeom prst="triangl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5" name="TextBox 44"/>
          <p:cNvSpPr txBox="1"/>
          <p:nvPr/>
        </p:nvSpPr>
        <p:spPr>
          <a:xfrm>
            <a:off x="8328154" y="2633990"/>
            <a:ext cx="752452" cy="192024"/>
          </a:xfrm>
          <a:prstGeom prst="rect">
            <a:avLst/>
          </a:prstGeom>
          <a:noFill/>
        </p:spPr>
        <p:txBody>
          <a:bodyPr wrap="square" lIns="0" rIns="0" tIns="0" bIns="0" anchor="ctr">
            <a:noAutofit/>
          </a:bodyPr>
          <a:lstStyle/>
          <a:p>
            <a:pPr algn="ctr">
              <a:lnSpc>
                <a:spcPct val="100000"/>
              </a:lnSpc>
            </a:pPr>
            <a:r>
              <a:rPr sz="1000" b="1" i="0">
                <a:solidFill>
                  <a:srgbClr val="92400E"/>
                </a:solidFill>
                <a:latin typeface="Segoe UI"/>
              </a:rPr>
              <a:t>Stop khiska</a:t>
            </a:r>
          </a:p>
        </p:txBody>
      </p:sp>
      <p:sp>
        <p:nvSpPr>
          <p:cNvPr id="46" name="Isosceles Triangle 45"/>
          <p:cNvSpPr/>
          <p:nvPr/>
        </p:nvSpPr>
        <p:spPr>
          <a:xfrm>
            <a:off x="9910997" y="4390369"/>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7" name="TextBox 46"/>
          <p:cNvSpPr txBox="1"/>
          <p:nvPr/>
        </p:nvSpPr>
        <p:spPr>
          <a:xfrm>
            <a:off x="9705747" y="4500097"/>
            <a:ext cx="520229"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-2R exit</a:t>
            </a:r>
          </a:p>
        </p:txBody>
      </p:sp>
      <p:sp>
        <p:nvSpPr>
          <p:cNvPr id="48" name="Rounded Rectangle 47"/>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9" name="Rounded Rectangle 48"/>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50" name="TextBox 49"/>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Trade lene ke baad stop wahi rehta hai jahan plan card ne rakha tha. Loss se bachne ke liye use neeche kabhi mat khiskaiye.</a:t>
            </a:r>
          </a:p>
        </p:txBody>
      </p:sp>
      <p:pic>
        <p:nvPicPr>
          <p:cNvPr id="51" name="Picture 50" descr="logo.png"/>
          <p:cNvPicPr>
            <a:picLocks noChangeAspect="1"/>
          </p:cNvPicPr>
          <p:nvPr/>
        </p:nvPicPr>
        <p:blipFill>
          <a:blip r:embed="rId2"/>
          <a:stretch>
            <a:fillRect/>
          </a:stretch>
        </p:blipFill>
        <p:spPr>
          <a:xfrm>
            <a:off x="457200" y="6437376"/>
            <a:ext cx="237744" cy="237744"/>
          </a:xfrm>
          <a:prstGeom prst="rect">
            <a:avLst/>
          </a:prstGeom>
        </p:spPr>
      </p:pic>
      <p:sp>
        <p:nvSpPr>
          <p:cNvPr id="52"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53" name="TextBox 52"/>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Insaanon ka kill-switch: willpower nahi, design</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Day 9 ne aapko kill-switch diya tha: -2R par us din ke liye stop, aur hafte mein -5R par pause aur review.</a:t>
            </a:r>
          </a:p>
          <a:p>
            <a:pPr algn="l" marL="274320" indent="-274320">
              <a:lnSpc>
                <a:spcPct val="100000"/>
              </a:lnSpc>
              <a:spcAft>
                <a:spcPts val="800"/>
              </a:spcAft>
              <a:buClr>
                <a:srgbClr val="F5A623"/>
              </a:buClr>
              <a:buFont typeface="Arial"/>
              <a:buChar char="•"/>
            </a:pPr>
            <a:r>
              <a:rPr sz="1600" b="0" i="0">
                <a:solidFill>
                  <a:srgbClr val="18232F"/>
                </a:solidFill>
                <a:latin typeface="Segoe UI"/>
              </a:rPr>
              <a:t>Ghar ke switchboard mein laga MCB sochiye, yaani chhota circuit breaker: wiring jalne se pehle hi trip ho jaata hai, aur usse koi behes nahi karta.</a:t>
            </a:r>
          </a:p>
          <a:p>
            <a:pPr algn="l" marL="274320" indent="-274320">
              <a:lnSpc>
                <a:spcPct val="100000"/>
              </a:lnSpc>
              <a:spcAft>
                <a:spcPts val="800"/>
              </a:spcAft>
              <a:buClr>
                <a:srgbClr val="F5A623"/>
              </a:buClr>
              <a:buFont typeface="Arial"/>
              <a:buChar char="•"/>
            </a:pPr>
            <a:r>
              <a:rPr sz="1600" b="0" i="0">
                <a:solidFill>
                  <a:srgbClr val="18232F"/>
                </a:solidFill>
                <a:latin typeface="Segoe UI"/>
              </a:rPr>
              <a:t>Dikkat yeh hai ki apna switch aapko khud girana hai, theek us pal jab aapki samajh sabse kamzor hoti hai.</a:t>
            </a:r>
          </a:p>
          <a:p>
            <a:pPr algn="l" marL="274320" indent="-274320">
              <a:lnSpc>
                <a:spcPct val="100000"/>
              </a:lnSpc>
              <a:buClr>
                <a:srgbClr val="F5A623"/>
              </a:buClr>
              <a:buFont typeface="Arial"/>
              <a:buChar char="•"/>
            </a:pPr>
            <a:r>
              <a:rPr sz="1600" b="0" i="0">
                <a:solidFill>
                  <a:srgbClr val="18232F"/>
                </a:solidFill>
                <a:latin typeface="Segoe UI"/>
              </a:rPr>
              <a:t>Isliye willpower ke bharose mat rahiye.</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Rs 10 lakh ki virtual capital par 1R = Rs 10,000, toh Aman apne card ke upar likhta hai: 'Daily stop: -Rs 20,000. Weekly pause: -Rs 50,000. Phir woh apna din design karta hai. Office ke time chart aur paper-trading apps phone ki home screen se hat jaate hain, aur woh saare tip groups chhod deta hai. Alerts sirf kal raat ke plan card ke entry aur stop levels par lagte hain. … Is sab ke liye us pal himmat nahi chahiye; sab kuch ek shaant Sunday ko tay ho chuka tha.</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Willpower vs design</a:t>
            </a:r>
          </a:p>
        </p:txBody>
      </p:sp>
      <p:sp>
        <p:nvSpPr>
          <p:cNvPr id="10" name="TextBox 9"/>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Willpower nahi, design: din aisa banaiye ki sahi kaam hi aasaan kaam ho.</a:t>
            </a:r>
          </a:p>
        </p:txBody>
      </p:sp>
      <p:sp>
        <p:nvSpPr>
          <p:cNvPr id="11" name="Rounded Rectangle 10"/>
          <p:cNvSpPr/>
          <p:nvPr/>
        </p:nvSpPr>
        <p:spPr>
          <a:xfrm>
            <a:off x="6397600" y="1796796"/>
            <a:ext cx="2494712" cy="3438144"/>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397600" y="1796796"/>
            <a:ext cx="2494712" cy="448056"/>
          </a:xfrm>
          <a:prstGeom prst="roundRect">
            <a:avLst>
              <a:gd name="adj" fmla="val 20408"/>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397600" y="2020824"/>
            <a:ext cx="2494712" cy="22402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397600" y="1796796"/>
            <a:ext cx="2494712" cy="3438144"/>
          </a:xfrm>
          <a:prstGeom prst="roundRect">
            <a:avLst>
              <a:gd name="adj" fmla="val 3665"/>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6543904" y="1796796"/>
            <a:ext cx="2202104" cy="448056"/>
          </a:xfrm>
          <a:prstGeom prst="rect">
            <a:avLst/>
          </a:prstGeom>
          <a:noFill/>
        </p:spPr>
        <p:txBody>
          <a:bodyPr wrap="square" lIns="0" rIns="0" tIns="0" bIns="0" anchor="ctr">
            <a:noAutofit/>
          </a:bodyPr>
          <a:lstStyle/>
          <a:p>
            <a:pPr algn="l">
              <a:lnSpc>
                <a:spcPct val="100000"/>
              </a:lnSpc>
            </a:pPr>
            <a:r>
              <a:rPr sz="1500" b="1" i="0">
                <a:solidFill>
                  <a:srgbClr val="991B1B"/>
                </a:solidFill>
                <a:latin typeface="Segoe UI"/>
              </a:rPr>
              <a:t>Willpower wala plan</a:t>
            </a:r>
          </a:p>
        </p:txBody>
      </p:sp>
      <p:cxnSp>
        <p:nvCxnSpPr>
          <p:cNvPr id="16" name="Connector 15"/>
          <p:cNvCxnSpPr/>
          <p:nvPr/>
        </p:nvCxnSpPr>
        <p:spPr>
          <a:xfrm>
            <a:off x="6397600" y="2244852"/>
            <a:ext cx="2494711"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43904" y="2391156"/>
            <a:ext cx="2202104" cy="2807208"/>
          </a:xfrm>
          <a:prstGeom prst="rect">
            <a:avLst/>
          </a:prstGeom>
          <a:noFill/>
        </p:spPr>
        <p:txBody>
          <a:bodyPr wrap="square" lIns="0" rIns="0" tIns="0" bIns="0" anchor="t">
            <a:noAutofit/>
          </a:bodyPr>
          <a:lstStyle/>
          <a:p>
            <a:pPr algn="l" marL="201168" indent="-201168">
              <a:lnSpc>
                <a:spcPct val="100000"/>
              </a:lnSpc>
              <a:spcAft>
                <a:spcPts val="700"/>
              </a:spcAft>
              <a:buClr>
                <a:srgbClr val="F0554E"/>
              </a:buClr>
              <a:buFont typeface="Arial"/>
              <a:buChar char="•"/>
            </a:pPr>
            <a:r>
              <a:rPr sz="1400" b="0" i="0">
                <a:solidFill>
                  <a:srgbClr val="18232F"/>
                </a:solidFill>
                <a:latin typeface="Segoe UI"/>
              </a:rPr>
              <a:t>'Aaj dhyaan rakhunga'</a:t>
            </a:r>
          </a:p>
          <a:p>
            <a:pPr algn="l" marL="201168" indent="-201168">
              <a:lnSpc>
                <a:spcPct val="100000"/>
              </a:lnSpc>
              <a:spcAft>
                <a:spcPts val="700"/>
              </a:spcAft>
              <a:buClr>
                <a:srgbClr val="F0554E"/>
              </a:buClr>
              <a:buFont typeface="Arial"/>
              <a:buChar char="•"/>
            </a:pPr>
            <a:r>
              <a:rPr sz="1400" b="0" i="0">
                <a:solidFill>
                  <a:srgbClr val="18232F"/>
                </a:solidFill>
                <a:latin typeface="Segoe UI"/>
              </a:rPr>
              <a:t>Limit usi pal tay</a:t>
            </a:r>
          </a:p>
          <a:p>
            <a:pPr algn="l" marL="201168" indent="-201168">
              <a:lnSpc>
                <a:spcPct val="100000"/>
              </a:lnSpc>
              <a:spcAft>
                <a:spcPts val="700"/>
              </a:spcAft>
              <a:buClr>
                <a:srgbClr val="F0554E"/>
              </a:buClr>
              <a:buFont typeface="Arial"/>
              <a:buChar char="•"/>
            </a:pPr>
            <a:r>
              <a:rPr sz="1400" b="0" i="0">
                <a:solidFill>
                  <a:srgbClr val="18232F"/>
                </a:solidFill>
                <a:latin typeface="Segoe UI"/>
              </a:rPr>
              <a:t>App aur tip groups ek tap door</a:t>
            </a:r>
          </a:p>
          <a:p>
            <a:pPr algn="l" marL="201168" indent="-201168">
              <a:lnSpc>
                <a:spcPct val="100000"/>
              </a:lnSpc>
              <a:buClr>
                <a:srgbClr val="F0554E"/>
              </a:buClr>
              <a:buFont typeface="Arial"/>
              <a:buChar char="•"/>
            </a:pPr>
            <a:r>
              <a:rPr sz="1400" b="0" i="0">
                <a:solidFill>
                  <a:srgbClr val="18232F"/>
                </a:solidFill>
                <a:latin typeface="Segoe UI"/>
              </a:rPr>
              <a:t>Journal baad mein, agar yaad rahe</a:t>
            </a:r>
          </a:p>
        </p:txBody>
      </p:sp>
      <p:sp>
        <p:nvSpPr>
          <p:cNvPr id="18" name="Rounded Rectangle 17"/>
          <p:cNvSpPr/>
          <p:nvPr/>
        </p:nvSpPr>
        <p:spPr>
          <a:xfrm>
            <a:off x="9056903" y="1796796"/>
            <a:ext cx="2494712" cy="3438144"/>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9056903" y="1796796"/>
            <a:ext cx="2494712" cy="448056"/>
          </a:xfrm>
          <a:prstGeom prst="roundRect">
            <a:avLst>
              <a:gd name="adj" fmla="val 20408"/>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9056903" y="2020824"/>
            <a:ext cx="2494712" cy="22402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9056903" y="1796796"/>
            <a:ext cx="2494712" cy="3438144"/>
          </a:xfrm>
          <a:prstGeom prst="roundRect">
            <a:avLst>
              <a:gd name="adj" fmla="val 3665"/>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9203207" y="1796796"/>
            <a:ext cx="2202104" cy="448056"/>
          </a:xfrm>
          <a:prstGeom prst="rect">
            <a:avLst/>
          </a:prstGeom>
          <a:noFill/>
        </p:spPr>
        <p:txBody>
          <a:bodyPr wrap="square" lIns="0" rIns="0" tIns="0" bIns="0" anchor="ctr">
            <a:noAutofit/>
          </a:bodyPr>
          <a:lstStyle/>
          <a:p>
            <a:pPr algn="l">
              <a:lnSpc>
                <a:spcPct val="100000"/>
              </a:lnSpc>
            </a:pPr>
            <a:r>
              <a:rPr sz="1500" b="1" i="0">
                <a:solidFill>
                  <a:srgbClr val="166534"/>
                </a:solidFill>
                <a:latin typeface="Segoe UI"/>
              </a:rPr>
              <a:t>Design wala plan</a:t>
            </a:r>
          </a:p>
        </p:txBody>
      </p:sp>
      <p:cxnSp>
        <p:nvCxnSpPr>
          <p:cNvPr id="23" name="Connector 22"/>
          <p:cNvCxnSpPr/>
          <p:nvPr/>
        </p:nvCxnSpPr>
        <p:spPr>
          <a:xfrm>
            <a:off x="9056903" y="2244852"/>
            <a:ext cx="2494712"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203207" y="2391156"/>
            <a:ext cx="2202104" cy="2807208"/>
          </a:xfrm>
          <a:prstGeom prst="rect">
            <a:avLst/>
          </a:prstGeom>
          <a:noFill/>
        </p:spPr>
        <p:txBody>
          <a:bodyPr wrap="square" lIns="0" rIns="0" tIns="0" bIns="0" anchor="t">
            <a:noAutofit/>
          </a:bodyPr>
          <a:lstStyle/>
          <a:p>
            <a:pPr algn="l" marL="201168" indent="-201168">
              <a:lnSpc>
                <a:spcPct val="100000"/>
              </a:lnSpc>
              <a:spcAft>
                <a:spcPts val="700"/>
              </a:spcAft>
              <a:buClr>
                <a:srgbClr val="16A34A"/>
              </a:buClr>
              <a:buFont typeface="Arial"/>
              <a:buChar char="•"/>
            </a:pPr>
            <a:r>
              <a:rPr sz="1400" b="0" i="0">
                <a:solidFill>
                  <a:srgbClr val="18232F"/>
                </a:solidFill>
                <a:latin typeface="Segoe UI"/>
              </a:rPr>
              <a:t>Daily stop rupees mein, 9:15 se pehle likha</a:t>
            </a:r>
          </a:p>
          <a:p>
            <a:pPr algn="l" marL="201168" indent="-201168">
              <a:lnSpc>
                <a:spcPct val="100000"/>
              </a:lnSpc>
              <a:spcAft>
                <a:spcPts val="700"/>
              </a:spcAft>
              <a:buClr>
                <a:srgbClr val="16A34A"/>
              </a:buClr>
              <a:buFont typeface="Arial"/>
              <a:buChar char="•"/>
            </a:pPr>
            <a:r>
              <a:rPr sz="1400" b="0" i="0">
                <a:solidFill>
                  <a:srgbClr val="18232F"/>
                </a:solidFill>
                <a:latin typeface="Segoe UI"/>
              </a:rPr>
              <a:t>Alerts sirf plan card ke levels par</a:t>
            </a:r>
          </a:p>
          <a:p>
            <a:pPr algn="l" marL="201168" indent="-201168">
              <a:lnSpc>
                <a:spcPct val="100000"/>
              </a:lnSpc>
              <a:spcAft>
                <a:spcPts val="700"/>
              </a:spcAft>
              <a:buClr>
                <a:srgbClr val="16A34A"/>
              </a:buClr>
              <a:buFont typeface="Arial"/>
              <a:buChar char="•"/>
            </a:pPr>
            <a:r>
              <a:rPr sz="1400" b="0" i="0">
                <a:solidFill>
                  <a:srgbClr val="18232F"/>
                </a:solidFill>
                <a:latin typeface="Segoe UI"/>
              </a:rPr>
              <a:t>Office mein apps chhupe, tip groups se bahar</a:t>
            </a:r>
          </a:p>
          <a:p>
            <a:pPr algn="l" marL="201168" indent="-201168">
              <a:lnSpc>
                <a:spcPct val="100000"/>
              </a:lnSpc>
              <a:spcAft>
                <a:spcPts val="700"/>
              </a:spcAft>
              <a:buClr>
                <a:srgbClr val="16A34A"/>
              </a:buClr>
              <a:buFont typeface="Arial"/>
              <a:buChar char="•"/>
            </a:pPr>
            <a:r>
              <a:rPr sz="1400" b="0" i="0">
                <a:solidFill>
                  <a:srgbClr val="18232F"/>
                </a:solidFill>
                <a:latin typeface="Segoe UI"/>
              </a:rPr>
              <a:t>Har order se pehle journal row</a:t>
            </a:r>
          </a:p>
          <a:p>
            <a:pPr algn="l" marL="201168" indent="-201168">
              <a:lnSpc>
                <a:spcPct val="100000"/>
              </a:lnSpc>
              <a:buClr>
                <a:srgbClr val="16A34A"/>
              </a:buClr>
              <a:buFont typeface="Arial"/>
              <a:buChar char="•"/>
            </a:pPr>
            <a:r>
              <a:rPr sz="1400" b="0" i="0">
                <a:solidFill>
                  <a:srgbClr val="18232F"/>
                </a:solidFill>
                <a:latin typeface="Segoe UI"/>
              </a:rPr>
              <a:t>Ek buddy jise 'band kiya' batate hain</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7" name="TextBox 26"/>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Discipline us pal ki feeling nahi hai. Yeh pehle liya gaya, likha hua faisla hai.</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Daily Routine Card: chaar block, har din</a:t>
            </a:r>
          </a:p>
        </p:txBody>
      </p:sp>
      <p:sp>
        <p:nvSpPr>
          <p:cNvPr id="4" name="TextBox 3"/>
          <p:cNvSpPr txBox="1"/>
          <p:nvPr/>
        </p:nvSpPr>
        <p:spPr>
          <a:xfrm>
            <a:off x="457200" y="1335024"/>
            <a:ext cx="5519776" cy="1931670"/>
          </a:xfrm>
          <a:prstGeom prst="rect">
            <a:avLst/>
          </a:prstGeom>
          <a:noFill/>
        </p:spPr>
        <p:txBody>
          <a:bodyPr wrap="square" lIns="0" rIns="0" tIns="0" bIns="0" anchor="t">
            <a:noAutofit/>
          </a:bodyPr>
          <a:lstStyle/>
          <a:p>
            <a:pPr algn="l" marL="274320" indent="-274320">
              <a:lnSpc>
                <a:spcPct val="100000"/>
              </a:lnSpc>
              <a:spcAft>
                <a:spcPts val="750"/>
              </a:spcAft>
              <a:buClr>
                <a:srgbClr val="F5A623"/>
              </a:buClr>
              <a:buFont typeface="Arial"/>
              <a:buChar char="•"/>
            </a:pPr>
            <a:r>
              <a:rPr sz="1500" b="0" i="0">
                <a:solidFill>
                  <a:srgbClr val="18232F"/>
                </a:solidFill>
                <a:latin typeface="Segoe UI"/>
              </a:rPr>
              <a:t>Daily Routine Card ek page hai, screen ke paas ya phone mein photo ki tarah, jo batata hai ki kab kya karna hai.</a:t>
            </a:r>
          </a:p>
          <a:p>
            <a:pPr algn="l" marL="274320" indent="-274320">
              <a:lnSpc>
                <a:spcPct val="100000"/>
              </a:lnSpc>
              <a:spcAft>
                <a:spcPts val="750"/>
              </a:spcAft>
              <a:buClr>
                <a:srgbClr val="F5A623"/>
              </a:buClr>
              <a:buFont typeface="Arial"/>
              <a:buChar char="•"/>
            </a:pPr>
            <a:r>
              <a:rPr sz="1500" b="0" i="0">
                <a:solidFill>
                  <a:srgbClr val="18232F"/>
                </a:solidFill>
                <a:latin typeface="Segoe UI"/>
              </a:rPr>
              <a:t>Ismein chaar block hain.</a:t>
            </a:r>
          </a:p>
          <a:p>
            <a:pPr algn="l" marL="274320" indent="-274320">
              <a:lnSpc>
                <a:spcPct val="100000"/>
              </a:lnSpc>
              <a:spcAft>
                <a:spcPts val="750"/>
              </a:spcAft>
              <a:buClr>
                <a:srgbClr val="F5A623"/>
              </a:buClr>
              <a:buFont typeface="Arial"/>
              <a:buChar char="•"/>
            </a:pPr>
            <a:r>
              <a:rPr sz="1500" b="0" i="0">
                <a:solidFill>
                  <a:srgbClr val="18232F"/>
                </a:solidFill>
                <a:latin typeface="Segoe UI"/>
              </a:rPr>
              <a:t>Market khulne se pehle, 10 minute (maan lijiye 8:45 se 8:55, 9:00 ke pre-open se pehle)</a:t>
            </a:r>
          </a:p>
          <a:p>
            <a:pPr algn="l" marL="274320" indent="-274320">
              <a:lnSpc>
                <a:spcPct val="100000"/>
              </a:lnSpc>
              <a:buClr>
                <a:srgbClr val="F5A623"/>
              </a:buClr>
              <a:buFont typeface="Arial"/>
              <a:buChar char="•"/>
            </a:pPr>
            <a:r>
              <a:rPr sz="1500" b="0" i="0">
                <a:solidFill>
                  <a:srgbClr val="18232F"/>
                </a:solidFill>
                <a:latin typeface="Segoe UI"/>
              </a:rPr>
              <a:t>Market hours mein: sirf alerts aur checklist, na tip groups, na news debates.</a:t>
            </a:r>
          </a:p>
        </p:txBody>
      </p:sp>
      <p:sp>
        <p:nvSpPr>
          <p:cNvPr id="5" name="Rounded Rectangle 4"/>
          <p:cNvSpPr/>
          <p:nvPr/>
        </p:nvSpPr>
        <p:spPr>
          <a:xfrm>
            <a:off x="6214720" y="1335024"/>
            <a:ext cx="5519776" cy="2225040"/>
          </a:xfrm>
          <a:prstGeom prst="roundRect">
            <a:avLst>
              <a:gd name="adj" fmla="val 4931"/>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1767840"/>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Priya ka weekend block har Saturday wahi paanch sawaal poochta hai. Kul decisions mein se, no-trade days milakar, kitno mein har rule follow hua? Kis emotion tag ne sabse zyada R khaya? Daily stop ya weekly pause laga kya, aur maine use maana? Agle hafte kaunsi ek aadat sudhaarni hai? Maine kya achha kiya? Pehla card likhne mein use 25 minute lage. Ab har block utne hi time mein ho jaata hai jitna card par likha hai, aur jis din koi setup nahi, us din bhi card par tick lagta hai: no-trade day bhi rule follow karna hi hai. Uska poora bhara hua card aaj ke task mein hai, aur aapke liye ek khaali card bhi.</a:t>
            </a:r>
          </a:p>
        </p:txBody>
      </p:sp>
      <p:sp>
        <p:nvSpPr>
          <p:cNvPr id="8" name="Rounded Rectangle 7"/>
          <p:cNvSpPr/>
          <p:nvPr/>
        </p:nvSpPr>
        <p:spPr>
          <a:xfrm>
            <a:off x="457200" y="3724656"/>
            <a:ext cx="11277295" cy="1889760"/>
          </a:xfrm>
          <a:prstGeom prst="roundRect">
            <a:avLst>
              <a:gd name="adj" fmla="val 580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8709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Card par ek din</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Naukri wale swing traders pehla block kaam se pehle aur close ke baad wala block shaam ko karte hain. Time sirf ek template hai: apne din ke hisaab se badliye.</a:t>
            </a:r>
          </a:p>
        </p:txBody>
      </p:sp>
      <p:cxnSp>
        <p:nvCxnSpPr>
          <p:cNvPr id="11" name="Connector 10"/>
          <p:cNvCxnSpPr/>
          <p:nvPr/>
        </p:nvCxnSpPr>
        <p:spPr>
          <a:xfrm>
            <a:off x="1731234" y="4376928"/>
            <a:ext cx="8729228" cy="0"/>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441991" y="4212336"/>
            <a:ext cx="57848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8:45</a:t>
            </a:r>
          </a:p>
        </p:txBody>
      </p:sp>
      <p:sp>
        <p:nvSpPr>
          <p:cNvPr id="13" name="TextBox 12"/>
          <p:cNvSpPr txBox="1"/>
          <p:nvPr/>
        </p:nvSpPr>
        <p:spPr>
          <a:xfrm>
            <a:off x="713232" y="4669536"/>
            <a:ext cx="2036003" cy="585216"/>
          </a:xfrm>
          <a:prstGeom prst="rect">
            <a:avLst/>
          </a:prstGeom>
          <a:noFill/>
        </p:spPr>
        <p:txBody>
          <a:bodyPr wrap="square" lIns="0" rIns="0" tIns="0" bIns="0" anchor="t">
            <a:noAutofit/>
          </a:bodyPr>
          <a:lstStyle/>
          <a:p>
            <a:pPr algn="ctr">
              <a:lnSpc>
                <a:spcPct val="100000"/>
              </a:lnSpc>
              <a:spcAft>
                <a:spcPts val="200"/>
              </a:spcAft>
            </a:pPr>
            <a:r>
              <a:rPr sz="1200" b="1" i="0">
                <a:solidFill>
                  <a:srgbClr val="18232F"/>
                </a:solidFill>
                <a:latin typeface="Segoe UI"/>
              </a:rPr>
              <a:t>Market khulne se pehle</a:t>
            </a:r>
          </a:p>
          <a:p>
            <a:pPr algn="ctr">
              <a:lnSpc>
                <a:spcPct val="100000"/>
              </a:lnSpc>
            </a:pPr>
            <a:r>
              <a:rPr sz="1050" b="0" i="0">
                <a:solidFill>
                  <a:srgbClr val="47596B"/>
                </a:solidFill>
                <a:latin typeface="Segoe UI"/>
              </a:rPr>
              <a:t>Events, daily stop, mood, ek line</a:t>
            </a:r>
          </a:p>
        </p:txBody>
      </p:sp>
      <p:sp>
        <p:nvSpPr>
          <p:cNvPr id="14" name="Rounded Rectangle 13"/>
          <p:cNvSpPr/>
          <p:nvPr/>
        </p:nvSpPr>
        <p:spPr>
          <a:xfrm>
            <a:off x="3624298" y="4212336"/>
            <a:ext cx="57848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9:15</a:t>
            </a:r>
          </a:p>
        </p:txBody>
      </p:sp>
      <p:sp>
        <p:nvSpPr>
          <p:cNvPr id="15" name="TextBox 14"/>
          <p:cNvSpPr txBox="1"/>
          <p:nvPr/>
        </p:nvSpPr>
        <p:spPr>
          <a:xfrm>
            <a:off x="2895539" y="4669536"/>
            <a:ext cx="2036003" cy="585216"/>
          </a:xfrm>
          <a:prstGeom prst="rect">
            <a:avLst/>
          </a:prstGeom>
          <a:noFill/>
        </p:spPr>
        <p:txBody>
          <a:bodyPr wrap="square" lIns="0" rIns="0" tIns="0" bIns="0" anchor="t">
            <a:noAutofit/>
          </a:bodyPr>
          <a:lstStyle/>
          <a:p>
            <a:pPr algn="ctr">
              <a:lnSpc>
                <a:spcPct val="100000"/>
              </a:lnSpc>
              <a:spcAft>
                <a:spcPts val="200"/>
              </a:spcAft>
            </a:pPr>
            <a:r>
              <a:rPr sz="1200" b="1" i="0">
                <a:solidFill>
                  <a:srgbClr val="18232F"/>
                </a:solidFill>
                <a:latin typeface="Segoe UI"/>
              </a:rPr>
              <a:t>Market hours</a:t>
            </a:r>
          </a:p>
          <a:p>
            <a:pPr algn="ctr">
              <a:lnSpc>
                <a:spcPct val="100000"/>
              </a:lnSpc>
            </a:pPr>
            <a:r>
              <a:rPr sz="1050" b="0" i="0">
                <a:solidFill>
                  <a:srgbClr val="47596B"/>
                </a:solidFill>
                <a:latin typeface="Segoe UI"/>
              </a:rPr>
              <a:t>Sirf alerts aur checklist</a:t>
            </a:r>
          </a:p>
        </p:txBody>
      </p:sp>
      <p:sp>
        <p:nvSpPr>
          <p:cNvPr id="16" name="Rounded Rectangle 15"/>
          <p:cNvSpPr/>
          <p:nvPr/>
        </p:nvSpPr>
        <p:spPr>
          <a:xfrm>
            <a:off x="5806605" y="4212336"/>
            <a:ext cx="57848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-2R</a:t>
            </a:r>
          </a:p>
        </p:txBody>
      </p:sp>
      <p:sp>
        <p:nvSpPr>
          <p:cNvPr id="17" name="TextBox 16"/>
          <p:cNvSpPr txBox="1"/>
          <p:nvPr/>
        </p:nvSpPr>
        <p:spPr>
          <a:xfrm>
            <a:off x="5077846" y="4669536"/>
            <a:ext cx="2036003" cy="585216"/>
          </a:xfrm>
          <a:prstGeom prst="rect">
            <a:avLst/>
          </a:prstGeom>
          <a:noFill/>
        </p:spPr>
        <p:txBody>
          <a:bodyPr wrap="square" lIns="0" rIns="0" tIns="0" bIns="0" anchor="t">
            <a:noAutofit/>
          </a:bodyPr>
          <a:lstStyle/>
          <a:p>
            <a:pPr algn="ctr">
              <a:lnSpc>
                <a:spcPct val="100000"/>
              </a:lnSpc>
              <a:spcAft>
                <a:spcPts val="200"/>
              </a:spcAft>
            </a:pPr>
            <a:r>
              <a:rPr sz="1200" b="1" i="0">
                <a:solidFill>
                  <a:srgbClr val="18232F"/>
                </a:solidFill>
                <a:latin typeface="Segoe UI"/>
              </a:rPr>
              <a:t>Kill-switch</a:t>
            </a:r>
          </a:p>
          <a:p>
            <a:pPr algn="ctr">
              <a:lnSpc>
                <a:spcPct val="100000"/>
              </a:lnSpc>
            </a:pPr>
            <a:r>
              <a:rPr sz="1050" b="0" i="0">
                <a:solidFill>
                  <a:srgbClr val="47596B"/>
                </a:solidFill>
                <a:latin typeface="Segoe UI"/>
              </a:rPr>
              <a:t>Hit ho toh: kal tak screen band</a:t>
            </a:r>
          </a:p>
        </p:txBody>
      </p:sp>
      <p:sp>
        <p:nvSpPr>
          <p:cNvPr id="18" name="Rounded Rectangle 17"/>
          <p:cNvSpPr/>
          <p:nvPr/>
        </p:nvSpPr>
        <p:spPr>
          <a:xfrm>
            <a:off x="7988912" y="4212336"/>
            <a:ext cx="57848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15:30</a:t>
            </a:r>
          </a:p>
        </p:txBody>
      </p:sp>
      <p:sp>
        <p:nvSpPr>
          <p:cNvPr id="19" name="TextBox 18"/>
          <p:cNvSpPr txBox="1"/>
          <p:nvPr/>
        </p:nvSpPr>
        <p:spPr>
          <a:xfrm>
            <a:off x="7260153" y="4669536"/>
            <a:ext cx="2036003" cy="585216"/>
          </a:xfrm>
          <a:prstGeom prst="rect">
            <a:avLst/>
          </a:prstGeom>
          <a:noFill/>
        </p:spPr>
        <p:txBody>
          <a:bodyPr wrap="square" lIns="0" rIns="0" tIns="0" bIns="0" anchor="t">
            <a:noAutofit/>
          </a:bodyPr>
          <a:lstStyle/>
          <a:p>
            <a:pPr algn="ctr">
              <a:lnSpc>
                <a:spcPct val="100000"/>
              </a:lnSpc>
              <a:spcAft>
                <a:spcPts val="200"/>
              </a:spcAft>
            </a:pPr>
            <a:r>
              <a:rPr sz="1200" b="1" i="0">
                <a:solidFill>
                  <a:srgbClr val="18232F"/>
                </a:solidFill>
                <a:latin typeface="Segoe UI"/>
              </a:rPr>
              <a:t>Close ke baad</a:t>
            </a:r>
          </a:p>
          <a:p>
            <a:pPr algn="ctr">
              <a:lnSpc>
                <a:spcPct val="100000"/>
              </a:lnSpc>
            </a:pPr>
            <a:r>
              <a:rPr sz="1050" b="0" i="0">
                <a:solidFill>
                  <a:srgbClr val="47596B"/>
                </a:solidFill>
                <a:latin typeface="Segoe UI"/>
              </a:rPr>
              <a:t>Journal, scan, plan card, AI review</a:t>
            </a:r>
          </a:p>
        </p:txBody>
      </p:sp>
      <p:sp>
        <p:nvSpPr>
          <p:cNvPr id="20" name="Rounded Rectangle 19"/>
          <p:cNvSpPr/>
          <p:nvPr/>
        </p:nvSpPr>
        <p:spPr>
          <a:xfrm>
            <a:off x="10171219" y="4212336"/>
            <a:ext cx="57848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Sat</a:t>
            </a:r>
          </a:p>
        </p:txBody>
      </p:sp>
      <p:sp>
        <p:nvSpPr>
          <p:cNvPr id="21" name="TextBox 20"/>
          <p:cNvSpPr txBox="1"/>
          <p:nvPr/>
        </p:nvSpPr>
        <p:spPr>
          <a:xfrm>
            <a:off x="9442460" y="4669536"/>
            <a:ext cx="2036003" cy="585216"/>
          </a:xfrm>
          <a:prstGeom prst="rect">
            <a:avLst/>
          </a:prstGeom>
          <a:noFill/>
        </p:spPr>
        <p:txBody>
          <a:bodyPr wrap="square" lIns="0" rIns="0" tIns="0" bIns="0" anchor="t">
            <a:noAutofit/>
          </a:bodyPr>
          <a:lstStyle/>
          <a:p>
            <a:pPr algn="ctr">
              <a:lnSpc>
                <a:spcPct val="100000"/>
              </a:lnSpc>
              <a:spcAft>
                <a:spcPts val="200"/>
              </a:spcAft>
            </a:pPr>
            <a:r>
              <a:rPr sz="1200" b="1" i="0">
                <a:solidFill>
                  <a:srgbClr val="18232F"/>
                </a:solidFill>
                <a:latin typeface="Segoe UI"/>
              </a:rPr>
              <a:t>Weekend review</a:t>
            </a:r>
          </a:p>
          <a:p>
            <a:pPr algn="ctr">
              <a:lnSpc>
                <a:spcPct val="100000"/>
              </a:lnSpc>
            </a:pPr>
            <a:r>
              <a:rPr sz="1050" b="0" i="0">
                <a:solidFill>
                  <a:srgbClr val="47596B"/>
                </a:solidFill>
                <a:latin typeface="Segoe UI"/>
              </a:rPr>
              <a:t>Paanch sawaal; rule mein badlaav sirf yahin, 30 trades ke baad</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4" name="TextBox 23"/>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Market khulne se pehle plan, session ke dauraan card, close ke baad review.</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Aapki protection checklist: paisa bhi bachaiye, mann bhi</a:t>
            </a:r>
          </a:p>
        </p:txBody>
      </p:sp>
      <p:sp>
        <p:nvSpPr>
          <p:cNvPr id="4" name="TextBox 3"/>
          <p:cNvSpPr txBox="1"/>
          <p:nvPr/>
        </p:nvSpPr>
        <p:spPr>
          <a:xfrm>
            <a:off x="457200" y="1335024"/>
            <a:ext cx="5519776" cy="240284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Paise ke liye paanch checks, sab Week 1 se.</a:t>
            </a:r>
          </a:p>
          <a:p>
            <a:pPr algn="l" marL="274320" indent="-274320">
              <a:lnSpc>
                <a:spcPct val="100000"/>
              </a:lnSpc>
              <a:spcAft>
                <a:spcPts val="800"/>
              </a:spcAft>
              <a:buClr>
                <a:srgbClr val="F5A623"/>
              </a:buClr>
              <a:buFont typeface="Arial"/>
              <a:buChar char="•"/>
            </a:pPr>
            <a:r>
              <a:rPr sz="1600" b="0" i="0">
                <a:solidFill>
                  <a:srgbClr val="18232F"/>
                </a:solidFill>
                <a:latin typeface="Segoe UI"/>
              </a:rPr>
              <a:t>Kisi bhi adviser ya analyst ko paise dene se pehle sebi.gov.in par verify kijiye.</a:t>
            </a:r>
          </a:p>
          <a:p>
            <a:pPr algn="l" marL="274320" indent="-274320">
              <a:lnSpc>
                <a:spcPct val="100000"/>
              </a:lnSpc>
              <a:spcAft>
                <a:spcPts val="800"/>
              </a:spcAft>
              <a:buClr>
                <a:srgbClr val="F5A623"/>
              </a:buClr>
              <a:buFont typeface="Arial"/>
              <a:buChar char="•"/>
            </a:pPr>
            <a:r>
              <a:rPr sz="1600" b="0" i="0">
                <a:solidFill>
                  <a:srgbClr val="18232F"/>
                </a:solidFill>
                <a:latin typeface="Segoe UI"/>
              </a:rPr>
              <a:t>Paisa sirf usi registered naam wale account mein bhejiye, SEBI Check (Day 7) par check karke.</a:t>
            </a:r>
          </a:p>
          <a:p>
            <a:pPr algn="l" marL="274320" indent="-274320">
              <a:lnSpc>
                <a:spcPct val="100000"/>
              </a:lnSpc>
              <a:spcAft>
                <a:spcPts val="800"/>
              </a:spcAft>
              <a:buClr>
                <a:srgbClr val="F5A623"/>
              </a:buClr>
              <a:buFont typeface="Arial"/>
              <a:buChar char="•"/>
            </a:pPr>
            <a:r>
              <a:rPr sz="1600" b="0" i="0">
                <a:solidFill>
                  <a:srgbClr val="18232F"/>
                </a:solidFill>
                <a:latin typeface="Segoe UI"/>
              </a:rPr>
              <a:t>OTP, TPIN ya password kabhi share mat kijiye.</a:t>
            </a:r>
          </a:p>
          <a:p>
            <a:pPr algn="l" marL="274320" indent="-274320">
              <a:lnSpc>
                <a:spcPct val="100000"/>
              </a:lnSpc>
              <a:buClr>
                <a:srgbClr val="F5A623"/>
              </a:buClr>
              <a:buFont typeface="Arial"/>
              <a:buChar char="•"/>
            </a:pPr>
            <a:r>
              <a:rPr sz="1600" b="0" i="0">
                <a:solidFill>
                  <a:srgbClr val="18232F"/>
                </a:solidFill>
                <a:latin typeface="Segoe UI"/>
              </a:rPr>
              <a:t>Complaint pehle broker ya adviser ke apne grievance desk par, phir SCORES ya SMART ODR par.</a:t>
            </a:r>
          </a:p>
        </p:txBody>
      </p:sp>
      <p:sp>
        <p:nvSpPr>
          <p:cNvPr id="5" name="Rounded Rectangle 4"/>
          <p:cNvSpPr/>
          <p:nvPr/>
        </p:nvSpPr>
        <p:spPr>
          <a:xfrm>
            <a:off x="457200" y="3893312"/>
            <a:ext cx="5519776" cy="1721104"/>
          </a:xfrm>
          <a:prstGeom prst="roundRect">
            <a:avLst>
              <a:gd name="adj" fmla="val 637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0213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277360"/>
            <a:ext cx="5154016" cy="12639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 apne hafte ko imaandaari se dekhta hai: office meetings ke beech chhupke lagaye do trade, aur Rs 50,000 ka card loan lene ka khayal, 'asli paise se sab wapas nikaalne ke liye'. Yeh teen warning signs hain: loss ka peecha, office mein chhupke trade, aur udhaar ka plan. … Stage 1 virtual paise par chalta hai, isliye aisi aadat pakadne ki isse sasti jagah koi nahi.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Agar warning sign dikhe</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Tele-MANAS: 14416, free, 24x7, kai Indian bhashaon mein. Latest jaankari telemanas.mohfw.gov.in par dekhiye.</a:t>
            </a:r>
          </a:p>
        </p:txBody>
      </p:sp>
      <p:sp>
        <p:nvSpPr>
          <p:cNvPr id="11" name="Rounded Rectangle 10"/>
          <p:cNvSpPr/>
          <p:nvPr/>
        </p:nvSpPr>
        <p:spPr>
          <a:xfrm>
            <a:off x="6397600" y="1796796"/>
            <a:ext cx="5154016" cy="568452"/>
          </a:xfrm>
          <a:prstGeom prst="roundRect">
            <a:avLst>
              <a:gd name="adj" fmla="val 16085"/>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6534760" y="1879092"/>
            <a:ext cx="4879696" cy="477012"/>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Sign pehchaaniye</a:t>
            </a:r>
          </a:p>
          <a:p>
            <a:pPr algn="l">
              <a:lnSpc>
                <a:spcPct val="100000"/>
              </a:lnSpc>
            </a:pPr>
            <a:r>
              <a:rPr sz="1250" b="0" i="0">
                <a:solidFill>
                  <a:srgbClr val="47596B"/>
                </a:solidFill>
                <a:latin typeface="Segoe UI"/>
              </a:rPr>
              <a:t>Udhaar, chhupana, peecha, neend nahi</a:t>
            </a:r>
          </a:p>
        </p:txBody>
      </p:sp>
      <p:sp>
        <p:nvSpPr>
          <p:cNvPr id="13" name="Down Arrow 12"/>
          <p:cNvSpPr/>
          <p:nvPr/>
        </p:nvSpPr>
        <p:spPr>
          <a:xfrm>
            <a:off x="6708496" y="2401824"/>
            <a:ext cx="219456" cy="261620"/>
          </a:xfrm>
          <a:prstGeom prst="down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397600" y="2700020"/>
            <a:ext cx="5154016" cy="568452"/>
          </a:xfrm>
          <a:prstGeom prst="roundRect">
            <a:avLst>
              <a:gd name="adj" fmla="val 16085"/>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6534760" y="2782316"/>
            <a:ext cx="4879696" cy="477012"/>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Ek hafte ka break</a:t>
            </a:r>
          </a:p>
          <a:p>
            <a:pPr algn="l">
              <a:lnSpc>
                <a:spcPct val="100000"/>
              </a:lnSpc>
            </a:pPr>
            <a:r>
              <a:rPr sz="1250" b="0" i="0">
                <a:solidFill>
                  <a:srgbClr val="47596B"/>
                </a:solidFill>
                <a:latin typeface="Segoe UI"/>
              </a:rPr>
              <a:t>Charts aur apps band</a:t>
            </a:r>
          </a:p>
        </p:txBody>
      </p:sp>
      <p:sp>
        <p:nvSpPr>
          <p:cNvPr id="16" name="Down Arrow 15"/>
          <p:cNvSpPr/>
          <p:nvPr/>
        </p:nvSpPr>
        <p:spPr>
          <a:xfrm>
            <a:off x="6708496" y="3305048"/>
            <a:ext cx="219456" cy="261620"/>
          </a:xfrm>
          <a:prstGeom prst="down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6397600" y="3603244"/>
            <a:ext cx="5154016" cy="568452"/>
          </a:xfrm>
          <a:prstGeom prst="roundRect">
            <a:avLst>
              <a:gd name="adj" fmla="val 16085"/>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534760" y="3685540"/>
            <a:ext cx="4879696" cy="477012"/>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Kisi ko bataiye</a:t>
            </a:r>
          </a:p>
          <a:p>
            <a:pPr algn="l">
              <a:lnSpc>
                <a:spcPct val="100000"/>
              </a:lnSpc>
            </a:pPr>
            <a:r>
              <a:rPr sz="1250" b="0" i="0">
                <a:solidFill>
                  <a:srgbClr val="47596B"/>
                </a:solidFill>
                <a:latin typeface="Segoe UI"/>
              </a:rPr>
              <a:t>Family ya bharosemand dost</a:t>
            </a:r>
          </a:p>
        </p:txBody>
      </p:sp>
      <p:sp>
        <p:nvSpPr>
          <p:cNvPr id="19" name="Down Arrow 18"/>
          <p:cNvSpPr/>
          <p:nvPr/>
        </p:nvSpPr>
        <p:spPr>
          <a:xfrm>
            <a:off x="6708496" y="4208272"/>
            <a:ext cx="219456" cy="261620"/>
          </a:xfrm>
          <a:prstGeom prst="down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ounded Rectangle 19"/>
          <p:cNvSpPr/>
          <p:nvPr/>
        </p:nvSpPr>
        <p:spPr>
          <a:xfrm>
            <a:off x="6397600" y="4506468"/>
            <a:ext cx="5154016" cy="568452"/>
          </a:xfrm>
          <a:prstGeom prst="roundRect">
            <a:avLst>
              <a:gd name="adj" fmla="val 16085"/>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6534760" y="4588764"/>
            <a:ext cx="4879696" cy="477012"/>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Madad lijiye</a:t>
            </a:r>
          </a:p>
          <a:p>
            <a:pPr algn="l">
              <a:lnSpc>
                <a:spcPct val="100000"/>
              </a:lnSpc>
            </a:pPr>
            <a:r>
              <a:rPr sz="1250" b="0" i="0">
                <a:solidFill>
                  <a:srgbClr val="47596B"/>
                </a:solidFill>
                <a:latin typeface="Segoe UI"/>
              </a:rPr>
              <a:t>Counsellor ya Tele-MANAS 14416</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4" name="TextBox 23"/>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Paise ko checks se bachaiye, mann ko logon se. Dono akele karne ki zaroorat nahi.</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ke naye shabd</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507236"/>
            <a:ext cx="5154016" cy="269748"/>
          </a:xfrm>
          <a:prstGeom prst="rect">
            <a:avLst/>
          </a:prstGeom>
          <a:noFill/>
        </p:spPr>
        <p:txBody>
          <a:bodyPr wrap="square" lIns="0" rIns="0" tIns="0" bIns="0" anchor="t">
            <a:noAutofit/>
          </a:bodyPr>
          <a:lstStyle/>
          <a:p>
            <a:pPr algn="l">
              <a:lnSpc>
                <a:spcPct val="100000"/>
              </a:lnSpc>
            </a:pPr>
            <a:r>
              <a:rPr sz="1650" b="1" i="0">
                <a:solidFill>
                  <a:srgbClr val="92400E"/>
                </a:solidFill>
                <a:latin typeface="Segoe UI"/>
              </a:rPr>
              <a:t>Revenge trade</a:t>
            </a:r>
          </a:p>
        </p:txBody>
      </p:sp>
      <p:sp>
        <p:nvSpPr>
          <p:cNvPr id="6" name="TextBox 5"/>
          <p:cNvSpPr txBox="1"/>
          <p:nvPr/>
        </p:nvSpPr>
        <p:spPr>
          <a:xfrm>
            <a:off x="658368" y="1813560"/>
            <a:ext cx="5154016" cy="47853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Loss wapas nikaalne ke liye liya gaya trade, kisi rule ke setup ki wajah se nahi. Aksar normal se bada aur jaldbaazi wala.</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472946"/>
            <a:ext cx="5154016" cy="292608"/>
          </a:xfrm>
          <a:prstGeom prst="rect">
            <a:avLst/>
          </a:prstGeom>
          <a:noFill/>
        </p:spPr>
        <p:txBody>
          <a:bodyPr wrap="square" lIns="0" rIns="0" tIns="0" bIns="0" anchor="t">
            <a:noAutofit/>
          </a:bodyPr>
          <a:lstStyle/>
          <a:p>
            <a:pPr algn="l">
              <a:lnSpc>
                <a:spcPct val="100000"/>
              </a:lnSpc>
            </a:pPr>
            <a:r>
              <a:rPr sz="1800" b="1" i="0">
                <a:solidFill>
                  <a:srgbClr val="92400E"/>
                </a:solidFill>
                <a:latin typeface="Segoe UI"/>
              </a:rPr>
              <a:t>FOMO</a:t>
            </a:r>
          </a:p>
        </p:txBody>
      </p:sp>
      <p:sp>
        <p:nvSpPr>
          <p:cNvPr id="9" name="TextBox 8"/>
          <p:cNvSpPr txBox="1"/>
          <p:nvPr/>
        </p:nvSpPr>
        <p:spPr>
          <a:xfrm>
            <a:off x="6379312" y="1802130"/>
            <a:ext cx="5154016"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'Kahin chhoot na jaaye' wala darr: bina setup ke aise move mein kood jaana jo pehle hi chal chuka hai.</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71394"/>
            <a:ext cx="5154016" cy="277368"/>
          </a:xfrm>
          <a:prstGeom prst="rect">
            <a:avLst/>
          </a:prstGeom>
          <a:noFill/>
        </p:spPr>
        <p:txBody>
          <a:bodyPr wrap="square" lIns="0" rIns="0" tIns="0" bIns="0" anchor="t">
            <a:noAutofit/>
          </a:bodyPr>
          <a:lstStyle/>
          <a:p>
            <a:pPr algn="l">
              <a:lnSpc>
                <a:spcPct val="100000"/>
              </a:lnSpc>
            </a:pPr>
            <a:r>
              <a:rPr sz="1700" b="1" i="0">
                <a:solidFill>
                  <a:srgbClr val="92400E"/>
                </a:solidFill>
                <a:latin typeface="Segoe UI"/>
              </a:rPr>
              <a:t>Loss aversion</a:t>
            </a:r>
          </a:p>
        </p:txBody>
      </p:sp>
      <p:sp>
        <p:nvSpPr>
          <p:cNvPr id="12" name="TextBox 11"/>
          <p:cNvSpPr txBox="1"/>
          <p:nvPr/>
        </p:nvSpPr>
        <p:spPr>
          <a:xfrm>
            <a:off x="658368" y="3085338"/>
            <a:ext cx="5154016" cy="493776"/>
          </a:xfrm>
          <a:prstGeom prst="rect">
            <a:avLst/>
          </a:prstGeom>
          <a:noFill/>
        </p:spPr>
        <p:txBody>
          <a:bodyPr wrap="square" lIns="0" rIns="0" tIns="0" bIns="0" anchor="t">
            <a:noAutofit/>
          </a:bodyPr>
          <a:lstStyle/>
          <a:p>
            <a:pPr algn="l">
              <a:lnSpc>
                <a:spcPct val="100000"/>
              </a:lnSpc>
            </a:pPr>
            <a:r>
              <a:rPr sz="1500" b="0" i="0">
                <a:solidFill>
                  <a:srgbClr val="18232F"/>
                </a:solidFill>
                <a:latin typeface="Segoe UI"/>
              </a:rPr>
              <a:t>Loss utne hi bade gain ki khushi se zyada dukhta hai, isliye hum loss book karne se bachte hain, jaise stop khiska kar.</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48534"/>
            <a:ext cx="5154016" cy="292608"/>
          </a:xfrm>
          <a:prstGeom prst="rect">
            <a:avLst/>
          </a:prstGeom>
          <a:noFill/>
        </p:spPr>
        <p:txBody>
          <a:bodyPr wrap="square" lIns="0" rIns="0" tIns="0" bIns="0" anchor="t">
            <a:noAutofit/>
          </a:bodyPr>
          <a:lstStyle/>
          <a:p>
            <a:pPr algn="l">
              <a:lnSpc>
                <a:spcPct val="100000"/>
              </a:lnSpc>
            </a:pPr>
            <a:r>
              <a:rPr sz="1800" b="1" i="0">
                <a:solidFill>
                  <a:srgbClr val="92400E"/>
                </a:solidFill>
                <a:latin typeface="Segoe UI"/>
              </a:rPr>
              <a:t>Sunk cost</a:t>
            </a:r>
          </a:p>
        </p:txBody>
      </p:sp>
      <p:sp>
        <p:nvSpPr>
          <p:cNvPr id="15" name="TextBox 14"/>
          <p:cNvSpPr txBox="1"/>
          <p:nvPr/>
        </p:nvSpPr>
        <p:spPr>
          <a:xfrm>
            <a:off x="6379312" y="3077718"/>
            <a:ext cx="5154016"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Woh paisa jo ja chuka. Aaj ka faisla woh tay na kare, kyunki market ko aapka buying price pata hi nahi.</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24122"/>
            <a:ext cx="5154016" cy="292608"/>
          </a:xfrm>
          <a:prstGeom prst="rect">
            <a:avLst/>
          </a:prstGeom>
          <a:noFill/>
        </p:spPr>
        <p:txBody>
          <a:bodyPr wrap="square" lIns="0" rIns="0" tIns="0" bIns="0" anchor="t">
            <a:noAutofit/>
          </a:bodyPr>
          <a:lstStyle/>
          <a:p>
            <a:pPr algn="l">
              <a:lnSpc>
                <a:spcPct val="100000"/>
              </a:lnSpc>
            </a:pPr>
            <a:r>
              <a:rPr sz="1800" b="1" i="0">
                <a:solidFill>
                  <a:srgbClr val="92400E"/>
                </a:solidFill>
                <a:latin typeface="Segoe UI"/>
              </a:rPr>
              <a:t>Confirmation bias</a:t>
            </a:r>
          </a:p>
        </p:txBody>
      </p:sp>
      <p:sp>
        <p:nvSpPr>
          <p:cNvPr id="18" name="TextBox 17"/>
          <p:cNvSpPr txBox="1"/>
          <p:nvPr/>
        </p:nvSpPr>
        <p:spPr>
          <a:xfrm>
            <a:off x="658368" y="4353306"/>
            <a:ext cx="5154016"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Trade lene ke baad sirf wahi views dhoondhna jo aapse sehmat hon.</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24122"/>
            <a:ext cx="5154016" cy="292608"/>
          </a:xfrm>
          <a:prstGeom prst="rect">
            <a:avLst/>
          </a:prstGeom>
          <a:noFill/>
        </p:spPr>
        <p:txBody>
          <a:bodyPr wrap="square" lIns="0" rIns="0" tIns="0" bIns="0" anchor="t">
            <a:noAutofit/>
          </a:bodyPr>
          <a:lstStyle/>
          <a:p>
            <a:pPr algn="l">
              <a:lnSpc>
                <a:spcPct val="100000"/>
              </a:lnSpc>
            </a:pPr>
            <a:r>
              <a:rPr sz="1800" b="1" i="0">
                <a:solidFill>
                  <a:srgbClr val="92400E"/>
                </a:solidFill>
                <a:latin typeface="Segoe UI"/>
              </a:rPr>
              <a:t>Recency bias</a:t>
            </a:r>
          </a:p>
        </p:txBody>
      </p:sp>
      <p:sp>
        <p:nvSpPr>
          <p:cNvPr id="21" name="TextBox 20"/>
          <p:cNvSpPr txBox="1"/>
          <p:nvPr/>
        </p:nvSpPr>
        <p:spPr>
          <a:xfrm>
            <a:off x="6379312" y="4353306"/>
            <a:ext cx="5154016"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Pichhle kuch trades ko zaroorat se zyada weight dena, jaise teen loss ke baad rule chhod dena.</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289804"/>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Daily Routine Card</a:t>
            </a:r>
          </a:p>
        </p:txBody>
      </p:sp>
      <p:sp>
        <p:nvSpPr>
          <p:cNvPr id="24" name="TextBox 23"/>
          <p:cNvSpPr txBox="1"/>
          <p:nvPr/>
        </p:nvSpPr>
        <p:spPr>
          <a:xfrm>
            <a:off x="658368"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Ek page jo batata hai ki kab kya karna hai: upar aapka kill-switch, chaar time wale block, saaton biases ka likha hua jawab, aur aapki protection checklist.</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289804"/>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Insaano ka kill-switch</a:t>
            </a:r>
          </a:p>
        </p:txBody>
      </p:sp>
      <p:sp>
        <p:nvSpPr>
          <p:cNvPr id="27" name="TextBox 26"/>
          <p:cNvSpPr txBox="1"/>
          <p:nvPr/>
        </p:nvSpPr>
        <p:spPr>
          <a:xfrm>
            <a:off x="6379312"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Din ka likha hua stop (-2R) aur hafte ka pause (-5R), rupees mein, jo ek shaant din tay kiya gaya ho, taaki loss ki garmi mein kabhi tay na karna pade.</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saar, ek page par</a:t>
            </a:r>
          </a:p>
        </p:txBody>
      </p:sp>
      <p:cxnSp>
        <p:nvCxnSpPr>
          <p:cNvPr id="4" name="Connector 3"/>
          <p:cNvCxnSpPr/>
          <p:nvPr/>
        </p:nvCxnSpPr>
        <p:spPr>
          <a:xfrm flipH="1" flipV="1">
            <a:off x="4358488" y="2104263"/>
            <a:ext cx="502920" cy="1699641"/>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0"/>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699641"/>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979801"/>
            <a:ext cx="502920" cy="824103"/>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849820"/>
          </a:xfrm>
          <a:prstGeom prst="curvedConnector3">
            <a:avLst/>
          </a:prstGeom>
          <a:ln w="22225">
            <a:solidFill>
              <a:srgbClr val="57687A"/>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Mann aur routine</a:t>
            </a:r>
          </a:p>
        </p:txBody>
      </p:sp>
      <p:sp>
        <p:nvSpPr>
          <p:cNvPr id="10" name="Rounded Rectangle 9"/>
          <p:cNvSpPr/>
          <p:nvPr/>
        </p:nvSpPr>
        <p:spPr>
          <a:xfrm>
            <a:off x="640080" y="1336738"/>
            <a:ext cx="3718408" cy="1535049"/>
          </a:xfrm>
          <a:prstGeom prst="roundRect">
            <a:avLst>
              <a:gd name="adj" fmla="val 7148"/>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786384" y="1446467"/>
            <a:ext cx="3425800" cy="246888"/>
          </a:xfrm>
          <a:prstGeom prst="rect">
            <a:avLst/>
          </a:prstGeom>
          <a:noFill/>
        </p:spPr>
        <p:txBody>
          <a:bodyPr wrap="square" lIns="0" rIns="0" tIns="0" bIns="0" anchor="t">
            <a:noAutofit/>
          </a:bodyPr>
          <a:lstStyle/>
          <a:p>
            <a:pPr algn="l">
              <a:lnSpc>
                <a:spcPct val="100000"/>
              </a:lnSpc>
            </a:pPr>
            <a:r>
              <a:rPr sz="1500" b="1" i="0">
                <a:solidFill>
                  <a:srgbClr val="991B1B"/>
                </a:solidFill>
                <a:latin typeface="Segoe UI"/>
              </a:rPr>
              <a:t>Teen khule dushman</a:t>
            </a:r>
          </a:p>
        </p:txBody>
      </p:sp>
      <p:sp>
        <p:nvSpPr>
          <p:cNvPr id="12" name="TextBox 11"/>
          <p:cNvSpPr txBox="1"/>
          <p:nvPr/>
        </p:nvSpPr>
        <p:spPr>
          <a:xfrm>
            <a:off x="786384" y="1748219"/>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F0554E"/>
              </a:buClr>
              <a:buFont typeface="Arial"/>
              <a:buChar char="•"/>
            </a:pPr>
            <a:r>
              <a:rPr sz="1350" b="0" i="0">
                <a:solidFill>
                  <a:srgbClr val="18232F"/>
                </a:solidFill>
                <a:latin typeface="Segoe UI"/>
              </a:rPr>
              <a:t>Revenge: wapas nikaalne wale trade</a:t>
            </a:r>
          </a:p>
          <a:p>
            <a:pPr algn="l" marL="182880" indent="-182880">
              <a:lnSpc>
                <a:spcPct val="100000"/>
              </a:lnSpc>
              <a:spcAft>
                <a:spcPts val="405"/>
              </a:spcAft>
              <a:buClr>
                <a:srgbClr val="F0554E"/>
              </a:buClr>
              <a:buFont typeface="Arial"/>
              <a:buChar char="•"/>
            </a:pPr>
            <a:r>
              <a:rPr sz="1350" b="0" i="0">
                <a:solidFill>
                  <a:srgbClr val="18232F"/>
                </a:solidFill>
                <a:latin typeface="Segoe UI"/>
              </a:rPr>
              <a:t>FOMO: nikal chuke move ka peecha</a:t>
            </a:r>
          </a:p>
          <a:p>
            <a:pPr algn="l" marL="182880" indent="-182880">
              <a:lnSpc>
                <a:spcPct val="100000"/>
              </a:lnSpc>
              <a:spcAft>
                <a:spcPts val="405"/>
              </a:spcAft>
              <a:buClr>
                <a:srgbClr val="F0554E"/>
              </a:buClr>
              <a:buFont typeface="Arial"/>
              <a:buChar char="•"/>
            </a:pPr>
            <a:r>
              <a:rPr sz="1350" b="0" i="0">
                <a:solidFill>
                  <a:srgbClr val="18232F"/>
                </a:solidFill>
                <a:latin typeface="Segoe UI"/>
              </a:rPr>
              <a:t>Overtrading: boriyat ke trade</a:t>
            </a:r>
          </a:p>
          <a:p>
            <a:pPr algn="l" marL="182880" indent="-182880">
              <a:lnSpc>
                <a:spcPct val="100000"/>
              </a:lnSpc>
              <a:buClr>
                <a:srgbClr val="F0554E"/>
              </a:buClr>
              <a:buFont typeface="Arial"/>
              <a:buChar char="•"/>
            </a:pPr>
            <a:r>
              <a:rPr sz="1350" b="0" i="0">
                <a:solidFill>
                  <a:srgbClr val="18232F"/>
                </a:solidFill>
                <a:latin typeface="Segoe UI"/>
              </a:rPr>
              <a:t>Journal tags dushman batate hain</a:t>
            </a:r>
          </a:p>
        </p:txBody>
      </p:sp>
      <p:sp>
        <p:nvSpPr>
          <p:cNvPr id="13" name="Rounded Rectangle 12"/>
          <p:cNvSpPr/>
          <p:nvPr/>
        </p:nvSpPr>
        <p:spPr>
          <a:xfrm>
            <a:off x="640080" y="3036379"/>
            <a:ext cx="3718408" cy="1535049"/>
          </a:xfrm>
          <a:prstGeom prst="roundRect">
            <a:avLst>
              <a:gd name="adj" fmla="val 7148"/>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786384" y="3146108"/>
            <a:ext cx="3425800"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Chaar chupe dushman</a:t>
            </a:r>
          </a:p>
        </p:txBody>
      </p:sp>
      <p:sp>
        <p:nvSpPr>
          <p:cNvPr id="15" name="TextBox 14"/>
          <p:cNvSpPr txBox="1"/>
          <p:nvPr/>
        </p:nvSpPr>
        <p:spPr>
          <a:xfrm>
            <a:off x="786384" y="3447860"/>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F5A524"/>
              </a:buClr>
              <a:buFont typeface="Arial"/>
              <a:buChar char="•"/>
            </a:pPr>
            <a:r>
              <a:rPr sz="1350" b="0" i="0">
                <a:solidFill>
                  <a:srgbClr val="18232F"/>
                </a:solidFill>
                <a:latin typeface="Segoe UI"/>
              </a:rPr>
              <a:t>Loss aversion: khiska hua stop</a:t>
            </a:r>
          </a:p>
          <a:p>
            <a:pPr algn="l" marL="182880" indent="-182880">
              <a:lnSpc>
                <a:spcPct val="100000"/>
              </a:lnSpc>
              <a:spcAft>
                <a:spcPts val="405"/>
              </a:spcAft>
              <a:buClr>
                <a:srgbClr val="F5A524"/>
              </a:buClr>
              <a:buFont typeface="Arial"/>
              <a:buChar char="•"/>
            </a:pPr>
            <a:r>
              <a:rPr sz="1350" b="0" i="0">
                <a:solidFill>
                  <a:srgbClr val="18232F"/>
                </a:solidFill>
                <a:latin typeface="Segoe UI"/>
              </a:rPr>
              <a:t>Sunk cost: 'wapas aane tak'</a:t>
            </a:r>
          </a:p>
          <a:p>
            <a:pPr algn="l" marL="182880" indent="-182880">
              <a:lnSpc>
                <a:spcPct val="100000"/>
              </a:lnSpc>
              <a:spcAft>
                <a:spcPts val="405"/>
              </a:spcAft>
              <a:buClr>
                <a:srgbClr val="F5A524"/>
              </a:buClr>
              <a:buFont typeface="Arial"/>
              <a:buChar char="•"/>
            </a:pPr>
            <a:r>
              <a:rPr sz="1350" b="0" i="0">
                <a:solidFill>
                  <a:srgbClr val="18232F"/>
                </a:solidFill>
                <a:latin typeface="Segoe UI"/>
              </a:rPr>
              <a:t>Confirmation: sirf sehmat views</a:t>
            </a:r>
          </a:p>
          <a:p>
            <a:pPr algn="l" marL="182880" indent="-182880">
              <a:lnSpc>
                <a:spcPct val="100000"/>
              </a:lnSpc>
              <a:buClr>
                <a:srgbClr val="F5A524"/>
              </a:buClr>
              <a:buFont typeface="Arial"/>
              <a:buChar char="•"/>
            </a:pPr>
            <a:r>
              <a:rPr sz="1350" b="0" i="0">
                <a:solidFill>
                  <a:srgbClr val="18232F"/>
                </a:solidFill>
                <a:latin typeface="Segoe UI"/>
              </a:rPr>
              <a:t>Recency: teen trade se faisla</a:t>
            </a:r>
          </a:p>
        </p:txBody>
      </p:sp>
      <p:sp>
        <p:nvSpPr>
          <p:cNvPr id="16" name="Rounded Rectangle 15"/>
          <p:cNvSpPr/>
          <p:nvPr/>
        </p:nvSpPr>
        <p:spPr>
          <a:xfrm>
            <a:off x="640080" y="4736020"/>
            <a:ext cx="3718408" cy="1535049"/>
          </a:xfrm>
          <a:prstGeom prst="roundRect">
            <a:avLst>
              <a:gd name="adj" fmla="val 7148"/>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786384" y="4845748"/>
            <a:ext cx="3425800"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Kill-switch</a:t>
            </a:r>
          </a:p>
        </p:txBody>
      </p:sp>
      <p:sp>
        <p:nvSpPr>
          <p:cNvPr id="18" name="TextBox 17"/>
          <p:cNvSpPr txBox="1"/>
          <p:nvPr/>
        </p:nvSpPr>
        <p:spPr>
          <a:xfrm>
            <a:off x="786384" y="5147500"/>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0093D6"/>
              </a:buClr>
              <a:buFont typeface="Arial"/>
              <a:buChar char="•"/>
            </a:pPr>
            <a:r>
              <a:rPr sz="1350" b="0" i="0">
                <a:solidFill>
                  <a:srgbClr val="18232F"/>
                </a:solidFill>
                <a:latin typeface="Segoe UI"/>
              </a:rPr>
              <a:t>-2R: aaj ke liye bas</a:t>
            </a:r>
          </a:p>
          <a:p>
            <a:pPr algn="l" marL="182880" indent="-182880">
              <a:lnSpc>
                <a:spcPct val="100000"/>
              </a:lnSpc>
              <a:spcAft>
                <a:spcPts val="405"/>
              </a:spcAft>
              <a:buClr>
                <a:srgbClr val="0093D6"/>
              </a:buClr>
              <a:buFont typeface="Arial"/>
              <a:buChar char="•"/>
            </a:pPr>
            <a:r>
              <a:rPr sz="1350" b="0" i="0">
                <a:solidFill>
                  <a:srgbClr val="18232F"/>
                </a:solidFill>
                <a:latin typeface="Segoe UI"/>
              </a:rPr>
              <a:t>-5R: pause aur review</a:t>
            </a:r>
          </a:p>
          <a:p>
            <a:pPr algn="l" marL="182880" indent="-182880">
              <a:lnSpc>
                <a:spcPct val="100000"/>
              </a:lnSpc>
              <a:spcAft>
                <a:spcPts val="405"/>
              </a:spcAft>
              <a:buClr>
                <a:srgbClr val="0093D6"/>
              </a:buClr>
              <a:buFont typeface="Arial"/>
              <a:buChar char="•"/>
            </a:pPr>
            <a:r>
              <a:rPr sz="1350" b="0" i="0">
                <a:solidFill>
                  <a:srgbClr val="18232F"/>
                </a:solidFill>
                <a:latin typeface="Segoe UI"/>
              </a:rPr>
              <a:t>Gussa, bimaari, thakaan: trade nahi</a:t>
            </a:r>
          </a:p>
          <a:p>
            <a:pPr algn="l" marL="182880" indent="-182880">
              <a:lnSpc>
                <a:spcPct val="100000"/>
              </a:lnSpc>
              <a:buClr>
                <a:srgbClr val="0093D6"/>
              </a:buClr>
              <a:buFont typeface="Arial"/>
              <a:buChar char="•"/>
            </a:pPr>
            <a:r>
              <a:rPr sz="1350" b="0" i="0">
                <a:solidFill>
                  <a:srgbClr val="18232F"/>
                </a:solidFill>
                <a:latin typeface="Segoe UI"/>
              </a:rPr>
              <a:t>Willpower nahi, design</a:t>
            </a:r>
          </a:p>
        </p:txBody>
      </p:sp>
      <p:sp>
        <p:nvSpPr>
          <p:cNvPr id="19" name="Rounded Rectangle 18"/>
          <p:cNvSpPr/>
          <p:nvPr/>
        </p:nvSpPr>
        <p:spPr>
          <a:xfrm>
            <a:off x="7833208" y="2212276"/>
            <a:ext cx="3718408" cy="1535049"/>
          </a:xfrm>
          <a:prstGeom prst="roundRect">
            <a:avLst>
              <a:gd name="adj" fmla="val 7148"/>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7979512" y="2322004"/>
            <a:ext cx="3425800" cy="246888"/>
          </a:xfrm>
          <a:prstGeom prst="rect">
            <a:avLst/>
          </a:prstGeom>
          <a:noFill/>
        </p:spPr>
        <p:txBody>
          <a:bodyPr wrap="square" lIns="0" rIns="0" tIns="0" bIns="0" anchor="t">
            <a:noAutofit/>
          </a:bodyPr>
          <a:lstStyle/>
          <a:p>
            <a:pPr algn="l">
              <a:lnSpc>
                <a:spcPct val="100000"/>
              </a:lnSpc>
            </a:pPr>
            <a:r>
              <a:rPr sz="1500" b="1" i="0">
                <a:solidFill>
                  <a:srgbClr val="166534"/>
                </a:solidFill>
                <a:latin typeface="Segoe UI"/>
              </a:rPr>
              <a:t>Routine Card</a:t>
            </a:r>
          </a:p>
        </p:txBody>
      </p:sp>
      <p:sp>
        <p:nvSpPr>
          <p:cNvPr id="21" name="TextBox 20"/>
          <p:cNvSpPr txBox="1"/>
          <p:nvPr/>
        </p:nvSpPr>
        <p:spPr>
          <a:xfrm>
            <a:off x="7979512" y="2623756"/>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16A34A"/>
              </a:buClr>
              <a:buFont typeface="Arial"/>
              <a:buChar char="•"/>
            </a:pPr>
            <a:r>
              <a:rPr sz="1350" b="0" i="0">
                <a:solidFill>
                  <a:srgbClr val="18232F"/>
                </a:solidFill>
                <a:latin typeface="Segoe UI"/>
              </a:rPr>
              <a:t>Market khulne se pehle: 10 minute</a:t>
            </a:r>
          </a:p>
          <a:p>
            <a:pPr algn="l" marL="182880" indent="-182880">
              <a:lnSpc>
                <a:spcPct val="100000"/>
              </a:lnSpc>
              <a:spcAft>
                <a:spcPts val="405"/>
              </a:spcAft>
              <a:buClr>
                <a:srgbClr val="16A34A"/>
              </a:buClr>
              <a:buFont typeface="Arial"/>
              <a:buChar char="•"/>
            </a:pPr>
            <a:r>
              <a:rPr sz="1350" b="0" i="0">
                <a:solidFill>
                  <a:srgbClr val="18232F"/>
                </a:solidFill>
                <a:latin typeface="Segoe UI"/>
              </a:rPr>
              <a:t>Market hours: sirf alerts</a:t>
            </a:r>
          </a:p>
          <a:p>
            <a:pPr algn="l" marL="182880" indent="-182880">
              <a:lnSpc>
                <a:spcPct val="100000"/>
              </a:lnSpc>
              <a:spcAft>
                <a:spcPts val="405"/>
              </a:spcAft>
              <a:buClr>
                <a:srgbClr val="16A34A"/>
              </a:buClr>
              <a:buFont typeface="Arial"/>
              <a:buChar char="•"/>
            </a:pPr>
            <a:r>
              <a:rPr sz="1350" b="0" i="0">
                <a:solidFill>
                  <a:srgbClr val="18232F"/>
                </a:solidFill>
                <a:latin typeface="Segoe UI"/>
              </a:rPr>
              <a:t>Close ke baad: journal, plan, AI review</a:t>
            </a:r>
          </a:p>
          <a:p>
            <a:pPr algn="l" marL="182880" indent="-182880">
              <a:lnSpc>
                <a:spcPct val="100000"/>
              </a:lnSpc>
              <a:buClr>
                <a:srgbClr val="16A34A"/>
              </a:buClr>
              <a:buFont typeface="Arial"/>
              <a:buChar char="•"/>
            </a:pPr>
            <a:r>
              <a:rPr sz="1350" b="0" i="0">
                <a:solidFill>
                  <a:srgbClr val="18232F"/>
                </a:solidFill>
                <a:latin typeface="Segoe UI"/>
              </a:rPr>
              <a:t>Weekend: paanch sawaal</a:t>
            </a:r>
          </a:p>
        </p:txBody>
      </p:sp>
      <p:sp>
        <p:nvSpPr>
          <p:cNvPr id="22" name="Rounded Rectangle 21"/>
          <p:cNvSpPr/>
          <p:nvPr/>
        </p:nvSpPr>
        <p:spPr>
          <a:xfrm>
            <a:off x="7833208" y="3911918"/>
            <a:ext cx="3718408" cy="1483614"/>
          </a:xfrm>
          <a:prstGeom prst="roundRect">
            <a:avLst>
              <a:gd name="adj" fmla="val 7395"/>
            </a:avLst>
          </a:prstGeom>
          <a:solidFill>
            <a:srgbClr val="FFFFFF"/>
          </a:solidFill>
          <a:ln w="19050">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7979512" y="4021646"/>
            <a:ext cx="3425800" cy="246888"/>
          </a:xfrm>
          <a:prstGeom prst="rect">
            <a:avLst/>
          </a:prstGeom>
          <a:noFill/>
        </p:spPr>
        <p:txBody>
          <a:bodyPr wrap="square" lIns="0" rIns="0" tIns="0" bIns="0" anchor="t">
            <a:noAutofit/>
          </a:bodyPr>
          <a:lstStyle/>
          <a:p>
            <a:pPr algn="l">
              <a:lnSpc>
                <a:spcPct val="100000"/>
              </a:lnSpc>
            </a:pPr>
            <a:r>
              <a:rPr sz="1500" b="1" i="0">
                <a:solidFill>
                  <a:srgbClr val="47596B"/>
                </a:solidFill>
                <a:latin typeface="Segoe UI"/>
              </a:rPr>
              <a:t>Protection</a:t>
            </a:r>
          </a:p>
        </p:txBody>
      </p:sp>
      <p:sp>
        <p:nvSpPr>
          <p:cNvPr id="24" name="TextBox 23"/>
          <p:cNvSpPr txBox="1"/>
          <p:nvPr/>
        </p:nvSpPr>
        <p:spPr>
          <a:xfrm>
            <a:off x="7979512" y="4323398"/>
            <a:ext cx="3425800" cy="1072134"/>
          </a:xfrm>
          <a:prstGeom prst="rect">
            <a:avLst/>
          </a:prstGeom>
          <a:noFill/>
        </p:spPr>
        <p:txBody>
          <a:bodyPr wrap="square" lIns="0" rIns="0" tIns="0" bIns="0" anchor="t">
            <a:noAutofit/>
          </a:bodyPr>
          <a:lstStyle/>
          <a:p>
            <a:pPr algn="l" marL="182880" indent="-182880">
              <a:lnSpc>
                <a:spcPct val="100000"/>
              </a:lnSpc>
              <a:spcAft>
                <a:spcPts val="405"/>
              </a:spcAft>
              <a:buClr>
                <a:srgbClr val="57687A"/>
              </a:buClr>
              <a:buFont typeface="Arial"/>
              <a:buChar char="•"/>
            </a:pPr>
            <a:r>
              <a:rPr sz="1350" b="0" i="0">
                <a:solidFill>
                  <a:srgbClr val="18232F"/>
                </a:solidFill>
                <a:latin typeface="Segoe UI"/>
              </a:rPr>
              <a:t>Paise se pehle SEBI check</a:t>
            </a:r>
          </a:p>
          <a:p>
            <a:pPr algn="l" marL="182880" indent="-182880">
              <a:lnSpc>
                <a:spcPct val="100000"/>
              </a:lnSpc>
              <a:spcAft>
                <a:spcPts val="405"/>
              </a:spcAft>
              <a:buClr>
                <a:srgbClr val="57687A"/>
              </a:buClr>
              <a:buFont typeface="Arial"/>
              <a:buChar char="•"/>
            </a:pPr>
            <a:r>
              <a:rPr sz="1350" b="0" i="0">
                <a:solidFill>
                  <a:srgbClr val="18232F"/>
                </a:solidFill>
                <a:latin typeface="Segoe UI"/>
              </a:rPr>
              <a:t>OTP aur TPIN sirf aapke paas</a:t>
            </a:r>
          </a:p>
          <a:p>
            <a:pPr algn="l" marL="182880" indent="-182880">
              <a:lnSpc>
                <a:spcPct val="100000"/>
              </a:lnSpc>
              <a:buClr>
                <a:srgbClr val="57687A"/>
              </a:buClr>
              <a:buFont typeface="Arial"/>
              <a:buChar char="•"/>
            </a:pPr>
            <a:r>
              <a:rPr sz="1350" b="0" i="0">
                <a:solidFill>
                  <a:srgbClr val="18232F"/>
                </a:solidFill>
                <a:latin typeface="Segoe UI"/>
              </a:rPr>
              <a:t>Warning sign: rukiye, bataiye, madad lijiye</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AAJ KA KAAM</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40 min</a:t>
            </a:r>
          </a:p>
        </p:txBody>
      </p:sp>
      <p:sp>
        <p:nvSpPr>
          <p:cNvPr id="5" name="TextBox 4"/>
          <p:cNvSpPr txBox="1"/>
          <p:nvPr/>
        </p:nvSpPr>
        <p:spPr>
          <a:xfrm>
            <a:off x="457200" y="1335024"/>
            <a:ext cx="11277295" cy="554736"/>
          </a:xfrm>
          <a:prstGeom prst="rect">
            <a:avLst/>
          </a:prstGeom>
          <a:noFill/>
        </p:spPr>
        <p:txBody>
          <a:bodyPr wrap="square" lIns="0" rIns="0" tIns="0" bIns="0" anchor="t">
            <a:noAutofit/>
          </a:bodyPr>
          <a:lstStyle/>
          <a:p>
            <a:pPr algn="l">
              <a:lnSpc>
                <a:spcPct val="100000"/>
              </a:lnSpc>
            </a:pPr>
            <a:r>
              <a:rPr sz="1700" b="1" i="0">
                <a:solidFill>
                  <a:srgbClr val="18232F"/>
                </a:solidFill>
                <a:latin typeface="Segoe UI"/>
              </a:rPr>
              <a:t>Apna Daily Routine Card banaiye: sabse mehenga emotion dhoondhiye, kill-switch rupees mein set kijiye, saaton biases ka jawab likhiye aur protection checklist jodiye.</a:t>
            </a:r>
          </a:p>
        </p:txBody>
      </p:sp>
      <p:sp>
        <p:nvSpPr>
          <p:cNvPr id="6" name="Rounded Rectangle 5"/>
          <p:cNvSpPr/>
          <p:nvPr/>
        </p:nvSpPr>
        <p:spPr>
          <a:xfrm>
            <a:off x="457200" y="203606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145792"/>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1</a:t>
            </a:r>
          </a:p>
        </p:txBody>
      </p:sp>
      <p:sp>
        <p:nvSpPr>
          <p:cNvPr id="8" name="Rounded Rectangle 7"/>
          <p:cNvSpPr/>
          <p:nvPr/>
        </p:nvSpPr>
        <p:spPr>
          <a:xfrm>
            <a:off x="11332159" y="216408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13664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Apni Day 12 wali journal sheet (Google Sheets) kholiye. Day 12 se har emotion tag ka R jodiye aur trades giniye, phir divide karke har trade ka R nikaaliye. Jis tag ne har trade par sabse zyada R khaya, use highlight kar dijiye.</a:t>
            </a:r>
          </a:p>
        </p:txBody>
      </p:sp>
      <p:sp>
        <p:nvSpPr>
          <p:cNvPr id="10" name="Rounded Rectangle 9"/>
          <p:cNvSpPr/>
          <p:nvPr/>
        </p:nvSpPr>
        <p:spPr>
          <a:xfrm>
            <a:off x="457200" y="306019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3169920"/>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a:t>
            </a:r>
          </a:p>
        </p:txBody>
      </p:sp>
      <p:sp>
        <p:nvSpPr>
          <p:cNvPr id="12" name="Rounded Rectangle 11"/>
          <p:cNvSpPr/>
          <p:nvPr/>
        </p:nvSpPr>
        <p:spPr>
          <a:xfrm>
            <a:off x="11332159" y="318820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316077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Aaj ke task ka khaali Daily Routine Card ek page ya Google Sheet par copy kijiye, aur chaaron block apne time ke saath bhariye: market khulne se pehle, market hours, close ke baad aur weekend.</a:t>
            </a:r>
          </a:p>
        </p:txBody>
      </p:sp>
      <p:sp>
        <p:nvSpPr>
          <p:cNvPr id="14" name="Rounded Rectangle 13"/>
          <p:cNvSpPr/>
          <p:nvPr/>
        </p:nvSpPr>
        <p:spPr>
          <a:xfrm>
            <a:off x="457200" y="3840480"/>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395020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a:t>
            </a:r>
          </a:p>
        </p:txBody>
      </p:sp>
      <p:sp>
        <p:nvSpPr>
          <p:cNvPr id="16" name="Rounded Rectangle 15"/>
          <p:cNvSpPr/>
          <p:nvPr/>
        </p:nvSpPr>
        <p:spPr>
          <a:xfrm>
            <a:off x="11332159" y="396849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3941064"/>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Card ke upar apna kill-switch rupees aur R dono mein likhiye: Rs 10 lakh par daily stop -Rs 20,000 (-2R) aur weekly pause -Rs 50,000 (-5R), saath mein body rule: gussa, bimaari ya kam neend ho toh koi naya trade nahi.</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AAJ KA KAAM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40 min</a:t>
            </a:r>
          </a:p>
        </p:txBody>
      </p:sp>
      <p:sp>
        <p:nvSpPr>
          <p:cNvPr id="5" name="Rounded Rectangle 4"/>
          <p:cNvSpPr/>
          <p:nvPr/>
        </p:nvSpPr>
        <p:spPr>
          <a:xfrm>
            <a:off x="457200" y="133502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Uske neeche saaton ka ek-ek line mein jawab apne shabdon mein likhiye, jaise 'Stop-out ke baad 10 minute chart band' (revenge), 'Setup nahi toh trade nahi' (FOMO, overtrading), 'Mera buying price koi level nahi' (sunk cost) aur 'Rule ka faisla sirf 30 trades ke baad' (recency). Priya ke card mein saaton hain.</a:t>
            </a:r>
          </a:p>
        </p:txBody>
      </p:sp>
      <p:sp>
        <p:nvSpPr>
          <p:cNvPr id="9" name="Rounded Rectangle 8"/>
          <p:cNvSpPr/>
          <p:nvPr/>
        </p:nvSpPr>
        <p:spPr>
          <a:xfrm>
            <a:off x="457200" y="235915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468880"/>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a:t>
            </a:r>
          </a:p>
        </p:txBody>
      </p:sp>
      <p:sp>
        <p:nvSpPr>
          <p:cNvPr id="11" name="Rounded Rectangle 10"/>
          <p:cNvSpPr/>
          <p:nvPr/>
        </p:nvSpPr>
        <p:spPr>
          <a:xfrm>
            <a:off x="11332159" y="24871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45973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Sabse neeche Priya ke card se paise ke paanch checks aur warning signs copy kijiye, saath mein Tele-MANAS 14416.</a:t>
            </a:r>
          </a:p>
        </p:txBody>
      </p:sp>
      <p:sp>
        <p:nvSpPr>
          <p:cNvPr id="13" name="Rounded Rectangle 12"/>
          <p:cNvSpPr/>
          <p:nvPr/>
        </p:nvSpPr>
        <p:spPr>
          <a:xfrm>
            <a:off x="457200" y="3139440"/>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24916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a:t>
            </a:r>
          </a:p>
        </p:txBody>
      </p:sp>
      <p:sp>
        <p:nvSpPr>
          <p:cNvPr id="15" name="Rounded Rectangle 14"/>
          <p:cNvSpPr/>
          <p:nvPr/>
        </p:nvSpPr>
        <p:spPr>
          <a:xfrm>
            <a:off x="11332159" y="326745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240024"/>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AI Lab ka 'End-of-day process review' prompt is hafte ki journal rows par chalaiye: market band ho chuka ho toh abhi, warna aaj shaam 3:30 ke baad. Sirf journal ke das columns paste kijiye; naam, account number ya koi personal detail kabhi nahi.</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AAJ KE BAAD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Aaj ke baad aap trading rules todne wale saat biases pehchaan payenge aur har ek ka jawab likh payenge, journal mein apna sabse mehenga emotion dhoondh payenge, aisa kill-switch set kar payenge jo aasaani se na toote, chaar block wala Daily Routine Card chala payenge, aur pehchaan payenge ki kab trading jua banne lagi hai.</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Priya ka Daily Routine Card: uska din (model)</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Rs 10 lakh ki virtual capital par 1R = Rs 10,000. Priya ke office hours mein live ORB mumkin nahi, isliye uska card swing trading ke liye bana hai, aur close ke baad wala block shaam 7 baje hai.</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6" cy="4023360"/>
        </p:xfrm>
        <a:graphic>
          <a:graphicData uri="http://schemas.openxmlformats.org/drawingml/2006/table">
            <a:tbl>
              <a:tblPr firstRow="1">
                <a:tableStyleId>{5C22544A-7EE6-4342-B048-85BDC9FD1C3A}</a:tableStyleId>
              </a:tblPr>
              <a:tblGrid>
                <a:gridCol w="1015173"/>
                <a:gridCol w="1231883"/>
                <a:gridCol w="8664480"/>
              </a:tblGrid>
              <a:tr h="345186">
                <a:tc>
                  <a:txBody>
                    <a:bodyPr wrap="square"/>
                    <a:lstStyle/>
                    <a:p>
                      <a:pPr algn="l"/>
                      <a:r>
                        <a:rPr sz="1450" b="1" i="0">
                          <a:solidFill>
                            <a:srgbClr val="FFFFFF"/>
                          </a:solidFill>
                          <a:latin typeface="Segoe UI"/>
                        </a:rPr>
                        <a:t>Hissa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50" b="1" i="0">
                          <a:solidFill>
                            <a:srgbClr val="FFFFFF"/>
                          </a:solidFill>
                          <a:latin typeface="Segoe UI"/>
                        </a:rPr>
                        <a:t>Kab</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50" b="1" i="0">
                          <a:solidFill>
                            <a:srgbClr val="FFFFFF"/>
                          </a:solidFill>
                          <a:latin typeface="Segoe UI"/>
                        </a:rPr>
                        <a:t>Woh kya karti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36042">
                <a:tc>
                  <a:txBody>
                    <a:bodyPr wrap="square"/>
                    <a:lstStyle/>
                    <a:p>
                      <a:pPr algn="l"/>
                      <a:r>
                        <a:rPr sz="1450" b="0" i="0">
                          <a:solidFill>
                            <a:srgbClr val="18232F"/>
                          </a:solidFill>
                          <a:latin typeface="Segoe UI"/>
                        </a:rPr>
                        <a:t>Daily 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-2R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-Rs 20,000 par: kal tak screen band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57022">
                <a:tc>
                  <a:txBody>
                    <a:bodyPr wrap="square"/>
                    <a:lstStyle/>
                    <a:p>
                      <a:pPr algn="l"/>
                      <a:r>
                        <a:rPr sz="1450" b="0" i="0">
                          <a:solidFill>
                            <a:srgbClr val="18232F"/>
                          </a:solidFill>
                          <a:latin typeface="Segoe UI"/>
                        </a:rPr>
                        <a:t>Weekly pause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-5R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-Rs 50,000 par: koi naya trade nahi; weekend par review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6042">
                <a:tc>
                  <a:txBody>
                    <a:bodyPr wrap="square"/>
                    <a:lstStyle/>
                    <a:p>
                      <a:pPr algn="l"/>
                      <a:r>
                        <a:rPr sz="1450" b="0" i="0">
                          <a:solidFill>
                            <a:srgbClr val="18232F"/>
                          </a:solidFill>
                          <a:latin typeface="Segoe UI"/>
                        </a:rPr>
                        <a:t>Body rule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Har subah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Gussa, bimaari ya kam neend: aaj koi naya trade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778002">
                <a:tc>
                  <a:txBody>
                    <a:bodyPr wrap="square"/>
                    <a:lstStyle/>
                    <a:p>
                      <a:pPr algn="l"/>
                      <a:r>
                        <a:rPr sz="1450" b="0" i="0">
                          <a:solidFill>
                            <a:srgbClr val="18232F"/>
                          </a:solidFill>
                          <a:latin typeface="Segoe UI"/>
                        </a:rPr>
                        <a:t>Market khulne se pehle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8:45-8:55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Day 19 calendar: aaj no-trade day? Kal ki journal line. Daily stop rupees mein. Neend aur mood. 'Aaj ka kaam: card follow karna.'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57022">
                <a:tc>
                  <a:txBody>
                    <a:bodyPr wrap="square"/>
                    <a:lstStyle/>
                    <a:p>
                      <a:pPr algn="l"/>
                      <a:r>
                        <a:rPr sz="1450" b="0" i="0">
                          <a:solidFill>
                            <a:srgbClr val="18232F"/>
                          </a:solidFill>
                          <a:latin typeface="Segoe UI"/>
                        </a:rPr>
                        <a:t>Market hours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9:15-15:30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Sirf plan card ke levels par alerts aur checklist. Na tip groups, na news debates.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57022">
                <a:tc>
                  <a:txBody>
                    <a:bodyPr wrap="square"/>
                    <a:lstStyle/>
                    <a:p>
                      <a:pPr algn="l"/>
                      <a:r>
                        <a:rPr sz="1450" b="0" i="0">
                          <a:solidFill>
                            <a:srgbClr val="18232F"/>
                          </a:solidFill>
                          <a:latin typeface="Segoe UI"/>
                        </a:rPr>
                        <a:t>Close ke baad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19:00-19:20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Journal row (no-trade days bhi), daily close scan, kal ka plan card, end-of-day AI review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57022">
                <a:tc>
                  <a:txBody>
                    <a:bodyPr wrap="square"/>
                    <a:lstStyle/>
                    <a:p>
                      <a:pPr algn="l"/>
                      <a:r>
                        <a:rPr sz="1450" b="0" i="0">
                          <a:solidFill>
                            <a:srgbClr val="18232F"/>
                          </a:solidFill>
                          <a:latin typeface="Segoe UI"/>
                        </a:rPr>
                        <a:t>Weekend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Saturday, 30 minute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Paanch sawaal. Rule sirf yahin badalta hai, likh kar, 30 trades ke baad.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Priya ka card: saat jawab aur uski protection checklist (model)</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Saat jawab apne shabdon mein likhiye. Paise ke paanch checks aur warning signs sabke liye ek jaise hain: unhe waise hi copy kijiye.</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4023364"/>
        </p:xfrm>
        <a:graphic>
          <a:graphicData uri="http://schemas.openxmlformats.org/drawingml/2006/table">
            <a:tbl>
              <a:tblPr firstRow="1">
                <a:tableStyleId>{5C22544A-7EE6-4342-B048-85BDC9FD1C3A}</a:tableStyleId>
              </a:tblPr>
              <a:tblGrid>
                <a:gridCol w="1884824"/>
                <a:gridCol w="9026711"/>
              </a:tblGrid>
              <a:tr h="295874">
                <a:tc>
                  <a:txBody>
                    <a:bodyPr wrap="square"/>
                    <a:lstStyle/>
                    <a:p>
                      <a:pPr algn="l"/>
                      <a:r>
                        <a:rPr sz="1150" b="1" i="0">
                          <a:solidFill>
                            <a:srgbClr val="FFFFFF"/>
                          </a:solidFill>
                          <a:latin typeface="Segoe UI"/>
                        </a:rPr>
                        <a:t>Kisse bachaav</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150" b="1" i="0">
                          <a:solidFill>
                            <a:srgbClr val="FFFFFF"/>
                          </a:solidFill>
                          <a:latin typeface="Segoe UI"/>
                        </a:rPr>
                        <a:t>Uske card ki line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286730">
                <a:tc>
                  <a:txBody>
                    <a:bodyPr wrap="square"/>
                    <a:lstStyle/>
                    <a:p>
                      <a:pPr algn="l"/>
                      <a:r>
                        <a:rPr sz="1150" b="0" i="0">
                          <a:solidFill>
                            <a:srgbClr val="18232F"/>
                          </a:solidFill>
                          <a:latin typeface="Segoe UI"/>
                        </a:rPr>
                        <a:t>Revenge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Har stop-out ke baad: chart band, journal row bhari, 10 minute ruko; phir sirf wahi trade jo kal raat ke plan card par pehle se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FOMO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Setup nahi toh trade nahi. Chhoota hua move journal mein jaata hai, order mein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Overtrading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Trade sirf shaam ke scan aur plan card se; 3 se zyada khule kabhi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Loss aversion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Mera stop wahin rahega jahan plan card ne rakha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Sunk cost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Mera buying price koi level nahi. Time exit par poochhti hoon: kya main ise aaj khareedti?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Confirmation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Har hafte, har khule trade ke khilaaf ek raay, uske Why-stop se milakar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Recency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Rule ka faisla sirf 30 trades ke baad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Paisa: nakli adviser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Paisa dene se pehle har adviser ya analyst ko sebi.gov.in par verify karo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Paisa: galat payee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Sirf registered naam wale account mein paisa, SEBI Check par check karke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Paisa: account par kabza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OTP, TPIN aur password kabhi kisi ko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Paisa: koi jhagda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Pehle grievance desk, phir SCORES, phir SMART ODR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Paisa: fraud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cybercrime.gov.in par report ya turant 1930 par call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Mann: warning signs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Udhaar, loss chhupana, peecha karna, neend udna, chhupke trading: ek hafta ruko, kisi ko batao, Tele-MANAS 14416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Aapka Daily Routine Card (template)</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Har row apne shabdon mein bhariye, aur chaaron block ke liye apna time likhiye. Ise print kijiye ya photo chart ke paas rakhiye, aur sabse neeche Priya ke card se paise ke checks aur warning signs jodiye.</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4023354"/>
        </p:xfrm>
        <a:graphic>
          <a:graphicData uri="http://schemas.openxmlformats.org/drawingml/2006/table">
            <a:tbl>
              <a:tblPr firstRow="1">
                <a:tableStyleId>{5C22544A-7EE6-4342-B048-85BDC9FD1C3A}</a:tableStyleId>
              </a:tblPr>
              <a:tblGrid>
                <a:gridCol w="5294860"/>
                <a:gridCol w="5616675"/>
              </a:tblGrid>
              <a:tr h="276758">
                <a:tc>
                  <a:txBody>
                    <a:bodyPr wrap="square"/>
                    <a:lstStyle/>
                    <a:p>
                      <a:pPr algn="l"/>
                      <a:r>
                        <a:rPr sz="1000" b="1" i="0">
                          <a:solidFill>
                            <a:srgbClr val="FFFFFF"/>
                          </a:solidFill>
                          <a:latin typeface="Segoe UI"/>
                        </a:rPr>
                        <a:t>Hissa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000" b="1" i="0">
                          <a:solidFill>
                            <a:srgbClr val="FFFFFF"/>
                          </a:solidFill>
                          <a:latin typeface="Segoe UI"/>
                        </a:rPr>
                        <a:t>Meri line, time ke saath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267614">
                <a:tc>
                  <a:txBody>
                    <a:bodyPr wrap="square"/>
                    <a:lstStyle/>
                    <a:p>
                      <a:pPr algn="l"/>
                      <a:r>
                        <a:rPr sz="1000" b="0" i="0">
                          <a:solidFill>
                            <a:srgbClr val="18232F"/>
                          </a:solidFill>
                          <a:latin typeface="Segoe UI"/>
                        </a:rPr>
                        <a:t>Daily 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7614">
                <a:tc>
                  <a:txBody>
                    <a:bodyPr wrap="square"/>
                    <a:lstStyle/>
                    <a:p>
                      <a:pPr algn="l"/>
                      <a:r>
                        <a:rPr sz="1000" b="0" i="0">
                          <a:solidFill>
                            <a:srgbClr val="18232F"/>
                          </a:solidFill>
                          <a:latin typeface="Segoe UI"/>
                        </a:rPr>
                        <a:t>Weekly pause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7614">
                <a:tc>
                  <a:txBody>
                    <a:bodyPr wrap="square"/>
                    <a:lstStyle/>
                    <a:p>
                      <a:pPr algn="l"/>
                      <a:r>
                        <a:rPr sz="1000" b="0" i="0">
                          <a:solidFill>
                            <a:srgbClr val="18232F"/>
                          </a:solidFill>
                          <a:latin typeface="Segoe UI"/>
                        </a:rPr>
                        <a:t>Body rule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7614">
                <a:tc>
                  <a:txBody>
                    <a:bodyPr wrap="square"/>
                    <a:lstStyle/>
                    <a:p>
                      <a:pPr algn="l"/>
                      <a:r>
                        <a:rPr sz="1000" b="0" i="0">
                          <a:solidFill>
                            <a:srgbClr val="18232F"/>
                          </a:solidFill>
                          <a:latin typeface="Segoe UI"/>
                        </a:rPr>
                        <a:t>Market khulne se pehle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7614">
                <a:tc>
                  <a:txBody>
                    <a:bodyPr wrap="square"/>
                    <a:lstStyle/>
                    <a:p>
                      <a:pPr algn="l"/>
                      <a:r>
                        <a:rPr sz="1000" b="0" i="0">
                          <a:solidFill>
                            <a:srgbClr val="18232F"/>
                          </a:solidFill>
                          <a:latin typeface="Segoe UI"/>
                        </a:rPr>
                        <a:t>Market hours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7614">
                <a:tc>
                  <a:txBody>
                    <a:bodyPr wrap="square"/>
                    <a:lstStyle/>
                    <a:p>
                      <a:pPr algn="l"/>
                      <a:r>
                        <a:rPr sz="1000" b="0" i="0">
                          <a:solidFill>
                            <a:srgbClr val="18232F"/>
                          </a:solidFill>
                          <a:latin typeface="Segoe UI"/>
                        </a:rPr>
                        <a:t>Close ke baad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7614">
                <a:tc>
                  <a:txBody>
                    <a:bodyPr wrap="square"/>
                    <a:lstStyle/>
                    <a:p>
                      <a:pPr algn="l"/>
                      <a:r>
                        <a:rPr sz="1000" b="0" i="0">
                          <a:solidFill>
                            <a:srgbClr val="18232F"/>
                          </a:solidFill>
                          <a:latin typeface="Segoe UI"/>
                        </a:rPr>
                        <a:t>Weekend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7614">
                <a:tc>
                  <a:txBody>
                    <a:bodyPr wrap="square"/>
                    <a:lstStyle/>
                    <a:p>
                      <a:pPr algn="l"/>
                      <a:r>
                        <a:rPr sz="1000" b="0" i="0">
                          <a:solidFill>
                            <a:srgbClr val="18232F"/>
                          </a:solidFill>
                          <a:latin typeface="Segoe UI"/>
                        </a:rPr>
                        <a:t>Revenge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7614">
                <a:tc>
                  <a:txBody>
                    <a:bodyPr wrap="square"/>
                    <a:lstStyle/>
                    <a:p>
                      <a:pPr algn="l"/>
                      <a:r>
                        <a:rPr sz="1000" b="0" i="0">
                          <a:solidFill>
                            <a:srgbClr val="18232F"/>
                          </a:solidFill>
                          <a:latin typeface="Segoe UI"/>
                        </a:rPr>
                        <a:t>FOMO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7614">
                <a:tc>
                  <a:txBody>
                    <a:bodyPr wrap="square"/>
                    <a:lstStyle/>
                    <a:p>
                      <a:pPr algn="l"/>
                      <a:r>
                        <a:rPr sz="1000" b="0" i="0">
                          <a:solidFill>
                            <a:srgbClr val="18232F"/>
                          </a:solidFill>
                          <a:latin typeface="Segoe UI"/>
                        </a:rPr>
                        <a:t>Overtrading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7614">
                <a:tc>
                  <a:txBody>
                    <a:bodyPr wrap="square"/>
                    <a:lstStyle/>
                    <a:p>
                      <a:pPr algn="l"/>
                      <a:r>
                        <a:rPr sz="1000" b="0" i="0">
                          <a:solidFill>
                            <a:srgbClr val="18232F"/>
                          </a:solidFill>
                          <a:latin typeface="Segoe UI"/>
                        </a:rPr>
                        <a:t>Loss aversion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7614">
                <a:tc>
                  <a:txBody>
                    <a:bodyPr wrap="square"/>
                    <a:lstStyle/>
                    <a:p>
                      <a:pPr algn="l"/>
                      <a:r>
                        <a:rPr sz="1000" b="0" i="0">
                          <a:solidFill>
                            <a:srgbClr val="18232F"/>
                          </a:solidFill>
                          <a:latin typeface="Segoe UI"/>
                        </a:rPr>
                        <a:t>Sunk cost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7614">
                <a:tc>
                  <a:txBody>
                    <a:bodyPr wrap="square"/>
                    <a:lstStyle/>
                    <a:p>
                      <a:pPr algn="l"/>
                      <a:r>
                        <a:rPr sz="1000" b="0" i="0">
                          <a:solidFill>
                            <a:srgbClr val="18232F"/>
                          </a:solidFill>
                          <a:latin typeface="Segoe UI"/>
                        </a:rPr>
                        <a:t>Confirmation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7614">
                <a:tc>
                  <a:txBody>
                    <a:bodyPr wrap="square"/>
                    <a:lstStyle/>
                    <a:p>
                      <a:pPr algn="l"/>
                      <a:r>
                        <a:rPr sz="1000" b="0" i="0">
                          <a:solidFill>
                            <a:srgbClr val="18232F"/>
                          </a:solidFill>
                          <a:latin typeface="Segoe UI"/>
                        </a:rPr>
                        <a:t>Recency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143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Class activity</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Classmates, dost ya family ke saath kheliye. Score process ka, paise ka nahi.</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507"/>
              </a:spcAft>
            </a:pPr>
            <a:r>
              <a:rPr sz="1450" b="0" i="0">
                <a:solidFill>
                  <a:srgbClr val="18232F"/>
                </a:solidFill>
                <a:latin typeface="Segoe UI"/>
              </a:rPr>
              <a:t>'Yeh kaunsa bias hai? Yeh aath trader confessions parchiyon par likhiye.</a:t>
            </a:r>
          </a:p>
          <a:p>
            <a:pPr algn="l">
              <a:lnSpc>
                <a:spcPct val="100000"/>
              </a:lnSpc>
              <a:spcAft>
                <a:spcPts val="507"/>
              </a:spcAft>
            </a:pPr>
            <a:r>
              <a:rPr sz="1450" b="0" i="0">
                <a:solidFill>
                  <a:srgbClr val="18232F"/>
                </a:solidFill>
                <a:latin typeface="Segoe UI"/>
              </a:rPr>
              <a:t>1: 'Bas is baar stop khiska diya, thodi jagah dene ke liye.</a:t>
            </a:r>
          </a:p>
          <a:p>
            <a:pPr algn="l">
              <a:lnSpc>
                <a:spcPct val="100000"/>
              </a:lnSpc>
              <a:spcAft>
                <a:spcPts val="507"/>
              </a:spcAft>
            </a:pPr>
            <a:r>
              <a:rPr sz="1450" b="0" i="0">
                <a:solidFill>
                  <a:srgbClr val="18232F"/>
                </a:solidFill>
                <a:latin typeface="Segoe UI"/>
              </a:rPr>
              <a:t>2: 'Subah 1R gaya, toh lunch se pehle wapas nikaalne ke liye size double kar diya.</a:t>
            </a:r>
          </a:p>
          <a:p>
            <a:pPr algn="l">
              <a:lnSpc>
                <a:spcPct val="100000"/>
              </a:lnSpc>
              <a:spcAft>
                <a:spcPts val="507"/>
              </a:spcAft>
            </a:pPr>
            <a:r>
              <a:rPr sz="1450" b="0" i="0">
                <a:solidFill>
                  <a:srgbClr val="18232F"/>
                </a:solidFill>
                <a:latin typeface="Segoe UI"/>
              </a:rPr>
              <a:t>3: 'Group mein sab khareed rahe the, toh bina setup 11 baje kood gaya.</a:t>
            </a:r>
          </a:p>
          <a:p>
            <a:pPr algn="l">
              <a:lnSpc>
                <a:spcPct val="100000"/>
              </a:lnSpc>
              <a:spcAft>
                <a:spcPts val="507"/>
              </a:spcAft>
            </a:pPr>
            <a:r>
              <a:rPr sz="1450" b="0" i="0">
                <a:solidFill>
                  <a:srgbClr val="18232F"/>
                </a:solidFill>
                <a:latin typeface="Segoe UI"/>
              </a:rPr>
              <a:t>4: 'Market dheema tha, toh bas kuch karne ke liye teen chhote trade le liye.</a:t>
            </a:r>
          </a:p>
          <a:p>
            <a:pPr algn="l">
              <a:lnSpc>
                <a:spcPct val="100000"/>
              </a:lnSpc>
              <a:spcAft>
                <a:spcPts val="507"/>
              </a:spcAft>
            </a:pPr>
            <a:r>
              <a:rPr sz="1450" b="0" i="0">
                <a:solidFill>
                  <a:srgbClr val="18232F"/>
                </a:solidFill>
                <a:latin typeface="Segoe UI"/>
              </a:rPr>
              <a:t>5: 'Jab tak mera buying price wapas nahi aata, nahi bechunga.</a:t>
            </a:r>
          </a:p>
          <a:p>
            <a:pPr algn="l">
              <a:lnSpc>
                <a:spcPct val="100000"/>
              </a:lnSpc>
              <a:spcAft>
                <a:spcPts val="507"/>
              </a:spcAft>
            </a:pPr>
            <a:r>
              <a:rPr sz="1450" b="0" i="0">
                <a:solidFill>
                  <a:srgbClr val="18232F"/>
                </a:solidFill>
                <a:latin typeface="Segoe UI"/>
              </a:rPr>
              <a:t>6: 'Main sirf woh channels dekhta hoon jinhe mera stock pasand hai; negative wale toh bas jalte hain.</a:t>
            </a:r>
          </a:p>
          <a:p>
            <a:pPr algn="l">
              <a:lnSpc>
                <a:spcPct val="100000"/>
              </a:lnSpc>
              <a:spcAft>
                <a:spcPts val="507"/>
              </a:spcAft>
            </a:pPr>
            <a:r>
              <a:rPr sz="1450" b="0" i="0">
                <a:solidFill>
                  <a:srgbClr val="18232F"/>
                </a:solidFill>
                <a:latin typeface="Segoe UI"/>
              </a:rPr>
              <a:t>7: 'Lagataar teen loss, yeh strategy bekaar hai; kal se badal raha hoon.</a:t>
            </a:r>
          </a:p>
          <a:p>
            <a:pPr algn="l">
              <a:lnSpc>
                <a:spcPct val="100000"/>
              </a:lnSpc>
              <a:spcAft>
                <a:spcPts val="507"/>
              </a:spcAft>
            </a:pPr>
            <a:r>
              <a:rPr sz="1450" b="0" i="0">
                <a:solidFill>
                  <a:srgbClr val="18232F"/>
                </a:solidFill>
                <a:latin typeface="Segoe UI"/>
              </a:rPr>
              <a:t>8: 'Chhota sa card loan le leta hoon, asli paise se sab wapas nikaal lunga.</a:t>
            </a:r>
          </a:p>
          <a:p>
            <a:pPr algn="l">
              <a:lnSpc>
                <a:spcPct val="100000"/>
              </a:lnSpc>
              <a:spcAft>
                <a:spcPts val="507"/>
              </a:spcAft>
            </a:pPr>
            <a:r>
              <a:rPr sz="1450" b="0" i="0">
                <a:solidFill>
                  <a:srgbClr val="18232F"/>
                </a:solidFill>
                <a:latin typeface="Segoe UI"/>
              </a:rPr>
              <a:t>Classmates ya family ke saath baari-baari ek parchi padhiye; baaki log bias ka naam aur card ki woh line batayein jo iska jawab hai.</a:t>
            </a:r>
          </a:p>
          <a:p>
            <a:pPr algn="l">
              <a:lnSpc>
                <a:spcPct val="100000"/>
              </a:lnSpc>
              <a:spcAft>
                <a:spcPts val="507"/>
              </a:spcAft>
            </a:pPr>
            <a:r>
              <a:rPr sz="1450" b="0" i="0">
                <a:solidFill>
                  <a:srgbClr val="18232F"/>
                </a:solidFill>
                <a:latin typeface="Segoe UI"/>
              </a:rPr>
              <a:t>Parchi 8 bias nahi, warning sign hai: iska jawab hai ek hafte ke liye rukna, kisi ko batana, aur mann bhaari lage toh Tele-MANAS 14416 par call karna.</a:t>
            </a:r>
          </a:p>
          <a:p>
            <a:pPr algn="l">
              <a:lnSpc>
                <a:spcPct val="100000"/>
              </a:lnSpc>
            </a:pPr>
            <a:r>
              <a:rPr sz="1450" b="0" i="0">
                <a:solidFill>
                  <a:srgbClr val="18232F"/>
                </a:solidFill>
                <a:latin typeface="Segoe UI"/>
              </a:rPr>
              <a:t>Akele hain? Parchiyan baantiye, har parchi ke peeche jawab likhiye, phir Priya ke card se milaiye.</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550" b="1" i="0">
                <a:solidFill>
                  <a:srgbClr val="18232F"/>
                </a:solidFill>
                <a:latin typeface="Segoe UI"/>
              </a:rPr>
              <a:t>End-of-day process review: AI process check kare, trade kabhi na chune</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1</a:t>
            </a:r>
          </a:p>
        </p:txBody>
      </p:sp>
      <p:sp>
        <p:nvSpPr>
          <p:cNvPr id="6" name="TextBox 5"/>
          <p:cNvSpPr txBox="1"/>
          <p:nvPr/>
        </p:nvSpPr>
        <p:spPr>
          <a:xfrm>
            <a:off x="658368"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End-of-day process review</a:t>
            </a:r>
          </a:p>
        </p:txBody>
      </p:sp>
      <p:sp>
        <p:nvSpPr>
          <p:cNvPr id="7" name="TextBox 6"/>
          <p:cNvSpPr txBox="1"/>
          <p:nvPr/>
        </p:nvSpPr>
        <p:spPr>
          <a:xfrm>
            <a:off x="658368"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8" name="TextBox 7"/>
          <p:cNvSpPr txBox="1"/>
          <p:nvPr/>
        </p:nvSpPr>
        <p:spPr>
          <a:xfrm>
            <a:off x="658368" y="2859024"/>
            <a:ext cx="3234842" cy="1557528"/>
          </a:xfrm>
          <a:prstGeom prst="rect">
            <a:avLst/>
          </a:prstGeom>
          <a:noFill/>
        </p:spPr>
        <p:txBody>
          <a:bodyPr wrap="square" lIns="0" rIns="0" tIns="0" bIns="0" anchor="t">
            <a:noAutofit/>
          </a:bodyPr>
          <a:lstStyle/>
          <a:p>
            <a:pPr algn="l">
              <a:lnSpc>
                <a:spcPct val="100000"/>
              </a:lnSpc>
            </a:pPr>
            <a:r>
              <a:rPr sz="1300" b="0" i="1">
                <a:solidFill>
                  <a:srgbClr val="47596B"/>
                </a:solidFill>
                <a:latin typeface="Segoe UI"/>
              </a:rPr>
              <a:t>“You are my end-of-day process reviewer, not a market analyst. I paper-trade with virtual money. I will paste this week's journal rows with these ten columns: Date, Stock, Setup, Entry, Stop, Qty, Exit, R result, Rule broken?, Emotion (one of calm, FOMO, fear, bored, angry, overconfident).”</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2</a:t>
            </a:r>
          </a:p>
        </p:txBody>
      </p:sp>
      <p:sp>
        <p:nvSpPr>
          <p:cNvPr id="11" name="TextBox 10"/>
          <p:cNvSpPr txBox="1"/>
          <p:nvPr/>
        </p:nvSpPr>
        <p:spPr>
          <a:xfrm>
            <a:off x="4478426"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Yeh kaunsa bias hai?</a:t>
            </a:r>
          </a:p>
        </p:txBody>
      </p:sp>
      <p:sp>
        <p:nvSpPr>
          <p:cNvPr id="12" name="TextBox 11"/>
          <p:cNvSpPr txBox="1"/>
          <p:nvPr/>
        </p:nvSpPr>
        <p:spPr>
          <a:xfrm>
            <a:off x="4478426"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3" name="TextBox 12"/>
          <p:cNvSpPr txBox="1"/>
          <p:nvPr/>
        </p:nvSpPr>
        <p:spPr>
          <a:xfrm>
            <a:off x="4478426"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“Give me 8 short, made-up trader confessions, one at a time, for example 'I moved my stop lower just this once'.”</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3</a:t>
            </a:r>
          </a:p>
        </p:txBody>
      </p:sp>
      <p:sp>
        <p:nvSpPr>
          <p:cNvPr id="16" name="TextBox 15"/>
          <p:cNvSpPr txBox="1"/>
          <p:nvPr/>
        </p:nvSpPr>
        <p:spPr>
          <a:xfrm>
            <a:off x="8298485"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Mere Routine Card ka stress-test</a:t>
            </a:r>
          </a:p>
        </p:txBody>
      </p:sp>
      <p:sp>
        <p:nvSpPr>
          <p:cNvPr id="17" name="TextBox 16"/>
          <p:cNvSpPr txBox="1"/>
          <p:nvPr/>
        </p:nvSpPr>
        <p:spPr>
          <a:xfrm>
            <a:off x="8298485"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8" name="TextBox 17"/>
          <p:cNvSpPr txBox="1"/>
          <p:nvPr/>
        </p:nvSpPr>
        <p:spPr>
          <a:xfrm>
            <a:off x="8298485" y="2859024"/>
            <a:ext cx="3234842" cy="15575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“Here is my Daily Routine Card for paper trading with virtual money: &lt;paste your card&gt;. Act as a strict but kind reviewer.”</a:t>
            </a:r>
          </a:p>
        </p:txBody>
      </p:sp>
      <p:sp>
        <p:nvSpPr>
          <p:cNvPr id="19" name="Oval 18"/>
          <p:cNvSpPr/>
          <p:nvPr/>
        </p:nvSpPr>
        <p:spPr>
          <a:xfrm>
            <a:off x="457200"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App se prompt copy kijiye</a:t>
            </a:r>
          </a:p>
        </p:txBody>
      </p:sp>
      <p:sp>
        <p:nvSpPr>
          <p:cNvPr id="21" name="Oval 20"/>
          <p:cNvSpPr/>
          <p:nvPr/>
        </p:nvSpPr>
        <p:spPr>
          <a:xfrm>
            <a:off x="4277258"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Kisi bhi AI chat mein paste kijiye</a:t>
            </a:r>
          </a:p>
        </p:txBody>
      </p:sp>
      <p:sp>
        <p:nvSpPr>
          <p:cNvPr id="23" name="Oval 22"/>
          <p:cNvSpPr/>
          <p:nvPr/>
        </p:nvSpPr>
        <p:spPr>
          <a:xfrm>
            <a:off x="8097317"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Har Fact khud check kijiye</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analyst hai, faisla aap karte hain. Kisi bhi AI mein PAN, client ID, password, OTP ya API key kabhi paste mat kijiye, aur AI ka jawab kabhi buy ya sell call bana kar aage mat bhejiye.</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Poora prompt: speaker notes mein, aur app ke AI Lab tab mein.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QUICK QUIZ · SAWAAL 1/5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Ek classmate ka Day 12 se journal: 10 calm trades ne +3.0R kamaya, 6 FOMO trades ne 2.4R ganwaya, aur 2 'gussa' wale trades ne, jo dono revenge trade the, 3.0R ganwaya. Kaunsi baat sahi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Har trade ke hisaab se revenge sabse mehenga: -1.5R</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Total +0.6R hai, isliye tags se farq nahi padta</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Sirf FOMO trades chhodne se woh +0.6R par hota</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Har trade ke hisaab se FOMO sabse mehenga: -0.4R</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QUICK QUIZ · SAWAAL 2/5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Ek classmate Rs 300 par 400 shares khareedta hai, stop Rs 275 par, yaani 1R = Rs 10,000. Rs 276 ke paas woh stop neeche khiska kar Rs 250 kar deta hai, aur baad mein trade wahin exit hota hai. Stop khiskane ki keemat kya padi?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20,000 extra: loss 3R ban gaya</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Kuch extra nahi: stop-out har haal mein 1R</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5,000 extra: loss 1.5R ban gaya</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10,000 extra: loss 2R ban gaya</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QUICK QUIZ · SAWAAL 3/5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Maan lijiye kisi rule ke har trade ke jeetne ka chance lagbhag 40% hai. Rule abhi lagataar teen trade haara hai, aur Aman use chhodna chahta hai. Maths kya kehti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Rule toot gaya: 40% wala rule kabhi teen lagataar nahi haarta</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Bahut rare hai: teen lagataar ke liye 5% se kam chance</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Ab jeet banti hai, kyunki streak ko khatam hona hi hai</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Normal hai: teen lagataar loss ka lagbhag 22% chance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QUICK QUIZ · SAWAAL 4/5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 baar-baar apna -2R daily stop tod deta hai. 'Willpower nahi, design' ki sabse achhi misaal kaunsa badlaav hai?</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Daily stop badha kar -3R kar dena, taaki kam trip ho</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Khud se pakka waada ki kal se woh zyada dhyaan rakhega</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Screen zyada der dekhna taaki jaldi react kar sake</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9:15 se pehle limit likhna aur buddy ko message karna</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QUICK QUIZ · SAWAAL 5/5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Ek dost Priya ko apne mahine ke baare mein batata hai. Inmein se kaunsi baat warning sign hai ki trading jua ban rahi hai, aur rukne aur kisi ko batane ka waqt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Apne likhe rule par lagataar teen trade haarna</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Stop-out ke baad ek shaam tak chidchida rehna</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Koi setup na aane par ek hafte tak koi trade nahi</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Apne loss ki bharpai ke liye credit card se udhaar</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AAJ RAAT KA JOURNAL</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Trading psychology aur aapka Daily Routine Card</a:t>
            </a:r>
          </a:p>
        </p:txBody>
      </p:sp>
      <p:sp>
        <p:nvSpPr>
          <p:cNvPr id="4" name="TextBox 3"/>
          <p:cNvSpPr txBox="1"/>
          <p:nvPr/>
        </p:nvSpPr>
        <p:spPr>
          <a:xfrm>
            <a:off x="457200" y="5820156"/>
            <a:ext cx="11277295" cy="50749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and not counselling. Company names, prices and paper results in this lesson are made up for illustration; paper results are hypothetical, and past performance is not indicative of future results. For mental-health support, call Tele-MANAS on 14416. Stage 1 uses virtual money only. 5 Circles Pvt Ltd · SEBI Registered Research Analyst · Reg. No. INH000020004</a:t>
            </a:r>
          </a:p>
        </p:txBody>
      </p:sp>
      <p:sp>
        <p:nvSpPr>
          <p:cNvPr id="5" name="Rounded Rectangle 4"/>
          <p:cNvSpPr/>
          <p:nvPr/>
        </p:nvSpPr>
        <p:spPr>
          <a:xfrm>
            <a:off x="457200" y="1335024"/>
            <a:ext cx="5501488" cy="3863340"/>
          </a:xfrm>
          <a:prstGeom prst="roundRect">
            <a:avLst>
              <a:gd name="adj" fmla="val 331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AAJ RAAT KA JOURNAL</a:t>
            </a:r>
          </a:p>
        </p:txBody>
      </p:sp>
      <p:sp>
        <p:nvSpPr>
          <p:cNvPr id="7" name="TextBox 6"/>
          <p:cNvSpPr txBox="1"/>
          <p:nvPr/>
        </p:nvSpPr>
        <p:spPr>
          <a:xfrm>
            <a:off x="731520" y="1901952"/>
            <a:ext cx="4952848" cy="313182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Ab tak ka apna sabse bura trading pal yaad kijiye, paper par ya asli. Usse theek pehle aapke ego ne kya kaha tha, bilkul unhi shabdon mein? Aapke naye card ki kaunsi line aapko rok leti? Aur kya is hafte aapne khud mein koi warning sign dekha?</a:t>
            </a:r>
          </a:p>
        </p:txBody>
      </p:sp>
      <p:sp>
        <p:nvSpPr>
          <p:cNvPr id="8" name="Rounded Rectangle 7"/>
          <p:cNvSpPr/>
          <p:nvPr/>
        </p:nvSpPr>
        <p:spPr>
          <a:xfrm>
            <a:off x="6233008" y="1335024"/>
            <a:ext cx="5501488" cy="3863340"/>
          </a:xfrm>
          <a:prstGeom prst="roundRect">
            <a:avLst>
              <a:gd name="adj" fmla="val 331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92400E"/>
                </a:solidFill>
                <a:latin typeface="Segoe UI"/>
              </a:rPr>
              <a:t>“</a:t>
            </a:r>
          </a:p>
        </p:txBody>
      </p:sp>
      <p:sp>
        <p:nvSpPr>
          <p:cNvPr id="10" name="TextBox 9"/>
          <p:cNvSpPr txBox="1"/>
          <p:nvPr/>
        </p:nvSpPr>
        <p:spPr>
          <a:xfrm>
            <a:off x="6507328" y="2946654"/>
            <a:ext cx="4952848" cy="105156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Yeh card aapne ek shaant din par likha. Gusse wale din yahi card aapke rules yaad rakhega.</a:t>
            </a:r>
          </a:p>
        </p:txBody>
      </p:sp>
      <p:sp>
        <p:nvSpPr>
          <p:cNvPr id="11" name="Rounded Rectangle 10"/>
          <p:cNvSpPr/>
          <p:nvPr/>
        </p:nvSpPr>
        <p:spPr>
          <a:xfrm>
            <a:off x="457200" y="5344668"/>
            <a:ext cx="6653060"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Agla: Day 21 · Finale: Week 3 ka review, aapka certificate aur Stage 2 ka raasta</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0B1B33"/>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0B1B33"/>
                </a:solidFill>
                <a:latin typeface="Segoe UI"/>
              </a:rPr>
              <a:t>21</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0B1B33"/>
                </a:solidFill>
                <a:latin typeface="Segoe UI"/>
              </a:rPr>
              <a:t>WEEK 3</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0B1B33"/>
                </a:solidFill>
                <a:latin typeface="Segoe UI"/>
              </a:rPr>
              <a:t>Apna system banao, khud ko bachao</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Rounded Rectangle 7"/>
          <p:cNvSpPr/>
          <p:nvPr/>
        </p:nvSpPr>
        <p:spPr>
          <a:xfrm>
            <a:off x="1771978" y="5577840"/>
            <a:ext cx="1410123"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Weekly review</a:t>
            </a:r>
          </a:p>
        </p:txBody>
      </p:sp>
      <p:sp>
        <p:nvSpPr>
          <p:cNvPr id="9" name="TextBox 8"/>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10" name="TextBox 9"/>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Finale: Week 3 ka review, aapka certificate aur Stage 2 ka raasta</a:t>
            </a:r>
          </a:p>
        </p:txBody>
      </p:sp>
      <p:sp>
        <p:nvSpPr>
          <p:cNvPr id="11" name="Rounded Rectangle 10"/>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2" name="TextBox 11"/>
          <p:cNvSpPr txBox="1"/>
          <p:nvPr/>
        </p:nvSpPr>
        <p:spPr>
          <a:xfrm>
            <a:off x="5557266" y="237744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Week 3 ek system ki tarah, process par tika result, certificate ki shartein aur Stage 2 ka raasta</a:t>
            </a:r>
          </a:p>
        </p:txBody>
      </p:sp>
      <p:sp>
        <p:nvSpPr>
          <p:cNvPr id="13" name="Rounded Rectangle 12"/>
          <p:cNvSpPr/>
          <p:nvPr/>
        </p:nvSpPr>
        <p:spPr>
          <a:xfrm>
            <a:off x="4572000" y="315468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4" name="TextBox 13"/>
          <p:cNvSpPr txBox="1"/>
          <p:nvPr/>
        </p:nvSpPr>
        <p:spPr>
          <a:xfrm>
            <a:off x="5557266" y="3154680"/>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Aakhri journal review: AI ginti kare, habits aap chunein</a:t>
            </a:r>
          </a:p>
        </p:txBody>
      </p:sp>
      <p:sp>
        <p:nvSpPr>
          <p:cNvPr id="15" name="Rounded Rectangle 14"/>
          <p:cNvSpPr/>
          <p:nvPr/>
        </p:nvSpPr>
        <p:spPr>
          <a:xfrm>
            <a:off x="4572000" y="366674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6" name="TextBox 15"/>
          <p:cNvSpPr txBox="1"/>
          <p:nvPr/>
        </p:nvSpPr>
        <p:spPr>
          <a:xfrm>
            <a:off x="5557266" y="366674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Finish line wala overconfidence</a:t>
            </a:r>
          </a:p>
        </p:txBody>
      </p:sp>
      <p:sp>
        <p:nvSpPr>
          <p:cNvPr id="17" name="TextBox 16"/>
          <p:cNvSpPr txBox="1"/>
          <p:nvPr/>
        </p:nvSpPr>
        <p:spPr>
          <a:xfrm>
            <a:off x="4572000" y="4352544"/>
            <a:ext cx="7162495"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AAJ KE BAAD</a:t>
            </a:r>
          </a:p>
        </p:txBody>
      </p:sp>
      <p:sp>
        <p:nvSpPr>
          <p:cNvPr id="18" name="TextBox 17"/>
          <p:cNvSpPr txBox="1"/>
          <p:nvPr/>
        </p:nvSpPr>
        <p:spPr>
          <a:xfrm>
            <a:off x="4572000" y="4626864"/>
            <a:ext cx="7162495" cy="1453896"/>
          </a:xfrm>
          <a:prstGeom prst="rect">
            <a:avLst/>
          </a:prstGeom>
          <a:noFill/>
        </p:spPr>
        <p:txBody>
          <a:bodyPr wrap="square" lIns="0" rIns="0" tIns="0" bIns="0" anchor="t">
            <a:noAutofit/>
          </a:bodyPr>
          <a:lstStyle/>
          <a:p>
            <a:pPr algn="l">
              <a:lnSpc>
                <a:spcPct val="100000"/>
              </a:lnSpc>
            </a:pPr>
            <a:r>
              <a:rPr sz="1550" b="0" i="0">
                <a:solidFill>
                  <a:srgbClr val="47596B"/>
                </a:solidFill>
                <a:latin typeface="Segoe UI"/>
              </a:rPr>
              <a:t>Aaj ke baad aap ek stock ko Week 3 ke saare rules se guzaar payenge, 'hum aapke liye trade karenge' wala offer pehchaan payenge, Day 12 se apni paper trading ko process par score kar payenge, certificate ke chhe checks gina payenge, A/C/D guide se Portfolio row ko grade kar payenge, bata payenge ki Stage 1 ki har skill ko Stage 2 ka kaunsa chapter aage le jaata hai, aur samjha payenge ki course khatam karna real paise ke liye ready hona nahi hai.</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KAHANI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Course khatam, toh main ready hoon?</a:t>
            </a:r>
          </a:p>
        </p:txBody>
      </p:sp>
      <p:sp>
        <p:nvSpPr>
          <p:cNvPr id="4" name="Rounded Rectangle 3"/>
          <p:cNvSpPr/>
          <p:nvPr/>
        </p:nvSpPr>
        <p:spPr>
          <a:xfrm>
            <a:off x="457200" y="1426464"/>
            <a:ext cx="3649370" cy="3377184"/>
          </a:xfrm>
          <a:prstGeom prst="roundRect">
            <a:avLst>
              <a:gd name="adj" fmla="val 379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291998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Sunday shaam, Stage 1 ki aakhri weekend call. Aman late join karta hai, phone par kuch padhte hue.</a:t>
            </a:r>
          </a:p>
        </p:txBody>
      </p:sp>
      <p:sp>
        <p:nvSpPr>
          <p:cNvPr id="7" name="Rounded Rectangle 6"/>
          <p:cNvSpPr/>
          <p:nvPr/>
        </p:nvSpPr>
        <p:spPr>
          <a:xfrm>
            <a:off x="4271162" y="1426464"/>
            <a:ext cx="3649370" cy="3377184"/>
          </a:xfrm>
          <a:prstGeom prst="roundRect">
            <a:avLst>
              <a:gd name="adj" fmla="val 379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T</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991B1B"/>
                </a:solidFill>
                <a:latin typeface="Segoe UI"/>
              </a:rPr>
              <a:t>Tip-wala</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2142744"/>
          </a:xfrm>
          <a:prstGeom prst="wedgeRoundRectCallout">
            <a:avLst>
              <a:gd name="adj1" fmla="val -41915"/>
              <a:gd name="adj2" fmla="val -58534"/>
              <a:gd name="adj3" fmla="val 5120"/>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185013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Course complete karne ki badhai! Ab hamara AI algo aapke liye options trade karega. Bas apna login ID aur ek OTP share kijiye. Har mahine 5%, assured. Zero mehnat. Sirf 10 seats bachi hain.</a:t>
            </a:r>
          </a:p>
        </p:txBody>
      </p:sp>
      <p:sp>
        <p:nvSpPr>
          <p:cNvPr id="13" name="Rounded Rectangle 12"/>
          <p:cNvSpPr/>
          <p:nvPr/>
        </p:nvSpPr>
        <p:spPr>
          <a:xfrm>
            <a:off x="8085125" y="1426464"/>
            <a:ext cx="3649370" cy="3377184"/>
          </a:xfrm>
          <a:prstGeom prst="roundRect">
            <a:avLst>
              <a:gd name="adj" fmla="val 379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883664"/>
          </a:xfrm>
          <a:prstGeom prst="wedgeRoundRectCallout">
            <a:avLst>
              <a:gd name="adj1" fmla="val -41915"/>
              <a:gd name="adj2" fmla="val -59708"/>
              <a:gd name="adj3" fmla="val 582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15910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aaj course khatam ho gaya, certificate bhi apne aap aa jayega. Das din ki paper trading kaafi hai na? Yeh algo toh office mein baithe-baithe chal jayega.</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KAHANI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Course khatam, toh main ready hoon?</a:t>
            </a:r>
          </a:p>
        </p:txBody>
      </p:sp>
      <p:sp>
        <p:nvSpPr>
          <p:cNvPr id="4" name="Rounded Rectangle 3"/>
          <p:cNvSpPr/>
          <p:nvPr/>
        </p:nvSpPr>
        <p:spPr>
          <a:xfrm>
            <a:off x="457200" y="1335024"/>
            <a:ext cx="3649370" cy="4297680"/>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46304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6" name="TextBox 5"/>
          <p:cNvSpPr txBox="1"/>
          <p:nvPr/>
        </p:nvSpPr>
        <p:spPr>
          <a:xfrm>
            <a:off x="1188720" y="157276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7" name="TextBox 6"/>
          <p:cNvSpPr txBox="1"/>
          <p:nvPr/>
        </p:nvSpPr>
        <p:spPr>
          <a:xfrm>
            <a:off x="3722522"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03120"/>
            <a:ext cx="3393338" cy="1624584"/>
          </a:xfrm>
          <a:prstGeom prst="wedgeRoundRectCallout">
            <a:avLst>
              <a:gd name="adj1" fmla="val -41915"/>
              <a:gd name="adj2" fmla="val -61257"/>
              <a:gd name="adj3" fmla="val 6754"/>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267712"/>
            <a:ext cx="3137306" cy="13319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mere backtest mein 30 trades hain aur paper log mein sirf 7. Certificate milne ke baad hum asal mein kya kar sakte hain?</a:t>
            </a:r>
          </a:p>
        </p:txBody>
      </p:sp>
      <p:sp>
        <p:nvSpPr>
          <p:cNvPr id="10" name="Rounded Rectangle 9"/>
          <p:cNvSpPr/>
          <p:nvPr/>
        </p:nvSpPr>
        <p:spPr>
          <a:xfrm>
            <a:off x="4271162" y="1335024"/>
            <a:ext cx="3649370" cy="4297680"/>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46304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2" name="TextBox 11"/>
          <p:cNvSpPr txBox="1"/>
          <p:nvPr/>
        </p:nvSpPr>
        <p:spPr>
          <a:xfrm>
            <a:off x="5002682" y="157276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3" name="TextBox 12"/>
          <p:cNvSpPr txBox="1"/>
          <p:nvPr/>
        </p:nvSpPr>
        <p:spPr>
          <a:xfrm>
            <a:off x="7536485"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03120"/>
            <a:ext cx="3393338" cy="2660904"/>
          </a:xfrm>
          <a:prstGeom prst="wedgeRoundRectCallout">
            <a:avLst>
              <a:gd name="adj1" fmla="val -41915"/>
              <a:gd name="adj2" fmla="val -56872"/>
              <a:gd name="adj3" fmla="val 4123"/>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267712"/>
            <a:ext cx="3137306" cy="23682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Dono ke sawaal achhe hain. Aman, Day 16 mein legal algo ke liye kya chahiye tha: kaunsa broker, kaunsa Algo-ID? Is message mein dono nahi hain, aur yeh aapka OTP maang raha hai. Koi anjaan aadmi badhai de de, toh kya aap use ghar ki chaabi de denge?</a:t>
            </a:r>
          </a:p>
        </p:txBody>
      </p:sp>
      <p:sp>
        <p:nvSpPr>
          <p:cNvPr id="16" name="Rounded Rectangle 15"/>
          <p:cNvSpPr/>
          <p:nvPr/>
        </p:nvSpPr>
        <p:spPr>
          <a:xfrm>
            <a:off x="8085125" y="1335024"/>
            <a:ext cx="3649370" cy="4297680"/>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46304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57276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03120"/>
            <a:ext cx="3393338" cy="3179064"/>
          </a:xfrm>
          <a:prstGeom prst="wedgeRoundRectCallout">
            <a:avLst>
              <a:gd name="adj1" fmla="val -41915"/>
              <a:gd name="adj2" fmla="val -55752"/>
              <a:gd name="adj3" fmla="val 3451"/>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267712"/>
            <a:ext cx="3137306" cy="28864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Aaj hum Week 3 ko ek baar palat kar dekhenge, certificate ka asli matlab samjhenge, likhenge ki real paise ke baare mein sochne se pehle kaun-kaun si shartein poori honi chahiye, aur dekhenge ki Stage 2 har skill ko aage kahan le jaata hai. Course khatam karna ek baat hai. Ready hona doosri.</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6429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Seekh</a:t>
            </a:r>
          </a:p>
        </p:txBody>
      </p:sp>
      <p:sp>
        <p:nvSpPr>
          <p:cNvPr id="24" name="TextBox 23"/>
          <p:cNvSpPr txBox="1"/>
          <p:nvPr/>
        </p:nvSpPr>
        <p:spPr>
          <a:xfrm>
            <a:off x="1411050" y="5760720"/>
            <a:ext cx="1014056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Certificate batata hai ki aapne basics seekh liye. Ready hain ya nahi, yeh dheere-dheere dikhta hai, us routine mein jo aap nibhate hain.</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Week 3 ek shaam mein</a:t>
            </a:r>
          </a:p>
        </p:txBody>
      </p:sp>
      <p:sp>
        <p:nvSpPr>
          <p:cNvPr id="4" name="TextBox 3"/>
          <p:cNvSpPr txBox="1"/>
          <p:nvPr/>
        </p:nvSpPr>
        <p:spPr>
          <a:xfrm>
            <a:off x="457200" y="1335024"/>
            <a:ext cx="5519776" cy="2160270"/>
          </a:xfrm>
          <a:prstGeom prst="rect">
            <a:avLst/>
          </a:prstGeom>
          <a:noFill/>
        </p:spPr>
        <p:txBody>
          <a:bodyPr wrap="square" lIns="0" rIns="0" tIns="0" bIns="0" anchor="t">
            <a:noAutofit/>
          </a:bodyPr>
          <a:lstStyle/>
          <a:p>
            <a:pPr algn="l" marL="274320" indent="-274320">
              <a:lnSpc>
                <a:spcPct val="100000"/>
              </a:lnSpc>
              <a:spcAft>
                <a:spcPts val="750"/>
              </a:spcAft>
              <a:buClr>
                <a:srgbClr val="F5A623"/>
              </a:buClr>
              <a:buFont typeface="Arial"/>
              <a:buChar char="•"/>
            </a:pPr>
            <a:r>
              <a:rPr sz="1500" b="0" i="0">
                <a:solidFill>
                  <a:srgbClr val="18232F"/>
                </a:solidFill>
                <a:latin typeface="Segoe UI"/>
              </a:rPr>
              <a:t>Week 3 ne aapke rules ko ek system bana diya.</a:t>
            </a:r>
          </a:p>
          <a:p>
            <a:pPr algn="l" marL="274320" indent="-274320">
              <a:lnSpc>
                <a:spcPct val="100000"/>
              </a:lnSpc>
              <a:spcAft>
                <a:spcPts val="750"/>
              </a:spcAft>
              <a:buClr>
                <a:srgbClr val="F5A623"/>
              </a:buClr>
              <a:buFont typeface="Arial"/>
              <a:buChar char="•"/>
            </a:pPr>
            <a:r>
              <a:rPr sz="1500" b="0" i="0">
                <a:solidFill>
                  <a:srgbClr val="18232F"/>
                </a:solidFill>
                <a:latin typeface="Segoe UI"/>
              </a:rPr>
              <a:t>Day 15 mein aapne 5 checks wala health filter seekha, aur dekha ki dividend, bonus ya split jaise corporate actions ex-date par price ko kaise badal dete hain.</a:t>
            </a:r>
          </a:p>
          <a:p>
            <a:pPr algn="l" marL="274320" indent="-274320">
              <a:lnSpc>
                <a:spcPct val="100000"/>
              </a:lnSpc>
              <a:spcAft>
                <a:spcPts val="750"/>
              </a:spcAft>
              <a:buClr>
                <a:srgbClr val="F5A623"/>
              </a:buClr>
              <a:buFont typeface="Arial"/>
              <a:buChar char="•"/>
            </a:pPr>
            <a:r>
              <a:rPr sz="1500" b="0" i="0">
                <a:solidFill>
                  <a:srgbClr val="18232F"/>
                </a:solidFill>
                <a:latin typeface="Segoe UI"/>
              </a:rPr>
              <a:t>Day 16 ne rule card ko yes/no flowchart mein badal diya, aur aise alerts diye jo sirf 'ab dekhiye' kehte hain.</a:t>
            </a:r>
          </a:p>
          <a:p>
            <a:pPr algn="l" marL="274320" indent="-274320">
              <a:lnSpc>
                <a:spcPct val="100000"/>
              </a:lnSpc>
              <a:buClr>
                <a:srgbClr val="F5A623"/>
              </a:buClr>
              <a:buFont typeface="Arial"/>
              <a:buChar char="•"/>
            </a:pPr>
            <a:r>
              <a:rPr sz="1500" b="0" i="0">
                <a:solidFill>
                  <a:srgbClr val="18232F"/>
                </a:solidFill>
                <a:latin typeface="Segoe UI"/>
              </a:rPr>
              <a:t>Day 17 mein aapne rule ko haath se 30 trades par test kiya, R mein, costs ke baad.</a:t>
            </a:r>
          </a:p>
        </p:txBody>
      </p:sp>
      <p:sp>
        <p:nvSpPr>
          <p:cNvPr id="5" name="Rounded Rectangle 4"/>
          <p:cNvSpPr/>
          <p:nvPr/>
        </p:nvSpPr>
        <p:spPr>
          <a:xfrm>
            <a:off x="6214720" y="1335024"/>
            <a:ext cx="5519776" cy="2162556"/>
          </a:xfrm>
          <a:prstGeom prst="roundRect">
            <a:avLst>
              <a:gd name="adj" fmla="val 507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1705356"/>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Shaam 7 baje, market band hone ke baad. Priya ke screener mein Kiran Foods Ltd aata hai. Paanchon health checks pass, aur uske corporate actions page par aisa koi bonus ya split nahi jo chart par nakli move dikhaye. Flowchart: EMA 20, badhte hue EMA 50 ke upar hai; Rs 470 ka close, Rs 464 wale EMA 20 ke upar hai aur usse 2% ke andar; RSI 14 hai 46; 3 mahine mein yeh NIFTY 50 se aage hai; aur aaj ka close kal ke high ke upar hai. Har chart box yes kehta hai, aur rule ke peeche uska haath se bana 30 trades ka backtest bhi hai. … Woh journal mein likhti hai 'Setup valid tha, skip kiya: results rule', aur 7:20 par laptop band kar deti hai.</a:t>
            </a:r>
          </a:p>
        </p:txBody>
      </p:sp>
      <p:sp>
        <p:nvSpPr>
          <p:cNvPr id="8" name="Rounded Rectangle 7"/>
          <p:cNvSpPr/>
          <p:nvPr/>
        </p:nvSpPr>
        <p:spPr>
          <a:xfrm>
            <a:off x="457200" y="3662172"/>
            <a:ext cx="11277295" cy="1952244"/>
          </a:xfrm>
          <a:prstGeom prst="roundRect">
            <a:avLst>
              <a:gd name="adj" fmla="val 56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808476"/>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Week 3, ek shaam mein</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Kahin bhi ek NO aaya, toh chain wahin khatam. Valid setup ko sahi wajah se chhodna bhi rule follow karna hai.</a:t>
            </a:r>
          </a:p>
        </p:txBody>
      </p:sp>
      <p:sp>
        <p:nvSpPr>
          <p:cNvPr id="11" name="Rounded Rectangle 10"/>
          <p:cNvSpPr/>
          <p:nvPr/>
        </p:nvSpPr>
        <p:spPr>
          <a:xfrm>
            <a:off x="640080" y="4127754"/>
            <a:ext cx="1224229" cy="1103376"/>
          </a:xfrm>
          <a:prstGeom prst="roundRect">
            <a:avLst>
              <a:gd name="adj" fmla="val 8287"/>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49808" y="4127754"/>
            <a:ext cx="1004773" cy="110337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Health-check</a:t>
            </a:r>
          </a:p>
          <a:p>
            <a:pPr algn="ctr">
              <a:lnSpc>
                <a:spcPct val="100000"/>
              </a:lnSpc>
            </a:pPr>
            <a:r>
              <a:rPr sz="1100" b="0" i="0">
                <a:solidFill>
                  <a:srgbClr val="47596B"/>
                </a:solidFill>
                <a:latin typeface="Segoe UI"/>
              </a:rPr>
              <a:t>Day 15: 5 checks pass</a:t>
            </a:r>
          </a:p>
        </p:txBody>
      </p:sp>
      <p:sp>
        <p:nvSpPr>
          <p:cNvPr id="13" name="Right Arrow 12"/>
          <p:cNvSpPr/>
          <p:nvPr/>
        </p:nvSpPr>
        <p:spPr>
          <a:xfrm>
            <a:off x="2083765" y="45880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891741" y="4414266"/>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pass</a:t>
            </a:r>
          </a:p>
        </p:txBody>
      </p:sp>
      <p:sp>
        <p:nvSpPr>
          <p:cNvPr id="15" name="Rounded Rectangle 14"/>
          <p:cNvSpPr/>
          <p:nvPr/>
        </p:nvSpPr>
        <p:spPr>
          <a:xfrm>
            <a:off x="2577541" y="4127754"/>
            <a:ext cx="1224229" cy="1103376"/>
          </a:xfrm>
          <a:prstGeom prst="roundRect">
            <a:avLst>
              <a:gd name="adj" fmla="val 8287"/>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2687269" y="4127754"/>
            <a:ext cx="1004773" cy="110337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Corporate actions</a:t>
            </a:r>
          </a:p>
          <a:p>
            <a:pPr algn="ctr">
              <a:lnSpc>
                <a:spcPct val="100000"/>
              </a:lnSpc>
            </a:pPr>
            <a:r>
              <a:rPr sz="1100" b="0" i="0">
                <a:solidFill>
                  <a:srgbClr val="47596B"/>
                </a:solidFill>
                <a:latin typeface="Segoe UI"/>
              </a:rPr>
              <a:t>Day 15: chart mein nakli gap nahi</a:t>
            </a:r>
          </a:p>
        </p:txBody>
      </p:sp>
      <p:sp>
        <p:nvSpPr>
          <p:cNvPr id="17" name="Right Arrow 16"/>
          <p:cNvSpPr/>
          <p:nvPr/>
        </p:nvSpPr>
        <p:spPr>
          <a:xfrm>
            <a:off x="4021226" y="45880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3829202" y="4414266"/>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clear</a:t>
            </a:r>
          </a:p>
        </p:txBody>
      </p:sp>
      <p:sp>
        <p:nvSpPr>
          <p:cNvPr id="19" name="Rounded Rectangle 18"/>
          <p:cNvSpPr/>
          <p:nvPr/>
        </p:nvSpPr>
        <p:spPr>
          <a:xfrm>
            <a:off x="4515002" y="4127754"/>
            <a:ext cx="1224229" cy="1103376"/>
          </a:xfrm>
          <a:prstGeom prst="roundRect">
            <a:avLst>
              <a:gd name="adj" fmla="val 8287"/>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4624730" y="4127754"/>
            <a:ext cx="1004773" cy="110337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Flowchart</a:t>
            </a:r>
          </a:p>
          <a:p>
            <a:pPr algn="ctr">
              <a:lnSpc>
                <a:spcPct val="100000"/>
              </a:lnSpc>
            </a:pPr>
            <a:r>
              <a:rPr sz="1100" b="0" i="0">
                <a:solidFill>
                  <a:srgbClr val="47596B"/>
                </a:solidFill>
                <a:latin typeface="Segoe UI"/>
              </a:rPr>
              <a:t>Day 16: chart ke saare box yes</a:t>
            </a:r>
          </a:p>
        </p:txBody>
      </p:sp>
      <p:sp>
        <p:nvSpPr>
          <p:cNvPr id="21" name="Right Arrow 20"/>
          <p:cNvSpPr/>
          <p:nvPr/>
        </p:nvSpPr>
        <p:spPr>
          <a:xfrm>
            <a:off x="5958688" y="45880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5766664" y="4414266"/>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yes</a:t>
            </a:r>
          </a:p>
        </p:txBody>
      </p:sp>
      <p:sp>
        <p:nvSpPr>
          <p:cNvPr id="23" name="Rounded Rectangle 22"/>
          <p:cNvSpPr/>
          <p:nvPr/>
        </p:nvSpPr>
        <p:spPr>
          <a:xfrm>
            <a:off x="6452464" y="4127754"/>
            <a:ext cx="1224229" cy="1103376"/>
          </a:xfrm>
          <a:prstGeom prst="roundRect">
            <a:avLst>
              <a:gd name="adj" fmla="val 8287"/>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6562192" y="4127754"/>
            <a:ext cx="1004773" cy="110337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Tested rule</a:t>
            </a:r>
          </a:p>
          <a:p>
            <a:pPr algn="ctr">
              <a:lnSpc>
                <a:spcPct val="100000"/>
              </a:lnSpc>
            </a:pPr>
            <a:r>
              <a:rPr sz="1100" b="0" i="0">
                <a:solidFill>
                  <a:srgbClr val="47596B"/>
                </a:solidFill>
                <a:latin typeface="Segoe UI"/>
              </a:rPr>
              <a:t>Day 17: 30 trades ka backtest</a:t>
            </a:r>
          </a:p>
        </p:txBody>
      </p:sp>
      <p:sp>
        <p:nvSpPr>
          <p:cNvPr id="25" name="Right Arrow 24"/>
          <p:cNvSpPr/>
          <p:nvPr/>
        </p:nvSpPr>
        <p:spPr>
          <a:xfrm>
            <a:off x="7896149" y="45880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7704125" y="4414266"/>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rule OK</a:t>
            </a:r>
          </a:p>
        </p:txBody>
      </p:sp>
      <p:sp>
        <p:nvSpPr>
          <p:cNvPr id="27" name="Rounded Rectangle 26"/>
          <p:cNvSpPr/>
          <p:nvPr/>
        </p:nvSpPr>
        <p:spPr>
          <a:xfrm>
            <a:off x="8389925" y="4127754"/>
            <a:ext cx="1224229" cy="1103376"/>
          </a:xfrm>
          <a:prstGeom prst="roundRect">
            <a:avLst>
              <a:gd name="adj" fmla="val 8287"/>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TextBox 27"/>
          <p:cNvSpPr txBox="1"/>
          <p:nvPr/>
        </p:nvSpPr>
        <p:spPr>
          <a:xfrm>
            <a:off x="8499653" y="4127754"/>
            <a:ext cx="1004773" cy="110337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Event calendar</a:t>
            </a:r>
          </a:p>
          <a:p>
            <a:pPr algn="ctr">
              <a:lnSpc>
                <a:spcPct val="100000"/>
              </a:lnSpc>
            </a:pPr>
            <a:r>
              <a:rPr sz="1100" b="0" i="0">
                <a:solidFill>
                  <a:srgbClr val="47596B"/>
                </a:solidFill>
                <a:latin typeface="Segoe UI"/>
              </a:rPr>
              <a:t>Day 19: results 3 din mein</a:t>
            </a:r>
          </a:p>
        </p:txBody>
      </p:sp>
      <p:sp>
        <p:nvSpPr>
          <p:cNvPr id="29" name="Right Arrow 28"/>
          <p:cNvSpPr/>
          <p:nvPr/>
        </p:nvSpPr>
        <p:spPr>
          <a:xfrm>
            <a:off x="9833610" y="45880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9641586" y="4414266"/>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NO</a:t>
            </a:r>
          </a:p>
        </p:txBody>
      </p:sp>
      <p:sp>
        <p:nvSpPr>
          <p:cNvPr id="31" name="Rounded Rectangle 30"/>
          <p:cNvSpPr/>
          <p:nvPr/>
        </p:nvSpPr>
        <p:spPr>
          <a:xfrm>
            <a:off x="10327386" y="4127754"/>
            <a:ext cx="1224229" cy="1103376"/>
          </a:xfrm>
          <a:prstGeom prst="roundRect">
            <a:avLst>
              <a:gd name="adj" fmla="val 8287"/>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TextBox 31"/>
          <p:cNvSpPr txBox="1"/>
          <p:nvPr/>
        </p:nvSpPr>
        <p:spPr>
          <a:xfrm>
            <a:off x="10437114" y="4127754"/>
            <a:ext cx="1004773" cy="110337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Routine card</a:t>
            </a:r>
          </a:p>
          <a:p>
            <a:pPr algn="ctr">
              <a:lnSpc>
                <a:spcPct val="100000"/>
              </a:lnSpc>
            </a:pPr>
            <a:r>
              <a:rPr sz="1100" b="0" i="0">
                <a:solidFill>
                  <a:srgbClr val="47596B"/>
                </a:solidFill>
                <a:latin typeface="Segoe UI"/>
              </a:rPr>
              <a:t>Day 20: 'No trade' likhiye</a:t>
            </a:r>
          </a:p>
        </p:txBody>
      </p:sp>
      <p:sp>
        <p:nvSpPr>
          <p:cNvPr id="33" name="Rounded Rectangle 32"/>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4" name="Rounded Rectangle 33"/>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5" name="TextBox 34"/>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System matlab saare rules ek saath. Kisi bhi hafte ke kisi bhi rule ka ek NO, yaani no trade.</a:t>
            </a:r>
          </a:p>
        </p:txBody>
      </p:sp>
      <p:pic>
        <p:nvPicPr>
          <p:cNvPr id="36" name="Picture 35" descr="logo.png"/>
          <p:cNvPicPr>
            <a:picLocks noChangeAspect="1"/>
          </p:cNvPicPr>
          <p:nvPr/>
        </p:nvPicPr>
        <p:blipFill>
          <a:blip r:embed="rId2"/>
          <a:stretch>
            <a:fillRect/>
          </a:stretch>
        </p:blipFill>
        <p:spPr>
          <a:xfrm>
            <a:off x="457200" y="6437376"/>
            <a:ext cx="237744" cy="237744"/>
          </a:xfrm>
          <a:prstGeom prst="rect">
            <a:avLst/>
          </a:prstGeom>
        </p:spPr>
      </p:pic>
      <p:sp>
        <p:nvSpPr>
          <p:cNvPr id="37"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8" name="TextBox 37"/>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Shortcut Trap #3: 'hum aapke liye trade karenge'</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Course khatam hote hi ek naye type ka offer aane lagta hai.</a:t>
            </a:r>
          </a:p>
          <a:p>
            <a:pPr algn="l" marL="274320" indent="-274320">
              <a:lnSpc>
                <a:spcPct val="100000"/>
              </a:lnSpc>
              <a:spcAft>
                <a:spcPts val="800"/>
              </a:spcAft>
              <a:buClr>
                <a:srgbClr val="F5A623"/>
              </a:buClr>
              <a:buFont typeface="Arial"/>
              <a:buChar char="•"/>
            </a:pPr>
            <a:r>
              <a:rPr sz="1600" b="0" i="0">
                <a:solidFill>
                  <a:srgbClr val="18232F"/>
                </a:solidFill>
                <a:latin typeface="Segoe UI"/>
              </a:rPr>
              <a:t>Copy-trading ka matlab hai ki aapka account kisi aur ke trades apne aap copy karta hai.</a:t>
            </a:r>
          </a:p>
          <a:p>
            <a:pPr algn="l" marL="274320" indent="-274320">
              <a:lnSpc>
                <a:spcPct val="100000"/>
              </a:lnSpc>
              <a:spcAft>
                <a:spcPts val="800"/>
              </a:spcAft>
              <a:buClr>
                <a:srgbClr val="F5A623"/>
              </a:buClr>
              <a:buFont typeface="Arial"/>
              <a:buChar char="•"/>
            </a:pPr>
            <a:r>
              <a:rPr sz="1600" b="0" i="0">
                <a:solidFill>
                  <a:srgbClr val="18232F"/>
                </a:solidFill>
                <a:latin typeface="Segoe UI"/>
              </a:rPr>
              <a:t>'account handling' ka matlab hai ki koi anjaan aapke account mein trade karta hai.</a:t>
            </a:r>
          </a:p>
          <a:p>
            <a:pPr algn="l" marL="274320" indent="-274320">
              <a:lnSpc>
                <a:spcPct val="100000"/>
              </a:lnSpc>
              <a:buClr>
                <a:srgbClr val="F5A623"/>
              </a:buClr>
              <a:buFont typeface="Arial"/>
              <a:buChar char="•"/>
            </a:pPr>
            <a:r>
              <a:rPr sz="1600" b="0" i="0">
                <a:solidFill>
                  <a:srgbClr val="18232F"/>
                </a:solidFill>
                <a:latin typeface="Segoe UI"/>
              </a:rPr>
              <a:t>Aur ek 'fully automatic' algo fees ya profit share ke badle wahin chalta hai.</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 ki story wala message lijiye. '5% mahina' sunne mein chhota lagta hai, lekin saal bhar compound karein toh barah 1.05 aapas mein guna hote hain, lagbhag 1.80: yaani saal ka qareeb 80%, aur ek bhi ghate wala mahina nahi. … Aman kuch share nahi karta, screenshot rakh leta hai, number block kar deta hai aur message ko cybercrime.gov.in par report kar deta hai; paisa chala gaya hota toh turant 1930 par call bhi karta.</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Offer vs aapke checks</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Mana karne ke liye ek fail check hi kaafi hai. Stage 1 mein koi automated order lagta hi nahi.</a:t>
            </a:r>
          </a:p>
        </p:txBody>
      </p:sp>
      <p:sp>
        <p:nvSpPr>
          <p:cNvPr id="11" name="Rounded Rectangle 10"/>
          <p:cNvSpPr/>
          <p:nvPr/>
        </p:nvSpPr>
        <p:spPr>
          <a:xfrm>
            <a:off x="6397600" y="1796796"/>
            <a:ext cx="2494712" cy="3278124"/>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397600" y="1796796"/>
            <a:ext cx="2494712" cy="440436"/>
          </a:xfrm>
          <a:prstGeom prst="roundRect">
            <a:avLst>
              <a:gd name="adj" fmla="val 20761"/>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397600" y="2017014"/>
            <a:ext cx="2494712" cy="22021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397600" y="1796796"/>
            <a:ext cx="2494712" cy="3278124"/>
          </a:xfrm>
          <a:prstGeom prst="roundRect">
            <a:avLst>
              <a:gd name="adj" fmla="val 3665"/>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6543904" y="1796796"/>
            <a:ext cx="2202104" cy="440436"/>
          </a:xfrm>
          <a:prstGeom prst="rect">
            <a:avLst/>
          </a:prstGeom>
          <a:noFill/>
        </p:spPr>
        <p:txBody>
          <a:bodyPr wrap="square" lIns="0" rIns="0" tIns="0" bIns="0" anchor="ctr">
            <a:noAutofit/>
          </a:bodyPr>
          <a:lstStyle/>
          <a:p>
            <a:pPr algn="l">
              <a:lnSpc>
                <a:spcPct val="100000"/>
              </a:lnSpc>
            </a:pPr>
            <a:r>
              <a:rPr sz="1450" b="1" i="0">
                <a:solidFill>
                  <a:srgbClr val="991B1B"/>
                </a:solidFill>
                <a:latin typeface="Segoe UI"/>
              </a:rPr>
              <a:t>Offer kehta hai</a:t>
            </a:r>
          </a:p>
        </p:txBody>
      </p:sp>
      <p:cxnSp>
        <p:nvCxnSpPr>
          <p:cNvPr id="16" name="Connector 15"/>
          <p:cNvCxnSpPr/>
          <p:nvPr/>
        </p:nvCxnSpPr>
        <p:spPr>
          <a:xfrm>
            <a:off x="6397600" y="2237232"/>
            <a:ext cx="2494711"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43904" y="2383536"/>
            <a:ext cx="2202104" cy="2654808"/>
          </a:xfrm>
          <a:prstGeom prst="rect">
            <a:avLst/>
          </a:prstGeom>
          <a:noFill/>
        </p:spPr>
        <p:txBody>
          <a:bodyPr wrap="square" lIns="0" rIns="0" tIns="0" bIns="0" anchor="t">
            <a:noAutofit/>
          </a:bodyPr>
          <a:lstStyle/>
          <a:p>
            <a:pPr algn="l" marL="201168" indent="-201168">
              <a:lnSpc>
                <a:spcPct val="100000"/>
              </a:lnSpc>
              <a:spcAft>
                <a:spcPts val="675"/>
              </a:spcAft>
              <a:buClr>
                <a:srgbClr val="F0554E"/>
              </a:buClr>
              <a:buFont typeface="Arial"/>
              <a:buChar char="•"/>
            </a:pPr>
            <a:r>
              <a:rPr sz="1350" b="0" i="0">
                <a:solidFill>
                  <a:srgbClr val="18232F"/>
                </a:solidFill>
                <a:latin typeface="Segoe UI"/>
              </a:rPr>
              <a:t>Login aur OTP ek baar share kijiye</a:t>
            </a:r>
          </a:p>
          <a:p>
            <a:pPr algn="l" marL="201168" indent="-201168">
              <a:lnSpc>
                <a:spcPct val="100000"/>
              </a:lnSpc>
              <a:spcAft>
                <a:spcPts val="675"/>
              </a:spcAft>
              <a:buClr>
                <a:srgbClr val="F0554E"/>
              </a:buClr>
              <a:buFont typeface="Arial"/>
              <a:buChar char="•"/>
            </a:pPr>
            <a:r>
              <a:rPr sz="1350" b="0" i="0">
                <a:solidFill>
                  <a:srgbClr val="18232F"/>
                </a:solidFill>
                <a:latin typeface="Segoe UI"/>
              </a:rPr>
              <a:t>Har mahine 5%, koi bura mahina nahi</a:t>
            </a:r>
          </a:p>
          <a:p>
            <a:pPr algn="l" marL="201168" indent="-201168">
              <a:lnSpc>
                <a:spcPct val="100000"/>
              </a:lnSpc>
              <a:spcAft>
                <a:spcPts val="675"/>
              </a:spcAft>
              <a:buClr>
                <a:srgbClr val="F0554E"/>
              </a:buClr>
              <a:buFont typeface="Arial"/>
              <a:buChar char="•"/>
            </a:pPr>
            <a:r>
              <a:rPr sz="1350" b="0" i="0">
                <a:solidFill>
                  <a:srgbClr val="18232F"/>
                </a:solidFill>
                <a:latin typeface="Segoe UI"/>
              </a:rPr>
              <a:t>Secret algo, broker ka naam nahi</a:t>
            </a:r>
          </a:p>
          <a:p>
            <a:pPr algn="l" marL="201168" indent="-201168">
              <a:lnSpc>
                <a:spcPct val="100000"/>
              </a:lnSpc>
              <a:buClr>
                <a:srgbClr val="F0554E"/>
              </a:buClr>
              <a:buFont typeface="Arial"/>
              <a:buChar char="•"/>
            </a:pPr>
            <a:r>
              <a:rPr sz="1350" b="0" i="0">
                <a:solidFill>
                  <a:srgbClr val="18232F"/>
                </a:solidFill>
                <a:latin typeface="Segoe UI"/>
              </a:rPr>
              <a:t>Profit share kisi insaan ko dijiye</a:t>
            </a:r>
          </a:p>
        </p:txBody>
      </p:sp>
      <p:sp>
        <p:nvSpPr>
          <p:cNvPr id="18" name="Rounded Rectangle 17"/>
          <p:cNvSpPr/>
          <p:nvPr/>
        </p:nvSpPr>
        <p:spPr>
          <a:xfrm>
            <a:off x="9056903" y="1796796"/>
            <a:ext cx="2494712" cy="3278124"/>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9056903" y="1796796"/>
            <a:ext cx="2494712" cy="440436"/>
          </a:xfrm>
          <a:prstGeom prst="roundRect">
            <a:avLst>
              <a:gd name="adj" fmla="val 20761"/>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9056903" y="2017014"/>
            <a:ext cx="2494712" cy="22021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9056903" y="1796796"/>
            <a:ext cx="2494712" cy="3278124"/>
          </a:xfrm>
          <a:prstGeom prst="roundRect">
            <a:avLst>
              <a:gd name="adj" fmla="val 3665"/>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9203207" y="1796796"/>
            <a:ext cx="2202104" cy="440436"/>
          </a:xfrm>
          <a:prstGeom prst="rect">
            <a:avLst/>
          </a:prstGeom>
          <a:noFill/>
        </p:spPr>
        <p:txBody>
          <a:bodyPr wrap="square" lIns="0" rIns="0" tIns="0" bIns="0" anchor="ctr">
            <a:noAutofit/>
          </a:bodyPr>
          <a:lstStyle/>
          <a:p>
            <a:pPr algn="l">
              <a:lnSpc>
                <a:spcPct val="100000"/>
              </a:lnSpc>
            </a:pPr>
            <a:r>
              <a:rPr sz="1450" b="1" i="0">
                <a:solidFill>
                  <a:srgbClr val="166534"/>
                </a:solidFill>
                <a:latin typeface="Segoe UI"/>
              </a:rPr>
              <a:t>Aap kya check karein</a:t>
            </a:r>
          </a:p>
        </p:txBody>
      </p:sp>
      <p:cxnSp>
        <p:nvCxnSpPr>
          <p:cNvPr id="23" name="Connector 22"/>
          <p:cNvCxnSpPr/>
          <p:nvPr/>
        </p:nvCxnSpPr>
        <p:spPr>
          <a:xfrm>
            <a:off x="9056903" y="2237232"/>
            <a:ext cx="2494712"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203207" y="2383536"/>
            <a:ext cx="2202104" cy="2654808"/>
          </a:xfrm>
          <a:prstGeom prst="rect">
            <a:avLst/>
          </a:prstGeom>
          <a:noFill/>
        </p:spPr>
        <p:txBody>
          <a:bodyPr wrap="square" lIns="0" rIns="0" tIns="0" bIns="0" anchor="t">
            <a:noAutofit/>
          </a:bodyPr>
          <a:lstStyle/>
          <a:p>
            <a:pPr algn="l" marL="201168" indent="-201168">
              <a:lnSpc>
                <a:spcPct val="100000"/>
              </a:lnSpc>
              <a:spcAft>
                <a:spcPts val="675"/>
              </a:spcAft>
              <a:buClr>
                <a:srgbClr val="16A34A"/>
              </a:buClr>
              <a:buFont typeface="Arial"/>
              <a:buChar char="•"/>
            </a:pPr>
            <a:r>
              <a:rPr sz="1350" b="0" i="0">
                <a:solidFill>
                  <a:srgbClr val="18232F"/>
                </a:solidFill>
                <a:latin typeface="Segoe UI"/>
              </a:rPr>
              <a:t>Koi asli firm aapse OTP ya TPIN share karne ko nahi kehti</a:t>
            </a:r>
          </a:p>
          <a:p>
            <a:pPr algn="l" marL="201168" indent="-201168">
              <a:lnSpc>
                <a:spcPct val="100000"/>
              </a:lnSpc>
              <a:spcAft>
                <a:spcPts val="675"/>
              </a:spcAft>
              <a:buClr>
                <a:srgbClr val="16A34A"/>
              </a:buClr>
              <a:buFont typeface="Arial"/>
              <a:buChar char="•"/>
            </a:pPr>
            <a:r>
              <a:rPr sz="1350" b="0" i="0">
                <a:solidFill>
                  <a:srgbClr val="18232F"/>
                </a:solidFill>
                <a:latin typeface="Segoe UI"/>
              </a:rPr>
              <a:t>Registered advisers aur analysts returns ka vada nahi kar sakte</a:t>
            </a:r>
          </a:p>
          <a:p>
            <a:pPr algn="l" marL="201168" indent="-201168">
              <a:lnSpc>
                <a:spcPct val="100000"/>
              </a:lnSpc>
              <a:spcAft>
                <a:spcPts val="675"/>
              </a:spcAft>
              <a:buClr>
                <a:srgbClr val="16A34A"/>
              </a:buClr>
              <a:buFont typeface="Arial"/>
              <a:buChar char="•"/>
            </a:pPr>
            <a:r>
              <a:rPr sz="1350" b="0" i="0">
                <a:solidFill>
                  <a:srgbClr val="18232F"/>
                </a:solidFill>
                <a:latin typeface="Segoe UI"/>
              </a:rPr>
              <a:t>Legal algo: broker, Algo-ID, empanelment</a:t>
            </a:r>
          </a:p>
          <a:p>
            <a:pPr algn="l" marL="201168" indent="-201168">
              <a:lnSpc>
                <a:spcPct val="100000"/>
              </a:lnSpc>
              <a:buClr>
                <a:srgbClr val="16A34A"/>
              </a:buClr>
              <a:buFont typeface="Arial"/>
              <a:buChar char="•"/>
            </a:pPr>
            <a:r>
              <a:rPr sz="1350" b="0" i="0">
                <a:solidFill>
                  <a:srgbClr val="18232F"/>
                </a:solidFill>
                <a:latin typeface="Segoe UI"/>
              </a:rPr>
              <a:t>Fees sirf registered naam wale account mein jaati hai</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7" name="TextBox 26"/>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Login, OTP aur TPIN kabhi aapke paas se bahar nahi jaate. Jise 'madad' ke liye inki zaroorat ho, wahi trap hai.</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Aapka challenge result ek process score hai</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Day 12 se aapka paper account upar gaya ho ya neeche, challenge us number ko jaan-boojh kar ignore karta hai.</a:t>
            </a:r>
          </a:p>
          <a:p>
            <a:pPr algn="l" marL="274320" indent="-274320">
              <a:lnSpc>
                <a:spcPct val="100000"/>
              </a:lnSpc>
              <a:spcAft>
                <a:spcPts val="800"/>
              </a:spcAft>
              <a:buClr>
                <a:srgbClr val="F5A623"/>
              </a:buClr>
              <a:buFont typeface="Arial"/>
              <a:buChar char="•"/>
            </a:pPr>
            <a:r>
              <a:rPr sz="1600" b="0" i="0">
                <a:solidFill>
                  <a:srgbClr val="18232F"/>
                </a:solidFill>
                <a:latin typeface="Segoe UI"/>
              </a:rPr>
              <a:t>Lagbhag das dinon mein aapne shayad 5 se 20 paper trades log kiye hain, jo kisi rule ko judge karne ke liye zaroori 30 se bhi kam hain.</a:t>
            </a:r>
          </a:p>
          <a:p>
            <a:pPr algn="l" marL="274320" indent="-274320">
              <a:lnSpc>
                <a:spcPct val="100000"/>
              </a:lnSpc>
              <a:spcAft>
                <a:spcPts val="800"/>
              </a:spcAft>
              <a:buClr>
                <a:srgbClr val="F5A623"/>
              </a:buClr>
              <a:buFont typeface="Arial"/>
              <a:buChar char="•"/>
            </a:pPr>
            <a:r>
              <a:rPr sz="1600" b="0" i="0">
                <a:solidFill>
                  <a:srgbClr val="18232F"/>
                </a:solidFill>
                <a:latin typeface="Segoe UI"/>
              </a:rPr>
              <a:t>Itne kam trades ka profit ya loss zyadatar luck hi hota hai.</a:t>
            </a:r>
          </a:p>
          <a:p>
            <a:pPr algn="l" marL="274320" indent="-274320">
              <a:lnSpc>
                <a:spcPct val="100000"/>
              </a:lnSpc>
              <a:buClr>
                <a:srgbClr val="F5A623"/>
              </a:buClr>
              <a:buFont typeface="Arial"/>
              <a:buChar char="•"/>
            </a:pPr>
            <a:r>
              <a:rPr sz="1600" b="0" i="0">
                <a:solidFill>
                  <a:srgbClr val="18232F"/>
                </a:solidFill>
                <a:latin typeface="Segoe UI"/>
              </a:rPr>
              <a:t>Aapka challenge score, 1,000 points mein se, sirf un cheezon se banta hai jo aapke haath mein hain.</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 ki sheet Day 12 se, wahi jo usne Day 20 par joda tha: 20 paper trades, jinmein se 12 mein rule toota, aur 3 baar woh sahi wajah se bahar raha (do din koi setup nahi tha, aur ek setup usne chhoda kyunki woh uski maximum entry se upar gap karke khula). … Agar woh toote trades luck se jeet jaate, toh woh galat sabak seekhta: rule todkar mili jeet ko inaam dena sabse khatarnaak aadat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Priya ka adherence score</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Aman ka adherence 48% tha, aur uske 12 rule todne wale trades ne 7.7R gawaa diye. Adherence hi woh number hai jo roz aapke haath mein hai.</a:t>
            </a:r>
          </a:p>
        </p:txBody>
      </p:sp>
      <p:sp>
        <p:nvSpPr>
          <p:cNvPr id="11" name="TextBox 10"/>
          <p:cNvSpPr txBox="1"/>
          <p:nvPr/>
        </p:nvSpPr>
        <p:spPr>
          <a:xfrm>
            <a:off x="6397600" y="1899666"/>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1899666"/>
            <a:ext cx="4181077"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Har rule follow karne wale trades</a:t>
            </a:r>
          </a:p>
        </p:txBody>
      </p:sp>
      <p:sp>
        <p:nvSpPr>
          <p:cNvPr id="13" name="TextBox 12"/>
          <p:cNvSpPr txBox="1"/>
          <p:nvPr/>
        </p:nvSpPr>
        <p:spPr>
          <a:xfrm>
            <a:off x="10944437" y="1899666"/>
            <a:ext cx="534026"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4</a:t>
            </a:r>
          </a:p>
        </p:txBody>
      </p:sp>
      <p:cxnSp>
        <p:nvCxnSpPr>
          <p:cNvPr id="14" name="Connector 13"/>
          <p:cNvCxnSpPr/>
          <p:nvPr/>
        </p:nvCxnSpPr>
        <p:spPr>
          <a:xfrm>
            <a:off x="6397600" y="2503170"/>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503170"/>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16" name="TextBox 15"/>
          <p:cNvSpPr txBox="1"/>
          <p:nvPr/>
        </p:nvSpPr>
        <p:spPr>
          <a:xfrm>
            <a:off x="6726784" y="2503170"/>
            <a:ext cx="4181077"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Kitni baar sahi wajah se bahar rahi</a:t>
            </a:r>
          </a:p>
        </p:txBody>
      </p:sp>
      <p:sp>
        <p:nvSpPr>
          <p:cNvPr id="17" name="TextBox 16"/>
          <p:cNvSpPr txBox="1"/>
          <p:nvPr/>
        </p:nvSpPr>
        <p:spPr>
          <a:xfrm>
            <a:off x="10944437" y="2503170"/>
            <a:ext cx="534026"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8</a:t>
            </a:r>
          </a:p>
        </p:txBody>
      </p:sp>
      <p:cxnSp>
        <p:nvCxnSpPr>
          <p:cNvPr id="18" name="Connector 17"/>
          <p:cNvCxnSpPr/>
          <p:nvPr/>
        </p:nvCxnSpPr>
        <p:spPr>
          <a:xfrm>
            <a:off x="6397600" y="310667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3106674"/>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3106674"/>
            <a:ext cx="4181077"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Rule ke hisaab se decisions</a:t>
            </a:r>
          </a:p>
        </p:txBody>
      </p:sp>
      <p:sp>
        <p:nvSpPr>
          <p:cNvPr id="21" name="TextBox 20"/>
          <p:cNvSpPr txBox="1"/>
          <p:nvPr/>
        </p:nvSpPr>
        <p:spPr>
          <a:xfrm>
            <a:off x="10944437" y="3106674"/>
            <a:ext cx="534026"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12</a:t>
            </a:r>
          </a:p>
        </p:txBody>
      </p:sp>
      <p:cxnSp>
        <p:nvCxnSpPr>
          <p:cNvPr id="22" name="Connector 21"/>
          <p:cNvCxnSpPr/>
          <p:nvPr/>
        </p:nvCxnSpPr>
        <p:spPr>
          <a:xfrm>
            <a:off x="6397600" y="3710178"/>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710178"/>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4" name="TextBox 23"/>
          <p:cNvSpPr txBox="1"/>
          <p:nvPr/>
        </p:nvSpPr>
        <p:spPr>
          <a:xfrm>
            <a:off x="6726784" y="3710178"/>
            <a:ext cx="4181077"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Saare decisions: 7 trades + 8 baar bahar</a:t>
            </a:r>
          </a:p>
        </p:txBody>
      </p:sp>
      <p:sp>
        <p:nvSpPr>
          <p:cNvPr id="25" name="TextBox 24"/>
          <p:cNvSpPr txBox="1"/>
          <p:nvPr/>
        </p:nvSpPr>
        <p:spPr>
          <a:xfrm>
            <a:off x="10944437" y="3710178"/>
            <a:ext cx="534026"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15</a:t>
            </a:r>
          </a:p>
        </p:txBody>
      </p:sp>
      <p:sp>
        <p:nvSpPr>
          <p:cNvPr id="26" name="Rounded Rectangle 25"/>
          <p:cNvSpPr/>
          <p:nvPr/>
        </p:nvSpPr>
        <p:spPr>
          <a:xfrm>
            <a:off x="6397600" y="4368546"/>
            <a:ext cx="5154016" cy="603504"/>
          </a:xfrm>
          <a:prstGeom prst="roundRect">
            <a:avLst>
              <a:gd name="adj" fmla="val 12121"/>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6397600" y="4368546"/>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8" name="TextBox 27"/>
          <p:cNvSpPr txBox="1"/>
          <p:nvPr/>
        </p:nvSpPr>
        <p:spPr>
          <a:xfrm>
            <a:off x="6726784" y="4368546"/>
            <a:ext cx="4181077" cy="603504"/>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Adherence score</a:t>
            </a:r>
          </a:p>
        </p:txBody>
      </p:sp>
      <p:sp>
        <p:nvSpPr>
          <p:cNvPr id="29" name="TextBox 28"/>
          <p:cNvSpPr txBox="1"/>
          <p:nvPr/>
        </p:nvSpPr>
        <p:spPr>
          <a:xfrm>
            <a:off x="10944437" y="4368546"/>
            <a:ext cx="534026" cy="603504"/>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80%</a:t>
            </a:r>
          </a:p>
        </p:txBody>
      </p:sp>
      <p:sp>
        <p:nvSpPr>
          <p:cNvPr id="30" name="Rounded Rectangle 29"/>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Rounded Rectangle 30"/>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2" name="TextBox 31"/>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Kuch paper trades ka profit zyadatar luck hota hai. Adherence woh number hai jo aap har din sudhaar sakte hain.</a:t>
            </a:r>
          </a:p>
        </p:txBody>
      </p:sp>
      <p:pic>
        <p:nvPicPr>
          <p:cNvPr id="33" name="Picture 32" descr="logo.png"/>
          <p:cNvPicPr>
            <a:picLocks noChangeAspect="1"/>
          </p:cNvPicPr>
          <p:nvPr/>
        </p:nvPicPr>
        <p:blipFill>
          <a:blip r:embed="rId2"/>
          <a:stretch>
            <a:fillRect/>
          </a:stretch>
        </p:blipFill>
        <p:spPr>
          <a:xfrm>
            <a:off x="457200" y="6437376"/>
            <a:ext cx="237744" cy="237744"/>
          </a:xfrm>
          <a:prstGeom prst="rect">
            <a:avLst/>
          </a:prstGeom>
        </p:spPr>
      </p:pic>
      <p:sp>
        <p:nvSpPr>
          <p:cNvPr id="34"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5" name="TextBox 34"/>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Journal se paanch habits tak</a:t>
            </a:r>
          </a:p>
        </p:txBody>
      </p:sp>
      <p:sp>
        <p:nvSpPr>
          <p:cNvPr id="4" name="TextBox 3"/>
          <p:cNvSpPr txBox="1"/>
          <p:nvPr/>
        </p:nvSpPr>
        <p:spPr>
          <a:xfrm>
            <a:off x="457200" y="1335024"/>
            <a:ext cx="5519776" cy="219964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Aapke journal mein ab Day 12 se har paper decision hai, uske emotion tag aur toote rule ke saath.</a:t>
            </a:r>
          </a:p>
          <a:p>
            <a:pPr algn="l" marL="274320" indent="-274320">
              <a:lnSpc>
                <a:spcPct val="100000"/>
              </a:lnSpc>
              <a:spcAft>
                <a:spcPts val="800"/>
              </a:spcAft>
              <a:buClr>
                <a:srgbClr val="F5A623"/>
              </a:buClr>
              <a:buFont typeface="Arial"/>
              <a:buChar char="•"/>
            </a:pPr>
            <a:r>
              <a:rPr sz="1600" b="0" i="0">
                <a:solidFill>
                  <a:srgbClr val="18232F"/>
                </a:solidFill>
                <a:latin typeface="Segoe UI"/>
              </a:rPr>
              <a:t>Ise coach ki tarah padhiye, judge ki tarah nahi: ginti kijiye ki kaunsa rule kitni baar toota, yeh nahi ki kitna paisa hila.</a:t>
            </a:r>
          </a:p>
          <a:p>
            <a:pPr algn="l" marL="274320" indent="-274320">
              <a:lnSpc>
                <a:spcPct val="100000"/>
              </a:lnSpc>
              <a:buClr>
                <a:srgbClr val="F5A623"/>
              </a:buClr>
              <a:buFont typeface="Arial"/>
              <a:buChar char="•"/>
            </a:pPr>
            <a:r>
              <a:rPr sz="1600" b="0" i="0">
                <a:solidFill>
                  <a:srgbClr val="18232F"/>
                </a:solidFill>
                <a:latin typeface="Segoe UI"/>
              </a:rPr>
              <a:t>Apni top 3 galtiyan unki ginti ke saath nikaaliye, top 3 strengths, aur woh ek emotion jo sabse zyada baar toote rule ke saath dikhta hai.</a:t>
            </a:r>
          </a:p>
        </p:txBody>
      </p:sp>
      <p:sp>
        <p:nvSpPr>
          <p:cNvPr id="5" name="Rounded Rectangle 4"/>
          <p:cNvSpPr/>
          <p:nvPr/>
        </p:nvSpPr>
        <p:spPr>
          <a:xfrm>
            <a:off x="457200" y="3690112"/>
            <a:ext cx="5519776" cy="1924304"/>
          </a:xfrm>
          <a:prstGeom prst="roundRect">
            <a:avLst>
              <a:gd name="adj" fmla="val 5702"/>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8181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074160"/>
            <a:ext cx="5154016" cy="14671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 ki ginti: 20 mein se 12 trades mein rule toota. Paanch bina setup ke the, aur unmein se chaar formula se bade size ke bhi: Kiran Foods ke do shuruaati chase trades aur Thursday ki revenge wali jodi. Chaar entries daily close se signal confirm hone se pehle hui. Stop do baar neeche khiskaya, aur ek baar results rule ignore kiya. Uski strengths: kabhi 3 se zyada open trades nahi, roz journal ki row, aur har row par imaandaar emotion tag. … Uska check-in aaj se 4 hafte baad hai, aur Priya uski study partner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Aman ke 12 toote rules, kism ke hisaab se</a:t>
            </a:r>
          </a:p>
        </p:txBody>
      </p:sp>
      <p:sp>
        <p:nvSpPr>
          <p:cNvPr id="10" name="TextBox 9"/>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Uske 20 mein se 12 paper trades mein rule toota, aur FOMO in 12 mein se 6 ke saath tha. Rupees nahi, toote rules giniye: sabse lamba bar agle mahine ki pehli habit hai.</a:t>
            </a:r>
          </a:p>
        </p:txBody>
      </p:sp>
      <p:sp>
        <p:nvSpPr>
          <p:cNvPr id="11" name="TextBox 10"/>
          <p:cNvSpPr txBox="1"/>
          <p:nvPr/>
        </p:nvSpPr>
        <p:spPr>
          <a:xfrm>
            <a:off x="6397600" y="2039112"/>
            <a:ext cx="1820636"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Setup nahi</a:t>
            </a:r>
          </a:p>
        </p:txBody>
      </p:sp>
      <p:sp>
        <p:nvSpPr>
          <p:cNvPr id="12" name="Rounded Rectangle 11"/>
          <p:cNvSpPr/>
          <p:nvPr/>
        </p:nvSpPr>
        <p:spPr>
          <a:xfrm>
            <a:off x="8327963" y="2212848"/>
            <a:ext cx="2916541"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8327963" y="2212848"/>
            <a:ext cx="2916541" cy="31089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1335944" y="2039112"/>
            <a:ext cx="243103" cy="658368"/>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5</a:t>
            </a:r>
          </a:p>
        </p:txBody>
      </p:sp>
      <p:sp>
        <p:nvSpPr>
          <p:cNvPr id="15" name="TextBox 14"/>
          <p:cNvSpPr txBox="1"/>
          <p:nvPr/>
        </p:nvSpPr>
        <p:spPr>
          <a:xfrm>
            <a:off x="6397600" y="2697480"/>
            <a:ext cx="1820636"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Close se pehle entry</a:t>
            </a:r>
          </a:p>
        </p:txBody>
      </p:sp>
      <p:sp>
        <p:nvSpPr>
          <p:cNvPr id="16" name="Rounded Rectangle 15"/>
          <p:cNvSpPr/>
          <p:nvPr/>
        </p:nvSpPr>
        <p:spPr>
          <a:xfrm>
            <a:off x="8327963" y="2871216"/>
            <a:ext cx="2916541"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8327963" y="2871216"/>
            <a:ext cx="2333233" cy="31089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1335944" y="2697480"/>
            <a:ext cx="243103" cy="658368"/>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4</a:t>
            </a:r>
          </a:p>
        </p:txBody>
      </p:sp>
      <p:sp>
        <p:nvSpPr>
          <p:cNvPr id="19" name="TextBox 18"/>
          <p:cNvSpPr txBox="1"/>
          <p:nvPr/>
        </p:nvSpPr>
        <p:spPr>
          <a:xfrm>
            <a:off x="6397600" y="3355848"/>
            <a:ext cx="1820636"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Stop neeche khiskaya</a:t>
            </a:r>
          </a:p>
        </p:txBody>
      </p:sp>
      <p:sp>
        <p:nvSpPr>
          <p:cNvPr id="20" name="Rounded Rectangle 19"/>
          <p:cNvSpPr/>
          <p:nvPr/>
        </p:nvSpPr>
        <p:spPr>
          <a:xfrm>
            <a:off x="8327963" y="3529584"/>
            <a:ext cx="2916541"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8327963" y="3529584"/>
            <a:ext cx="1166616" cy="310896"/>
          </a:xfrm>
          <a:prstGeom prst="roundRect">
            <a:avLst>
              <a:gd name="adj" fmla="val 50000"/>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1335944" y="3355848"/>
            <a:ext cx="243103" cy="658368"/>
          </a:xfrm>
          <a:prstGeom prst="rect">
            <a:avLst/>
          </a:prstGeom>
          <a:noFill/>
        </p:spPr>
        <p:txBody>
          <a:bodyPr wrap="square" lIns="0" rIns="0" tIns="0" bIns="0" anchor="ctr">
            <a:noAutofit/>
          </a:bodyPr>
          <a:lstStyle/>
          <a:p>
            <a:pPr algn="l">
              <a:lnSpc>
                <a:spcPct val="100000"/>
              </a:lnSpc>
            </a:pPr>
            <a:r>
              <a:rPr sz="1400" b="1" i="0">
                <a:solidFill>
                  <a:srgbClr val="92400E"/>
                </a:solidFill>
                <a:latin typeface="Segoe UI"/>
              </a:rPr>
              <a:t>2</a:t>
            </a:r>
          </a:p>
        </p:txBody>
      </p:sp>
      <p:sp>
        <p:nvSpPr>
          <p:cNvPr id="23" name="TextBox 22"/>
          <p:cNvSpPr txBox="1"/>
          <p:nvPr/>
        </p:nvSpPr>
        <p:spPr>
          <a:xfrm>
            <a:off x="6397600" y="4014216"/>
            <a:ext cx="1820636"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Results rule ignore</a:t>
            </a:r>
          </a:p>
        </p:txBody>
      </p:sp>
      <p:sp>
        <p:nvSpPr>
          <p:cNvPr id="24" name="Rounded Rectangle 23"/>
          <p:cNvSpPr/>
          <p:nvPr/>
        </p:nvSpPr>
        <p:spPr>
          <a:xfrm>
            <a:off x="8327963" y="4187952"/>
            <a:ext cx="2916541"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8327963" y="4187952"/>
            <a:ext cx="583308" cy="310896"/>
          </a:xfrm>
          <a:prstGeom prst="roundRect">
            <a:avLst>
              <a:gd name="adj" fmla="val 50000"/>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11335944" y="4014216"/>
            <a:ext cx="243103" cy="658368"/>
          </a:xfrm>
          <a:prstGeom prst="rect">
            <a:avLst/>
          </a:prstGeom>
          <a:noFill/>
        </p:spPr>
        <p:txBody>
          <a:bodyPr wrap="square" lIns="0" rIns="0" tIns="0" bIns="0" anchor="ctr">
            <a:noAutofit/>
          </a:bodyPr>
          <a:lstStyle/>
          <a:p>
            <a:pPr algn="l">
              <a:lnSpc>
                <a:spcPct val="100000"/>
              </a:lnSpc>
            </a:pPr>
            <a:r>
              <a:rPr sz="1400" b="1" i="0">
                <a:solidFill>
                  <a:srgbClr val="92400E"/>
                </a:solidFill>
                <a:latin typeface="Segoe UI"/>
              </a:rPr>
              <a:t>1</a:t>
            </a:r>
          </a:p>
        </p:txBody>
      </p:sp>
      <p:sp>
        <p:nvSpPr>
          <p:cNvPr id="27" name="Rounded Rectangle 26"/>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ounded Rectangle 27"/>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9" name="TextBox 28"/>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Habits likhiye, paise ke goal nahi. Jo habit aap roz tick kar sakein, woh us target se behtar hai jo aapke control mein hi nahi.</a:t>
            </a:r>
          </a:p>
        </p:txBody>
      </p:sp>
      <p:pic>
        <p:nvPicPr>
          <p:cNvPr id="30" name="Picture 29" descr="logo.png"/>
          <p:cNvPicPr>
            <a:picLocks noChangeAspect="1"/>
          </p:cNvPicPr>
          <p:nvPr/>
        </p:nvPicPr>
        <p:blipFill>
          <a:blip r:embed="rId2"/>
          <a:stretch>
            <a:fillRect/>
          </a:stretch>
        </p:blipFill>
        <p:spPr>
          <a:xfrm>
            <a:off x="457200" y="6437376"/>
            <a:ext cx="237744" cy="237744"/>
          </a:xfrm>
          <a:prstGeom prst="rect">
            <a:avLst/>
          </a:prstGeom>
        </p:spPr>
      </p:pic>
      <p:sp>
        <p:nvSpPr>
          <p:cNvPr id="3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2" name="TextBox 3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Certificate: chhe checks, profit ka koi test nahi</a:t>
            </a:r>
          </a:p>
        </p:txBody>
      </p:sp>
      <p:sp>
        <p:nvSpPr>
          <p:cNvPr id="4" name="TextBox 3"/>
          <p:cNvSpPr txBox="1"/>
          <p:nvPr/>
        </p:nvSpPr>
        <p:spPr>
          <a:xfrm>
            <a:off x="457200" y="1335024"/>
            <a:ext cx="5519776" cy="1931670"/>
          </a:xfrm>
          <a:prstGeom prst="rect">
            <a:avLst/>
          </a:prstGeom>
          <a:noFill/>
        </p:spPr>
        <p:txBody>
          <a:bodyPr wrap="square" lIns="0" rIns="0" tIns="0" bIns="0" anchor="t">
            <a:noAutofit/>
          </a:bodyPr>
          <a:lstStyle/>
          <a:p>
            <a:pPr algn="l" marL="274320" indent="-274320">
              <a:lnSpc>
                <a:spcPct val="100000"/>
              </a:lnSpc>
              <a:spcAft>
                <a:spcPts val="750"/>
              </a:spcAft>
              <a:buClr>
                <a:srgbClr val="F5A623"/>
              </a:buClr>
              <a:buFont typeface="Arial"/>
              <a:buChar char="•"/>
            </a:pPr>
            <a:r>
              <a:rPr sz="1500" b="0" i="0">
                <a:solidFill>
                  <a:srgbClr val="18232F"/>
                </a:solidFill>
                <a:latin typeface="Segoe UI"/>
              </a:rPr>
              <a:t>Chhe checks poore hote hi certificate apne aap issue ho jaata hai, aur certificate page par har check ke aage tick dikhta hai.</a:t>
            </a:r>
          </a:p>
          <a:p>
            <a:pPr algn="l" marL="274320" indent="-274320">
              <a:lnSpc>
                <a:spcPct val="100000"/>
              </a:lnSpc>
              <a:spcAft>
                <a:spcPts val="750"/>
              </a:spcAft>
              <a:buClr>
                <a:srgbClr val="F5A623"/>
              </a:buClr>
              <a:buFont typeface="Arial"/>
              <a:buChar char="•"/>
            </a:pPr>
            <a:r>
              <a:rPr sz="1500" b="0" i="0">
                <a:solidFill>
                  <a:srgbClr val="18232F"/>
                </a:solidFill>
                <a:latin typeface="Segoe UI"/>
              </a:rPr>
              <a:t>Ek: kam se kam 90% sessions poore, yaani 21 mein se 19.</a:t>
            </a:r>
          </a:p>
          <a:p>
            <a:pPr algn="l" marL="274320" indent="-274320">
              <a:lnSpc>
                <a:spcPct val="100000"/>
              </a:lnSpc>
              <a:spcAft>
                <a:spcPts val="750"/>
              </a:spcAft>
              <a:buClr>
                <a:srgbClr val="F5A623"/>
              </a:buClr>
              <a:buFont typeface="Arial"/>
              <a:buChar char="•"/>
            </a:pPr>
            <a:r>
              <a:rPr sz="1500" b="0" i="0">
                <a:solidFill>
                  <a:srgbClr val="18232F"/>
                </a:solidFill>
                <a:latin typeface="Segoe UI"/>
              </a:rPr>
              <a:t>Session tab poora ginta hai jab uska quiz submit ho jaaye aur journal entry likh di jaaye.</a:t>
            </a:r>
          </a:p>
          <a:p>
            <a:pPr algn="l" marL="274320" indent="-274320">
              <a:lnSpc>
                <a:spcPct val="100000"/>
              </a:lnSpc>
              <a:buClr>
                <a:srgbClr val="F5A623"/>
              </a:buClr>
              <a:buFont typeface="Arial"/>
              <a:buChar char="•"/>
            </a:pPr>
            <a:r>
              <a:rPr sz="1500" b="0" i="0">
                <a:solidFill>
                  <a:srgbClr val="18232F"/>
                </a:solidFill>
                <a:latin typeface="Segoe UI"/>
              </a:rPr>
              <a:t>Do: final exam 60% ya usse zyada (30 mein se 18) se pass.</a:t>
            </a:r>
          </a:p>
        </p:txBody>
      </p:sp>
      <p:sp>
        <p:nvSpPr>
          <p:cNvPr id="5" name="Rounded Rectangle 4"/>
          <p:cNvSpPr/>
          <p:nvPr/>
        </p:nvSpPr>
        <p:spPr>
          <a:xfrm>
            <a:off x="6214720" y="1335024"/>
            <a:ext cx="5519776" cy="2377440"/>
          </a:xfrm>
          <a:prstGeom prst="roundRect">
            <a:avLst>
              <a:gd name="adj" fmla="val 461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1920240"/>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Portfolio ki ek poori row, sirf virtual paise mein, saat hisson ki hoti hai. Yeh rahi Kiran Foods Ltd par Priya ki row, wahi stock jo usne aaj shaam skip kiya. Full Why 1, business: usne Day 15 ke paanchon health checks paas kiye. Full Why 2, doosra reason jo pehle par tika na ho: uske Day 16 flowchart ke har chart box (3 se 5) ne haan kaha, NIFTY 50 ko 3 mahine mein peeche chhodna bhi. Top risk: results 3 trading days mein aane hain, aur results ka gap 1R ko 2R bana sakta hai. Uska jawab: results aane tak entry nahi (uska Day 11 card). … Yeh SEBI ya NISM certification nahi hai, advice dene ka licence nahi hai, aur is baat ka signal bhi nahi ki aap real paise ke liye ready hain.</a:t>
            </a:r>
          </a:p>
        </p:txBody>
      </p:sp>
      <p:sp>
        <p:nvSpPr>
          <p:cNvPr id="8" name="Rounded Rectangle 7"/>
          <p:cNvSpPr/>
          <p:nvPr/>
        </p:nvSpPr>
        <p:spPr>
          <a:xfrm>
            <a:off x="457200" y="3877056"/>
            <a:ext cx="11277295" cy="1737360"/>
          </a:xfrm>
          <a:prstGeom prst="roundRect">
            <a:avLst>
              <a:gd name="adj" fmla="val 631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40233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Certificate ke chhe checks</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Certificate page par yahi chhe checks dikhte hain. Inmein se koi bhi profit nahi maangta.</a:t>
            </a:r>
          </a:p>
        </p:txBody>
      </p:sp>
      <p:cxnSp>
        <p:nvCxnSpPr>
          <p:cNvPr id="11" name="Connector 10"/>
          <p:cNvCxnSpPr/>
          <p:nvPr/>
        </p:nvCxnSpPr>
        <p:spPr>
          <a:xfrm>
            <a:off x="1549375" y="4525518"/>
            <a:ext cx="9092946" cy="0"/>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223466" y="4360926"/>
            <a:ext cx="651817"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19/21</a:t>
            </a:r>
          </a:p>
        </p:txBody>
      </p:sp>
      <p:sp>
        <p:nvSpPr>
          <p:cNvPr id="13" name="TextBox 12"/>
          <p:cNvSpPr txBox="1"/>
          <p:nvPr/>
        </p:nvSpPr>
        <p:spPr>
          <a:xfrm>
            <a:off x="713232" y="4818126"/>
            <a:ext cx="1672285" cy="44043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Sessions poore</a:t>
            </a:r>
          </a:p>
          <a:p>
            <a:pPr algn="ctr">
              <a:lnSpc>
                <a:spcPct val="100000"/>
              </a:lnSpc>
            </a:pPr>
            <a:r>
              <a:rPr sz="1100" b="0" i="0">
                <a:solidFill>
                  <a:srgbClr val="47596B"/>
                </a:solidFill>
                <a:latin typeface="Segoe UI"/>
              </a:rPr>
              <a:t>Quiz submit, journal likha</a:t>
            </a:r>
          </a:p>
        </p:txBody>
      </p:sp>
      <p:sp>
        <p:nvSpPr>
          <p:cNvPr id="14" name="Rounded Rectangle 13"/>
          <p:cNvSpPr/>
          <p:nvPr/>
        </p:nvSpPr>
        <p:spPr>
          <a:xfrm>
            <a:off x="3042056" y="4360926"/>
            <a:ext cx="651817"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60%+</a:t>
            </a:r>
          </a:p>
        </p:txBody>
      </p:sp>
      <p:sp>
        <p:nvSpPr>
          <p:cNvPr id="15" name="TextBox 14"/>
          <p:cNvSpPr txBox="1"/>
          <p:nvPr/>
        </p:nvSpPr>
        <p:spPr>
          <a:xfrm>
            <a:off x="2531821" y="4818126"/>
            <a:ext cx="1672285" cy="44043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Final exam pass</a:t>
            </a:r>
          </a:p>
          <a:p>
            <a:pPr algn="ctr">
              <a:lnSpc>
                <a:spcPct val="100000"/>
              </a:lnSpc>
            </a:pPr>
            <a:r>
              <a:rPr sz="1100" b="0" i="0">
                <a:solidFill>
                  <a:srgbClr val="47596B"/>
                </a:solidFill>
                <a:latin typeface="Segoe UI"/>
              </a:rPr>
              <a:t>30 sawaal, 60 minute</a:t>
            </a:r>
          </a:p>
        </p:txBody>
      </p:sp>
      <p:sp>
        <p:nvSpPr>
          <p:cNvPr id="16" name="Rounded Rectangle 15"/>
          <p:cNvSpPr/>
          <p:nvPr/>
        </p:nvSpPr>
        <p:spPr>
          <a:xfrm>
            <a:off x="4860645" y="4360926"/>
            <a:ext cx="651817"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3/3</a:t>
            </a:r>
          </a:p>
        </p:txBody>
      </p:sp>
      <p:sp>
        <p:nvSpPr>
          <p:cNvPr id="17" name="TextBox 16"/>
          <p:cNvSpPr txBox="1"/>
          <p:nvPr/>
        </p:nvSpPr>
        <p:spPr>
          <a:xfrm>
            <a:off x="4350410" y="4818126"/>
            <a:ext cx="1672285" cy="44043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Quiz Games diye</a:t>
            </a:r>
          </a:p>
          <a:p>
            <a:pPr algn="ctr">
              <a:lnSpc>
                <a:spcPct val="100000"/>
              </a:lnSpc>
            </a:pPr>
            <a:r>
              <a:rPr sz="1100" b="0" i="0">
                <a:solidFill>
                  <a:srgbClr val="47596B"/>
                </a:solidFill>
                <a:latin typeface="Segoe UI"/>
              </a:rPr>
              <a:t>Har hafte ka ek</a:t>
            </a:r>
          </a:p>
        </p:txBody>
      </p:sp>
      <p:sp>
        <p:nvSpPr>
          <p:cNvPr id="18" name="Rounded Rectangle 17"/>
          <p:cNvSpPr/>
          <p:nvPr/>
        </p:nvSpPr>
        <p:spPr>
          <a:xfrm>
            <a:off x="6679234" y="4360926"/>
            <a:ext cx="651817"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5 rows</a:t>
            </a:r>
          </a:p>
        </p:txBody>
      </p:sp>
      <p:sp>
        <p:nvSpPr>
          <p:cNvPr id="19" name="TextBox 18"/>
          <p:cNvSpPr txBox="1"/>
          <p:nvPr/>
        </p:nvSpPr>
        <p:spPr>
          <a:xfrm>
            <a:off x="6169000" y="4818126"/>
            <a:ext cx="1672285" cy="44043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Practice ladder</a:t>
            </a:r>
          </a:p>
          <a:p>
            <a:pPr algn="ctr">
              <a:lnSpc>
                <a:spcPct val="100000"/>
              </a:lnSpc>
            </a:pPr>
            <a:r>
              <a:rPr sz="1100" b="0" i="0">
                <a:solidFill>
                  <a:srgbClr val="47596B"/>
                </a:solidFill>
                <a:latin typeface="Segoe UI"/>
              </a:rPr>
              <a:t>Grade C ya behtar</a:t>
            </a:r>
          </a:p>
        </p:txBody>
      </p:sp>
      <p:sp>
        <p:nvSpPr>
          <p:cNvPr id="20" name="Rounded Rectangle 19"/>
          <p:cNvSpPr/>
          <p:nvPr/>
        </p:nvSpPr>
        <p:spPr>
          <a:xfrm>
            <a:off x="8497823" y="4360926"/>
            <a:ext cx="651817"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2/3</a:t>
            </a:r>
          </a:p>
        </p:txBody>
      </p:sp>
      <p:sp>
        <p:nvSpPr>
          <p:cNvPr id="21" name="TextBox 20"/>
          <p:cNvSpPr txBox="1"/>
          <p:nvPr/>
        </p:nvSpPr>
        <p:spPr>
          <a:xfrm>
            <a:off x="7987589" y="4818126"/>
            <a:ext cx="1672285" cy="44043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Weekly reviews</a:t>
            </a:r>
          </a:p>
          <a:p>
            <a:pPr algn="ctr">
              <a:lnSpc>
                <a:spcPct val="100000"/>
              </a:lnSpc>
            </a:pPr>
            <a:r>
              <a:rPr sz="1100" b="0" i="0">
                <a:solidFill>
                  <a:srgbClr val="47596B"/>
                </a:solidFill>
                <a:latin typeface="Segoe UI"/>
              </a:rPr>
              <a:t>Day 7, 14 ya 21</a:t>
            </a:r>
          </a:p>
        </p:txBody>
      </p:sp>
      <p:sp>
        <p:nvSpPr>
          <p:cNvPr id="22" name="Rounded Rectangle 21"/>
          <p:cNvSpPr/>
          <p:nvPr/>
        </p:nvSpPr>
        <p:spPr>
          <a:xfrm>
            <a:off x="10316412" y="4360926"/>
            <a:ext cx="651817"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OK</a:t>
            </a:r>
          </a:p>
        </p:txBody>
      </p:sp>
      <p:sp>
        <p:nvSpPr>
          <p:cNvPr id="23" name="TextBox 22"/>
          <p:cNvSpPr txBox="1"/>
          <p:nvPr/>
        </p:nvSpPr>
        <p:spPr>
          <a:xfrm>
            <a:off x="9806178" y="4818126"/>
            <a:ext cx="1672285" cy="44043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Account active</a:t>
            </a:r>
          </a:p>
          <a:p>
            <a:pPr algn="ctr">
              <a:lnSpc>
                <a:spcPct val="100000"/>
              </a:lnSpc>
            </a:pPr>
            <a:r>
              <a:rPr sz="1100" b="0" i="0">
                <a:solidFill>
                  <a:srgbClr val="47596B"/>
                </a:solidFill>
                <a:latin typeface="Segoe UI"/>
              </a:rPr>
              <a:t>Suspended nahi</a:t>
            </a:r>
          </a:p>
        </p:txBody>
      </p:sp>
      <p:sp>
        <p:nvSpPr>
          <p:cNvPr id="24" name="Rounded Rectangle 23"/>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6" name="TextBox 25"/>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Certificate dikhata hai ki aapne course poora kiya. Aap trade kaise karte hain, yeh sirf aapka journal dikha sakta hai.</a:t>
            </a:r>
          </a:p>
        </p:txBody>
      </p:sp>
      <p:pic>
        <p:nvPicPr>
          <p:cNvPr id="27" name="Picture 26" descr="logo.png"/>
          <p:cNvPicPr>
            <a:picLocks noChangeAspect="1"/>
          </p:cNvPicPr>
          <p:nvPr/>
        </p:nvPicPr>
        <p:blipFill>
          <a:blip r:embed="rId2"/>
          <a:stretch>
            <a:fillRect/>
          </a:stretch>
        </p:blipFill>
        <p:spPr>
          <a:xfrm>
            <a:off x="457200" y="6437376"/>
            <a:ext cx="237744" cy="237744"/>
          </a:xfrm>
          <a:prstGeom prst="rect">
            <a:avLst/>
          </a:prstGeom>
        </p:spPr>
      </p:pic>
      <p:sp>
        <p:nvSpPr>
          <p:cNvPr id="2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9" name="TextBox 2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Real paise se pehle: 'abhi nahi' list, aur Stage 2</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Stage 1 poora karne ka matlab hai ki aapne basics seekh liye.</a:t>
            </a:r>
          </a:p>
          <a:p>
            <a:pPr algn="l" marL="274320" indent="-274320">
              <a:lnSpc>
                <a:spcPct val="100000"/>
              </a:lnSpc>
              <a:spcAft>
                <a:spcPts val="800"/>
              </a:spcAft>
              <a:buClr>
                <a:srgbClr val="F5A623"/>
              </a:buClr>
              <a:buFont typeface="Arial"/>
              <a:buChar char="•"/>
            </a:pPr>
            <a:r>
              <a:rPr sz="1600" b="0" i="0">
                <a:solidFill>
                  <a:srgbClr val="18232F"/>
                </a:solidFill>
                <a:latin typeface="Segoe UI"/>
              </a:rPr>
              <a:t>Iska matlab yeh nahi ki aap real paisa risk karne ke liye ready hain, aur koi certificate, course ya AI aapko yeh nahi bata sakta.</a:t>
            </a:r>
          </a:p>
          <a:p>
            <a:pPr algn="l" marL="274320" indent="-274320">
              <a:lnSpc>
                <a:spcPct val="100000"/>
              </a:lnSpc>
              <a:spcAft>
                <a:spcPts val="800"/>
              </a:spcAft>
              <a:buClr>
                <a:srgbClr val="F5A623"/>
              </a:buClr>
              <a:buFont typeface="Arial"/>
              <a:buChar char="•"/>
            </a:pPr>
            <a:r>
              <a:rPr sz="1600" b="0" i="0">
                <a:solidFill>
                  <a:srgbClr val="18232F"/>
                </a:solidFill>
                <a:latin typeface="Segoe UI"/>
              </a:rPr>
              <a:t>Is baare mein sochne se pehle bhi kuch shartein poori honi chahiye.</a:t>
            </a:r>
          </a:p>
          <a:p>
            <a:pPr algn="l" marL="274320" indent="-274320">
              <a:lnSpc>
                <a:spcPct val="100000"/>
              </a:lnSpc>
              <a:buClr>
                <a:srgbClr val="F5A623"/>
              </a:buClr>
              <a:buFont typeface="Arial"/>
              <a:buChar char="•"/>
            </a:pPr>
            <a:r>
              <a:rPr sz="1600" b="0" i="0">
                <a:solidFill>
                  <a:srgbClr val="18232F"/>
                </a:solidFill>
                <a:latin typeface="Segoe UI"/>
              </a:rPr>
              <a:t>Daily Routine Card kam se kam chaar aur hafte paper trading par chal chuka ho.</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Maan lijiye Aman yeh list ignore karke, un rules par jinhe woh abhi bhi badal raha hai, Rs 2,00,000 real paisa laga deta hai, aur ek bura mahina 25% le jaata hai: bache Rs 1,50,000. Wapas Rs 2,00,000 tak pahunchne ke liye ab use Rs 50,000 chahiye, jo bache hue paise ka 33% hai, 25% nahi. … Yahi Day 3 ka loss-recovery wala hisaab hai, aur isiliye 'abhi nahi' aksar sabse samajhdaar jawab hota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Loss bharne ke liye kitna gain chahiye</a:t>
            </a:r>
          </a:p>
        </p:txBody>
      </p:sp>
      <p:sp>
        <p:nvSpPr>
          <p:cNvPr id="10" name="TextBox 9"/>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Jitni gehri girawat, utni khadi chadhai. Paper par intezaar kahin sasta padta hai.</a:t>
            </a:r>
          </a:p>
        </p:txBody>
      </p:sp>
      <p:sp>
        <p:nvSpPr>
          <p:cNvPr id="11" name="TextBox 10"/>
          <p:cNvSpPr txBox="1"/>
          <p:nvPr/>
        </p:nvSpPr>
        <p:spPr>
          <a:xfrm>
            <a:off x="6397600" y="2528316"/>
            <a:ext cx="1191441"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-10% ke baad</a:t>
            </a:r>
          </a:p>
        </p:txBody>
      </p:sp>
      <p:sp>
        <p:nvSpPr>
          <p:cNvPr id="12" name="Rounded Rectangle 11"/>
          <p:cNvSpPr/>
          <p:nvPr/>
        </p:nvSpPr>
        <p:spPr>
          <a:xfrm>
            <a:off x="7698768" y="2702052"/>
            <a:ext cx="3044579"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7698768" y="2702052"/>
            <a:ext cx="337948" cy="310896"/>
          </a:xfrm>
          <a:prstGeom prst="roundRect">
            <a:avLst>
              <a:gd name="adj" fmla="val 50000"/>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0834788" y="2528316"/>
            <a:ext cx="744259" cy="658368"/>
          </a:xfrm>
          <a:prstGeom prst="rect">
            <a:avLst/>
          </a:prstGeom>
          <a:noFill/>
        </p:spPr>
        <p:txBody>
          <a:bodyPr wrap="square" lIns="0" rIns="0" tIns="0" bIns="0" anchor="ctr">
            <a:noAutofit/>
          </a:bodyPr>
          <a:lstStyle/>
          <a:p>
            <a:pPr algn="l">
              <a:lnSpc>
                <a:spcPct val="100000"/>
              </a:lnSpc>
            </a:pPr>
            <a:r>
              <a:rPr sz="1400" b="1" i="0">
                <a:solidFill>
                  <a:srgbClr val="92400E"/>
                </a:solidFill>
                <a:latin typeface="Segoe UI"/>
              </a:rPr>
              <a:t>+11%</a:t>
            </a:r>
          </a:p>
        </p:txBody>
      </p:sp>
      <p:sp>
        <p:nvSpPr>
          <p:cNvPr id="15" name="TextBox 14"/>
          <p:cNvSpPr txBox="1"/>
          <p:nvPr/>
        </p:nvSpPr>
        <p:spPr>
          <a:xfrm>
            <a:off x="6397600" y="3186684"/>
            <a:ext cx="1191441"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-25% ke baad</a:t>
            </a:r>
          </a:p>
        </p:txBody>
      </p:sp>
      <p:sp>
        <p:nvSpPr>
          <p:cNvPr id="16" name="Rounded Rectangle 15"/>
          <p:cNvSpPr/>
          <p:nvPr/>
        </p:nvSpPr>
        <p:spPr>
          <a:xfrm>
            <a:off x="7698768" y="3360420"/>
            <a:ext cx="3044579"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7698768" y="3360420"/>
            <a:ext cx="1013845" cy="31089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0834788" y="3186684"/>
            <a:ext cx="744259" cy="658368"/>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+33%</a:t>
            </a:r>
          </a:p>
        </p:txBody>
      </p:sp>
      <p:sp>
        <p:nvSpPr>
          <p:cNvPr id="19" name="TextBox 18"/>
          <p:cNvSpPr txBox="1"/>
          <p:nvPr/>
        </p:nvSpPr>
        <p:spPr>
          <a:xfrm>
            <a:off x="6397600" y="3845052"/>
            <a:ext cx="1191441"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-50% ke baad</a:t>
            </a:r>
          </a:p>
        </p:txBody>
      </p:sp>
      <p:sp>
        <p:nvSpPr>
          <p:cNvPr id="20" name="Rounded Rectangle 19"/>
          <p:cNvSpPr/>
          <p:nvPr/>
        </p:nvSpPr>
        <p:spPr>
          <a:xfrm>
            <a:off x="7698768" y="4018788"/>
            <a:ext cx="3044579"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7698768" y="4018788"/>
            <a:ext cx="3044579" cy="31089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0834788" y="3845052"/>
            <a:ext cx="744259" cy="658368"/>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+100%</a:t>
            </a:r>
          </a:p>
        </p:txBody>
      </p:sp>
      <p:sp>
        <p:nvSpPr>
          <p:cNvPr id="23" name="Rounded Rectangle 22"/>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Rounded Rectangle 23"/>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5" name="TextBox 24"/>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50" b="1" i="0">
                <a:solidFill>
                  <a:srgbClr val="FFFFFF"/>
                </a:solidFill>
                <a:latin typeface="Segoe UI"/>
              </a:rPr>
              <a:t>'Abhi nahi' apne aap mein poora jawab hai. Kisi bhi real rupaye se pehle routine, sample size aur savings.</a:t>
            </a:r>
          </a:p>
        </p:txBody>
      </p:sp>
      <p:pic>
        <p:nvPicPr>
          <p:cNvPr id="26" name="Picture 25" descr="logo.png"/>
          <p:cNvPicPr>
            <a:picLocks noChangeAspect="1"/>
          </p:cNvPicPr>
          <p:nvPr/>
        </p:nvPicPr>
        <p:blipFill>
          <a:blip r:embed="rId2"/>
          <a:stretch>
            <a:fillRect/>
          </a:stretch>
        </p:blipFill>
        <p:spPr>
          <a:xfrm>
            <a:off x="457200" y="6437376"/>
            <a:ext cx="237744" cy="237744"/>
          </a:xfrm>
          <a:prstGeom prst="rect">
            <a:avLst/>
          </a:prstGeom>
        </p:spPr>
      </p:pic>
      <p:sp>
        <p:nvSpPr>
          <p:cNvPr id="27"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8" name="TextBox 27"/>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ke naye shabd</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63040"/>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Adherence score</a:t>
            </a:r>
          </a:p>
        </p:txBody>
      </p:sp>
      <p:sp>
        <p:nvSpPr>
          <p:cNvPr id="6" name="TextBox 5"/>
          <p:cNvSpPr txBox="1"/>
          <p:nvPr/>
        </p:nvSpPr>
        <p:spPr>
          <a:xfrm>
            <a:off x="658368" y="1746504"/>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Likhe rules ke hisaab se hue decisions, saare decisions se divide. Likhe rule ki wajah se chhoda gaya setup, ya bina setup wala din jab aap bahar rahe, bhi sahi decision ginta hai.</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463040"/>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Copy-trading aur account handling</a:t>
            </a:r>
          </a:p>
        </p:txBody>
      </p:sp>
      <p:sp>
        <p:nvSpPr>
          <p:cNvPr id="9" name="TextBox 8"/>
          <p:cNvSpPr txBox="1"/>
          <p:nvPr/>
        </p:nvSpPr>
        <p:spPr>
          <a:xfrm>
            <a:off x="6379312" y="1746504"/>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Aise offers jo kisi aur ke trades aapke account mein copy karein, ya aapke liye trade karein. Kai offers aapka login ya OTP maangte hain, aur trade koi bhi kare, har loss aapka hi rehta hai.</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38628"/>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Practice artefact ladder</a:t>
            </a:r>
          </a:p>
        </p:txBody>
      </p:sp>
      <p:sp>
        <p:nvSpPr>
          <p:cNvPr id="12" name="TextBox 11"/>
          <p:cNvSpPr txBox="1"/>
          <p:nvPr/>
        </p:nvSpPr>
        <p:spPr>
          <a:xfrm>
            <a:off x="658368" y="3022092"/>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Portfolio page par saat hisson wali paanch poori rows (Day 12), har ek ko mentor process par grade karte hain. Paanchon par C ya behtar, certificate ka ek check hai.</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817114"/>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Improvement plan</a:t>
            </a:r>
          </a:p>
        </p:txBody>
      </p:sp>
      <p:sp>
        <p:nvSpPr>
          <p:cNvPr id="15" name="TextBox 14"/>
          <p:cNvSpPr txBox="1"/>
          <p:nvPr/>
        </p:nvSpPr>
        <p:spPr>
          <a:xfrm>
            <a:off x="6379312" y="3100578"/>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Agle chaar hafton ki paanch habits, journal ki ginti se bani, ek check-in date ke saath.</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14216"/>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Certificate of Completion</a:t>
            </a:r>
          </a:p>
        </p:txBody>
      </p:sp>
      <p:sp>
        <p:nvSpPr>
          <p:cNvPr id="18" name="TextBox 17"/>
          <p:cNvSpPr txBox="1"/>
          <p:nvPr/>
        </p:nvSpPr>
        <p:spPr>
          <a:xfrm>
            <a:off x="658368"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Course poora karne ka saboot, verify karne ke liye number aur QR code ke saath. SEBI ya NISM certification nahi, licence nahi, ready hone ka signal bhi nahi.</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92702"/>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Challenge score</a:t>
            </a:r>
          </a:p>
        </p:txBody>
      </p:sp>
      <p:sp>
        <p:nvSpPr>
          <p:cNvPr id="21" name="TextBox 20"/>
          <p:cNvSpPr txBox="1"/>
          <p:nvPr/>
        </p:nvSpPr>
        <p:spPr>
          <a:xfrm>
            <a:off x="6379312" y="4376166"/>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Stage 1 ka 1,000 mein se score: attendance 200, quizzes 200, exams 250, practice kaam 250, discipline 100. Paper profit ke zero points.</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289804"/>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Full Why</a:t>
            </a:r>
          </a:p>
        </p:txBody>
      </p:sp>
      <p:sp>
        <p:nvSpPr>
          <p:cNvPr id="24" name="TextBox 23"/>
          <p:cNvSpPr txBox="1"/>
          <p:nvPr/>
        </p:nvSpPr>
        <p:spPr>
          <a:xfrm>
            <a:off x="658368"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Portfolio row ka ek poora, check kiya ja sakne wala reason. Har row mein aise do chahiye jo ek-doosre par tike na hon, jaise health card ka result aur trend signal. Tip kabhi Full Why nahi hoti.</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289804"/>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Why-stop</a:t>
            </a:r>
          </a:p>
        </p:txBody>
      </p:sp>
      <p:sp>
        <p:nvSpPr>
          <p:cNvPr id="27" name="TextBox 26"/>
          <p:cNvSpPr txBox="1"/>
          <p:nvPr/>
        </p:nvSpPr>
        <p:spPr>
          <a:xfrm>
            <a:off x="6379312"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Woh line jo kehti hai 'idea galat saabit hoga agar...', jaise 'lagataar do quarter sales giri'. Price-stop hit na hua ho, tab bhi yeh idea ko khatam kar deti hai.</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saar, ek page par</a:t>
            </a:r>
          </a:p>
        </p:txBody>
      </p:sp>
      <p:cxnSp>
        <p:nvCxnSpPr>
          <p:cNvPr id="4" name="Connector 3"/>
          <p:cNvCxnSpPr/>
          <p:nvPr/>
        </p:nvCxnSpPr>
        <p:spPr>
          <a:xfrm flipH="1" flipV="1">
            <a:off x="4358488" y="2361438"/>
            <a:ext cx="502920" cy="144246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128588"/>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571053"/>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104263"/>
            <a:ext cx="502920" cy="1699641"/>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0"/>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699641"/>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Finish line hi start line hai</a:t>
            </a:r>
          </a:p>
        </p:txBody>
      </p:sp>
      <p:sp>
        <p:nvSpPr>
          <p:cNvPr id="11" name="Rounded Rectangle 10"/>
          <p:cNvSpPr/>
          <p:nvPr/>
        </p:nvSpPr>
        <p:spPr>
          <a:xfrm>
            <a:off x="640080" y="1593914"/>
            <a:ext cx="3718408" cy="1535049"/>
          </a:xfrm>
          <a:prstGeom prst="roundRect">
            <a:avLst>
              <a:gd name="adj" fmla="val 7148"/>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703642"/>
            <a:ext cx="3425800"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Week 3 ka system</a:t>
            </a:r>
          </a:p>
        </p:txBody>
      </p:sp>
      <p:sp>
        <p:nvSpPr>
          <p:cNvPr id="13" name="TextBox 12"/>
          <p:cNvSpPr txBox="1"/>
          <p:nvPr/>
        </p:nvSpPr>
        <p:spPr>
          <a:xfrm>
            <a:off x="786384" y="2005394"/>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0093D6"/>
              </a:buClr>
              <a:buFont typeface="Arial"/>
              <a:buChar char="•"/>
            </a:pPr>
            <a:r>
              <a:rPr sz="1350" b="0" i="0">
                <a:solidFill>
                  <a:srgbClr val="18232F"/>
                </a:solidFill>
                <a:latin typeface="Segoe UI"/>
              </a:rPr>
              <a:t>Health-check aur ex-dates</a:t>
            </a:r>
          </a:p>
          <a:p>
            <a:pPr algn="l" marL="182880" indent="-182880">
              <a:lnSpc>
                <a:spcPct val="100000"/>
              </a:lnSpc>
              <a:spcAft>
                <a:spcPts val="405"/>
              </a:spcAft>
              <a:buClr>
                <a:srgbClr val="0093D6"/>
              </a:buClr>
              <a:buFont typeface="Arial"/>
              <a:buChar char="•"/>
            </a:pPr>
            <a:r>
              <a:rPr sz="1350" b="0" i="0">
                <a:solidFill>
                  <a:srgbClr val="18232F"/>
                </a:solidFill>
                <a:latin typeface="Segoe UI"/>
              </a:rPr>
              <a:t>Flowchart; alert sirf 'dekho'</a:t>
            </a:r>
          </a:p>
          <a:p>
            <a:pPr algn="l" marL="182880" indent="-182880">
              <a:lnSpc>
                <a:spcPct val="100000"/>
              </a:lnSpc>
              <a:spcAft>
                <a:spcPts val="405"/>
              </a:spcAft>
              <a:buClr>
                <a:srgbClr val="0093D6"/>
              </a:buClr>
              <a:buFont typeface="Arial"/>
              <a:buChar char="•"/>
            </a:pPr>
            <a:r>
              <a:rPr sz="1350" b="0" i="0">
                <a:solidFill>
                  <a:srgbClr val="18232F"/>
                </a:solidFill>
                <a:latin typeface="Segoe UI"/>
              </a:rPr>
              <a:t>Net R mein 30 trades ka backtest</a:t>
            </a:r>
          </a:p>
          <a:p>
            <a:pPr algn="l" marL="182880" indent="-182880">
              <a:lnSpc>
                <a:spcPct val="100000"/>
              </a:lnSpc>
              <a:buClr>
                <a:srgbClr val="0093D6"/>
              </a:buClr>
              <a:buFont typeface="Arial"/>
              <a:buChar char="•"/>
            </a:pPr>
            <a:r>
              <a:rPr sz="1350" b="0" i="0">
                <a:solidFill>
                  <a:srgbClr val="18232F"/>
                </a:solidFill>
                <a:latin typeface="Segoe UI"/>
              </a:rPr>
              <a:t>Calendar, routine card, -2R stop</a:t>
            </a:r>
          </a:p>
        </p:txBody>
      </p:sp>
      <p:sp>
        <p:nvSpPr>
          <p:cNvPr id="14" name="Rounded Rectangle 13"/>
          <p:cNvSpPr/>
          <p:nvPr/>
        </p:nvSpPr>
        <p:spPr>
          <a:xfrm>
            <a:off x="640080" y="3293554"/>
            <a:ext cx="3718408" cy="1277874"/>
          </a:xfrm>
          <a:prstGeom prst="roundRect">
            <a:avLst>
              <a:gd name="adj" fmla="val 8586"/>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403282"/>
            <a:ext cx="3425800" cy="246888"/>
          </a:xfrm>
          <a:prstGeom prst="rect">
            <a:avLst/>
          </a:prstGeom>
          <a:noFill/>
        </p:spPr>
        <p:txBody>
          <a:bodyPr wrap="square" lIns="0" rIns="0" tIns="0" bIns="0" anchor="t">
            <a:noAutofit/>
          </a:bodyPr>
          <a:lstStyle/>
          <a:p>
            <a:pPr algn="l">
              <a:lnSpc>
                <a:spcPct val="100000"/>
              </a:lnSpc>
            </a:pPr>
            <a:r>
              <a:rPr sz="1500" b="1" i="0">
                <a:solidFill>
                  <a:srgbClr val="991B1B"/>
                </a:solidFill>
                <a:latin typeface="Segoe UI"/>
              </a:rPr>
              <a:t>Shortcut Trap #3</a:t>
            </a:r>
          </a:p>
        </p:txBody>
      </p:sp>
      <p:sp>
        <p:nvSpPr>
          <p:cNvPr id="16" name="TextBox 15"/>
          <p:cNvSpPr txBox="1"/>
          <p:nvPr/>
        </p:nvSpPr>
        <p:spPr>
          <a:xfrm>
            <a:off x="786384" y="3705034"/>
            <a:ext cx="3425800" cy="866394"/>
          </a:xfrm>
          <a:prstGeom prst="rect">
            <a:avLst/>
          </a:prstGeom>
          <a:noFill/>
        </p:spPr>
        <p:txBody>
          <a:bodyPr wrap="square" lIns="0" rIns="0" tIns="0" bIns="0" anchor="t">
            <a:noAutofit/>
          </a:bodyPr>
          <a:lstStyle/>
          <a:p>
            <a:pPr algn="l" marL="182880" indent="-182880">
              <a:lnSpc>
                <a:spcPct val="100000"/>
              </a:lnSpc>
              <a:spcAft>
                <a:spcPts val="405"/>
              </a:spcAft>
              <a:buClr>
                <a:srgbClr val="F0554E"/>
              </a:buClr>
              <a:buFont typeface="Arial"/>
              <a:buChar char="•"/>
            </a:pPr>
            <a:r>
              <a:rPr sz="1350" b="0" i="0">
                <a:solidFill>
                  <a:srgbClr val="18232F"/>
                </a:solidFill>
                <a:latin typeface="Segoe UI"/>
              </a:rPr>
              <a:t>Login, OTP, TPIN kabhi share nahi</a:t>
            </a:r>
          </a:p>
          <a:p>
            <a:pPr algn="l" marL="182880" indent="-182880">
              <a:lnSpc>
                <a:spcPct val="100000"/>
              </a:lnSpc>
              <a:spcAft>
                <a:spcPts val="405"/>
              </a:spcAft>
              <a:buClr>
                <a:srgbClr val="F0554E"/>
              </a:buClr>
              <a:buFont typeface="Arial"/>
              <a:buChar char="•"/>
            </a:pPr>
            <a:r>
              <a:rPr sz="1350" b="0" i="0">
                <a:solidFill>
                  <a:srgbClr val="18232F"/>
                </a:solidFill>
                <a:latin typeface="Segoe UI"/>
              </a:rPr>
              <a:t>Legal algo: broker aur Algo-ID</a:t>
            </a:r>
          </a:p>
          <a:p>
            <a:pPr algn="l" marL="182880" indent="-182880">
              <a:lnSpc>
                <a:spcPct val="100000"/>
              </a:lnSpc>
              <a:buClr>
                <a:srgbClr val="F0554E"/>
              </a:buClr>
              <a:buFont typeface="Arial"/>
              <a:buChar char="•"/>
            </a:pPr>
            <a:r>
              <a:rPr sz="1350" b="0" i="0">
                <a:solidFill>
                  <a:srgbClr val="18232F"/>
                </a:solidFill>
                <a:latin typeface="Segoe UI"/>
              </a:rPr>
              <a:t>Monthly return ka vada = red flag</a:t>
            </a:r>
          </a:p>
        </p:txBody>
      </p:sp>
      <p:sp>
        <p:nvSpPr>
          <p:cNvPr id="17" name="Rounded Rectangle 16"/>
          <p:cNvSpPr/>
          <p:nvPr/>
        </p:nvSpPr>
        <p:spPr>
          <a:xfrm>
            <a:off x="640080" y="4736020"/>
            <a:ext cx="3718408" cy="1277874"/>
          </a:xfrm>
          <a:prstGeom prst="roundRect">
            <a:avLst>
              <a:gd name="adj" fmla="val 8586"/>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845748"/>
            <a:ext cx="3425800" cy="246888"/>
          </a:xfrm>
          <a:prstGeom prst="rect">
            <a:avLst/>
          </a:prstGeom>
          <a:noFill/>
        </p:spPr>
        <p:txBody>
          <a:bodyPr wrap="square" lIns="0" rIns="0" tIns="0" bIns="0" anchor="t">
            <a:noAutofit/>
          </a:bodyPr>
          <a:lstStyle/>
          <a:p>
            <a:pPr algn="l">
              <a:lnSpc>
                <a:spcPct val="100000"/>
              </a:lnSpc>
            </a:pPr>
            <a:r>
              <a:rPr sz="1500" b="1" i="0">
                <a:solidFill>
                  <a:srgbClr val="166534"/>
                </a:solidFill>
                <a:latin typeface="Segoe UI"/>
              </a:rPr>
              <a:t>Process score</a:t>
            </a:r>
          </a:p>
        </p:txBody>
      </p:sp>
      <p:sp>
        <p:nvSpPr>
          <p:cNvPr id="19" name="TextBox 18"/>
          <p:cNvSpPr txBox="1"/>
          <p:nvPr/>
        </p:nvSpPr>
        <p:spPr>
          <a:xfrm>
            <a:off x="786384" y="5147500"/>
            <a:ext cx="3425800" cy="866394"/>
          </a:xfrm>
          <a:prstGeom prst="rect">
            <a:avLst/>
          </a:prstGeom>
          <a:noFill/>
        </p:spPr>
        <p:txBody>
          <a:bodyPr wrap="square" lIns="0" rIns="0" tIns="0" bIns="0" anchor="t">
            <a:noAutofit/>
          </a:bodyPr>
          <a:lstStyle/>
          <a:p>
            <a:pPr algn="l" marL="182880" indent="-182880">
              <a:lnSpc>
                <a:spcPct val="100000"/>
              </a:lnSpc>
              <a:spcAft>
                <a:spcPts val="405"/>
              </a:spcAft>
              <a:buClr>
                <a:srgbClr val="16A34A"/>
              </a:buClr>
              <a:buFont typeface="Arial"/>
              <a:buChar char="•"/>
            </a:pPr>
            <a:r>
              <a:rPr sz="1350" b="0" i="0">
                <a:solidFill>
                  <a:srgbClr val="18232F"/>
                </a:solidFill>
                <a:latin typeface="Segoe UI"/>
              </a:rPr>
              <a:t>Paper profit = 0 points</a:t>
            </a:r>
          </a:p>
          <a:p>
            <a:pPr algn="l" marL="182880" indent="-182880">
              <a:lnSpc>
                <a:spcPct val="100000"/>
              </a:lnSpc>
              <a:spcAft>
                <a:spcPts val="405"/>
              </a:spcAft>
              <a:buClr>
                <a:srgbClr val="16A34A"/>
              </a:buClr>
              <a:buFont typeface="Arial"/>
              <a:buChar char="•"/>
            </a:pPr>
            <a:r>
              <a:rPr sz="1350" b="0" i="0">
                <a:solidFill>
                  <a:srgbClr val="18232F"/>
                </a:solidFill>
                <a:latin typeface="Segoe UI"/>
              </a:rPr>
              <a:t>No-trade days bhi ginte hain</a:t>
            </a:r>
          </a:p>
          <a:p>
            <a:pPr algn="l" marL="182880" indent="-182880">
              <a:lnSpc>
                <a:spcPct val="100000"/>
              </a:lnSpc>
              <a:buClr>
                <a:srgbClr val="16A34A"/>
              </a:buClr>
              <a:buFont typeface="Arial"/>
              <a:buChar char="•"/>
            </a:pPr>
            <a:r>
              <a:rPr sz="1350" b="0" i="0">
                <a:solidFill>
                  <a:srgbClr val="18232F"/>
                </a:solidFill>
                <a:latin typeface="Segoe UI"/>
              </a:rPr>
              <a:t>5 habits, ek check-in date</a:t>
            </a:r>
          </a:p>
        </p:txBody>
      </p:sp>
      <p:sp>
        <p:nvSpPr>
          <p:cNvPr id="20" name="Rounded Rectangle 19"/>
          <p:cNvSpPr/>
          <p:nvPr/>
        </p:nvSpPr>
        <p:spPr>
          <a:xfrm>
            <a:off x="7833208" y="1336738"/>
            <a:ext cx="3718408" cy="1535049"/>
          </a:xfrm>
          <a:prstGeom prst="roundRect">
            <a:avLst>
              <a:gd name="adj" fmla="val 7148"/>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446467"/>
            <a:ext cx="3425800"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Certificate</a:t>
            </a:r>
          </a:p>
        </p:txBody>
      </p:sp>
      <p:sp>
        <p:nvSpPr>
          <p:cNvPr id="22" name="TextBox 21"/>
          <p:cNvSpPr txBox="1"/>
          <p:nvPr/>
        </p:nvSpPr>
        <p:spPr>
          <a:xfrm>
            <a:off x="7979512" y="1748219"/>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F5A524"/>
              </a:buClr>
              <a:buFont typeface="Arial"/>
              <a:buChar char="•"/>
            </a:pPr>
            <a:r>
              <a:rPr sz="1350" b="0" i="0">
                <a:solidFill>
                  <a:srgbClr val="18232F"/>
                </a:solidFill>
                <a:latin typeface="Segoe UI"/>
              </a:rPr>
              <a:t>Chhe checks, profit ka koi nahi</a:t>
            </a:r>
          </a:p>
          <a:p>
            <a:pPr algn="l" marL="182880" indent="-182880">
              <a:lnSpc>
                <a:spcPct val="100000"/>
              </a:lnSpc>
              <a:spcAft>
                <a:spcPts val="405"/>
              </a:spcAft>
              <a:buClr>
                <a:srgbClr val="F5A524"/>
              </a:buClr>
              <a:buFont typeface="Arial"/>
              <a:buChar char="•"/>
            </a:pPr>
            <a:r>
              <a:rPr sz="1350" b="0" i="0">
                <a:solidFill>
                  <a:srgbClr val="18232F"/>
                </a:solidFill>
                <a:latin typeface="Segoe UI"/>
              </a:rPr>
              <a:t>5 Portfolio rows, C ya behtar</a:t>
            </a:r>
          </a:p>
          <a:p>
            <a:pPr algn="l" marL="182880" indent="-182880">
              <a:lnSpc>
                <a:spcPct val="100000"/>
              </a:lnSpc>
              <a:spcAft>
                <a:spcPts val="405"/>
              </a:spcAft>
              <a:buClr>
                <a:srgbClr val="F5A524"/>
              </a:buClr>
              <a:buFont typeface="Arial"/>
              <a:buChar char="•"/>
            </a:pPr>
            <a:r>
              <a:rPr sz="1350" b="0" i="0">
                <a:solidFill>
                  <a:srgbClr val="18232F"/>
                </a:solidFill>
                <a:latin typeface="Segoe UI"/>
              </a:rPr>
              <a:t>SEBI/NISM nahi, licence nahi</a:t>
            </a:r>
          </a:p>
          <a:p>
            <a:pPr algn="l" marL="182880" indent="-182880">
              <a:lnSpc>
                <a:spcPct val="100000"/>
              </a:lnSpc>
              <a:buClr>
                <a:srgbClr val="F5A524"/>
              </a:buClr>
              <a:buFont typeface="Arial"/>
              <a:buChar char="•"/>
            </a:pPr>
            <a:r>
              <a:rPr sz="1350" b="0" i="0">
                <a:solidFill>
                  <a:srgbClr val="18232F"/>
                </a:solidFill>
                <a:latin typeface="Segoe UI"/>
              </a:rPr>
              <a:t>Kuch chhoota? 7 din ka catch-up</a:t>
            </a:r>
          </a:p>
        </p:txBody>
      </p:sp>
      <p:sp>
        <p:nvSpPr>
          <p:cNvPr id="23" name="Rounded Rectangle 22"/>
          <p:cNvSpPr/>
          <p:nvPr/>
        </p:nvSpPr>
        <p:spPr>
          <a:xfrm>
            <a:off x="7833208" y="3036379"/>
            <a:ext cx="3718408" cy="1535049"/>
          </a:xfrm>
          <a:prstGeom prst="roundRect">
            <a:avLst>
              <a:gd name="adj" fmla="val 7148"/>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146108"/>
            <a:ext cx="3425800" cy="246888"/>
          </a:xfrm>
          <a:prstGeom prst="rect">
            <a:avLst/>
          </a:prstGeom>
          <a:noFill/>
        </p:spPr>
        <p:txBody>
          <a:bodyPr wrap="square" lIns="0" rIns="0" tIns="0" bIns="0" anchor="t">
            <a:noAutofit/>
          </a:bodyPr>
          <a:lstStyle/>
          <a:p>
            <a:pPr algn="l">
              <a:lnSpc>
                <a:spcPct val="100000"/>
              </a:lnSpc>
            </a:pPr>
            <a:r>
              <a:rPr sz="1500" b="1" i="0">
                <a:solidFill>
                  <a:srgbClr val="991B1B"/>
                </a:solidFill>
                <a:latin typeface="Segoe UI"/>
              </a:rPr>
              <a:t>Abhi nahi</a:t>
            </a:r>
          </a:p>
        </p:txBody>
      </p:sp>
      <p:sp>
        <p:nvSpPr>
          <p:cNvPr id="25" name="TextBox 24"/>
          <p:cNvSpPr txBox="1"/>
          <p:nvPr/>
        </p:nvSpPr>
        <p:spPr>
          <a:xfrm>
            <a:off x="7979512" y="3447860"/>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F0554E"/>
              </a:buClr>
              <a:buFont typeface="Arial"/>
              <a:buChar char="•"/>
            </a:pPr>
            <a:r>
              <a:rPr sz="1350" b="0" i="0">
                <a:solidFill>
                  <a:srgbClr val="18232F"/>
                </a:solidFill>
                <a:latin typeface="Segoe UI"/>
              </a:rPr>
              <a:t>4 aur hafte routine</a:t>
            </a:r>
          </a:p>
          <a:p>
            <a:pPr algn="l" marL="182880" indent="-182880">
              <a:lnSpc>
                <a:spcPct val="100000"/>
              </a:lnSpc>
              <a:spcAft>
                <a:spcPts val="405"/>
              </a:spcAft>
              <a:buClr>
                <a:srgbClr val="F0554E"/>
              </a:buClr>
              <a:buFont typeface="Arial"/>
              <a:buChar char="•"/>
            </a:pPr>
            <a:r>
              <a:rPr sz="1350" b="0" i="0">
                <a:solidFill>
                  <a:srgbClr val="18232F"/>
                </a:solidFill>
                <a:latin typeface="Segoe UI"/>
              </a:rPr>
              <a:t>Same rules par lagbhag 100 trades</a:t>
            </a:r>
          </a:p>
          <a:p>
            <a:pPr algn="l" marL="182880" indent="-182880">
              <a:lnSpc>
                <a:spcPct val="100000"/>
              </a:lnSpc>
              <a:spcAft>
                <a:spcPts val="405"/>
              </a:spcAft>
              <a:buClr>
                <a:srgbClr val="F0554E"/>
              </a:buClr>
              <a:buFont typeface="Arial"/>
              <a:buChar char="•"/>
            </a:pPr>
            <a:r>
              <a:rPr sz="1350" b="0" i="0">
                <a:solidFill>
                  <a:srgbClr val="18232F"/>
                </a:solidFill>
                <a:latin typeface="Segoe UI"/>
              </a:rPr>
              <a:t>Emergency fund; udhaar kabhi nahi</a:t>
            </a:r>
          </a:p>
          <a:p>
            <a:pPr algn="l" marL="182880" indent="-182880">
              <a:lnSpc>
                <a:spcPct val="100000"/>
              </a:lnSpc>
              <a:buClr>
                <a:srgbClr val="F0554E"/>
              </a:buClr>
              <a:buFont typeface="Arial"/>
              <a:buChar char="•"/>
            </a:pPr>
            <a:r>
              <a:rPr sz="1350" b="0" i="0">
                <a:solidFill>
                  <a:srgbClr val="18232F"/>
                </a:solidFill>
                <a:latin typeface="Segoe UI"/>
              </a:rPr>
              <a:t>F&amp;O: samjho, khelo mat</a:t>
            </a:r>
          </a:p>
        </p:txBody>
      </p:sp>
      <p:sp>
        <p:nvSpPr>
          <p:cNvPr id="26" name="Rounded Rectangle 25"/>
          <p:cNvSpPr/>
          <p:nvPr/>
        </p:nvSpPr>
        <p:spPr>
          <a:xfrm>
            <a:off x="7833208" y="4736020"/>
            <a:ext cx="3718408" cy="1535049"/>
          </a:xfrm>
          <a:prstGeom prst="roundRect">
            <a:avLst>
              <a:gd name="adj" fmla="val 7148"/>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4845748"/>
            <a:ext cx="3425800"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Agla kadam</a:t>
            </a:r>
          </a:p>
        </p:txBody>
      </p:sp>
      <p:sp>
        <p:nvSpPr>
          <p:cNvPr id="28" name="TextBox 27"/>
          <p:cNvSpPr txBox="1"/>
          <p:nvPr/>
        </p:nvSpPr>
        <p:spPr>
          <a:xfrm>
            <a:off x="7979512" y="5147500"/>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0093D6"/>
              </a:buClr>
              <a:buFont typeface="Arial"/>
              <a:buChar char="•"/>
            </a:pPr>
            <a:r>
              <a:rPr sz="1350" b="0" i="0">
                <a:solidFill>
                  <a:srgbClr val="18232F"/>
                </a:solidFill>
                <a:latin typeface="Segoe UI"/>
              </a:rPr>
              <a:t>Stage 2: CIRCLE W.I.N.N.E.R.S</a:t>
            </a:r>
          </a:p>
          <a:p>
            <a:pPr algn="l" marL="182880" indent="-182880">
              <a:lnSpc>
                <a:spcPct val="100000"/>
              </a:lnSpc>
              <a:spcAft>
                <a:spcPts val="405"/>
              </a:spcAft>
              <a:buClr>
                <a:srgbClr val="0093D6"/>
              </a:buClr>
              <a:buFont typeface="Arial"/>
              <a:buChar char="•"/>
            </a:pPr>
            <a:r>
              <a:rPr sz="1350" b="0" i="0">
                <a:solidFill>
                  <a:srgbClr val="18232F"/>
                </a:solidFill>
                <a:latin typeface="Segoe UI"/>
              </a:rPr>
              <a:t>Chhota recap, phir gehraai</a:t>
            </a:r>
          </a:p>
          <a:p>
            <a:pPr algn="l" marL="182880" indent="-182880">
              <a:lnSpc>
                <a:spcPct val="100000"/>
              </a:lnSpc>
              <a:spcAft>
                <a:spcPts val="405"/>
              </a:spcAft>
              <a:buClr>
                <a:srgbClr val="0093D6"/>
              </a:buClr>
              <a:buFont typeface="Arial"/>
              <a:buChar char="•"/>
            </a:pPr>
            <a:r>
              <a:rPr sz="1350" b="0" i="0">
                <a:solidFill>
                  <a:srgbClr val="18232F"/>
                </a:solidFill>
                <a:latin typeface="Segoe UI"/>
              </a:rPr>
              <a:t>Har chapter mein AI Lab</a:t>
            </a:r>
          </a:p>
          <a:p>
            <a:pPr algn="l" marL="182880" indent="-182880">
              <a:lnSpc>
                <a:spcPct val="100000"/>
              </a:lnSpc>
              <a:buClr>
                <a:srgbClr val="0093D6"/>
              </a:buClr>
              <a:buFont typeface="Arial"/>
              <a:buChar char="•"/>
            </a:pPr>
            <a:r>
              <a:rPr sz="1350" b="0" i="0">
                <a:solidFill>
                  <a:srgbClr val="18232F"/>
                </a:solidFill>
                <a:latin typeface="Segoe UI"/>
              </a:rPr>
              <a:t>Stage 1 ke baad mentor kholte hain</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AAJ KA KAAM</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60 min</a:t>
            </a:r>
          </a:p>
        </p:txBody>
      </p:sp>
      <p:sp>
        <p:nvSpPr>
          <p:cNvPr id="5" name="TextBox 4"/>
          <p:cNvSpPr txBox="1"/>
          <p:nvPr/>
        </p:nvSpPr>
        <p:spPr>
          <a:xfrm>
            <a:off x="457200" y="1335024"/>
            <a:ext cx="11277295" cy="768096"/>
          </a:xfrm>
          <a:prstGeom prst="rect">
            <a:avLst/>
          </a:prstGeom>
          <a:noFill/>
        </p:spPr>
        <p:txBody>
          <a:bodyPr wrap="square" lIns="0" rIns="0" tIns="0" bIns="0" anchor="t">
            <a:noAutofit/>
          </a:bodyPr>
          <a:lstStyle/>
          <a:p>
            <a:pPr algn="l">
              <a:lnSpc>
                <a:spcPct val="100000"/>
              </a:lnSpc>
            </a:pPr>
            <a:r>
              <a:rPr sz="1600" b="1" i="0">
                <a:solidFill>
                  <a:srgbClr val="18232F"/>
                </a:solidFill>
                <a:latin typeface="Segoe UI"/>
              </a:rPr>
              <a:t>Stage 1 ko theek se band kijiye: AI ke saath Day 12 se ab tak ka journal review kijiye, check-in date ke saath paanch habits likhiye, certificate ke chhe checks dekhiye aur zaroorat ho toh ek Portfolio row bhariye, phir Quiz Game 3 aur final exam dijiye.</a:t>
            </a:r>
          </a:p>
        </p:txBody>
      </p:sp>
      <p:sp>
        <p:nvSpPr>
          <p:cNvPr id="6" name="Rounded Rectangle 5"/>
          <p:cNvSpPr/>
          <p:nvPr/>
        </p:nvSpPr>
        <p:spPr>
          <a:xfrm>
            <a:off x="457200" y="2249424"/>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359152"/>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1</a:t>
            </a:r>
          </a:p>
        </p:txBody>
      </p:sp>
      <p:sp>
        <p:nvSpPr>
          <p:cNvPr id="8" name="Rounded Rectangle 7"/>
          <p:cNvSpPr/>
          <p:nvPr/>
        </p:nvSpPr>
        <p:spPr>
          <a:xfrm>
            <a:off x="11332159" y="23774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350008"/>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Day 12 se ab tak ki journal entries ek note mein copy kijiye, aur har personal naam, PAN, client ID aur account detail hata dijiye.</a:t>
            </a:r>
          </a:p>
        </p:txBody>
      </p:sp>
      <p:sp>
        <p:nvSpPr>
          <p:cNvPr id="10" name="Rounded Rectangle 9"/>
          <p:cNvSpPr/>
          <p:nvPr/>
        </p:nvSpPr>
        <p:spPr>
          <a:xfrm>
            <a:off x="457200" y="302971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3139440"/>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a:t>
            </a:r>
          </a:p>
        </p:txBody>
      </p:sp>
      <p:sp>
        <p:nvSpPr>
          <p:cNvPr id="12" name="Rounded Rectangle 11"/>
          <p:cNvSpPr/>
          <p:nvPr/>
        </p:nvSpPr>
        <p:spPr>
          <a:xfrm>
            <a:off x="11332159" y="315772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313029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Us note par AI Lab ka 'Final journal review' prompt chalaiye, aur har ginti ko apne journal se mila kar hi tick kijiye.</a:t>
            </a:r>
          </a:p>
        </p:txBody>
      </p:sp>
      <p:sp>
        <p:nvSpPr>
          <p:cNvPr id="14" name="Rounded Rectangle 13"/>
          <p:cNvSpPr/>
          <p:nvPr/>
        </p:nvSpPr>
        <p:spPr>
          <a:xfrm>
            <a:off x="457200" y="3810000"/>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391972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a:t>
            </a:r>
          </a:p>
        </p:txBody>
      </p:sp>
      <p:sp>
        <p:nvSpPr>
          <p:cNvPr id="16" name="Rounded Rectangle 15"/>
          <p:cNvSpPr/>
          <p:nvPr/>
        </p:nvSpPr>
        <p:spPr>
          <a:xfrm>
            <a:off x="11332159" y="393801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3910584"/>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Aaj ke journal mein 'Weekly review' chuniye aur Week 3 ka review likhiye: shuruaat Day 17 ke backtest wale 'Aapke chaar numbers' card se kijiye (win-rate, expectancy, maximum drawdown, sabse lambi losing streak; test poora na hua ho toh likhiye ki 30 mein se kitne trades ho gaye), ant paanch habits se kijiye, aur phone mein aaj se chaar hafte baad ka reminder lagaiye: 'Check my five habits'.</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AAJ KA KAAM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60 min</a:t>
            </a:r>
          </a:p>
        </p:txBody>
      </p:sp>
      <p:sp>
        <p:nvSpPr>
          <p:cNvPr id="5" name="Rounded Rectangle 4"/>
          <p:cNvSpPr/>
          <p:nvPr/>
        </p:nvSpPr>
        <p:spPr>
          <a:xfrm>
            <a:off x="457200" y="133502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Certificate page kholiye aur jo check abhi baaki hai, use uske liye zaroori ek kaam ke saath likh lijiye. Agar Day 7 ya Day 14 ka weekly review nahi likha, toh Path se woh din kholiye, 'Weekly review' chuniye aur abhi likhiye; jo bhi baaki hai, uske liye aapke paas 7 din ki catch-up window hai.</a:t>
            </a:r>
          </a:p>
        </p:txBody>
      </p:sp>
      <p:sp>
        <p:nvSpPr>
          <p:cNvPr id="9" name="Rounded Rectangle 8"/>
          <p:cNvSpPr/>
          <p:nvPr/>
        </p:nvSpPr>
        <p:spPr>
          <a:xfrm>
            <a:off x="457200" y="2359152"/>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468880"/>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a:t>
            </a:r>
          </a:p>
        </p:txBody>
      </p:sp>
      <p:sp>
        <p:nvSpPr>
          <p:cNvPr id="11" name="Rounded Rectangle 10"/>
          <p:cNvSpPr/>
          <p:nvPr/>
        </p:nvSpPr>
        <p:spPr>
          <a:xfrm>
            <a:off x="11332159" y="24871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459736"/>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Portfolio page kholiye aur 'Poori' wali rows giniye; certificate ke liye paanch chahiye, har ek saaton hisson ke saath. Apni ek row ko aaj ke task mein diye Priya ke model row aur grading guide se milaiye, aur uska sabse kamzor hissa theek kijiye. Paanch se kam hain, toh abhi ek aur row bhariye, sirf virtual paise mein, aur baaki catch-up window ke andar jodiye; mentor har row ko grade karte hain.</a:t>
            </a:r>
          </a:p>
        </p:txBody>
      </p:sp>
      <p:sp>
        <p:nvSpPr>
          <p:cNvPr id="13" name="Rounded Rectangle 12"/>
          <p:cNvSpPr/>
          <p:nvPr/>
        </p:nvSpPr>
        <p:spPr>
          <a:xfrm>
            <a:off x="457200" y="3627120"/>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73684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a:t>
            </a:r>
          </a:p>
        </p:txBody>
      </p:sp>
      <p:sp>
        <p:nvSpPr>
          <p:cNvPr id="15" name="Rounded Rectangle 14"/>
          <p:cNvSpPr/>
          <p:nvPr/>
        </p:nvSpPr>
        <p:spPr>
          <a:xfrm>
            <a:off x="11332159" y="375513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727704"/>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Pehle aaj ka quiz submit kijiye, taaki saare 21 din poore ho jaayein. Phir Quiz Game 3 dijiye (15 sawaal, 30 minute), thoda break lijiye, aur fresh dimaag se final exam dijiye (30 sawaal, 60 minute), aaj ya kal. Inmein se koi bhi upar ke minutes mein shaamil nahi hai.</a:t>
            </a:r>
          </a:p>
        </p:txBody>
      </p:sp>
      <p:sp>
        <p:nvSpPr>
          <p:cNvPr id="17" name="Rounded Rectangle 16"/>
          <p:cNvSpPr/>
          <p:nvPr/>
        </p:nvSpPr>
        <p:spPr>
          <a:xfrm>
            <a:off x="457200" y="5004816"/>
            <a:ext cx="11277295" cy="1267968"/>
          </a:xfrm>
          <a:prstGeom prst="roundRect">
            <a:avLst>
              <a:gd name="adj" fmla="val 8653"/>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11454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AAJ KE BAAD</a:t>
            </a:r>
          </a:p>
        </p:txBody>
      </p:sp>
      <p:sp>
        <p:nvSpPr>
          <p:cNvPr id="19" name="TextBox 18"/>
          <p:cNvSpPr txBox="1"/>
          <p:nvPr/>
        </p:nvSpPr>
        <p:spPr>
          <a:xfrm>
            <a:off x="640080" y="5370576"/>
            <a:ext cx="10911535" cy="85648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Aaj ke baad aap ek stock ko Week 3 ke saare rules se guzaar payenge, 'hum aapke liye trade karenge' wala offer pehchaan payenge, Day 12 se apni paper trading ko process par score kar payenge, certificate ke chhe checks gina payenge, A/C/D guide se Portfolio row ko grade kar payenge, bata payenge ki Stage 1 ki har skill ko Stage 2 ka kaunsa chapter aage le jaata hai, aur samjha payenge ki course khatam karna real paise ke liye ready hona nahi hai.</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164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Priya ki Portfolio row: Kiran Foods Ltd (model)</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Sirf virtual paisa; company aur prices banaavati hain. Row ek plan aur reason hai, tip nahi: ise tip ki tarah share mat kijiye.</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1892808"/>
          <a:ext cx="10911536" cy="4251960"/>
        </p:xfrm>
        <a:graphic>
          <a:graphicData uri="http://schemas.openxmlformats.org/drawingml/2006/table">
            <a:tbl>
              <a:tblPr firstRow="1">
                <a:tableStyleId>{5C22544A-7EE6-4342-B048-85BDC9FD1C3A}</a:tableStyleId>
              </a:tblPr>
              <a:tblGrid>
                <a:gridCol w="1118340"/>
                <a:gridCol w="9793196"/>
              </a:tblGrid>
              <a:tr h="453771">
                <a:tc>
                  <a:txBody>
                    <a:bodyPr wrap="square"/>
                    <a:lstStyle/>
                    <a:p>
                      <a:pPr algn="l"/>
                      <a:r>
                        <a:rPr sz="1500" b="1" i="0">
                          <a:solidFill>
                            <a:srgbClr val="FFFFFF"/>
                          </a:solidFill>
                          <a:latin typeface="Segoe UI"/>
                        </a:rPr>
                        <a:t>Hissa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Priya ki entry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673227">
                <a:tc>
                  <a:txBody>
                    <a:bodyPr wrap="square"/>
                    <a:lstStyle/>
                    <a:p>
                      <a:pPr algn="l"/>
                      <a:r>
                        <a:rPr sz="1500" b="0" i="0">
                          <a:solidFill>
                            <a:srgbClr val="18232F"/>
                          </a:solidFill>
                          <a:latin typeface="Segoe UI"/>
                        </a:rPr>
                        <a:t>Full Why 1 (business)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Day 15 ke paanchon health checks paas: teen saal mein sales badhi, margin tika, D/E 1 se kam, koi pledge nahi, cash profit ke kareeb</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673227">
                <a:tc>
                  <a:txBody>
                    <a:bodyPr wrap="square"/>
                    <a:lstStyle/>
                    <a:p>
                      <a:pPr algn="l"/>
                      <a:r>
                        <a:rPr sz="1500" b="0" i="0">
                          <a:solidFill>
                            <a:srgbClr val="18232F"/>
                          </a:solidFill>
                          <a:latin typeface="Segoe UI"/>
                        </a:rPr>
                        <a:t>Full Why 2 (alag)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Day 16 flowchart ka har chart box (3 se 5) haan: EMA 20 badhte EMA 50 ke upar, close kal ke high ke upar, 3 mahine mein NIFTY 50 se aage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4627">
                <a:tc>
                  <a:txBody>
                    <a:bodyPr wrap="square"/>
                    <a:lstStyle/>
                    <a:p>
                      <a:pPr algn="l"/>
                      <a:r>
                        <a:rPr sz="1500" b="0" i="0">
                          <a:solidFill>
                            <a:srgbClr val="18232F"/>
                          </a:solidFill>
                          <a:latin typeface="Segoe UI"/>
                        </a:rPr>
                        <a:t>Top risk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3 trading days mein results: gap 1R ko 2R bana sakta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4627">
                <a:tc>
                  <a:txBody>
                    <a:bodyPr wrap="square"/>
                    <a:lstStyle/>
                    <a:p>
                      <a:pPr algn="l"/>
                      <a:r>
                        <a:rPr sz="1500" b="0" i="0">
                          <a:solidFill>
                            <a:srgbClr val="18232F"/>
                          </a:solidFill>
                          <a:latin typeface="Segoe UI"/>
                        </a:rPr>
                        <a:t>Uska jawab</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Results aane tak entry nahi (Day 11 card); journal mein 'Skipped: results rule'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4627">
                <a:tc>
                  <a:txBody>
                    <a:bodyPr wrap="square"/>
                    <a:lstStyle/>
                    <a:p>
                      <a:pPr algn="l"/>
                      <a:r>
                        <a:rPr sz="1500" b="0" i="0">
                          <a:solidFill>
                            <a:srgbClr val="18232F"/>
                          </a:solidFill>
                          <a:latin typeface="Segoe UI"/>
                        </a:rPr>
                        <a:t>Price-stop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Rs 452: Rs 470 ke close se Rs 12 ke ATR ka 1.5 guna neeche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4627">
                <a:tc>
                  <a:txBody>
                    <a:bodyPr wrap="square"/>
                    <a:lstStyle/>
                    <a:p>
                      <a:pPr algn="l"/>
                      <a:r>
                        <a:rPr sz="1500" b="0" i="0">
                          <a:solidFill>
                            <a:srgbClr val="18232F"/>
                          </a:solidFill>
                          <a:latin typeface="Segoe UI"/>
                        </a:rPr>
                        <a:t>Why-stop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Lagataar do quarter sales giri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673227">
                <a:tc>
                  <a:txBody>
                    <a:bodyPr wrap="square"/>
                    <a:lstStyle/>
                    <a:p>
                      <a:pPr algn="l"/>
                      <a:r>
                        <a:rPr sz="1500" b="0" i="0">
                          <a:solidFill>
                            <a:srgbClr val="18232F"/>
                          </a:solidFill>
                          <a:latin typeface="Segoe UI"/>
                        </a:rPr>
                        <a:t>Review point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Results ke baad wali shaam: health card aur flowchart dobara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165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Row ka grade kaise hota hai: A, C aur D</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B, A aur C ke beech hai. D ya usse neeche grade wali row abhi nahi ginti: kamzor hissa theek kijiye aur mentor se dobara grade karne ko kahiye. Profit se grade kabhi nahi badalta.</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3906012"/>
        </p:xfrm>
        <a:graphic>
          <a:graphicData uri="http://schemas.openxmlformats.org/drawingml/2006/table">
            <a:tbl>
              <a:tblPr firstRow="1">
                <a:tableStyleId>{5C22544A-7EE6-4342-B048-85BDC9FD1C3A}</a:tableStyleId>
              </a:tblPr>
              <a:tblGrid>
                <a:gridCol w="731520"/>
                <a:gridCol w="8748438"/>
                <a:gridCol w="1431577"/>
              </a:tblGrid>
              <a:tr h="707136">
                <a:tc>
                  <a:txBody>
                    <a:bodyPr wrap="square"/>
                    <a:lstStyle/>
                    <a:p>
                      <a:pPr algn="l"/>
                      <a:r>
                        <a:rPr sz="1450" b="1" i="0">
                          <a:solidFill>
                            <a:srgbClr val="FFFFFF"/>
                          </a:solidFill>
                          <a:latin typeface="Segoe UI"/>
                        </a:rPr>
                        <a:t>Grade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50" b="1" i="0">
                          <a:solidFill>
                            <a:srgbClr val="FFFFFF"/>
                          </a:solidFill>
                          <a:latin typeface="Segoe UI"/>
                        </a:rPr>
                        <a:t>Row mein kya dikhta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50" b="1" i="0">
                          <a:solidFill>
                            <a:srgbClr val="FFFFFF"/>
                          </a:solidFill>
                          <a:latin typeface="Segoe UI"/>
                        </a:rPr>
                        <a:t>Do Why, udaaharan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1360932">
                <a:tc>
                  <a:txBody>
                    <a:bodyPr wrap="square"/>
                    <a:lstStyle/>
                    <a:p>
                      <a:pPr algn="l"/>
                      <a:r>
                        <a:rPr sz="1450" b="0" i="0">
                          <a:solidFill>
                            <a:srgbClr val="18232F"/>
                          </a:solidFill>
                          <a:latin typeface="Segoe UI"/>
                        </a:rPr>
                        <a:t>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Saaton hisse. Do saaf Why jo ek-doosre par tike na hon, rupees mein price-stop, test ho sakne wala Why-stop, aur review ki date ya trigger.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'Health card 5/5' aur 'chart box sab haan, NIFTY 50 se aage'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918972">
                <a:tc>
                  <a:txBody>
                    <a:bodyPr wrap="square"/>
                    <a:lstStyle/>
                    <a:p>
                      <a:pPr algn="l"/>
                      <a:r>
                        <a:rPr sz="1450" b="0" i="0">
                          <a:solidFill>
                            <a:srgbClr val="18232F"/>
                          </a:solidFill>
                          <a:latin typeface="Segoe UI"/>
                        </a:rPr>
                        <a:t>C</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Saaton hisse bhare, par ek dhundhla: Why 2 Why 1 ko hi dohraata hai, Why-stop test nahi ho sakta, ya review point mein bas 'baad mein' likha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'Health card 5/5' aur 'achhi company'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918972">
                <a:tc>
                  <a:txBody>
                    <a:bodyPr wrap="square"/>
                    <a:lstStyle/>
                    <a:p>
                      <a:pPr algn="l"/>
                      <a:r>
                        <a:rPr sz="1450" b="0" i="0">
                          <a:solidFill>
                            <a:srgbClr val="18232F"/>
                          </a:solidFill>
                          <a:latin typeface="Segoe UI"/>
                        </a:rPr>
                        <a: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Koi hissa gayab ya copy kiya hua, tip ya 'sab khareed rahe hain' ko Why banaya, ya Why-stop hai hi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'Dost ki tip' aur 'results ke baad badhega'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166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Stage 1 se Stage 2: aapka skill map</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Stage 2 har chapter ko Stage 1 ke us din ke chhote recap se shuru karta hai aur phir gehraai mein jaata hai, isliye yahan kuch bhi do baar nahi padhaya jaata. Stage 1 poora hone ke baad mentor Stage 2 kholte hain.</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4023360"/>
        </p:xfrm>
        <a:graphic>
          <a:graphicData uri="http://schemas.openxmlformats.org/drawingml/2006/table">
            <a:tbl>
              <a:tblPr firstRow="1">
                <a:tableStyleId>{5C22544A-7EE6-4342-B048-85BDC9FD1C3A}</a:tableStyleId>
              </a:tblPr>
              <a:tblGrid>
                <a:gridCol w="1955725"/>
                <a:gridCol w="3322261"/>
                <a:gridCol w="5633549"/>
              </a:tblGrid>
              <a:tr h="312928">
                <a:tc>
                  <a:txBody>
                    <a:bodyPr wrap="square"/>
                    <a:lstStyle/>
                    <a:p>
                      <a:pPr algn="l"/>
                      <a:r>
                        <a:rPr sz="1050" b="1" i="0">
                          <a:solidFill>
                            <a:srgbClr val="FFFFFF"/>
                          </a:solidFill>
                          <a:latin typeface="Segoe UI"/>
                        </a:rPr>
                        <a:t>Stage 1 ne diya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050" b="1" i="0">
                          <a:solidFill>
                            <a:srgbClr val="FFFFFF"/>
                          </a:solidFill>
                          <a:latin typeface="Segoe UI"/>
                        </a:rPr>
                        <a:t>Stage 2 chapter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050" b="1" i="0">
                          <a:solidFill>
                            <a:srgbClr val="FFFFFF"/>
                          </a:solidFill>
                          <a:latin typeface="Segoe UI"/>
                        </a:rPr>
                        <a:t>Wahan naya kya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63804">
                <a:tc>
                  <a:txBody>
                    <a:bodyPr wrap="square"/>
                    <a:lstStyle/>
                    <a:p>
                      <a:pPr algn="l"/>
                      <a:r>
                        <a:rPr sz="1050" b="0" i="0">
                          <a:solidFill>
                            <a:srgbClr val="18232F"/>
                          </a:solidFill>
                          <a:latin typeface="Segoe UI"/>
                        </a:rPr>
                        <a:t>Market basics, orders, costs, tax heads (Day 1-2)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Chapter 1 Paisa aur Arthvyavastha; Chapter 2 Markets aur Taxation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Paisa aur economy market ko kaise hilaate hain; tax gehraai se, date wale figures ke saath jinhe check karna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63804">
                <a:tc>
                  <a:txBody>
                    <a:bodyPr wrap="square"/>
                    <a:lstStyle/>
                    <a:p>
                      <a:pPr algn="l"/>
                      <a:r>
                        <a:rPr sz="1050" b="0" i="0">
                          <a:solidFill>
                            <a:srgbClr val="18232F"/>
                          </a:solidFill>
                          <a:latin typeface="Segoe UI"/>
                        </a:rPr>
                        <a:t>Candles aur volume (Day 5-6)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Chapter 3 Candles, Numbers Ki Zubaan Mein; Chapter 4 Candlestick Patterns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Candles naapi jaati hain: body aur wick %, ATR mein size, relative volume; patterns rule se test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63804">
                <a:tc>
                  <a:txBody>
                    <a:bodyPr wrap="square"/>
                    <a:lstStyle/>
                    <a:p>
                      <a:pPr algn="l"/>
                      <a:r>
                        <a:rPr sz="1050" b="0" i="0">
                          <a:solidFill>
                            <a:srgbClr val="18232F"/>
                          </a:solidFill>
                          <a:latin typeface="Segoe UI"/>
                        </a:rPr>
                        <a:t>Trend, support, resistance, gaps (Day 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Chapter 5 Chart Patterns; Chapter 6 Elliott Wave aur Harmonics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Bade chart shapes aur wave counts, likhe hue rules ke saath ki woh kab fail hote hain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63804">
                <a:tc>
                  <a:txBody>
                    <a:bodyPr wrap="square"/>
                    <a:lstStyle/>
                    <a:p>
                      <a:pPr algn="l"/>
                      <a:r>
                        <a:rPr sz="1050" b="0" i="0">
                          <a:solidFill>
                            <a:srgbClr val="18232F"/>
                          </a:solidFill>
                          <a:latin typeface="Segoe UI"/>
                        </a:rPr>
                        <a:t>Health check, corporate actions (Day 15)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Chapter 7 Stock Investing; Chapter 8 Numbers Padhna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Poori financial statements, paanch checks se kahin aage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63804">
                <a:tc>
                  <a:txBody>
                    <a:bodyPr wrap="square"/>
                    <a:lstStyle/>
                    <a:p>
                      <a:pPr algn="l"/>
                      <a:r>
                        <a:rPr sz="1050" b="0" i="0">
                          <a:solidFill>
                            <a:srgbClr val="18232F"/>
                          </a:solidFill>
                          <a:latin typeface="Segoe UI"/>
                        </a:rPr>
                        <a:t>F&amp;O basics: samjho, khelo mat (Day 18)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Chapter 9 Basic Options se Chapter 12 Futures, Amal Mein tak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Expiry ka mechanism, Greeks, strategies, futures: gehraai se samjhaaye jaate hain, trade karne ka ishaara kabhi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63804">
                <a:tc>
                  <a:txBody>
                    <a:bodyPr wrap="square"/>
                    <a:lstStyle/>
                    <a:p>
                      <a:pPr algn="l"/>
                      <a:r>
                        <a:rPr sz="1050" b="0" i="0">
                          <a:solidFill>
                            <a:srgbClr val="18232F"/>
                          </a:solidFill>
                          <a:latin typeface="Segoe UI"/>
                        </a:rPr>
                        <a:t>Risk, sizing, psychology (Day 3, 9, 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Chapter 13 Risk Management aur Trading Psychology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Risk aur mann par gehra kaam, aapke 1% wale starter rule ke upar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63804">
                <a:tc>
                  <a:txBody>
                    <a:bodyPr wrap="square"/>
                    <a:lstStyle/>
                    <a:p>
                      <a:pPr algn="l"/>
                      <a:r>
                        <a:rPr sz="1050" b="0" i="0">
                          <a:solidFill>
                            <a:srgbClr val="18232F"/>
                          </a:solidFill>
                          <a:latin typeface="Segoe UI"/>
                        </a:rPr>
                        <a:t>AI co-pilot, flowchart, haath se backtest (Day 4, 16, 17)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Har chapter ke aakhir mein AI Lab</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Har chapter mein lagbhag chhe prompts, ek algo level ka; AI analyst rehta hai, trigger aap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63804">
                <a:tc>
                  <a:txBody>
                    <a:bodyPr wrap="square"/>
                    <a:lstStyle/>
                    <a:p>
                      <a:pPr algn="l"/>
                      <a:r>
                        <a:rPr sz="1050" b="0" i="0">
                          <a:solidFill>
                            <a:srgbClr val="18232F"/>
                          </a:solidFill>
                          <a:latin typeface="Segoe UI"/>
                        </a:rPr>
                        <a:t>Journal, event calendar, Routine Card (Day 12, 19, 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Har chapter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50" b="0" i="0">
                          <a:solidFill>
                            <a:srgbClr val="18232F"/>
                          </a:solidFill>
                          <a:latin typeface="Segoe UI"/>
                        </a:rPr>
                        <a:t>Dobara nahi padhaaye jaate: inhe chalate rahiye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167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Convocation, apni marzi se aur bina kisi number ke</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Classmates, dost ya family ke saath kheliye. Score process ka, paise ka nahi.</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Har learner apne Day 1 ke journal ki ek line aur aaj ki ek line saath-saath padhta hai.</a:t>
            </a:r>
          </a:p>
          <a:p>
            <a:pPr algn="l">
              <a:lnSpc>
                <a:spcPct val="100000"/>
              </a:lnSpc>
              <a:spcAft>
                <a:spcPts val="700"/>
              </a:spcAft>
            </a:pPr>
            <a:r>
              <a:rPr sz="2000" b="0" i="0">
                <a:solidFill>
                  <a:srgbClr val="18232F"/>
                </a:solidFill>
                <a:latin typeface="Segoe UI"/>
              </a:rPr>
              <a:t>Phir kheliye 'Kis din ne yeh tod diya?': ek insaan koi purani soch padhta hai, jaise 'stop-loss mera exit price pakka kar deta hai', 'AI ka jawab fact hai' ya 'certificate matlab main ready hoon', aur jo sabse pehle us din ka naam bataye jisne ise sudhaara, agli soch wahi padhta hai.</a:t>
            </a:r>
          </a:p>
          <a:p>
            <a:pPr algn="l">
              <a:lnSpc>
                <a:spcPct val="100000"/>
              </a:lnSpc>
              <a:spcAft>
                <a:spcPts val="700"/>
              </a:spcAft>
            </a:pPr>
            <a:r>
              <a:rPr sz="2000" b="0" i="0">
                <a:solidFill>
                  <a:srgbClr val="18232F"/>
                </a:solidFill>
                <a:latin typeface="Segoe UI"/>
              </a:rPr>
              <a:t>Agar aapka batch awards deta hai, toh sirf process par: Discipline, Best Journal, aur Best Screener, is baat par ki rules kitni saafai se screener conditions bane, is par kabhi nahi ki uske picks upar gaye ya nahi.</a:t>
            </a:r>
          </a:p>
          <a:p>
            <a:pPr algn="l">
              <a:lnSpc>
                <a:spcPct val="100000"/>
              </a:lnSpc>
            </a:pPr>
            <a:r>
              <a:rPr sz="2000" b="0" i="0">
                <a:solidFill>
                  <a:srgbClr val="18232F"/>
                </a:solidFill>
                <a:latin typeface="Segoe UI"/>
              </a:rPr>
              <a:t>Akele hain? Apne Day 1 wale khud ko paanch line ki chitthi likhiye aur use check-in date par kholiye.</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168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Aakhri journal review: AI ginti kare, habits aap chunein</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Final journal review</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“I will paste my paper-trade journal rows since I started paper trading (about ten days), with all personal details removed: date, stock (I may replace names with Stock A, Stock B), setup, whether each rule was followed, emotion tag and notes, plus the days I took no trade.”</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2</a:t>
            </a:r>
          </a:p>
        </p:txBody>
      </p:sp>
      <p:sp>
        <p:nvSpPr>
          <p:cNvPr id="11" name="TextBox 10"/>
          <p:cNvSpPr txBox="1"/>
          <p:nvPr/>
        </p:nvSpPr>
        <p:spPr>
          <a:xfrm>
            <a:off x="4478426"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'We trade for you' offer check</a:t>
            </a:r>
          </a:p>
        </p:txBody>
      </p:sp>
      <p:sp>
        <p:nvSpPr>
          <p:cNvPr id="12" name="TextBox 11"/>
          <p:cNvSpPr txBox="1"/>
          <p:nvPr/>
        </p:nvSpPr>
        <p:spPr>
          <a:xfrm>
            <a:off x="4478426"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3" name="TextBox 12"/>
          <p:cNvSpPr txBox="1"/>
          <p:nvPr/>
        </p:nvSpPr>
        <p:spPr>
          <a:xfrm>
            <a:off x="4478426" y="2859024"/>
            <a:ext cx="3234842" cy="15575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“I received a message offering copy-trading, 'account handling' or an automatic algo that would trade in my account for a monthly fee or a profit share.”</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Ready ya abhi nahi</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200" b="0" i="1">
                <a:solidFill>
                  <a:srgbClr val="47596B"/>
                </a:solidFill>
                <a:latin typeface="Segoe UI"/>
              </a:rPr>
              <a:t>“Ask me 8 short questions, one at a time, about: how many weeks I have followed a written daily routine, how many trades I have logged on the same frozen rules (backtest and paper together), my adherence on losing days, whether I have an emergency fund, whether any money I might use is borrowed, whether I understand contract notes and the basic tax heads, how I behaved during my worst losing streak, and who I would talk to before …”</a:t>
            </a:r>
          </a:p>
        </p:txBody>
      </p:sp>
      <p:sp>
        <p:nvSpPr>
          <p:cNvPr id="19" name="Oval 18"/>
          <p:cNvSpPr/>
          <p:nvPr/>
        </p:nvSpPr>
        <p:spPr>
          <a:xfrm>
            <a:off x="457200"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App se prompt copy kijiye</a:t>
            </a:r>
          </a:p>
        </p:txBody>
      </p:sp>
      <p:sp>
        <p:nvSpPr>
          <p:cNvPr id="21" name="Oval 20"/>
          <p:cNvSpPr/>
          <p:nvPr/>
        </p:nvSpPr>
        <p:spPr>
          <a:xfrm>
            <a:off x="4277258"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Kisi bhi AI chat mein paste kijiye</a:t>
            </a:r>
          </a:p>
        </p:txBody>
      </p:sp>
      <p:sp>
        <p:nvSpPr>
          <p:cNvPr id="23" name="Oval 22"/>
          <p:cNvSpPr/>
          <p:nvPr/>
        </p:nvSpPr>
        <p:spPr>
          <a:xfrm>
            <a:off x="8097317"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Har Fact khud check kijiye</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analyst hai, faisla aap karte hain. Kisi bhi AI mein PAN, client ID, password, OTP ya API key kabhi paste mat kijiye, aur AI ka jawab kabhi buy ya sell call bana kar aage mat bhejiye.</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Poora prompt: speaker notes mein, aur app ke AI Lab tab mein.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169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QUICK QUIZ · SAWAAL 1/5</a:t>
            </a:r>
          </a:p>
        </p:txBody>
      </p:sp>
      <p:sp>
        <p:nvSpPr>
          <p:cNvPr id="3" name="TextBox 2"/>
          <p:cNvSpPr txBox="1"/>
          <p:nvPr/>
        </p:nvSpPr>
        <p:spPr>
          <a:xfrm>
            <a:off x="457200" y="640080"/>
            <a:ext cx="11277295" cy="1760220"/>
          </a:xfrm>
          <a:prstGeom prst="rect">
            <a:avLst/>
          </a:prstGeom>
          <a:noFill/>
        </p:spPr>
        <p:txBody>
          <a:bodyPr wrap="square" lIns="0" rIns="0" tIns="0" bIns="0" anchor="t">
            <a:noAutofit/>
          </a:bodyPr>
          <a:lstStyle/>
          <a:p>
            <a:pPr algn="l">
              <a:lnSpc>
                <a:spcPct val="100000"/>
              </a:lnSpc>
            </a:pPr>
            <a:r>
              <a:rPr sz="2250" b="1" i="0">
                <a:solidFill>
                  <a:srgbClr val="18232F"/>
                </a:solidFill>
                <a:latin typeface="Segoe UI"/>
              </a:rPr>
              <a:t>Shaam 7 baje Priya ka EMA Pullback rule Bharat Pumps Ltd par valid setup deta hai, flowchart ka har chart box yes kehta hai, aur uske backtest ne positive edge dikhaya tha. Uske Day 11 wale card ka no-trade rule kehta hai: company ke results agle 15 trading days ke andar hon toh koi nayi swing entry nahi. Results 2 trading days mein aane wale hain. Uska system kya kehta hai?</a:t>
            </a:r>
          </a:p>
        </p:txBody>
      </p:sp>
      <p:sp>
        <p:nvSpPr>
          <p:cNvPr id="4" name="Rounded Rectangle 3"/>
          <p:cNvSpPr/>
          <p:nvPr/>
        </p:nvSpPr>
        <p:spPr>
          <a:xfrm>
            <a:off x="457200" y="262890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78434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83311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No trade: calendar rule setup se upar hai</a:t>
            </a:r>
          </a:p>
        </p:txBody>
      </p:sp>
      <p:sp>
        <p:nvSpPr>
          <p:cNvPr id="7" name="Rounded Rectangle 6"/>
          <p:cNvSpPr/>
          <p:nvPr/>
        </p:nvSpPr>
        <p:spPr>
          <a:xfrm>
            <a:off x="457200" y="347014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62559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67436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Abhi entry, aur results se theek pehle exit</a:t>
            </a:r>
          </a:p>
        </p:txBody>
      </p:sp>
      <p:sp>
        <p:nvSpPr>
          <p:cNvPr id="10" name="Rounded Rectangle 9"/>
          <p:cNvSpPr/>
          <p:nvPr/>
        </p:nvSpPr>
        <p:spPr>
          <a:xfrm>
            <a:off x="457200" y="431139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46684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451561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Aadhe size se entry, savdhaani ke liye</a:t>
            </a:r>
          </a:p>
        </p:txBody>
      </p:sp>
      <p:sp>
        <p:nvSpPr>
          <p:cNvPr id="13" name="Rounded Rectangle 12"/>
          <p:cNvSpPr/>
          <p:nvPr/>
        </p:nvSpPr>
        <p:spPr>
          <a:xfrm>
            <a:off x="457200" y="515264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30809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535686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Entry, kyunki backtest ne positive edge dikhaya</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170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QUICK QUIZ · SAWAAL 2/5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Paper trading shuru hone ke baad ek learner ne 10 paper trades liye: 8 mein har rule follow hua aur 2 mein ek rule toota, halaanki un dono mein profit hua. 6 aur din koi setup nahi tha, aur woh sahi wajah se bahar rahi. Uska adherence score kya hai?</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30 trades se pehle score ho hi nahi sakta</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88%, no-trade days ko decisions gin kar</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80%, sirf liye gaye trades gin kar</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100%, kyunki dono toote rules mein profit hua</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171</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QUICK QUIZ · SAWAAL 3/5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Ek message Aman ko 'fully automatic algo' offer karta hai jo 30% profit share ke badle uske account mein options trade karega. Isse uska login ID aur ek baar ka OTP chahiye, aur isne na koi broker, na Algo-ID, na registration bataya hai. Aman ko kya karna chahiye?</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Kuch na de, sebi.gov.in check kare, report kare</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Ek baar OTP de de, baad mein password badal le</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Kuch bhi share karne se pehle ek free trial maange</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Pehle chhoti rakam se try kare, phir faisla kare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172</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QUICK QUIZ · SAWAAL 4/5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Ek learner final exam Distinction ke saath pass karti hai. Uske paper account mein Day 12 se 12 trades par +Rs 38,000 dikh raha hai, aur unmein se 5 trades mein rule toota tha. Iska sabse sahi matlab kya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Basics aa gaye, par 12 trades se bahut kam saabit hota hai</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Woh chhoti real rakam se shuru karne ko ready hai</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Achhe exam aur profit se uske rules saabit ho gaye</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Cash seekh liya, ab use F&amp;O par jaana chahiye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173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QUICK QUIZ · SAWAAL 5/5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Koi 'abhi nahi' list skip kar deta hai, aur ek bura mahina Rs 5,00,000 ka 20% le jaata hai: bachte hain Rs 4,00,000. Sirf wapas Rs 5,00,000 tak aane ke liye Rs 4,00,000 par kitna gain chahiye?</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20%, bilkul loss jitna hi percentage</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25%: chhote base Rs 4,00,000 par Rs 1,00,000 wapas</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40%, kyunki recovery girawat ka dugna leti hai</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16%, kyunki chhota base ise aasaan bana deta hai</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174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AAJ RAAT KA JOURNAL</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Finale: Week 3 ka review, aapka certificate aur Stage 2 ka raasta</a:t>
            </a:r>
          </a:p>
        </p:txBody>
      </p:sp>
      <p:sp>
        <p:nvSpPr>
          <p:cNvPr id="4" name="TextBox 3"/>
          <p:cNvSpPr txBox="1"/>
          <p:nvPr/>
        </p:nvSpPr>
        <p:spPr>
          <a:xfrm>
            <a:off x="457200" y="5820156"/>
            <a:ext cx="11277295" cy="50749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Company names, prices and paper results in this lesson are made up for illustration; paper and backtest results are hypothetical. Stage 1 uses virtual money only and places no automated or F&amp;O orders. The course certificate certifies completion only; it is not a SEBI or NISM certification, confers no licence to advise, and is not a signal to trade with real money. Past performance is not indicative of future results. 5 Circles Pvt Ltd · SEBI Registered Research Analyst · Reg. No. INH000020004</a:t>
            </a:r>
          </a:p>
        </p:txBody>
      </p:sp>
      <p:sp>
        <p:nvSpPr>
          <p:cNvPr id="5" name="Rounded Rectangle 4"/>
          <p:cNvSpPr/>
          <p:nvPr/>
        </p:nvSpPr>
        <p:spPr>
          <a:xfrm>
            <a:off x="457200" y="1335024"/>
            <a:ext cx="5501488" cy="3863340"/>
          </a:xfrm>
          <a:prstGeom prst="roundRect">
            <a:avLst>
              <a:gd name="adj" fmla="val 331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AAJ RAAT KA JOURNAL</a:t>
            </a:r>
          </a:p>
        </p:txBody>
      </p:sp>
      <p:sp>
        <p:nvSpPr>
          <p:cNvPr id="7" name="TextBox 6"/>
          <p:cNvSpPr txBox="1"/>
          <p:nvPr/>
        </p:nvSpPr>
        <p:spPr>
          <a:xfrm>
            <a:off x="731520" y="1901952"/>
            <a:ext cx="4952848" cy="313182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Apni Day 1 ki journal entry dobara padhiye. Tab market ke baare mein aap kya maante the jo ab nahi maante? Aur aapki paanch habits mein se kaunsi agle chaar hafton mein nibhana sabse mushkil hoga, aur kyun?</a:t>
            </a:r>
          </a:p>
        </p:txBody>
      </p:sp>
      <p:sp>
        <p:nvSpPr>
          <p:cNvPr id="8" name="Rounded Rectangle 7"/>
          <p:cNvSpPr/>
          <p:nvPr/>
        </p:nvSpPr>
        <p:spPr>
          <a:xfrm>
            <a:off x="6233008" y="1335024"/>
            <a:ext cx="5501488" cy="3863340"/>
          </a:xfrm>
          <a:prstGeom prst="roundRect">
            <a:avLst>
              <a:gd name="adj" fmla="val 331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92400E"/>
                </a:solidFill>
                <a:latin typeface="Segoe UI"/>
              </a:rPr>
              <a:t>“</a:t>
            </a:r>
          </a:p>
        </p:txBody>
      </p:sp>
      <p:sp>
        <p:nvSpPr>
          <p:cNvPr id="10" name="TextBox 9"/>
          <p:cNvSpPr txBox="1"/>
          <p:nvPr/>
        </p:nvSpPr>
        <p:spPr>
          <a:xfrm>
            <a:off x="6507328" y="2443734"/>
            <a:ext cx="4952848" cy="205740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Ikkees din pehle aap jaanna chahte the ki Buy dabane ke baad kya hota hai. Aaj aap yeh bhi jaante hain ki kab nahi dabana, aur kyun. Journal chalate rahiye; yeh aapko kisi bhi certificate se zyada sikhayega.</a:t>
            </a:r>
          </a:p>
        </p:txBody>
      </p:sp>
      <p:sp>
        <p:nvSpPr>
          <p:cNvPr id="11" name="Rounded Rectangle 10"/>
          <p:cNvSpPr/>
          <p:nvPr/>
        </p:nvSpPr>
        <p:spPr>
          <a:xfrm>
            <a:off x="457200" y="5344668"/>
            <a:ext cx="3195303"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Agla: Stage 2: CIRCLE W.I.N.N.E.R.S</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175</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457200" y="457200"/>
            <a:ext cx="685800" cy="685800"/>
          </a:xfrm>
          <a:prstGeom prst="rect">
            <a:avLst/>
          </a:prstGeom>
        </p:spPr>
      </p:pic>
      <p:sp>
        <p:nvSpPr>
          <p:cNvPr id="3" name="TextBox 2"/>
          <p:cNvSpPr txBox="1"/>
          <p:nvPr/>
        </p:nvSpPr>
        <p:spPr>
          <a:xfrm>
            <a:off x="1371600" y="640080"/>
            <a:ext cx="7315200" cy="365760"/>
          </a:xfrm>
          <a:prstGeom prst="rect">
            <a:avLst/>
          </a:prstGeom>
          <a:noFill/>
        </p:spPr>
        <p:txBody>
          <a:bodyPr wrap="square" lIns="0" rIns="0" tIns="0" bIns="0" anchor="t">
            <a:noAutofit/>
          </a:bodyPr>
          <a:lstStyle/>
          <a:p>
            <a:pPr algn="l">
              <a:lnSpc>
                <a:spcPct val="100000"/>
              </a:lnSpc>
            </a:pPr>
            <a:r>
              <a:rPr sz="2400" b="1" i="0">
                <a:solidFill>
                  <a:srgbClr val="FFFFFF"/>
                </a:solidFill>
                <a:latin typeface="Segoe UI"/>
              </a:rPr>
              <a:t>Disclaimer</a:t>
            </a:r>
          </a:p>
        </p:txBody>
      </p:sp>
      <p:sp>
        <p:nvSpPr>
          <p:cNvPr id="4" name="Rounded Rectangle 3"/>
          <p:cNvSpPr/>
          <p:nvPr/>
        </p:nvSpPr>
        <p:spPr>
          <a:xfrm>
            <a:off x="457200" y="1554480"/>
            <a:ext cx="11277295" cy="2596896"/>
          </a:xfrm>
          <a:prstGeom prst="roundRect">
            <a:avLst>
              <a:gd name="adj" fmla="val 4929"/>
            </a:avLst>
          </a:prstGeom>
          <a:noFill/>
          <a:ln w="15875">
            <a:solidFill>
              <a:srgbClr val="00AE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731520" y="1828800"/>
            <a:ext cx="10728655" cy="2093976"/>
          </a:xfrm>
          <a:prstGeom prst="rect">
            <a:avLst/>
          </a:prstGeom>
          <a:noFill/>
        </p:spPr>
        <p:txBody>
          <a:bodyPr wrap="square" lIns="0" rIns="0" tIns="0" bIns="0" anchor="t">
            <a:noAutofit/>
          </a:bodyPr>
          <a:lstStyle/>
          <a:p>
            <a:pPr algn="l">
              <a:lnSpc>
                <a:spcPct val="112000"/>
              </a:lnSpc>
            </a:pPr>
            <a:r>
              <a:rPr sz="2000" b="0" i="0">
                <a:solidFill>
                  <a:srgbClr val="E8EEF6"/>
                </a:solidFill>
                <a:latin typeface="Segoe UI"/>
              </a:rPr>
              <a:t>Investment in securities market is subject to market risks. Read all related documents carefully before investing. Registration granted by SEBI and certification from NISM in no way guarantee performance of the intermediary or provide any assurance of returns to investors. Past performance is not indicative of future results. The analyst or dependents may hold positions in the securities discussed. 5 Circles Pvt Ltd · SEBI Registered Research Analyst · Reg. No. INH000020004</a:t>
            </a:r>
          </a:p>
        </p:txBody>
      </p:sp>
      <p:sp>
        <p:nvSpPr>
          <p:cNvPr id="6" name="TextBox 5"/>
          <p:cNvSpPr txBox="1"/>
          <p:nvPr/>
        </p:nvSpPr>
        <p:spPr>
          <a:xfrm>
            <a:off x="457200" y="4425696"/>
            <a:ext cx="11277295" cy="822960"/>
          </a:xfrm>
          <a:prstGeom prst="rect">
            <a:avLst/>
          </a:prstGeom>
          <a:noFill/>
        </p:spPr>
        <p:txBody>
          <a:bodyPr wrap="square" lIns="0" rIns="0" tIns="0" bIns="0" anchor="t">
            <a:noAutofit/>
          </a:bodyPr>
          <a:lstStyle/>
          <a:p>
            <a:pPr algn="l">
              <a:lnSpc>
                <a:spcPct val="100000"/>
              </a:lnSpc>
            </a:pPr>
            <a:r>
              <a:rPr sz="1500" b="0" i="0">
                <a:solidFill>
                  <a:srgbClr val="A8B8CE"/>
                </a:solidFill>
                <a:latin typeface="Segoe UI"/>
              </a:rPr>
              <a:t>Padhaai ki samagri. Is deck mein kuch bhi investment ki salaah ya recommendation nahi hai. Company ke naam aur chart ke prices sirf samjhane ke liye banaye gaye hain.</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A8B8CE"/>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A8B8CE"/>
                </a:solidFill>
                <a:latin typeface="Segoe UI"/>
              </a:rPr>
              <a:t>Week 3   176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